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2"/>
  </p:notesMasterIdLst>
  <p:handoutMasterIdLst>
    <p:handoutMasterId r:id="rId53"/>
  </p:handoutMasterIdLst>
  <p:sldIdLst>
    <p:sldId id="257" r:id="rId2"/>
    <p:sldId id="268" r:id="rId3"/>
    <p:sldId id="270" r:id="rId4"/>
    <p:sldId id="271" r:id="rId5"/>
    <p:sldId id="306" r:id="rId6"/>
    <p:sldId id="265" r:id="rId7"/>
    <p:sldId id="273" r:id="rId8"/>
    <p:sldId id="275" r:id="rId9"/>
    <p:sldId id="269" r:id="rId10"/>
    <p:sldId id="267" r:id="rId11"/>
    <p:sldId id="277" r:id="rId12"/>
    <p:sldId id="259" r:id="rId13"/>
    <p:sldId id="260" r:id="rId14"/>
    <p:sldId id="261" r:id="rId15"/>
    <p:sldId id="262" r:id="rId16"/>
    <p:sldId id="263" r:id="rId17"/>
    <p:sldId id="264" r:id="rId18"/>
    <p:sldId id="266" r:id="rId19"/>
    <p:sldId id="278" r:id="rId20"/>
    <p:sldId id="299" r:id="rId21"/>
    <p:sldId id="281" r:id="rId22"/>
    <p:sldId id="276" r:id="rId23"/>
    <p:sldId id="279" r:id="rId24"/>
    <p:sldId id="280" r:id="rId25"/>
    <p:sldId id="300" r:id="rId26"/>
    <p:sldId id="301" r:id="rId27"/>
    <p:sldId id="302" r:id="rId28"/>
    <p:sldId id="303" r:id="rId29"/>
    <p:sldId id="304" r:id="rId30"/>
    <p:sldId id="305" r:id="rId31"/>
    <p:sldId id="307" r:id="rId32"/>
    <p:sldId id="308" r:id="rId33"/>
    <p:sldId id="309" r:id="rId34"/>
    <p:sldId id="310" r:id="rId35"/>
    <p:sldId id="282" r:id="rId36"/>
    <p:sldId id="283" r:id="rId37"/>
    <p:sldId id="286" r:id="rId38"/>
    <p:sldId id="284" r:id="rId39"/>
    <p:sldId id="287" r:id="rId40"/>
    <p:sldId id="285" r:id="rId41"/>
    <p:sldId id="289" r:id="rId42"/>
    <p:sldId id="288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</p:sldIdLst>
  <p:sldSz cx="9144000" cy="6858000" type="screen4x3"/>
  <p:notesSz cx="7315200" cy="96012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1pPr>
    <a:lvl2pPr marL="457200" algn="ctr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2pPr>
    <a:lvl3pPr marL="914400" algn="ctr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3pPr>
    <a:lvl4pPr marL="1371600" algn="ctr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4pPr>
    <a:lvl5pPr marL="1828800" algn="ctr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Helvetic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FFCC99"/>
    <a:srgbClr val="FF3300"/>
    <a:srgbClr val="CCFFFF"/>
    <a:srgbClr val="FFCC00"/>
    <a:srgbClr val="009900"/>
    <a:srgbClr val="0000FF"/>
    <a:srgbClr val="00FF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78" autoAdjust="0"/>
    <p:restoredTop sz="99050" autoAdjust="0"/>
  </p:normalViewPr>
  <p:slideViewPr>
    <p:cSldViewPr>
      <p:cViewPr varScale="1">
        <p:scale>
          <a:sx n="69" d="100"/>
          <a:sy n="69" d="100"/>
        </p:scale>
        <p:origin x="-10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6978"/>
    </p:cViewPr>
  </p:sorterViewPr>
  <p:gridSpacing cx="39327138" cy="3932713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9.xml"/><Relationship Id="rId2" Type="http://schemas.openxmlformats.org/officeDocument/2006/relationships/slide" Target="slides/slide28.xml"/><Relationship Id="rId1" Type="http://schemas.openxmlformats.org/officeDocument/2006/relationships/slide" Target="slides/slide26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23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2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2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2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t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Courier New" pitchFamily="49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ourier New" pitchFamily="49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b" anchorCtr="0" compatLnSpc="1">
            <a:prstTxWarp prst="textNoShape">
              <a:avLst/>
            </a:prstTxWarp>
          </a:bodyPr>
          <a:lstStyle>
            <a:lvl1pPr algn="l" defTabSz="966788">
              <a:defRPr sz="1300">
                <a:latin typeface="Courier New" pitchFamily="49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65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45" tIns="48322" rIns="96645" bIns="48322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Courier New" pitchFamily="49" charset="0"/>
                <a:cs typeface="+mn-cs"/>
              </a:defRPr>
            </a:lvl1pPr>
          </a:lstStyle>
          <a:p>
            <a:pPr>
              <a:defRPr/>
            </a:pPr>
            <a:fld id="{03A4BBF4-41BE-4100-B9D5-FAEC936DFF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>
            <a:lvl1pPr algn="l" defTabSz="957263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6324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61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761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b" anchorCtr="0" compatLnSpc="1">
            <a:prstTxWarp prst="textNoShape">
              <a:avLst/>
            </a:prstTxWarp>
          </a:bodyPr>
          <a:lstStyle>
            <a:lvl1pPr algn="l" defTabSz="957263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61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38" tIns="47869" rIns="95738" bIns="47869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3AE0602C-3999-479C-830B-DFC5902319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E06360-A3DE-47BE-A118-E3A09A777F18}" type="slidenum">
              <a:rPr lang="en-US" smtClean="0">
                <a:cs typeface="Arial" charset="0"/>
              </a:rPr>
              <a:pPr/>
              <a:t>1</a:t>
            </a:fld>
            <a:endParaRPr lang="en-US" smtClean="0">
              <a:cs typeface="Arial" charset="0"/>
            </a:endParaRPr>
          </a:p>
        </p:txBody>
      </p:sp>
      <p:sp>
        <p:nvSpPr>
          <p:cNvPr id="5734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0FF8E6-E96B-449C-A860-B27E71B24741}" type="slidenum">
              <a:rPr lang="en-US" smtClean="0">
                <a:cs typeface="Arial" charset="0"/>
              </a:rPr>
              <a:pPr/>
              <a:t>2</a:t>
            </a:fld>
            <a:endParaRPr lang="en-US" smtClean="0">
              <a:cs typeface="Arial" charset="0"/>
            </a:endParaRPr>
          </a:p>
        </p:txBody>
      </p:sp>
      <p:sp>
        <p:nvSpPr>
          <p:cNvPr id="6861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6A7E90-2E49-4A8F-896F-F7776D63438C}" type="slidenum">
              <a:rPr lang="en-US" smtClean="0">
                <a:cs typeface="Arial" charset="0"/>
              </a:rPr>
              <a:pPr/>
              <a:t>3</a:t>
            </a:fld>
            <a:endParaRPr lang="en-US" smtClean="0">
              <a:cs typeface="Arial" charset="0"/>
            </a:endParaRPr>
          </a:p>
        </p:txBody>
      </p:sp>
      <p:sp>
        <p:nvSpPr>
          <p:cNvPr id="6963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5319AA-6944-4314-A84C-98D039AC04B1}" type="slidenum">
              <a:rPr lang="en-US" smtClean="0">
                <a:cs typeface="Arial" charset="0"/>
              </a:rPr>
              <a:pPr/>
              <a:t>4</a:t>
            </a:fld>
            <a:endParaRPr lang="en-US" smtClean="0">
              <a:cs typeface="Arial" charset="0"/>
            </a:endParaRPr>
          </a:p>
        </p:txBody>
      </p:sp>
      <p:sp>
        <p:nvSpPr>
          <p:cNvPr id="706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2A6A4B5-9423-4EDB-9CA6-6680C5BE9BBE}" type="slidenum">
              <a:rPr lang="en-US" smtClean="0">
                <a:cs typeface="Arial" charset="0"/>
              </a:rPr>
              <a:pPr/>
              <a:t>6</a:t>
            </a:fld>
            <a:endParaRPr lang="en-US" smtClean="0">
              <a:cs typeface="Arial" charset="0"/>
            </a:endParaRPr>
          </a:p>
        </p:txBody>
      </p:sp>
      <p:sp>
        <p:nvSpPr>
          <p:cNvPr id="7168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BA89C4-320B-4196-A70D-FD8F89B8EDBF}" type="slidenum">
              <a:rPr lang="en-US" smtClean="0">
                <a:cs typeface="Arial" charset="0"/>
              </a:rPr>
              <a:pPr/>
              <a:t>7</a:t>
            </a:fld>
            <a:endParaRPr lang="en-US" smtClean="0">
              <a:cs typeface="Arial" charset="0"/>
            </a:endParaRPr>
          </a:p>
        </p:txBody>
      </p:sp>
      <p:sp>
        <p:nvSpPr>
          <p:cNvPr id="7270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A60559-95CC-4597-B78E-BBB95D960F6A}" type="slidenum">
              <a:rPr lang="en-US" smtClean="0">
                <a:cs typeface="Arial" charset="0"/>
              </a:rPr>
              <a:pPr/>
              <a:t>8</a:t>
            </a:fld>
            <a:endParaRPr lang="en-US" smtClean="0">
              <a:cs typeface="Arial" charset="0"/>
            </a:endParaRPr>
          </a:p>
        </p:txBody>
      </p:sp>
      <p:sp>
        <p:nvSpPr>
          <p:cNvPr id="737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51D475-57B6-4BC3-995E-E21874B44F28}" type="slidenum">
              <a:rPr lang="en-US" smtClean="0">
                <a:cs typeface="Arial" charset="0"/>
              </a:rPr>
              <a:pPr/>
              <a:t>9</a:t>
            </a:fld>
            <a:endParaRPr lang="en-US" smtClean="0">
              <a:cs typeface="Arial" charset="0"/>
            </a:endParaRPr>
          </a:p>
        </p:txBody>
      </p:sp>
      <p:sp>
        <p:nvSpPr>
          <p:cNvPr id="6656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E66AC38-22F3-44D4-9B13-3FB782BE18A5}" type="slidenum">
              <a:rPr lang="en-US" smtClean="0">
                <a:cs typeface="Arial" charset="0"/>
              </a:rPr>
              <a:pPr/>
              <a:t>10</a:t>
            </a:fld>
            <a:endParaRPr lang="en-US" smtClean="0">
              <a:cs typeface="Arial" charset="0"/>
            </a:endParaRPr>
          </a:p>
        </p:txBody>
      </p:sp>
      <p:sp>
        <p:nvSpPr>
          <p:cNvPr id="6758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4158E-652F-4C5E-AB9C-91E1E22BE98B}" type="slidenum">
              <a:rPr lang="en-US" smtClean="0">
                <a:cs typeface="Arial" charset="0"/>
              </a:rPr>
              <a:pPr/>
              <a:t>11</a:t>
            </a:fld>
            <a:endParaRPr lang="en-US" smtClean="0">
              <a:cs typeface="Arial" charset="0"/>
            </a:endParaRPr>
          </a:p>
        </p:txBody>
      </p:sp>
      <p:sp>
        <p:nvSpPr>
          <p:cNvPr id="7475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F88F96-7431-4B31-B9AC-890D336D2772}" type="slidenum">
              <a:rPr lang="en-US" smtClean="0">
                <a:cs typeface="Arial" charset="0"/>
              </a:rPr>
              <a:pPr/>
              <a:t>12</a:t>
            </a:fld>
            <a:endParaRPr lang="en-US" smtClean="0">
              <a:cs typeface="Arial" charset="0"/>
            </a:endParaRPr>
          </a:p>
        </p:txBody>
      </p:sp>
      <p:sp>
        <p:nvSpPr>
          <p:cNvPr id="593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8544EE-CBBC-4622-B8C7-E02543497E95}" type="slidenum">
              <a:rPr lang="en-US" smtClean="0">
                <a:cs typeface="Arial" charset="0"/>
              </a:rPr>
              <a:pPr/>
              <a:t>13</a:t>
            </a:fld>
            <a:endParaRPr lang="en-US" smtClean="0">
              <a:cs typeface="Arial" charset="0"/>
            </a:endParaRPr>
          </a:p>
        </p:txBody>
      </p:sp>
      <p:sp>
        <p:nvSpPr>
          <p:cNvPr id="604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78F2D0-AE5E-498C-8C14-33F6D7364FD7}" type="slidenum">
              <a:rPr lang="en-US" smtClean="0">
                <a:cs typeface="Arial" charset="0"/>
              </a:rPr>
              <a:pPr/>
              <a:t>14</a:t>
            </a:fld>
            <a:endParaRPr lang="en-US" smtClean="0">
              <a:cs typeface="Arial" charset="0"/>
            </a:endParaRPr>
          </a:p>
        </p:txBody>
      </p:sp>
      <p:sp>
        <p:nvSpPr>
          <p:cNvPr id="614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0083CF-51AF-4E31-AC3F-48644044D07D}" type="slidenum">
              <a:rPr lang="en-US" smtClean="0">
                <a:cs typeface="Arial" charset="0"/>
              </a:rPr>
              <a:pPr/>
              <a:t>15</a:t>
            </a:fld>
            <a:endParaRPr lang="en-US" smtClean="0">
              <a:cs typeface="Arial" charset="0"/>
            </a:endParaRPr>
          </a:p>
        </p:txBody>
      </p:sp>
      <p:sp>
        <p:nvSpPr>
          <p:cNvPr id="624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66B75B-88EB-4358-BEDB-1B5063EAC119}" type="slidenum">
              <a:rPr lang="en-US" smtClean="0">
                <a:cs typeface="Arial" charset="0"/>
              </a:rPr>
              <a:pPr/>
              <a:t>16</a:t>
            </a:fld>
            <a:endParaRPr lang="en-US" smtClean="0">
              <a:cs typeface="Arial" charset="0"/>
            </a:endParaRPr>
          </a:p>
        </p:txBody>
      </p:sp>
      <p:sp>
        <p:nvSpPr>
          <p:cNvPr id="634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B963A9-9E89-422B-A967-EB7E66A1C946}" type="slidenum">
              <a:rPr lang="en-US" smtClean="0">
                <a:cs typeface="Arial" charset="0"/>
              </a:rPr>
              <a:pPr/>
              <a:t>17</a:t>
            </a:fld>
            <a:endParaRPr lang="en-US" smtClean="0">
              <a:cs typeface="Arial" charset="0"/>
            </a:endParaRPr>
          </a:p>
        </p:txBody>
      </p:sp>
      <p:sp>
        <p:nvSpPr>
          <p:cNvPr id="645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644774-30C2-461C-8159-84A5C2CCFBA9}" type="slidenum">
              <a:rPr lang="en-US" smtClean="0">
                <a:cs typeface="Arial" charset="0"/>
              </a:rPr>
              <a:pPr/>
              <a:t>18</a:t>
            </a:fld>
            <a:endParaRPr lang="en-US" smtClean="0">
              <a:cs typeface="Arial" charset="0"/>
            </a:endParaRPr>
          </a:p>
        </p:txBody>
      </p:sp>
      <p:sp>
        <p:nvSpPr>
          <p:cNvPr id="655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4DD1107-FC62-41F3-AE4D-9BF9DFD2A30C}" type="slidenum">
              <a:rPr lang="en-US" smtClean="0">
                <a:cs typeface="Arial" charset="0"/>
              </a:rPr>
              <a:pPr/>
              <a:t>19</a:t>
            </a:fld>
            <a:endParaRPr lang="en-US" smtClean="0">
              <a:cs typeface="Arial" charset="0"/>
            </a:endParaRPr>
          </a:p>
        </p:txBody>
      </p:sp>
      <p:sp>
        <p:nvSpPr>
          <p:cNvPr id="7577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 txBox="1">
            <a:spLocks noGrp="1" noChangeArrowheads="1"/>
          </p:cNvSpPr>
          <p:nvPr/>
        </p:nvSpPr>
        <p:spPr bwMode="auto">
          <a:xfrm>
            <a:off x="4144963" y="9120188"/>
            <a:ext cx="3170237" cy="481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657" tIns="48328" rIns="96657" bIns="48328" anchor="b"/>
          <a:lstStyle/>
          <a:p>
            <a:pPr algn="r" defTabSz="966788"/>
            <a:fld id="{1451D99B-A665-43F7-A2F9-80246904B274}" type="slidenum">
              <a:rPr lang="en-US" altLang="ko-KR" sz="1200">
                <a:latin typeface="Times New Roman" pitchFamily="18" charset="0"/>
                <a:ea typeface="Gulim" pitchFamily="34" charset="-127"/>
              </a:rPr>
              <a:pPr algn="r" defTabSz="966788"/>
              <a:t>20</a:t>
            </a:fld>
            <a:endParaRPr lang="en-US" altLang="ko-KR" sz="1200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7680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ko-K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10F0FD-7C2D-477F-9BC1-40DED8E48A06}" type="slidenum">
              <a:rPr lang="en-US" smtClean="0">
                <a:cs typeface="Arial" charset="0"/>
              </a:rPr>
              <a:pPr/>
              <a:t>21</a:t>
            </a:fld>
            <a:endParaRPr lang="en-US" smtClean="0">
              <a:cs typeface="Arial" charset="0"/>
            </a:endParaRPr>
          </a:p>
        </p:txBody>
      </p:sp>
      <p:sp>
        <p:nvSpPr>
          <p:cNvPr id="7782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6B2FAD-417A-4DAE-B138-595D594F41D7}" type="slidenum">
              <a:rPr lang="en-US" smtClean="0">
                <a:cs typeface="Arial" charset="0"/>
              </a:rPr>
              <a:pPr/>
              <a:t>22</a:t>
            </a:fld>
            <a:endParaRPr lang="en-US" smtClean="0">
              <a:cs typeface="Arial" charset="0"/>
            </a:endParaRPr>
          </a:p>
        </p:txBody>
      </p:sp>
      <p:sp>
        <p:nvSpPr>
          <p:cNvPr id="7885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949C6F7-D2E5-455E-933B-AF8574157BEF}" type="slidenum">
              <a:rPr lang="en-US" smtClean="0">
                <a:cs typeface="Arial" charset="0"/>
              </a:rPr>
              <a:pPr/>
              <a:t>23</a:t>
            </a:fld>
            <a:endParaRPr lang="en-US" smtClean="0">
              <a:cs typeface="Arial" charset="0"/>
            </a:endParaRPr>
          </a:p>
        </p:txBody>
      </p:sp>
      <p:sp>
        <p:nvSpPr>
          <p:cNvPr id="7987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7E2C15-30D3-4D35-BFBD-0254BE6B33F2}" type="slidenum">
              <a:rPr lang="en-US" smtClean="0">
                <a:cs typeface="Arial" charset="0"/>
              </a:rPr>
              <a:pPr/>
              <a:t>24</a:t>
            </a:fld>
            <a:endParaRPr lang="en-US" smtClean="0">
              <a:cs typeface="Arial" charset="0"/>
            </a:endParaRPr>
          </a:p>
        </p:txBody>
      </p:sp>
      <p:sp>
        <p:nvSpPr>
          <p:cNvPr id="8089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AC3337F-D47C-47A5-A2B9-D8F5BD7326B3}" type="slidenum">
              <a:rPr lang="en-US" altLang="ko-KR" smtClean="0"/>
              <a:pPr>
                <a:defRPr/>
              </a:pPr>
              <a:t>33</a:t>
            </a:fld>
            <a:endParaRPr lang="en-US" altLang="ko-KR" smtClean="0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685800"/>
            <a:ext cx="4864100" cy="3648075"/>
          </a:xfrm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9963" y="4562475"/>
            <a:ext cx="5343525" cy="4332288"/>
          </a:xfrm>
          <a:noFill/>
          <a:ln/>
        </p:spPr>
        <p:txBody>
          <a:bodyPr/>
          <a:lstStyle/>
          <a:p>
            <a:endParaRPr lang="ko-KR" altLang="ko-K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EA353A-DD68-4F54-9FD6-DB63F37581A6}" type="slidenum">
              <a:rPr lang="en-US" altLang="ko-KR" smtClean="0"/>
              <a:pPr>
                <a:defRPr/>
              </a:pPr>
              <a:t>34</a:t>
            </a:fld>
            <a:endParaRPr lang="en-US" altLang="ko-KR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08088" y="685800"/>
            <a:ext cx="4864100" cy="3648075"/>
          </a:xfrm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9963" y="4562475"/>
            <a:ext cx="5343525" cy="4332288"/>
          </a:xfrm>
          <a:noFill/>
          <a:ln/>
        </p:spPr>
        <p:txBody>
          <a:bodyPr/>
          <a:lstStyle/>
          <a:p>
            <a:endParaRPr lang="ko-KR" altLang="ko-K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CD0BC1-B3EE-4597-BB19-AFDAD328463D}" type="slidenum">
              <a:rPr lang="en-US" smtClean="0">
                <a:cs typeface="Arial" charset="0"/>
              </a:rPr>
              <a:pPr/>
              <a:t>35</a:t>
            </a:fld>
            <a:endParaRPr lang="en-US" smtClean="0">
              <a:cs typeface="Arial" charset="0"/>
            </a:endParaRPr>
          </a:p>
        </p:txBody>
      </p:sp>
      <p:sp>
        <p:nvSpPr>
          <p:cNvPr id="8397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1CC38D-B52B-4CC3-9568-845BE9382A7E}" type="slidenum">
              <a:rPr lang="en-US" smtClean="0">
                <a:cs typeface="Arial" charset="0"/>
              </a:rPr>
              <a:pPr/>
              <a:t>36</a:t>
            </a:fld>
            <a:endParaRPr lang="en-US" smtClean="0">
              <a:cs typeface="Arial" charset="0"/>
            </a:endParaRPr>
          </a:p>
        </p:txBody>
      </p:sp>
      <p:sp>
        <p:nvSpPr>
          <p:cNvPr id="8499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6B25DC-F38F-4920-946A-3BB30F8257E8}" type="slidenum">
              <a:rPr lang="en-US" smtClean="0">
                <a:cs typeface="Arial" charset="0"/>
              </a:rPr>
              <a:pPr/>
              <a:t>37</a:t>
            </a:fld>
            <a:endParaRPr lang="en-US" smtClean="0">
              <a:cs typeface="Arial" charset="0"/>
            </a:endParaRPr>
          </a:p>
        </p:txBody>
      </p:sp>
      <p:sp>
        <p:nvSpPr>
          <p:cNvPr id="8601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739EBCE-E5C5-42A0-B2A5-B5415DE3DEAB}" type="slidenum">
              <a:rPr lang="en-US" smtClean="0">
                <a:cs typeface="Arial" charset="0"/>
              </a:rPr>
              <a:pPr/>
              <a:t>38</a:t>
            </a:fld>
            <a:endParaRPr lang="en-US" smtClean="0">
              <a:cs typeface="Arial" charset="0"/>
            </a:endParaRPr>
          </a:p>
        </p:txBody>
      </p:sp>
      <p:sp>
        <p:nvSpPr>
          <p:cNvPr id="87043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7DED807-8965-4F60-8951-382BA47BC47F}" type="slidenum">
              <a:rPr lang="en-US" smtClean="0">
                <a:cs typeface="Arial" charset="0"/>
              </a:rPr>
              <a:pPr/>
              <a:t>39</a:t>
            </a:fld>
            <a:endParaRPr lang="en-US" smtClean="0">
              <a:cs typeface="Arial" charset="0"/>
            </a:endParaRPr>
          </a:p>
        </p:txBody>
      </p:sp>
      <p:sp>
        <p:nvSpPr>
          <p:cNvPr id="88067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BA3853-4409-4C00-B225-BA99FF248884}" type="slidenum">
              <a:rPr lang="en-US" smtClean="0">
                <a:cs typeface="Arial" charset="0"/>
              </a:rPr>
              <a:pPr/>
              <a:t>40</a:t>
            </a:fld>
            <a:endParaRPr lang="en-US" smtClean="0">
              <a:cs typeface="Arial" charset="0"/>
            </a:endParaRPr>
          </a:p>
        </p:txBody>
      </p:sp>
      <p:sp>
        <p:nvSpPr>
          <p:cNvPr id="8909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7C324D-7FED-4029-BEC5-61B15283325D}" type="slidenum">
              <a:rPr lang="en-US" smtClean="0">
                <a:cs typeface="Arial" charset="0"/>
              </a:rPr>
              <a:pPr/>
              <a:t>41</a:t>
            </a:fld>
            <a:endParaRPr lang="en-US" smtClean="0">
              <a:cs typeface="Arial" charset="0"/>
            </a:endParaRPr>
          </a:p>
        </p:txBody>
      </p:sp>
      <p:sp>
        <p:nvSpPr>
          <p:cNvPr id="90115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D5E733-5B74-4544-A3A9-C0C5E273B308}" type="slidenum">
              <a:rPr lang="en-US" smtClean="0">
                <a:cs typeface="Arial" charset="0"/>
              </a:rPr>
              <a:pPr/>
              <a:t>42</a:t>
            </a:fld>
            <a:endParaRPr lang="en-US" smtClean="0">
              <a:cs typeface="Arial" charset="0"/>
            </a:endParaRPr>
          </a:p>
        </p:txBody>
      </p:sp>
      <p:sp>
        <p:nvSpPr>
          <p:cNvPr id="91139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6CC1797-0E4E-4D05-A7EA-4A0172571A67}" type="slidenum">
              <a:rPr lang="en-US" smtClean="0">
                <a:cs typeface="Arial" charset="0"/>
              </a:rPr>
              <a:pPr/>
              <a:t>43</a:t>
            </a:fld>
            <a:endParaRPr lang="en-US" smtClean="0">
              <a:cs typeface="Arial" charset="0"/>
            </a:endParaRPr>
          </a:p>
        </p:txBody>
      </p:sp>
      <p:sp>
        <p:nvSpPr>
          <p:cNvPr id="9216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6AC43F-B44D-45B5-B2A8-770E23E4B236}" type="slidenum">
              <a:rPr lang="en-US" smtClean="0">
                <a:cs typeface="Arial" charset="0"/>
              </a:rPr>
              <a:pPr/>
              <a:t>44</a:t>
            </a:fld>
            <a:endParaRPr lang="en-US" smtClean="0">
              <a:cs typeface="Arial" charset="0"/>
            </a:endParaRPr>
          </a:p>
        </p:txBody>
      </p:sp>
      <p:sp>
        <p:nvSpPr>
          <p:cNvPr id="9318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8A5CA7-EECB-45FB-AC2A-8F5112F1848A}" type="slidenum">
              <a:rPr lang="en-US" smtClean="0">
                <a:cs typeface="Arial" charset="0"/>
              </a:rPr>
              <a:pPr/>
              <a:t>45</a:t>
            </a:fld>
            <a:endParaRPr lang="en-US" smtClean="0">
              <a:cs typeface="Arial" charset="0"/>
            </a:endParaRPr>
          </a:p>
        </p:txBody>
      </p:sp>
      <p:sp>
        <p:nvSpPr>
          <p:cNvPr id="94211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127D65-E3BA-412B-86DF-77BEA9B12039}" type="slidenum">
              <a:rPr lang="en-US" smtClean="0">
                <a:cs typeface="Arial" charset="0"/>
              </a:rPr>
              <a:pPr/>
              <a:t>46</a:t>
            </a:fld>
            <a:endParaRPr lang="en-US" smtClean="0">
              <a:cs typeface="Arial" charset="0"/>
            </a:endParaRPr>
          </a:p>
        </p:txBody>
      </p:sp>
      <p:sp>
        <p:nvSpPr>
          <p:cNvPr id="95235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0B0B81B-DC3F-43F7-BC9B-7C92B8A4105E}" type="slidenum">
              <a:rPr lang="en-US" smtClean="0">
                <a:cs typeface="Arial" charset="0"/>
              </a:rPr>
              <a:pPr/>
              <a:t>47</a:t>
            </a:fld>
            <a:endParaRPr lang="en-US" smtClean="0">
              <a:cs typeface="Arial" charset="0"/>
            </a:endParaRPr>
          </a:p>
        </p:txBody>
      </p:sp>
      <p:sp>
        <p:nvSpPr>
          <p:cNvPr id="96259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184A85-AE90-4994-B875-3578BE5B1702}" type="slidenum">
              <a:rPr lang="en-US" smtClean="0">
                <a:cs typeface="Arial" charset="0"/>
              </a:rPr>
              <a:pPr/>
              <a:t>48</a:t>
            </a:fld>
            <a:endParaRPr lang="en-US" smtClean="0">
              <a:cs typeface="Arial" charset="0"/>
            </a:endParaRPr>
          </a:p>
        </p:txBody>
      </p:sp>
      <p:sp>
        <p:nvSpPr>
          <p:cNvPr id="97283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3372C11-C8AB-45B3-A94A-987A1B27A0E8}" type="slidenum">
              <a:rPr lang="en-US" smtClean="0">
                <a:cs typeface="Arial" charset="0"/>
              </a:rPr>
              <a:pPr/>
              <a:t>49</a:t>
            </a:fld>
            <a:endParaRPr lang="en-US" smtClean="0">
              <a:cs typeface="Arial" charset="0"/>
            </a:endParaRPr>
          </a:p>
        </p:txBody>
      </p:sp>
      <p:sp>
        <p:nvSpPr>
          <p:cNvPr id="98307" name="Rectangle 2"/>
          <p:cNvSpPr>
            <a:spLocks noRot="1" noChangeArrowheads="1" noTextEdit="1"/>
          </p:cNvSpPr>
          <p:nvPr>
            <p:ph type="sldImg"/>
          </p:nvPr>
        </p:nvSpPr>
        <p:spPr>
          <a:xfrm>
            <a:off x="1257300" y="719138"/>
            <a:ext cx="4800600" cy="3600450"/>
          </a:xfrm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21175"/>
          </a:xfrm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CF1AB7-F2A0-4F79-BF82-6BC488703A44}" type="slidenum">
              <a:rPr lang="en-US" smtClean="0">
                <a:cs typeface="Arial" charset="0"/>
              </a:rPr>
              <a:pPr/>
              <a:t>50</a:t>
            </a:fld>
            <a:endParaRPr lang="en-US" smtClean="0">
              <a:cs typeface="Arial" charset="0"/>
            </a:endParaRPr>
          </a:p>
        </p:txBody>
      </p:sp>
      <p:sp>
        <p:nvSpPr>
          <p:cNvPr id="99331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pic>
        <p:nvPicPr>
          <p:cNvPr id="6" name="Picture 7" descr="pu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AutoShape 8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5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57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FA2320-921D-4B5A-BFCC-199A2E5C68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656BF5-6A4B-4B21-A9D1-E3150ADCC8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ABB24A-7DBB-4A63-B70E-9DC4E133EA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1219200"/>
            <a:ext cx="41529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C03E21-3EA1-4453-8CD1-92116B2356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A526A-E4A4-492D-88E5-C6B6828179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0670A7-33A1-4EE3-8047-7D6DFB76A6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A6726F-FBA5-47D0-8E8F-C34FF252A8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5BD6B9-8295-4A1D-B0B6-83AD18BDF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05836E-334F-4FBD-8CD0-9095DCBAAF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C9D701-FE79-40D8-80BB-8CFCB66C9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2750" y="381000"/>
            <a:ext cx="2152650" cy="6324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81000"/>
            <a:ext cx="6305550" cy="6324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1EA015-FC82-421C-B3E9-0A485230AF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069263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19200"/>
            <a:ext cx="8458200" cy="54864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C9C09-274C-4F54-8BF9-CF61D9C701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8913"/>
            <a:ext cx="9144000" cy="6223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68288" y="1011238"/>
            <a:ext cx="4259262" cy="559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9950" y="1011238"/>
            <a:ext cx="4259263" cy="5599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itchFamily="34" charset="0"/>
                <a:ea typeface="Gulim" pitchFamily="34" charset="-127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ko-K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3689B4-F2AB-441C-AEE1-79BE1856400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381000"/>
            <a:ext cx="8069263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458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324600"/>
            <a:ext cx="914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AA1059D6-BFAE-43CF-9D05-CFFFD3045B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3493" name="Line 5"/>
          <p:cNvSpPr>
            <a:spLocks noChangeShapeType="1"/>
          </p:cNvSpPr>
          <p:nvPr/>
        </p:nvSpPr>
        <p:spPr bwMode="auto">
          <a:xfrm>
            <a:off x="152400" y="1143000"/>
            <a:ext cx="8839200" cy="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3494" name="Line 6"/>
          <p:cNvSpPr>
            <a:spLocks noChangeShapeType="1"/>
          </p:cNvSpPr>
          <p:nvPr/>
        </p:nvSpPr>
        <p:spPr bwMode="auto">
          <a:xfrm>
            <a:off x="381000" y="1143000"/>
            <a:ext cx="0" cy="55626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pic>
        <p:nvPicPr>
          <p:cNvPr id="21511" name="Picture 7" descr="pulogo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8297863" y="317500"/>
            <a:ext cx="641350" cy="72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6" name="AutoShape 8"/>
          <p:cNvSpPr>
            <a:spLocks noChangeArrowheads="1"/>
          </p:cNvSpPr>
          <p:nvPr/>
        </p:nvSpPr>
        <p:spPr bwMode="auto">
          <a:xfrm>
            <a:off x="152400" y="152400"/>
            <a:ext cx="8839200" cy="6553200"/>
          </a:xfrm>
          <a:prstGeom prst="roundRect">
            <a:avLst>
              <a:gd name="adj" fmla="val 4144"/>
            </a:avLst>
          </a:prstGeom>
          <a:noFill/>
          <a:ln w="28575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90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Helvetica" pitchFamily="34" charset="0"/>
        </a:defRPr>
      </a:lvl9pPr>
    </p:titleStyle>
    <p:bodyStyle>
      <a:lvl1pPr marL="223838" indent="-223838" algn="l" rtl="0" eaLnBrk="0" fontAlgn="base" hangingPunct="0">
        <a:spcBef>
          <a:spcPct val="50000"/>
        </a:spcBef>
        <a:spcAft>
          <a:spcPct val="0"/>
        </a:spcAft>
        <a:buChar char="•"/>
        <a:defRPr sz="2800">
          <a:solidFill>
            <a:srgbClr val="0000FF"/>
          </a:solidFill>
          <a:latin typeface="+mn-lt"/>
          <a:ea typeface="+mn-ea"/>
          <a:cs typeface="+mn-cs"/>
        </a:defRPr>
      </a:lvl1pPr>
      <a:lvl2pPr marL="563563" indent="-223838" algn="l" rtl="0" eaLnBrk="0" fontAlgn="base" hangingPunct="0">
        <a:spcBef>
          <a:spcPct val="10000"/>
        </a:spcBef>
        <a:spcAft>
          <a:spcPct val="0"/>
        </a:spcAft>
        <a:buFont typeface="Helvetica" pitchFamily="34" charset="0"/>
        <a:buChar char="–"/>
        <a:defRPr sz="2400">
          <a:solidFill>
            <a:schemeClr val="accent2"/>
          </a:solidFill>
          <a:latin typeface="+mn-lt"/>
          <a:cs typeface="+mn-cs"/>
        </a:defRPr>
      </a:lvl2pPr>
      <a:lvl3pPr marL="911225" indent="-233363" algn="l" rtl="0" eaLnBrk="0" fontAlgn="base" hangingPunct="0">
        <a:spcBef>
          <a:spcPct val="10000"/>
        </a:spcBef>
        <a:spcAft>
          <a:spcPct val="0"/>
        </a:spcAft>
        <a:buFont typeface="Wingdings" pitchFamily="2" charset="2"/>
        <a:buChar char=""/>
        <a:defRPr sz="2000">
          <a:solidFill>
            <a:schemeClr val="tx1"/>
          </a:solidFill>
          <a:latin typeface="+mn-lt"/>
          <a:cs typeface="+mn-cs"/>
        </a:defRPr>
      </a:lvl3pPr>
      <a:lvl4pPr marL="1258888" indent="-233363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accent2"/>
          </a:solidFill>
          <a:latin typeface="+mj-lt"/>
          <a:cs typeface="+mn-cs"/>
        </a:defRPr>
      </a:lvl4pPr>
      <a:lvl5pPr marL="15970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5pPr>
      <a:lvl6pPr marL="20542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6pPr>
      <a:lvl7pPr marL="25114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7pPr>
      <a:lvl8pPr marL="29686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8pPr>
      <a:lvl9pPr marL="3425825" indent="-223838" algn="l" rtl="0" eaLnBrk="0" fontAlgn="base" hangingPunct="0">
        <a:spcBef>
          <a:spcPct val="10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blue.utb.edu/itnet/clipart/interWireless.jpg" TargetMode="External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hyperlink" Target="http://ww1.prweb.com/prfiles/2005/01/18/199305/HMPC16.jpg" TargetMode="Externa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oleObject" Target="../embeddings/oleObject10.bin"/><Relationship Id="rId18" Type="http://schemas.openxmlformats.org/officeDocument/2006/relationships/oleObject" Target="../embeddings/oleObject15.bin"/><Relationship Id="rId26" Type="http://schemas.openxmlformats.org/officeDocument/2006/relationships/oleObject" Target="../embeddings/oleObject23.bin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4.bin"/><Relationship Id="rId12" Type="http://schemas.openxmlformats.org/officeDocument/2006/relationships/oleObject" Target="../embeddings/oleObject9.bin"/><Relationship Id="rId17" Type="http://schemas.openxmlformats.org/officeDocument/2006/relationships/oleObject" Target="../embeddings/oleObject14.bin"/><Relationship Id="rId25" Type="http://schemas.openxmlformats.org/officeDocument/2006/relationships/oleObject" Target="../embeddings/oleObject22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.bin"/><Relationship Id="rId20" Type="http://schemas.openxmlformats.org/officeDocument/2006/relationships/oleObject" Target="../embeddings/oleObject17.bin"/><Relationship Id="rId29" Type="http://schemas.openxmlformats.org/officeDocument/2006/relationships/oleObject" Target="../embeddings/oleObject26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oleObject" Target="../embeddings/oleObject8.bin"/><Relationship Id="rId24" Type="http://schemas.openxmlformats.org/officeDocument/2006/relationships/oleObject" Target="../embeddings/oleObject21.bin"/><Relationship Id="rId5" Type="http://schemas.openxmlformats.org/officeDocument/2006/relationships/image" Target="../media/image7.png"/><Relationship Id="rId15" Type="http://schemas.openxmlformats.org/officeDocument/2006/relationships/oleObject" Target="../embeddings/oleObject12.bin"/><Relationship Id="rId23" Type="http://schemas.openxmlformats.org/officeDocument/2006/relationships/oleObject" Target="../embeddings/oleObject20.bin"/><Relationship Id="rId28" Type="http://schemas.openxmlformats.org/officeDocument/2006/relationships/oleObject" Target="../embeddings/oleObject25.bin"/><Relationship Id="rId10" Type="http://schemas.openxmlformats.org/officeDocument/2006/relationships/oleObject" Target="../embeddings/oleObject7.bin"/><Relationship Id="rId19" Type="http://schemas.openxmlformats.org/officeDocument/2006/relationships/oleObject" Target="../embeddings/oleObject16.bin"/><Relationship Id="rId31" Type="http://schemas.openxmlformats.org/officeDocument/2006/relationships/oleObject" Target="../embeddings/oleObject28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6.bin"/><Relationship Id="rId14" Type="http://schemas.openxmlformats.org/officeDocument/2006/relationships/oleObject" Target="../embeddings/oleObject11.bin"/><Relationship Id="rId22" Type="http://schemas.openxmlformats.org/officeDocument/2006/relationships/oleObject" Target="../embeddings/oleObject19.bin"/><Relationship Id="rId27" Type="http://schemas.openxmlformats.org/officeDocument/2006/relationships/oleObject" Target="../embeddings/oleObject24.bin"/><Relationship Id="rId30" Type="http://schemas.openxmlformats.org/officeDocument/2006/relationships/oleObject" Target="../embeddings/oleObject2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oleObject" Target="../embeddings/oleObject37.bin"/><Relationship Id="rId18" Type="http://schemas.openxmlformats.org/officeDocument/2006/relationships/oleObject" Target="../embeddings/oleObject42.bin"/><Relationship Id="rId26" Type="http://schemas.openxmlformats.org/officeDocument/2006/relationships/oleObject" Target="../embeddings/oleObject50.bin"/><Relationship Id="rId3" Type="http://schemas.openxmlformats.org/officeDocument/2006/relationships/notesSlide" Target="../notesSlides/notesSlide3.xml"/><Relationship Id="rId21" Type="http://schemas.openxmlformats.org/officeDocument/2006/relationships/oleObject" Target="../embeddings/oleObject45.bin"/><Relationship Id="rId7" Type="http://schemas.openxmlformats.org/officeDocument/2006/relationships/oleObject" Target="../embeddings/oleObject31.bin"/><Relationship Id="rId12" Type="http://schemas.openxmlformats.org/officeDocument/2006/relationships/oleObject" Target="../embeddings/oleObject36.bin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9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40.bin"/><Relationship Id="rId20" Type="http://schemas.openxmlformats.org/officeDocument/2006/relationships/oleObject" Target="../embeddings/oleObject44.bin"/><Relationship Id="rId29" Type="http://schemas.openxmlformats.org/officeDocument/2006/relationships/oleObject" Target="../embeddings/oleObject53.bin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0.bin"/><Relationship Id="rId11" Type="http://schemas.openxmlformats.org/officeDocument/2006/relationships/oleObject" Target="../embeddings/oleObject35.bin"/><Relationship Id="rId24" Type="http://schemas.openxmlformats.org/officeDocument/2006/relationships/oleObject" Target="../embeddings/oleObject48.bin"/><Relationship Id="rId5" Type="http://schemas.openxmlformats.org/officeDocument/2006/relationships/oleObject" Target="../embeddings/oleObject29.bin"/><Relationship Id="rId15" Type="http://schemas.openxmlformats.org/officeDocument/2006/relationships/oleObject" Target="../embeddings/oleObject39.bin"/><Relationship Id="rId23" Type="http://schemas.openxmlformats.org/officeDocument/2006/relationships/oleObject" Target="../embeddings/oleObject47.bin"/><Relationship Id="rId28" Type="http://schemas.openxmlformats.org/officeDocument/2006/relationships/oleObject" Target="../embeddings/oleObject52.bin"/><Relationship Id="rId10" Type="http://schemas.openxmlformats.org/officeDocument/2006/relationships/oleObject" Target="../embeddings/oleObject34.bin"/><Relationship Id="rId19" Type="http://schemas.openxmlformats.org/officeDocument/2006/relationships/oleObject" Target="../embeddings/oleObject43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33.bin"/><Relationship Id="rId14" Type="http://schemas.openxmlformats.org/officeDocument/2006/relationships/oleObject" Target="../embeddings/oleObject38.bin"/><Relationship Id="rId22" Type="http://schemas.openxmlformats.org/officeDocument/2006/relationships/oleObject" Target="../embeddings/oleObject46.bin"/><Relationship Id="rId27" Type="http://schemas.openxmlformats.org/officeDocument/2006/relationships/oleObject" Target="../embeddings/oleObject51.bin"/><Relationship Id="rId30" Type="http://schemas.openxmlformats.org/officeDocument/2006/relationships/oleObject" Target="../embeddings/oleObject5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13" Type="http://schemas.openxmlformats.org/officeDocument/2006/relationships/oleObject" Target="../embeddings/oleObject62.bin"/><Relationship Id="rId18" Type="http://schemas.openxmlformats.org/officeDocument/2006/relationships/oleObject" Target="../embeddings/oleObject67.bin"/><Relationship Id="rId26" Type="http://schemas.openxmlformats.org/officeDocument/2006/relationships/oleObject" Target="../embeddings/oleObject75.bin"/><Relationship Id="rId3" Type="http://schemas.openxmlformats.org/officeDocument/2006/relationships/notesSlide" Target="../notesSlides/notesSlide4.xml"/><Relationship Id="rId21" Type="http://schemas.openxmlformats.org/officeDocument/2006/relationships/oleObject" Target="../embeddings/oleObject70.bin"/><Relationship Id="rId7" Type="http://schemas.openxmlformats.org/officeDocument/2006/relationships/oleObject" Target="../embeddings/oleObject56.bin"/><Relationship Id="rId12" Type="http://schemas.openxmlformats.org/officeDocument/2006/relationships/oleObject" Target="../embeddings/oleObject61.bin"/><Relationship Id="rId17" Type="http://schemas.openxmlformats.org/officeDocument/2006/relationships/oleObject" Target="../embeddings/oleObject66.bin"/><Relationship Id="rId25" Type="http://schemas.openxmlformats.org/officeDocument/2006/relationships/oleObject" Target="../embeddings/oleObject7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65.bin"/><Relationship Id="rId20" Type="http://schemas.openxmlformats.org/officeDocument/2006/relationships/oleObject" Target="../embeddings/oleObject69.bin"/><Relationship Id="rId29" Type="http://schemas.openxmlformats.org/officeDocument/2006/relationships/oleObject" Target="../embeddings/oleObject78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5.bin"/><Relationship Id="rId11" Type="http://schemas.openxmlformats.org/officeDocument/2006/relationships/oleObject" Target="../embeddings/oleObject60.bin"/><Relationship Id="rId24" Type="http://schemas.openxmlformats.org/officeDocument/2006/relationships/oleObject" Target="../embeddings/oleObject73.bin"/><Relationship Id="rId5" Type="http://schemas.openxmlformats.org/officeDocument/2006/relationships/image" Target="../media/image7.png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72.bin"/><Relationship Id="rId28" Type="http://schemas.openxmlformats.org/officeDocument/2006/relationships/oleObject" Target="../embeddings/oleObject77.bin"/><Relationship Id="rId10" Type="http://schemas.openxmlformats.org/officeDocument/2006/relationships/oleObject" Target="../embeddings/oleObject59.bin"/><Relationship Id="rId19" Type="http://schemas.openxmlformats.org/officeDocument/2006/relationships/oleObject" Target="../embeddings/oleObject68.bin"/><Relationship Id="rId31" Type="http://schemas.openxmlformats.org/officeDocument/2006/relationships/oleObject" Target="../embeddings/oleObject80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58.bin"/><Relationship Id="rId14" Type="http://schemas.openxmlformats.org/officeDocument/2006/relationships/oleObject" Target="../embeddings/oleObject63.bin"/><Relationship Id="rId22" Type="http://schemas.openxmlformats.org/officeDocument/2006/relationships/oleObject" Target="../embeddings/oleObject71.bin"/><Relationship Id="rId27" Type="http://schemas.openxmlformats.org/officeDocument/2006/relationships/oleObject" Target="../embeddings/oleObject76.bin"/><Relationship Id="rId30" Type="http://schemas.openxmlformats.org/officeDocument/2006/relationships/oleObject" Target="../embeddings/oleObject7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13" Type="http://schemas.openxmlformats.org/officeDocument/2006/relationships/oleObject" Target="../embeddings/oleObject91.bin"/><Relationship Id="rId18" Type="http://schemas.openxmlformats.org/officeDocument/2006/relationships/oleObject" Target="../embeddings/oleObject96.bin"/><Relationship Id="rId3" Type="http://schemas.openxmlformats.org/officeDocument/2006/relationships/oleObject" Target="../embeddings/oleObject81.bin"/><Relationship Id="rId21" Type="http://schemas.openxmlformats.org/officeDocument/2006/relationships/oleObject" Target="../embeddings/oleObject99.bin"/><Relationship Id="rId7" Type="http://schemas.openxmlformats.org/officeDocument/2006/relationships/oleObject" Target="../embeddings/oleObject85.bin"/><Relationship Id="rId12" Type="http://schemas.openxmlformats.org/officeDocument/2006/relationships/oleObject" Target="../embeddings/oleObject90.bin"/><Relationship Id="rId17" Type="http://schemas.openxmlformats.org/officeDocument/2006/relationships/oleObject" Target="../embeddings/oleObject95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94.bin"/><Relationship Id="rId20" Type="http://schemas.openxmlformats.org/officeDocument/2006/relationships/oleObject" Target="../embeddings/oleObject98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4.bin"/><Relationship Id="rId11" Type="http://schemas.openxmlformats.org/officeDocument/2006/relationships/oleObject" Target="../embeddings/oleObject89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93.bin"/><Relationship Id="rId10" Type="http://schemas.openxmlformats.org/officeDocument/2006/relationships/oleObject" Target="../embeddings/oleObject88.bin"/><Relationship Id="rId19" Type="http://schemas.openxmlformats.org/officeDocument/2006/relationships/oleObject" Target="../embeddings/oleObject97.bin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7.bin"/><Relationship Id="rId14" Type="http://schemas.openxmlformats.org/officeDocument/2006/relationships/oleObject" Target="../embeddings/oleObject92.bin"/><Relationship Id="rId22" Type="http://schemas.openxmlformats.org/officeDocument/2006/relationships/oleObject" Target="../embeddings/oleObject100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oleObject" Target="../embeddings/oleObject108.bin"/><Relationship Id="rId18" Type="http://schemas.openxmlformats.org/officeDocument/2006/relationships/oleObject" Target="../embeddings/oleObject113.bin"/><Relationship Id="rId26" Type="http://schemas.openxmlformats.org/officeDocument/2006/relationships/oleObject" Target="../embeddings/oleObject121.bin"/><Relationship Id="rId3" Type="http://schemas.openxmlformats.org/officeDocument/2006/relationships/notesSlide" Target="../notesSlides/notesSlide8.xml"/><Relationship Id="rId21" Type="http://schemas.openxmlformats.org/officeDocument/2006/relationships/oleObject" Target="../embeddings/oleObject116.bin"/><Relationship Id="rId7" Type="http://schemas.openxmlformats.org/officeDocument/2006/relationships/oleObject" Target="../embeddings/oleObject102.bin"/><Relationship Id="rId12" Type="http://schemas.openxmlformats.org/officeDocument/2006/relationships/oleObject" Target="../embeddings/oleObject107.bin"/><Relationship Id="rId17" Type="http://schemas.openxmlformats.org/officeDocument/2006/relationships/oleObject" Target="../embeddings/oleObject112.bin"/><Relationship Id="rId25" Type="http://schemas.openxmlformats.org/officeDocument/2006/relationships/oleObject" Target="../embeddings/oleObject120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11.bin"/><Relationship Id="rId20" Type="http://schemas.openxmlformats.org/officeDocument/2006/relationships/oleObject" Target="../embeddings/oleObject115.bin"/><Relationship Id="rId29" Type="http://schemas.openxmlformats.org/officeDocument/2006/relationships/oleObject" Target="../embeddings/oleObject12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01.bin"/><Relationship Id="rId11" Type="http://schemas.openxmlformats.org/officeDocument/2006/relationships/oleObject" Target="../embeddings/oleObject106.bin"/><Relationship Id="rId24" Type="http://schemas.openxmlformats.org/officeDocument/2006/relationships/oleObject" Target="../embeddings/oleObject119.bin"/><Relationship Id="rId5" Type="http://schemas.openxmlformats.org/officeDocument/2006/relationships/image" Target="../media/image7.png"/><Relationship Id="rId15" Type="http://schemas.openxmlformats.org/officeDocument/2006/relationships/oleObject" Target="../embeddings/oleObject110.bin"/><Relationship Id="rId23" Type="http://schemas.openxmlformats.org/officeDocument/2006/relationships/oleObject" Target="../embeddings/oleObject118.bin"/><Relationship Id="rId28" Type="http://schemas.openxmlformats.org/officeDocument/2006/relationships/oleObject" Target="../embeddings/oleObject123.bin"/><Relationship Id="rId10" Type="http://schemas.openxmlformats.org/officeDocument/2006/relationships/oleObject" Target="../embeddings/oleObject105.bin"/><Relationship Id="rId19" Type="http://schemas.openxmlformats.org/officeDocument/2006/relationships/oleObject" Target="../embeddings/oleObject114.bin"/><Relationship Id="rId31" Type="http://schemas.openxmlformats.org/officeDocument/2006/relationships/oleObject" Target="../embeddings/oleObject126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104.bin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7.bin"/><Relationship Id="rId27" Type="http://schemas.openxmlformats.org/officeDocument/2006/relationships/oleObject" Target="../embeddings/oleObject122.bin"/><Relationship Id="rId30" Type="http://schemas.openxmlformats.org/officeDocument/2006/relationships/oleObject" Target="../embeddings/oleObject12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oleObject" Target="../embeddings/oleObject134.bin"/><Relationship Id="rId18" Type="http://schemas.openxmlformats.org/officeDocument/2006/relationships/oleObject" Target="../embeddings/oleObject139.bin"/><Relationship Id="rId26" Type="http://schemas.openxmlformats.org/officeDocument/2006/relationships/oleObject" Target="../embeddings/oleObject147.bin"/><Relationship Id="rId3" Type="http://schemas.openxmlformats.org/officeDocument/2006/relationships/notesSlide" Target="../notesSlides/notesSlide9.xml"/><Relationship Id="rId21" Type="http://schemas.openxmlformats.org/officeDocument/2006/relationships/oleObject" Target="../embeddings/oleObject142.bin"/><Relationship Id="rId7" Type="http://schemas.openxmlformats.org/officeDocument/2006/relationships/oleObject" Target="../embeddings/oleObject128.bin"/><Relationship Id="rId12" Type="http://schemas.openxmlformats.org/officeDocument/2006/relationships/oleObject" Target="../embeddings/oleObject133.bin"/><Relationship Id="rId17" Type="http://schemas.openxmlformats.org/officeDocument/2006/relationships/oleObject" Target="../embeddings/oleObject138.bin"/><Relationship Id="rId25" Type="http://schemas.openxmlformats.org/officeDocument/2006/relationships/oleObject" Target="../embeddings/oleObject146.bin"/><Relationship Id="rId33" Type="http://schemas.openxmlformats.org/officeDocument/2006/relationships/oleObject" Target="../embeddings/oleObject154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7.bin"/><Relationship Id="rId20" Type="http://schemas.openxmlformats.org/officeDocument/2006/relationships/oleObject" Target="../embeddings/oleObject141.bin"/><Relationship Id="rId29" Type="http://schemas.openxmlformats.org/officeDocument/2006/relationships/oleObject" Target="../embeddings/oleObject15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7.bin"/><Relationship Id="rId11" Type="http://schemas.openxmlformats.org/officeDocument/2006/relationships/oleObject" Target="../embeddings/oleObject132.bin"/><Relationship Id="rId24" Type="http://schemas.openxmlformats.org/officeDocument/2006/relationships/oleObject" Target="../embeddings/oleObject145.bin"/><Relationship Id="rId32" Type="http://schemas.openxmlformats.org/officeDocument/2006/relationships/oleObject" Target="../embeddings/oleObject153.bin"/><Relationship Id="rId5" Type="http://schemas.openxmlformats.org/officeDocument/2006/relationships/image" Target="../media/image7.png"/><Relationship Id="rId15" Type="http://schemas.openxmlformats.org/officeDocument/2006/relationships/oleObject" Target="../embeddings/oleObject136.bin"/><Relationship Id="rId23" Type="http://schemas.openxmlformats.org/officeDocument/2006/relationships/oleObject" Target="../embeddings/oleObject144.bin"/><Relationship Id="rId28" Type="http://schemas.openxmlformats.org/officeDocument/2006/relationships/oleObject" Target="../embeddings/oleObject149.bin"/><Relationship Id="rId10" Type="http://schemas.openxmlformats.org/officeDocument/2006/relationships/oleObject" Target="../embeddings/oleObject131.bin"/><Relationship Id="rId19" Type="http://schemas.openxmlformats.org/officeDocument/2006/relationships/oleObject" Target="../embeddings/oleObject140.bin"/><Relationship Id="rId31" Type="http://schemas.openxmlformats.org/officeDocument/2006/relationships/oleObject" Target="../embeddings/oleObject152.bin"/><Relationship Id="rId4" Type="http://schemas.openxmlformats.org/officeDocument/2006/relationships/image" Target="../media/image6.png"/><Relationship Id="rId9" Type="http://schemas.openxmlformats.org/officeDocument/2006/relationships/oleObject" Target="../embeddings/oleObject130.bin"/><Relationship Id="rId14" Type="http://schemas.openxmlformats.org/officeDocument/2006/relationships/oleObject" Target="../embeddings/oleObject135.bin"/><Relationship Id="rId22" Type="http://schemas.openxmlformats.org/officeDocument/2006/relationships/oleObject" Target="../embeddings/oleObject143.bin"/><Relationship Id="rId27" Type="http://schemas.openxmlformats.org/officeDocument/2006/relationships/oleObject" Target="../embeddings/oleObject148.bin"/><Relationship Id="rId30" Type="http://schemas.openxmlformats.org/officeDocument/2006/relationships/oleObject" Target="../embeddings/oleObject15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8.bin"/><Relationship Id="rId13" Type="http://schemas.openxmlformats.org/officeDocument/2006/relationships/oleObject" Target="../embeddings/oleObject163.bin"/><Relationship Id="rId18" Type="http://schemas.openxmlformats.org/officeDocument/2006/relationships/oleObject" Target="../embeddings/oleObject168.bin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157.bin"/><Relationship Id="rId12" Type="http://schemas.openxmlformats.org/officeDocument/2006/relationships/oleObject" Target="../embeddings/oleObject162.bin"/><Relationship Id="rId17" Type="http://schemas.openxmlformats.org/officeDocument/2006/relationships/oleObject" Target="../embeddings/oleObject16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66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161.bin"/><Relationship Id="rId5" Type="http://schemas.openxmlformats.org/officeDocument/2006/relationships/oleObject" Target="../embeddings/oleObject156.bin"/><Relationship Id="rId15" Type="http://schemas.openxmlformats.org/officeDocument/2006/relationships/oleObject" Target="../embeddings/oleObject165.bin"/><Relationship Id="rId10" Type="http://schemas.openxmlformats.org/officeDocument/2006/relationships/oleObject" Target="../embeddings/oleObject160.bin"/><Relationship Id="rId4" Type="http://schemas.openxmlformats.org/officeDocument/2006/relationships/oleObject" Target="../embeddings/oleObject155.bin"/><Relationship Id="rId9" Type="http://schemas.openxmlformats.org/officeDocument/2006/relationships/oleObject" Target="../embeddings/oleObject159.bin"/><Relationship Id="rId14" Type="http://schemas.openxmlformats.org/officeDocument/2006/relationships/oleObject" Target="../embeddings/oleObject16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3" Type="http://schemas.openxmlformats.org/officeDocument/2006/relationships/notesSlide" Target="../notesSlides/notesSlide15.xml"/><Relationship Id="rId7" Type="http://schemas.openxmlformats.org/officeDocument/2006/relationships/oleObject" Target="../embeddings/oleObject1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71.bin"/><Relationship Id="rId5" Type="http://schemas.openxmlformats.org/officeDocument/2006/relationships/oleObject" Target="../embeddings/oleObject170.bin"/><Relationship Id="rId4" Type="http://schemas.openxmlformats.org/officeDocument/2006/relationships/oleObject" Target="../embeddings/oleObject169.bin"/><Relationship Id="rId9" Type="http://schemas.openxmlformats.org/officeDocument/2006/relationships/oleObject" Target="../embeddings/oleObject17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9.bin"/><Relationship Id="rId3" Type="http://schemas.openxmlformats.org/officeDocument/2006/relationships/notesSlide" Target="../notesSlides/notesSlide16.xml"/><Relationship Id="rId7" Type="http://schemas.openxmlformats.org/officeDocument/2006/relationships/oleObject" Target="../embeddings/oleObject17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77.bin"/><Relationship Id="rId5" Type="http://schemas.openxmlformats.org/officeDocument/2006/relationships/oleObject" Target="../embeddings/oleObject176.bin"/><Relationship Id="rId4" Type="http://schemas.openxmlformats.org/officeDocument/2006/relationships/oleObject" Target="../embeddings/oleObject175.bin"/><Relationship Id="rId9" Type="http://schemas.openxmlformats.org/officeDocument/2006/relationships/oleObject" Target="../embeddings/oleObject180.bin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182.bin"/><Relationship Id="rId4" Type="http://schemas.openxmlformats.org/officeDocument/2006/relationships/oleObject" Target="../embeddings/oleObject18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6.bin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84.bin"/><Relationship Id="rId5" Type="http://schemas.openxmlformats.org/officeDocument/2006/relationships/oleObject" Target="../embeddings/oleObject183.bin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20.xml"/><Relationship Id="rId7" Type="http://schemas.openxmlformats.org/officeDocument/2006/relationships/oleObject" Target="../embeddings/oleObject19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89.bin"/><Relationship Id="rId5" Type="http://schemas.openxmlformats.org/officeDocument/2006/relationships/oleObject" Target="../embeddings/oleObject188.bin"/><Relationship Id="rId10" Type="http://schemas.openxmlformats.org/officeDocument/2006/relationships/oleObject" Target="../embeddings/oleObject192.bin"/><Relationship Id="rId4" Type="http://schemas.openxmlformats.org/officeDocument/2006/relationships/oleObject" Target="../embeddings/oleObject187.bin"/><Relationship Id="rId9" Type="http://schemas.openxmlformats.org/officeDocument/2006/relationships/oleObject" Target="../embeddings/oleObject191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13" Type="http://schemas.openxmlformats.org/officeDocument/2006/relationships/oleObject" Target="../embeddings/oleObject202.bin"/><Relationship Id="rId3" Type="http://schemas.openxmlformats.org/officeDocument/2006/relationships/notesSlide" Target="../notesSlides/notesSlide21.xml"/><Relationship Id="rId7" Type="http://schemas.openxmlformats.org/officeDocument/2006/relationships/oleObject" Target="../embeddings/oleObject196.bin"/><Relationship Id="rId12" Type="http://schemas.openxmlformats.org/officeDocument/2006/relationships/oleObject" Target="../embeddings/oleObject20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95.bin"/><Relationship Id="rId11" Type="http://schemas.openxmlformats.org/officeDocument/2006/relationships/oleObject" Target="../embeddings/oleObject200.bin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204.bin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3.bin"/><Relationship Id="rId9" Type="http://schemas.openxmlformats.org/officeDocument/2006/relationships/oleObject" Target="../embeddings/oleObject198.bin"/><Relationship Id="rId14" Type="http://schemas.openxmlformats.org/officeDocument/2006/relationships/oleObject" Target="../embeddings/oleObject203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4loves.com/links/uploaded_images/air-travel-727379.jpg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freedigitalphotos.net/albums/userpics/10001/airplane6.jpg" TargetMode="External"/><Relationship Id="rId3" Type="http://schemas.openxmlformats.org/officeDocument/2006/relationships/hyperlink" Target="http://www.esa.int/spacecraftops/Image/urlpicturelarge_id_1069167511889_NNO_new_l,2.jpg" TargetMode="External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lbisat.com/gallery/photos/New%20Skies%20Satellite.jpg" TargetMode="External"/><Relationship Id="rId5" Type="http://schemas.openxmlformats.org/officeDocument/2006/relationships/image" Target="../media/image20.jpeg"/><Relationship Id="rId10" Type="http://schemas.openxmlformats.org/officeDocument/2006/relationships/image" Target="../media/image15.wmf"/><Relationship Id="rId4" Type="http://schemas.openxmlformats.org/officeDocument/2006/relationships/image" Target="../media/image19.jpeg"/><Relationship Id="rId9" Type="http://schemas.openxmlformats.org/officeDocument/2006/relationships/image" Target="../media/image22.jpe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4" Type="http://schemas.openxmlformats.org/officeDocument/2006/relationships/oleObject" Target="../embeddings/oleObject205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08.bin"/><Relationship Id="rId5" Type="http://schemas.openxmlformats.org/officeDocument/2006/relationships/oleObject" Target="../embeddings/oleObject207.bin"/><Relationship Id="rId4" Type="http://schemas.openxmlformats.org/officeDocument/2006/relationships/oleObject" Target="../embeddings/oleObject206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5" Type="http://schemas.openxmlformats.org/officeDocument/2006/relationships/oleObject" Target="../embeddings/oleObject210.bin"/><Relationship Id="rId4" Type="http://schemas.openxmlformats.org/officeDocument/2006/relationships/oleObject" Target="../embeddings/oleObject209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13.bin"/><Relationship Id="rId5" Type="http://schemas.openxmlformats.org/officeDocument/2006/relationships/oleObject" Target="../embeddings/oleObject212.bin"/><Relationship Id="rId4" Type="http://schemas.openxmlformats.org/officeDocument/2006/relationships/oleObject" Target="../embeddings/oleObject211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16.bin"/><Relationship Id="rId5" Type="http://schemas.openxmlformats.org/officeDocument/2006/relationships/oleObject" Target="../embeddings/oleObject215.bin"/><Relationship Id="rId4" Type="http://schemas.openxmlformats.org/officeDocument/2006/relationships/oleObject" Target="../embeddings/oleObject214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19.bin"/><Relationship Id="rId5" Type="http://schemas.openxmlformats.org/officeDocument/2006/relationships/oleObject" Target="../embeddings/oleObject218.bin"/><Relationship Id="rId4" Type="http://schemas.openxmlformats.org/officeDocument/2006/relationships/oleObject" Target="../embeddings/oleObject217.bin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9E9F3B-E3EE-4F2E-8A48-CC8CC503B765}" type="slidenum">
              <a:rPr lang="en-US" smtClean="0"/>
              <a:pPr>
                <a:defRPr/>
              </a:pPr>
              <a:t>1</a:t>
            </a:fld>
            <a:endParaRPr lang="en-US" smtClean="0"/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31838" y="2738438"/>
            <a:ext cx="7772400" cy="28416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3200" smtClean="0"/>
              <a:t>Wireless and Mobile Networks</a:t>
            </a:r>
            <a:br>
              <a:rPr lang="en-US" sz="3200" smtClean="0"/>
            </a:br>
            <a:endParaRPr lang="en-US" smtClean="0"/>
          </a:p>
        </p:txBody>
      </p:sp>
      <p:grpSp>
        <p:nvGrpSpPr>
          <p:cNvPr id="1030" name="Group 8"/>
          <p:cNvGrpSpPr>
            <a:grpSpLocks/>
          </p:cNvGrpSpPr>
          <p:nvPr/>
        </p:nvGrpSpPr>
        <p:grpSpPr bwMode="auto">
          <a:xfrm>
            <a:off x="3343275" y="241300"/>
            <a:ext cx="2571750" cy="2111375"/>
            <a:chOff x="2870" y="1518"/>
            <a:chExt cx="292" cy="320"/>
          </a:xfrm>
        </p:grpSpPr>
        <p:graphicFrame>
          <p:nvGraphicFramePr>
            <p:cNvPr id="1026" name="Object 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6" name="Clip" r:id="rId4" imgW="819000" imgH="847800" progId="MS_ClipArt_Gallery.2">
                <p:embed/>
              </p:oleObj>
            </a:graphicData>
          </a:graphic>
        </p:graphicFrame>
        <p:graphicFrame>
          <p:nvGraphicFramePr>
            <p:cNvPr id="1027" name="Object 1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7" name="Clip" r:id="rId5" imgW="1266840" imgH="1200240" progId="MS_ClipArt_Gallery.2">
                <p:embed/>
              </p:oleObj>
            </a:graphicData>
          </a:graphic>
        </p:graphicFrame>
      </p:grpSp>
      <p:pic>
        <p:nvPicPr>
          <p:cNvPr id="1031" name="Picture 12" descr="HMPC16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183438" y="49213"/>
            <a:ext cx="1884362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14" descr="interWireless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5725" y="49213"/>
            <a:ext cx="2297113" cy="238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3" name="TextBox 9"/>
          <p:cNvSpPr txBox="1">
            <a:spLocks noChangeArrowheads="1"/>
          </p:cNvSpPr>
          <p:nvPr/>
        </p:nvSpPr>
        <p:spPr bwMode="auto">
          <a:xfrm>
            <a:off x="4187825" y="5118100"/>
            <a:ext cx="39941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Dr. Muazzam A. Khan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2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F6F0E2-568D-46D6-A4E4-0E42D6F270EE}" type="slidenum">
              <a:rPr lang="en-US" smtClean="0"/>
              <a:pPr>
                <a:defRPr/>
              </a:pPr>
              <a:t>2</a:t>
            </a:fld>
            <a:endParaRPr lang="en-US" smtClean="0"/>
          </a:p>
        </p:txBody>
      </p:sp>
      <p:sp>
        <p:nvSpPr>
          <p:cNvPr id="6173" name="Rectangle 6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Network: Base Station</a:t>
            </a:r>
          </a:p>
        </p:txBody>
      </p:sp>
      <p:sp>
        <p:nvSpPr>
          <p:cNvPr id="6174" name="Oval 3"/>
          <p:cNvSpPr>
            <a:spLocks noChangeArrowheads="1"/>
          </p:cNvSpPr>
          <p:nvPr/>
        </p:nvSpPr>
        <p:spPr bwMode="auto">
          <a:xfrm>
            <a:off x="4370388" y="481171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75" name="Group 4"/>
          <p:cNvGrpSpPr>
            <a:grpSpLocks/>
          </p:cNvGrpSpPr>
          <p:nvPr/>
        </p:nvGrpSpPr>
        <p:grpSpPr bwMode="auto">
          <a:xfrm>
            <a:off x="2489200" y="2925763"/>
            <a:ext cx="2362200" cy="1762125"/>
            <a:chOff x="3839" y="1737"/>
            <a:chExt cx="1488" cy="1110"/>
          </a:xfrm>
        </p:grpSpPr>
        <p:sp>
          <p:nvSpPr>
            <p:cNvPr id="6210" name="Freeform 5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11" name="Text Box 6"/>
            <p:cNvSpPr txBox="1">
              <a:spLocks noChangeArrowheads="1"/>
            </p:cNvSpPr>
            <p:nvPr/>
          </p:nvSpPr>
          <p:spPr bwMode="auto">
            <a:xfrm>
              <a:off x="4075" y="1947"/>
              <a:ext cx="10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0">
                  <a:latin typeface="Comic Sans MS" pitchFamily="66" charset="0"/>
                </a:rPr>
                <a:t>network </a:t>
              </a:r>
            </a:p>
            <a:p>
              <a:r>
                <a:rPr lang="en-US" sz="1800" b="0">
                  <a:latin typeface="Comic Sans MS" pitchFamily="66" charset="0"/>
                </a:rPr>
                <a:t>infrastructure</a:t>
              </a:r>
            </a:p>
          </p:txBody>
        </p:sp>
      </p:grpSp>
      <p:pic>
        <p:nvPicPr>
          <p:cNvPr id="6176" name="Picture 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5413" y="5389563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77" name="Group 8"/>
          <p:cNvGrpSpPr>
            <a:grpSpLocks/>
          </p:cNvGrpSpPr>
          <p:nvPr/>
        </p:nvGrpSpPr>
        <p:grpSpPr bwMode="auto">
          <a:xfrm>
            <a:off x="577850" y="1854200"/>
            <a:ext cx="1755775" cy="1625600"/>
            <a:chOff x="567" y="1326"/>
            <a:chExt cx="1106" cy="1024"/>
          </a:xfrm>
        </p:grpSpPr>
        <p:sp>
          <p:nvSpPr>
            <p:cNvPr id="6205" name="Oval 9"/>
            <p:cNvSpPr>
              <a:spLocks noChangeArrowheads="1"/>
            </p:cNvSpPr>
            <p:nvPr/>
          </p:nvSpPr>
          <p:spPr bwMode="auto">
            <a:xfrm>
              <a:off x="567" y="1326"/>
              <a:ext cx="1106" cy="1024"/>
            </a:xfrm>
            <a:prstGeom prst="ellipse">
              <a:avLst/>
            </a:pr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6206" name="Picture 10" descr="31u_bnrz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-5400000">
              <a:off x="1035" y="1785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6207" name="Group 11"/>
            <p:cNvGrpSpPr>
              <a:grpSpLocks/>
            </p:cNvGrpSpPr>
            <p:nvPr/>
          </p:nvGrpSpPr>
          <p:grpSpPr bwMode="auto">
            <a:xfrm>
              <a:off x="1221" y="1447"/>
              <a:ext cx="252" cy="288"/>
              <a:chOff x="2870" y="1518"/>
              <a:chExt cx="292" cy="320"/>
            </a:xfrm>
          </p:grpSpPr>
          <p:graphicFrame>
            <p:nvGraphicFramePr>
              <p:cNvPr id="6170" name="Object 1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6170" name="Clip" r:id="rId6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6171" name="Object 1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6171" name="Clip" r:id="rId7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6208" name="Group 14"/>
            <p:cNvGrpSpPr>
              <a:grpSpLocks/>
            </p:cNvGrpSpPr>
            <p:nvPr/>
          </p:nvGrpSpPr>
          <p:grpSpPr bwMode="auto">
            <a:xfrm>
              <a:off x="869" y="1379"/>
              <a:ext cx="252" cy="288"/>
              <a:chOff x="2870" y="1518"/>
              <a:chExt cx="292" cy="320"/>
            </a:xfrm>
          </p:grpSpPr>
          <p:graphicFrame>
            <p:nvGraphicFramePr>
              <p:cNvPr id="6168" name="Object 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6168" name="Clip" r:id="rId8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6169" name="Object 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6169" name="Clip" r:id="rId9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6209" name="Group 17"/>
            <p:cNvGrpSpPr>
              <a:grpSpLocks/>
            </p:cNvGrpSpPr>
            <p:nvPr/>
          </p:nvGrpSpPr>
          <p:grpSpPr bwMode="auto">
            <a:xfrm>
              <a:off x="727" y="1878"/>
              <a:ext cx="252" cy="288"/>
              <a:chOff x="2870" y="1518"/>
              <a:chExt cx="292" cy="320"/>
            </a:xfrm>
          </p:grpSpPr>
          <p:graphicFrame>
            <p:nvGraphicFramePr>
              <p:cNvPr id="6166" name="Object 1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6166" name="Clip" r:id="rId1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6167" name="Object 1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6167" name="Clip" r:id="rId11" imgW="1266840" imgH="1200240" progId="MS_ClipArt_Gallery.2">
                  <p:embed/>
                </p:oleObj>
              </a:graphicData>
            </a:graphic>
          </p:graphicFrame>
        </p:grpSp>
      </p:grpSp>
      <p:sp>
        <p:nvSpPr>
          <p:cNvPr id="6178" name="Line 20"/>
          <p:cNvSpPr>
            <a:spLocks noChangeShapeType="1"/>
          </p:cNvSpPr>
          <p:nvPr/>
        </p:nvSpPr>
        <p:spPr bwMode="auto">
          <a:xfrm>
            <a:off x="1606550" y="2855913"/>
            <a:ext cx="9001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79" name="Oval 21"/>
          <p:cNvSpPr>
            <a:spLocks noChangeArrowheads="1"/>
          </p:cNvSpPr>
          <p:nvPr/>
        </p:nvSpPr>
        <p:spPr bwMode="auto">
          <a:xfrm>
            <a:off x="673100" y="377666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6180" name="Picture 22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44450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81" name="Group 23"/>
          <p:cNvGrpSpPr>
            <a:grpSpLocks/>
          </p:cNvGrpSpPr>
          <p:nvPr/>
        </p:nvGrpSpPr>
        <p:grpSpPr bwMode="auto">
          <a:xfrm>
            <a:off x="1463675" y="4795838"/>
            <a:ext cx="400050" cy="457200"/>
            <a:chOff x="2870" y="1518"/>
            <a:chExt cx="292" cy="320"/>
          </a:xfrm>
        </p:grpSpPr>
        <p:graphicFrame>
          <p:nvGraphicFramePr>
            <p:cNvPr id="6164" name="Object 2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64" name="Clip" r:id="rId12" imgW="819000" imgH="847800" progId="MS_ClipArt_Gallery.2">
                <p:embed/>
              </p:oleObj>
            </a:graphicData>
          </a:graphic>
        </p:graphicFrame>
        <p:graphicFrame>
          <p:nvGraphicFramePr>
            <p:cNvPr id="6165" name="Object 2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65" name="Clip" r:id="rId13" imgW="1266840" imgH="1200240" progId="MS_ClipArt_Gallery.2">
                <p:embed/>
              </p:oleObj>
            </a:graphicData>
          </a:graphic>
        </p:graphicFrame>
      </p:grpSp>
      <p:grpSp>
        <p:nvGrpSpPr>
          <p:cNvPr id="6182" name="Group 26"/>
          <p:cNvGrpSpPr>
            <a:grpSpLocks/>
          </p:cNvGrpSpPr>
          <p:nvPr/>
        </p:nvGrpSpPr>
        <p:grpSpPr bwMode="auto">
          <a:xfrm>
            <a:off x="1312863" y="3846513"/>
            <a:ext cx="400050" cy="457200"/>
            <a:chOff x="2870" y="1518"/>
            <a:chExt cx="292" cy="320"/>
          </a:xfrm>
        </p:grpSpPr>
        <p:graphicFrame>
          <p:nvGraphicFramePr>
            <p:cNvPr id="6162" name="Object 2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62" name="Clip" r:id="rId14" imgW="819000" imgH="847800" progId="MS_ClipArt_Gallery.2">
                <p:embed/>
              </p:oleObj>
            </a:graphicData>
          </a:graphic>
        </p:graphicFrame>
        <p:graphicFrame>
          <p:nvGraphicFramePr>
            <p:cNvPr id="6163" name="Object 2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63" name="Clip" r:id="rId15" imgW="1266840" imgH="1200240" progId="MS_ClipArt_Gallery.2">
                <p:embed/>
              </p:oleObj>
            </a:graphicData>
          </a:graphic>
        </p:graphicFrame>
      </p:grpSp>
      <p:grpSp>
        <p:nvGrpSpPr>
          <p:cNvPr id="6183" name="Group 29"/>
          <p:cNvGrpSpPr>
            <a:grpSpLocks/>
          </p:cNvGrpSpPr>
          <p:nvPr/>
        </p:nvGrpSpPr>
        <p:grpSpPr bwMode="auto">
          <a:xfrm>
            <a:off x="927100" y="4652963"/>
            <a:ext cx="400050" cy="457200"/>
            <a:chOff x="2870" y="1518"/>
            <a:chExt cx="292" cy="320"/>
          </a:xfrm>
        </p:grpSpPr>
        <p:graphicFrame>
          <p:nvGraphicFramePr>
            <p:cNvPr id="6160" name="Object 3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60" name="Clip" r:id="rId16" imgW="819000" imgH="847800" progId="MS_ClipArt_Gallery.2">
                <p:embed/>
              </p:oleObj>
            </a:graphicData>
          </a:graphic>
        </p:graphicFrame>
        <p:graphicFrame>
          <p:nvGraphicFramePr>
            <p:cNvPr id="6161" name="Object 3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61" name="Clip" r:id="rId17" imgW="1266840" imgH="1200240" progId="MS_ClipArt_Gallery.2">
                <p:embed/>
              </p:oleObj>
            </a:graphicData>
          </a:graphic>
        </p:graphicFrame>
      </p:grpSp>
      <p:sp>
        <p:nvSpPr>
          <p:cNvPr id="6184" name="Line 32"/>
          <p:cNvSpPr>
            <a:spLocks noChangeShapeType="1"/>
          </p:cNvSpPr>
          <p:nvPr/>
        </p:nvSpPr>
        <p:spPr bwMode="auto">
          <a:xfrm flipV="1">
            <a:off x="1627188" y="3865563"/>
            <a:ext cx="97472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6185" name="Group 33"/>
          <p:cNvGrpSpPr>
            <a:grpSpLocks/>
          </p:cNvGrpSpPr>
          <p:nvPr/>
        </p:nvGrpSpPr>
        <p:grpSpPr bwMode="auto">
          <a:xfrm>
            <a:off x="803275" y="4105275"/>
            <a:ext cx="400050" cy="457200"/>
            <a:chOff x="2870" y="1518"/>
            <a:chExt cx="292" cy="320"/>
          </a:xfrm>
        </p:grpSpPr>
        <p:graphicFrame>
          <p:nvGraphicFramePr>
            <p:cNvPr id="6158" name="Object 3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58" name="Clip" r:id="rId18" imgW="819000" imgH="847800" progId="MS_ClipArt_Gallery.2">
                <p:embed/>
              </p:oleObj>
            </a:graphicData>
          </a:graphic>
        </p:graphicFrame>
        <p:graphicFrame>
          <p:nvGraphicFramePr>
            <p:cNvPr id="6159" name="Object 3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59" name="Clip" r:id="rId19" imgW="1266840" imgH="1200240" progId="MS_ClipArt_Gallery.2">
                <p:embed/>
              </p:oleObj>
            </a:graphicData>
          </a:graphic>
        </p:graphicFrame>
      </p:grpSp>
      <p:sp>
        <p:nvSpPr>
          <p:cNvPr id="6186" name="Oval 36"/>
          <p:cNvSpPr>
            <a:spLocks noChangeArrowheads="1"/>
          </p:cNvSpPr>
          <p:nvPr/>
        </p:nvSpPr>
        <p:spPr bwMode="auto">
          <a:xfrm>
            <a:off x="3060700" y="4727575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6187" name="Picture 3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63975" y="54102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188" name="Group 38"/>
          <p:cNvGrpSpPr>
            <a:grpSpLocks/>
          </p:cNvGrpSpPr>
          <p:nvPr/>
        </p:nvGrpSpPr>
        <p:grpSpPr bwMode="auto">
          <a:xfrm>
            <a:off x="3851275" y="5761038"/>
            <a:ext cx="400050" cy="457200"/>
            <a:chOff x="2870" y="1518"/>
            <a:chExt cx="292" cy="320"/>
          </a:xfrm>
        </p:grpSpPr>
        <p:graphicFrame>
          <p:nvGraphicFramePr>
            <p:cNvPr id="6156" name="Object 3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56" name="Clip" r:id="rId20" imgW="819000" imgH="847800" progId="MS_ClipArt_Gallery.2">
                <p:embed/>
              </p:oleObj>
            </a:graphicData>
          </a:graphic>
        </p:graphicFrame>
        <p:graphicFrame>
          <p:nvGraphicFramePr>
            <p:cNvPr id="6157" name="Object 4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57" name="Clip" r:id="rId21" imgW="1266840" imgH="1200240" progId="MS_ClipArt_Gallery.2">
                <p:embed/>
              </p:oleObj>
            </a:graphicData>
          </a:graphic>
        </p:graphicFrame>
      </p:grpSp>
      <p:grpSp>
        <p:nvGrpSpPr>
          <p:cNvPr id="6189" name="Group 41"/>
          <p:cNvGrpSpPr>
            <a:grpSpLocks/>
          </p:cNvGrpSpPr>
          <p:nvPr/>
        </p:nvGrpSpPr>
        <p:grpSpPr bwMode="auto">
          <a:xfrm>
            <a:off x="4052888" y="4816475"/>
            <a:ext cx="400050" cy="457200"/>
            <a:chOff x="2870" y="1518"/>
            <a:chExt cx="292" cy="320"/>
          </a:xfrm>
        </p:grpSpPr>
        <p:graphicFrame>
          <p:nvGraphicFramePr>
            <p:cNvPr id="6154" name="Object 4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54" name="Clip" r:id="rId22" imgW="819000" imgH="847800" progId="MS_ClipArt_Gallery.2">
                <p:embed/>
              </p:oleObj>
            </a:graphicData>
          </a:graphic>
        </p:graphicFrame>
        <p:graphicFrame>
          <p:nvGraphicFramePr>
            <p:cNvPr id="6155" name="Object 4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55" name="Clip" r:id="rId23" imgW="1266840" imgH="1200240" progId="MS_ClipArt_Gallery.2">
                <p:embed/>
              </p:oleObj>
            </a:graphicData>
          </a:graphic>
        </p:graphicFrame>
      </p:grpSp>
      <p:grpSp>
        <p:nvGrpSpPr>
          <p:cNvPr id="6190" name="Group 44"/>
          <p:cNvGrpSpPr>
            <a:grpSpLocks/>
          </p:cNvGrpSpPr>
          <p:nvPr/>
        </p:nvGrpSpPr>
        <p:grpSpPr bwMode="auto">
          <a:xfrm>
            <a:off x="3314700" y="5618163"/>
            <a:ext cx="400050" cy="457200"/>
            <a:chOff x="2870" y="1518"/>
            <a:chExt cx="292" cy="320"/>
          </a:xfrm>
        </p:grpSpPr>
        <p:graphicFrame>
          <p:nvGraphicFramePr>
            <p:cNvPr id="6152" name="Object 4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52" name="Clip" r:id="rId24" imgW="819000" imgH="847800" progId="MS_ClipArt_Gallery.2">
                <p:embed/>
              </p:oleObj>
            </a:graphicData>
          </a:graphic>
        </p:graphicFrame>
        <p:graphicFrame>
          <p:nvGraphicFramePr>
            <p:cNvPr id="6153" name="Object 4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53" name="Clip" r:id="rId25" imgW="1266840" imgH="1200240" progId="MS_ClipArt_Gallery.2">
                <p:embed/>
              </p:oleObj>
            </a:graphicData>
          </a:graphic>
        </p:graphicFrame>
      </p:grpSp>
      <p:grpSp>
        <p:nvGrpSpPr>
          <p:cNvPr id="6191" name="Group 47"/>
          <p:cNvGrpSpPr>
            <a:grpSpLocks/>
          </p:cNvGrpSpPr>
          <p:nvPr/>
        </p:nvGrpSpPr>
        <p:grpSpPr bwMode="auto">
          <a:xfrm>
            <a:off x="3190875" y="5070475"/>
            <a:ext cx="400050" cy="457200"/>
            <a:chOff x="2870" y="1518"/>
            <a:chExt cx="292" cy="320"/>
          </a:xfrm>
        </p:grpSpPr>
        <p:graphicFrame>
          <p:nvGraphicFramePr>
            <p:cNvPr id="6150" name="Object 4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50" name="Clip" r:id="rId26" imgW="819000" imgH="847800" progId="MS_ClipArt_Gallery.2">
                <p:embed/>
              </p:oleObj>
            </a:graphicData>
          </a:graphic>
        </p:graphicFrame>
        <p:graphicFrame>
          <p:nvGraphicFramePr>
            <p:cNvPr id="6151" name="Object 4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51" name="Clip" r:id="rId27" imgW="1266840" imgH="1200240" progId="MS_ClipArt_Gallery.2">
                <p:embed/>
              </p:oleObj>
            </a:graphicData>
          </a:graphic>
        </p:graphicFrame>
      </p:grpSp>
      <p:grpSp>
        <p:nvGrpSpPr>
          <p:cNvPr id="6192" name="Group 50"/>
          <p:cNvGrpSpPr>
            <a:grpSpLocks/>
          </p:cNvGrpSpPr>
          <p:nvPr/>
        </p:nvGrpSpPr>
        <p:grpSpPr bwMode="auto">
          <a:xfrm>
            <a:off x="5267325" y="5842000"/>
            <a:ext cx="400050" cy="457200"/>
            <a:chOff x="2870" y="1518"/>
            <a:chExt cx="292" cy="320"/>
          </a:xfrm>
        </p:grpSpPr>
        <p:graphicFrame>
          <p:nvGraphicFramePr>
            <p:cNvPr id="6148" name="Object 5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6148" name="Clip" r:id="rId28" imgW="819000" imgH="847800" progId="MS_ClipArt_Gallery.2">
                <p:embed/>
              </p:oleObj>
            </a:graphicData>
          </a:graphic>
        </p:graphicFrame>
        <p:graphicFrame>
          <p:nvGraphicFramePr>
            <p:cNvPr id="6149" name="Object 5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6149" name="Clip" r:id="rId29" imgW="1266840" imgH="1200240" progId="MS_ClipArt_Gallery.2">
                <p:embed/>
              </p:oleObj>
            </a:graphicData>
          </a:graphic>
        </p:graphicFrame>
      </p:grpSp>
      <p:grpSp>
        <p:nvGrpSpPr>
          <p:cNvPr id="6193" name="Group 53"/>
          <p:cNvGrpSpPr>
            <a:grpSpLocks/>
          </p:cNvGrpSpPr>
          <p:nvPr/>
        </p:nvGrpSpPr>
        <p:grpSpPr bwMode="auto">
          <a:xfrm>
            <a:off x="4260850" y="5308600"/>
            <a:ext cx="835025" cy="457200"/>
            <a:chOff x="3345" y="3383"/>
            <a:chExt cx="526" cy="288"/>
          </a:xfrm>
        </p:grpSpPr>
        <p:grpSp>
          <p:nvGrpSpPr>
            <p:cNvPr id="6200" name="Group 54"/>
            <p:cNvGrpSpPr>
              <a:grpSpLocks/>
            </p:cNvGrpSpPr>
            <p:nvPr/>
          </p:nvGrpSpPr>
          <p:grpSpPr bwMode="auto">
            <a:xfrm>
              <a:off x="3426" y="3383"/>
              <a:ext cx="252" cy="288"/>
              <a:chOff x="2870" y="1518"/>
              <a:chExt cx="292" cy="320"/>
            </a:xfrm>
          </p:grpSpPr>
          <p:graphicFrame>
            <p:nvGraphicFramePr>
              <p:cNvPr id="6146" name="Object 5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6146" name="Clip" r:id="rId3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6147" name="Object 5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6147" name="Clip" r:id="rId31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6201" name="Line 57"/>
            <p:cNvSpPr>
              <a:spLocks noChangeShapeType="1"/>
            </p:cNvSpPr>
            <p:nvPr/>
          </p:nvSpPr>
          <p:spPr bwMode="auto">
            <a:xfrm>
              <a:off x="3679" y="354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2" name="Line 58"/>
            <p:cNvSpPr>
              <a:spLocks noChangeShapeType="1"/>
            </p:cNvSpPr>
            <p:nvPr/>
          </p:nvSpPr>
          <p:spPr bwMode="auto">
            <a:xfrm flipH="1">
              <a:off x="3372" y="348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3" name="Line 59"/>
            <p:cNvSpPr>
              <a:spLocks noChangeShapeType="1"/>
            </p:cNvSpPr>
            <p:nvPr/>
          </p:nvSpPr>
          <p:spPr bwMode="auto">
            <a:xfrm flipH="1">
              <a:off x="3381" y="353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04" name="Line 60"/>
            <p:cNvSpPr>
              <a:spLocks noChangeShapeType="1"/>
            </p:cNvSpPr>
            <p:nvPr/>
          </p:nvSpPr>
          <p:spPr bwMode="auto">
            <a:xfrm flipH="1">
              <a:off x="3345" y="357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94" name="Line 61"/>
          <p:cNvSpPr>
            <a:spLocks noChangeShapeType="1"/>
          </p:cNvSpPr>
          <p:nvPr/>
        </p:nvSpPr>
        <p:spPr bwMode="auto">
          <a:xfrm flipH="1" flipV="1">
            <a:off x="4498975" y="4448175"/>
            <a:ext cx="747713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95" name="Line 62"/>
          <p:cNvSpPr>
            <a:spLocks noChangeShapeType="1"/>
          </p:cNvSpPr>
          <p:nvPr/>
        </p:nvSpPr>
        <p:spPr bwMode="auto">
          <a:xfrm flipH="1" flipV="1">
            <a:off x="3727450" y="4595813"/>
            <a:ext cx="176213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6196" name="Rectangle 65"/>
          <p:cNvSpPr>
            <a:spLocks noChangeArrowheads="1"/>
          </p:cNvSpPr>
          <p:nvPr/>
        </p:nvSpPr>
        <p:spPr bwMode="auto">
          <a:xfrm>
            <a:off x="4440238" y="1470025"/>
            <a:ext cx="1912937" cy="280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97" name="Rectangle 66"/>
          <p:cNvSpPr>
            <a:spLocks noChangeArrowheads="1"/>
          </p:cNvSpPr>
          <p:nvPr/>
        </p:nvSpPr>
        <p:spPr bwMode="auto">
          <a:xfrm>
            <a:off x="5340350" y="1431925"/>
            <a:ext cx="3557588" cy="3071813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Base station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Typically connected to wired network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Relay responsible for sending packets between wired network and wireless host(s) in its “area”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E.g., cell towers, 802.11 access points</a:t>
            </a:r>
            <a:r>
              <a:rPr lang="en-US" sz="2400" b="0">
                <a:solidFill>
                  <a:srgbClr val="0000FF"/>
                </a:solidFill>
                <a:latin typeface="Arial" charset="0"/>
              </a:rPr>
              <a:t> </a:t>
            </a:r>
          </a:p>
        </p:txBody>
      </p:sp>
      <p:pic>
        <p:nvPicPr>
          <p:cNvPr id="6198" name="Picture 6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1975" y="1163638"/>
            <a:ext cx="395288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99" name="Line 68"/>
          <p:cNvSpPr>
            <a:spLocks noChangeShapeType="1"/>
          </p:cNvSpPr>
          <p:nvPr/>
        </p:nvSpPr>
        <p:spPr bwMode="auto">
          <a:xfrm flipH="1">
            <a:off x="5449888" y="4503738"/>
            <a:ext cx="1387475" cy="10350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45965F7-3BD7-49C8-9396-7566EBE4CCD8}" type="slidenum">
              <a:rPr lang="en-US" smtClean="0"/>
              <a:pPr>
                <a:defRPr/>
              </a:pPr>
              <a:t>3</a:t>
            </a:fld>
            <a:endParaRPr lang="en-US" smtClean="0"/>
          </a:p>
        </p:txBody>
      </p:sp>
      <p:sp>
        <p:nvSpPr>
          <p:cNvPr id="7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Wireless Network: Infrastructure</a:t>
            </a:r>
          </a:p>
        </p:txBody>
      </p:sp>
      <p:sp>
        <p:nvSpPr>
          <p:cNvPr id="7198" name="Oval 3"/>
          <p:cNvSpPr>
            <a:spLocks noChangeArrowheads="1"/>
          </p:cNvSpPr>
          <p:nvPr/>
        </p:nvSpPr>
        <p:spPr bwMode="auto">
          <a:xfrm>
            <a:off x="4370388" y="481171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99" name="Group 4"/>
          <p:cNvGrpSpPr>
            <a:grpSpLocks/>
          </p:cNvGrpSpPr>
          <p:nvPr/>
        </p:nvGrpSpPr>
        <p:grpSpPr bwMode="auto">
          <a:xfrm>
            <a:off x="2489200" y="2925763"/>
            <a:ext cx="2362200" cy="1762125"/>
            <a:chOff x="3839" y="1737"/>
            <a:chExt cx="1488" cy="1110"/>
          </a:xfrm>
        </p:grpSpPr>
        <p:sp>
          <p:nvSpPr>
            <p:cNvPr id="7232" name="Freeform 5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33" name="Text Box 6"/>
            <p:cNvSpPr txBox="1">
              <a:spLocks noChangeArrowheads="1"/>
            </p:cNvSpPr>
            <p:nvPr/>
          </p:nvSpPr>
          <p:spPr bwMode="auto">
            <a:xfrm>
              <a:off x="4075" y="1947"/>
              <a:ext cx="10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0">
                  <a:latin typeface="Comic Sans MS" pitchFamily="66" charset="0"/>
                </a:rPr>
                <a:t>network </a:t>
              </a:r>
            </a:p>
            <a:p>
              <a:r>
                <a:rPr lang="en-US" sz="1800" b="0">
                  <a:latin typeface="Comic Sans MS" pitchFamily="66" charset="0"/>
                </a:rPr>
                <a:t>infrastructure</a:t>
              </a:r>
            </a:p>
          </p:txBody>
        </p:sp>
      </p:grpSp>
      <p:pic>
        <p:nvPicPr>
          <p:cNvPr id="7200" name="Picture 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05413" y="5389563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01" name="Oval 9"/>
          <p:cNvSpPr>
            <a:spLocks noChangeArrowheads="1"/>
          </p:cNvSpPr>
          <p:nvPr/>
        </p:nvSpPr>
        <p:spPr bwMode="auto">
          <a:xfrm>
            <a:off x="577850" y="1854200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02" name="Picture 10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81125" y="2522538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203" name="Group 11"/>
          <p:cNvGrpSpPr>
            <a:grpSpLocks/>
          </p:cNvGrpSpPr>
          <p:nvPr/>
        </p:nvGrpSpPr>
        <p:grpSpPr bwMode="auto">
          <a:xfrm>
            <a:off x="1616075" y="2046288"/>
            <a:ext cx="400050" cy="457200"/>
            <a:chOff x="2870" y="1518"/>
            <a:chExt cx="292" cy="320"/>
          </a:xfrm>
        </p:grpSpPr>
        <p:graphicFrame>
          <p:nvGraphicFramePr>
            <p:cNvPr id="7194" name="Object 1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94" name="Clip" r:id="rId5" imgW="819000" imgH="847800" progId="MS_ClipArt_Gallery.2">
                <p:embed/>
              </p:oleObj>
            </a:graphicData>
          </a:graphic>
        </p:graphicFrame>
        <p:graphicFrame>
          <p:nvGraphicFramePr>
            <p:cNvPr id="7195" name="Object 1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95" name="Clip" r:id="rId6" imgW="1266840" imgH="1200240" progId="MS_ClipArt_Gallery.2">
                <p:embed/>
              </p:oleObj>
            </a:graphicData>
          </a:graphic>
        </p:graphicFrame>
      </p:grpSp>
      <p:grpSp>
        <p:nvGrpSpPr>
          <p:cNvPr id="7204" name="Group 14"/>
          <p:cNvGrpSpPr>
            <a:grpSpLocks/>
          </p:cNvGrpSpPr>
          <p:nvPr/>
        </p:nvGrpSpPr>
        <p:grpSpPr bwMode="auto">
          <a:xfrm>
            <a:off x="1057275" y="1938338"/>
            <a:ext cx="400050" cy="457200"/>
            <a:chOff x="2870" y="1518"/>
            <a:chExt cx="292" cy="320"/>
          </a:xfrm>
        </p:grpSpPr>
        <p:graphicFrame>
          <p:nvGraphicFramePr>
            <p:cNvPr id="7192" name="Object 1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92" name="Clip" r:id="rId7" imgW="819000" imgH="847800" progId="MS_ClipArt_Gallery.2">
                <p:embed/>
              </p:oleObj>
            </a:graphicData>
          </a:graphic>
        </p:graphicFrame>
        <p:graphicFrame>
          <p:nvGraphicFramePr>
            <p:cNvPr id="7193" name="Object 1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93" name="Clip" r:id="rId8" imgW="1266840" imgH="1200240" progId="MS_ClipArt_Gallery.2">
                <p:embed/>
              </p:oleObj>
            </a:graphicData>
          </a:graphic>
        </p:graphicFrame>
      </p:grpSp>
      <p:grpSp>
        <p:nvGrpSpPr>
          <p:cNvPr id="7205" name="Group 17"/>
          <p:cNvGrpSpPr>
            <a:grpSpLocks/>
          </p:cNvGrpSpPr>
          <p:nvPr/>
        </p:nvGrpSpPr>
        <p:grpSpPr bwMode="auto">
          <a:xfrm>
            <a:off x="831850" y="2730500"/>
            <a:ext cx="400050" cy="457200"/>
            <a:chOff x="2870" y="1518"/>
            <a:chExt cx="292" cy="320"/>
          </a:xfrm>
        </p:grpSpPr>
        <p:graphicFrame>
          <p:nvGraphicFramePr>
            <p:cNvPr id="7190" name="Object 1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90" name="Clip" r:id="rId9" imgW="819000" imgH="847800" progId="MS_ClipArt_Gallery.2">
                <p:embed/>
              </p:oleObj>
            </a:graphicData>
          </a:graphic>
        </p:graphicFrame>
        <p:graphicFrame>
          <p:nvGraphicFramePr>
            <p:cNvPr id="7191" name="Object 1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91" name="Clip" r:id="rId10" imgW="1266840" imgH="1200240" progId="MS_ClipArt_Gallery.2">
                <p:embed/>
              </p:oleObj>
            </a:graphicData>
          </a:graphic>
        </p:graphicFrame>
      </p:grpSp>
      <p:sp>
        <p:nvSpPr>
          <p:cNvPr id="7206" name="Line 20"/>
          <p:cNvSpPr>
            <a:spLocks noChangeShapeType="1"/>
          </p:cNvSpPr>
          <p:nvPr/>
        </p:nvSpPr>
        <p:spPr bwMode="auto">
          <a:xfrm>
            <a:off x="1606550" y="2855913"/>
            <a:ext cx="9001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07" name="Oval 21"/>
          <p:cNvSpPr>
            <a:spLocks noChangeArrowheads="1"/>
          </p:cNvSpPr>
          <p:nvPr/>
        </p:nvSpPr>
        <p:spPr bwMode="auto">
          <a:xfrm>
            <a:off x="673100" y="377666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08" name="Picture 22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44450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209" name="Group 23"/>
          <p:cNvGrpSpPr>
            <a:grpSpLocks/>
          </p:cNvGrpSpPr>
          <p:nvPr/>
        </p:nvGrpSpPr>
        <p:grpSpPr bwMode="auto">
          <a:xfrm>
            <a:off x="1463675" y="4795838"/>
            <a:ext cx="400050" cy="457200"/>
            <a:chOff x="2870" y="1518"/>
            <a:chExt cx="292" cy="320"/>
          </a:xfrm>
        </p:grpSpPr>
        <p:graphicFrame>
          <p:nvGraphicFramePr>
            <p:cNvPr id="7188" name="Object 2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88" name="Clip" r:id="rId11" imgW="819000" imgH="847800" progId="MS_ClipArt_Gallery.2">
                <p:embed/>
              </p:oleObj>
            </a:graphicData>
          </a:graphic>
        </p:graphicFrame>
        <p:graphicFrame>
          <p:nvGraphicFramePr>
            <p:cNvPr id="7189" name="Object 2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89" name="Clip" r:id="rId12" imgW="1266840" imgH="1200240" progId="MS_ClipArt_Gallery.2">
                <p:embed/>
              </p:oleObj>
            </a:graphicData>
          </a:graphic>
        </p:graphicFrame>
      </p:grpSp>
      <p:grpSp>
        <p:nvGrpSpPr>
          <p:cNvPr id="7210" name="Group 26"/>
          <p:cNvGrpSpPr>
            <a:grpSpLocks/>
          </p:cNvGrpSpPr>
          <p:nvPr/>
        </p:nvGrpSpPr>
        <p:grpSpPr bwMode="auto">
          <a:xfrm>
            <a:off x="1312863" y="3846513"/>
            <a:ext cx="400050" cy="457200"/>
            <a:chOff x="2870" y="1518"/>
            <a:chExt cx="292" cy="320"/>
          </a:xfrm>
        </p:grpSpPr>
        <p:graphicFrame>
          <p:nvGraphicFramePr>
            <p:cNvPr id="7186" name="Object 2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86" name="Clip" r:id="rId13" imgW="819000" imgH="847800" progId="MS_ClipArt_Gallery.2">
                <p:embed/>
              </p:oleObj>
            </a:graphicData>
          </a:graphic>
        </p:graphicFrame>
        <p:graphicFrame>
          <p:nvGraphicFramePr>
            <p:cNvPr id="7187" name="Object 2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87" name="Clip" r:id="rId14" imgW="1266840" imgH="1200240" progId="MS_ClipArt_Gallery.2">
                <p:embed/>
              </p:oleObj>
            </a:graphicData>
          </a:graphic>
        </p:graphicFrame>
      </p:grpSp>
      <p:grpSp>
        <p:nvGrpSpPr>
          <p:cNvPr id="7211" name="Group 29"/>
          <p:cNvGrpSpPr>
            <a:grpSpLocks/>
          </p:cNvGrpSpPr>
          <p:nvPr/>
        </p:nvGrpSpPr>
        <p:grpSpPr bwMode="auto">
          <a:xfrm>
            <a:off x="927100" y="4652963"/>
            <a:ext cx="400050" cy="457200"/>
            <a:chOff x="2870" y="1518"/>
            <a:chExt cx="292" cy="320"/>
          </a:xfrm>
        </p:grpSpPr>
        <p:graphicFrame>
          <p:nvGraphicFramePr>
            <p:cNvPr id="7184" name="Object 3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84" name="Clip" r:id="rId15" imgW="819000" imgH="847800" progId="MS_ClipArt_Gallery.2">
                <p:embed/>
              </p:oleObj>
            </a:graphicData>
          </a:graphic>
        </p:graphicFrame>
        <p:graphicFrame>
          <p:nvGraphicFramePr>
            <p:cNvPr id="7185" name="Object 3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85" name="Clip" r:id="rId16" imgW="1266840" imgH="1200240" progId="MS_ClipArt_Gallery.2">
                <p:embed/>
              </p:oleObj>
            </a:graphicData>
          </a:graphic>
        </p:graphicFrame>
      </p:grpSp>
      <p:sp>
        <p:nvSpPr>
          <p:cNvPr id="7212" name="Line 32"/>
          <p:cNvSpPr>
            <a:spLocks noChangeShapeType="1"/>
          </p:cNvSpPr>
          <p:nvPr/>
        </p:nvSpPr>
        <p:spPr bwMode="auto">
          <a:xfrm flipV="1">
            <a:off x="1627188" y="3865563"/>
            <a:ext cx="97472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7213" name="Group 33"/>
          <p:cNvGrpSpPr>
            <a:grpSpLocks/>
          </p:cNvGrpSpPr>
          <p:nvPr/>
        </p:nvGrpSpPr>
        <p:grpSpPr bwMode="auto">
          <a:xfrm>
            <a:off x="803275" y="4105275"/>
            <a:ext cx="400050" cy="457200"/>
            <a:chOff x="2870" y="1518"/>
            <a:chExt cx="292" cy="320"/>
          </a:xfrm>
        </p:grpSpPr>
        <p:graphicFrame>
          <p:nvGraphicFramePr>
            <p:cNvPr id="7182" name="Object 3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82" name="Clip" r:id="rId17" imgW="819000" imgH="847800" progId="MS_ClipArt_Gallery.2">
                <p:embed/>
              </p:oleObj>
            </a:graphicData>
          </a:graphic>
        </p:graphicFrame>
        <p:graphicFrame>
          <p:nvGraphicFramePr>
            <p:cNvPr id="7183" name="Object 3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83" name="Clip" r:id="rId18" imgW="1266840" imgH="1200240" progId="MS_ClipArt_Gallery.2">
                <p:embed/>
              </p:oleObj>
            </a:graphicData>
          </a:graphic>
        </p:graphicFrame>
      </p:grpSp>
      <p:sp>
        <p:nvSpPr>
          <p:cNvPr id="7214" name="Oval 36"/>
          <p:cNvSpPr>
            <a:spLocks noChangeArrowheads="1"/>
          </p:cNvSpPr>
          <p:nvPr/>
        </p:nvSpPr>
        <p:spPr bwMode="auto">
          <a:xfrm>
            <a:off x="3060700" y="4727575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7215" name="Picture 3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63975" y="54102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216" name="Group 38"/>
          <p:cNvGrpSpPr>
            <a:grpSpLocks/>
          </p:cNvGrpSpPr>
          <p:nvPr/>
        </p:nvGrpSpPr>
        <p:grpSpPr bwMode="auto">
          <a:xfrm>
            <a:off x="3851275" y="5761038"/>
            <a:ext cx="400050" cy="457200"/>
            <a:chOff x="2870" y="1518"/>
            <a:chExt cx="292" cy="320"/>
          </a:xfrm>
        </p:grpSpPr>
        <p:graphicFrame>
          <p:nvGraphicFramePr>
            <p:cNvPr id="7180" name="Object 3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80" name="Clip" r:id="rId19" imgW="819000" imgH="847800" progId="MS_ClipArt_Gallery.2">
                <p:embed/>
              </p:oleObj>
            </a:graphicData>
          </a:graphic>
        </p:graphicFrame>
        <p:graphicFrame>
          <p:nvGraphicFramePr>
            <p:cNvPr id="7181" name="Object 4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81" name="Clip" r:id="rId20" imgW="1266840" imgH="1200240" progId="MS_ClipArt_Gallery.2">
                <p:embed/>
              </p:oleObj>
            </a:graphicData>
          </a:graphic>
        </p:graphicFrame>
      </p:grpSp>
      <p:grpSp>
        <p:nvGrpSpPr>
          <p:cNvPr id="7217" name="Group 41"/>
          <p:cNvGrpSpPr>
            <a:grpSpLocks/>
          </p:cNvGrpSpPr>
          <p:nvPr/>
        </p:nvGrpSpPr>
        <p:grpSpPr bwMode="auto">
          <a:xfrm>
            <a:off x="4052888" y="4816475"/>
            <a:ext cx="400050" cy="457200"/>
            <a:chOff x="2870" y="1518"/>
            <a:chExt cx="292" cy="320"/>
          </a:xfrm>
        </p:grpSpPr>
        <p:graphicFrame>
          <p:nvGraphicFramePr>
            <p:cNvPr id="7178" name="Object 4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78" name="Clip" r:id="rId21" imgW="819000" imgH="847800" progId="MS_ClipArt_Gallery.2">
                <p:embed/>
              </p:oleObj>
            </a:graphicData>
          </a:graphic>
        </p:graphicFrame>
        <p:graphicFrame>
          <p:nvGraphicFramePr>
            <p:cNvPr id="7179" name="Object 4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79" name="Clip" r:id="rId22" imgW="1266840" imgH="1200240" progId="MS_ClipArt_Gallery.2">
                <p:embed/>
              </p:oleObj>
            </a:graphicData>
          </a:graphic>
        </p:graphicFrame>
      </p:grpSp>
      <p:grpSp>
        <p:nvGrpSpPr>
          <p:cNvPr id="7218" name="Group 44"/>
          <p:cNvGrpSpPr>
            <a:grpSpLocks/>
          </p:cNvGrpSpPr>
          <p:nvPr/>
        </p:nvGrpSpPr>
        <p:grpSpPr bwMode="auto">
          <a:xfrm>
            <a:off x="3314700" y="5618163"/>
            <a:ext cx="400050" cy="457200"/>
            <a:chOff x="2870" y="1518"/>
            <a:chExt cx="292" cy="320"/>
          </a:xfrm>
        </p:grpSpPr>
        <p:graphicFrame>
          <p:nvGraphicFramePr>
            <p:cNvPr id="7176" name="Object 4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76" name="Clip" r:id="rId23" imgW="819000" imgH="847800" progId="MS_ClipArt_Gallery.2">
                <p:embed/>
              </p:oleObj>
            </a:graphicData>
          </a:graphic>
        </p:graphicFrame>
        <p:graphicFrame>
          <p:nvGraphicFramePr>
            <p:cNvPr id="7177" name="Object 4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77" name="Clip" r:id="rId24" imgW="1266840" imgH="1200240" progId="MS_ClipArt_Gallery.2">
                <p:embed/>
              </p:oleObj>
            </a:graphicData>
          </a:graphic>
        </p:graphicFrame>
      </p:grpSp>
      <p:grpSp>
        <p:nvGrpSpPr>
          <p:cNvPr id="7219" name="Group 47"/>
          <p:cNvGrpSpPr>
            <a:grpSpLocks/>
          </p:cNvGrpSpPr>
          <p:nvPr/>
        </p:nvGrpSpPr>
        <p:grpSpPr bwMode="auto">
          <a:xfrm>
            <a:off x="3190875" y="5070475"/>
            <a:ext cx="400050" cy="457200"/>
            <a:chOff x="2870" y="1518"/>
            <a:chExt cx="292" cy="320"/>
          </a:xfrm>
        </p:grpSpPr>
        <p:graphicFrame>
          <p:nvGraphicFramePr>
            <p:cNvPr id="7174" name="Object 4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74" name="Clip" r:id="rId25" imgW="819000" imgH="847800" progId="MS_ClipArt_Gallery.2">
                <p:embed/>
              </p:oleObj>
            </a:graphicData>
          </a:graphic>
        </p:graphicFrame>
        <p:graphicFrame>
          <p:nvGraphicFramePr>
            <p:cNvPr id="7175" name="Object 4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75" name="Clip" r:id="rId26" imgW="1266840" imgH="1200240" progId="MS_ClipArt_Gallery.2">
                <p:embed/>
              </p:oleObj>
            </a:graphicData>
          </a:graphic>
        </p:graphicFrame>
      </p:grpSp>
      <p:grpSp>
        <p:nvGrpSpPr>
          <p:cNvPr id="7220" name="Group 50"/>
          <p:cNvGrpSpPr>
            <a:grpSpLocks/>
          </p:cNvGrpSpPr>
          <p:nvPr/>
        </p:nvGrpSpPr>
        <p:grpSpPr bwMode="auto">
          <a:xfrm>
            <a:off x="5267325" y="5842000"/>
            <a:ext cx="400050" cy="457200"/>
            <a:chOff x="2870" y="1518"/>
            <a:chExt cx="292" cy="320"/>
          </a:xfrm>
        </p:grpSpPr>
        <p:graphicFrame>
          <p:nvGraphicFramePr>
            <p:cNvPr id="7172" name="Object 5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7172" name="Clip" r:id="rId27" imgW="819000" imgH="847800" progId="MS_ClipArt_Gallery.2">
                <p:embed/>
              </p:oleObj>
            </a:graphicData>
          </a:graphic>
        </p:graphicFrame>
        <p:graphicFrame>
          <p:nvGraphicFramePr>
            <p:cNvPr id="7173" name="Object 5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7173" name="Clip" r:id="rId28" imgW="1266840" imgH="1200240" progId="MS_ClipArt_Gallery.2">
                <p:embed/>
              </p:oleObj>
            </a:graphicData>
          </a:graphic>
        </p:graphicFrame>
      </p:grpSp>
      <p:grpSp>
        <p:nvGrpSpPr>
          <p:cNvPr id="7221" name="Group 53"/>
          <p:cNvGrpSpPr>
            <a:grpSpLocks/>
          </p:cNvGrpSpPr>
          <p:nvPr/>
        </p:nvGrpSpPr>
        <p:grpSpPr bwMode="auto">
          <a:xfrm>
            <a:off x="4260850" y="5308600"/>
            <a:ext cx="835025" cy="457200"/>
            <a:chOff x="3345" y="3383"/>
            <a:chExt cx="526" cy="288"/>
          </a:xfrm>
        </p:grpSpPr>
        <p:grpSp>
          <p:nvGrpSpPr>
            <p:cNvPr id="7227" name="Group 54"/>
            <p:cNvGrpSpPr>
              <a:grpSpLocks/>
            </p:cNvGrpSpPr>
            <p:nvPr/>
          </p:nvGrpSpPr>
          <p:grpSpPr bwMode="auto">
            <a:xfrm>
              <a:off x="3426" y="3383"/>
              <a:ext cx="252" cy="288"/>
              <a:chOff x="2870" y="1518"/>
              <a:chExt cx="292" cy="320"/>
            </a:xfrm>
          </p:grpSpPr>
          <p:graphicFrame>
            <p:nvGraphicFramePr>
              <p:cNvPr id="7170" name="Object 5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7170" name="Clip" r:id="rId29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7171" name="Object 5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7171" name="Clip" r:id="rId30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7228" name="Line 57"/>
            <p:cNvSpPr>
              <a:spLocks noChangeShapeType="1"/>
            </p:cNvSpPr>
            <p:nvPr/>
          </p:nvSpPr>
          <p:spPr bwMode="auto">
            <a:xfrm>
              <a:off x="3679" y="354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29" name="Line 58"/>
            <p:cNvSpPr>
              <a:spLocks noChangeShapeType="1"/>
            </p:cNvSpPr>
            <p:nvPr/>
          </p:nvSpPr>
          <p:spPr bwMode="auto">
            <a:xfrm flipH="1">
              <a:off x="3372" y="348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0" name="Line 59"/>
            <p:cNvSpPr>
              <a:spLocks noChangeShapeType="1"/>
            </p:cNvSpPr>
            <p:nvPr/>
          </p:nvSpPr>
          <p:spPr bwMode="auto">
            <a:xfrm flipH="1">
              <a:off x="3381" y="353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31" name="Line 60"/>
            <p:cNvSpPr>
              <a:spLocks noChangeShapeType="1"/>
            </p:cNvSpPr>
            <p:nvPr/>
          </p:nvSpPr>
          <p:spPr bwMode="auto">
            <a:xfrm flipH="1">
              <a:off x="3345" y="357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222" name="Line 61"/>
          <p:cNvSpPr>
            <a:spLocks noChangeShapeType="1"/>
          </p:cNvSpPr>
          <p:nvPr/>
        </p:nvSpPr>
        <p:spPr bwMode="auto">
          <a:xfrm flipH="1" flipV="1">
            <a:off x="4498975" y="4448175"/>
            <a:ext cx="747713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3" name="Line 62"/>
          <p:cNvSpPr>
            <a:spLocks noChangeShapeType="1"/>
          </p:cNvSpPr>
          <p:nvPr/>
        </p:nvSpPr>
        <p:spPr bwMode="auto">
          <a:xfrm flipH="1" flipV="1">
            <a:off x="3727450" y="4595813"/>
            <a:ext cx="176213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224" name="Rectangle 63"/>
          <p:cNvSpPr>
            <a:spLocks noChangeArrowheads="1"/>
          </p:cNvSpPr>
          <p:nvPr/>
        </p:nvSpPr>
        <p:spPr bwMode="auto">
          <a:xfrm>
            <a:off x="4440238" y="1470025"/>
            <a:ext cx="1912937" cy="280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225" name="Rectangle 64"/>
          <p:cNvSpPr>
            <a:spLocks noChangeArrowheads="1"/>
          </p:cNvSpPr>
          <p:nvPr/>
        </p:nvSpPr>
        <p:spPr bwMode="auto">
          <a:xfrm>
            <a:off x="5340350" y="1431925"/>
            <a:ext cx="3557588" cy="3071813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Network infrastructure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Larger network with which a wireless host wants to communicate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Typically a wired network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Provides traditional network services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May not always exist</a:t>
            </a:r>
            <a:r>
              <a:rPr lang="en-US" sz="2400" b="0">
                <a:solidFill>
                  <a:srgbClr val="0000FF"/>
                </a:solidFill>
                <a:latin typeface="Arial" charset="0"/>
              </a:rPr>
              <a:t> </a:t>
            </a:r>
          </a:p>
        </p:txBody>
      </p:sp>
      <p:sp>
        <p:nvSpPr>
          <p:cNvPr id="7226" name="Line 66"/>
          <p:cNvSpPr>
            <a:spLocks noChangeShapeType="1"/>
          </p:cNvSpPr>
          <p:nvPr/>
        </p:nvSpPr>
        <p:spPr bwMode="auto">
          <a:xfrm flipH="1">
            <a:off x="3265488" y="2392363"/>
            <a:ext cx="2074862" cy="7651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6F26EBD-B841-4476-B51A-960C7B26C9EA}" type="slidenum">
              <a:rPr lang="en-US" smtClean="0"/>
              <a:pPr>
                <a:defRPr/>
              </a:pPr>
              <a:t>4</a:t>
            </a:fld>
            <a:endParaRPr lang="en-US" smtClean="0"/>
          </a:p>
        </p:txBody>
      </p:sp>
      <p:sp>
        <p:nvSpPr>
          <p:cNvPr id="8221" name="Rectangle 7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Scenario #1: Infrastructure Mode</a:t>
            </a:r>
          </a:p>
        </p:txBody>
      </p:sp>
      <p:sp>
        <p:nvSpPr>
          <p:cNvPr id="8222" name="Oval 3"/>
          <p:cNvSpPr>
            <a:spLocks noChangeArrowheads="1"/>
          </p:cNvSpPr>
          <p:nvPr/>
        </p:nvSpPr>
        <p:spPr bwMode="auto">
          <a:xfrm>
            <a:off x="4332288" y="4914900"/>
            <a:ext cx="1755775" cy="16256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223" name="Group 4"/>
          <p:cNvGrpSpPr>
            <a:grpSpLocks/>
          </p:cNvGrpSpPr>
          <p:nvPr/>
        </p:nvGrpSpPr>
        <p:grpSpPr bwMode="auto">
          <a:xfrm>
            <a:off x="2451100" y="3028950"/>
            <a:ext cx="2362200" cy="1762125"/>
            <a:chOff x="3839" y="1737"/>
            <a:chExt cx="1488" cy="1110"/>
          </a:xfrm>
        </p:grpSpPr>
        <p:sp>
          <p:nvSpPr>
            <p:cNvPr id="8259" name="Freeform 5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60" name="Text Box 6"/>
            <p:cNvSpPr txBox="1">
              <a:spLocks noChangeArrowheads="1"/>
            </p:cNvSpPr>
            <p:nvPr/>
          </p:nvSpPr>
          <p:spPr bwMode="auto">
            <a:xfrm>
              <a:off x="4075" y="1947"/>
              <a:ext cx="10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0">
                  <a:latin typeface="Comic Sans MS" pitchFamily="66" charset="0"/>
                </a:rPr>
                <a:t>network </a:t>
              </a:r>
            </a:p>
            <a:p>
              <a:r>
                <a:rPr lang="en-US" sz="1800" b="0">
                  <a:latin typeface="Comic Sans MS" pitchFamily="66" charset="0"/>
                </a:rPr>
                <a:t>infrastructure</a:t>
              </a:r>
            </a:p>
          </p:txBody>
        </p:sp>
      </p:grpSp>
      <p:pic>
        <p:nvPicPr>
          <p:cNvPr id="8224" name="Picture 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67313" y="5492750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225" name="Group 8"/>
          <p:cNvGrpSpPr>
            <a:grpSpLocks/>
          </p:cNvGrpSpPr>
          <p:nvPr/>
        </p:nvGrpSpPr>
        <p:grpSpPr bwMode="auto">
          <a:xfrm>
            <a:off x="539750" y="1957388"/>
            <a:ext cx="1755775" cy="1625600"/>
            <a:chOff x="567" y="1326"/>
            <a:chExt cx="1106" cy="1024"/>
          </a:xfrm>
        </p:grpSpPr>
        <p:sp>
          <p:nvSpPr>
            <p:cNvPr id="8254" name="Oval 9"/>
            <p:cNvSpPr>
              <a:spLocks noChangeArrowheads="1"/>
            </p:cNvSpPr>
            <p:nvPr/>
          </p:nvSpPr>
          <p:spPr bwMode="auto">
            <a:xfrm>
              <a:off x="567" y="1326"/>
              <a:ext cx="1106" cy="1024"/>
            </a:xfrm>
            <a:prstGeom prst="ellipse">
              <a:avLst/>
            </a:prstGeom>
            <a:solidFill>
              <a:srgbClr val="99C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8255" name="Picture 10" descr="31u_bnrz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-5400000">
              <a:off x="1035" y="1785"/>
              <a:ext cx="212" cy="135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</p:pic>
        <p:grpSp>
          <p:nvGrpSpPr>
            <p:cNvPr id="8256" name="Group 11"/>
            <p:cNvGrpSpPr>
              <a:grpSpLocks/>
            </p:cNvGrpSpPr>
            <p:nvPr/>
          </p:nvGrpSpPr>
          <p:grpSpPr bwMode="auto">
            <a:xfrm>
              <a:off x="1221" y="1447"/>
              <a:ext cx="252" cy="288"/>
              <a:chOff x="2870" y="1518"/>
              <a:chExt cx="292" cy="320"/>
            </a:xfrm>
          </p:grpSpPr>
          <p:graphicFrame>
            <p:nvGraphicFramePr>
              <p:cNvPr id="8218" name="Object 1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8218" name="Clip" r:id="rId6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8219" name="Object 1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8219" name="Clip" r:id="rId7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8257" name="Group 14"/>
            <p:cNvGrpSpPr>
              <a:grpSpLocks/>
            </p:cNvGrpSpPr>
            <p:nvPr/>
          </p:nvGrpSpPr>
          <p:grpSpPr bwMode="auto">
            <a:xfrm>
              <a:off x="869" y="1379"/>
              <a:ext cx="252" cy="288"/>
              <a:chOff x="2870" y="1518"/>
              <a:chExt cx="292" cy="320"/>
            </a:xfrm>
          </p:grpSpPr>
          <p:graphicFrame>
            <p:nvGraphicFramePr>
              <p:cNvPr id="8216" name="Object 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8216" name="Clip" r:id="rId8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8217" name="Object 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8217" name="Clip" r:id="rId9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8258" name="Group 17"/>
            <p:cNvGrpSpPr>
              <a:grpSpLocks/>
            </p:cNvGrpSpPr>
            <p:nvPr/>
          </p:nvGrpSpPr>
          <p:grpSpPr bwMode="auto">
            <a:xfrm>
              <a:off x="727" y="1878"/>
              <a:ext cx="252" cy="288"/>
              <a:chOff x="2870" y="1518"/>
              <a:chExt cx="292" cy="320"/>
            </a:xfrm>
          </p:grpSpPr>
          <p:graphicFrame>
            <p:nvGraphicFramePr>
              <p:cNvPr id="8214" name="Object 1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8214" name="Clip" r:id="rId1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8215" name="Object 1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8215" name="Clip" r:id="rId11" imgW="1266840" imgH="1200240" progId="MS_ClipArt_Gallery.2">
                  <p:embed/>
                </p:oleObj>
              </a:graphicData>
            </a:graphic>
          </p:graphicFrame>
        </p:grpSp>
      </p:grpSp>
      <p:sp>
        <p:nvSpPr>
          <p:cNvPr id="8226" name="Line 20"/>
          <p:cNvSpPr>
            <a:spLocks noChangeShapeType="1"/>
          </p:cNvSpPr>
          <p:nvPr/>
        </p:nvSpPr>
        <p:spPr bwMode="auto">
          <a:xfrm>
            <a:off x="1568450" y="2959100"/>
            <a:ext cx="900113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27" name="Oval 21"/>
          <p:cNvSpPr>
            <a:spLocks noChangeArrowheads="1"/>
          </p:cNvSpPr>
          <p:nvPr/>
        </p:nvSpPr>
        <p:spPr bwMode="auto">
          <a:xfrm>
            <a:off x="635000" y="3879850"/>
            <a:ext cx="1755775" cy="16256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228" name="Picture 22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8275" y="4548188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229" name="Group 23"/>
          <p:cNvGrpSpPr>
            <a:grpSpLocks/>
          </p:cNvGrpSpPr>
          <p:nvPr/>
        </p:nvGrpSpPr>
        <p:grpSpPr bwMode="auto">
          <a:xfrm>
            <a:off x="1425575" y="4899025"/>
            <a:ext cx="400050" cy="457200"/>
            <a:chOff x="2870" y="1518"/>
            <a:chExt cx="292" cy="320"/>
          </a:xfrm>
        </p:grpSpPr>
        <p:graphicFrame>
          <p:nvGraphicFramePr>
            <p:cNvPr id="8212" name="Object 2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12" name="Clip" r:id="rId12" imgW="819000" imgH="847800" progId="MS_ClipArt_Gallery.2">
                <p:embed/>
              </p:oleObj>
            </a:graphicData>
          </a:graphic>
        </p:graphicFrame>
        <p:graphicFrame>
          <p:nvGraphicFramePr>
            <p:cNvPr id="8213" name="Object 2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13" name="Clip" r:id="rId13" imgW="1266840" imgH="1200240" progId="MS_ClipArt_Gallery.2">
                <p:embed/>
              </p:oleObj>
            </a:graphicData>
          </a:graphic>
        </p:graphicFrame>
      </p:grpSp>
      <p:grpSp>
        <p:nvGrpSpPr>
          <p:cNvPr id="8230" name="Group 26"/>
          <p:cNvGrpSpPr>
            <a:grpSpLocks/>
          </p:cNvGrpSpPr>
          <p:nvPr/>
        </p:nvGrpSpPr>
        <p:grpSpPr bwMode="auto">
          <a:xfrm>
            <a:off x="1274763" y="3949700"/>
            <a:ext cx="400050" cy="457200"/>
            <a:chOff x="2870" y="1518"/>
            <a:chExt cx="292" cy="320"/>
          </a:xfrm>
        </p:grpSpPr>
        <p:graphicFrame>
          <p:nvGraphicFramePr>
            <p:cNvPr id="8210" name="Object 2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10" name="Clip" r:id="rId14" imgW="819000" imgH="847800" progId="MS_ClipArt_Gallery.2">
                <p:embed/>
              </p:oleObj>
            </a:graphicData>
          </a:graphic>
        </p:graphicFrame>
        <p:graphicFrame>
          <p:nvGraphicFramePr>
            <p:cNvPr id="8211" name="Object 2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11" name="Clip" r:id="rId15" imgW="1266840" imgH="1200240" progId="MS_ClipArt_Gallery.2">
                <p:embed/>
              </p:oleObj>
            </a:graphicData>
          </a:graphic>
        </p:graphicFrame>
      </p:grpSp>
      <p:grpSp>
        <p:nvGrpSpPr>
          <p:cNvPr id="8231" name="Group 29"/>
          <p:cNvGrpSpPr>
            <a:grpSpLocks/>
          </p:cNvGrpSpPr>
          <p:nvPr/>
        </p:nvGrpSpPr>
        <p:grpSpPr bwMode="auto">
          <a:xfrm>
            <a:off x="889000" y="4756150"/>
            <a:ext cx="400050" cy="457200"/>
            <a:chOff x="2870" y="1518"/>
            <a:chExt cx="292" cy="320"/>
          </a:xfrm>
        </p:grpSpPr>
        <p:graphicFrame>
          <p:nvGraphicFramePr>
            <p:cNvPr id="8208" name="Object 3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08" name="Clip" r:id="rId16" imgW="819000" imgH="847800" progId="MS_ClipArt_Gallery.2">
                <p:embed/>
              </p:oleObj>
            </a:graphicData>
          </a:graphic>
        </p:graphicFrame>
        <p:graphicFrame>
          <p:nvGraphicFramePr>
            <p:cNvPr id="8209" name="Object 3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09" name="Clip" r:id="rId17" imgW="1266840" imgH="1200240" progId="MS_ClipArt_Gallery.2">
                <p:embed/>
              </p:oleObj>
            </a:graphicData>
          </a:graphic>
        </p:graphicFrame>
      </p:grpSp>
      <p:sp>
        <p:nvSpPr>
          <p:cNvPr id="8232" name="Line 32"/>
          <p:cNvSpPr>
            <a:spLocks noChangeShapeType="1"/>
          </p:cNvSpPr>
          <p:nvPr/>
        </p:nvSpPr>
        <p:spPr bwMode="auto">
          <a:xfrm flipV="1">
            <a:off x="1589088" y="3968750"/>
            <a:ext cx="97472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8233" name="Group 33"/>
          <p:cNvGrpSpPr>
            <a:grpSpLocks/>
          </p:cNvGrpSpPr>
          <p:nvPr/>
        </p:nvGrpSpPr>
        <p:grpSpPr bwMode="auto">
          <a:xfrm>
            <a:off x="765175" y="4208463"/>
            <a:ext cx="400050" cy="457200"/>
            <a:chOff x="2870" y="1518"/>
            <a:chExt cx="292" cy="320"/>
          </a:xfrm>
        </p:grpSpPr>
        <p:graphicFrame>
          <p:nvGraphicFramePr>
            <p:cNvPr id="8206" name="Object 3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06" name="Clip" r:id="rId18" imgW="819000" imgH="847800" progId="MS_ClipArt_Gallery.2">
                <p:embed/>
              </p:oleObj>
            </a:graphicData>
          </a:graphic>
        </p:graphicFrame>
        <p:graphicFrame>
          <p:nvGraphicFramePr>
            <p:cNvPr id="8207" name="Object 3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07" name="Clip" r:id="rId19" imgW="1266840" imgH="1200240" progId="MS_ClipArt_Gallery.2">
                <p:embed/>
              </p:oleObj>
            </a:graphicData>
          </a:graphic>
        </p:graphicFrame>
      </p:grpSp>
      <p:sp>
        <p:nvSpPr>
          <p:cNvPr id="8234" name="Oval 36"/>
          <p:cNvSpPr>
            <a:spLocks noChangeArrowheads="1"/>
          </p:cNvSpPr>
          <p:nvPr/>
        </p:nvSpPr>
        <p:spPr bwMode="auto">
          <a:xfrm>
            <a:off x="3022600" y="4830763"/>
            <a:ext cx="1755775" cy="1625600"/>
          </a:xfrm>
          <a:prstGeom prst="ellipse">
            <a:avLst/>
          </a:prstGeom>
          <a:solidFill>
            <a:srgbClr val="99C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8235" name="Picture 3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25875" y="5513388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8236" name="Group 38"/>
          <p:cNvGrpSpPr>
            <a:grpSpLocks/>
          </p:cNvGrpSpPr>
          <p:nvPr/>
        </p:nvGrpSpPr>
        <p:grpSpPr bwMode="auto">
          <a:xfrm>
            <a:off x="3813175" y="5864225"/>
            <a:ext cx="400050" cy="457200"/>
            <a:chOff x="2870" y="1518"/>
            <a:chExt cx="292" cy="320"/>
          </a:xfrm>
        </p:grpSpPr>
        <p:graphicFrame>
          <p:nvGraphicFramePr>
            <p:cNvPr id="8204" name="Object 3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04" name="Clip" r:id="rId20" imgW="819000" imgH="847800" progId="MS_ClipArt_Gallery.2">
                <p:embed/>
              </p:oleObj>
            </a:graphicData>
          </a:graphic>
        </p:graphicFrame>
        <p:graphicFrame>
          <p:nvGraphicFramePr>
            <p:cNvPr id="8205" name="Object 4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05" name="Clip" r:id="rId21" imgW="1266840" imgH="1200240" progId="MS_ClipArt_Gallery.2">
                <p:embed/>
              </p:oleObj>
            </a:graphicData>
          </a:graphic>
        </p:graphicFrame>
      </p:grpSp>
      <p:grpSp>
        <p:nvGrpSpPr>
          <p:cNvPr id="8237" name="Group 41"/>
          <p:cNvGrpSpPr>
            <a:grpSpLocks/>
          </p:cNvGrpSpPr>
          <p:nvPr/>
        </p:nvGrpSpPr>
        <p:grpSpPr bwMode="auto">
          <a:xfrm>
            <a:off x="4014788" y="4919663"/>
            <a:ext cx="400050" cy="457200"/>
            <a:chOff x="2870" y="1518"/>
            <a:chExt cx="292" cy="320"/>
          </a:xfrm>
        </p:grpSpPr>
        <p:graphicFrame>
          <p:nvGraphicFramePr>
            <p:cNvPr id="8202" name="Object 4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02" name="Clip" r:id="rId22" imgW="819000" imgH="847800" progId="MS_ClipArt_Gallery.2">
                <p:embed/>
              </p:oleObj>
            </a:graphicData>
          </a:graphic>
        </p:graphicFrame>
        <p:graphicFrame>
          <p:nvGraphicFramePr>
            <p:cNvPr id="8203" name="Object 4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03" name="Clip" r:id="rId23" imgW="1266840" imgH="1200240" progId="MS_ClipArt_Gallery.2">
                <p:embed/>
              </p:oleObj>
            </a:graphicData>
          </a:graphic>
        </p:graphicFrame>
      </p:grpSp>
      <p:grpSp>
        <p:nvGrpSpPr>
          <p:cNvPr id="8238" name="Group 44"/>
          <p:cNvGrpSpPr>
            <a:grpSpLocks/>
          </p:cNvGrpSpPr>
          <p:nvPr/>
        </p:nvGrpSpPr>
        <p:grpSpPr bwMode="auto">
          <a:xfrm>
            <a:off x="3276600" y="5721350"/>
            <a:ext cx="400050" cy="457200"/>
            <a:chOff x="2870" y="1518"/>
            <a:chExt cx="292" cy="320"/>
          </a:xfrm>
        </p:grpSpPr>
        <p:graphicFrame>
          <p:nvGraphicFramePr>
            <p:cNvPr id="8200" name="Object 4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200" name="Clip" r:id="rId24" imgW="819000" imgH="847800" progId="MS_ClipArt_Gallery.2">
                <p:embed/>
              </p:oleObj>
            </a:graphicData>
          </a:graphic>
        </p:graphicFrame>
        <p:graphicFrame>
          <p:nvGraphicFramePr>
            <p:cNvPr id="8201" name="Object 4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201" name="Clip" r:id="rId25" imgW="1266840" imgH="1200240" progId="MS_ClipArt_Gallery.2">
                <p:embed/>
              </p:oleObj>
            </a:graphicData>
          </a:graphic>
        </p:graphicFrame>
      </p:grpSp>
      <p:grpSp>
        <p:nvGrpSpPr>
          <p:cNvPr id="8239" name="Group 47"/>
          <p:cNvGrpSpPr>
            <a:grpSpLocks/>
          </p:cNvGrpSpPr>
          <p:nvPr/>
        </p:nvGrpSpPr>
        <p:grpSpPr bwMode="auto">
          <a:xfrm>
            <a:off x="3152775" y="5173663"/>
            <a:ext cx="400050" cy="457200"/>
            <a:chOff x="2870" y="1518"/>
            <a:chExt cx="292" cy="320"/>
          </a:xfrm>
        </p:grpSpPr>
        <p:graphicFrame>
          <p:nvGraphicFramePr>
            <p:cNvPr id="8198" name="Object 4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198" name="Clip" r:id="rId26" imgW="819000" imgH="847800" progId="MS_ClipArt_Gallery.2">
                <p:embed/>
              </p:oleObj>
            </a:graphicData>
          </a:graphic>
        </p:graphicFrame>
        <p:graphicFrame>
          <p:nvGraphicFramePr>
            <p:cNvPr id="8199" name="Object 4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199" name="Clip" r:id="rId27" imgW="1266840" imgH="1200240" progId="MS_ClipArt_Gallery.2">
                <p:embed/>
              </p:oleObj>
            </a:graphicData>
          </a:graphic>
        </p:graphicFrame>
      </p:grpSp>
      <p:grpSp>
        <p:nvGrpSpPr>
          <p:cNvPr id="8240" name="Group 50"/>
          <p:cNvGrpSpPr>
            <a:grpSpLocks/>
          </p:cNvGrpSpPr>
          <p:nvPr/>
        </p:nvGrpSpPr>
        <p:grpSpPr bwMode="auto">
          <a:xfrm>
            <a:off x="5229225" y="5945188"/>
            <a:ext cx="400050" cy="457200"/>
            <a:chOff x="2870" y="1518"/>
            <a:chExt cx="292" cy="320"/>
          </a:xfrm>
        </p:grpSpPr>
        <p:graphicFrame>
          <p:nvGraphicFramePr>
            <p:cNvPr id="8196" name="Object 5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8196" name="Clip" r:id="rId28" imgW="819000" imgH="847800" progId="MS_ClipArt_Gallery.2">
                <p:embed/>
              </p:oleObj>
            </a:graphicData>
          </a:graphic>
        </p:graphicFrame>
        <p:graphicFrame>
          <p:nvGraphicFramePr>
            <p:cNvPr id="8197" name="Object 5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8197" name="Clip" r:id="rId29" imgW="1266840" imgH="1200240" progId="MS_ClipArt_Gallery.2">
                <p:embed/>
              </p:oleObj>
            </a:graphicData>
          </a:graphic>
        </p:graphicFrame>
      </p:grpSp>
      <p:grpSp>
        <p:nvGrpSpPr>
          <p:cNvPr id="8241" name="Group 53"/>
          <p:cNvGrpSpPr>
            <a:grpSpLocks/>
          </p:cNvGrpSpPr>
          <p:nvPr/>
        </p:nvGrpSpPr>
        <p:grpSpPr bwMode="auto">
          <a:xfrm>
            <a:off x="4222750" y="5411788"/>
            <a:ext cx="835025" cy="457200"/>
            <a:chOff x="3345" y="3383"/>
            <a:chExt cx="526" cy="288"/>
          </a:xfrm>
        </p:grpSpPr>
        <p:grpSp>
          <p:nvGrpSpPr>
            <p:cNvPr id="8249" name="Group 54"/>
            <p:cNvGrpSpPr>
              <a:grpSpLocks/>
            </p:cNvGrpSpPr>
            <p:nvPr/>
          </p:nvGrpSpPr>
          <p:grpSpPr bwMode="auto">
            <a:xfrm>
              <a:off x="3426" y="3383"/>
              <a:ext cx="252" cy="288"/>
              <a:chOff x="2870" y="1518"/>
              <a:chExt cx="292" cy="320"/>
            </a:xfrm>
          </p:grpSpPr>
          <p:graphicFrame>
            <p:nvGraphicFramePr>
              <p:cNvPr id="8194" name="Object 5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8194" name="Clip" r:id="rId3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8195" name="Object 5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8195" name="Clip" r:id="rId31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8250" name="Line 57"/>
            <p:cNvSpPr>
              <a:spLocks noChangeShapeType="1"/>
            </p:cNvSpPr>
            <p:nvPr/>
          </p:nvSpPr>
          <p:spPr bwMode="auto">
            <a:xfrm>
              <a:off x="3679" y="354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51" name="Line 58"/>
            <p:cNvSpPr>
              <a:spLocks noChangeShapeType="1"/>
            </p:cNvSpPr>
            <p:nvPr/>
          </p:nvSpPr>
          <p:spPr bwMode="auto">
            <a:xfrm flipH="1">
              <a:off x="3372" y="348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52" name="Line 59"/>
            <p:cNvSpPr>
              <a:spLocks noChangeShapeType="1"/>
            </p:cNvSpPr>
            <p:nvPr/>
          </p:nvSpPr>
          <p:spPr bwMode="auto">
            <a:xfrm flipH="1">
              <a:off x="3381" y="353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253" name="Line 60"/>
            <p:cNvSpPr>
              <a:spLocks noChangeShapeType="1"/>
            </p:cNvSpPr>
            <p:nvPr/>
          </p:nvSpPr>
          <p:spPr bwMode="auto">
            <a:xfrm flipH="1">
              <a:off x="3345" y="357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42" name="Line 61"/>
          <p:cNvSpPr>
            <a:spLocks noChangeShapeType="1"/>
          </p:cNvSpPr>
          <p:nvPr/>
        </p:nvSpPr>
        <p:spPr bwMode="auto">
          <a:xfrm flipH="1" flipV="1">
            <a:off x="4460875" y="4551363"/>
            <a:ext cx="747713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43" name="Line 62"/>
          <p:cNvSpPr>
            <a:spLocks noChangeShapeType="1"/>
          </p:cNvSpPr>
          <p:nvPr/>
        </p:nvSpPr>
        <p:spPr bwMode="auto">
          <a:xfrm flipH="1" flipV="1">
            <a:off x="3689350" y="4699000"/>
            <a:ext cx="176213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8244" name="Rectangle 65"/>
          <p:cNvSpPr>
            <a:spLocks noChangeArrowheads="1"/>
          </p:cNvSpPr>
          <p:nvPr/>
        </p:nvSpPr>
        <p:spPr bwMode="auto">
          <a:xfrm>
            <a:off x="5538788" y="1403350"/>
            <a:ext cx="2728912" cy="25241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45" name="Rectangle 66"/>
          <p:cNvSpPr>
            <a:spLocks noChangeArrowheads="1"/>
          </p:cNvSpPr>
          <p:nvPr/>
        </p:nvSpPr>
        <p:spPr bwMode="auto">
          <a:xfrm>
            <a:off x="5262563" y="1355725"/>
            <a:ext cx="3648075" cy="2763838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Infrastructure mode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Base station connects mobiles into wired network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Network provides services (addressing, routing, DNS)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Handoff: mobile changes base station providing connection to wired network</a:t>
            </a:r>
          </a:p>
        </p:txBody>
      </p:sp>
      <p:sp>
        <p:nvSpPr>
          <p:cNvPr id="8246" name="Line 67"/>
          <p:cNvSpPr>
            <a:spLocks noChangeShapeType="1"/>
          </p:cNvSpPr>
          <p:nvPr/>
        </p:nvSpPr>
        <p:spPr bwMode="auto">
          <a:xfrm flipH="1">
            <a:off x="4652963" y="4130675"/>
            <a:ext cx="1701800" cy="140652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47" name="Line 68"/>
          <p:cNvSpPr>
            <a:spLocks noChangeShapeType="1"/>
          </p:cNvSpPr>
          <p:nvPr/>
        </p:nvSpPr>
        <p:spPr bwMode="auto">
          <a:xfrm flipH="1">
            <a:off x="5340350" y="4129088"/>
            <a:ext cx="1011238" cy="143351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8248" name="Line 69"/>
          <p:cNvSpPr>
            <a:spLocks noChangeShapeType="1"/>
          </p:cNvSpPr>
          <p:nvPr/>
        </p:nvSpPr>
        <p:spPr bwMode="auto">
          <a:xfrm flipH="1">
            <a:off x="3989388" y="4141788"/>
            <a:ext cx="2333625" cy="1531937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7" name="Rectangle 9"/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125095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 smtClean="0"/>
              <a:t>Scenario #2: Ad Hoc Networks</a:t>
            </a:r>
            <a:endParaRPr lang="en-US" altLang="ko-KR" sz="3200" dirty="0" smtClean="0">
              <a:solidFill>
                <a:schemeClr val="accent1">
                  <a:satMod val="150000"/>
                </a:schemeClr>
              </a:solidFill>
              <a:ea typeface="Gulim" pitchFamily="34" charset="-127"/>
            </a:endParaRPr>
          </a:p>
        </p:txBody>
      </p:sp>
      <p:sp>
        <p:nvSpPr>
          <p:cNvPr id="5143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04200" y="6477000"/>
            <a:ext cx="733425" cy="274638"/>
          </a:xfrm>
        </p:spPr>
        <p:txBody>
          <a:bodyPr/>
          <a:lstStyle/>
          <a:p>
            <a:pPr>
              <a:defRPr/>
            </a:pPr>
            <a:r>
              <a:rPr lang="en-US" altLang="ko-KR"/>
              <a:t>6-</a:t>
            </a:r>
            <a:fld id="{46EC6C13-035B-4CEE-8223-5639CD406E90}" type="slidenum">
              <a:rPr lang="en-US" altLang="ko-KR"/>
              <a:pPr>
                <a:defRPr/>
              </a:pPr>
              <a:t>5</a:t>
            </a:fld>
            <a:endParaRPr lang="en-US" altLang="ko-KR"/>
          </a:p>
        </p:txBody>
      </p:sp>
      <p:sp>
        <p:nvSpPr>
          <p:cNvPr id="9240" name="Rectangle 3"/>
          <p:cNvSpPr>
            <a:spLocks noChangeArrowheads="1"/>
          </p:cNvSpPr>
          <p:nvPr/>
        </p:nvSpPr>
        <p:spPr bwMode="auto">
          <a:xfrm>
            <a:off x="5562600" y="1384300"/>
            <a:ext cx="1752600" cy="317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>
              <a:ea typeface="Gulim" pitchFamily="34" charset="-127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76300" y="1717675"/>
            <a:ext cx="1755775" cy="1625600"/>
            <a:chOff x="1824" y="1076"/>
            <a:chExt cx="1106" cy="1024"/>
          </a:xfrm>
        </p:grpSpPr>
        <p:sp>
          <p:nvSpPr>
            <p:cNvPr id="9267" name="Oval 5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68" name="Group 6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9236" name="Object 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36" name="Clip" r:id="rId3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37" name="Object 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37" name="Clip" r:id="rId4" imgW="1268295" imgH="1199426" progId="MS_ClipArt_Gallery.2">
                  <p:embed/>
                </p:oleObj>
              </a:graphicData>
            </a:graphic>
          </p:graphicFrame>
        </p:grpSp>
      </p:grp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2181225" y="3041650"/>
            <a:ext cx="1755775" cy="1625600"/>
            <a:chOff x="1824" y="1076"/>
            <a:chExt cx="1106" cy="1024"/>
          </a:xfrm>
        </p:grpSpPr>
        <p:sp>
          <p:nvSpPr>
            <p:cNvPr id="9265" name="Oval 12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66" name="Group 13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9234" name="Object 1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34" name="Clip" r:id="rId5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35" name="Object 1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35" name="Clip" r:id="rId6" imgW="1268295" imgH="1199426" progId="MS_ClipArt_Gallery.2">
                  <p:embed/>
                </p:oleObj>
              </a:graphicData>
            </a:graphic>
          </p:graphicFrame>
        </p:grpSp>
      </p:grpSp>
      <p:grpSp>
        <p:nvGrpSpPr>
          <p:cNvPr id="6" name="Group 16"/>
          <p:cNvGrpSpPr>
            <a:grpSpLocks/>
          </p:cNvGrpSpPr>
          <p:nvPr/>
        </p:nvGrpSpPr>
        <p:grpSpPr bwMode="auto">
          <a:xfrm>
            <a:off x="1933575" y="4765675"/>
            <a:ext cx="1755775" cy="1625600"/>
            <a:chOff x="1824" y="1076"/>
            <a:chExt cx="1106" cy="1024"/>
          </a:xfrm>
        </p:grpSpPr>
        <p:sp>
          <p:nvSpPr>
            <p:cNvPr id="9263" name="Oval 17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64" name="Group 18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9232" name="Object 1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32" name="Clip" r:id="rId7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33" name="Object 2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33" name="Clip" r:id="rId8" imgW="1268295" imgH="1199426" progId="MS_ClipArt_Gallery.2">
                  <p:embed/>
                </p:oleObj>
              </a:graphicData>
            </a:graphic>
          </p:graphicFrame>
        </p:grp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1047750" y="2317750"/>
            <a:ext cx="1755775" cy="1625600"/>
            <a:chOff x="1824" y="1076"/>
            <a:chExt cx="1106" cy="1024"/>
          </a:xfrm>
        </p:grpSpPr>
        <p:sp>
          <p:nvSpPr>
            <p:cNvPr id="9261" name="Oval 22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66C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62" name="Group 23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9230" name="Object 2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30" name="Clip" r:id="rId9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31" name="Object 2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31" name="Clip" r:id="rId10" imgW="1268295" imgH="1199426" progId="MS_ClipArt_Gallery.2">
                  <p:embed/>
                </p:oleObj>
              </a:graphicData>
            </a:graphic>
          </p:graphicFrame>
        </p:grpSp>
      </p:grpSp>
      <p:grpSp>
        <p:nvGrpSpPr>
          <p:cNvPr id="10" name="Group 26"/>
          <p:cNvGrpSpPr>
            <a:grpSpLocks/>
          </p:cNvGrpSpPr>
          <p:nvPr/>
        </p:nvGrpSpPr>
        <p:grpSpPr bwMode="auto">
          <a:xfrm>
            <a:off x="1620838" y="2741613"/>
            <a:ext cx="1755775" cy="1625600"/>
            <a:chOff x="1824" y="1076"/>
            <a:chExt cx="1106" cy="1024"/>
          </a:xfrm>
        </p:grpSpPr>
        <p:sp>
          <p:nvSpPr>
            <p:cNvPr id="9259" name="Oval 27"/>
            <p:cNvSpPr>
              <a:spLocks noChangeArrowheads="1"/>
            </p:cNvSpPr>
            <p:nvPr/>
          </p:nvSpPr>
          <p:spPr bwMode="auto">
            <a:xfrm>
              <a:off x="1824" y="1076"/>
              <a:ext cx="1106" cy="1024"/>
            </a:xfrm>
            <a:prstGeom prst="ellipse">
              <a:avLst/>
            </a:prstGeom>
            <a:gradFill rotWithShape="1">
              <a:gsLst>
                <a:gs pos="0">
                  <a:srgbClr val="CCECFF"/>
                </a:gs>
                <a:gs pos="100000">
                  <a:srgbClr val="CCFFFF">
                    <a:alpha val="50998"/>
                  </a:srgbClr>
                </a:gs>
              </a:gsLst>
              <a:path path="shape">
                <a:fillToRect l="50000" t="50000" r="50000" b="50000"/>
              </a:path>
            </a:gradFill>
            <a:ln w="12700">
              <a:solidFill>
                <a:srgbClr val="3333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60" name="Group 28"/>
            <p:cNvGrpSpPr>
              <a:grpSpLocks/>
            </p:cNvGrpSpPr>
            <p:nvPr/>
          </p:nvGrpSpPr>
          <p:grpSpPr bwMode="auto">
            <a:xfrm>
              <a:off x="2204" y="1436"/>
              <a:ext cx="252" cy="288"/>
              <a:chOff x="2870" y="1518"/>
              <a:chExt cx="292" cy="320"/>
            </a:xfrm>
          </p:grpSpPr>
          <p:graphicFrame>
            <p:nvGraphicFramePr>
              <p:cNvPr id="9228" name="Object 2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28" name="Clip" r:id="rId11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29" name="Object 3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29" name="Clip" r:id="rId12" imgW="1268295" imgH="1199426" progId="MS_ClipArt_Gallery.2">
                  <p:embed/>
                </p:oleObj>
              </a:graphicData>
            </a:graphic>
          </p:graphicFrame>
        </p:grpSp>
      </p:grpSp>
      <p:grpSp>
        <p:nvGrpSpPr>
          <p:cNvPr id="12" name="Group 31"/>
          <p:cNvGrpSpPr>
            <a:grpSpLocks/>
          </p:cNvGrpSpPr>
          <p:nvPr/>
        </p:nvGrpSpPr>
        <p:grpSpPr bwMode="auto">
          <a:xfrm>
            <a:off x="879475" y="1468438"/>
            <a:ext cx="3543300" cy="4935537"/>
            <a:chOff x="2346" y="893"/>
            <a:chExt cx="2232" cy="3109"/>
          </a:xfrm>
        </p:grpSpPr>
        <p:sp>
          <p:nvSpPr>
            <p:cNvPr id="9248" name="Rectangle 32"/>
            <p:cNvSpPr>
              <a:spLocks noChangeArrowheads="1"/>
            </p:cNvSpPr>
            <p:nvPr/>
          </p:nvSpPr>
          <p:spPr bwMode="auto">
            <a:xfrm>
              <a:off x="3489" y="893"/>
              <a:ext cx="1089" cy="150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9249" name="Oval 33"/>
            <p:cNvSpPr>
              <a:spLocks noChangeArrowheads="1"/>
            </p:cNvSpPr>
            <p:nvPr/>
          </p:nvSpPr>
          <p:spPr bwMode="auto">
            <a:xfrm>
              <a:off x="2346" y="1058"/>
              <a:ext cx="1106" cy="1024"/>
            </a:xfrm>
            <a:prstGeom prst="ellipse">
              <a:avLst/>
            </a:prstGeom>
            <a:solidFill>
              <a:srgbClr val="66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9250" name="Oval 34"/>
            <p:cNvSpPr>
              <a:spLocks noChangeArrowheads="1"/>
            </p:cNvSpPr>
            <p:nvPr/>
          </p:nvSpPr>
          <p:spPr bwMode="auto">
            <a:xfrm>
              <a:off x="3168" y="1892"/>
              <a:ext cx="1106" cy="1024"/>
            </a:xfrm>
            <a:prstGeom prst="ellipse">
              <a:avLst/>
            </a:prstGeom>
            <a:solidFill>
              <a:srgbClr val="66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9251" name="Oval 35"/>
            <p:cNvSpPr>
              <a:spLocks noChangeArrowheads="1"/>
            </p:cNvSpPr>
            <p:nvPr/>
          </p:nvSpPr>
          <p:spPr bwMode="auto">
            <a:xfrm>
              <a:off x="2454" y="1436"/>
              <a:ext cx="1106" cy="1024"/>
            </a:xfrm>
            <a:prstGeom prst="ellipse">
              <a:avLst/>
            </a:prstGeom>
            <a:solidFill>
              <a:srgbClr val="66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9252" name="Oval 36"/>
            <p:cNvSpPr>
              <a:spLocks noChangeArrowheads="1"/>
            </p:cNvSpPr>
            <p:nvPr/>
          </p:nvSpPr>
          <p:spPr bwMode="auto">
            <a:xfrm>
              <a:off x="2815" y="1703"/>
              <a:ext cx="1106" cy="1024"/>
            </a:xfrm>
            <a:prstGeom prst="ellipse">
              <a:avLst/>
            </a:prstGeom>
            <a:solidFill>
              <a:srgbClr val="66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9253" name="Oval 37"/>
            <p:cNvSpPr>
              <a:spLocks noChangeArrowheads="1"/>
            </p:cNvSpPr>
            <p:nvPr/>
          </p:nvSpPr>
          <p:spPr bwMode="auto">
            <a:xfrm>
              <a:off x="3012" y="2978"/>
              <a:ext cx="1106" cy="1024"/>
            </a:xfrm>
            <a:prstGeom prst="ellipse">
              <a:avLst/>
            </a:prstGeom>
            <a:solidFill>
              <a:srgbClr val="66CCFF"/>
            </a:solidFill>
            <a:ln w="12700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grpSp>
          <p:nvGrpSpPr>
            <p:cNvPr id="9254" name="Group 38"/>
            <p:cNvGrpSpPr>
              <a:grpSpLocks/>
            </p:cNvGrpSpPr>
            <p:nvPr/>
          </p:nvGrpSpPr>
          <p:grpSpPr bwMode="auto">
            <a:xfrm>
              <a:off x="3392" y="3338"/>
              <a:ext cx="252" cy="288"/>
              <a:chOff x="2870" y="1518"/>
              <a:chExt cx="292" cy="320"/>
            </a:xfrm>
          </p:grpSpPr>
          <p:graphicFrame>
            <p:nvGraphicFramePr>
              <p:cNvPr id="9226" name="Object 39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26" name="Clip" r:id="rId13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27" name="Object 40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27" name="Clip" r:id="rId14" imgW="1268295" imgH="1199426" progId="MS_ClipArt_Gallery.2">
                  <p:embed/>
                </p:oleObj>
              </a:graphicData>
            </a:graphic>
          </p:graphicFrame>
        </p:grpSp>
        <p:grpSp>
          <p:nvGrpSpPr>
            <p:cNvPr id="9255" name="Group 41"/>
            <p:cNvGrpSpPr>
              <a:grpSpLocks/>
            </p:cNvGrpSpPr>
            <p:nvPr/>
          </p:nvGrpSpPr>
          <p:grpSpPr bwMode="auto">
            <a:xfrm>
              <a:off x="3195" y="2063"/>
              <a:ext cx="252" cy="288"/>
              <a:chOff x="2870" y="1518"/>
              <a:chExt cx="292" cy="320"/>
            </a:xfrm>
          </p:grpSpPr>
          <p:graphicFrame>
            <p:nvGraphicFramePr>
              <p:cNvPr id="9224" name="Object 4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24" name="Clip" r:id="rId15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25" name="Object 4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25" name="Clip" r:id="rId16" imgW="1268295" imgH="1199426" progId="MS_ClipArt_Gallery.2">
                  <p:embed/>
                </p:oleObj>
              </a:graphicData>
            </a:graphic>
          </p:graphicFrame>
        </p:grpSp>
        <p:grpSp>
          <p:nvGrpSpPr>
            <p:cNvPr id="9256" name="Group 44"/>
            <p:cNvGrpSpPr>
              <a:grpSpLocks/>
            </p:cNvGrpSpPr>
            <p:nvPr/>
          </p:nvGrpSpPr>
          <p:grpSpPr bwMode="auto">
            <a:xfrm>
              <a:off x="3548" y="2252"/>
              <a:ext cx="252" cy="288"/>
              <a:chOff x="2870" y="1518"/>
              <a:chExt cx="292" cy="320"/>
            </a:xfrm>
          </p:grpSpPr>
          <p:graphicFrame>
            <p:nvGraphicFramePr>
              <p:cNvPr id="9222" name="Object 4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22" name="Clip" r:id="rId17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23" name="Object 4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23" name="Clip" r:id="rId18" imgW="1268295" imgH="1199426" progId="MS_ClipArt_Gallery.2">
                  <p:embed/>
                </p:oleObj>
              </a:graphicData>
            </a:graphic>
          </p:graphicFrame>
        </p:grpSp>
        <p:grpSp>
          <p:nvGrpSpPr>
            <p:cNvPr id="9257" name="Group 47"/>
            <p:cNvGrpSpPr>
              <a:grpSpLocks/>
            </p:cNvGrpSpPr>
            <p:nvPr/>
          </p:nvGrpSpPr>
          <p:grpSpPr bwMode="auto">
            <a:xfrm>
              <a:off x="2726" y="1418"/>
              <a:ext cx="252" cy="288"/>
              <a:chOff x="2870" y="1518"/>
              <a:chExt cx="292" cy="320"/>
            </a:xfrm>
          </p:grpSpPr>
          <p:graphicFrame>
            <p:nvGraphicFramePr>
              <p:cNvPr id="9220" name="Object 4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20" name="Clip" r:id="rId19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21" name="Object 4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21" name="Clip" r:id="rId20" imgW="1268295" imgH="1199426" progId="MS_ClipArt_Gallery.2">
                  <p:embed/>
                </p:oleObj>
              </a:graphicData>
            </a:graphic>
          </p:graphicFrame>
        </p:grpSp>
        <p:grpSp>
          <p:nvGrpSpPr>
            <p:cNvPr id="9258" name="Group 50"/>
            <p:cNvGrpSpPr>
              <a:grpSpLocks/>
            </p:cNvGrpSpPr>
            <p:nvPr/>
          </p:nvGrpSpPr>
          <p:grpSpPr bwMode="auto">
            <a:xfrm>
              <a:off x="2834" y="1796"/>
              <a:ext cx="252" cy="288"/>
              <a:chOff x="2870" y="1518"/>
              <a:chExt cx="292" cy="320"/>
            </a:xfrm>
          </p:grpSpPr>
          <p:graphicFrame>
            <p:nvGraphicFramePr>
              <p:cNvPr id="9218" name="Object 51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9218" name="Clip" r:id="rId21" imgW="826829" imgH="840406" progId="MS_ClipArt_Gallery.2">
                  <p:embed/>
                </p:oleObj>
              </a:graphicData>
            </a:graphic>
          </p:graphicFrame>
          <p:graphicFrame>
            <p:nvGraphicFramePr>
              <p:cNvPr id="9219" name="Object 52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9219" name="Clip" r:id="rId22" imgW="1268295" imgH="1199426" progId="MS_ClipArt_Gallery.2">
                  <p:embed/>
                </p:oleObj>
              </a:graphicData>
            </a:graphic>
          </p:graphicFrame>
        </p:grpSp>
      </p:grpSp>
      <p:sp>
        <p:nvSpPr>
          <p:cNvPr id="9247" name="Rectangle 10"/>
          <p:cNvSpPr>
            <a:spLocks noChangeArrowheads="1"/>
          </p:cNvSpPr>
          <p:nvPr/>
        </p:nvSpPr>
        <p:spPr bwMode="auto">
          <a:xfrm>
            <a:off x="4725988" y="1316038"/>
            <a:ext cx="4114800" cy="2297112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Ad hoc mode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No base stations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Nodes can only transmit to other nodes within link coverage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Nodes self-organize and route among themselves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DE1469-55AB-4E75-8682-F9EC287440ED}" type="slidenum">
              <a:rPr lang="en-US" smtClean="0"/>
              <a:pPr>
                <a:defRPr/>
              </a:pPr>
              <a:t>6</a:t>
            </a:fld>
            <a:endParaRPr lang="en-US" smtClean="0"/>
          </a:p>
        </p:txBody>
      </p:sp>
      <p:sp>
        <p:nvSpPr>
          <p:cNvPr id="3072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Infrastructure vs. Ad Hoc</a:t>
            </a:r>
          </a:p>
        </p:txBody>
      </p:sp>
      <p:sp>
        <p:nvSpPr>
          <p:cNvPr id="30724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Infrastructure mode</a:t>
            </a:r>
          </a:p>
          <a:p>
            <a:pPr lvl="1"/>
            <a:r>
              <a:rPr lang="en-US" smtClean="0"/>
              <a:t>Wireless hosts are associated with a base station</a:t>
            </a:r>
          </a:p>
          <a:p>
            <a:pPr lvl="1"/>
            <a:r>
              <a:rPr lang="en-US" smtClean="0"/>
              <a:t>Traditional services provided by the connected network</a:t>
            </a:r>
          </a:p>
          <a:p>
            <a:pPr lvl="1"/>
            <a:r>
              <a:rPr lang="en-US" smtClean="0"/>
              <a:t>E.g., address assignment, routing, and DNS resolution</a:t>
            </a:r>
          </a:p>
          <a:p>
            <a:r>
              <a:rPr lang="en-US" smtClean="0"/>
              <a:t>Ad hoc networks</a:t>
            </a:r>
          </a:p>
          <a:p>
            <a:pPr lvl="1"/>
            <a:r>
              <a:rPr lang="en-US" smtClean="0"/>
              <a:t>Wireless hosts have no infrastructure to connect</a:t>
            </a:r>
          </a:p>
          <a:p>
            <a:pPr lvl="1"/>
            <a:r>
              <a:rPr lang="en-US" smtClean="0"/>
              <a:t>Hosts themselves must provide network services</a:t>
            </a:r>
          </a:p>
          <a:p>
            <a:pPr lvl="1"/>
            <a:endParaRPr lang="en-US" smtClean="0"/>
          </a:p>
          <a:p>
            <a:r>
              <a:rPr lang="en-US" smtClean="0"/>
              <a:t>Similar in spirit to the difference between</a:t>
            </a:r>
          </a:p>
          <a:p>
            <a:pPr lvl="1"/>
            <a:r>
              <a:rPr lang="en-US" smtClean="0"/>
              <a:t>Client-server communication</a:t>
            </a:r>
          </a:p>
          <a:p>
            <a:pPr lvl="1"/>
            <a:r>
              <a:rPr lang="en-US" smtClean="0"/>
              <a:t>Peer-to-peer communication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D01C37E-2BAF-46C8-9AF1-8EFF09E6AFAC}" type="slidenum">
              <a:rPr lang="en-US" smtClean="0"/>
              <a:pPr>
                <a:defRPr/>
              </a:pPr>
              <a:t>7</a:t>
            </a:fld>
            <a:endParaRPr lang="en-US" smtClean="0"/>
          </a:p>
        </p:txBody>
      </p:sp>
      <p:sp>
        <p:nvSpPr>
          <p:cNvPr id="31747" name="Rectangle 2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Different Types of Wireless Networks</a:t>
            </a:r>
          </a:p>
        </p:txBody>
      </p:sp>
      <p:graphicFrame>
        <p:nvGraphicFramePr>
          <p:cNvPr id="1914924" name="Group 44"/>
          <p:cNvGraphicFramePr>
            <a:graphicFrameLocks noGrp="1"/>
          </p:cNvGraphicFramePr>
          <p:nvPr>
            <p:ph idx="1"/>
          </p:nvPr>
        </p:nvGraphicFramePr>
        <p:xfrm>
          <a:off x="492125" y="1355725"/>
          <a:ext cx="8458200" cy="4803140"/>
        </p:xfrm>
        <a:graphic>
          <a:graphicData uri="http://schemas.openxmlformats.org/drawingml/2006/table">
            <a:tbl>
              <a:tblPr/>
              <a:tblGrid>
                <a:gridCol w="1657350"/>
                <a:gridCol w="3379788"/>
                <a:gridCol w="3421062"/>
              </a:tblGrid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Infrastructure-based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Infrastructure-less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Single hop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Base station connected to larger wired network (e.g., WiFi wireless LAN, and cellular telephony networks)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 wired network; one node coordinates the transmissions of the others (e.g., Bluetooth, and ad hoc 802.11)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26695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Multi-hop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Base station exists, but some nodes must relay through other nodes (e.g., wireless sensor networks, and wireless mesh networks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 base station exists, and some nodes must relay through others (e.g., mobile ad hoc networks, like vehicular ad hoc networks)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65D433F-B1B7-4118-85A4-1E364AF07805}" type="slidenum">
              <a:rPr lang="en-US" smtClean="0"/>
              <a:pPr>
                <a:defRPr/>
              </a:pPr>
              <a:t>8</a:t>
            </a:fld>
            <a:endParaRPr lang="en-US" smtClean="0"/>
          </a:p>
        </p:txBody>
      </p:sp>
      <p:sp>
        <p:nvSpPr>
          <p:cNvPr id="32771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WiFi: 802.11 Wireless LANs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9DEE9F-C3A1-4802-9AA4-A5BBECC568D2}" type="slidenum">
              <a:rPr lang="en-US" smtClean="0"/>
              <a:pPr>
                <a:defRPr/>
              </a:pPr>
              <a:t>9</a:t>
            </a:fld>
            <a:endParaRPr lang="en-US" smtClean="0"/>
          </a:p>
        </p:txBody>
      </p:sp>
      <p:sp>
        <p:nvSpPr>
          <p:cNvPr id="4125" name="Rectangle 8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Network: Wireless Link</a:t>
            </a:r>
          </a:p>
        </p:txBody>
      </p:sp>
      <p:sp>
        <p:nvSpPr>
          <p:cNvPr id="4126" name="Oval 3"/>
          <p:cNvSpPr>
            <a:spLocks noChangeArrowheads="1"/>
          </p:cNvSpPr>
          <p:nvPr/>
        </p:nvSpPr>
        <p:spPr bwMode="auto">
          <a:xfrm>
            <a:off x="4332288" y="476091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127" name="Group 4"/>
          <p:cNvGrpSpPr>
            <a:grpSpLocks/>
          </p:cNvGrpSpPr>
          <p:nvPr/>
        </p:nvGrpSpPr>
        <p:grpSpPr bwMode="auto">
          <a:xfrm>
            <a:off x="2451100" y="2874963"/>
            <a:ext cx="2362200" cy="1762125"/>
            <a:chOff x="3839" y="1737"/>
            <a:chExt cx="1488" cy="1110"/>
          </a:xfrm>
        </p:grpSpPr>
        <p:sp>
          <p:nvSpPr>
            <p:cNvPr id="4177" name="Freeform 5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8" name="Text Box 6"/>
            <p:cNvSpPr txBox="1">
              <a:spLocks noChangeArrowheads="1"/>
            </p:cNvSpPr>
            <p:nvPr/>
          </p:nvSpPr>
          <p:spPr bwMode="auto">
            <a:xfrm>
              <a:off x="4075" y="1947"/>
              <a:ext cx="10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0">
                  <a:latin typeface="Comic Sans MS" pitchFamily="66" charset="0"/>
                </a:rPr>
                <a:t>network </a:t>
              </a:r>
            </a:p>
            <a:p>
              <a:r>
                <a:rPr lang="en-US" sz="1800" b="0">
                  <a:latin typeface="Comic Sans MS" pitchFamily="66" charset="0"/>
                </a:rPr>
                <a:t>infrastructure</a:t>
              </a:r>
            </a:p>
          </p:txBody>
        </p:sp>
      </p:grpSp>
      <p:pic>
        <p:nvPicPr>
          <p:cNvPr id="4128" name="Picture 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67313" y="5338763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29" name="Group 8"/>
          <p:cNvGrpSpPr>
            <a:grpSpLocks/>
          </p:cNvGrpSpPr>
          <p:nvPr/>
        </p:nvGrpSpPr>
        <p:grpSpPr bwMode="auto">
          <a:xfrm>
            <a:off x="539750" y="1803400"/>
            <a:ext cx="1755775" cy="1625600"/>
            <a:chOff x="567" y="1326"/>
            <a:chExt cx="1106" cy="1024"/>
          </a:xfrm>
        </p:grpSpPr>
        <p:sp>
          <p:nvSpPr>
            <p:cNvPr id="4172" name="Oval 9"/>
            <p:cNvSpPr>
              <a:spLocks noChangeArrowheads="1"/>
            </p:cNvSpPr>
            <p:nvPr/>
          </p:nvSpPr>
          <p:spPr bwMode="auto">
            <a:xfrm>
              <a:off x="567" y="1326"/>
              <a:ext cx="1106" cy="1024"/>
            </a:xfrm>
            <a:prstGeom prst="ellipse">
              <a:avLst/>
            </a:pr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4173" name="Picture 10" descr="31u_bnrz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-5400000">
              <a:off x="1035" y="1785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4174" name="Group 11"/>
            <p:cNvGrpSpPr>
              <a:grpSpLocks/>
            </p:cNvGrpSpPr>
            <p:nvPr/>
          </p:nvGrpSpPr>
          <p:grpSpPr bwMode="auto">
            <a:xfrm>
              <a:off x="1221" y="1447"/>
              <a:ext cx="252" cy="288"/>
              <a:chOff x="2870" y="1518"/>
              <a:chExt cx="292" cy="320"/>
            </a:xfrm>
          </p:grpSpPr>
          <p:graphicFrame>
            <p:nvGraphicFramePr>
              <p:cNvPr id="4122" name="Object 1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4122" name="Clip" r:id="rId6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4123" name="Object 1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4123" name="Clip" r:id="rId7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4175" name="Group 14"/>
            <p:cNvGrpSpPr>
              <a:grpSpLocks/>
            </p:cNvGrpSpPr>
            <p:nvPr/>
          </p:nvGrpSpPr>
          <p:grpSpPr bwMode="auto">
            <a:xfrm>
              <a:off x="869" y="1379"/>
              <a:ext cx="252" cy="288"/>
              <a:chOff x="2870" y="1518"/>
              <a:chExt cx="292" cy="320"/>
            </a:xfrm>
          </p:grpSpPr>
          <p:graphicFrame>
            <p:nvGraphicFramePr>
              <p:cNvPr id="4120" name="Object 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4120" name="Clip" r:id="rId8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4121" name="Object 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4121" name="Clip" r:id="rId9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4176" name="Group 17"/>
            <p:cNvGrpSpPr>
              <a:grpSpLocks/>
            </p:cNvGrpSpPr>
            <p:nvPr/>
          </p:nvGrpSpPr>
          <p:grpSpPr bwMode="auto">
            <a:xfrm>
              <a:off x="727" y="1878"/>
              <a:ext cx="252" cy="288"/>
              <a:chOff x="2870" y="1518"/>
              <a:chExt cx="292" cy="320"/>
            </a:xfrm>
          </p:grpSpPr>
          <p:graphicFrame>
            <p:nvGraphicFramePr>
              <p:cNvPr id="4118" name="Object 1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4118" name="Clip" r:id="rId1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4119" name="Object 1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4119" name="Clip" r:id="rId11" imgW="1266840" imgH="1200240" progId="MS_ClipArt_Gallery.2">
                  <p:embed/>
                </p:oleObj>
              </a:graphicData>
            </a:graphic>
          </p:graphicFrame>
        </p:grpSp>
      </p:grpSp>
      <p:sp>
        <p:nvSpPr>
          <p:cNvPr id="4130" name="Line 20"/>
          <p:cNvSpPr>
            <a:spLocks noChangeShapeType="1"/>
          </p:cNvSpPr>
          <p:nvPr/>
        </p:nvSpPr>
        <p:spPr bwMode="auto">
          <a:xfrm>
            <a:off x="1568450" y="2805113"/>
            <a:ext cx="900113" cy="392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31" name="Oval 21"/>
          <p:cNvSpPr>
            <a:spLocks noChangeArrowheads="1"/>
          </p:cNvSpPr>
          <p:nvPr/>
        </p:nvSpPr>
        <p:spPr bwMode="auto">
          <a:xfrm>
            <a:off x="635000" y="372586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132" name="Picture 22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38275" y="43942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33" name="Group 23"/>
          <p:cNvGrpSpPr>
            <a:grpSpLocks/>
          </p:cNvGrpSpPr>
          <p:nvPr/>
        </p:nvGrpSpPr>
        <p:grpSpPr bwMode="auto">
          <a:xfrm>
            <a:off x="1425575" y="4745038"/>
            <a:ext cx="400050" cy="457200"/>
            <a:chOff x="2870" y="1518"/>
            <a:chExt cx="292" cy="320"/>
          </a:xfrm>
        </p:grpSpPr>
        <p:graphicFrame>
          <p:nvGraphicFramePr>
            <p:cNvPr id="4116" name="Object 2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16" name="Clip" r:id="rId12" imgW="819000" imgH="847800" progId="MS_ClipArt_Gallery.2">
                <p:embed/>
              </p:oleObj>
            </a:graphicData>
          </a:graphic>
        </p:graphicFrame>
        <p:graphicFrame>
          <p:nvGraphicFramePr>
            <p:cNvPr id="4117" name="Object 2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17" name="Clip" r:id="rId13" imgW="1266840" imgH="1200240" progId="MS_ClipArt_Gallery.2">
                <p:embed/>
              </p:oleObj>
            </a:graphicData>
          </a:graphic>
        </p:graphicFrame>
      </p:grpSp>
      <p:grpSp>
        <p:nvGrpSpPr>
          <p:cNvPr id="4134" name="Group 26"/>
          <p:cNvGrpSpPr>
            <a:grpSpLocks/>
          </p:cNvGrpSpPr>
          <p:nvPr/>
        </p:nvGrpSpPr>
        <p:grpSpPr bwMode="auto">
          <a:xfrm>
            <a:off x="1274763" y="3795713"/>
            <a:ext cx="400050" cy="457200"/>
            <a:chOff x="2870" y="1518"/>
            <a:chExt cx="292" cy="320"/>
          </a:xfrm>
        </p:grpSpPr>
        <p:graphicFrame>
          <p:nvGraphicFramePr>
            <p:cNvPr id="4114" name="Object 2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14" name="Clip" r:id="rId14" imgW="819000" imgH="847800" progId="MS_ClipArt_Gallery.2">
                <p:embed/>
              </p:oleObj>
            </a:graphicData>
          </a:graphic>
        </p:graphicFrame>
        <p:graphicFrame>
          <p:nvGraphicFramePr>
            <p:cNvPr id="4115" name="Object 2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15" name="Clip" r:id="rId15" imgW="1266840" imgH="1200240" progId="MS_ClipArt_Gallery.2">
                <p:embed/>
              </p:oleObj>
            </a:graphicData>
          </a:graphic>
        </p:graphicFrame>
      </p:grpSp>
      <p:grpSp>
        <p:nvGrpSpPr>
          <p:cNvPr id="4135" name="Group 29"/>
          <p:cNvGrpSpPr>
            <a:grpSpLocks/>
          </p:cNvGrpSpPr>
          <p:nvPr/>
        </p:nvGrpSpPr>
        <p:grpSpPr bwMode="auto">
          <a:xfrm>
            <a:off x="889000" y="4602163"/>
            <a:ext cx="400050" cy="457200"/>
            <a:chOff x="2870" y="1518"/>
            <a:chExt cx="292" cy="320"/>
          </a:xfrm>
        </p:grpSpPr>
        <p:graphicFrame>
          <p:nvGraphicFramePr>
            <p:cNvPr id="4112" name="Object 3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12" name="Clip" r:id="rId16" imgW="819000" imgH="847800" progId="MS_ClipArt_Gallery.2">
                <p:embed/>
              </p:oleObj>
            </a:graphicData>
          </a:graphic>
        </p:graphicFrame>
        <p:graphicFrame>
          <p:nvGraphicFramePr>
            <p:cNvPr id="4113" name="Object 3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13" name="Clip" r:id="rId17" imgW="1266840" imgH="1200240" progId="MS_ClipArt_Gallery.2">
                <p:embed/>
              </p:oleObj>
            </a:graphicData>
          </a:graphic>
        </p:graphicFrame>
      </p:grpSp>
      <p:sp>
        <p:nvSpPr>
          <p:cNvPr id="4136" name="Line 32"/>
          <p:cNvSpPr>
            <a:spLocks noChangeShapeType="1"/>
          </p:cNvSpPr>
          <p:nvPr/>
        </p:nvSpPr>
        <p:spPr bwMode="auto">
          <a:xfrm flipV="1">
            <a:off x="1589088" y="3814763"/>
            <a:ext cx="974725" cy="725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137" name="Group 33"/>
          <p:cNvGrpSpPr>
            <a:grpSpLocks/>
          </p:cNvGrpSpPr>
          <p:nvPr/>
        </p:nvGrpSpPr>
        <p:grpSpPr bwMode="auto">
          <a:xfrm>
            <a:off x="765175" y="4054475"/>
            <a:ext cx="400050" cy="457200"/>
            <a:chOff x="2870" y="1518"/>
            <a:chExt cx="292" cy="320"/>
          </a:xfrm>
        </p:grpSpPr>
        <p:graphicFrame>
          <p:nvGraphicFramePr>
            <p:cNvPr id="4110" name="Object 3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10" name="Clip" r:id="rId18" imgW="819000" imgH="847800" progId="MS_ClipArt_Gallery.2">
                <p:embed/>
              </p:oleObj>
            </a:graphicData>
          </a:graphic>
        </p:graphicFrame>
        <p:graphicFrame>
          <p:nvGraphicFramePr>
            <p:cNvPr id="4111" name="Object 3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11" name="Clip" r:id="rId19" imgW="1266840" imgH="1200240" progId="MS_ClipArt_Gallery.2">
                <p:embed/>
              </p:oleObj>
            </a:graphicData>
          </a:graphic>
        </p:graphicFrame>
      </p:grpSp>
      <p:sp>
        <p:nvSpPr>
          <p:cNvPr id="4138" name="Oval 36"/>
          <p:cNvSpPr>
            <a:spLocks noChangeArrowheads="1"/>
          </p:cNvSpPr>
          <p:nvPr/>
        </p:nvSpPr>
        <p:spPr bwMode="auto">
          <a:xfrm>
            <a:off x="3022600" y="4676775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4139" name="Picture 3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25875" y="53594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140" name="Group 38"/>
          <p:cNvGrpSpPr>
            <a:grpSpLocks/>
          </p:cNvGrpSpPr>
          <p:nvPr/>
        </p:nvGrpSpPr>
        <p:grpSpPr bwMode="auto">
          <a:xfrm>
            <a:off x="3813175" y="5710238"/>
            <a:ext cx="400050" cy="457200"/>
            <a:chOff x="2870" y="1518"/>
            <a:chExt cx="292" cy="320"/>
          </a:xfrm>
        </p:grpSpPr>
        <p:graphicFrame>
          <p:nvGraphicFramePr>
            <p:cNvPr id="4108" name="Object 3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08" name="Clip" r:id="rId20" imgW="819000" imgH="847800" progId="MS_ClipArt_Gallery.2">
                <p:embed/>
              </p:oleObj>
            </a:graphicData>
          </a:graphic>
        </p:graphicFrame>
        <p:graphicFrame>
          <p:nvGraphicFramePr>
            <p:cNvPr id="4109" name="Object 4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09" name="Clip" r:id="rId21" imgW="1266840" imgH="1200240" progId="MS_ClipArt_Gallery.2">
                <p:embed/>
              </p:oleObj>
            </a:graphicData>
          </a:graphic>
        </p:graphicFrame>
      </p:grpSp>
      <p:grpSp>
        <p:nvGrpSpPr>
          <p:cNvPr id="4141" name="Group 41"/>
          <p:cNvGrpSpPr>
            <a:grpSpLocks/>
          </p:cNvGrpSpPr>
          <p:nvPr/>
        </p:nvGrpSpPr>
        <p:grpSpPr bwMode="auto">
          <a:xfrm>
            <a:off x="4014788" y="4765675"/>
            <a:ext cx="400050" cy="457200"/>
            <a:chOff x="2870" y="1518"/>
            <a:chExt cx="292" cy="320"/>
          </a:xfrm>
        </p:grpSpPr>
        <p:graphicFrame>
          <p:nvGraphicFramePr>
            <p:cNvPr id="4106" name="Object 4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06" name="Clip" r:id="rId22" imgW="819000" imgH="847800" progId="MS_ClipArt_Gallery.2">
                <p:embed/>
              </p:oleObj>
            </a:graphicData>
          </a:graphic>
        </p:graphicFrame>
        <p:graphicFrame>
          <p:nvGraphicFramePr>
            <p:cNvPr id="4107" name="Object 4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07" name="Clip" r:id="rId23" imgW="1266840" imgH="1200240" progId="MS_ClipArt_Gallery.2">
                <p:embed/>
              </p:oleObj>
            </a:graphicData>
          </a:graphic>
        </p:graphicFrame>
      </p:grpSp>
      <p:grpSp>
        <p:nvGrpSpPr>
          <p:cNvPr id="4142" name="Group 44"/>
          <p:cNvGrpSpPr>
            <a:grpSpLocks/>
          </p:cNvGrpSpPr>
          <p:nvPr/>
        </p:nvGrpSpPr>
        <p:grpSpPr bwMode="auto">
          <a:xfrm>
            <a:off x="3276600" y="5567363"/>
            <a:ext cx="400050" cy="457200"/>
            <a:chOff x="2870" y="1518"/>
            <a:chExt cx="292" cy="320"/>
          </a:xfrm>
        </p:grpSpPr>
        <p:graphicFrame>
          <p:nvGraphicFramePr>
            <p:cNvPr id="4104" name="Object 4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04" name="Clip" r:id="rId24" imgW="819000" imgH="847800" progId="MS_ClipArt_Gallery.2">
                <p:embed/>
              </p:oleObj>
            </a:graphicData>
          </a:graphic>
        </p:graphicFrame>
        <p:graphicFrame>
          <p:nvGraphicFramePr>
            <p:cNvPr id="4105" name="Object 4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05" name="Clip" r:id="rId25" imgW="1266840" imgH="1200240" progId="MS_ClipArt_Gallery.2">
                <p:embed/>
              </p:oleObj>
            </a:graphicData>
          </a:graphic>
        </p:graphicFrame>
      </p:grpSp>
      <p:grpSp>
        <p:nvGrpSpPr>
          <p:cNvPr id="4143" name="Group 47"/>
          <p:cNvGrpSpPr>
            <a:grpSpLocks/>
          </p:cNvGrpSpPr>
          <p:nvPr/>
        </p:nvGrpSpPr>
        <p:grpSpPr bwMode="auto">
          <a:xfrm>
            <a:off x="3152775" y="5019675"/>
            <a:ext cx="400050" cy="457200"/>
            <a:chOff x="2870" y="1518"/>
            <a:chExt cx="292" cy="320"/>
          </a:xfrm>
        </p:grpSpPr>
        <p:graphicFrame>
          <p:nvGraphicFramePr>
            <p:cNvPr id="4102" name="Object 4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02" name="Clip" r:id="rId26" imgW="819000" imgH="847800" progId="MS_ClipArt_Gallery.2">
                <p:embed/>
              </p:oleObj>
            </a:graphicData>
          </a:graphic>
        </p:graphicFrame>
        <p:graphicFrame>
          <p:nvGraphicFramePr>
            <p:cNvPr id="4103" name="Object 4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03" name="Clip" r:id="rId27" imgW="1266840" imgH="1200240" progId="MS_ClipArt_Gallery.2">
                <p:embed/>
              </p:oleObj>
            </a:graphicData>
          </a:graphic>
        </p:graphicFrame>
      </p:grpSp>
      <p:grpSp>
        <p:nvGrpSpPr>
          <p:cNvPr id="4144" name="Group 50"/>
          <p:cNvGrpSpPr>
            <a:grpSpLocks/>
          </p:cNvGrpSpPr>
          <p:nvPr/>
        </p:nvGrpSpPr>
        <p:grpSpPr bwMode="auto">
          <a:xfrm>
            <a:off x="5229225" y="5791200"/>
            <a:ext cx="400050" cy="457200"/>
            <a:chOff x="2870" y="1518"/>
            <a:chExt cx="292" cy="320"/>
          </a:xfrm>
        </p:grpSpPr>
        <p:graphicFrame>
          <p:nvGraphicFramePr>
            <p:cNvPr id="4100" name="Object 5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4100" name="Clip" r:id="rId28" imgW="819000" imgH="847800" progId="MS_ClipArt_Gallery.2">
                <p:embed/>
              </p:oleObj>
            </a:graphicData>
          </a:graphic>
        </p:graphicFrame>
        <p:graphicFrame>
          <p:nvGraphicFramePr>
            <p:cNvPr id="4101" name="Object 5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4101" name="Clip" r:id="rId29" imgW="1266840" imgH="1200240" progId="MS_ClipArt_Gallery.2">
                <p:embed/>
              </p:oleObj>
            </a:graphicData>
          </a:graphic>
        </p:graphicFrame>
      </p:grpSp>
      <p:grpSp>
        <p:nvGrpSpPr>
          <p:cNvPr id="4145" name="Group 53"/>
          <p:cNvGrpSpPr>
            <a:grpSpLocks/>
          </p:cNvGrpSpPr>
          <p:nvPr/>
        </p:nvGrpSpPr>
        <p:grpSpPr bwMode="auto">
          <a:xfrm>
            <a:off x="4222750" y="5257800"/>
            <a:ext cx="835025" cy="457200"/>
            <a:chOff x="3345" y="3383"/>
            <a:chExt cx="526" cy="288"/>
          </a:xfrm>
        </p:grpSpPr>
        <p:grpSp>
          <p:nvGrpSpPr>
            <p:cNvPr id="4167" name="Group 54"/>
            <p:cNvGrpSpPr>
              <a:grpSpLocks/>
            </p:cNvGrpSpPr>
            <p:nvPr/>
          </p:nvGrpSpPr>
          <p:grpSpPr bwMode="auto">
            <a:xfrm>
              <a:off x="3426" y="3383"/>
              <a:ext cx="252" cy="288"/>
              <a:chOff x="2870" y="1518"/>
              <a:chExt cx="292" cy="320"/>
            </a:xfrm>
          </p:grpSpPr>
          <p:graphicFrame>
            <p:nvGraphicFramePr>
              <p:cNvPr id="4098" name="Object 5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4098" name="Clip" r:id="rId3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4099" name="Object 5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4099" name="Clip" r:id="rId31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4168" name="Line 57"/>
            <p:cNvSpPr>
              <a:spLocks noChangeShapeType="1"/>
            </p:cNvSpPr>
            <p:nvPr/>
          </p:nvSpPr>
          <p:spPr bwMode="auto">
            <a:xfrm>
              <a:off x="3679" y="354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9" name="Line 58"/>
            <p:cNvSpPr>
              <a:spLocks noChangeShapeType="1"/>
            </p:cNvSpPr>
            <p:nvPr/>
          </p:nvSpPr>
          <p:spPr bwMode="auto">
            <a:xfrm flipH="1">
              <a:off x="3372" y="348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70" name="Line 59"/>
            <p:cNvSpPr>
              <a:spLocks noChangeShapeType="1"/>
            </p:cNvSpPr>
            <p:nvPr/>
          </p:nvSpPr>
          <p:spPr bwMode="auto">
            <a:xfrm flipH="1">
              <a:off x="3381" y="353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71" name="Line 60"/>
            <p:cNvSpPr>
              <a:spLocks noChangeShapeType="1"/>
            </p:cNvSpPr>
            <p:nvPr/>
          </p:nvSpPr>
          <p:spPr bwMode="auto">
            <a:xfrm flipH="1">
              <a:off x="3345" y="357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146" name="Line 61"/>
          <p:cNvSpPr>
            <a:spLocks noChangeShapeType="1"/>
          </p:cNvSpPr>
          <p:nvPr/>
        </p:nvSpPr>
        <p:spPr bwMode="auto">
          <a:xfrm flipH="1" flipV="1">
            <a:off x="4460875" y="4397375"/>
            <a:ext cx="747713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47" name="Line 62"/>
          <p:cNvSpPr>
            <a:spLocks noChangeShapeType="1"/>
          </p:cNvSpPr>
          <p:nvPr/>
        </p:nvSpPr>
        <p:spPr bwMode="auto">
          <a:xfrm flipH="1" flipV="1">
            <a:off x="3689350" y="4545013"/>
            <a:ext cx="176213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48" name="Rectangle 64"/>
          <p:cNvSpPr>
            <a:spLocks noChangeArrowheads="1"/>
          </p:cNvSpPr>
          <p:nvPr/>
        </p:nvSpPr>
        <p:spPr bwMode="auto">
          <a:xfrm>
            <a:off x="5538788" y="1403350"/>
            <a:ext cx="1912937" cy="280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49" name="Rectangle 65"/>
          <p:cNvSpPr>
            <a:spLocks noChangeArrowheads="1"/>
          </p:cNvSpPr>
          <p:nvPr/>
        </p:nvSpPr>
        <p:spPr bwMode="auto">
          <a:xfrm>
            <a:off x="5110163" y="1508125"/>
            <a:ext cx="3649662" cy="2297113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Wireless link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Typically used to connect mobile(s) to base station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Also used as backbone link 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Multiple access protocol coordinates link access </a:t>
            </a:r>
          </a:p>
        </p:txBody>
      </p:sp>
      <p:sp>
        <p:nvSpPr>
          <p:cNvPr id="4150" name="AutoShape 67"/>
          <p:cNvSpPr>
            <a:spLocks noChangeAspect="1" noChangeArrowheads="1" noTextEdit="1"/>
          </p:cNvSpPr>
          <p:nvPr/>
        </p:nvSpPr>
        <p:spPr bwMode="auto">
          <a:xfrm>
            <a:off x="7759700" y="1316038"/>
            <a:ext cx="735013" cy="2206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4151" name="Group 68"/>
          <p:cNvGrpSpPr>
            <a:grpSpLocks/>
          </p:cNvGrpSpPr>
          <p:nvPr/>
        </p:nvGrpSpPr>
        <p:grpSpPr bwMode="auto">
          <a:xfrm>
            <a:off x="7815263" y="1347788"/>
            <a:ext cx="722312" cy="303212"/>
            <a:chOff x="4750" y="264"/>
            <a:chExt cx="455" cy="191"/>
          </a:xfrm>
        </p:grpSpPr>
        <p:sp>
          <p:nvSpPr>
            <p:cNvPr id="4152" name="Freeform 69"/>
            <p:cNvSpPr>
              <a:spLocks/>
            </p:cNvSpPr>
            <p:nvPr/>
          </p:nvSpPr>
          <p:spPr bwMode="auto">
            <a:xfrm>
              <a:off x="4872" y="298"/>
              <a:ext cx="82" cy="104"/>
            </a:xfrm>
            <a:custGeom>
              <a:avLst/>
              <a:gdLst>
                <a:gd name="T0" fmla="*/ 29 w 247"/>
                <a:gd name="T1" fmla="*/ 13 h 209"/>
                <a:gd name="T2" fmla="*/ 23 w 247"/>
                <a:gd name="T3" fmla="*/ 17 h 209"/>
                <a:gd name="T4" fmla="*/ 17 w 247"/>
                <a:gd name="T5" fmla="*/ 23 h 209"/>
                <a:gd name="T6" fmla="*/ 12 w 247"/>
                <a:gd name="T7" fmla="*/ 28 h 209"/>
                <a:gd name="T8" fmla="*/ 8 w 247"/>
                <a:gd name="T9" fmla="*/ 34 h 209"/>
                <a:gd name="T10" fmla="*/ 5 w 247"/>
                <a:gd name="T11" fmla="*/ 41 h 209"/>
                <a:gd name="T12" fmla="*/ 2 w 247"/>
                <a:gd name="T13" fmla="*/ 48 h 209"/>
                <a:gd name="T14" fmla="*/ 1 w 247"/>
                <a:gd name="T15" fmla="*/ 56 h 209"/>
                <a:gd name="T16" fmla="*/ 0 w 247"/>
                <a:gd name="T17" fmla="*/ 64 h 209"/>
                <a:gd name="T18" fmla="*/ 1 w 247"/>
                <a:gd name="T19" fmla="*/ 75 h 209"/>
                <a:gd name="T20" fmla="*/ 5 w 247"/>
                <a:gd name="T21" fmla="*/ 83 h 209"/>
                <a:gd name="T22" fmla="*/ 11 w 247"/>
                <a:gd name="T23" fmla="*/ 91 h 209"/>
                <a:gd name="T24" fmla="*/ 18 w 247"/>
                <a:gd name="T25" fmla="*/ 97 h 209"/>
                <a:gd name="T26" fmla="*/ 27 w 247"/>
                <a:gd name="T27" fmla="*/ 101 h 209"/>
                <a:gd name="T28" fmla="*/ 36 w 247"/>
                <a:gd name="T29" fmla="*/ 104 h 209"/>
                <a:gd name="T30" fmla="*/ 46 w 247"/>
                <a:gd name="T31" fmla="*/ 104 h 209"/>
                <a:gd name="T32" fmla="*/ 55 w 247"/>
                <a:gd name="T33" fmla="*/ 103 h 209"/>
                <a:gd name="T34" fmla="*/ 57 w 247"/>
                <a:gd name="T35" fmla="*/ 103 h 209"/>
                <a:gd name="T36" fmla="*/ 59 w 247"/>
                <a:gd name="T37" fmla="*/ 101 h 209"/>
                <a:gd name="T38" fmla="*/ 60 w 247"/>
                <a:gd name="T39" fmla="*/ 100 h 209"/>
                <a:gd name="T40" fmla="*/ 61 w 247"/>
                <a:gd name="T41" fmla="*/ 98 h 209"/>
                <a:gd name="T42" fmla="*/ 60 w 247"/>
                <a:gd name="T43" fmla="*/ 95 h 209"/>
                <a:gd name="T44" fmla="*/ 58 w 247"/>
                <a:gd name="T45" fmla="*/ 93 h 209"/>
                <a:gd name="T46" fmla="*/ 55 w 247"/>
                <a:gd name="T47" fmla="*/ 91 h 209"/>
                <a:gd name="T48" fmla="*/ 53 w 247"/>
                <a:gd name="T49" fmla="*/ 90 h 209"/>
                <a:gd name="T50" fmla="*/ 48 w 247"/>
                <a:gd name="T51" fmla="*/ 89 h 209"/>
                <a:gd name="T52" fmla="*/ 43 w 247"/>
                <a:gd name="T53" fmla="*/ 88 h 209"/>
                <a:gd name="T54" fmla="*/ 39 w 247"/>
                <a:gd name="T55" fmla="*/ 87 h 209"/>
                <a:gd name="T56" fmla="*/ 34 w 247"/>
                <a:gd name="T57" fmla="*/ 85 h 209"/>
                <a:gd name="T58" fmla="*/ 30 w 247"/>
                <a:gd name="T59" fmla="*/ 84 h 209"/>
                <a:gd name="T60" fmla="*/ 26 w 247"/>
                <a:gd name="T61" fmla="*/ 82 h 209"/>
                <a:gd name="T62" fmla="*/ 22 w 247"/>
                <a:gd name="T63" fmla="*/ 79 h 209"/>
                <a:gd name="T64" fmla="*/ 18 w 247"/>
                <a:gd name="T65" fmla="*/ 75 h 209"/>
                <a:gd name="T66" fmla="*/ 16 w 247"/>
                <a:gd name="T67" fmla="*/ 58 h 209"/>
                <a:gd name="T68" fmla="*/ 20 w 247"/>
                <a:gd name="T69" fmla="*/ 43 h 209"/>
                <a:gd name="T70" fmla="*/ 28 w 247"/>
                <a:gd name="T71" fmla="*/ 32 h 209"/>
                <a:gd name="T72" fmla="*/ 39 w 247"/>
                <a:gd name="T73" fmla="*/ 23 h 209"/>
                <a:gd name="T74" fmla="*/ 50 w 247"/>
                <a:gd name="T75" fmla="*/ 15 h 209"/>
                <a:gd name="T76" fmla="*/ 62 w 247"/>
                <a:gd name="T77" fmla="*/ 10 h 209"/>
                <a:gd name="T78" fmla="*/ 73 w 247"/>
                <a:gd name="T79" fmla="*/ 6 h 209"/>
                <a:gd name="T80" fmla="*/ 82 w 247"/>
                <a:gd name="T81" fmla="*/ 2 h 209"/>
                <a:gd name="T82" fmla="*/ 77 w 247"/>
                <a:gd name="T83" fmla="*/ 0 h 209"/>
                <a:gd name="T84" fmla="*/ 71 w 247"/>
                <a:gd name="T85" fmla="*/ 0 h 209"/>
                <a:gd name="T86" fmla="*/ 64 w 247"/>
                <a:gd name="T87" fmla="*/ 1 h 209"/>
                <a:gd name="T88" fmla="*/ 57 w 247"/>
                <a:gd name="T89" fmla="*/ 2 h 209"/>
                <a:gd name="T90" fmla="*/ 49 w 247"/>
                <a:gd name="T91" fmla="*/ 5 h 209"/>
                <a:gd name="T92" fmla="*/ 42 w 247"/>
                <a:gd name="T93" fmla="*/ 7 h 209"/>
                <a:gd name="T94" fmla="*/ 35 w 247"/>
                <a:gd name="T95" fmla="*/ 10 h 209"/>
                <a:gd name="T96" fmla="*/ 29 w 247"/>
                <a:gd name="T97" fmla="*/ 13 h 20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9"/>
                <a:gd name="T149" fmla="*/ 247 w 247"/>
                <a:gd name="T150" fmla="*/ 209 h 20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9">
                  <a:moveTo>
                    <a:pt x="87" y="27"/>
                  </a:moveTo>
                  <a:lnTo>
                    <a:pt x="68" y="35"/>
                  </a:lnTo>
                  <a:lnTo>
                    <a:pt x="52" y="46"/>
                  </a:lnTo>
                  <a:lnTo>
                    <a:pt x="37" y="57"/>
                  </a:lnTo>
                  <a:lnTo>
                    <a:pt x="24" y="69"/>
                  </a:lnTo>
                  <a:lnTo>
                    <a:pt x="14" y="83"/>
                  </a:lnTo>
                  <a:lnTo>
                    <a:pt x="7" y="97"/>
                  </a:lnTo>
                  <a:lnTo>
                    <a:pt x="2" y="113"/>
                  </a:lnTo>
                  <a:lnTo>
                    <a:pt x="0" y="128"/>
                  </a:lnTo>
                  <a:lnTo>
                    <a:pt x="2" y="150"/>
                  </a:lnTo>
                  <a:lnTo>
                    <a:pt x="14" y="167"/>
                  </a:lnTo>
                  <a:lnTo>
                    <a:pt x="32" y="183"/>
                  </a:lnTo>
                  <a:lnTo>
                    <a:pt x="55" y="194"/>
                  </a:lnTo>
                  <a:lnTo>
                    <a:pt x="81" y="203"/>
                  </a:lnTo>
                  <a:lnTo>
                    <a:pt x="109" y="208"/>
                  </a:lnTo>
                  <a:lnTo>
                    <a:pt x="138" y="209"/>
                  </a:lnTo>
                  <a:lnTo>
                    <a:pt x="165" y="206"/>
                  </a:lnTo>
                  <a:lnTo>
                    <a:pt x="171" y="206"/>
                  </a:lnTo>
                  <a:lnTo>
                    <a:pt x="177" y="203"/>
                  </a:lnTo>
                  <a:lnTo>
                    <a:pt x="181" y="200"/>
                  </a:lnTo>
                  <a:lnTo>
                    <a:pt x="183" y="196"/>
                  </a:lnTo>
                  <a:lnTo>
                    <a:pt x="180" y="191"/>
                  </a:lnTo>
                  <a:lnTo>
                    <a:pt x="174" y="187"/>
                  </a:lnTo>
                  <a:lnTo>
                    <a:pt x="167" y="183"/>
                  </a:lnTo>
                  <a:lnTo>
                    <a:pt x="159" y="181"/>
                  </a:lnTo>
                  <a:lnTo>
                    <a:pt x="145" y="178"/>
                  </a:lnTo>
                  <a:lnTo>
                    <a:pt x="130" y="176"/>
                  </a:lnTo>
                  <a:lnTo>
                    <a:pt x="116" y="174"/>
                  </a:lnTo>
                  <a:lnTo>
                    <a:pt x="103" y="171"/>
                  </a:lnTo>
                  <a:lnTo>
                    <a:pt x="90" y="168"/>
                  </a:lnTo>
                  <a:lnTo>
                    <a:pt x="77" y="164"/>
                  </a:lnTo>
                  <a:lnTo>
                    <a:pt x="65" y="159"/>
                  </a:lnTo>
                  <a:lnTo>
                    <a:pt x="53" y="151"/>
                  </a:lnTo>
                  <a:lnTo>
                    <a:pt x="49" y="116"/>
                  </a:lnTo>
                  <a:lnTo>
                    <a:pt x="61" y="87"/>
                  </a:lnTo>
                  <a:lnTo>
                    <a:pt x="84" y="64"/>
                  </a:lnTo>
                  <a:lnTo>
                    <a:pt x="116" y="46"/>
                  </a:lnTo>
                  <a:lnTo>
                    <a:pt x="151" y="31"/>
                  </a:lnTo>
                  <a:lnTo>
                    <a:pt x="187" y="20"/>
                  </a:lnTo>
                  <a:lnTo>
                    <a:pt x="220" y="12"/>
                  </a:lnTo>
                  <a:lnTo>
                    <a:pt x="247" y="5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5"/>
                  </a:lnTo>
                  <a:lnTo>
                    <a:pt x="149" y="10"/>
                  </a:lnTo>
                  <a:lnTo>
                    <a:pt x="127" y="15"/>
                  </a:lnTo>
                  <a:lnTo>
                    <a:pt x="106" y="21"/>
                  </a:lnTo>
                  <a:lnTo>
                    <a:pt x="87" y="27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3" name="Freeform 70"/>
            <p:cNvSpPr>
              <a:spLocks/>
            </p:cNvSpPr>
            <p:nvPr/>
          </p:nvSpPr>
          <p:spPr bwMode="auto">
            <a:xfrm>
              <a:off x="5012" y="297"/>
              <a:ext cx="53" cy="81"/>
            </a:xfrm>
            <a:custGeom>
              <a:avLst/>
              <a:gdLst>
                <a:gd name="T0" fmla="*/ 45 w 158"/>
                <a:gd name="T1" fmla="*/ 26 h 162"/>
                <a:gd name="T2" fmla="*/ 47 w 158"/>
                <a:gd name="T3" fmla="*/ 35 h 162"/>
                <a:gd name="T4" fmla="*/ 46 w 158"/>
                <a:gd name="T5" fmla="*/ 42 h 162"/>
                <a:gd name="T6" fmla="*/ 43 w 158"/>
                <a:gd name="T7" fmla="*/ 48 h 162"/>
                <a:gd name="T8" fmla="*/ 38 w 158"/>
                <a:gd name="T9" fmla="*/ 54 h 162"/>
                <a:gd name="T10" fmla="*/ 32 w 158"/>
                <a:gd name="T11" fmla="*/ 59 h 162"/>
                <a:gd name="T12" fmla="*/ 25 w 158"/>
                <a:gd name="T13" fmla="*/ 65 h 162"/>
                <a:gd name="T14" fmla="*/ 18 w 158"/>
                <a:gd name="T15" fmla="*/ 69 h 162"/>
                <a:gd name="T16" fmla="*/ 13 w 158"/>
                <a:gd name="T17" fmla="*/ 74 h 162"/>
                <a:gd name="T18" fmla="*/ 12 w 158"/>
                <a:gd name="T19" fmla="*/ 76 h 162"/>
                <a:gd name="T20" fmla="*/ 11 w 158"/>
                <a:gd name="T21" fmla="*/ 77 h 162"/>
                <a:gd name="T22" fmla="*/ 11 w 158"/>
                <a:gd name="T23" fmla="*/ 78 h 162"/>
                <a:gd name="T24" fmla="*/ 12 w 158"/>
                <a:gd name="T25" fmla="*/ 80 h 162"/>
                <a:gd name="T26" fmla="*/ 13 w 158"/>
                <a:gd name="T27" fmla="*/ 81 h 162"/>
                <a:gd name="T28" fmla="*/ 15 w 158"/>
                <a:gd name="T29" fmla="*/ 81 h 162"/>
                <a:gd name="T30" fmla="*/ 15 w 158"/>
                <a:gd name="T31" fmla="*/ 81 h 162"/>
                <a:gd name="T32" fmla="*/ 17 w 158"/>
                <a:gd name="T33" fmla="*/ 81 h 162"/>
                <a:gd name="T34" fmla="*/ 25 w 158"/>
                <a:gd name="T35" fmla="*/ 76 h 162"/>
                <a:gd name="T36" fmla="*/ 32 w 158"/>
                <a:gd name="T37" fmla="*/ 71 h 162"/>
                <a:gd name="T38" fmla="*/ 39 w 158"/>
                <a:gd name="T39" fmla="*/ 65 h 162"/>
                <a:gd name="T40" fmla="*/ 45 w 158"/>
                <a:gd name="T41" fmla="*/ 58 h 162"/>
                <a:gd name="T42" fmla="*/ 50 w 158"/>
                <a:gd name="T43" fmla="*/ 51 h 162"/>
                <a:gd name="T44" fmla="*/ 53 w 158"/>
                <a:gd name="T45" fmla="*/ 43 h 162"/>
                <a:gd name="T46" fmla="*/ 53 w 158"/>
                <a:gd name="T47" fmla="*/ 34 h 162"/>
                <a:gd name="T48" fmla="*/ 51 w 158"/>
                <a:gd name="T49" fmla="*/ 25 h 162"/>
                <a:gd name="T50" fmla="*/ 47 w 158"/>
                <a:gd name="T51" fmla="*/ 18 h 162"/>
                <a:gd name="T52" fmla="*/ 41 w 158"/>
                <a:gd name="T53" fmla="*/ 11 h 162"/>
                <a:gd name="T54" fmla="*/ 33 w 158"/>
                <a:gd name="T55" fmla="*/ 7 h 162"/>
                <a:gd name="T56" fmla="*/ 24 w 158"/>
                <a:gd name="T57" fmla="*/ 3 h 162"/>
                <a:gd name="T58" fmla="*/ 15 w 158"/>
                <a:gd name="T59" fmla="*/ 1 h 162"/>
                <a:gd name="T60" fmla="*/ 8 w 158"/>
                <a:gd name="T61" fmla="*/ 0 h 162"/>
                <a:gd name="T62" fmla="*/ 2 w 158"/>
                <a:gd name="T63" fmla="*/ 0 h 162"/>
                <a:gd name="T64" fmla="*/ 0 w 158"/>
                <a:gd name="T65" fmla="*/ 1 h 162"/>
                <a:gd name="T66" fmla="*/ 6 w 158"/>
                <a:gd name="T67" fmla="*/ 5 h 162"/>
                <a:gd name="T68" fmla="*/ 12 w 158"/>
                <a:gd name="T69" fmla="*/ 6 h 162"/>
                <a:gd name="T70" fmla="*/ 19 w 158"/>
                <a:gd name="T71" fmla="*/ 9 h 162"/>
                <a:gd name="T72" fmla="*/ 25 w 158"/>
                <a:gd name="T73" fmla="*/ 10 h 162"/>
                <a:gd name="T74" fmla="*/ 32 w 158"/>
                <a:gd name="T75" fmla="*/ 13 h 162"/>
                <a:gd name="T76" fmla="*/ 37 w 158"/>
                <a:gd name="T77" fmla="*/ 17 h 162"/>
                <a:gd name="T78" fmla="*/ 42 w 158"/>
                <a:gd name="T79" fmla="*/ 21 h 162"/>
                <a:gd name="T80" fmla="*/ 45 w 158"/>
                <a:gd name="T81" fmla="*/ 26 h 16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62"/>
                <a:gd name="T125" fmla="*/ 158 w 158"/>
                <a:gd name="T126" fmla="*/ 162 h 16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62">
                  <a:moveTo>
                    <a:pt x="134" y="53"/>
                  </a:moveTo>
                  <a:lnTo>
                    <a:pt x="140" y="69"/>
                  </a:lnTo>
                  <a:lnTo>
                    <a:pt x="138" y="85"/>
                  </a:lnTo>
                  <a:lnTo>
                    <a:pt x="128" y="97"/>
                  </a:lnTo>
                  <a:lnTo>
                    <a:pt x="113" y="109"/>
                  </a:lnTo>
                  <a:lnTo>
                    <a:pt x="96" y="119"/>
                  </a:lnTo>
                  <a:lnTo>
                    <a:pt x="76" y="129"/>
                  </a:lnTo>
                  <a:lnTo>
                    <a:pt x="55" y="138"/>
                  </a:lnTo>
                  <a:lnTo>
                    <a:pt x="38" y="148"/>
                  </a:lnTo>
                  <a:lnTo>
                    <a:pt x="35" y="151"/>
                  </a:lnTo>
                  <a:lnTo>
                    <a:pt x="33" y="153"/>
                  </a:lnTo>
                  <a:lnTo>
                    <a:pt x="33" y="156"/>
                  </a:lnTo>
                  <a:lnTo>
                    <a:pt x="35" y="159"/>
                  </a:lnTo>
                  <a:lnTo>
                    <a:pt x="39" y="161"/>
                  </a:lnTo>
                  <a:lnTo>
                    <a:pt x="44" y="162"/>
                  </a:lnTo>
                  <a:lnTo>
                    <a:pt x="46" y="162"/>
                  </a:lnTo>
                  <a:lnTo>
                    <a:pt x="51" y="161"/>
                  </a:lnTo>
                  <a:lnTo>
                    <a:pt x="74" y="152"/>
                  </a:lnTo>
                  <a:lnTo>
                    <a:pt x="96" y="142"/>
                  </a:lnTo>
                  <a:lnTo>
                    <a:pt x="116" y="130"/>
                  </a:lnTo>
                  <a:lnTo>
                    <a:pt x="135" y="117"/>
                  </a:lnTo>
                  <a:lnTo>
                    <a:pt x="148" y="102"/>
                  </a:lnTo>
                  <a:lnTo>
                    <a:pt x="157" y="86"/>
                  </a:lnTo>
                  <a:lnTo>
                    <a:pt x="158" y="68"/>
                  </a:lnTo>
                  <a:lnTo>
                    <a:pt x="153" y="50"/>
                  </a:lnTo>
                  <a:lnTo>
                    <a:pt x="140" y="35"/>
                  </a:lnTo>
                  <a:lnTo>
                    <a:pt x="121" y="23"/>
                  </a:lnTo>
                  <a:lnTo>
                    <a:pt x="97" y="14"/>
                  </a:lnTo>
                  <a:lnTo>
                    <a:pt x="71" y="6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3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7" y="17"/>
                  </a:lnTo>
                  <a:lnTo>
                    <a:pt x="76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4" y="42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4" name="Freeform 71"/>
            <p:cNvSpPr>
              <a:spLocks/>
            </p:cNvSpPr>
            <p:nvPr/>
          </p:nvSpPr>
          <p:spPr bwMode="auto">
            <a:xfrm>
              <a:off x="4820" y="278"/>
              <a:ext cx="133" cy="169"/>
            </a:xfrm>
            <a:custGeom>
              <a:avLst/>
              <a:gdLst>
                <a:gd name="T0" fmla="*/ 42 w 400"/>
                <a:gd name="T1" fmla="*/ 31 h 339"/>
                <a:gd name="T2" fmla="*/ 22 w 400"/>
                <a:gd name="T3" fmla="*/ 51 h 339"/>
                <a:gd name="T4" fmla="*/ 7 w 400"/>
                <a:gd name="T5" fmla="*/ 75 h 339"/>
                <a:gd name="T6" fmla="*/ 0 w 400"/>
                <a:gd name="T7" fmla="*/ 101 h 339"/>
                <a:gd name="T8" fmla="*/ 1 w 400"/>
                <a:gd name="T9" fmla="*/ 119 h 339"/>
                <a:gd name="T10" fmla="*/ 4 w 400"/>
                <a:gd name="T11" fmla="*/ 127 h 339"/>
                <a:gd name="T12" fmla="*/ 8 w 400"/>
                <a:gd name="T13" fmla="*/ 133 h 339"/>
                <a:gd name="T14" fmla="*/ 14 w 400"/>
                <a:gd name="T15" fmla="*/ 139 h 339"/>
                <a:gd name="T16" fmla="*/ 23 w 400"/>
                <a:gd name="T17" fmla="*/ 145 h 339"/>
                <a:gd name="T18" fmla="*/ 36 w 400"/>
                <a:gd name="T19" fmla="*/ 152 h 339"/>
                <a:gd name="T20" fmla="*/ 49 w 400"/>
                <a:gd name="T21" fmla="*/ 157 h 339"/>
                <a:gd name="T22" fmla="*/ 63 w 400"/>
                <a:gd name="T23" fmla="*/ 161 h 339"/>
                <a:gd name="T24" fmla="*/ 77 w 400"/>
                <a:gd name="T25" fmla="*/ 164 h 339"/>
                <a:gd name="T26" fmla="*/ 91 w 400"/>
                <a:gd name="T27" fmla="*/ 166 h 339"/>
                <a:gd name="T28" fmla="*/ 105 w 400"/>
                <a:gd name="T29" fmla="*/ 168 h 339"/>
                <a:gd name="T30" fmla="*/ 119 w 400"/>
                <a:gd name="T31" fmla="*/ 169 h 339"/>
                <a:gd name="T32" fmla="*/ 129 w 400"/>
                <a:gd name="T33" fmla="*/ 169 h 339"/>
                <a:gd name="T34" fmla="*/ 132 w 400"/>
                <a:gd name="T35" fmla="*/ 166 h 339"/>
                <a:gd name="T36" fmla="*/ 133 w 400"/>
                <a:gd name="T37" fmla="*/ 162 h 339"/>
                <a:gd name="T38" fmla="*/ 130 w 400"/>
                <a:gd name="T39" fmla="*/ 158 h 339"/>
                <a:gd name="T40" fmla="*/ 121 w 400"/>
                <a:gd name="T41" fmla="*/ 155 h 339"/>
                <a:gd name="T42" fmla="*/ 109 w 400"/>
                <a:gd name="T43" fmla="*/ 153 h 339"/>
                <a:gd name="T44" fmla="*/ 96 w 400"/>
                <a:gd name="T45" fmla="*/ 151 h 339"/>
                <a:gd name="T46" fmla="*/ 83 w 400"/>
                <a:gd name="T47" fmla="*/ 149 h 339"/>
                <a:gd name="T48" fmla="*/ 70 w 400"/>
                <a:gd name="T49" fmla="*/ 146 h 339"/>
                <a:gd name="T50" fmla="*/ 58 w 400"/>
                <a:gd name="T51" fmla="*/ 143 h 339"/>
                <a:gd name="T52" fmla="*/ 46 w 400"/>
                <a:gd name="T53" fmla="*/ 138 h 339"/>
                <a:gd name="T54" fmla="*/ 33 w 400"/>
                <a:gd name="T55" fmla="*/ 133 h 339"/>
                <a:gd name="T56" fmla="*/ 23 w 400"/>
                <a:gd name="T57" fmla="*/ 126 h 339"/>
                <a:gd name="T58" fmla="*/ 16 w 400"/>
                <a:gd name="T59" fmla="*/ 116 h 339"/>
                <a:gd name="T60" fmla="*/ 14 w 400"/>
                <a:gd name="T61" fmla="*/ 104 h 339"/>
                <a:gd name="T62" fmla="*/ 16 w 400"/>
                <a:gd name="T63" fmla="*/ 90 h 339"/>
                <a:gd name="T64" fmla="*/ 21 w 400"/>
                <a:gd name="T65" fmla="*/ 76 h 339"/>
                <a:gd name="T66" fmla="*/ 30 w 400"/>
                <a:gd name="T67" fmla="*/ 62 h 339"/>
                <a:gd name="T68" fmla="*/ 39 w 400"/>
                <a:gd name="T69" fmla="*/ 49 h 339"/>
                <a:gd name="T70" fmla="*/ 51 w 400"/>
                <a:gd name="T71" fmla="*/ 37 h 339"/>
                <a:gd name="T72" fmla="*/ 63 w 400"/>
                <a:gd name="T73" fmla="*/ 26 h 339"/>
                <a:gd name="T74" fmla="*/ 81 w 400"/>
                <a:gd name="T75" fmla="*/ 17 h 339"/>
                <a:gd name="T76" fmla="*/ 98 w 400"/>
                <a:gd name="T77" fmla="*/ 9 h 339"/>
                <a:gd name="T78" fmla="*/ 109 w 400"/>
                <a:gd name="T79" fmla="*/ 3 h 339"/>
                <a:gd name="T80" fmla="*/ 106 w 400"/>
                <a:gd name="T81" fmla="*/ 0 h 339"/>
                <a:gd name="T82" fmla="*/ 91 w 400"/>
                <a:gd name="T83" fmla="*/ 2 h 339"/>
                <a:gd name="T84" fmla="*/ 74 w 400"/>
                <a:gd name="T85" fmla="*/ 8 h 339"/>
                <a:gd name="T86" fmla="*/ 59 w 400"/>
                <a:gd name="T87" fmla="*/ 17 h 33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00"/>
                <a:gd name="T133" fmla="*/ 0 h 339"/>
                <a:gd name="T134" fmla="*/ 400 w 400"/>
                <a:gd name="T135" fmla="*/ 339 h 33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00" h="339">
                  <a:moveTo>
                    <a:pt x="156" y="44"/>
                  </a:moveTo>
                  <a:lnTo>
                    <a:pt x="125" y="63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6"/>
                  </a:lnTo>
                  <a:lnTo>
                    <a:pt x="22" y="150"/>
                  </a:lnTo>
                  <a:lnTo>
                    <a:pt x="7" y="175"/>
                  </a:lnTo>
                  <a:lnTo>
                    <a:pt x="0" y="203"/>
                  </a:lnTo>
                  <a:lnTo>
                    <a:pt x="2" y="232"/>
                  </a:lnTo>
                  <a:lnTo>
                    <a:pt x="4" y="239"/>
                  </a:lnTo>
                  <a:lnTo>
                    <a:pt x="7" y="248"/>
                  </a:lnTo>
                  <a:lnTo>
                    <a:pt x="12" y="254"/>
                  </a:lnTo>
                  <a:lnTo>
                    <a:pt x="18" y="261"/>
                  </a:lnTo>
                  <a:lnTo>
                    <a:pt x="25" y="267"/>
                  </a:lnTo>
                  <a:lnTo>
                    <a:pt x="33" y="273"/>
                  </a:lnTo>
                  <a:lnTo>
                    <a:pt x="41" y="278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4"/>
                  </a:lnTo>
                  <a:lnTo>
                    <a:pt x="128" y="309"/>
                  </a:lnTo>
                  <a:lnTo>
                    <a:pt x="148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09" y="326"/>
                  </a:lnTo>
                  <a:lnTo>
                    <a:pt x="231" y="329"/>
                  </a:lnTo>
                  <a:lnTo>
                    <a:pt x="251" y="331"/>
                  </a:lnTo>
                  <a:lnTo>
                    <a:pt x="273" y="333"/>
                  </a:lnTo>
                  <a:lnTo>
                    <a:pt x="295" y="335"/>
                  </a:lnTo>
                  <a:lnTo>
                    <a:pt x="315" y="336"/>
                  </a:lnTo>
                  <a:lnTo>
                    <a:pt x="337" y="337"/>
                  </a:lnTo>
                  <a:lnTo>
                    <a:pt x="359" y="338"/>
                  </a:lnTo>
                  <a:lnTo>
                    <a:pt x="379" y="339"/>
                  </a:lnTo>
                  <a:lnTo>
                    <a:pt x="387" y="339"/>
                  </a:lnTo>
                  <a:lnTo>
                    <a:pt x="392" y="337"/>
                  </a:lnTo>
                  <a:lnTo>
                    <a:pt x="397" y="333"/>
                  </a:lnTo>
                  <a:lnTo>
                    <a:pt x="400" y="329"/>
                  </a:lnTo>
                  <a:lnTo>
                    <a:pt x="400" y="324"/>
                  </a:lnTo>
                  <a:lnTo>
                    <a:pt x="397" y="320"/>
                  </a:lnTo>
                  <a:lnTo>
                    <a:pt x="391" y="317"/>
                  </a:lnTo>
                  <a:lnTo>
                    <a:pt x="384" y="315"/>
                  </a:lnTo>
                  <a:lnTo>
                    <a:pt x="365" y="311"/>
                  </a:lnTo>
                  <a:lnTo>
                    <a:pt x="346" y="309"/>
                  </a:lnTo>
                  <a:lnTo>
                    <a:pt x="327" y="306"/>
                  </a:lnTo>
                  <a:lnTo>
                    <a:pt x="307" y="304"/>
                  </a:lnTo>
                  <a:lnTo>
                    <a:pt x="288" y="302"/>
                  </a:lnTo>
                  <a:lnTo>
                    <a:pt x="269" y="300"/>
                  </a:lnTo>
                  <a:lnTo>
                    <a:pt x="249" y="298"/>
                  </a:lnTo>
                  <a:lnTo>
                    <a:pt x="230" y="295"/>
                  </a:lnTo>
                  <a:lnTo>
                    <a:pt x="211" y="293"/>
                  </a:lnTo>
                  <a:lnTo>
                    <a:pt x="192" y="290"/>
                  </a:lnTo>
                  <a:lnTo>
                    <a:pt x="173" y="286"/>
                  </a:lnTo>
                  <a:lnTo>
                    <a:pt x="154" y="283"/>
                  </a:lnTo>
                  <a:lnTo>
                    <a:pt x="137" y="277"/>
                  </a:lnTo>
                  <a:lnTo>
                    <a:pt x="118" y="272"/>
                  </a:lnTo>
                  <a:lnTo>
                    <a:pt x="100" y="267"/>
                  </a:lnTo>
                  <a:lnTo>
                    <a:pt x="83" y="260"/>
                  </a:lnTo>
                  <a:lnTo>
                    <a:pt x="68" y="253"/>
                  </a:lnTo>
                  <a:lnTo>
                    <a:pt x="57" y="243"/>
                  </a:lnTo>
                  <a:lnTo>
                    <a:pt x="48" y="233"/>
                  </a:lnTo>
                  <a:lnTo>
                    <a:pt x="44" y="221"/>
                  </a:lnTo>
                  <a:lnTo>
                    <a:pt x="42" y="208"/>
                  </a:lnTo>
                  <a:lnTo>
                    <a:pt x="44" y="194"/>
                  </a:lnTo>
                  <a:lnTo>
                    <a:pt x="48" y="180"/>
                  </a:lnTo>
                  <a:lnTo>
                    <a:pt x="54" y="168"/>
                  </a:lnTo>
                  <a:lnTo>
                    <a:pt x="64" y="153"/>
                  </a:lnTo>
                  <a:lnTo>
                    <a:pt x="76" y="137"/>
                  </a:lnTo>
                  <a:lnTo>
                    <a:pt x="89" y="124"/>
                  </a:lnTo>
                  <a:lnTo>
                    <a:pt x="103" y="111"/>
                  </a:lnTo>
                  <a:lnTo>
                    <a:pt x="118" y="99"/>
                  </a:lnTo>
                  <a:lnTo>
                    <a:pt x="134" y="87"/>
                  </a:lnTo>
                  <a:lnTo>
                    <a:pt x="153" y="74"/>
                  </a:lnTo>
                  <a:lnTo>
                    <a:pt x="172" y="62"/>
                  </a:lnTo>
                  <a:lnTo>
                    <a:pt x="190" y="52"/>
                  </a:lnTo>
                  <a:lnTo>
                    <a:pt x="215" y="42"/>
                  </a:lnTo>
                  <a:lnTo>
                    <a:pt x="243" y="34"/>
                  </a:lnTo>
                  <a:lnTo>
                    <a:pt x="270" y="26"/>
                  </a:lnTo>
                  <a:lnTo>
                    <a:pt x="295" y="19"/>
                  </a:lnTo>
                  <a:lnTo>
                    <a:pt x="315" y="13"/>
                  </a:lnTo>
                  <a:lnTo>
                    <a:pt x="328" y="6"/>
                  </a:lnTo>
                  <a:lnTo>
                    <a:pt x="333" y="2"/>
                  </a:lnTo>
                  <a:lnTo>
                    <a:pt x="318" y="0"/>
                  </a:lnTo>
                  <a:lnTo>
                    <a:pt x="298" y="1"/>
                  </a:lnTo>
                  <a:lnTo>
                    <a:pt x="275" y="4"/>
                  </a:lnTo>
                  <a:lnTo>
                    <a:pt x="250" y="9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4"/>
                  </a:lnTo>
                  <a:lnTo>
                    <a:pt x="156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5" name="Freeform 72"/>
            <p:cNvSpPr>
              <a:spLocks/>
            </p:cNvSpPr>
            <p:nvPr/>
          </p:nvSpPr>
          <p:spPr bwMode="auto">
            <a:xfrm>
              <a:off x="5007" y="272"/>
              <a:ext cx="117" cy="113"/>
            </a:xfrm>
            <a:custGeom>
              <a:avLst/>
              <a:gdLst>
                <a:gd name="T0" fmla="*/ 97 w 351"/>
                <a:gd name="T1" fmla="*/ 35 h 226"/>
                <a:gd name="T2" fmla="*/ 102 w 351"/>
                <a:gd name="T3" fmla="*/ 41 h 226"/>
                <a:gd name="T4" fmla="*/ 106 w 351"/>
                <a:gd name="T5" fmla="*/ 48 h 226"/>
                <a:gd name="T6" fmla="*/ 107 w 351"/>
                <a:gd name="T7" fmla="*/ 56 h 226"/>
                <a:gd name="T8" fmla="*/ 107 w 351"/>
                <a:gd name="T9" fmla="*/ 64 h 226"/>
                <a:gd name="T10" fmla="*/ 106 w 351"/>
                <a:gd name="T11" fmla="*/ 71 h 226"/>
                <a:gd name="T12" fmla="*/ 104 w 351"/>
                <a:gd name="T13" fmla="*/ 76 h 226"/>
                <a:gd name="T14" fmla="*/ 101 w 351"/>
                <a:gd name="T15" fmla="*/ 82 h 226"/>
                <a:gd name="T16" fmla="*/ 98 w 351"/>
                <a:gd name="T17" fmla="*/ 87 h 226"/>
                <a:gd name="T18" fmla="*/ 93 w 351"/>
                <a:gd name="T19" fmla="*/ 92 h 226"/>
                <a:gd name="T20" fmla="*/ 89 w 351"/>
                <a:gd name="T21" fmla="*/ 96 h 226"/>
                <a:gd name="T22" fmla="*/ 84 w 351"/>
                <a:gd name="T23" fmla="*/ 101 h 226"/>
                <a:gd name="T24" fmla="*/ 80 w 351"/>
                <a:gd name="T25" fmla="*/ 105 h 226"/>
                <a:gd name="T26" fmla="*/ 79 w 351"/>
                <a:gd name="T27" fmla="*/ 107 h 226"/>
                <a:gd name="T28" fmla="*/ 79 w 351"/>
                <a:gd name="T29" fmla="*/ 108 h 226"/>
                <a:gd name="T30" fmla="*/ 79 w 351"/>
                <a:gd name="T31" fmla="*/ 110 h 226"/>
                <a:gd name="T32" fmla="*/ 80 w 351"/>
                <a:gd name="T33" fmla="*/ 111 h 226"/>
                <a:gd name="T34" fmla="*/ 82 w 351"/>
                <a:gd name="T35" fmla="*/ 113 h 226"/>
                <a:gd name="T36" fmla="*/ 83 w 351"/>
                <a:gd name="T37" fmla="*/ 113 h 226"/>
                <a:gd name="T38" fmla="*/ 85 w 351"/>
                <a:gd name="T39" fmla="*/ 113 h 226"/>
                <a:gd name="T40" fmla="*/ 86 w 351"/>
                <a:gd name="T41" fmla="*/ 111 h 226"/>
                <a:gd name="T42" fmla="*/ 96 w 351"/>
                <a:gd name="T43" fmla="*/ 105 h 226"/>
                <a:gd name="T44" fmla="*/ 104 w 351"/>
                <a:gd name="T45" fmla="*/ 96 h 226"/>
                <a:gd name="T46" fmla="*/ 111 w 351"/>
                <a:gd name="T47" fmla="*/ 86 h 226"/>
                <a:gd name="T48" fmla="*/ 115 w 351"/>
                <a:gd name="T49" fmla="*/ 75 h 226"/>
                <a:gd name="T50" fmla="*/ 117 w 351"/>
                <a:gd name="T51" fmla="*/ 63 h 226"/>
                <a:gd name="T52" fmla="*/ 116 w 351"/>
                <a:gd name="T53" fmla="*/ 52 h 226"/>
                <a:gd name="T54" fmla="*/ 112 w 351"/>
                <a:gd name="T55" fmla="*/ 41 h 226"/>
                <a:gd name="T56" fmla="*/ 104 w 351"/>
                <a:gd name="T57" fmla="*/ 31 h 226"/>
                <a:gd name="T58" fmla="*/ 98 w 351"/>
                <a:gd name="T59" fmla="*/ 26 h 226"/>
                <a:gd name="T60" fmla="*/ 92 w 351"/>
                <a:gd name="T61" fmla="*/ 22 h 226"/>
                <a:gd name="T62" fmla="*/ 84 w 351"/>
                <a:gd name="T63" fmla="*/ 18 h 226"/>
                <a:gd name="T64" fmla="*/ 76 w 351"/>
                <a:gd name="T65" fmla="*/ 14 h 226"/>
                <a:gd name="T66" fmla="*/ 68 w 351"/>
                <a:gd name="T67" fmla="*/ 10 h 226"/>
                <a:gd name="T68" fmla="*/ 60 w 351"/>
                <a:gd name="T69" fmla="*/ 7 h 226"/>
                <a:gd name="T70" fmla="*/ 51 w 351"/>
                <a:gd name="T71" fmla="*/ 6 h 226"/>
                <a:gd name="T72" fmla="*/ 43 w 351"/>
                <a:gd name="T73" fmla="*/ 4 h 226"/>
                <a:gd name="T74" fmla="*/ 35 w 351"/>
                <a:gd name="T75" fmla="*/ 2 h 226"/>
                <a:gd name="T76" fmla="*/ 27 w 351"/>
                <a:gd name="T77" fmla="*/ 1 h 226"/>
                <a:gd name="T78" fmla="*/ 20 w 351"/>
                <a:gd name="T79" fmla="*/ 0 h 226"/>
                <a:gd name="T80" fmla="*/ 14 w 351"/>
                <a:gd name="T81" fmla="*/ 0 h 226"/>
                <a:gd name="T82" fmla="*/ 9 w 351"/>
                <a:gd name="T83" fmla="*/ 0 h 226"/>
                <a:gd name="T84" fmla="*/ 5 w 351"/>
                <a:gd name="T85" fmla="*/ 0 h 226"/>
                <a:gd name="T86" fmla="*/ 2 w 351"/>
                <a:gd name="T87" fmla="*/ 1 h 226"/>
                <a:gd name="T88" fmla="*/ 0 w 351"/>
                <a:gd name="T89" fmla="*/ 2 h 226"/>
                <a:gd name="T90" fmla="*/ 5 w 351"/>
                <a:gd name="T91" fmla="*/ 3 h 226"/>
                <a:gd name="T92" fmla="*/ 10 w 351"/>
                <a:gd name="T93" fmla="*/ 4 h 226"/>
                <a:gd name="T94" fmla="*/ 16 w 351"/>
                <a:gd name="T95" fmla="*/ 5 h 226"/>
                <a:gd name="T96" fmla="*/ 21 w 351"/>
                <a:gd name="T97" fmla="*/ 6 h 226"/>
                <a:gd name="T98" fmla="*/ 27 w 351"/>
                <a:gd name="T99" fmla="*/ 7 h 226"/>
                <a:gd name="T100" fmla="*/ 34 w 351"/>
                <a:gd name="T101" fmla="*/ 8 h 226"/>
                <a:gd name="T102" fmla="*/ 40 w 351"/>
                <a:gd name="T103" fmla="*/ 10 h 226"/>
                <a:gd name="T104" fmla="*/ 47 w 351"/>
                <a:gd name="T105" fmla="*/ 12 h 226"/>
                <a:gd name="T106" fmla="*/ 53 w 351"/>
                <a:gd name="T107" fmla="*/ 14 h 226"/>
                <a:gd name="T108" fmla="*/ 60 w 351"/>
                <a:gd name="T109" fmla="*/ 15 h 226"/>
                <a:gd name="T110" fmla="*/ 67 w 351"/>
                <a:gd name="T111" fmla="*/ 18 h 226"/>
                <a:gd name="T112" fmla="*/ 73 w 351"/>
                <a:gd name="T113" fmla="*/ 20 h 226"/>
                <a:gd name="T114" fmla="*/ 80 w 351"/>
                <a:gd name="T115" fmla="*/ 23 h 226"/>
                <a:gd name="T116" fmla="*/ 86 w 351"/>
                <a:gd name="T117" fmla="*/ 27 h 226"/>
                <a:gd name="T118" fmla="*/ 92 w 351"/>
                <a:gd name="T119" fmla="*/ 30 h 226"/>
                <a:gd name="T120" fmla="*/ 97 w 351"/>
                <a:gd name="T121" fmla="*/ 35 h 22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1"/>
                <a:gd name="T184" fmla="*/ 0 h 226"/>
                <a:gd name="T185" fmla="*/ 351 w 351"/>
                <a:gd name="T186" fmla="*/ 226 h 22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1" h="226">
                  <a:moveTo>
                    <a:pt x="291" y="69"/>
                  </a:moveTo>
                  <a:lnTo>
                    <a:pt x="307" y="81"/>
                  </a:lnTo>
                  <a:lnTo>
                    <a:pt x="317" y="96"/>
                  </a:lnTo>
                  <a:lnTo>
                    <a:pt x="322" y="111"/>
                  </a:lnTo>
                  <a:lnTo>
                    <a:pt x="322" y="128"/>
                  </a:lnTo>
                  <a:lnTo>
                    <a:pt x="319" y="141"/>
                  </a:lnTo>
                  <a:lnTo>
                    <a:pt x="313" y="152"/>
                  </a:lnTo>
                  <a:lnTo>
                    <a:pt x="303" y="164"/>
                  </a:lnTo>
                  <a:lnTo>
                    <a:pt x="293" y="173"/>
                  </a:lnTo>
                  <a:lnTo>
                    <a:pt x="279" y="183"/>
                  </a:lnTo>
                  <a:lnTo>
                    <a:pt x="266" y="192"/>
                  </a:lnTo>
                  <a:lnTo>
                    <a:pt x="253" y="201"/>
                  </a:lnTo>
                  <a:lnTo>
                    <a:pt x="240" y="210"/>
                  </a:lnTo>
                  <a:lnTo>
                    <a:pt x="237" y="213"/>
                  </a:lnTo>
                  <a:lnTo>
                    <a:pt x="237" y="216"/>
                  </a:lnTo>
                  <a:lnTo>
                    <a:pt x="237" y="219"/>
                  </a:lnTo>
                  <a:lnTo>
                    <a:pt x="240" y="222"/>
                  </a:lnTo>
                  <a:lnTo>
                    <a:pt x="245" y="225"/>
                  </a:lnTo>
                  <a:lnTo>
                    <a:pt x="250" y="226"/>
                  </a:lnTo>
                  <a:lnTo>
                    <a:pt x="255" y="225"/>
                  </a:lnTo>
                  <a:lnTo>
                    <a:pt x="259" y="222"/>
                  </a:lnTo>
                  <a:lnTo>
                    <a:pt x="288" y="209"/>
                  </a:lnTo>
                  <a:lnTo>
                    <a:pt x="313" y="192"/>
                  </a:lnTo>
                  <a:lnTo>
                    <a:pt x="332" y="172"/>
                  </a:lnTo>
                  <a:lnTo>
                    <a:pt x="345" y="149"/>
                  </a:lnTo>
                  <a:lnTo>
                    <a:pt x="351" y="127"/>
                  </a:lnTo>
                  <a:lnTo>
                    <a:pt x="348" y="103"/>
                  </a:lnTo>
                  <a:lnTo>
                    <a:pt x="336" y="81"/>
                  </a:lnTo>
                  <a:lnTo>
                    <a:pt x="313" y="62"/>
                  </a:lnTo>
                  <a:lnTo>
                    <a:pt x="295" y="51"/>
                  </a:lnTo>
                  <a:lnTo>
                    <a:pt x="275" y="43"/>
                  </a:lnTo>
                  <a:lnTo>
                    <a:pt x="253" y="35"/>
                  </a:lnTo>
                  <a:lnTo>
                    <a:pt x="229" y="28"/>
                  </a:lnTo>
                  <a:lnTo>
                    <a:pt x="204" y="20"/>
                  </a:lnTo>
                  <a:lnTo>
                    <a:pt x="179" y="15"/>
                  </a:lnTo>
                  <a:lnTo>
                    <a:pt x="153" y="11"/>
                  </a:lnTo>
                  <a:lnTo>
                    <a:pt x="128" y="7"/>
                  </a:lnTo>
                  <a:lnTo>
                    <a:pt x="104" y="4"/>
                  </a:lnTo>
                  <a:lnTo>
                    <a:pt x="82" y="2"/>
                  </a:lnTo>
                  <a:lnTo>
                    <a:pt x="60" y="0"/>
                  </a:lnTo>
                  <a:lnTo>
                    <a:pt x="43" y="0"/>
                  </a:lnTo>
                  <a:lnTo>
                    <a:pt x="27" y="0"/>
                  </a:lnTo>
                  <a:lnTo>
                    <a:pt x="14" y="0"/>
                  </a:lnTo>
                  <a:lnTo>
                    <a:pt x="5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30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2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1" y="31"/>
                  </a:lnTo>
                  <a:lnTo>
                    <a:pt x="201" y="35"/>
                  </a:lnTo>
                  <a:lnTo>
                    <a:pt x="220" y="40"/>
                  </a:lnTo>
                  <a:lnTo>
                    <a:pt x="239" y="46"/>
                  </a:lnTo>
                  <a:lnTo>
                    <a:pt x="258" y="53"/>
                  </a:lnTo>
                  <a:lnTo>
                    <a:pt x="275" y="61"/>
                  </a:lnTo>
                  <a:lnTo>
                    <a:pt x="291" y="69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6" name="Freeform 73"/>
            <p:cNvSpPr>
              <a:spLocks/>
            </p:cNvSpPr>
            <p:nvPr/>
          </p:nvSpPr>
          <p:spPr bwMode="auto">
            <a:xfrm>
              <a:off x="4769" y="324"/>
              <a:ext cx="48" cy="107"/>
            </a:xfrm>
            <a:custGeom>
              <a:avLst/>
              <a:gdLst>
                <a:gd name="T0" fmla="*/ 0 w 142"/>
                <a:gd name="T1" fmla="*/ 58 h 213"/>
                <a:gd name="T2" fmla="*/ 0 w 142"/>
                <a:gd name="T3" fmla="*/ 67 h 213"/>
                <a:gd name="T4" fmla="*/ 2 w 142"/>
                <a:gd name="T5" fmla="*/ 75 h 213"/>
                <a:gd name="T6" fmla="*/ 5 w 142"/>
                <a:gd name="T7" fmla="*/ 83 h 213"/>
                <a:gd name="T8" fmla="*/ 10 w 142"/>
                <a:gd name="T9" fmla="*/ 90 h 213"/>
                <a:gd name="T10" fmla="*/ 16 w 142"/>
                <a:gd name="T11" fmla="*/ 96 h 213"/>
                <a:gd name="T12" fmla="*/ 23 w 142"/>
                <a:gd name="T13" fmla="*/ 101 h 213"/>
                <a:gd name="T14" fmla="*/ 31 w 142"/>
                <a:gd name="T15" fmla="*/ 104 h 213"/>
                <a:gd name="T16" fmla="*/ 39 w 142"/>
                <a:gd name="T17" fmla="*/ 106 h 213"/>
                <a:gd name="T18" fmla="*/ 41 w 142"/>
                <a:gd name="T19" fmla="*/ 107 h 213"/>
                <a:gd name="T20" fmla="*/ 44 w 142"/>
                <a:gd name="T21" fmla="*/ 106 h 213"/>
                <a:gd name="T22" fmla="*/ 46 w 142"/>
                <a:gd name="T23" fmla="*/ 104 h 213"/>
                <a:gd name="T24" fmla="*/ 47 w 142"/>
                <a:gd name="T25" fmla="*/ 102 h 213"/>
                <a:gd name="T26" fmla="*/ 47 w 142"/>
                <a:gd name="T27" fmla="*/ 100 h 213"/>
                <a:gd name="T28" fmla="*/ 46 w 142"/>
                <a:gd name="T29" fmla="*/ 97 h 213"/>
                <a:gd name="T30" fmla="*/ 45 w 142"/>
                <a:gd name="T31" fmla="*/ 95 h 213"/>
                <a:gd name="T32" fmla="*/ 42 w 142"/>
                <a:gd name="T33" fmla="*/ 94 h 213"/>
                <a:gd name="T34" fmla="*/ 34 w 142"/>
                <a:gd name="T35" fmla="*/ 91 h 213"/>
                <a:gd name="T36" fmla="*/ 27 w 142"/>
                <a:gd name="T37" fmla="*/ 87 h 213"/>
                <a:gd name="T38" fmla="*/ 21 w 142"/>
                <a:gd name="T39" fmla="*/ 81 h 213"/>
                <a:gd name="T40" fmla="*/ 17 w 142"/>
                <a:gd name="T41" fmla="*/ 75 h 213"/>
                <a:gd name="T42" fmla="*/ 14 w 142"/>
                <a:gd name="T43" fmla="*/ 67 h 213"/>
                <a:gd name="T44" fmla="*/ 12 w 142"/>
                <a:gd name="T45" fmla="*/ 59 h 213"/>
                <a:gd name="T46" fmla="*/ 12 w 142"/>
                <a:gd name="T47" fmla="*/ 50 h 213"/>
                <a:gd name="T48" fmla="*/ 15 w 142"/>
                <a:gd name="T49" fmla="*/ 41 h 213"/>
                <a:gd name="T50" fmla="*/ 18 w 142"/>
                <a:gd name="T51" fmla="*/ 34 h 213"/>
                <a:gd name="T52" fmla="*/ 22 w 142"/>
                <a:gd name="T53" fmla="*/ 28 h 213"/>
                <a:gd name="T54" fmla="*/ 26 w 142"/>
                <a:gd name="T55" fmla="*/ 22 h 213"/>
                <a:gd name="T56" fmla="*/ 31 w 142"/>
                <a:gd name="T57" fmla="*/ 17 h 213"/>
                <a:gd name="T58" fmla="*/ 35 w 142"/>
                <a:gd name="T59" fmla="*/ 13 h 213"/>
                <a:gd name="T60" fmla="*/ 40 w 142"/>
                <a:gd name="T61" fmla="*/ 8 h 213"/>
                <a:gd name="T62" fmla="*/ 45 w 142"/>
                <a:gd name="T63" fmla="*/ 4 h 213"/>
                <a:gd name="T64" fmla="*/ 48 w 142"/>
                <a:gd name="T65" fmla="*/ 1 h 213"/>
                <a:gd name="T66" fmla="*/ 45 w 142"/>
                <a:gd name="T67" fmla="*/ 0 h 213"/>
                <a:gd name="T68" fmla="*/ 39 w 142"/>
                <a:gd name="T69" fmla="*/ 3 h 213"/>
                <a:gd name="T70" fmla="*/ 32 w 142"/>
                <a:gd name="T71" fmla="*/ 8 h 213"/>
                <a:gd name="T72" fmla="*/ 24 w 142"/>
                <a:gd name="T73" fmla="*/ 16 h 213"/>
                <a:gd name="T74" fmla="*/ 16 w 142"/>
                <a:gd name="T75" fmla="*/ 26 h 213"/>
                <a:gd name="T76" fmla="*/ 8 w 142"/>
                <a:gd name="T77" fmla="*/ 36 h 213"/>
                <a:gd name="T78" fmla="*/ 3 w 142"/>
                <a:gd name="T79" fmla="*/ 48 h 213"/>
                <a:gd name="T80" fmla="*/ 0 w 142"/>
                <a:gd name="T81" fmla="*/ 58 h 213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13"/>
                <a:gd name="T125" fmla="*/ 142 w 142"/>
                <a:gd name="T126" fmla="*/ 213 h 213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13">
                  <a:moveTo>
                    <a:pt x="0" y="116"/>
                  </a:moveTo>
                  <a:lnTo>
                    <a:pt x="0" y="134"/>
                  </a:lnTo>
                  <a:lnTo>
                    <a:pt x="6" y="150"/>
                  </a:lnTo>
                  <a:lnTo>
                    <a:pt x="16" y="166"/>
                  </a:lnTo>
                  <a:lnTo>
                    <a:pt x="30" y="179"/>
                  </a:lnTo>
                  <a:lnTo>
                    <a:pt x="48" y="191"/>
                  </a:lnTo>
                  <a:lnTo>
                    <a:pt x="68" y="201"/>
                  </a:lnTo>
                  <a:lnTo>
                    <a:pt x="91" y="208"/>
                  </a:lnTo>
                  <a:lnTo>
                    <a:pt x="115" y="212"/>
                  </a:lnTo>
                  <a:lnTo>
                    <a:pt x="122" y="213"/>
                  </a:lnTo>
                  <a:lnTo>
                    <a:pt x="129" y="211"/>
                  </a:lnTo>
                  <a:lnTo>
                    <a:pt x="135" y="208"/>
                  </a:lnTo>
                  <a:lnTo>
                    <a:pt x="138" y="204"/>
                  </a:lnTo>
                  <a:lnTo>
                    <a:pt x="138" y="199"/>
                  </a:lnTo>
                  <a:lnTo>
                    <a:pt x="137" y="194"/>
                  </a:lnTo>
                  <a:lnTo>
                    <a:pt x="132" y="190"/>
                  </a:lnTo>
                  <a:lnTo>
                    <a:pt x="125" y="188"/>
                  </a:lnTo>
                  <a:lnTo>
                    <a:pt x="102" y="181"/>
                  </a:lnTo>
                  <a:lnTo>
                    <a:pt x="80" y="173"/>
                  </a:lnTo>
                  <a:lnTo>
                    <a:pt x="62" y="162"/>
                  </a:lnTo>
                  <a:lnTo>
                    <a:pt x="49" y="149"/>
                  </a:lnTo>
                  <a:lnTo>
                    <a:pt x="41" y="134"/>
                  </a:lnTo>
                  <a:lnTo>
                    <a:pt x="36" y="117"/>
                  </a:lnTo>
                  <a:lnTo>
                    <a:pt x="36" y="100"/>
                  </a:lnTo>
                  <a:lnTo>
                    <a:pt x="44" y="81"/>
                  </a:lnTo>
                  <a:lnTo>
                    <a:pt x="52" y="68"/>
                  </a:lnTo>
                  <a:lnTo>
                    <a:pt x="64" y="56"/>
                  </a:lnTo>
                  <a:lnTo>
                    <a:pt x="77" y="44"/>
                  </a:lnTo>
                  <a:lnTo>
                    <a:pt x="91" y="34"/>
                  </a:lnTo>
                  <a:lnTo>
                    <a:pt x="105" y="25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70" y="32"/>
                  </a:lnTo>
                  <a:lnTo>
                    <a:pt x="46" y="51"/>
                  </a:lnTo>
                  <a:lnTo>
                    <a:pt x="25" y="72"/>
                  </a:lnTo>
                  <a:lnTo>
                    <a:pt x="9" y="95"/>
                  </a:lnTo>
                  <a:lnTo>
                    <a:pt x="0" y="11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7" name="Freeform 74"/>
            <p:cNvSpPr>
              <a:spLocks/>
            </p:cNvSpPr>
            <p:nvPr/>
          </p:nvSpPr>
          <p:spPr bwMode="auto">
            <a:xfrm>
              <a:off x="5104" y="264"/>
              <a:ext cx="101" cy="139"/>
            </a:xfrm>
            <a:custGeom>
              <a:avLst/>
              <a:gdLst>
                <a:gd name="T0" fmla="*/ 85 w 305"/>
                <a:gd name="T1" fmla="*/ 56 h 279"/>
                <a:gd name="T2" fmla="*/ 90 w 305"/>
                <a:gd name="T3" fmla="*/ 64 h 279"/>
                <a:gd name="T4" fmla="*/ 92 w 305"/>
                <a:gd name="T5" fmla="*/ 74 h 279"/>
                <a:gd name="T6" fmla="*/ 91 w 305"/>
                <a:gd name="T7" fmla="*/ 84 h 279"/>
                <a:gd name="T8" fmla="*/ 85 w 305"/>
                <a:gd name="T9" fmla="*/ 94 h 279"/>
                <a:gd name="T10" fmla="*/ 77 w 305"/>
                <a:gd name="T11" fmla="*/ 102 h 279"/>
                <a:gd name="T12" fmla="*/ 68 w 305"/>
                <a:gd name="T13" fmla="*/ 110 h 279"/>
                <a:gd name="T14" fmla="*/ 59 w 305"/>
                <a:gd name="T15" fmla="*/ 118 h 279"/>
                <a:gd name="T16" fmla="*/ 53 w 305"/>
                <a:gd name="T17" fmla="*/ 125 h 279"/>
                <a:gd name="T18" fmla="*/ 51 w 305"/>
                <a:gd name="T19" fmla="*/ 129 h 279"/>
                <a:gd name="T20" fmla="*/ 49 w 305"/>
                <a:gd name="T21" fmla="*/ 133 h 279"/>
                <a:gd name="T22" fmla="*/ 50 w 305"/>
                <a:gd name="T23" fmla="*/ 137 h 279"/>
                <a:gd name="T24" fmla="*/ 53 w 305"/>
                <a:gd name="T25" fmla="*/ 139 h 279"/>
                <a:gd name="T26" fmla="*/ 57 w 305"/>
                <a:gd name="T27" fmla="*/ 139 h 279"/>
                <a:gd name="T28" fmla="*/ 63 w 305"/>
                <a:gd name="T29" fmla="*/ 131 h 279"/>
                <a:gd name="T30" fmla="*/ 74 w 305"/>
                <a:gd name="T31" fmla="*/ 121 h 279"/>
                <a:gd name="T32" fmla="*/ 85 w 305"/>
                <a:gd name="T33" fmla="*/ 110 h 279"/>
                <a:gd name="T34" fmla="*/ 95 w 305"/>
                <a:gd name="T35" fmla="*/ 98 h 279"/>
                <a:gd name="T36" fmla="*/ 100 w 305"/>
                <a:gd name="T37" fmla="*/ 84 h 279"/>
                <a:gd name="T38" fmla="*/ 99 w 305"/>
                <a:gd name="T39" fmla="*/ 68 h 279"/>
                <a:gd name="T40" fmla="*/ 93 w 305"/>
                <a:gd name="T41" fmla="*/ 54 h 279"/>
                <a:gd name="T42" fmla="*/ 83 w 305"/>
                <a:gd name="T43" fmla="*/ 42 h 279"/>
                <a:gd name="T44" fmla="*/ 73 w 305"/>
                <a:gd name="T45" fmla="*/ 33 h 279"/>
                <a:gd name="T46" fmla="*/ 63 w 305"/>
                <a:gd name="T47" fmla="*/ 27 h 279"/>
                <a:gd name="T48" fmla="*/ 52 w 305"/>
                <a:gd name="T49" fmla="*/ 20 h 279"/>
                <a:gd name="T50" fmla="*/ 40 w 305"/>
                <a:gd name="T51" fmla="*/ 13 h 279"/>
                <a:gd name="T52" fmla="*/ 30 w 305"/>
                <a:gd name="T53" fmla="*/ 7 h 279"/>
                <a:gd name="T54" fmla="*/ 19 w 305"/>
                <a:gd name="T55" fmla="*/ 3 h 279"/>
                <a:gd name="T56" fmla="*/ 10 w 305"/>
                <a:gd name="T57" fmla="*/ 0 h 279"/>
                <a:gd name="T58" fmla="*/ 3 w 305"/>
                <a:gd name="T59" fmla="*/ 0 h 279"/>
                <a:gd name="T60" fmla="*/ 3 w 305"/>
                <a:gd name="T61" fmla="*/ 3 h 279"/>
                <a:gd name="T62" fmla="*/ 12 w 305"/>
                <a:gd name="T63" fmla="*/ 6 h 279"/>
                <a:gd name="T64" fmla="*/ 21 w 305"/>
                <a:gd name="T65" fmla="*/ 11 h 279"/>
                <a:gd name="T66" fmla="*/ 32 w 305"/>
                <a:gd name="T67" fmla="*/ 16 h 279"/>
                <a:gd name="T68" fmla="*/ 44 w 305"/>
                <a:gd name="T69" fmla="*/ 23 h 279"/>
                <a:gd name="T70" fmla="*/ 55 w 305"/>
                <a:gd name="T71" fmla="*/ 31 h 279"/>
                <a:gd name="T72" fmla="*/ 67 w 305"/>
                <a:gd name="T73" fmla="*/ 39 h 279"/>
                <a:gd name="T74" fmla="*/ 77 w 305"/>
                <a:gd name="T75" fmla="*/ 47 h 279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5"/>
                <a:gd name="T115" fmla="*/ 0 h 279"/>
                <a:gd name="T116" fmla="*/ 305 w 305"/>
                <a:gd name="T117" fmla="*/ 279 h 279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5" h="279">
                  <a:moveTo>
                    <a:pt x="247" y="104"/>
                  </a:moveTo>
                  <a:lnTo>
                    <a:pt x="257" y="112"/>
                  </a:lnTo>
                  <a:lnTo>
                    <a:pt x="266" y="120"/>
                  </a:lnTo>
                  <a:lnTo>
                    <a:pt x="271" y="129"/>
                  </a:lnTo>
                  <a:lnTo>
                    <a:pt x="277" y="138"/>
                  </a:lnTo>
                  <a:lnTo>
                    <a:pt x="279" y="148"/>
                  </a:lnTo>
                  <a:lnTo>
                    <a:pt x="279" y="158"/>
                  </a:lnTo>
                  <a:lnTo>
                    <a:pt x="274" y="168"/>
                  </a:lnTo>
                  <a:lnTo>
                    <a:pt x="268" y="178"/>
                  </a:lnTo>
                  <a:lnTo>
                    <a:pt x="258" y="188"/>
                  </a:lnTo>
                  <a:lnTo>
                    <a:pt x="247" y="197"/>
                  </a:lnTo>
                  <a:lnTo>
                    <a:pt x="234" y="205"/>
                  </a:lnTo>
                  <a:lnTo>
                    <a:pt x="219" y="214"/>
                  </a:lnTo>
                  <a:lnTo>
                    <a:pt x="206" y="221"/>
                  </a:lnTo>
                  <a:lnTo>
                    <a:pt x="191" y="229"/>
                  </a:lnTo>
                  <a:lnTo>
                    <a:pt x="177" y="237"/>
                  </a:lnTo>
                  <a:lnTo>
                    <a:pt x="164" y="247"/>
                  </a:lnTo>
                  <a:lnTo>
                    <a:pt x="160" y="250"/>
                  </a:lnTo>
                  <a:lnTo>
                    <a:pt x="157" y="254"/>
                  </a:lnTo>
                  <a:lnTo>
                    <a:pt x="154" y="258"/>
                  </a:lnTo>
                  <a:lnTo>
                    <a:pt x="151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5"/>
                  </a:lnTo>
                  <a:lnTo>
                    <a:pt x="155" y="278"/>
                  </a:lnTo>
                  <a:lnTo>
                    <a:pt x="161" y="279"/>
                  </a:lnTo>
                  <a:lnTo>
                    <a:pt x="167" y="279"/>
                  </a:lnTo>
                  <a:lnTo>
                    <a:pt x="173" y="278"/>
                  </a:lnTo>
                  <a:lnTo>
                    <a:pt x="177" y="275"/>
                  </a:lnTo>
                  <a:lnTo>
                    <a:pt x="191" y="263"/>
                  </a:lnTo>
                  <a:lnTo>
                    <a:pt x="207" y="252"/>
                  </a:lnTo>
                  <a:lnTo>
                    <a:pt x="223" y="242"/>
                  </a:lnTo>
                  <a:lnTo>
                    <a:pt x="241" y="231"/>
                  </a:lnTo>
                  <a:lnTo>
                    <a:pt x="257" y="221"/>
                  </a:lnTo>
                  <a:lnTo>
                    <a:pt x="271" y="210"/>
                  </a:lnTo>
                  <a:lnTo>
                    <a:pt x="286" y="197"/>
                  </a:lnTo>
                  <a:lnTo>
                    <a:pt x="296" y="184"/>
                  </a:lnTo>
                  <a:lnTo>
                    <a:pt x="303" y="168"/>
                  </a:lnTo>
                  <a:lnTo>
                    <a:pt x="305" y="153"/>
                  </a:lnTo>
                  <a:lnTo>
                    <a:pt x="300" y="137"/>
                  </a:lnTo>
                  <a:lnTo>
                    <a:pt x="293" y="123"/>
                  </a:lnTo>
                  <a:lnTo>
                    <a:pt x="282" y="109"/>
                  </a:lnTo>
                  <a:lnTo>
                    <a:pt x="267" y="96"/>
                  </a:lnTo>
                  <a:lnTo>
                    <a:pt x="250" y="85"/>
                  </a:lnTo>
                  <a:lnTo>
                    <a:pt x="232" y="75"/>
                  </a:lnTo>
                  <a:lnTo>
                    <a:pt x="219" y="67"/>
                  </a:lnTo>
                  <a:lnTo>
                    <a:pt x="205" y="61"/>
                  </a:lnTo>
                  <a:lnTo>
                    <a:pt x="189" y="54"/>
                  </a:lnTo>
                  <a:lnTo>
                    <a:pt x="173" y="47"/>
                  </a:lnTo>
                  <a:lnTo>
                    <a:pt x="157" y="40"/>
                  </a:lnTo>
                  <a:lnTo>
                    <a:pt x="139" y="32"/>
                  </a:lnTo>
                  <a:lnTo>
                    <a:pt x="122" y="26"/>
                  </a:lnTo>
                  <a:lnTo>
                    <a:pt x="106" y="20"/>
                  </a:lnTo>
                  <a:lnTo>
                    <a:pt x="90" y="15"/>
                  </a:lnTo>
                  <a:lnTo>
                    <a:pt x="74" y="10"/>
                  </a:lnTo>
                  <a:lnTo>
                    <a:pt x="58" y="7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8" y="1"/>
                  </a:lnTo>
                  <a:lnTo>
                    <a:pt x="0" y="3"/>
                  </a:lnTo>
                  <a:lnTo>
                    <a:pt x="10" y="6"/>
                  </a:lnTo>
                  <a:lnTo>
                    <a:pt x="21" y="9"/>
                  </a:lnTo>
                  <a:lnTo>
                    <a:pt x="35" y="13"/>
                  </a:lnTo>
                  <a:lnTo>
                    <a:pt x="48" y="17"/>
                  </a:lnTo>
                  <a:lnTo>
                    <a:pt x="64" y="22"/>
                  </a:lnTo>
                  <a:lnTo>
                    <a:pt x="80" y="27"/>
                  </a:lnTo>
                  <a:lnTo>
                    <a:pt x="97" y="33"/>
                  </a:lnTo>
                  <a:lnTo>
                    <a:pt x="114" y="40"/>
                  </a:lnTo>
                  <a:lnTo>
                    <a:pt x="132" y="47"/>
                  </a:lnTo>
                  <a:lnTo>
                    <a:pt x="149" y="54"/>
                  </a:lnTo>
                  <a:lnTo>
                    <a:pt x="167" y="62"/>
                  </a:lnTo>
                  <a:lnTo>
                    <a:pt x="184" y="70"/>
                  </a:lnTo>
                  <a:lnTo>
                    <a:pt x="202" y="79"/>
                  </a:lnTo>
                  <a:lnTo>
                    <a:pt x="218" y="87"/>
                  </a:lnTo>
                  <a:lnTo>
                    <a:pt x="232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8" name="Freeform 75"/>
            <p:cNvSpPr>
              <a:spLocks/>
            </p:cNvSpPr>
            <p:nvPr/>
          </p:nvSpPr>
          <p:spPr bwMode="auto">
            <a:xfrm>
              <a:off x="4976" y="382"/>
              <a:ext cx="18" cy="42"/>
            </a:xfrm>
            <a:custGeom>
              <a:avLst/>
              <a:gdLst>
                <a:gd name="T0" fmla="*/ 9 w 54"/>
                <a:gd name="T1" fmla="*/ 5 h 85"/>
                <a:gd name="T2" fmla="*/ 9 w 54"/>
                <a:gd name="T3" fmla="*/ 3 h 85"/>
                <a:gd name="T4" fmla="*/ 7 w 54"/>
                <a:gd name="T5" fmla="*/ 1 h 85"/>
                <a:gd name="T6" fmla="*/ 6 w 54"/>
                <a:gd name="T7" fmla="*/ 0 h 85"/>
                <a:gd name="T8" fmla="*/ 4 w 54"/>
                <a:gd name="T9" fmla="*/ 0 h 85"/>
                <a:gd name="T10" fmla="*/ 3 w 54"/>
                <a:gd name="T11" fmla="*/ 0 h 85"/>
                <a:gd name="T12" fmla="*/ 1 w 54"/>
                <a:gd name="T13" fmla="*/ 1 h 85"/>
                <a:gd name="T14" fmla="*/ 0 w 54"/>
                <a:gd name="T15" fmla="*/ 3 h 85"/>
                <a:gd name="T16" fmla="*/ 0 w 54"/>
                <a:gd name="T17" fmla="*/ 5 h 85"/>
                <a:gd name="T18" fmla="*/ 0 w 54"/>
                <a:gd name="T19" fmla="*/ 11 h 85"/>
                <a:gd name="T20" fmla="*/ 2 w 54"/>
                <a:gd name="T21" fmla="*/ 17 h 85"/>
                <a:gd name="T22" fmla="*/ 4 w 54"/>
                <a:gd name="T23" fmla="*/ 23 h 85"/>
                <a:gd name="T24" fmla="*/ 6 w 54"/>
                <a:gd name="T25" fmla="*/ 29 h 85"/>
                <a:gd name="T26" fmla="*/ 9 w 54"/>
                <a:gd name="T27" fmla="*/ 35 h 85"/>
                <a:gd name="T28" fmla="*/ 12 w 54"/>
                <a:gd name="T29" fmla="*/ 39 h 85"/>
                <a:gd name="T30" fmla="*/ 15 w 54"/>
                <a:gd name="T31" fmla="*/ 42 h 85"/>
                <a:gd name="T32" fmla="*/ 18 w 54"/>
                <a:gd name="T33" fmla="*/ 42 h 85"/>
                <a:gd name="T34" fmla="*/ 18 w 54"/>
                <a:gd name="T35" fmla="*/ 34 h 85"/>
                <a:gd name="T36" fmla="*/ 16 w 54"/>
                <a:gd name="T37" fmla="*/ 24 h 85"/>
                <a:gd name="T38" fmla="*/ 13 w 54"/>
                <a:gd name="T39" fmla="*/ 14 h 85"/>
                <a:gd name="T40" fmla="*/ 9 w 54"/>
                <a:gd name="T41" fmla="*/ 5 h 85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5"/>
                <a:gd name="T65" fmla="*/ 54 w 54"/>
                <a:gd name="T66" fmla="*/ 85 h 85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5">
                  <a:moveTo>
                    <a:pt x="28" y="10"/>
                  </a:moveTo>
                  <a:lnTo>
                    <a:pt x="27" y="6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7"/>
                  </a:lnTo>
                  <a:lnTo>
                    <a:pt x="0" y="11"/>
                  </a:lnTo>
                  <a:lnTo>
                    <a:pt x="0" y="22"/>
                  </a:lnTo>
                  <a:lnTo>
                    <a:pt x="5" y="34"/>
                  </a:lnTo>
                  <a:lnTo>
                    <a:pt x="11" y="47"/>
                  </a:lnTo>
                  <a:lnTo>
                    <a:pt x="18" y="59"/>
                  </a:lnTo>
                  <a:lnTo>
                    <a:pt x="27" y="70"/>
                  </a:lnTo>
                  <a:lnTo>
                    <a:pt x="35" y="79"/>
                  </a:lnTo>
                  <a:lnTo>
                    <a:pt x="46" y="84"/>
                  </a:lnTo>
                  <a:lnTo>
                    <a:pt x="53" y="85"/>
                  </a:lnTo>
                  <a:lnTo>
                    <a:pt x="54" y="68"/>
                  </a:lnTo>
                  <a:lnTo>
                    <a:pt x="47" y="49"/>
                  </a:lnTo>
                  <a:lnTo>
                    <a:pt x="38" y="29"/>
                  </a:lnTo>
                  <a:lnTo>
                    <a:pt x="28" y="1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59" name="Freeform 76"/>
            <p:cNvSpPr>
              <a:spLocks/>
            </p:cNvSpPr>
            <p:nvPr/>
          </p:nvSpPr>
          <p:spPr bwMode="auto">
            <a:xfrm>
              <a:off x="4962" y="351"/>
              <a:ext cx="15" cy="24"/>
            </a:xfrm>
            <a:custGeom>
              <a:avLst/>
              <a:gdLst>
                <a:gd name="T0" fmla="*/ 8 w 46"/>
                <a:gd name="T1" fmla="*/ 3 h 48"/>
                <a:gd name="T2" fmla="*/ 8 w 46"/>
                <a:gd name="T3" fmla="*/ 3 h 48"/>
                <a:gd name="T4" fmla="*/ 8 w 46"/>
                <a:gd name="T5" fmla="*/ 3 h 48"/>
                <a:gd name="T6" fmla="*/ 8 w 46"/>
                <a:gd name="T7" fmla="*/ 3 h 48"/>
                <a:gd name="T8" fmla="*/ 8 w 46"/>
                <a:gd name="T9" fmla="*/ 3 h 48"/>
                <a:gd name="T10" fmla="*/ 8 w 46"/>
                <a:gd name="T11" fmla="*/ 2 h 48"/>
                <a:gd name="T12" fmla="*/ 6 w 46"/>
                <a:gd name="T13" fmla="*/ 1 h 48"/>
                <a:gd name="T14" fmla="*/ 5 w 46"/>
                <a:gd name="T15" fmla="*/ 0 h 48"/>
                <a:gd name="T16" fmla="*/ 3 w 46"/>
                <a:gd name="T17" fmla="*/ 0 h 48"/>
                <a:gd name="T18" fmla="*/ 1 w 46"/>
                <a:gd name="T19" fmla="*/ 1 h 48"/>
                <a:gd name="T20" fmla="*/ 0 w 46"/>
                <a:gd name="T21" fmla="*/ 2 h 48"/>
                <a:gd name="T22" fmla="*/ 0 w 46"/>
                <a:gd name="T23" fmla="*/ 3 h 48"/>
                <a:gd name="T24" fmla="*/ 0 w 46"/>
                <a:gd name="T25" fmla="*/ 5 h 48"/>
                <a:gd name="T26" fmla="*/ 0 w 46"/>
                <a:gd name="T27" fmla="*/ 7 h 48"/>
                <a:gd name="T28" fmla="*/ 1 w 46"/>
                <a:gd name="T29" fmla="*/ 11 h 48"/>
                <a:gd name="T30" fmla="*/ 3 w 46"/>
                <a:gd name="T31" fmla="*/ 14 h 48"/>
                <a:gd name="T32" fmla="*/ 6 w 46"/>
                <a:gd name="T33" fmla="*/ 18 h 48"/>
                <a:gd name="T34" fmla="*/ 8 w 46"/>
                <a:gd name="T35" fmla="*/ 21 h 48"/>
                <a:gd name="T36" fmla="*/ 11 w 46"/>
                <a:gd name="T37" fmla="*/ 23 h 48"/>
                <a:gd name="T38" fmla="*/ 13 w 46"/>
                <a:gd name="T39" fmla="*/ 24 h 48"/>
                <a:gd name="T40" fmla="*/ 15 w 46"/>
                <a:gd name="T41" fmla="*/ 24 h 48"/>
                <a:gd name="T42" fmla="*/ 15 w 46"/>
                <a:gd name="T43" fmla="*/ 19 h 48"/>
                <a:gd name="T44" fmla="*/ 13 w 46"/>
                <a:gd name="T45" fmla="*/ 12 h 48"/>
                <a:gd name="T46" fmla="*/ 10 w 46"/>
                <a:gd name="T47" fmla="*/ 7 h 48"/>
                <a:gd name="T48" fmla="*/ 8 w 46"/>
                <a:gd name="T49" fmla="*/ 3 h 4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8"/>
                <a:gd name="T77" fmla="*/ 46 w 46"/>
                <a:gd name="T78" fmla="*/ 48 h 4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8">
                  <a:moveTo>
                    <a:pt x="25" y="6"/>
                  </a:moveTo>
                  <a:lnTo>
                    <a:pt x="25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9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5"/>
                  </a:lnTo>
                  <a:lnTo>
                    <a:pt x="25" y="41"/>
                  </a:lnTo>
                  <a:lnTo>
                    <a:pt x="33" y="45"/>
                  </a:lnTo>
                  <a:lnTo>
                    <a:pt x="41" y="48"/>
                  </a:lnTo>
                  <a:lnTo>
                    <a:pt x="46" y="48"/>
                  </a:lnTo>
                  <a:lnTo>
                    <a:pt x="45" y="38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5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0" name="Freeform 77"/>
            <p:cNvSpPr>
              <a:spLocks/>
            </p:cNvSpPr>
            <p:nvPr/>
          </p:nvSpPr>
          <p:spPr bwMode="auto">
            <a:xfrm>
              <a:off x="4949" y="331"/>
              <a:ext cx="21" cy="16"/>
            </a:xfrm>
            <a:custGeom>
              <a:avLst/>
              <a:gdLst>
                <a:gd name="T0" fmla="*/ 16 w 64"/>
                <a:gd name="T1" fmla="*/ 12 h 32"/>
                <a:gd name="T2" fmla="*/ 18 w 64"/>
                <a:gd name="T3" fmla="*/ 11 h 32"/>
                <a:gd name="T4" fmla="*/ 20 w 64"/>
                <a:gd name="T5" fmla="*/ 9 h 32"/>
                <a:gd name="T6" fmla="*/ 21 w 64"/>
                <a:gd name="T7" fmla="*/ 7 h 32"/>
                <a:gd name="T8" fmla="*/ 21 w 64"/>
                <a:gd name="T9" fmla="*/ 5 h 32"/>
                <a:gd name="T10" fmla="*/ 20 w 64"/>
                <a:gd name="T11" fmla="*/ 3 h 32"/>
                <a:gd name="T12" fmla="*/ 18 w 64"/>
                <a:gd name="T13" fmla="*/ 1 h 32"/>
                <a:gd name="T14" fmla="*/ 16 w 64"/>
                <a:gd name="T15" fmla="*/ 0 h 32"/>
                <a:gd name="T16" fmla="*/ 14 w 64"/>
                <a:gd name="T17" fmla="*/ 0 h 32"/>
                <a:gd name="T18" fmla="*/ 13 w 64"/>
                <a:gd name="T19" fmla="*/ 0 h 32"/>
                <a:gd name="T20" fmla="*/ 11 w 64"/>
                <a:gd name="T21" fmla="*/ 1 h 32"/>
                <a:gd name="T22" fmla="*/ 9 w 64"/>
                <a:gd name="T23" fmla="*/ 1 h 32"/>
                <a:gd name="T24" fmla="*/ 5 w 64"/>
                <a:gd name="T25" fmla="*/ 4 h 32"/>
                <a:gd name="T26" fmla="*/ 2 w 64"/>
                <a:gd name="T27" fmla="*/ 7 h 32"/>
                <a:gd name="T28" fmla="*/ 1 w 64"/>
                <a:gd name="T29" fmla="*/ 10 h 32"/>
                <a:gd name="T30" fmla="*/ 0 w 64"/>
                <a:gd name="T31" fmla="*/ 13 h 32"/>
                <a:gd name="T32" fmla="*/ 0 w 64"/>
                <a:gd name="T33" fmla="*/ 14 h 32"/>
                <a:gd name="T34" fmla="*/ 1 w 64"/>
                <a:gd name="T35" fmla="*/ 15 h 32"/>
                <a:gd name="T36" fmla="*/ 3 w 64"/>
                <a:gd name="T37" fmla="*/ 16 h 32"/>
                <a:gd name="T38" fmla="*/ 5 w 64"/>
                <a:gd name="T39" fmla="*/ 16 h 32"/>
                <a:gd name="T40" fmla="*/ 7 w 64"/>
                <a:gd name="T41" fmla="*/ 16 h 32"/>
                <a:gd name="T42" fmla="*/ 10 w 64"/>
                <a:gd name="T43" fmla="*/ 15 h 32"/>
                <a:gd name="T44" fmla="*/ 12 w 64"/>
                <a:gd name="T45" fmla="*/ 14 h 32"/>
                <a:gd name="T46" fmla="*/ 14 w 64"/>
                <a:gd name="T47" fmla="*/ 13 h 32"/>
                <a:gd name="T48" fmla="*/ 16 w 64"/>
                <a:gd name="T49" fmla="*/ 12 h 3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4"/>
                <a:gd name="T76" fmla="*/ 0 h 32"/>
                <a:gd name="T77" fmla="*/ 64 w 64"/>
                <a:gd name="T78" fmla="*/ 32 h 32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4" h="32">
                  <a:moveTo>
                    <a:pt x="50" y="24"/>
                  </a:moveTo>
                  <a:lnTo>
                    <a:pt x="56" y="22"/>
                  </a:lnTo>
                  <a:lnTo>
                    <a:pt x="62" y="19"/>
                  </a:lnTo>
                  <a:lnTo>
                    <a:pt x="64" y="15"/>
                  </a:lnTo>
                  <a:lnTo>
                    <a:pt x="64" y="11"/>
                  </a:lnTo>
                  <a:lnTo>
                    <a:pt x="61" y="6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5" y="1"/>
                  </a:lnTo>
                  <a:lnTo>
                    <a:pt x="26" y="3"/>
                  </a:lnTo>
                  <a:lnTo>
                    <a:pt x="16" y="8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0" y="26"/>
                  </a:lnTo>
                  <a:lnTo>
                    <a:pt x="0" y="28"/>
                  </a:lnTo>
                  <a:lnTo>
                    <a:pt x="4" y="30"/>
                  </a:lnTo>
                  <a:lnTo>
                    <a:pt x="10" y="32"/>
                  </a:lnTo>
                  <a:lnTo>
                    <a:pt x="16" y="32"/>
                  </a:lnTo>
                  <a:lnTo>
                    <a:pt x="21" y="32"/>
                  </a:lnTo>
                  <a:lnTo>
                    <a:pt x="29" y="30"/>
                  </a:lnTo>
                  <a:lnTo>
                    <a:pt x="36" y="29"/>
                  </a:lnTo>
                  <a:lnTo>
                    <a:pt x="43" y="27"/>
                  </a:lnTo>
                  <a:lnTo>
                    <a:pt x="50" y="2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1" name="Freeform 78"/>
            <p:cNvSpPr>
              <a:spLocks/>
            </p:cNvSpPr>
            <p:nvPr/>
          </p:nvSpPr>
          <p:spPr bwMode="auto">
            <a:xfrm>
              <a:off x="4849" y="304"/>
              <a:ext cx="82" cy="106"/>
            </a:xfrm>
            <a:custGeom>
              <a:avLst/>
              <a:gdLst>
                <a:gd name="T0" fmla="*/ 30 w 246"/>
                <a:gd name="T1" fmla="*/ 16 h 211"/>
                <a:gd name="T2" fmla="*/ 24 w 246"/>
                <a:gd name="T3" fmla="*/ 21 h 211"/>
                <a:gd name="T4" fmla="*/ 19 w 246"/>
                <a:gd name="T5" fmla="*/ 26 h 211"/>
                <a:gd name="T6" fmla="*/ 14 w 246"/>
                <a:gd name="T7" fmla="*/ 32 h 211"/>
                <a:gd name="T8" fmla="*/ 9 w 246"/>
                <a:gd name="T9" fmla="*/ 38 h 211"/>
                <a:gd name="T10" fmla="*/ 6 w 246"/>
                <a:gd name="T11" fmla="*/ 45 h 211"/>
                <a:gd name="T12" fmla="*/ 3 w 246"/>
                <a:gd name="T13" fmla="*/ 52 h 211"/>
                <a:gd name="T14" fmla="*/ 1 w 246"/>
                <a:gd name="T15" fmla="*/ 58 h 211"/>
                <a:gd name="T16" fmla="*/ 0 w 246"/>
                <a:gd name="T17" fmla="*/ 66 h 211"/>
                <a:gd name="T18" fmla="*/ 1 w 246"/>
                <a:gd name="T19" fmla="*/ 76 h 211"/>
                <a:gd name="T20" fmla="*/ 5 w 246"/>
                <a:gd name="T21" fmla="*/ 85 h 211"/>
                <a:gd name="T22" fmla="*/ 11 w 246"/>
                <a:gd name="T23" fmla="*/ 93 h 211"/>
                <a:gd name="T24" fmla="*/ 18 w 246"/>
                <a:gd name="T25" fmla="*/ 99 h 211"/>
                <a:gd name="T26" fmla="*/ 27 w 246"/>
                <a:gd name="T27" fmla="*/ 103 h 211"/>
                <a:gd name="T28" fmla="*/ 36 w 246"/>
                <a:gd name="T29" fmla="*/ 105 h 211"/>
                <a:gd name="T30" fmla="*/ 46 w 246"/>
                <a:gd name="T31" fmla="*/ 106 h 211"/>
                <a:gd name="T32" fmla="*/ 55 w 246"/>
                <a:gd name="T33" fmla="*/ 104 h 211"/>
                <a:gd name="T34" fmla="*/ 57 w 246"/>
                <a:gd name="T35" fmla="*/ 104 h 211"/>
                <a:gd name="T36" fmla="*/ 59 w 246"/>
                <a:gd name="T37" fmla="*/ 103 h 211"/>
                <a:gd name="T38" fmla="*/ 60 w 246"/>
                <a:gd name="T39" fmla="*/ 101 h 211"/>
                <a:gd name="T40" fmla="*/ 61 w 246"/>
                <a:gd name="T41" fmla="*/ 99 h 211"/>
                <a:gd name="T42" fmla="*/ 60 w 246"/>
                <a:gd name="T43" fmla="*/ 98 h 211"/>
                <a:gd name="T44" fmla="*/ 59 w 246"/>
                <a:gd name="T45" fmla="*/ 98 h 211"/>
                <a:gd name="T46" fmla="*/ 57 w 246"/>
                <a:gd name="T47" fmla="*/ 98 h 211"/>
                <a:gd name="T48" fmla="*/ 54 w 246"/>
                <a:gd name="T49" fmla="*/ 98 h 211"/>
                <a:gd name="T50" fmla="*/ 51 w 246"/>
                <a:gd name="T51" fmla="*/ 98 h 211"/>
                <a:gd name="T52" fmla="*/ 49 w 246"/>
                <a:gd name="T53" fmla="*/ 98 h 211"/>
                <a:gd name="T54" fmla="*/ 47 w 246"/>
                <a:gd name="T55" fmla="*/ 98 h 211"/>
                <a:gd name="T56" fmla="*/ 45 w 246"/>
                <a:gd name="T57" fmla="*/ 98 h 211"/>
                <a:gd name="T58" fmla="*/ 40 w 246"/>
                <a:gd name="T59" fmla="*/ 97 h 211"/>
                <a:gd name="T60" fmla="*/ 36 w 246"/>
                <a:gd name="T61" fmla="*/ 97 h 211"/>
                <a:gd name="T62" fmla="*/ 31 w 246"/>
                <a:gd name="T63" fmla="*/ 96 h 211"/>
                <a:gd name="T64" fmla="*/ 26 w 246"/>
                <a:gd name="T65" fmla="*/ 94 h 211"/>
                <a:gd name="T66" fmla="*/ 21 w 246"/>
                <a:gd name="T67" fmla="*/ 93 h 211"/>
                <a:gd name="T68" fmla="*/ 17 w 246"/>
                <a:gd name="T69" fmla="*/ 89 h 211"/>
                <a:gd name="T70" fmla="*/ 12 w 246"/>
                <a:gd name="T71" fmla="*/ 85 h 211"/>
                <a:gd name="T72" fmla="*/ 7 w 246"/>
                <a:gd name="T73" fmla="*/ 78 h 211"/>
                <a:gd name="T74" fmla="*/ 6 w 246"/>
                <a:gd name="T75" fmla="*/ 70 h 211"/>
                <a:gd name="T76" fmla="*/ 7 w 246"/>
                <a:gd name="T77" fmla="*/ 63 h 211"/>
                <a:gd name="T78" fmla="*/ 9 w 246"/>
                <a:gd name="T79" fmla="*/ 56 h 211"/>
                <a:gd name="T80" fmla="*/ 12 w 246"/>
                <a:gd name="T81" fmla="*/ 49 h 211"/>
                <a:gd name="T82" fmla="*/ 16 w 246"/>
                <a:gd name="T83" fmla="*/ 43 h 211"/>
                <a:gd name="T84" fmla="*/ 21 w 246"/>
                <a:gd name="T85" fmla="*/ 37 h 211"/>
                <a:gd name="T86" fmla="*/ 26 w 246"/>
                <a:gd name="T87" fmla="*/ 32 h 211"/>
                <a:gd name="T88" fmla="*/ 33 w 246"/>
                <a:gd name="T89" fmla="*/ 26 h 211"/>
                <a:gd name="T90" fmla="*/ 39 w 246"/>
                <a:gd name="T91" fmla="*/ 22 h 211"/>
                <a:gd name="T92" fmla="*/ 46 w 246"/>
                <a:gd name="T93" fmla="*/ 18 h 211"/>
                <a:gd name="T94" fmla="*/ 52 w 246"/>
                <a:gd name="T95" fmla="*/ 14 h 211"/>
                <a:gd name="T96" fmla="*/ 59 w 246"/>
                <a:gd name="T97" fmla="*/ 11 h 211"/>
                <a:gd name="T98" fmla="*/ 65 w 246"/>
                <a:gd name="T99" fmla="*/ 8 h 211"/>
                <a:gd name="T100" fmla="*/ 71 w 246"/>
                <a:gd name="T101" fmla="*/ 6 h 211"/>
                <a:gd name="T102" fmla="*/ 77 w 246"/>
                <a:gd name="T103" fmla="*/ 4 h 211"/>
                <a:gd name="T104" fmla="*/ 82 w 246"/>
                <a:gd name="T105" fmla="*/ 3 h 211"/>
                <a:gd name="T106" fmla="*/ 79 w 246"/>
                <a:gd name="T107" fmla="*/ 1 h 211"/>
                <a:gd name="T108" fmla="*/ 73 w 246"/>
                <a:gd name="T109" fmla="*/ 0 h 211"/>
                <a:gd name="T110" fmla="*/ 67 w 246"/>
                <a:gd name="T111" fmla="*/ 1 h 211"/>
                <a:gd name="T112" fmla="*/ 60 w 246"/>
                <a:gd name="T113" fmla="*/ 3 h 211"/>
                <a:gd name="T114" fmla="*/ 51 w 246"/>
                <a:gd name="T115" fmla="*/ 5 h 211"/>
                <a:gd name="T116" fmla="*/ 44 w 246"/>
                <a:gd name="T117" fmla="*/ 8 h 211"/>
                <a:gd name="T118" fmla="*/ 36 w 246"/>
                <a:gd name="T119" fmla="*/ 12 h 211"/>
                <a:gd name="T120" fmla="*/ 30 w 246"/>
                <a:gd name="T121" fmla="*/ 16 h 21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6"/>
                <a:gd name="T184" fmla="*/ 0 h 211"/>
                <a:gd name="T185" fmla="*/ 246 w 246"/>
                <a:gd name="T186" fmla="*/ 211 h 21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6" h="211">
                  <a:moveTo>
                    <a:pt x="90" y="32"/>
                  </a:moveTo>
                  <a:lnTo>
                    <a:pt x="73" y="41"/>
                  </a:lnTo>
                  <a:lnTo>
                    <a:pt x="57" y="51"/>
                  </a:lnTo>
                  <a:lnTo>
                    <a:pt x="41" y="64"/>
                  </a:lnTo>
                  <a:lnTo>
                    <a:pt x="28" y="76"/>
                  </a:lnTo>
                  <a:lnTo>
                    <a:pt x="18" y="89"/>
                  </a:lnTo>
                  <a:lnTo>
                    <a:pt x="9" y="103"/>
                  </a:lnTo>
                  <a:lnTo>
                    <a:pt x="3" y="116"/>
                  </a:lnTo>
                  <a:lnTo>
                    <a:pt x="0" y="131"/>
                  </a:lnTo>
                  <a:lnTo>
                    <a:pt x="3" y="152"/>
                  </a:lnTo>
                  <a:lnTo>
                    <a:pt x="15" y="170"/>
                  </a:lnTo>
                  <a:lnTo>
                    <a:pt x="32" y="185"/>
                  </a:lnTo>
                  <a:lnTo>
                    <a:pt x="54" y="197"/>
                  </a:lnTo>
                  <a:lnTo>
                    <a:pt x="80" y="205"/>
                  </a:lnTo>
                  <a:lnTo>
                    <a:pt x="109" y="210"/>
                  </a:lnTo>
                  <a:lnTo>
                    <a:pt x="137" y="211"/>
                  </a:lnTo>
                  <a:lnTo>
                    <a:pt x="164" y="208"/>
                  </a:lnTo>
                  <a:lnTo>
                    <a:pt x="170" y="208"/>
                  </a:lnTo>
                  <a:lnTo>
                    <a:pt x="176" y="206"/>
                  </a:lnTo>
                  <a:lnTo>
                    <a:pt x="180" y="202"/>
                  </a:lnTo>
                  <a:lnTo>
                    <a:pt x="182" y="198"/>
                  </a:lnTo>
                  <a:lnTo>
                    <a:pt x="180" y="196"/>
                  </a:lnTo>
                  <a:lnTo>
                    <a:pt x="176" y="196"/>
                  </a:lnTo>
                  <a:lnTo>
                    <a:pt x="170" y="195"/>
                  </a:lnTo>
                  <a:lnTo>
                    <a:pt x="163" y="195"/>
                  </a:lnTo>
                  <a:lnTo>
                    <a:pt x="154" y="195"/>
                  </a:lnTo>
                  <a:lnTo>
                    <a:pt x="147" y="195"/>
                  </a:lnTo>
                  <a:lnTo>
                    <a:pt x="140" y="195"/>
                  </a:lnTo>
                  <a:lnTo>
                    <a:pt x="135" y="195"/>
                  </a:lnTo>
                  <a:lnTo>
                    <a:pt x="121" y="194"/>
                  </a:lnTo>
                  <a:lnTo>
                    <a:pt x="108" y="193"/>
                  </a:lnTo>
                  <a:lnTo>
                    <a:pt x="93" y="191"/>
                  </a:lnTo>
                  <a:lnTo>
                    <a:pt x="79" y="188"/>
                  </a:lnTo>
                  <a:lnTo>
                    <a:pt x="64" y="185"/>
                  </a:lnTo>
                  <a:lnTo>
                    <a:pt x="50" y="178"/>
                  </a:lnTo>
                  <a:lnTo>
                    <a:pt x="37" y="169"/>
                  </a:lnTo>
                  <a:lnTo>
                    <a:pt x="22" y="155"/>
                  </a:lnTo>
                  <a:lnTo>
                    <a:pt x="19" y="140"/>
                  </a:lnTo>
                  <a:lnTo>
                    <a:pt x="21" y="126"/>
                  </a:lnTo>
                  <a:lnTo>
                    <a:pt x="26" y="111"/>
                  </a:lnTo>
                  <a:lnTo>
                    <a:pt x="35" y="98"/>
                  </a:lnTo>
                  <a:lnTo>
                    <a:pt x="48" y="85"/>
                  </a:lnTo>
                  <a:lnTo>
                    <a:pt x="63" y="73"/>
                  </a:lnTo>
                  <a:lnTo>
                    <a:pt x="79" y="63"/>
                  </a:lnTo>
                  <a:lnTo>
                    <a:pt x="98" y="52"/>
                  </a:lnTo>
                  <a:lnTo>
                    <a:pt x="117" y="43"/>
                  </a:lnTo>
                  <a:lnTo>
                    <a:pt x="137" y="35"/>
                  </a:lnTo>
                  <a:lnTo>
                    <a:pt x="157" y="28"/>
                  </a:lnTo>
                  <a:lnTo>
                    <a:pt x="176" y="21"/>
                  </a:lnTo>
                  <a:lnTo>
                    <a:pt x="196" y="16"/>
                  </a:lnTo>
                  <a:lnTo>
                    <a:pt x="214" y="11"/>
                  </a:lnTo>
                  <a:lnTo>
                    <a:pt x="231" y="8"/>
                  </a:lnTo>
                  <a:lnTo>
                    <a:pt x="246" y="6"/>
                  </a:lnTo>
                  <a:lnTo>
                    <a:pt x="236" y="2"/>
                  </a:lnTo>
                  <a:lnTo>
                    <a:pt x="220" y="0"/>
                  </a:lnTo>
                  <a:lnTo>
                    <a:pt x="201" y="2"/>
                  </a:lnTo>
                  <a:lnTo>
                    <a:pt x="179" y="5"/>
                  </a:lnTo>
                  <a:lnTo>
                    <a:pt x="154" y="10"/>
                  </a:lnTo>
                  <a:lnTo>
                    <a:pt x="131" y="16"/>
                  </a:lnTo>
                  <a:lnTo>
                    <a:pt x="109" y="24"/>
                  </a:lnTo>
                  <a:lnTo>
                    <a:pt x="90" y="3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2" name="Freeform 79"/>
            <p:cNvSpPr>
              <a:spLocks/>
            </p:cNvSpPr>
            <p:nvPr/>
          </p:nvSpPr>
          <p:spPr bwMode="auto">
            <a:xfrm>
              <a:off x="4989" y="303"/>
              <a:ext cx="53" cy="82"/>
            </a:xfrm>
            <a:custGeom>
              <a:avLst/>
              <a:gdLst>
                <a:gd name="T0" fmla="*/ 45 w 158"/>
                <a:gd name="T1" fmla="*/ 27 h 164"/>
                <a:gd name="T2" fmla="*/ 46 w 158"/>
                <a:gd name="T3" fmla="*/ 36 h 164"/>
                <a:gd name="T4" fmla="*/ 45 w 158"/>
                <a:gd name="T5" fmla="*/ 43 h 164"/>
                <a:gd name="T6" fmla="*/ 42 w 158"/>
                <a:gd name="T7" fmla="*/ 49 h 164"/>
                <a:gd name="T8" fmla="*/ 37 w 158"/>
                <a:gd name="T9" fmla="*/ 55 h 164"/>
                <a:gd name="T10" fmla="*/ 31 w 158"/>
                <a:gd name="T11" fmla="*/ 60 h 164"/>
                <a:gd name="T12" fmla="*/ 25 w 158"/>
                <a:gd name="T13" fmla="*/ 65 h 164"/>
                <a:gd name="T14" fmla="*/ 18 w 158"/>
                <a:gd name="T15" fmla="*/ 70 h 164"/>
                <a:gd name="T16" fmla="*/ 12 w 158"/>
                <a:gd name="T17" fmla="*/ 75 h 164"/>
                <a:gd name="T18" fmla="*/ 11 w 158"/>
                <a:gd name="T19" fmla="*/ 76 h 164"/>
                <a:gd name="T20" fmla="*/ 11 w 158"/>
                <a:gd name="T21" fmla="*/ 77 h 164"/>
                <a:gd name="T22" fmla="*/ 11 w 158"/>
                <a:gd name="T23" fmla="*/ 79 h 164"/>
                <a:gd name="T24" fmla="*/ 12 w 158"/>
                <a:gd name="T25" fmla="*/ 80 h 164"/>
                <a:gd name="T26" fmla="*/ 12 w 158"/>
                <a:gd name="T27" fmla="*/ 82 h 164"/>
                <a:gd name="T28" fmla="*/ 14 w 158"/>
                <a:gd name="T29" fmla="*/ 82 h 164"/>
                <a:gd name="T30" fmla="*/ 15 w 158"/>
                <a:gd name="T31" fmla="*/ 82 h 164"/>
                <a:gd name="T32" fmla="*/ 17 w 158"/>
                <a:gd name="T33" fmla="*/ 82 h 164"/>
                <a:gd name="T34" fmla="*/ 24 w 158"/>
                <a:gd name="T35" fmla="*/ 77 h 164"/>
                <a:gd name="T36" fmla="*/ 32 w 158"/>
                <a:gd name="T37" fmla="*/ 72 h 164"/>
                <a:gd name="T38" fmla="*/ 38 w 158"/>
                <a:gd name="T39" fmla="*/ 66 h 164"/>
                <a:gd name="T40" fmla="*/ 45 w 158"/>
                <a:gd name="T41" fmla="*/ 59 h 164"/>
                <a:gd name="T42" fmla="*/ 49 w 158"/>
                <a:gd name="T43" fmla="*/ 52 h 164"/>
                <a:gd name="T44" fmla="*/ 52 w 158"/>
                <a:gd name="T45" fmla="*/ 43 h 164"/>
                <a:gd name="T46" fmla="*/ 53 w 158"/>
                <a:gd name="T47" fmla="*/ 35 h 164"/>
                <a:gd name="T48" fmla="*/ 51 w 158"/>
                <a:gd name="T49" fmla="*/ 25 h 164"/>
                <a:gd name="T50" fmla="*/ 47 w 158"/>
                <a:gd name="T51" fmla="*/ 19 h 164"/>
                <a:gd name="T52" fmla="*/ 41 w 158"/>
                <a:gd name="T53" fmla="*/ 12 h 164"/>
                <a:gd name="T54" fmla="*/ 33 w 158"/>
                <a:gd name="T55" fmla="*/ 7 h 164"/>
                <a:gd name="T56" fmla="*/ 25 w 158"/>
                <a:gd name="T57" fmla="*/ 3 h 164"/>
                <a:gd name="T58" fmla="*/ 17 w 158"/>
                <a:gd name="T59" fmla="*/ 1 h 164"/>
                <a:gd name="T60" fmla="*/ 10 w 158"/>
                <a:gd name="T61" fmla="*/ 0 h 164"/>
                <a:gd name="T62" fmla="*/ 4 w 158"/>
                <a:gd name="T63" fmla="*/ 1 h 164"/>
                <a:gd name="T64" fmla="*/ 0 w 158"/>
                <a:gd name="T65" fmla="*/ 3 h 164"/>
                <a:gd name="T66" fmla="*/ 7 w 158"/>
                <a:gd name="T67" fmla="*/ 5 h 164"/>
                <a:gd name="T68" fmla="*/ 13 w 158"/>
                <a:gd name="T69" fmla="*/ 6 h 164"/>
                <a:gd name="T70" fmla="*/ 20 w 158"/>
                <a:gd name="T71" fmla="*/ 7 h 164"/>
                <a:gd name="T72" fmla="*/ 26 w 158"/>
                <a:gd name="T73" fmla="*/ 10 h 164"/>
                <a:gd name="T74" fmla="*/ 32 w 158"/>
                <a:gd name="T75" fmla="*/ 12 h 164"/>
                <a:gd name="T76" fmla="*/ 38 w 158"/>
                <a:gd name="T77" fmla="*/ 16 h 164"/>
                <a:gd name="T78" fmla="*/ 42 w 158"/>
                <a:gd name="T79" fmla="*/ 21 h 164"/>
                <a:gd name="T80" fmla="*/ 45 w 158"/>
                <a:gd name="T81" fmla="*/ 27 h 1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64"/>
                <a:gd name="T125" fmla="*/ 158 w 158"/>
                <a:gd name="T126" fmla="*/ 164 h 164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64">
                  <a:moveTo>
                    <a:pt x="133" y="54"/>
                  </a:moveTo>
                  <a:lnTo>
                    <a:pt x="138" y="72"/>
                  </a:lnTo>
                  <a:lnTo>
                    <a:pt x="135" y="86"/>
                  </a:lnTo>
                  <a:lnTo>
                    <a:pt x="125" y="99"/>
                  </a:lnTo>
                  <a:lnTo>
                    <a:pt x="110" y="110"/>
                  </a:lnTo>
                  <a:lnTo>
                    <a:pt x="93" y="120"/>
                  </a:lnTo>
                  <a:lnTo>
                    <a:pt x="74" y="130"/>
                  </a:lnTo>
                  <a:lnTo>
                    <a:pt x="53" y="140"/>
                  </a:lnTo>
                  <a:lnTo>
                    <a:pt x="36" y="149"/>
                  </a:lnTo>
                  <a:lnTo>
                    <a:pt x="33" y="152"/>
                  </a:lnTo>
                  <a:lnTo>
                    <a:pt x="32" y="154"/>
                  </a:lnTo>
                  <a:lnTo>
                    <a:pt x="32" y="157"/>
                  </a:lnTo>
                  <a:lnTo>
                    <a:pt x="35" y="160"/>
                  </a:lnTo>
                  <a:lnTo>
                    <a:pt x="37" y="163"/>
                  </a:lnTo>
                  <a:lnTo>
                    <a:pt x="42" y="164"/>
                  </a:lnTo>
                  <a:lnTo>
                    <a:pt x="46" y="164"/>
                  </a:lnTo>
                  <a:lnTo>
                    <a:pt x="51" y="163"/>
                  </a:lnTo>
                  <a:lnTo>
                    <a:pt x="72" y="153"/>
                  </a:lnTo>
                  <a:lnTo>
                    <a:pt x="94" y="143"/>
                  </a:lnTo>
                  <a:lnTo>
                    <a:pt x="114" y="132"/>
                  </a:lnTo>
                  <a:lnTo>
                    <a:pt x="133" y="118"/>
                  </a:lnTo>
                  <a:lnTo>
                    <a:pt x="146" y="104"/>
                  </a:lnTo>
                  <a:lnTo>
                    <a:pt x="155" y="87"/>
                  </a:lnTo>
                  <a:lnTo>
                    <a:pt x="158" y="70"/>
                  </a:lnTo>
                  <a:lnTo>
                    <a:pt x="152" y="51"/>
                  </a:lnTo>
                  <a:lnTo>
                    <a:pt x="139" y="37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5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1" y="1"/>
                  </a:lnTo>
                  <a:lnTo>
                    <a:pt x="0" y="5"/>
                  </a:lnTo>
                  <a:lnTo>
                    <a:pt x="20" y="9"/>
                  </a:lnTo>
                  <a:lnTo>
                    <a:pt x="40" y="12"/>
                  </a:lnTo>
                  <a:lnTo>
                    <a:pt x="59" y="15"/>
                  </a:lnTo>
                  <a:lnTo>
                    <a:pt x="78" y="19"/>
                  </a:lnTo>
                  <a:lnTo>
                    <a:pt x="96" y="24"/>
                  </a:lnTo>
                  <a:lnTo>
                    <a:pt x="112" y="32"/>
                  </a:lnTo>
                  <a:lnTo>
                    <a:pt x="125" y="41"/>
                  </a:lnTo>
                  <a:lnTo>
                    <a:pt x="133" y="5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3" name="Freeform 80"/>
            <p:cNvSpPr>
              <a:spLocks/>
            </p:cNvSpPr>
            <p:nvPr/>
          </p:nvSpPr>
          <p:spPr bwMode="auto">
            <a:xfrm>
              <a:off x="4796" y="285"/>
              <a:ext cx="134" cy="170"/>
            </a:xfrm>
            <a:custGeom>
              <a:avLst/>
              <a:gdLst>
                <a:gd name="T0" fmla="*/ 42 w 400"/>
                <a:gd name="T1" fmla="*/ 31 h 340"/>
                <a:gd name="T2" fmla="*/ 22 w 400"/>
                <a:gd name="T3" fmla="*/ 51 h 340"/>
                <a:gd name="T4" fmla="*/ 7 w 400"/>
                <a:gd name="T5" fmla="*/ 75 h 340"/>
                <a:gd name="T6" fmla="*/ 0 w 400"/>
                <a:gd name="T7" fmla="*/ 102 h 340"/>
                <a:gd name="T8" fmla="*/ 2 w 400"/>
                <a:gd name="T9" fmla="*/ 120 h 340"/>
                <a:gd name="T10" fmla="*/ 4 w 400"/>
                <a:gd name="T11" fmla="*/ 127 h 340"/>
                <a:gd name="T12" fmla="*/ 9 w 400"/>
                <a:gd name="T13" fmla="*/ 134 h 340"/>
                <a:gd name="T14" fmla="*/ 14 w 400"/>
                <a:gd name="T15" fmla="*/ 140 h 340"/>
                <a:gd name="T16" fmla="*/ 23 w 400"/>
                <a:gd name="T17" fmla="*/ 146 h 340"/>
                <a:gd name="T18" fmla="*/ 36 w 400"/>
                <a:gd name="T19" fmla="*/ 153 h 340"/>
                <a:gd name="T20" fmla="*/ 50 w 400"/>
                <a:gd name="T21" fmla="*/ 158 h 340"/>
                <a:gd name="T22" fmla="*/ 63 w 400"/>
                <a:gd name="T23" fmla="*/ 162 h 340"/>
                <a:gd name="T24" fmla="*/ 77 w 400"/>
                <a:gd name="T25" fmla="*/ 165 h 340"/>
                <a:gd name="T26" fmla="*/ 92 w 400"/>
                <a:gd name="T27" fmla="*/ 167 h 340"/>
                <a:gd name="T28" fmla="*/ 106 w 400"/>
                <a:gd name="T29" fmla="*/ 169 h 340"/>
                <a:gd name="T30" fmla="*/ 120 w 400"/>
                <a:gd name="T31" fmla="*/ 170 h 340"/>
                <a:gd name="T32" fmla="*/ 130 w 400"/>
                <a:gd name="T33" fmla="*/ 170 h 340"/>
                <a:gd name="T34" fmla="*/ 133 w 400"/>
                <a:gd name="T35" fmla="*/ 167 h 340"/>
                <a:gd name="T36" fmla="*/ 134 w 400"/>
                <a:gd name="T37" fmla="*/ 162 h 340"/>
                <a:gd name="T38" fmla="*/ 131 w 400"/>
                <a:gd name="T39" fmla="*/ 158 h 340"/>
                <a:gd name="T40" fmla="*/ 122 w 400"/>
                <a:gd name="T41" fmla="*/ 158 h 340"/>
                <a:gd name="T42" fmla="*/ 109 w 400"/>
                <a:gd name="T43" fmla="*/ 157 h 340"/>
                <a:gd name="T44" fmla="*/ 96 w 400"/>
                <a:gd name="T45" fmla="*/ 156 h 340"/>
                <a:gd name="T46" fmla="*/ 83 w 400"/>
                <a:gd name="T47" fmla="*/ 154 h 340"/>
                <a:gd name="T48" fmla="*/ 70 w 400"/>
                <a:gd name="T49" fmla="*/ 152 h 340"/>
                <a:gd name="T50" fmla="*/ 57 w 400"/>
                <a:gd name="T51" fmla="*/ 148 h 340"/>
                <a:gd name="T52" fmla="*/ 44 w 400"/>
                <a:gd name="T53" fmla="*/ 144 h 340"/>
                <a:gd name="T54" fmla="*/ 32 w 400"/>
                <a:gd name="T55" fmla="*/ 138 h 340"/>
                <a:gd name="T56" fmla="*/ 21 w 400"/>
                <a:gd name="T57" fmla="*/ 131 h 340"/>
                <a:gd name="T58" fmla="*/ 15 w 400"/>
                <a:gd name="T59" fmla="*/ 120 h 340"/>
                <a:gd name="T60" fmla="*/ 13 w 400"/>
                <a:gd name="T61" fmla="*/ 107 h 340"/>
                <a:gd name="T62" fmla="*/ 16 w 400"/>
                <a:gd name="T63" fmla="*/ 88 h 340"/>
                <a:gd name="T64" fmla="*/ 21 w 400"/>
                <a:gd name="T65" fmla="*/ 74 h 340"/>
                <a:gd name="T66" fmla="*/ 28 w 400"/>
                <a:gd name="T67" fmla="*/ 61 h 340"/>
                <a:gd name="T68" fmla="*/ 37 w 400"/>
                <a:gd name="T69" fmla="*/ 50 h 340"/>
                <a:gd name="T70" fmla="*/ 47 w 400"/>
                <a:gd name="T71" fmla="*/ 40 h 340"/>
                <a:gd name="T72" fmla="*/ 60 w 400"/>
                <a:gd name="T73" fmla="*/ 28 h 340"/>
                <a:gd name="T74" fmla="*/ 75 w 400"/>
                <a:gd name="T75" fmla="*/ 19 h 340"/>
                <a:gd name="T76" fmla="*/ 91 w 400"/>
                <a:gd name="T77" fmla="*/ 10 h 340"/>
                <a:gd name="T78" fmla="*/ 105 w 400"/>
                <a:gd name="T79" fmla="*/ 3 h 340"/>
                <a:gd name="T80" fmla="*/ 106 w 400"/>
                <a:gd name="T81" fmla="*/ 0 h 340"/>
                <a:gd name="T82" fmla="*/ 92 w 400"/>
                <a:gd name="T83" fmla="*/ 3 h 340"/>
                <a:gd name="T84" fmla="*/ 75 w 400"/>
                <a:gd name="T85" fmla="*/ 9 h 340"/>
                <a:gd name="T86" fmla="*/ 59 w 400"/>
                <a:gd name="T87" fmla="*/ 18 h 34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00"/>
                <a:gd name="T133" fmla="*/ 0 h 340"/>
                <a:gd name="T134" fmla="*/ 400 w 400"/>
                <a:gd name="T135" fmla="*/ 340 h 34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00" h="340">
                  <a:moveTo>
                    <a:pt x="156" y="45"/>
                  </a:moveTo>
                  <a:lnTo>
                    <a:pt x="125" y="62"/>
                  </a:lnTo>
                  <a:lnTo>
                    <a:pt x="95" y="82"/>
                  </a:lnTo>
                  <a:lnTo>
                    <a:pt x="67" y="103"/>
                  </a:lnTo>
                  <a:lnTo>
                    <a:pt x="42" y="125"/>
                  </a:lnTo>
                  <a:lnTo>
                    <a:pt x="22" y="150"/>
                  </a:lnTo>
                  <a:lnTo>
                    <a:pt x="8" y="176"/>
                  </a:lnTo>
                  <a:lnTo>
                    <a:pt x="0" y="204"/>
                  </a:lnTo>
                  <a:lnTo>
                    <a:pt x="2" y="233"/>
                  </a:lnTo>
                  <a:lnTo>
                    <a:pt x="5" y="240"/>
                  </a:lnTo>
                  <a:lnTo>
                    <a:pt x="9" y="248"/>
                  </a:lnTo>
                  <a:lnTo>
                    <a:pt x="13" y="254"/>
                  </a:lnTo>
                  <a:lnTo>
                    <a:pt x="19" y="261"/>
                  </a:lnTo>
                  <a:lnTo>
                    <a:pt x="26" y="268"/>
                  </a:lnTo>
                  <a:lnTo>
                    <a:pt x="34" y="274"/>
                  </a:lnTo>
                  <a:lnTo>
                    <a:pt x="42" y="279"/>
                  </a:lnTo>
                  <a:lnTo>
                    <a:pt x="51" y="283"/>
                  </a:lnTo>
                  <a:lnTo>
                    <a:pt x="70" y="291"/>
                  </a:lnTo>
                  <a:lnTo>
                    <a:pt x="89" y="298"/>
                  </a:lnTo>
                  <a:lnTo>
                    <a:pt x="108" y="305"/>
                  </a:lnTo>
                  <a:lnTo>
                    <a:pt x="128" y="310"/>
                  </a:lnTo>
                  <a:lnTo>
                    <a:pt x="149" y="315"/>
                  </a:lnTo>
                  <a:lnTo>
                    <a:pt x="169" y="319"/>
                  </a:lnTo>
                  <a:lnTo>
                    <a:pt x="189" y="323"/>
                  </a:lnTo>
                  <a:lnTo>
                    <a:pt x="210" y="326"/>
                  </a:lnTo>
                  <a:lnTo>
                    <a:pt x="231" y="329"/>
                  </a:lnTo>
                  <a:lnTo>
                    <a:pt x="253" y="331"/>
                  </a:lnTo>
                  <a:lnTo>
                    <a:pt x="274" y="334"/>
                  </a:lnTo>
                  <a:lnTo>
                    <a:pt x="295" y="336"/>
                  </a:lnTo>
                  <a:lnTo>
                    <a:pt x="317" y="337"/>
                  </a:lnTo>
                  <a:lnTo>
                    <a:pt x="339" y="338"/>
                  </a:lnTo>
                  <a:lnTo>
                    <a:pt x="359" y="339"/>
                  </a:lnTo>
                  <a:lnTo>
                    <a:pt x="381" y="340"/>
                  </a:lnTo>
                  <a:lnTo>
                    <a:pt x="387" y="340"/>
                  </a:lnTo>
                  <a:lnTo>
                    <a:pt x="393" y="337"/>
                  </a:lnTo>
                  <a:lnTo>
                    <a:pt x="397" y="334"/>
                  </a:lnTo>
                  <a:lnTo>
                    <a:pt x="400" y="328"/>
                  </a:lnTo>
                  <a:lnTo>
                    <a:pt x="400" y="323"/>
                  </a:lnTo>
                  <a:lnTo>
                    <a:pt x="397" y="319"/>
                  </a:lnTo>
                  <a:lnTo>
                    <a:pt x="391" y="316"/>
                  </a:lnTo>
                  <a:lnTo>
                    <a:pt x="385" y="315"/>
                  </a:lnTo>
                  <a:lnTo>
                    <a:pt x="365" y="315"/>
                  </a:lnTo>
                  <a:lnTo>
                    <a:pt x="346" y="315"/>
                  </a:lnTo>
                  <a:lnTo>
                    <a:pt x="326" y="314"/>
                  </a:lnTo>
                  <a:lnTo>
                    <a:pt x="307" y="313"/>
                  </a:lnTo>
                  <a:lnTo>
                    <a:pt x="287" y="312"/>
                  </a:lnTo>
                  <a:lnTo>
                    <a:pt x="266" y="310"/>
                  </a:lnTo>
                  <a:lnTo>
                    <a:pt x="247" y="308"/>
                  </a:lnTo>
                  <a:lnTo>
                    <a:pt x="227" y="306"/>
                  </a:lnTo>
                  <a:lnTo>
                    <a:pt x="208" y="303"/>
                  </a:lnTo>
                  <a:lnTo>
                    <a:pt x="188" y="300"/>
                  </a:lnTo>
                  <a:lnTo>
                    <a:pt x="169" y="295"/>
                  </a:lnTo>
                  <a:lnTo>
                    <a:pt x="150" y="291"/>
                  </a:lnTo>
                  <a:lnTo>
                    <a:pt x="131" y="287"/>
                  </a:lnTo>
                  <a:lnTo>
                    <a:pt x="114" y="281"/>
                  </a:lnTo>
                  <a:lnTo>
                    <a:pt x="95" y="275"/>
                  </a:lnTo>
                  <a:lnTo>
                    <a:pt x="77" y="269"/>
                  </a:lnTo>
                  <a:lnTo>
                    <a:pt x="63" y="261"/>
                  </a:lnTo>
                  <a:lnTo>
                    <a:pt x="51" y="251"/>
                  </a:lnTo>
                  <a:lnTo>
                    <a:pt x="44" y="241"/>
                  </a:lnTo>
                  <a:lnTo>
                    <a:pt x="38" y="228"/>
                  </a:lnTo>
                  <a:lnTo>
                    <a:pt x="38" y="214"/>
                  </a:lnTo>
                  <a:lnTo>
                    <a:pt x="41" y="195"/>
                  </a:lnTo>
                  <a:lnTo>
                    <a:pt x="47" y="177"/>
                  </a:lnTo>
                  <a:lnTo>
                    <a:pt x="53" y="163"/>
                  </a:lnTo>
                  <a:lnTo>
                    <a:pt x="63" y="148"/>
                  </a:lnTo>
                  <a:lnTo>
                    <a:pt x="74" y="135"/>
                  </a:lnTo>
                  <a:lnTo>
                    <a:pt x="85" y="122"/>
                  </a:lnTo>
                  <a:lnTo>
                    <a:pt x="98" y="111"/>
                  </a:lnTo>
                  <a:lnTo>
                    <a:pt x="111" y="100"/>
                  </a:lnTo>
                  <a:lnTo>
                    <a:pt x="125" y="89"/>
                  </a:lnTo>
                  <a:lnTo>
                    <a:pt x="141" y="79"/>
                  </a:lnTo>
                  <a:lnTo>
                    <a:pt x="160" y="68"/>
                  </a:lnTo>
                  <a:lnTo>
                    <a:pt x="179" y="57"/>
                  </a:lnTo>
                  <a:lnTo>
                    <a:pt x="201" y="47"/>
                  </a:lnTo>
                  <a:lnTo>
                    <a:pt x="224" y="37"/>
                  </a:lnTo>
                  <a:lnTo>
                    <a:pt x="249" y="27"/>
                  </a:lnTo>
                  <a:lnTo>
                    <a:pt x="272" y="19"/>
                  </a:lnTo>
                  <a:lnTo>
                    <a:pt x="294" y="12"/>
                  </a:lnTo>
                  <a:lnTo>
                    <a:pt x="314" y="6"/>
                  </a:lnTo>
                  <a:lnTo>
                    <a:pt x="332" y="1"/>
                  </a:lnTo>
                  <a:lnTo>
                    <a:pt x="316" y="0"/>
                  </a:lnTo>
                  <a:lnTo>
                    <a:pt x="295" y="1"/>
                  </a:lnTo>
                  <a:lnTo>
                    <a:pt x="274" y="5"/>
                  </a:lnTo>
                  <a:lnTo>
                    <a:pt x="249" y="10"/>
                  </a:lnTo>
                  <a:lnTo>
                    <a:pt x="224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6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4" name="Freeform 81"/>
            <p:cNvSpPr>
              <a:spLocks/>
            </p:cNvSpPr>
            <p:nvPr/>
          </p:nvSpPr>
          <p:spPr bwMode="auto">
            <a:xfrm>
              <a:off x="4984" y="279"/>
              <a:ext cx="117" cy="114"/>
            </a:xfrm>
            <a:custGeom>
              <a:avLst/>
              <a:gdLst>
                <a:gd name="T0" fmla="*/ 98 w 349"/>
                <a:gd name="T1" fmla="*/ 35 h 227"/>
                <a:gd name="T2" fmla="*/ 103 w 349"/>
                <a:gd name="T3" fmla="*/ 42 h 227"/>
                <a:gd name="T4" fmla="*/ 106 w 349"/>
                <a:gd name="T5" fmla="*/ 49 h 227"/>
                <a:gd name="T6" fmla="*/ 108 w 349"/>
                <a:gd name="T7" fmla="*/ 57 h 227"/>
                <a:gd name="T8" fmla="*/ 108 w 349"/>
                <a:gd name="T9" fmla="*/ 65 h 227"/>
                <a:gd name="T10" fmla="*/ 107 w 349"/>
                <a:gd name="T11" fmla="*/ 71 h 227"/>
                <a:gd name="T12" fmla="*/ 105 w 349"/>
                <a:gd name="T13" fmla="*/ 77 h 227"/>
                <a:gd name="T14" fmla="*/ 101 w 349"/>
                <a:gd name="T15" fmla="*/ 83 h 227"/>
                <a:gd name="T16" fmla="*/ 98 w 349"/>
                <a:gd name="T17" fmla="*/ 87 h 227"/>
                <a:gd name="T18" fmla="*/ 94 w 349"/>
                <a:gd name="T19" fmla="*/ 93 h 227"/>
                <a:gd name="T20" fmla="*/ 89 w 349"/>
                <a:gd name="T21" fmla="*/ 97 h 227"/>
                <a:gd name="T22" fmla="*/ 85 w 349"/>
                <a:gd name="T23" fmla="*/ 101 h 227"/>
                <a:gd name="T24" fmla="*/ 80 w 349"/>
                <a:gd name="T25" fmla="*/ 106 h 227"/>
                <a:gd name="T26" fmla="*/ 79 w 349"/>
                <a:gd name="T27" fmla="*/ 108 h 227"/>
                <a:gd name="T28" fmla="*/ 79 w 349"/>
                <a:gd name="T29" fmla="*/ 109 h 227"/>
                <a:gd name="T30" fmla="*/ 79 w 349"/>
                <a:gd name="T31" fmla="*/ 111 h 227"/>
                <a:gd name="T32" fmla="*/ 80 w 349"/>
                <a:gd name="T33" fmla="*/ 112 h 227"/>
                <a:gd name="T34" fmla="*/ 82 w 349"/>
                <a:gd name="T35" fmla="*/ 113 h 227"/>
                <a:gd name="T36" fmla="*/ 83 w 349"/>
                <a:gd name="T37" fmla="*/ 114 h 227"/>
                <a:gd name="T38" fmla="*/ 85 w 349"/>
                <a:gd name="T39" fmla="*/ 113 h 227"/>
                <a:gd name="T40" fmla="*/ 87 w 349"/>
                <a:gd name="T41" fmla="*/ 112 h 227"/>
                <a:gd name="T42" fmla="*/ 97 w 349"/>
                <a:gd name="T43" fmla="*/ 106 h 227"/>
                <a:gd name="T44" fmla="*/ 104 w 349"/>
                <a:gd name="T45" fmla="*/ 97 h 227"/>
                <a:gd name="T46" fmla="*/ 111 w 349"/>
                <a:gd name="T47" fmla="*/ 86 h 227"/>
                <a:gd name="T48" fmla="*/ 116 w 349"/>
                <a:gd name="T49" fmla="*/ 76 h 227"/>
                <a:gd name="T50" fmla="*/ 117 w 349"/>
                <a:gd name="T51" fmla="*/ 64 h 227"/>
                <a:gd name="T52" fmla="*/ 116 w 349"/>
                <a:gd name="T53" fmla="*/ 52 h 227"/>
                <a:gd name="T54" fmla="*/ 112 w 349"/>
                <a:gd name="T55" fmla="*/ 42 h 227"/>
                <a:gd name="T56" fmla="*/ 104 w 349"/>
                <a:gd name="T57" fmla="*/ 32 h 227"/>
                <a:gd name="T58" fmla="*/ 99 w 349"/>
                <a:gd name="T59" fmla="*/ 27 h 227"/>
                <a:gd name="T60" fmla="*/ 92 w 349"/>
                <a:gd name="T61" fmla="*/ 22 h 227"/>
                <a:gd name="T62" fmla="*/ 84 w 349"/>
                <a:gd name="T63" fmla="*/ 18 h 227"/>
                <a:gd name="T64" fmla="*/ 76 w 349"/>
                <a:gd name="T65" fmla="*/ 14 h 227"/>
                <a:gd name="T66" fmla="*/ 68 w 349"/>
                <a:gd name="T67" fmla="*/ 11 h 227"/>
                <a:gd name="T68" fmla="*/ 59 w 349"/>
                <a:gd name="T69" fmla="*/ 9 h 227"/>
                <a:gd name="T70" fmla="*/ 51 w 349"/>
                <a:gd name="T71" fmla="*/ 6 h 227"/>
                <a:gd name="T72" fmla="*/ 42 w 349"/>
                <a:gd name="T73" fmla="*/ 4 h 227"/>
                <a:gd name="T74" fmla="*/ 34 w 349"/>
                <a:gd name="T75" fmla="*/ 2 h 227"/>
                <a:gd name="T76" fmla="*/ 26 w 349"/>
                <a:gd name="T77" fmla="*/ 1 h 227"/>
                <a:gd name="T78" fmla="*/ 19 w 349"/>
                <a:gd name="T79" fmla="*/ 0 h 227"/>
                <a:gd name="T80" fmla="*/ 13 w 349"/>
                <a:gd name="T81" fmla="*/ 0 h 227"/>
                <a:gd name="T82" fmla="*/ 8 w 349"/>
                <a:gd name="T83" fmla="*/ 0 h 227"/>
                <a:gd name="T84" fmla="*/ 4 w 349"/>
                <a:gd name="T85" fmla="*/ 1 h 227"/>
                <a:gd name="T86" fmla="*/ 2 w 349"/>
                <a:gd name="T87" fmla="*/ 2 h 227"/>
                <a:gd name="T88" fmla="*/ 0 w 349"/>
                <a:gd name="T89" fmla="*/ 3 h 227"/>
                <a:gd name="T90" fmla="*/ 5 w 349"/>
                <a:gd name="T91" fmla="*/ 4 h 227"/>
                <a:gd name="T92" fmla="*/ 10 w 349"/>
                <a:gd name="T93" fmla="*/ 5 h 227"/>
                <a:gd name="T94" fmla="*/ 16 w 349"/>
                <a:gd name="T95" fmla="*/ 6 h 227"/>
                <a:gd name="T96" fmla="*/ 21 w 349"/>
                <a:gd name="T97" fmla="*/ 7 h 227"/>
                <a:gd name="T98" fmla="*/ 28 w 349"/>
                <a:gd name="T99" fmla="*/ 8 h 227"/>
                <a:gd name="T100" fmla="*/ 34 w 349"/>
                <a:gd name="T101" fmla="*/ 9 h 227"/>
                <a:gd name="T102" fmla="*/ 41 w 349"/>
                <a:gd name="T103" fmla="*/ 10 h 227"/>
                <a:gd name="T104" fmla="*/ 47 w 349"/>
                <a:gd name="T105" fmla="*/ 12 h 227"/>
                <a:gd name="T106" fmla="*/ 54 w 349"/>
                <a:gd name="T107" fmla="*/ 14 h 227"/>
                <a:gd name="T108" fmla="*/ 60 w 349"/>
                <a:gd name="T109" fmla="*/ 16 h 227"/>
                <a:gd name="T110" fmla="*/ 67 w 349"/>
                <a:gd name="T111" fmla="*/ 18 h 227"/>
                <a:gd name="T112" fmla="*/ 74 w 349"/>
                <a:gd name="T113" fmla="*/ 21 h 227"/>
                <a:gd name="T114" fmla="*/ 80 w 349"/>
                <a:gd name="T115" fmla="*/ 24 h 227"/>
                <a:gd name="T116" fmla="*/ 86 w 349"/>
                <a:gd name="T117" fmla="*/ 27 h 227"/>
                <a:gd name="T118" fmla="*/ 92 w 349"/>
                <a:gd name="T119" fmla="*/ 31 h 227"/>
                <a:gd name="T120" fmla="*/ 98 w 349"/>
                <a:gd name="T121" fmla="*/ 35 h 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9"/>
                <a:gd name="T184" fmla="*/ 0 h 227"/>
                <a:gd name="T185" fmla="*/ 349 w 349"/>
                <a:gd name="T186" fmla="*/ 227 h 227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9" h="227">
                  <a:moveTo>
                    <a:pt x="291" y="70"/>
                  </a:moveTo>
                  <a:lnTo>
                    <a:pt x="307" y="83"/>
                  </a:lnTo>
                  <a:lnTo>
                    <a:pt x="316" y="97"/>
                  </a:lnTo>
                  <a:lnTo>
                    <a:pt x="321" y="113"/>
                  </a:lnTo>
                  <a:lnTo>
                    <a:pt x="321" y="129"/>
                  </a:lnTo>
                  <a:lnTo>
                    <a:pt x="318" y="142"/>
                  </a:lnTo>
                  <a:lnTo>
                    <a:pt x="313" y="154"/>
                  </a:lnTo>
                  <a:lnTo>
                    <a:pt x="302" y="165"/>
                  </a:lnTo>
                  <a:lnTo>
                    <a:pt x="292" y="174"/>
                  </a:lnTo>
                  <a:lnTo>
                    <a:pt x="279" y="185"/>
                  </a:lnTo>
                  <a:lnTo>
                    <a:pt x="266" y="193"/>
                  </a:lnTo>
                  <a:lnTo>
                    <a:pt x="253" y="202"/>
                  </a:lnTo>
                  <a:lnTo>
                    <a:pt x="240" y="212"/>
                  </a:lnTo>
                  <a:lnTo>
                    <a:pt x="237" y="215"/>
                  </a:lnTo>
                  <a:lnTo>
                    <a:pt x="236" y="218"/>
                  </a:lnTo>
                  <a:lnTo>
                    <a:pt x="237" y="221"/>
                  </a:lnTo>
                  <a:lnTo>
                    <a:pt x="240" y="224"/>
                  </a:lnTo>
                  <a:lnTo>
                    <a:pt x="244" y="226"/>
                  </a:lnTo>
                  <a:lnTo>
                    <a:pt x="249" y="227"/>
                  </a:lnTo>
                  <a:lnTo>
                    <a:pt x="254" y="226"/>
                  </a:lnTo>
                  <a:lnTo>
                    <a:pt x="259" y="224"/>
                  </a:lnTo>
                  <a:lnTo>
                    <a:pt x="288" y="211"/>
                  </a:lnTo>
                  <a:lnTo>
                    <a:pt x="311" y="193"/>
                  </a:lnTo>
                  <a:lnTo>
                    <a:pt x="331" y="172"/>
                  </a:lnTo>
                  <a:lnTo>
                    <a:pt x="345" y="151"/>
                  </a:lnTo>
                  <a:lnTo>
                    <a:pt x="349" y="127"/>
                  </a:lnTo>
                  <a:lnTo>
                    <a:pt x="346" y="104"/>
                  </a:lnTo>
                  <a:lnTo>
                    <a:pt x="334" y="83"/>
                  </a:lnTo>
                  <a:lnTo>
                    <a:pt x="311" y="63"/>
                  </a:lnTo>
                  <a:lnTo>
                    <a:pt x="294" y="53"/>
                  </a:lnTo>
                  <a:lnTo>
                    <a:pt x="273" y="44"/>
                  </a:lnTo>
                  <a:lnTo>
                    <a:pt x="250" y="35"/>
                  </a:lnTo>
                  <a:lnTo>
                    <a:pt x="227" y="28"/>
                  </a:lnTo>
                  <a:lnTo>
                    <a:pt x="202" y="22"/>
                  </a:lnTo>
                  <a:lnTo>
                    <a:pt x="176" y="17"/>
                  </a:lnTo>
                  <a:lnTo>
                    <a:pt x="151" y="12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9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5" y="3"/>
                  </a:lnTo>
                  <a:lnTo>
                    <a:pt x="0" y="5"/>
                  </a:lnTo>
                  <a:lnTo>
                    <a:pt x="15" y="7"/>
                  </a:lnTo>
                  <a:lnTo>
                    <a:pt x="31" y="9"/>
                  </a:lnTo>
                  <a:lnTo>
                    <a:pt x="47" y="11"/>
                  </a:lnTo>
                  <a:lnTo>
                    <a:pt x="64" y="13"/>
                  </a:lnTo>
                  <a:lnTo>
                    <a:pt x="83" y="15"/>
                  </a:lnTo>
                  <a:lnTo>
                    <a:pt x="102" y="17"/>
                  </a:lnTo>
                  <a:lnTo>
                    <a:pt x="121" y="20"/>
                  </a:lnTo>
                  <a:lnTo>
                    <a:pt x="141" y="23"/>
                  </a:lnTo>
                  <a:lnTo>
                    <a:pt x="160" y="27"/>
                  </a:lnTo>
                  <a:lnTo>
                    <a:pt x="180" y="31"/>
                  </a:lnTo>
                  <a:lnTo>
                    <a:pt x="201" y="36"/>
                  </a:lnTo>
                  <a:lnTo>
                    <a:pt x="220" y="41"/>
                  </a:lnTo>
                  <a:lnTo>
                    <a:pt x="238" y="48"/>
                  </a:lnTo>
                  <a:lnTo>
                    <a:pt x="257" y="54"/>
                  </a:lnTo>
                  <a:lnTo>
                    <a:pt x="275" y="62"/>
                  </a:lnTo>
                  <a:lnTo>
                    <a:pt x="291" y="7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5" name="Freeform 82"/>
            <p:cNvSpPr>
              <a:spLocks/>
            </p:cNvSpPr>
            <p:nvPr/>
          </p:nvSpPr>
          <p:spPr bwMode="auto">
            <a:xfrm>
              <a:off x="4750" y="340"/>
              <a:ext cx="48" cy="107"/>
            </a:xfrm>
            <a:custGeom>
              <a:avLst/>
              <a:gdLst>
                <a:gd name="T0" fmla="*/ 0 w 143"/>
                <a:gd name="T1" fmla="*/ 58 h 212"/>
                <a:gd name="T2" fmla="*/ 0 w 143"/>
                <a:gd name="T3" fmla="*/ 67 h 212"/>
                <a:gd name="T4" fmla="*/ 2 w 143"/>
                <a:gd name="T5" fmla="*/ 75 h 212"/>
                <a:gd name="T6" fmla="*/ 5 w 143"/>
                <a:gd name="T7" fmla="*/ 83 h 212"/>
                <a:gd name="T8" fmla="*/ 10 w 143"/>
                <a:gd name="T9" fmla="*/ 90 h 212"/>
                <a:gd name="T10" fmla="*/ 16 w 143"/>
                <a:gd name="T11" fmla="*/ 96 h 212"/>
                <a:gd name="T12" fmla="*/ 23 w 143"/>
                <a:gd name="T13" fmla="*/ 101 h 212"/>
                <a:gd name="T14" fmla="*/ 31 w 143"/>
                <a:gd name="T15" fmla="*/ 104 h 212"/>
                <a:gd name="T16" fmla="*/ 39 w 143"/>
                <a:gd name="T17" fmla="*/ 106 h 212"/>
                <a:gd name="T18" fmla="*/ 41 w 143"/>
                <a:gd name="T19" fmla="*/ 107 h 212"/>
                <a:gd name="T20" fmla="*/ 44 w 143"/>
                <a:gd name="T21" fmla="*/ 106 h 212"/>
                <a:gd name="T22" fmla="*/ 45 w 143"/>
                <a:gd name="T23" fmla="*/ 104 h 212"/>
                <a:gd name="T24" fmla="*/ 46 w 143"/>
                <a:gd name="T25" fmla="*/ 102 h 212"/>
                <a:gd name="T26" fmla="*/ 46 w 143"/>
                <a:gd name="T27" fmla="*/ 100 h 212"/>
                <a:gd name="T28" fmla="*/ 46 w 143"/>
                <a:gd name="T29" fmla="*/ 97 h 212"/>
                <a:gd name="T30" fmla="*/ 45 w 143"/>
                <a:gd name="T31" fmla="*/ 95 h 212"/>
                <a:gd name="T32" fmla="*/ 42 w 143"/>
                <a:gd name="T33" fmla="*/ 94 h 212"/>
                <a:gd name="T34" fmla="*/ 34 w 143"/>
                <a:gd name="T35" fmla="*/ 91 h 212"/>
                <a:gd name="T36" fmla="*/ 27 w 143"/>
                <a:gd name="T37" fmla="*/ 87 h 212"/>
                <a:gd name="T38" fmla="*/ 21 w 143"/>
                <a:gd name="T39" fmla="*/ 81 h 212"/>
                <a:gd name="T40" fmla="*/ 17 w 143"/>
                <a:gd name="T41" fmla="*/ 75 h 212"/>
                <a:gd name="T42" fmla="*/ 14 w 143"/>
                <a:gd name="T43" fmla="*/ 67 h 212"/>
                <a:gd name="T44" fmla="*/ 12 w 143"/>
                <a:gd name="T45" fmla="*/ 59 h 212"/>
                <a:gd name="T46" fmla="*/ 12 w 143"/>
                <a:gd name="T47" fmla="*/ 50 h 212"/>
                <a:gd name="T48" fmla="*/ 15 w 143"/>
                <a:gd name="T49" fmla="*/ 40 h 212"/>
                <a:gd name="T50" fmla="*/ 18 w 143"/>
                <a:gd name="T51" fmla="*/ 34 h 212"/>
                <a:gd name="T52" fmla="*/ 23 w 143"/>
                <a:gd name="T53" fmla="*/ 27 h 212"/>
                <a:gd name="T54" fmla="*/ 29 w 143"/>
                <a:gd name="T55" fmla="*/ 21 h 212"/>
                <a:gd name="T56" fmla="*/ 36 w 143"/>
                <a:gd name="T57" fmla="*/ 15 h 212"/>
                <a:gd name="T58" fmla="*/ 41 w 143"/>
                <a:gd name="T59" fmla="*/ 11 h 212"/>
                <a:gd name="T60" fmla="*/ 45 w 143"/>
                <a:gd name="T61" fmla="*/ 6 h 212"/>
                <a:gd name="T62" fmla="*/ 48 w 143"/>
                <a:gd name="T63" fmla="*/ 3 h 212"/>
                <a:gd name="T64" fmla="*/ 48 w 143"/>
                <a:gd name="T65" fmla="*/ 0 h 212"/>
                <a:gd name="T66" fmla="*/ 43 w 143"/>
                <a:gd name="T67" fmla="*/ 2 h 212"/>
                <a:gd name="T68" fmla="*/ 36 w 143"/>
                <a:gd name="T69" fmla="*/ 6 h 212"/>
                <a:gd name="T70" fmla="*/ 29 w 143"/>
                <a:gd name="T71" fmla="*/ 12 h 212"/>
                <a:gd name="T72" fmla="*/ 20 w 143"/>
                <a:gd name="T73" fmla="*/ 19 h 212"/>
                <a:gd name="T74" fmla="*/ 13 w 143"/>
                <a:gd name="T75" fmla="*/ 28 h 212"/>
                <a:gd name="T76" fmla="*/ 7 w 143"/>
                <a:gd name="T77" fmla="*/ 37 h 212"/>
                <a:gd name="T78" fmla="*/ 3 w 143"/>
                <a:gd name="T79" fmla="*/ 48 h 212"/>
                <a:gd name="T80" fmla="*/ 0 w 143"/>
                <a:gd name="T81" fmla="*/ 58 h 212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3"/>
                <a:gd name="T124" fmla="*/ 0 h 212"/>
                <a:gd name="T125" fmla="*/ 143 w 143"/>
                <a:gd name="T126" fmla="*/ 212 h 212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3" h="212">
                  <a:moveTo>
                    <a:pt x="0" y="115"/>
                  </a:moveTo>
                  <a:lnTo>
                    <a:pt x="0" y="133"/>
                  </a:lnTo>
                  <a:lnTo>
                    <a:pt x="6" y="149"/>
                  </a:lnTo>
                  <a:lnTo>
                    <a:pt x="16" y="165"/>
                  </a:lnTo>
                  <a:lnTo>
                    <a:pt x="31" y="178"/>
                  </a:lnTo>
                  <a:lnTo>
                    <a:pt x="48" y="190"/>
                  </a:lnTo>
                  <a:lnTo>
                    <a:pt x="69" y="200"/>
                  </a:lnTo>
                  <a:lnTo>
                    <a:pt x="92" y="207"/>
                  </a:lnTo>
                  <a:lnTo>
                    <a:pt x="115" y="211"/>
                  </a:lnTo>
                  <a:lnTo>
                    <a:pt x="122" y="212"/>
                  </a:lnTo>
                  <a:lnTo>
                    <a:pt x="130" y="210"/>
                  </a:lnTo>
                  <a:lnTo>
                    <a:pt x="135" y="207"/>
                  </a:lnTo>
                  <a:lnTo>
                    <a:pt x="138" y="203"/>
                  </a:lnTo>
                  <a:lnTo>
                    <a:pt x="138" y="198"/>
                  </a:lnTo>
                  <a:lnTo>
                    <a:pt x="137" y="193"/>
                  </a:lnTo>
                  <a:lnTo>
                    <a:pt x="133" y="189"/>
                  </a:lnTo>
                  <a:lnTo>
                    <a:pt x="125" y="186"/>
                  </a:lnTo>
                  <a:lnTo>
                    <a:pt x="102" y="180"/>
                  </a:lnTo>
                  <a:lnTo>
                    <a:pt x="80" y="172"/>
                  </a:lnTo>
                  <a:lnTo>
                    <a:pt x="63" y="161"/>
                  </a:lnTo>
                  <a:lnTo>
                    <a:pt x="50" y="148"/>
                  </a:lnTo>
                  <a:lnTo>
                    <a:pt x="41" y="133"/>
                  </a:lnTo>
                  <a:lnTo>
                    <a:pt x="37" y="116"/>
                  </a:lnTo>
                  <a:lnTo>
                    <a:pt x="37" y="99"/>
                  </a:lnTo>
                  <a:lnTo>
                    <a:pt x="44" y="80"/>
                  </a:lnTo>
                  <a:lnTo>
                    <a:pt x="54" y="67"/>
                  </a:lnTo>
                  <a:lnTo>
                    <a:pt x="70" y="54"/>
                  </a:lnTo>
                  <a:lnTo>
                    <a:pt x="87" y="41"/>
                  </a:lnTo>
                  <a:lnTo>
                    <a:pt x="106" y="30"/>
                  </a:lnTo>
                  <a:lnTo>
                    <a:pt x="122" y="21"/>
                  </a:lnTo>
                  <a:lnTo>
                    <a:pt x="135" y="11"/>
                  </a:lnTo>
                  <a:lnTo>
                    <a:pt x="143" y="5"/>
                  </a:lnTo>
                  <a:lnTo>
                    <a:pt x="143" y="0"/>
                  </a:lnTo>
                  <a:lnTo>
                    <a:pt x="127" y="4"/>
                  </a:lnTo>
                  <a:lnTo>
                    <a:pt x="106" y="11"/>
                  </a:lnTo>
                  <a:lnTo>
                    <a:pt x="85" y="24"/>
                  </a:lnTo>
                  <a:lnTo>
                    <a:pt x="61" y="38"/>
                  </a:lnTo>
                  <a:lnTo>
                    <a:pt x="40" y="55"/>
                  </a:lnTo>
                  <a:lnTo>
                    <a:pt x="22" y="74"/>
                  </a:lnTo>
                  <a:lnTo>
                    <a:pt x="8" y="95"/>
                  </a:lnTo>
                  <a:lnTo>
                    <a:pt x="0" y="1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66" name="Freeform 83"/>
            <p:cNvSpPr>
              <a:spLocks/>
            </p:cNvSpPr>
            <p:nvPr/>
          </p:nvSpPr>
          <p:spPr bwMode="auto">
            <a:xfrm>
              <a:off x="5081" y="272"/>
              <a:ext cx="101" cy="139"/>
            </a:xfrm>
            <a:custGeom>
              <a:avLst/>
              <a:gdLst>
                <a:gd name="T0" fmla="*/ 86 w 304"/>
                <a:gd name="T1" fmla="*/ 55 h 278"/>
                <a:gd name="T2" fmla="*/ 90 w 304"/>
                <a:gd name="T3" fmla="*/ 65 h 278"/>
                <a:gd name="T4" fmla="*/ 93 w 304"/>
                <a:gd name="T5" fmla="*/ 73 h 278"/>
                <a:gd name="T6" fmla="*/ 91 w 304"/>
                <a:gd name="T7" fmla="*/ 84 h 278"/>
                <a:gd name="T8" fmla="*/ 86 w 304"/>
                <a:gd name="T9" fmla="*/ 93 h 278"/>
                <a:gd name="T10" fmla="*/ 77 w 304"/>
                <a:gd name="T11" fmla="*/ 102 h 278"/>
                <a:gd name="T12" fmla="*/ 68 w 304"/>
                <a:gd name="T13" fmla="*/ 110 h 278"/>
                <a:gd name="T14" fmla="*/ 58 w 304"/>
                <a:gd name="T15" fmla="*/ 118 h 278"/>
                <a:gd name="T16" fmla="*/ 53 w 304"/>
                <a:gd name="T17" fmla="*/ 124 h 278"/>
                <a:gd name="T18" fmla="*/ 51 w 304"/>
                <a:gd name="T19" fmla="*/ 129 h 278"/>
                <a:gd name="T20" fmla="*/ 50 w 304"/>
                <a:gd name="T21" fmla="*/ 133 h 278"/>
                <a:gd name="T22" fmla="*/ 50 w 304"/>
                <a:gd name="T23" fmla="*/ 137 h 278"/>
                <a:gd name="T24" fmla="*/ 54 w 304"/>
                <a:gd name="T25" fmla="*/ 139 h 278"/>
                <a:gd name="T26" fmla="*/ 57 w 304"/>
                <a:gd name="T27" fmla="*/ 139 h 278"/>
                <a:gd name="T28" fmla="*/ 63 w 304"/>
                <a:gd name="T29" fmla="*/ 131 h 278"/>
                <a:gd name="T30" fmla="*/ 74 w 304"/>
                <a:gd name="T31" fmla="*/ 120 h 278"/>
                <a:gd name="T32" fmla="*/ 85 w 304"/>
                <a:gd name="T33" fmla="*/ 110 h 278"/>
                <a:gd name="T34" fmla="*/ 95 w 304"/>
                <a:gd name="T35" fmla="*/ 98 h 278"/>
                <a:gd name="T36" fmla="*/ 101 w 304"/>
                <a:gd name="T37" fmla="*/ 83 h 278"/>
                <a:gd name="T38" fmla="*/ 100 w 304"/>
                <a:gd name="T39" fmla="*/ 68 h 278"/>
                <a:gd name="T40" fmla="*/ 94 w 304"/>
                <a:gd name="T41" fmla="*/ 53 h 278"/>
                <a:gd name="T42" fmla="*/ 84 w 304"/>
                <a:gd name="T43" fmla="*/ 41 h 278"/>
                <a:gd name="T44" fmla="*/ 72 w 304"/>
                <a:gd name="T45" fmla="*/ 34 h 278"/>
                <a:gd name="T46" fmla="*/ 62 w 304"/>
                <a:gd name="T47" fmla="*/ 27 h 278"/>
                <a:gd name="T48" fmla="*/ 50 w 304"/>
                <a:gd name="T49" fmla="*/ 20 h 278"/>
                <a:gd name="T50" fmla="*/ 38 w 304"/>
                <a:gd name="T51" fmla="*/ 14 h 278"/>
                <a:gd name="T52" fmla="*/ 27 w 304"/>
                <a:gd name="T53" fmla="*/ 8 h 278"/>
                <a:gd name="T54" fmla="*/ 17 w 304"/>
                <a:gd name="T55" fmla="*/ 3 h 278"/>
                <a:gd name="T56" fmla="*/ 8 w 304"/>
                <a:gd name="T57" fmla="*/ 1 h 278"/>
                <a:gd name="T58" fmla="*/ 2 w 304"/>
                <a:gd name="T59" fmla="*/ 0 h 278"/>
                <a:gd name="T60" fmla="*/ 4 w 304"/>
                <a:gd name="T61" fmla="*/ 3 h 278"/>
                <a:gd name="T62" fmla="*/ 15 w 304"/>
                <a:gd name="T63" fmla="*/ 9 h 278"/>
                <a:gd name="T64" fmla="*/ 25 w 304"/>
                <a:gd name="T65" fmla="*/ 14 h 278"/>
                <a:gd name="T66" fmla="*/ 35 w 304"/>
                <a:gd name="T67" fmla="*/ 19 h 278"/>
                <a:gd name="T68" fmla="*/ 47 w 304"/>
                <a:gd name="T69" fmla="*/ 25 h 278"/>
                <a:gd name="T70" fmla="*/ 57 w 304"/>
                <a:gd name="T71" fmla="*/ 32 h 278"/>
                <a:gd name="T72" fmla="*/ 68 w 304"/>
                <a:gd name="T73" fmla="*/ 39 h 278"/>
                <a:gd name="T74" fmla="*/ 77 w 304"/>
                <a:gd name="T75" fmla="*/ 47 h 27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8"/>
                <a:gd name="T116" fmla="*/ 304 w 304"/>
                <a:gd name="T117" fmla="*/ 278 h 278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8">
                  <a:moveTo>
                    <a:pt x="247" y="104"/>
                  </a:moveTo>
                  <a:lnTo>
                    <a:pt x="258" y="111"/>
                  </a:lnTo>
                  <a:lnTo>
                    <a:pt x="265" y="119"/>
                  </a:lnTo>
                  <a:lnTo>
                    <a:pt x="272" y="129"/>
                  </a:lnTo>
                  <a:lnTo>
                    <a:pt x="276" y="138"/>
                  </a:lnTo>
                  <a:lnTo>
                    <a:pt x="279" y="147"/>
                  </a:lnTo>
                  <a:lnTo>
                    <a:pt x="278" y="158"/>
                  </a:lnTo>
                  <a:lnTo>
                    <a:pt x="275" y="168"/>
                  </a:lnTo>
                  <a:lnTo>
                    <a:pt x="268" y="177"/>
                  </a:lnTo>
                  <a:lnTo>
                    <a:pt x="258" y="187"/>
                  </a:lnTo>
                  <a:lnTo>
                    <a:pt x="246" y="197"/>
                  </a:lnTo>
                  <a:lnTo>
                    <a:pt x="233" y="205"/>
                  </a:lnTo>
                  <a:lnTo>
                    <a:pt x="220" y="213"/>
                  </a:lnTo>
                  <a:lnTo>
                    <a:pt x="205" y="220"/>
                  </a:lnTo>
                  <a:lnTo>
                    <a:pt x="191" y="229"/>
                  </a:lnTo>
                  <a:lnTo>
                    <a:pt x="176" y="237"/>
                  </a:lnTo>
                  <a:lnTo>
                    <a:pt x="163" y="246"/>
                  </a:lnTo>
                  <a:lnTo>
                    <a:pt x="159" y="249"/>
                  </a:lnTo>
                  <a:lnTo>
                    <a:pt x="156" y="253"/>
                  </a:lnTo>
                  <a:lnTo>
                    <a:pt x="153" y="258"/>
                  </a:lnTo>
                  <a:lnTo>
                    <a:pt x="150" y="262"/>
                  </a:lnTo>
                  <a:lnTo>
                    <a:pt x="149" y="266"/>
                  </a:lnTo>
                  <a:lnTo>
                    <a:pt x="149" y="270"/>
                  </a:lnTo>
                  <a:lnTo>
                    <a:pt x="151" y="274"/>
                  </a:lnTo>
                  <a:lnTo>
                    <a:pt x="156" y="277"/>
                  </a:lnTo>
                  <a:lnTo>
                    <a:pt x="162" y="278"/>
                  </a:lnTo>
                  <a:lnTo>
                    <a:pt x="167" y="278"/>
                  </a:lnTo>
                  <a:lnTo>
                    <a:pt x="172" y="277"/>
                  </a:lnTo>
                  <a:lnTo>
                    <a:pt x="176" y="274"/>
                  </a:lnTo>
                  <a:lnTo>
                    <a:pt x="191" y="262"/>
                  </a:lnTo>
                  <a:lnTo>
                    <a:pt x="207" y="251"/>
                  </a:lnTo>
                  <a:lnTo>
                    <a:pt x="223" y="241"/>
                  </a:lnTo>
                  <a:lnTo>
                    <a:pt x="240" y="231"/>
                  </a:lnTo>
                  <a:lnTo>
                    <a:pt x="256" y="220"/>
                  </a:lnTo>
                  <a:lnTo>
                    <a:pt x="272" y="209"/>
                  </a:lnTo>
                  <a:lnTo>
                    <a:pt x="285" y="197"/>
                  </a:lnTo>
                  <a:lnTo>
                    <a:pt x="295" y="183"/>
                  </a:lnTo>
                  <a:lnTo>
                    <a:pt x="303" y="167"/>
                  </a:lnTo>
                  <a:lnTo>
                    <a:pt x="304" y="151"/>
                  </a:lnTo>
                  <a:lnTo>
                    <a:pt x="301" y="136"/>
                  </a:lnTo>
                  <a:lnTo>
                    <a:pt x="294" y="120"/>
                  </a:lnTo>
                  <a:lnTo>
                    <a:pt x="282" y="107"/>
                  </a:lnTo>
                  <a:lnTo>
                    <a:pt x="269" y="94"/>
                  </a:lnTo>
                  <a:lnTo>
                    <a:pt x="252" y="83"/>
                  </a:lnTo>
                  <a:lnTo>
                    <a:pt x="233" y="74"/>
                  </a:lnTo>
                  <a:lnTo>
                    <a:pt x="218" y="68"/>
                  </a:lnTo>
                  <a:lnTo>
                    <a:pt x="202" y="62"/>
                  </a:lnTo>
                  <a:lnTo>
                    <a:pt x="186" y="54"/>
                  </a:lnTo>
                  <a:lnTo>
                    <a:pt x="169" y="48"/>
                  </a:lnTo>
                  <a:lnTo>
                    <a:pt x="151" y="41"/>
                  </a:lnTo>
                  <a:lnTo>
                    <a:pt x="133" y="35"/>
                  </a:lnTo>
                  <a:lnTo>
                    <a:pt x="115" y="28"/>
                  </a:lnTo>
                  <a:lnTo>
                    <a:pt x="98" y="21"/>
                  </a:lnTo>
                  <a:lnTo>
                    <a:pt x="82" y="16"/>
                  </a:lnTo>
                  <a:lnTo>
                    <a:pt x="66" y="11"/>
                  </a:lnTo>
                  <a:lnTo>
                    <a:pt x="50" y="7"/>
                  </a:lnTo>
                  <a:lnTo>
                    <a:pt x="37" y="4"/>
                  </a:lnTo>
                  <a:lnTo>
                    <a:pt x="25" y="1"/>
                  </a:lnTo>
                  <a:lnTo>
                    <a:pt x="15" y="0"/>
                  </a:lnTo>
                  <a:lnTo>
                    <a:pt x="6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8" y="12"/>
                  </a:lnTo>
                  <a:lnTo>
                    <a:pt x="44" y="17"/>
                  </a:lnTo>
                  <a:lnTo>
                    <a:pt x="58" y="23"/>
                  </a:lnTo>
                  <a:lnTo>
                    <a:pt x="74" y="28"/>
                  </a:lnTo>
                  <a:lnTo>
                    <a:pt x="90" y="33"/>
                  </a:lnTo>
                  <a:lnTo>
                    <a:pt x="106" y="39"/>
                  </a:lnTo>
                  <a:lnTo>
                    <a:pt x="122" y="45"/>
                  </a:lnTo>
                  <a:lnTo>
                    <a:pt x="140" y="51"/>
                  </a:lnTo>
                  <a:lnTo>
                    <a:pt x="156" y="58"/>
                  </a:lnTo>
                  <a:lnTo>
                    <a:pt x="172" y="64"/>
                  </a:lnTo>
                  <a:lnTo>
                    <a:pt x="188" y="71"/>
                  </a:lnTo>
                  <a:lnTo>
                    <a:pt x="204" y="79"/>
                  </a:lnTo>
                  <a:lnTo>
                    <a:pt x="218" y="86"/>
                  </a:lnTo>
                  <a:lnTo>
                    <a:pt x="233" y="95"/>
                  </a:lnTo>
                  <a:lnTo>
                    <a:pt x="247" y="10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0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090E264-5969-49B1-88DF-1880934B3F71}" type="slidenum">
              <a:rPr lang="en-US" smtClean="0"/>
              <a:pPr>
                <a:defRPr/>
              </a:pPr>
              <a:t>10</a:t>
            </a:fld>
            <a:endParaRPr lang="en-US" smtClean="0"/>
          </a:p>
        </p:txBody>
      </p:sp>
      <p:sp>
        <p:nvSpPr>
          <p:cNvPr id="5151" name="Rectangle 7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Network: Wireless Hosts</a:t>
            </a:r>
          </a:p>
        </p:txBody>
      </p:sp>
      <p:sp>
        <p:nvSpPr>
          <p:cNvPr id="5152" name="Oval 3"/>
          <p:cNvSpPr>
            <a:spLocks noChangeArrowheads="1"/>
          </p:cNvSpPr>
          <p:nvPr/>
        </p:nvSpPr>
        <p:spPr bwMode="auto">
          <a:xfrm>
            <a:off x="4940300" y="4667250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153" name="Group 4"/>
          <p:cNvGrpSpPr>
            <a:grpSpLocks/>
          </p:cNvGrpSpPr>
          <p:nvPr/>
        </p:nvGrpSpPr>
        <p:grpSpPr bwMode="auto">
          <a:xfrm>
            <a:off x="3059113" y="2781300"/>
            <a:ext cx="2362200" cy="1762125"/>
            <a:chOff x="3839" y="1737"/>
            <a:chExt cx="1488" cy="1110"/>
          </a:xfrm>
        </p:grpSpPr>
        <p:sp>
          <p:nvSpPr>
            <p:cNvPr id="5189" name="Freeform 5"/>
            <p:cNvSpPr>
              <a:spLocks/>
            </p:cNvSpPr>
            <p:nvPr/>
          </p:nvSpPr>
          <p:spPr bwMode="auto">
            <a:xfrm>
              <a:off x="3839" y="1737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90" name="Text Box 6"/>
            <p:cNvSpPr txBox="1">
              <a:spLocks noChangeArrowheads="1"/>
            </p:cNvSpPr>
            <p:nvPr/>
          </p:nvSpPr>
          <p:spPr bwMode="auto">
            <a:xfrm>
              <a:off x="4075" y="1947"/>
              <a:ext cx="1094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1800" b="0">
                  <a:latin typeface="Comic Sans MS" pitchFamily="66" charset="0"/>
                </a:rPr>
                <a:t>network </a:t>
              </a:r>
            </a:p>
            <a:p>
              <a:r>
                <a:rPr lang="en-US" sz="1800" b="0">
                  <a:latin typeface="Comic Sans MS" pitchFamily="66" charset="0"/>
                </a:rPr>
                <a:t>infrastructure</a:t>
              </a:r>
            </a:p>
          </p:txBody>
        </p:sp>
      </p:grpSp>
      <p:pic>
        <p:nvPicPr>
          <p:cNvPr id="5154" name="Picture 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75325" y="5245100"/>
            <a:ext cx="2143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55" name="Group 8"/>
          <p:cNvGrpSpPr>
            <a:grpSpLocks/>
          </p:cNvGrpSpPr>
          <p:nvPr/>
        </p:nvGrpSpPr>
        <p:grpSpPr bwMode="auto">
          <a:xfrm>
            <a:off x="1147763" y="1709738"/>
            <a:ext cx="1755775" cy="1625600"/>
            <a:chOff x="567" y="1326"/>
            <a:chExt cx="1106" cy="1024"/>
          </a:xfrm>
        </p:grpSpPr>
        <p:sp>
          <p:nvSpPr>
            <p:cNvPr id="5184" name="Oval 9"/>
            <p:cNvSpPr>
              <a:spLocks noChangeArrowheads="1"/>
            </p:cNvSpPr>
            <p:nvPr/>
          </p:nvSpPr>
          <p:spPr bwMode="auto">
            <a:xfrm>
              <a:off x="567" y="1326"/>
              <a:ext cx="1106" cy="1024"/>
            </a:xfrm>
            <a:prstGeom prst="ellipse">
              <a:avLst/>
            </a:prstGeom>
            <a:solidFill>
              <a:srgbClr val="CCEC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5185" name="Picture 10" descr="31u_bnrz[1]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 rot="-5400000">
              <a:off x="1035" y="1785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5186" name="Group 11"/>
            <p:cNvGrpSpPr>
              <a:grpSpLocks/>
            </p:cNvGrpSpPr>
            <p:nvPr/>
          </p:nvGrpSpPr>
          <p:grpSpPr bwMode="auto">
            <a:xfrm>
              <a:off x="1221" y="1447"/>
              <a:ext cx="252" cy="288"/>
              <a:chOff x="2870" y="1518"/>
              <a:chExt cx="292" cy="320"/>
            </a:xfrm>
          </p:grpSpPr>
          <p:graphicFrame>
            <p:nvGraphicFramePr>
              <p:cNvPr id="5148" name="Object 1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5148" name="Clip" r:id="rId6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5149" name="Object 1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5149" name="Clip" r:id="rId7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5187" name="Group 14"/>
            <p:cNvGrpSpPr>
              <a:grpSpLocks/>
            </p:cNvGrpSpPr>
            <p:nvPr/>
          </p:nvGrpSpPr>
          <p:grpSpPr bwMode="auto">
            <a:xfrm>
              <a:off x="869" y="1379"/>
              <a:ext cx="252" cy="288"/>
              <a:chOff x="2870" y="1518"/>
              <a:chExt cx="292" cy="320"/>
            </a:xfrm>
          </p:grpSpPr>
          <p:graphicFrame>
            <p:nvGraphicFramePr>
              <p:cNvPr id="5146" name="Object 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5146" name="Clip" r:id="rId8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5147" name="Object 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5147" name="Clip" r:id="rId9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5188" name="Group 17"/>
            <p:cNvGrpSpPr>
              <a:grpSpLocks/>
            </p:cNvGrpSpPr>
            <p:nvPr/>
          </p:nvGrpSpPr>
          <p:grpSpPr bwMode="auto">
            <a:xfrm>
              <a:off x="727" y="1878"/>
              <a:ext cx="252" cy="288"/>
              <a:chOff x="2870" y="1518"/>
              <a:chExt cx="292" cy="320"/>
            </a:xfrm>
          </p:grpSpPr>
          <p:graphicFrame>
            <p:nvGraphicFramePr>
              <p:cNvPr id="5144" name="Object 18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5144" name="Clip" r:id="rId1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5145" name="Object 19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5145" name="Clip" r:id="rId11" imgW="1266840" imgH="1200240" progId="MS_ClipArt_Gallery.2">
                  <p:embed/>
                </p:oleObj>
              </a:graphicData>
            </a:graphic>
          </p:graphicFrame>
        </p:grpSp>
      </p:grpSp>
      <p:sp>
        <p:nvSpPr>
          <p:cNvPr id="5156" name="Line 20"/>
          <p:cNvSpPr>
            <a:spLocks noChangeShapeType="1"/>
          </p:cNvSpPr>
          <p:nvPr/>
        </p:nvSpPr>
        <p:spPr bwMode="auto">
          <a:xfrm>
            <a:off x="2176463" y="2711450"/>
            <a:ext cx="900112" cy="3921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57" name="Oval 21"/>
          <p:cNvSpPr>
            <a:spLocks noChangeArrowheads="1"/>
          </p:cNvSpPr>
          <p:nvPr/>
        </p:nvSpPr>
        <p:spPr bwMode="auto">
          <a:xfrm>
            <a:off x="1243013" y="3632200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158" name="Picture 22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46288" y="4300538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59" name="Group 23"/>
          <p:cNvGrpSpPr>
            <a:grpSpLocks/>
          </p:cNvGrpSpPr>
          <p:nvPr/>
        </p:nvGrpSpPr>
        <p:grpSpPr bwMode="auto">
          <a:xfrm>
            <a:off x="2033588" y="4651375"/>
            <a:ext cx="400050" cy="457200"/>
            <a:chOff x="2870" y="1518"/>
            <a:chExt cx="292" cy="320"/>
          </a:xfrm>
        </p:grpSpPr>
        <p:graphicFrame>
          <p:nvGraphicFramePr>
            <p:cNvPr id="5142" name="Object 2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42" name="Clip" r:id="rId12" imgW="819000" imgH="847800" progId="MS_ClipArt_Gallery.2">
                <p:embed/>
              </p:oleObj>
            </a:graphicData>
          </a:graphic>
        </p:graphicFrame>
        <p:graphicFrame>
          <p:nvGraphicFramePr>
            <p:cNvPr id="5143" name="Object 2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43" name="Clip" r:id="rId13" imgW="1266840" imgH="1200240" progId="MS_ClipArt_Gallery.2">
                <p:embed/>
              </p:oleObj>
            </a:graphicData>
          </a:graphic>
        </p:graphicFrame>
      </p:grpSp>
      <p:grpSp>
        <p:nvGrpSpPr>
          <p:cNvPr id="5160" name="Group 26"/>
          <p:cNvGrpSpPr>
            <a:grpSpLocks/>
          </p:cNvGrpSpPr>
          <p:nvPr/>
        </p:nvGrpSpPr>
        <p:grpSpPr bwMode="auto">
          <a:xfrm>
            <a:off x="1882775" y="3702050"/>
            <a:ext cx="400050" cy="457200"/>
            <a:chOff x="2870" y="1518"/>
            <a:chExt cx="292" cy="320"/>
          </a:xfrm>
        </p:grpSpPr>
        <p:graphicFrame>
          <p:nvGraphicFramePr>
            <p:cNvPr id="5140" name="Object 2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40" name="Clip" r:id="rId14" imgW="819000" imgH="847800" progId="MS_ClipArt_Gallery.2">
                <p:embed/>
              </p:oleObj>
            </a:graphicData>
          </a:graphic>
        </p:graphicFrame>
        <p:graphicFrame>
          <p:nvGraphicFramePr>
            <p:cNvPr id="5141" name="Object 2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41" name="Clip" r:id="rId15" imgW="1266840" imgH="1200240" progId="MS_ClipArt_Gallery.2">
                <p:embed/>
              </p:oleObj>
            </a:graphicData>
          </a:graphic>
        </p:graphicFrame>
      </p:grpSp>
      <p:grpSp>
        <p:nvGrpSpPr>
          <p:cNvPr id="5161" name="Group 29"/>
          <p:cNvGrpSpPr>
            <a:grpSpLocks/>
          </p:cNvGrpSpPr>
          <p:nvPr/>
        </p:nvGrpSpPr>
        <p:grpSpPr bwMode="auto">
          <a:xfrm>
            <a:off x="1497013" y="4508500"/>
            <a:ext cx="400050" cy="457200"/>
            <a:chOff x="2870" y="1518"/>
            <a:chExt cx="292" cy="320"/>
          </a:xfrm>
        </p:grpSpPr>
        <p:graphicFrame>
          <p:nvGraphicFramePr>
            <p:cNvPr id="5138" name="Object 3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38" name="Clip" r:id="rId16" imgW="819000" imgH="847800" progId="MS_ClipArt_Gallery.2">
                <p:embed/>
              </p:oleObj>
            </a:graphicData>
          </a:graphic>
        </p:graphicFrame>
        <p:graphicFrame>
          <p:nvGraphicFramePr>
            <p:cNvPr id="5139" name="Object 3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39" name="Clip" r:id="rId17" imgW="1266840" imgH="1200240" progId="MS_ClipArt_Gallery.2">
                <p:embed/>
              </p:oleObj>
            </a:graphicData>
          </a:graphic>
        </p:graphicFrame>
      </p:grpSp>
      <p:sp>
        <p:nvSpPr>
          <p:cNvPr id="5162" name="Line 32"/>
          <p:cNvSpPr>
            <a:spLocks noChangeShapeType="1"/>
          </p:cNvSpPr>
          <p:nvPr/>
        </p:nvSpPr>
        <p:spPr bwMode="auto">
          <a:xfrm flipV="1">
            <a:off x="2197100" y="3721100"/>
            <a:ext cx="974725" cy="7254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5163" name="Group 33"/>
          <p:cNvGrpSpPr>
            <a:grpSpLocks/>
          </p:cNvGrpSpPr>
          <p:nvPr/>
        </p:nvGrpSpPr>
        <p:grpSpPr bwMode="auto">
          <a:xfrm>
            <a:off x="1373188" y="3960813"/>
            <a:ext cx="400050" cy="457200"/>
            <a:chOff x="2870" y="1518"/>
            <a:chExt cx="292" cy="320"/>
          </a:xfrm>
        </p:grpSpPr>
        <p:graphicFrame>
          <p:nvGraphicFramePr>
            <p:cNvPr id="5136" name="Object 3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36" name="Clip" r:id="rId18" imgW="819000" imgH="847800" progId="MS_ClipArt_Gallery.2">
                <p:embed/>
              </p:oleObj>
            </a:graphicData>
          </a:graphic>
        </p:graphicFrame>
        <p:graphicFrame>
          <p:nvGraphicFramePr>
            <p:cNvPr id="5137" name="Object 3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37" name="Clip" r:id="rId19" imgW="1266840" imgH="1200240" progId="MS_ClipArt_Gallery.2">
                <p:embed/>
              </p:oleObj>
            </a:graphicData>
          </a:graphic>
        </p:graphicFrame>
      </p:grpSp>
      <p:sp>
        <p:nvSpPr>
          <p:cNvPr id="5164" name="Oval 36"/>
          <p:cNvSpPr>
            <a:spLocks noChangeArrowheads="1"/>
          </p:cNvSpPr>
          <p:nvPr/>
        </p:nvSpPr>
        <p:spPr bwMode="auto">
          <a:xfrm>
            <a:off x="3630613" y="4583113"/>
            <a:ext cx="1755775" cy="1625600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165" name="Picture 37" descr="31u_bnrz[1]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33888" y="5265738"/>
            <a:ext cx="2143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166" name="Group 38"/>
          <p:cNvGrpSpPr>
            <a:grpSpLocks/>
          </p:cNvGrpSpPr>
          <p:nvPr/>
        </p:nvGrpSpPr>
        <p:grpSpPr bwMode="auto">
          <a:xfrm>
            <a:off x="4421188" y="5616575"/>
            <a:ext cx="400050" cy="457200"/>
            <a:chOff x="2870" y="1518"/>
            <a:chExt cx="292" cy="320"/>
          </a:xfrm>
        </p:grpSpPr>
        <p:graphicFrame>
          <p:nvGraphicFramePr>
            <p:cNvPr id="5134" name="Object 3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34" name="Clip" r:id="rId20" imgW="819000" imgH="847800" progId="MS_ClipArt_Gallery.2">
                <p:embed/>
              </p:oleObj>
            </a:graphicData>
          </a:graphic>
        </p:graphicFrame>
        <p:graphicFrame>
          <p:nvGraphicFramePr>
            <p:cNvPr id="5135" name="Object 4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35" name="Clip" r:id="rId21" imgW="1266840" imgH="1200240" progId="MS_ClipArt_Gallery.2">
                <p:embed/>
              </p:oleObj>
            </a:graphicData>
          </a:graphic>
        </p:graphicFrame>
      </p:grpSp>
      <p:grpSp>
        <p:nvGrpSpPr>
          <p:cNvPr id="5167" name="Group 41"/>
          <p:cNvGrpSpPr>
            <a:grpSpLocks/>
          </p:cNvGrpSpPr>
          <p:nvPr/>
        </p:nvGrpSpPr>
        <p:grpSpPr bwMode="auto">
          <a:xfrm>
            <a:off x="4622800" y="4672013"/>
            <a:ext cx="400050" cy="457200"/>
            <a:chOff x="2870" y="1518"/>
            <a:chExt cx="292" cy="320"/>
          </a:xfrm>
        </p:grpSpPr>
        <p:graphicFrame>
          <p:nvGraphicFramePr>
            <p:cNvPr id="5132" name="Object 4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32" name="Clip" r:id="rId22" imgW="819000" imgH="847800" progId="MS_ClipArt_Gallery.2">
                <p:embed/>
              </p:oleObj>
            </a:graphicData>
          </a:graphic>
        </p:graphicFrame>
        <p:graphicFrame>
          <p:nvGraphicFramePr>
            <p:cNvPr id="5133" name="Object 4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33" name="Clip" r:id="rId23" imgW="1266840" imgH="1200240" progId="MS_ClipArt_Gallery.2">
                <p:embed/>
              </p:oleObj>
            </a:graphicData>
          </a:graphic>
        </p:graphicFrame>
      </p:grpSp>
      <p:grpSp>
        <p:nvGrpSpPr>
          <p:cNvPr id="5168" name="Group 44"/>
          <p:cNvGrpSpPr>
            <a:grpSpLocks/>
          </p:cNvGrpSpPr>
          <p:nvPr/>
        </p:nvGrpSpPr>
        <p:grpSpPr bwMode="auto">
          <a:xfrm>
            <a:off x="3884613" y="5473700"/>
            <a:ext cx="400050" cy="457200"/>
            <a:chOff x="2870" y="1518"/>
            <a:chExt cx="292" cy="320"/>
          </a:xfrm>
        </p:grpSpPr>
        <p:graphicFrame>
          <p:nvGraphicFramePr>
            <p:cNvPr id="5130" name="Object 4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30" name="Clip" r:id="rId24" imgW="819000" imgH="847800" progId="MS_ClipArt_Gallery.2">
                <p:embed/>
              </p:oleObj>
            </a:graphicData>
          </a:graphic>
        </p:graphicFrame>
        <p:graphicFrame>
          <p:nvGraphicFramePr>
            <p:cNvPr id="5131" name="Object 4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31" name="Clip" r:id="rId25" imgW="1266840" imgH="1200240" progId="MS_ClipArt_Gallery.2">
                <p:embed/>
              </p:oleObj>
            </a:graphicData>
          </a:graphic>
        </p:graphicFrame>
      </p:grpSp>
      <p:grpSp>
        <p:nvGrpSpPr>
          <p:cNvPr id="5169" name="Group 47"/>
          <p:cNvGrpSpPr>
            <a:grpSpLocks/>
          </p:cNvGrpSpPr>
          <p:nvPr/>
        </p:nvGrpSpPr>
        <p:grpSpPr bwMode="auto">
          <a:xfrm>
            <a:off x="3760788" y="4926013"/>
            <a:ext cx="400050" cy="457200"/>
            <a:chOff x="2870" y="1518"/>
            <a:chExt cx="292" cy="320"/>
          </a:xfrm>
        </p:grpSpPr>
        <p:graphicFrame>
          <p:nvGraphicFramePr>
            <p:cNvPr id="5128" name="Object 4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28" name="Clip" r:id="rId26" imgW="819000" imgH="847800" progId="MS_ClipArt_Gallery.2">
                <p:embed/>
              </p:oleObj>
            </a:graphicData>
          </a:graphic>
        </p:graphicFrame>
        <p:graphicFrame>
          <p:nvGraphicFramePr>
            <p:cNvPr id="5129" name="Object 4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29" name="Clip" r:id="rId27" imgW="1266840" imgH="1200240" progId="MS_ClipArt_Gallery.2">
                <p:embed/>
              </p:oleObj>
            </a:graphicData>
          </a:graphic>
        </p:graphicFrame>
      </p:grpSp>
      <p:grpSp>
        <p:nvGrpSpPr>
          <p:cNvPr id="5170" name="Group 50"/>
          <p:cNvGrpSpPr>
            <a:grpSpLocks/>
          </p:cNvGrpSpPr>
          <p:nvPr/>
        </p:nvGrpSpPr>
        <p:grpSpPr bwMode="auto">
          <a:xfrm>
            <a:off x="5837238" y="5697538"/>
            <a:ext cx="400050" cy="457200"/>
            <a:chOff x="2870" y="1518"/>
            <a:chExt cx="292" cy="320"/>
          </a:xfrm>
        </p:grpSpPr>
        <p:graphicFrame>
          <p:nvGraphicFramePr>
            <p:cNvPr id="5126" name="Object 5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26" name="Clip" r:id="rId28" imgW="819000" imgH="847800" progId="MS_ClipArt_Gallery.2">
                <p:embed/>
              </p:oleObj>
            </a:graphicData>
          </a:graphic>
        </p:graphicFrame>
        <p:graphicFrame>
          <p:nvGraphicFramePr>
            <p:cNvPr id="5127" name="Object 5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27" name="Clip" r:id="rId29" imgW="1266840" imgH="1200240" progId="MS_ClipArt_Gallery.2">
                <p:embed/>
              </p:oleObj>
            </a:graphicData>
          </a:graphic>
        </p:graphicFrame>
      </p:grpSp>
      <p:grpSp>
        <p:nvGrpSpPr>
          <p:cNvPr id="5171" name="Group 53"/>
          <p:cNvGrpSpPr>
            <a:grpSpLocks/>
          </p:cNvGrpSpPr>
          <p:nvPr/>
        </p:nvGrpSpPr>
        <p:grpSpPr bwMode="auto">
          <a:xfrm>
            <a:off x="4830763" y="5164138"/>
            <a:ext cx="835025" cy="457200"/>
            <a:chOff x="3345" y="3383"/>
            <a:chExt cx="526" cy="288"/>
          </a:xfrm>
        </p:grpSpPr>
        <p:grpSp>
          <p:nvGrpSpPr>
            <p:cNvPr id="5179" name="Group 54"/>
            <p:cNvGrpSpPr>
              <a:grpSpLocks/>
            </p:cNvGrpSpPr>
            <p:nvPr/>
          </p:nvGrpSpPr>
          <p:grpSpPr bwMode="auto">
            <a:xfrm>
              <a:off x="3426" y="3383"/>
              <a:ext cx="252" cy="288"/>
              <a:chOff x="2870" y="1518"/>
              <a:chExt cx="292" cy="320"/>
            </a:xfrm>
          </p:grpSpPr>
          <p:graphicFrame>
            <p:nvGraphicFramePr>
              <p:cNvPr id="5124" name="Object 5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5124" name="Clip" r:id="rId30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5125" name="Object 5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5125" name="Clip" r:id="rId31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5180" name="Line 57"/>
            <p:cNvSpPr>
              <a:spLocks noChangeShapeType="1"/>
            </p:cNvSpPr>
            <p:nvPr/>
          </p:nvSpPr>
          <p:spPr bwMode="auto">
            <a:xfrm>
              <a:off x="3679" y="354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1" name="Line 58"/>
            <p:cNvSpPr>
              <a:spLocks noChangeShapeType="1"/>
            </p:cNvSpPr>
            <p:nvPr/>
          </p:nvSpPr>
          <p:spPr bwMode="auto">
            <a:xfrm flipH="1">
              <a:off x="3372" y="348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2" name="Line 59"/>
            <p:cNvSpPr>
              <a:spLocks noChangeShapeType="1"/>
            </p:cNvSpPr>
            <p:nvPr/>
          </p:nvSpPr>
          <p:spPr bwMode="auto">
            <a:xfrm flipH="1">
              <a:off x="3381" y="3534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83" name="Line 60"/>
            <p:cNvSpPr>
              <a:spLocks noChangeShapeType="1"/>
            </p:cNvSpPr>
            <p:nvPr/>
          </p:nvSpPr>
          <p:spPr bwMode="auto">
            <a:xfrm flipH="1">
              <a:off x="3345" y="3576"/>
              <a:ext cx="1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172" name="Line 61"/>
          <p:cNvSpPr>
            <a:spLocks noChangeShapeType="1"/>
          </p:cNvSpPr>
          <p:nvPr/>
        </p:nvSpPr>
        <p:spPr bwMode="auto">
          <a:xfrm flipH="1" flipV="1">
            <a:off x="5068888" y="4303713"/>
            <a:ext cx="747712" cy="1095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73" name="Line 62"/>
          <p:cNvSpPr>
            <a:spLocks noChangeShapeType="1"/>
          </p:cNvSpPr>
          <p:nvPr/>
        </p:nvSpPr>
        <p:spPr bwMode="auto">
          <a:xfrm flipH="1" flipV="1">
            <a:off x="4297363" y="4451350"/>
            <a:ext cx="176212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74" name="Rectangle 64"/>
          <p:cNvSpPr>
            <a:spLocks noChangeArrowheads="1"/>
          </p:cNvSpPr>
          <p:nvPr/>
        </p:nvSpPr>
        <p:spPr bwMode="auto">
          <a:xfrm>
            <a:off x="5584825" y="1631950"/>
            <a:ext cx="1912938" cy="28098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75" name="Rectangle 65"/>
          <p:cNvSpPr>
            <a:spLocks noChangeArrowheads="1"/>
          </p:cNvSpPr>
          <p:nvPr/>
        </p:nvSpPr>
        <p:spPr bwMode="auto">
          <a:xfrm>
            <a:off x="5603875" y="1662113"/>
            <a:ext cx="3308350" cy="1958975"/>
          </a:xfrm>
          <a:prstGeom prst="rect">
            <a:avLst/>
          </a:prstGeom>
          <a:noFill/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</a:pPr>
            <a:r>
              <a:rPr lang="en-US" b="0" u="sng">
                <a:solidFill>
                  <a:srgbClr val="0000FF"/>
                </a:solidFill>
                <a:latin typeface="Arial" charset="0"/>
              </a:rPr>
              <a:t>Wireless host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Laptop, PDA, IP phone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Run applications</a:t>
            </a:r>
          </a:p>
          <a:p>
            <a:pPr marL="223838" indent="-223838" algn="l" eaLnBrk="0" hangingPunct="0">
              <a:lnSpc>
                <a:spcPct val="90000"/>
              </a:lnSpc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May be stationary (non-mobile) or mobile</a:t>
            </a:r>
          </a:p>
        </p:txBody>
      </p:sp>
      <p:grpSp>
        <p:nvGrpSpPr>
          <p:cNvPr id="5176" name="Group 66"/>
          <p:cNvGrpSpPr>
            <a:grpSpLocks/>
          </p:cNvGrpSpPr>
          <p:nvPr/>
        </p:nvGrpSpPr>
        <p:grpSpPr bwMode="auto">
          <a:xfrm>
            <a:off x="7627938" y="1228725"/>
            <a:ext cx="808037" cy="668338"/>
            <a:chOff x="2870" y="1518"/>
            <a:chExt cx="292" cy="320"/>
          </a:xfrm>
        </p:grpSpPr>
        <p:graphicFrame>
          <p:nvGraphicFramePr>
            <p:cNvPr id="5122" name="Object 6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5122" name="Clip" r:id="rId32" imgW="819000" imgH="847800" progId="MS_ClipArt_Gallery.2">
                <p:embed/>
              </p:oleObj>
            </a:graphicData>
          </a:graphic>
        </p:graphicFrame>
        <p:graphicFrame>
          <p:nvGraphicFramePr>
            <p:cNvPr id="5123" name="Object 6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5123" name="Clip" r:id="rId33" imgW="1266840" imgH="1200240" progId="MS_ClipArt_Gallery.2">
                <p:embed/>
              </p:oleObj>
            </a:graphicData>
          </a:graphic>
        </p:graphicFrame>
      </p:grpSp>
      <p:sp>
        <p:nvSpPr>
          <p:cNvPr id="5177" name="Line 69"/>
          <p:cNvSpPr>
            <a:spLocks noChangeShapeType="1"/>
          </p:cNvSpPr>
          <p:nvPr/>
        </p:nvSpPr>
        <p:spPr bwMode="auto">
          <a:xfrm flipH="1">
            <a:off x="6189663" y="3621088"/>
            <a:ext cx="609600" cy="21748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5178" name="Line 70"/>
          <p:cNvSpPr>
            <a:spLocks noChangeShapeType="1"/>
          </p:cNvSpPr>
          <p:nvPr/>
        </p:nvSpPr>
        <p:spPr bwMode="auto">
          <a:xfrm flipH="1">
            <a:off x="5257800" y="3621088"/>
            <a:ext cx="1541463" cy="16383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6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255729-C5B8-4EC8-A8BE-A4D533E61441}" type="slidenum">
              <a:rPr lang="en-US" smtClean="0"/>
              <a:pPr>
                <a:defRPr/>
              </a:pPr>
              <a:t>11</a:t>
            </a:fld>
            <a:endParaRPr lang="en-US" smtClean="0"/>
          </a:p>
        </p:txBody>
      </p:sp>
      <p:sp>
        <p:nvSpPr>
          <p:cNvPr id="102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802.11 LAN Architecture</a:t>
            </a:r>
          </a:p>
        </p:txBody>
      </p:sp>
      <p:sp>
        <p:nvSpPr>
          <p:cNvPr id="10258" name="Rectangle 3"/>
          <p:cNvSpPr>
            <a:spLocks noChangeArrowheads="1"/>
          </p:cNvSpPr>
          <p:nvPr/>
        </p:nvSpPr>
        <p:spPr bwMode="auto">
          <a:xfrm>
            <a:off x="5186363" y="1393825"/>
            <a:ext cx="3690937" cy="3149600"/>
          </a:xfrm>
          <a:prstGeom prst="rect">
            <a:avLst/>
          </a:prstGeom>
          <a:solidFill>
            <a:schemeClr val="bg1"/>
          </a:solidFill>
          <a:ln w="25400">
            <a:solidFill>
              <a:srgbClr val="FF3300"/>
            </a:solidFill>
            <a:miter lim="800000"/>
            <a:headEnd/>
            <a:tailEnd/>
          </a:ln>
        </p:spPr>
        <p:txBody>
          <a:bodyPr/>
          <a:lstStyle/>
          <a:p>
            <a:pPr marL="223838" indent="-223838" algn="l" eaLnBrk="0" hangingPunct="0"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Access Point (AP)</a:t>
            </a:r>
          </a:p>
          <a:p>
            <a:pPr marL="563563" lvl="1" indent="-223838" algn="l" eaLnBrk="0" hangingPunct="0">
              <a:spcBef>
                <a:spcPct val="10000"/>
              </a:spcBef>
              <a:buFont typeface="Helvetica" pitchFamily="34" charset="0"/>
              <a:buChar char="–"/>
            </a:pPr>
            <a:r>
              <a:rPr lang="en-US" b="0">
                <a:solidFill>
                  <a:schemeClr val="accent2"/>
                </a:solidFill>
                <a:latin typeface="Arial" charset="0"/>
              </a:rPr>
              <a:t>Base station that communicates with the wireless hosts</a:t>
            </a:r>
            <a:endParaRPr lang="en-US" sz="1800" b="0">
              <a:solidFill>
                <a:schemeClr val="accent2"/>
              </a:solidFill>
              <a:latin typeface="Arial" charset="0"/>
            </a:endParaRPr>
          </a:p>
          <a:p>
            <a:pPr marL="223838" indent="-223838" algn="l" eaLnBrk="0" hangingPunct="0">
              <a:spcBef>
                <a:spcPct val="50000"/>
              </a:spcBef>
              <a:buFontTx/>
              <a:buChar char="•"/>
            </a:pPr>
            <a:r>
              <a:rPr lang="en-US" b="0">
                <a:solidFill>
                  <a:srgbClr val="0000FF"/>
                </a:solidFill>
                <a:latin typeface="Arial" charset="0"/>
              </a:rPr>
              <a:t>Basic Service Set (BSS)</a:t>
            </a:r>
          </a:p>
          <a:p>
            <a:pPr marL="563563" lvl="1" indent="-223838" algn="l" eaLnBrk="0" hangingPunct="0">
              <a:spcBef>
                <a:spcPct val="10000"/>
              </a:spcBef>
              <a:buFont typeface="Helvetica" pitchFamily="34" charset="0"/>
              <a:buChar char="–"/>
            </a:pPr>
            <a:r>
              <a:rPr lang="en-US" b="0">
                <a:solidFill>
                  <a:schemeClr val="accent2"/>
                </a:solidFill>
                <a:latin typeface="Arial" charset="0"/>
              </a:rPr>
              <a:t>Coverage of one AP</a:t>
            </a:r>
          </a:p>
          <a:p>
            <a:pPr marL="563563" lvl="1" indent="-223838" algn="l" eaLnBrk="0" hangingPunct="0">
              <a:spcBef>
                <a:spcPct val="10000"/>
              </a:spcBef>
              <a:buFont typeface="Helvetica" pitchFamily="34" charset="0"/>
              <a:buChar char="–"/>
            </a:pPr>
            <a:r>
              <a:rPr lang="en-US" b="0">
                <a:solidFill>
                  <a:schemeClr val="accent2"/>
                </a:solidFill>
                <a:latin typeface="Arial" charset="0"/>
              </a:rPr>
              <a:t>AP acts as the master</a:t>
            </a:r>
          </a:p>
          <a:p>
            <a:pPr marL="563563" lvl="1" indent="-223838" algn="l" eaLnBrk="0" hangingPunct="0">
              <a:spcBef>
                <a:spcPct val="10000"/>
              </a:spcBef>
              <a:buFont typeface="Helvetica" pitchFamily="34" charset="0"/>
              <a:buChar char="–"/>
            </a:pPr>
            <a:r>
              <a:rPr lang="en-US" b="0">
                <a:solidFill>
                  <a:schemeClr val="accent2"/>
                </a:solidFill>
                <a:latin typeface="Arial" charset="0"/>
              </a:rPr>
              <a:t>Identified by an “network name” known as an SSID</a:t>
            </a:r>
          </a:p>
        </p:txBody>
      </p:sp>
      <p:sp>
        <p:nvSpPr>
          <p:cNvPr id="10259" name="Oval 4"/>
          <p:cNvSpPr>
            <a:spLocks noChangeArrowheads="1"/>
          </p:cNvSpPr>
          <p:nvPr/>
        </p:nvSpPr>
        <p:spPr bwMode="auto">
          <a:xfrm>
            <a:off x="2516188" y="4230688"/>
            <a:ext cx="2055812" cy="1946275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0" name="Oval 5"/>
          <p:cNvSpPr>
            <a:spLocks noChangeArrowheads="1"/>
          </p:cNvSpPr>
          <p:nvPr/>
        </p:nvSpPr>
        <p:spPr bwMode="auto">
          <a:xfrm>
            <a:off x="474663" y="2492375"/>
            <a:ext cx="2055812" cy="1946275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261" name="Group 6"/>
          <p:cNvGrpSpPr>
            <a:grpSpLocks/>
          </p:cNvGrpSpPr>
          <p:nvPr/>
        </p:nvGrpSpPr>
        <p:grpSpPr bwMode="auto">
          <a:xfrm>
            <a:off x="3154363" y="3606800"/>
            <a:ext cx="417512" cy="192088"/>
            <a:chOff x="3600" y="219"/>
            <a:chExt cx="360" cy="175"/>
          </a:xfrm>
        </p:grpSpPr>
        <p:sp>
          <p:nvSpPr>
            <p:cNvPr id="10321" name="Oval 7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2" name="Line 8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3" name="Line 9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4" name="Rectangle 10"/>
            <p:cNvSpPr>
              <a:spLocks noChangeArrowheads="1"/>
            </p:cNvSpPr>
            <p:nvPr/>
          </p:nvSpPr>
          <p:spPr bwMode="auto"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2400" b="0">
                <a:latin typeface="Times New Roman" pitchFamily="18" charset="0"/>
              </a:endParaRPr>
            </a:p>
          </p:txBody>
        </p:sp>
        <p:sp>
          <p:nvSpPr>
            <p:cNvPr id="10325" name="Oval 11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0326" name="Group 12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331" name="Line 13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2" name="Line 14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3" name="Line 15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327" name="Group 16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0328" name="Line 17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29" name="Line 18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0330" name="Line 19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0262" name="Group 20"/>
          <p:cNvGrpSpPr>
            <a:grpSpLocks/>
          </p:cNvGrpSpPr>
          <p:nvPr/>
        </p:nvGrpSpPr>
        <p:grpSpPr bwMode="auto">
          <a:xfrm>
            <a:off x="1036638" y="3576638"/>
            <a:ext cx="415925" cy="509587"/>
            <a:chOff x="2870" y="1518"/>
            <a:chExt cx="292" cy="320"/>
          </a:xfrm>
        </p:grpSpPr>
        <p:graphicFrame>
          <p:nvGraphicFramePr>
            <p:cNvPr id="10254" name="Object 2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54" name="Clip" r:id="rId4" imgW="819000" imgH="847800" progId="MS_ClipArt_Gallery.2">
                <p:embed/>
              </p:oleObj>
            </a:graphicData>
          </a:graphic>
        </p:graphicFrame>
        <p:graphicFrame>
          <p:nvGraphicFramePr>
            <p:cNvPr id="10255" name="Object 2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55" name="Clip" r:id="rId5" imgW="1266840" imgH="1200240" progId="MS_ClipArt_Gallery.2">
                <p:embed/>
              </p:oleObj>
            </a:graphicData>
          </a:graphic>
        </p:graphicFrame>
      </p:grpSp>
      <p:sp>
        <p:nvSpPr>
          <p:cNvPr id="10263" name="Text Box 23"/>
          <p:cNvSpPr txBox="1">
            <a:spLocks noChangeArrowheads="1"/>
          </p:cNvSpPr>
          <p:nvPr/>
        </p:nvSpPr>
        <p:spPr bwMode="auto">
          <a:xfrm>
            <a:off x="1058863" y="4408488"/>
            <a:ext cx="8191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US" sz="1800" b="0">
                <a:latin typeface="Comic Sans MS" pitchFamily="66" charset="0"/>
              </a:rPr>
              <a:t>BSS 1</a:t>
            </a:r>
          </a:p>
        </p:txBody>
      </p:sp>
      <p:sp>
        <p:nvSpPr>
          <p:cNvPr id="10264" name="Line 24"/>
          <p:cNvSpPr>
            <a:spLocks noChangeShapeType="1"/>
          </p:cNvSpPr>
          <p:nvPr/>
        </p:nvSpPr>
        <p:spPr bwMode="auto">
          <a:xfrm>
            <a:off x="3344863" y="3794125"/>
            <a:ext cx="192087" cy="812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5" name="Line 25"/>
          <p:cNvSpPr>
            <a:spLocks noChangeShapeType="1"/>
          </p:cNvSpPr>
          <p:nvPr/>
        </p:nvSpPr>
        <p:spPr bwMode="auto">
          <a:xfrm>
            <a:off x="2132013" y="3732213"/>
            <a:ext cx="1022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66" name="Text Box 26"/>
          <p:cNvSpPr txBox="1">
            <a:spLocks noChangeArrowheads="1"/>
          </p:cNvSpPr>
          <p:nvPr/>
        </p:nvSpPr>
        <p:spPr bwMode="auto">
          <a:xfrm>
            <a:off x="3260725" y="6188075"/>
            <a:ext cx="8540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800" b="0">
                <a:latin typeface="Comic Sans MS" pitchFamily="66" charset="0"/>
              </a:rPr>
              <a:t>BSS 2</a:t>
            </a:r>
          </a:p>
        </p:txBody>
      </p:sp>
      <p:sp>
        <p:nvSpPr>
          <p:cNvPr id="10267" name="Line 27"/>
          <p:cNvSpPr>
            <a:spLocks noChangeShapeType="1"/>
          </p:cNvSpPr>
          <p:nvPr/>
        </p:nvSpPr>
        <p:spPr bwMode="auto">
          <a:xfrm flipV="1">
            <a:off x="3317875" y="2684463"/>
            <a:ext cx="214313" cy="908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0268" name="Group 28"/>
          <p:cNvGrpSpPr>
            <a:grpSpLocks/>
          </p:cNvGrpSpPr>
          <p:nvPr/>
        </p:nvGrpSpPr>
        <p:grpSpPr bwMode="auto">
          <a:xfrm>
            <a:off x="2589213" y="1503363"/>
            <a:ext cx="1978025" cy="1444625"/>
            <a:chOff x="3744" y="1392"/>
            <a:chExt cx="1488" cy="1110"/>
          </a:xfrm>
        </p:grpSpPr>
        <p:sp>
          <p:nvSpPr>
            <p:cNvPr id="10319" name="Freeform 29"/>
            <p:cNvSpPr>
              <a:spLocks/>
            </p:cNvSpPr>
            <p:nvPr/>
          </p:nvSpPr>
          <p:spPr bwMode="auto">
            <a:xfrm>
              <a:off x="3744" y="1392"/>
              <a:ext cx="1488" cy="1110"/>
            </a:xfrm>
            <a:custGeom>
              <a:avLst/>
              <a:gdLst>
                <a:gd name="T0" fmla="*/ 19 w 2135"/>
                <a:gd name="T1" fmla="*/ 435 h 1662"/>
                <a:gd name="T2" fmla="*/ 73 w 2135"/>
                <a:gd name="T3" fmla="*/ 51 h 1662"/>
                <a:gd name="T4" fmla="*/ 458 w 2135"/>
                <a:gd name="T5" fmla="*/ 131 h 1662"/>
                <a:gd name="T6" fmla="*/ 843 w 2135"/>
                <a:gd name="T7" fmla="*/ 67 h 1662"/>
                <a:gd name="T8" fmla="*/ 1395 w 2135"/>
                <a:gd name="T9" fmla="*/ 271 h 1662"/>
                <a:gd name="T10" fmla="*/ 1403 w 2135"/>
                <a:gd name="T11" fmla="*/ 764 h 1662"/>
                <a:gd name="T12" fmla="*/ 1102 w 2135"/>
                <a:gd name="T13" fmla="*/ 1069 h 1662"/>
                <a:gd name="T14" fmla="*/ 567 w 2135"/>
                <a:gd name="T15" fmla="*/ 1012 h 1662"/>
                <a:gd name="T16" fmla="*/ 349 w 2135"/>
                <a:gd name="T17" fmla="*/ 848 h 1662"/>
                <a:gd name="T18" fmla="*/ 128 w 2135"/>
                <a:gd name="T19" fmla="*/ 712 h 1662"/>
                <a:gd name="T20" fmla="*/ 19 w 2135"/>
                <a:gd name="T21" fmla="*/ 435 h 16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35"/>
                <a:gd name="T34" fmla="*/ 0 h 1662"/>
                <a:gd name="T35" fmla="*/ 2135 w 2135"/>
                <a:gd name="T36" fmla="*/ 1662 h 166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35" h="1662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20" name="Text Box 30"/>
            <p:cNvSpPr txBox="1">
              <a:spLocks noChangeArrowheads="1"/>
            </p:cNvSpPr>
            <p:nvPr/>
          </p:nvSpPr>
          <p:spPr bwMode="auto">
            <a:xfrm>
              <a:off x="4129" y="1776"/>
              <a:ext cx="845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00" b="0">
                  <a:latin typeface="Comic Sans MS" pitchFamily="66" charset="0"/>
                </a:rPr>
                <a:t>Internet</a:t>
              </a:r>
            </a:p>
          </p:txBody>
        </p:sp>
      </p:grpSp>
      <p:sp>
        <p:nvSpPr>
          <p:cNvPr id="10269" name="Text Box 31"/>
          <p:cNvSpPr txBox="1">
            <a:spLocks noChangeArrowheads="1"/>
          </p:cNvSpPr>
          <p:nvPr/>
        </p:nvSpPr>
        <p:spPr bwMode="auto">
          <a:xfrm>
            <a:off x="3489325" y="3408363"/>
            <a:ext cx="139065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800" b="0">
                <a:latin typeface="Comic Sans MS" pitchFamily="66" charset="0"/>
              </a:rPr>
              <a:t>hub, switch</a:t>
            </a:r>
          </a:p>
          <a:p>
            <a:pPr algn="l"/>
            <a:r>
              <a:rPr lang="en-US" sz="1800" b="0">
                <a:latin typeface="Comic Sans MS" pitchFamily="66" charset="0"/>
              </a:rPr>
              <a:t>or router</a:t>
            </a:r>
          </a:p>
        </p:txBody>
      </p:sp>
      <p:grpSp>
        <p:nvGrpSpPr>
          <p:cNvPr id="10270" name="Group 32"/>
          <p:cNvGrpSpPr>
            <a:grpSpLocks/>
          </p:cNvGrpSpPr>
          <p:nvPr/>
        </p:nvGrpSpPr>
        <p:grpSpPr bwMode="auto">
          <a:xfrm>
            <a:off x="1665288" y="3263900"/>
            <a:ext cx="782637" cy="917575"/>
            <a:chOff x="1952" y="1032"/>
            <a:chExt cx="589" cy="706"/>
          </a:xfrm>
        </p:grpSpPr>
        <p:sp>
          <p:nvSpPr>
            <p:cNvPr id="10299" name="Text Box 33"/>
            <p:cNvSpPr txBox="1">
              <a:spLocks noChangeArrowheads="1"/>
            </p:cNvSpPr>
            <p:nvPr/>
          </p:nvSpPr>
          <p:spPr bwMode="auto">
            <a:xfrm>
              <a:off x="2080" y="1456"/>
              <a:ext cx="353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00" b="0">
                  <a:latin typeface="Comic Sans MS" pitchFamily="66" charset="0"/>
                </a:rPr>
                <a:t>AP</a:t>
              </a:r>
            </a:p>
          </p:txBody>
        </p:sp>
        <p:grpSp>
          <p:nvGrpSpPr>
            <p:cNvPr id="10300" name="Group 34"/>
            <p:cNvGrpSpPr>
              <a:grpSpLocks/>
            </p:cNvGrpSpPr>
            <p:nvPr/>
          </p:nvGrpSpPr>
          <p:grpSpPr bwMode="auto">
            <a:xfrm>
              <a:off x="1952" y="1032"/>
              <a:ext cx="589" cy="440"/>
              <a:chOff x="1160" y="2192"/>
              <a:chExt cx="589" cy="440"/>
            </a:xfrm>
          </p:grpSpPr>
          <p:pic>
            <p:nvPicPr>
              <p:cNvPr id="10301" name="Picture 35" descr="31u_bnrz[1]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 rot="-5400000">
                <a:off x="1349" y="2458"/>
                <a:ext cx="212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302" name="AutoShape 36"/>
              <p:cNvSpPr>
                <a:spLocks noChangeAspect="1" noChangeArrowheads="1" noTextEdit="1"/>
              </p:cNvSpPr>
              <p:nvPr/>
            </p:nvSpPr>
            <p:spPr bwMode="auto">
              <a:xfrm>
                <a:off x="1160" y="2192"/>
                <a:ext cx="589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3" name="Freeform 37"/>
              <p:cNvSpPr>
                <a:spLocks/>
              </p:cNvSpPr>
              <p:nvPr/>
            </p:nvSpPr>
            <p:spPr bwMode="auto">
              <a:xfrm>
                <a:off x="1283" y="2231"/>
                <a:ext cx="83" cy="102"/>
              </a:xfrm>
              <a:custGeom>
                <a:avLst/>
                <a:gdLst>
                  <a:gd name="T0" fmla="*/ 29 w 247"/>
                  <a:gd name="T1" fmla="*/ 13 h 203"/>
                  <a:gd name="T2" fmla="*/ 23 w 247"/>
                  <a:gd name="T3" fmla="*/ 17 h 203"/>
                  <a:gd name="T4" fmla="*/ 17 w 247"/>
                  <a:gd name="T5" fmla="*/ 22 h 203"/>
                  <a:gd name="T6" fmla="*/ 13 w 247"/>
                  <a:gd name="T7" fmla="*/ 28 h 203"/>
                  <a:gd name="T8" fmla="*/ 8 w 247"/>
                  <a:gd name="T9" fmla="*/ 34 h 203"/>
                  <a:gd name="T10" fmla="*/ 5 w 247"/>
                  <a:gd name="T11" fmla="*/ 40 h 203"/>
                  <a:gd name="T12" fmla="*/ 2 w 247"/>
                  <a:gd name="T13" fmla="*/ 47 h 203"/>
                  <a:gd name="T14" fmla="*/ 1 w 247"/>
                  <a:gd name="T15" fmla="*/ 55 h 203"/>
                  <a:gd name="T16" fmla="*/ 0 w 247"/>
                  <a:gd name="T17" fmla="*/ 62 h 203"/>
                  <a:gd name="T18" fmla="*/ 1 w 247"/>
                  <a:gd name="T19" fmla="*/ 73 h 203"/>
                  <a:gd name="T20" fmla="*/ 5 w 247"/>
                  <a:gd name="T21" fmla="*/ 82 h 203"/>
                  <a:gd name="T22" fmla="*/ 11 w 247"/>
                  <a:gd name="T23" fmla="*/ 89 h 203"/>
                  <a:gd name="T24" fmla="*/ 18 w 247"/>
                  <a:gd name="T25" fmla="*/ 95 h 203"/>
                  <a:gd name="T26" fmla="*/ 27 w 247"/>
                  <a:gd name="T27" fmla="*/ 99 h 203"/>
                  <a:gd name="T28" fmla="*/ 37 w 247"/>
                  <a:gd name="T29" fmla="*/ 101 h 203"/>
                  <a:gd name="T30" fmla="*/ 46 w 247"/>
                  <a:gd name="T31" fmla="*/ 102 h 203"/>
                  <a:gd name="T32" fmla="*/ 55 w 247"/>
                  <a:gd name="T33" fmla="*/ 100 h 203"/>
                  <a:gd name="T34" fmla="*/ 57 w 247"/>
                  <a:gd name="T35" fmla="*/ 100 h 203"/>
                  <a:gd name="T36" fmla="*/ 59 w 247"/>
                  <a:gd name="T37" fmla="*/ 99 h 203"/>
                  <a:gd name="T38" fmla="*/ 61 w 247"/>
                  <a:gd name="T39" fmla="*/ 98 h 203"/>
                  <a:gd name="T40" fmla="*/ 61 w 247"/>
                  <a:gd name="T41" fmla="*/ 96 h 203"/>
                  <a:gd name="T42" fmla="*/ 60 w 247"/>
                  <a:gd name="T43" fmla="*/ 93 h 203"/>
                  <a:gd name="T44" fmla="*/ 58 w 247"/>
                  <a:gd name="T45" fmla="*/ 91 h 203"/>
                  <a:gd name="T46" fmla="*/ 56 w 247"/>
                  <a:gd name="T47" fmla="*/ 89 h 203"/>
                  <a:gd name="T48" fmla="*/ 54 w 247"/>
                  <a:gd name="T49" fmla="*/ 88 h 203"/>
                  <a:gd name="T50" fmla="*/ 49 w 247"/>
                  <a:gd name="T51" fmla="*/ 87 h 203"/>
                  <a:gd name="T52" fmla="*/ 44 w 247"/>
                  <a:gd name="T53" fmla="*/ 86 h 203"/>
                  <a:gd name="T54" fmla="*/ 39 w 247"/>
                  <a:gd name="T55" fmla="*/ 85 h 203"/>
                  <a:gd name="T56" fmla="*/ 35 w 247"/>
                  <a:gd name="T57" fmla="*/ 84 h 203"/>
                  <a:gd name="T58" fmla="*/ 30 w 247"/>
                  <a:gd name="T59" fmla="*/ 82 h 203"/>
                  <a:gd name="T60" fmla="*/ 26 w 247"/>
                  <a:gd name="T61" fmla="*/ 80 h 203"/>
                  <a:gd name="T62" fmla="*/ 22 w 247"/>
                  <a:gd name="T63" fmla="*/ 77 h 203"/>
                  <a:gd name="T64" fmla="*/ 18 w 247"/>
                  <a:gd name="T65" fmla="*/ 73 h 203"/>
                  <a:gd name="T66" fmla="*/ 16 w 247"/>
                  <a:gd name="T67" fmla="*/ 56 h 203"/>
                  <a:gd name="T68" fmla="*/ 20 w 247"/>
                  <a:gd name="T69" fmla="*/ 42 h 203"/>
                  <a:gd name="T70" fmla="*/ 28 w 247"/>
                  <a:gd name="T71" fmla="*/ 31 h 203"/>
                  <a:gd name="T72" fmla="*/ 39 w 247"/>
                  <a:gd name="T73" fmla="*/ 22 h 203"/>
                  <a:gd name="T74" fmla="*/ 51 w 247"/>
                  <a:gd name="T75" fmla="*/ 15 h 203"/>
                  <a:gd name="T76" fmla="*/ 63 w 247"/>
                  <a:gd name="T77" fmla="*/ 10 h 203"/>
                  <a:gd name="T78" fmla="*/ 74 w 247"/>
                  <a:gd name="T79" fmla="*/ 6 h 203"/>
                  <a:gd name="T80" fmla="*/ 83 w 247"/>
                  <a:gd name="T81" fmla="*/ 2 h 203"/>
                  <a:gd name="T82" fmla="*/ 78 w 247"/>
                  <a:gd name="T83" fmla="*/ 1 h 203"/>
                  <a:gd name="T84" fmla="*/ 72 w 247"/>
                  <a:gd name="T85" fmla="*/ 0 h 203"/>
                  <a:gd name="T86" fmla="*/ 65 w 247"/>
                  <a:gd name="T87" fmla="*/ 1 h 203"/>
                  <a:gd name="T88" fmla="*/ 57 w 247"/>
                  <a:gd name="T89" fmla="*/ 2 h 203"/>
                  <a:gd name="T90" fmla="*/ 50 w 247"/>
                  <a:gd name="T91" fmla="*/ 5 h 203"/>
                  <a:gd name="T92" fmla="*/ 43 w 247"/>
                  <a:gd name="T93" fmla="*/ 7 h 203"/>
                  <a:gd name="T94" fmla="*/ 36 w 247"/>
                  <a:gd name="T95" fmla="*/ 10 h 203"/>
                  <a:gd name="T96" fmla="*/ 29 w 247"/>
                  <a:gd name="T97" fmla="*/ 13 h 20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47"/>
                  <a:gd name="T148" fmla="*/ 0 h 203"/>
                  <a:gd name="T149" fmla="*/ 247 w 247"/>
                  <a:gd name="T150" fmla="*/ 203 h 20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47" h="203">
                    <a:moveTo>
                      <a:pt x="87" y="26"/>
                    </a:moveTo>
                    <a:lnTo>
                      <a:pt x="68" y="34"/>
                    </a:lnTo>
                    <a:lnTo>
                      <a:pt x="52" y="44"/>
                    </a:lnTo>
                    <a:lnTo>
                      <a:pt x="38" y="55"/>
                    </a:lnTo>
                    <a:lnTo>
                      <a:pt x="25" y="67"/>
                    </a:lnTo>
                    <a:lnTo>
                      <a:pt x="14" y="80"/>
                    </a:lnTo>
                    <a:lnTo>
                      <a:pt x="7" y="94"/>
                    </a:lnTo>
                    <a:lnTo>
                      <a:pt x="3" y="109"/>
                    </a:lnTo>
                    <a:lnTo>
                      <a:pt x="0" y="124"/>
                    </a:lnTo>
                    <a:lnTo>
                      <a:pt x="3" y="145"/>
                    </a:lnTo>
                    <a:lnTo>
                      <a:pt x="14" y="163"/>
                    </a:lnTo>
                    <a:lnTo>
                      <a:pt x="32" y="178"/>
                    </a:lnTo>
                    <a:lnTo>
                      <a:pt x="55" y="189"/>
                    </a:lnTo>
                    <a:lnTo>
                      <a:pt x="81" y="198"/>
                    </a:lnTo>
                    <a:lnTo>
                      <a:pt x="109" y="202"/>
                    </a:lnTo>
                    <a:lnTo>
                      <a:pt x="138" y="203"/>
                    </a:lnTo>
                    <a:lnTo>
                      <a:pt x="165" y="200"/>
                    </a:lnTo>
                    <a:lnTo>
                      <a:pt x="171" y="200"/>
                    </a:lnTo>
                    <a:lnTo>
                      <a:pt x="177" y="198"/>
                    </a:lnTo>
                    <a:lnTo>
                      <a:pt x="181" y="195"/>
                    </a:lnTo>
                    <a:lnTo>
                      <a:pt x="183" y="191"/>
                    </a:lnTo>
                    <a:lnTo>
                      <a:pt x="180" y="186"/>
                    </a:lnTo>
                    <a:lnTo>
                      <a:pt x="174" y="182"/>
                    </a:lnTo>
                    <a:lnTo>
                      <a:pt x="167" y="178"/>
                    </a:lnTo>
                    <a:lnTo>
                      <a:pt x="160" y="176"/>
                    </a:lnTo>
                    <a:lnTo>
                      <a:pt x="145" y="173"/>
                    </a:lnTo>
                    <a:lnTo>
                      <a:pt x="131" y="171"/>
                    </a:lnTo>
                    <a:lnTo>
                      <a:pt x="116" y="169"/>
                    </a:lnTo>
                    <a:lnTo>
                      <a:pt x="103" y="167"/>
                    </a:lnTo>
                    <a:lnTo>
                      <a:pt x="90" y="164"/>
                    </a:lnTo>
                    <a:lnTo>
                      <a:pt x="77" y="160"/>
                    </a:lnTo>
                    <a:lnTo>
                      <a:pt x="65" y="154"/>
                    </a:lnTo>
                    <a:lnTo>
                      <a:pt x="54" y="146"/>
                    </a:lnTo>
                    <a:lnTo>
                      <a:pt x="49" y="112"/>
                    </a:lnTo>
                    <a:lnTo>
                      <a:pt x="61" y="84"/>
                    </a:lnTo>
                    <a:lnTo>
                      <a:pt x="84" y="62"/>
                    </a:lnTo>
                    <a:lnTo>
                      <a:pt x="116" y="44"/>
                    </a:lnTo>
                    <a:lnTo>
                      <a:pt x="151" y="30"/>
                    </a:lnTo>
                    <a:lnTo>
                      <a:pt x="187" y="19"/>
                    </a:lnTo>
                    <a:lnTo>
                      <a:pt x="220" y="11"/>
                    </a:lnTo>
                    <a:lnTo>
                      <a:pt x="247" y="4"/>
                    </a:lnTo>
                    <a:lnTo>
                      <a:pt x="231" y="1"/>
                    </a:lnTo>
                    <a:lnTo>
                      <a:pt x="213" y="0"/>
                    </a:lnTo>
                    <a:lnTo>
                      <a:pt x="193" y="2"/>
                    </a:lnTo>
                    <a:lnTo>
                      <a:pt x="171" y="4"/>
                    </a:lnTo>
                    <a:lnTo>
                      <a:pt x="149" y="9"/>
                    </a:lnTo>
                    <a:lnTo>
                      <a:pt x="128" y="14"/>
                    </a:lnTo>
                    <a:lnTo>
                      <a:pt x="106" y="20"/>
                    </a:lnTo>
                    <a:lnTo>
                      <a:pt x="87" y="26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4" name="Freeform 38"/>
              <p:cNvSpPr>
                <a:spLocks/>
              </p:cNvSpPr>
              <p:nvPr/>
            </p:nvSpPr>
            <p:spPr bwMode="auto">
              <a:xfrm>
                <a:off x="1424" y="2230"/>
                <a:ext cx="52" cy="79"/>
              </a:xfrm>
              <a:custGeom>
                <a:avLst/>
                <a:gdLst>
                  <a:gd name="T0" fmla="*/ 44 w 158"/>
                  <a:gd name="T1" fmla="*/ 26 h 158"/>
                  <a:gd name="T2" fmla="*/ 46 w 158"/>
                  <a:gd name="T3" fmla="*/ 34 h 158"/>
                  <a:gd name="T4" fmla="*/ 45 w 158"/>
                  <a:gd name="T5" fmla="*/ 41 h 158"/>
                  <a:gd name="T6" fmla="*/ 42 w 158"/>
                  <a:gd name="T7" fmla="*/ 47 h 158"/>
                  <a:gd name="T8" fmla="*/ 37 w 158"/>
                  <a:gd name="T9" fmla="*/ 53 h 158"/>
                  <a:gd name="T10" fmla="*/ 31 w 158"/>
                  <a:gd name="T11" fmla="*/ 58 h 158"/>
                  <a:gd name="T12" fmla="*/ 25 w 158"/>
                  <a:gd name="T13" fmla="*/ 63 h 158"/>
                  <a:gd name="T14" fmla="*/ 18 w 158"/>
                  <a:gd name="T15" fmla="*/ 68 h 158"/>
                  <a:gd name="T16" fmla="*/ 12 w 158"/>
                  <a:gd name="T17" fmla="*/ 72 h 158"/>
                  <a:gd name="T18" fmla="*/ 11 w 158"/>
                  <a:gd name="T19" fmla="*/ 74 h 158"/>
                  <a:gd name="T20" fmla="*/ 11 w 158"/>
                  <a:gd name="T21" fmla="*/ 75 h 158"/>
                  <a:gd name="T22" fmla="*/ 11 w 158"/>
                  <a:gd name="T23" fmla="*/ 76 h 158"/>
                  <a:gd name="T24" fmla="*/ 11 w 158"/>
                  <a:gd name="T25" fmla="*/ 78 h 158"/>
                  <a:gd name="T26" fmla="*/ 13 w 158"/>
                  <a:gd name="T27" fmla="*/ 79 h 158"/>
                  <a:gd name="T28" fmla="*/ 14 w 158"/>
                  <a:gd name="T29" fmla="*/ 79 h 158"/>
                  <a:gd name="T30" fmla="*/ 15 w 158"/>
                  <a:gd name="T31" fmla="*/ 79 h 158"/>
                  <a:gd name="T32" fmla="*/ 16 w 158"/>
                  <a:gd name="T33" fmla="*/ 79 h 158"/>
                  <a:gd name="T34" fmla="*/ 24 w 158"/>
                  <a:gd name="T35" fmla="*/ 74 h 158"/>
                  <a:gd name="T36" fmla="*/ 31 w 158"/>
                  <a:gd name="T37" fmla="*/ 69 h 158"/>
                  <a:gd name="T38" fmla="*/ 38 w 158"/>
                  <a:gd name="T39" fmla="*/ 63 h 158"/>
                  <a:gd name="T40" fmla="*/ 44 w 158"/>
                  <a:gd name="T41" fmla="*/ 57 h 158"/>
                  <a:gd name="T42" fmla="*/ 49 w 158"/>
                  <a:gd name="T43" fmla="*/ 50 h 158"/>
                  <a:gd name="T44" fmla="*/ 51 w 158"/>
                  <a:gd name="T45" fmla="*/ 42 h 158"/>
                  <a:gd name="T46" fmla="*/ 52 w 158"/>
                  <a:gd name="T47" fmla="*/ 34 h 158"/>
                  <a:gd name="T48" fmla="*/ 50 w 158"/>
                  <a:gd name="T49" fmla="*/ 24 h 158"/>
                  <a:gd name="T50" fmla="*/ 46 w 158"/>
                  <a:gd name="T51" fmla="*/ 18 h 158"/>
                  <a:gd name="T52" fmla="*/ 39 w 158"/>
                  <a:gd name="T53" fmla="*/ 11 h 158"/>
                  <a:gd name="T54" fmla="*/ 32 w 158"/>
                  <a:gd name="T55" fmla="*/ 7 h 158"/>
                  <a:gd name="T56" fmla="*/ 23 w 158"/>
                  <a:gd name="T57" fmla="*/ 3 h 158"/>
                  <a:gd name="T58" fmla="*/ 15 w 158"/>
                  <a:gd name="T59" fmla="*/ 1 h 158"/>
                  <a:gd name="T60" fmla="*/ 8 w 158"/>
                  <a:gd name="T61" fmla="*/ 0 h 158"/>
                  <a:gd name="T62" fmla="*/ 2 w 158"/>
                  <a:gd name="T63" fmla="*/ 0 h 158"/>
                  <a:gd name="T64" fmla="*/ 0 w 158"/>
                  <a:gd name="T65" fmla="*/ 2 h 158"/>
                  <a:gd name="T66" fmla="*/ 6 w 158"/>
                  <a:gd name="T67" fmla="*/ 5 h 158"/>
                  <a:gd name="T68" fmla="*/ 12 w 158"/>
                  <a:gd name="T69" fmla="*/ 6 h 158"/>
                  <a:gd name="T70" fmla="*/ 18 w 158"/>
                  <a:gd name="T71" fmla="*/ 9 h 158"/>
                  <a:gd name="T72" fmla="*/ 25 w 158"/>
                  <a:gd name="T73" fmla="*/ 10 h 158"/>
                  <a:gd name="T74" fmla="*/ 31 w 158"/>
                  <a:gd name="T75" fmla="*/ 13 h 158"/>
                  <a:gd name="T76" fmla="*/ 36 w 158"/>
                  <a:gd name="T77" fmla="*/ 17 h 158"/>
                  <a:gd name="T78" fmla="*/ 40 w 158"/>
                  <a:gd name="T79" fmla="*/ 20 h 158"/>
                  <a:gd name="T80" fmla="*/ 44 w 158"/>
                  <a:gd name="T81" fmla="*/ 26 h 15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58"/>
                  <a:gd name="T124" fmla="*/ 0 h 158"/>
                  <a:gd name="T125" fmla="*/ 158 w 158"/>
                  <a:gd name="T126" fmla="*/ 158 h 15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58" h="158">
                    <a:moveTo>
                      <a:pt x="133" y="52"/>
                    </a:moveTo>
                    <a:lnTo>
                      <a:pt x="139" y="68"/>
                    </a:lnTo>
                    <a:lnTo>
                      <a:pt x="137" y="83"/>
                    </a:lnTo>
                    <a:lnTo>
                      <a:pt x="127" y="95"/>
                    </a:lnTo>
                    <a:lnTo>
                      <a:pt x="113" y="106"/>
                    </a:lnTo>
                    <a:lnTo>
                      <a:pt x="95" y="116"/>
                    </a:lnTo>
                    <a:lnTo>
                      <a:pt x="75" y="126"/>
                    </a:lnTo>
                    <a:lnTo>
                      <a:pt x="55" y="135"/>
                    </a:lnTo>
                    <a:lnTo>
                      <a:pt x="37" y="144"/>
                    </a:lnTo>
                    <a:lnTo>
                      <a:pt x="34" y="147"/>
                    </a:lnTo>
                    <a:lnTo>
                      <a:pt x="33" y="149"/>
                    </a:lnTo>
                    <a:lnTo>
                      <a:pt x="33" y="152"/>
                    </a:lnTo>
                    <a:lnTo>
                      <a:pt x="34" y="155"/>
                    </a:lnTo>
                    <a:lnTo>
                      <a:pt x="39" y="157"/>
                    </a:lnTo>
                    <a:lnTo>
                      <a:pt x="43" y="158"/>
                    </a:lnTo>
                    <a:lnTo>
                      <a:pt x="46" y="158"/>
                    </a:lnTo>
                    <a:lnTo>
                      <a:pt x="50" y="157"/>
                    </a:lnTo>
                    <a:lnTo>
                      <a:pt x="74" y="148"/>
                    </a:lnTo>
                    <a:lnTo>
                      <a:pt x="95" y="138"/>
                    </a:lnTo>
                    <a:lnTo>
                      <a:pt x="116" y="127"/>
                    </a:lnTo>
                    <a:lnTo>
                      <a:pt x="135" y="114"/>
                    </a:lnTo>
                    <a:lnTo>
                      <a:pt x="148" y="100"/>
                    </a:lnTo>
                    <a:lnTo>
                      <a:pt x="156" y="84"/>
                    </a:lnTo>
                    <a:lnTo>
                      <a:pt x="158" y="67"/>
                    </a:lnTo>
                    <a:lnTo>
                      <a:pt x="152" y="49"/>
                    </a:lnTo>
                    <a:lnTo>
                      <a:pt x="139" y="35"/>
                    </a:lnTo>
                    <a:lnTo>
                      <a:pt x="120" y="23"/>
                    </a:lnTo>
                    <a:lnTo>
                      <a:pt x="97" y="14"/>
                    </a:lnTo>
                    <a:lnTo>
                      <a:pt x="71" y="7"/>
                    </a:lnTo>
                    <a:lnTo>
                      <a:pt x="45" y="2"/>
                    </a:lnTo>
                    <a:lnTo>
                      <a:pt x="23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7" y="9"/>
                    </a:lnTo>
                    <a:lnTo>
                      <a:pt x="36" y="13"/>
                    </a:lnTo>
                    <a:lnTo>
                      <a:pt x="56" y="17"/>
                    </a:lnTo>
                    <a:lnTo>
                      <a:pt x="75" y="21"/>
                    </a:lnTo>
                    <a:lnTo>
                      <a:pt x="94" y="26"/>
                    </a:lnTo>
                    <a:lnTo>
                      <a:pt x="110" y="33"/>
                    </a:lnTo>
                    <a:lnTo>
                      <a:pt x="123" y="41"/>
                    </a:lnTo>
                    <a:lnTo>
                      <a:pt x="133" y="5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5" name="Freeform 39"/>
              <p:cNvSpPr>
                <a:spLocks/>
              </p:cNvSpPr>
              <p:nvPr/>
            </p:nvSpPr>
            <p:spPr bwMode="auto">
              <a:xfrm>
                <a:off x="1232" y="2211"/>
                <a:ext cx="133" cy="166"/>
              </a:xfrm>
              <a:custGeom>
                <a:avLst/>
                <a:gdLst>
                  <a:gd name="T0" fmla="*/ 41 w 399"/>
                  <a:gd name="T1" fmla="*/ 31 h 331"/>
                  <a:gd name="T2" fmla="*/ 22 w 399"/>
                  <a:gd name="T3" fmla="*/ 51 h 331"/>
                  <a:gd name="T4" fmla="*/ 7 w 399"/>
                  <a:gd name="T5" fmla="*/ 73 h 331"/>
                  <a:gd name="T6" fmla="*/ 0 w 399"/>
                  <a:gd name="T7" fmla="*/ 100 h 331"/>
                  <a:gd name="T8" fmla="*/ 1 w 399"/>
                  <a:gd name="T9" fmla="*/ 117 h 331"/>
                  <a:gd name="T10" fmla="*/ 4 w 399"/>
                  <a:gd name="T11" fmla="*/ 124 h 331"/>
                  <a:gd name="T12" fmla="*/ 8 w 399"/>
                  <a:gd name="T13" fmla="*/ 131 h 331"/>
                  <a:gd name="T14" fmla="*/ 13 w 399"/>
                  <a:gd name="T15" fmla="*/ 136 h 331"/>
                  <a:gd name="T16" fmla="*/ 23 w 399"/>
                  <a:gd name="T17" fmla="*/ 142 h 331"/>
                  <a:gd name="T18" fmla="*/ 36 w 399"/>
                  <a:gd name="T19" fmla="*/ 149 h 331"/>
                  <a:gd name="T20" fmla="*/ 49 w 399"/>
                  <a:gd name="T21" fmla="*/ 154 h 331"/>
                  <a:gd name="T22" fmla="*/ 63 w 399"/>
                  <a:gd name="T23" fmla="*/ 158 h 331"/>
                  <a:gd name="T24" fmla="*/ 77 w 399"/>
                  <a:gd name="T25" fmla="*/ 161 h 331"/>
                  <a:gd name="T26" fmla="*/ 91 w 399"/>
                  <a:gd name="T27" fmla="*/ 163 h 331"/>
                  <a:gd name="T28" fmla="*/ 105 w 399"/>
                  <a:gd name="T29" fmla="*/ 164 h 331"/>
                  <a:gd name="T30" fmla="*/ 119 w 399"/>
                  <a:gd name="T31" fmla="*/ 165 h 331"/>
                  <a:gd name="T32" fmla="*/ 129 w 399"/>
                  <a:gd name="T33" fmla="*/ 166 h 331"/>
                  <a:gd name="T34" fmla="*/ 132 w 399"/>
                  <a:gd name="T35" fmla="*/ 163 h 331"/>
                  <a:gd name="T36" fmla="*/ 133 w 399"/>
                  <a:gd name="T37" fmla="*/ 158 h 331"/>
                  <a:gd name="T38" fmla="*/ 130 w 399"/>
                  <a:gd name="T39" fmla="*/ 155 h 331"/>
                  <a:gd name="T40" fmla="*/ 121 w 399"/>
                  <a:gd name="T41" fmla="*/ 152 h 331"/>
                  <a:gd name="T42" fmla="*/ 109 w 399"/>
                  <a:gd name="T43" fmla="*/ 150 h 331"/>
                  <a:gd name="T44" fmla="*/ 96 w 399"/>
                  <a:gd name="T45" fmla="*/ 148 h 331"/>
                  <a:gd name="T46" fmla="*/ 83 w 399"/>
                  <a:gd name="T47" fmla="*/ 146 h 331"/>
                  <a:gd name="T48" fmla="*/ 70 w 399"/>
                  <a:gd name="T49" fmla="*/ 143 h 331"/>
                  <a:gd name="T50" fmla="*/ 57 w 399"/>
                  <a:gd name="T51" fmla="*/ 140 h 331"/>
                  <a:gd name="T52" fmla="*/ 45 w 399"/>
                  <a:gd name="T53" fmla="*/ 136 h 331"/>
                  <a:gd name="T54" fmla="*/ 33 w 399"/>
                  <a:gd name="T55" fmla="*/ 131 h 331"/>
                  <a:gd name="T56" fmla="*/ 23 w 399"/>
                  <a:gd name="T57" fmla="*/ 124 h 331"/>
                  <a:gd name="T58" fmla="*/ 16 w 399"/>
                  <a:gd name="T59" fmla="*/ 114 h 331"/>
                  <a:gd name="T60" fmla="*/ 14 w 399"/>
                  <a:gd name="T61" fmla="*/ 102 h 331"/>
                  <a:gd name="T62" fmla="*/ 16 w 399"/>
                  <a:gd name="T63" fmla="*/ 88 h 331"/>
                  <a:gd name="T64" fmla="*/ 21 w 399"/>
                  <a:gd name="T65" fmla="*/ 75 h 331"/>
                  <a:gd name="T66" fmla="*/ 29 w 399"/>
                  <a:gd name="T67" fmla="*/ 61 h 331"/>
                  <a:gd name="T68" fmla="*/ 39 w 399"/>
                  <a:gd name="T69" fmla="*/ 49 h 331"/>
                  <a:gd name="T70" fmla="*/ 51 w 399"/>
                  <a:gd name="T71" fmla="*/ 37 h 331"/>
                  <a:gd name="T72" fmla="*/ 63 w 399"/>
                  <a:gd name="T73" fmla="*/ 26 h 331"/>
                  <a:gd name="T74" fmla="*/ 81 w 399"/>
                  <a:gd name="T75" fmla="*/ 17 h 331"/>
                  <a:gd name="T76" fmla="*/ 98 w 399"/>
                  <a:gd name="T77" fmla="*/ 9 h 331"/>
                  <a:gd name="T78" fmla="*/ 109 w 399"/>
                  <a:gd name="T79" fmla="*/ 3 h 331"/>
                  <a:gd name="T80" fmla="*/ 106 w 399"/>
                  <a:gd name="T81" fmla="*/ 0 h 331"/>
                  <a:gd name="T82" fmla="*/ 91 w 399"/>
                  <a:gd name="T83" fmla="*/ 2 h 331"/>
                  <a:gd name="T84" fmla="*/ 74 w 399"/>
                  <a:gd name="T85" fmla="*/ 8 h 331"/>
                  <a:gd name="T86" fmla="*/ 58 w 399"/>
                  <a:gd name="T87" fmla="*/ 17 h 33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99"/>
                  <a:gd name="T133" fmla="*/ 0 h 331"/>
                  <a:gd name="T134" fmla="*/ 399 w 399"/>
                  <a:gd name="T135" fmla="*/ 331 h 33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99" h="331">
                    <a:moveTo>
                      <a:pt x="155" y="44"/>
                    </a:moveTo>
                    <a:lnTo>
                      <a:pt x="124" y="62"/>
                    </a:lnTo>
                    <a:lnTo>
                      <a:pt x="94" y="80"/>
                    </a:lnTo>
                    <a:lnTo>
                      <a:pt x="66" y="101"/>
                    </a:lnTo>
                    <a:lnTo>
                      <a:pt x="42" y="123"/>
                    </a:lnTo>
                    <a:lnTo>
                      <a:pt x="21" y="146"/>
                    </a:lnTo>
                    <a:lnTo>
                      <a:pt x="7" y="171"/>
                    </a:lnTo>
                    <a:lnTo>
                      <a:pt x="0" y="199"/>
                    </a:lnTo>
                    <a:lnTo>
                      <a:pt x="1" y="227"/>
                    </a:lnTo>
                    <a:lnTo>
                      <a:pt x="4" y="234"/>
                    </a:lnTo>
                    <a:lnTo>
                      <a:pt x="7" y="242"/>
                    </a:lnTo>
                    <a:lnTo>
                      <a:pt x="11" y="248"/>
                    </a:lnTo>
                    <a:lnTo>
                      <a:pt x="17" y="255"/>
                    </a:lnTo>
                    <a:lnTo>
                      <a:pt x="24" y="261"/>
                    </a:lnTo>
                    <a:lnTo>
                      <a:pt x="33" y="267"/>
                    </a:lnTo>
                    <a:lnTo>
                      <a:pt x="40" y="272"/>
                    </a:lnTo>
                    <a:lnTo>
                      <a:pt x="50" y="276"/>
                    </a:lnTo>
                    <a:lnTo>
                      <a:pt x="69" y="284"/>
                    </a:lnTo>
                    <a:lnTo>
                      <a:pt x="88" y="291"/>
                    </a:lnTo>
                    <a:lnTo>
                      <a:pt x="107" y="297"/>
                    </a:lnTo>
                    <a:lnTo>
                      <a:pt x="127" y="302"/>
                    </a:lnTo>
                    <a:lnTo>
                      <a:pt x="148" y="307"/>
                    </a:lnTo>
                    <a:lnTo>
                      <a:pt x="168" y="311"/>
                    </a:lnTo>
                    <a:lnTo>
                      <a:pt x="188" y="315"/>
                    </a:lnTo>
                    <a:lnTo>
                      <a:pt x="209" y="318"/>
                    </a:lnTo>
                    <a:lnTo>
                      <a:pt x="230" y="321"/>
                    </a:lnTo>
                    <a:lnTo>
                      <a:pt x="251" y="323"/>
                    </a:lnTo>
                    <a:lnTo>
                      <a:pt x="272" y="325"/>
                    </a:lnTo>
                    <a:lnTo>
                      <a:pt x="294" y="327"/>
                    </a:lnTo>
                    <a:lnTo>
                      <a:pt x="315" y="328"/>
                    </a:lnTo>
                    <a:lnTo>
                      <a:pt x="336" y="329"/>
                    </a:lnTo>
                    <a:lnTo>
                      <a:pt x="358" y="330"/>
                    </a:lnTo>
                    <a:lnTo>
                      <a:pt x="378" y="331"/>
                    </a:lnTo>
                    <a:lnTo>
                      <a:pt x="386" y="331"/>
                    </a:lnTo>
                    <a:lnTo>
                      <a:pt x="391" y="329"/>
                    </a:lnTo>
                    <a:lnTo>
                      <a:pt x="396" y="325"/>
                    </a:lnTo>
                    <a:lnTo>
                      <a:pt x="399" y="321"/>
                    </a:lnTo>
                    <a:lnTo>
                      <a:pt x="399" y="316"/>
                    </a:lnTo>
                    <a:lnTo>
                      <a:pt x="396" y="312"/>
                    </a:lnTo>
                    <a:lnTo>
                      <a:pt x="390" y="309"/>
                    </a:lnTo>
                    <a:lnTo>
                      <a:pt x="383" y="307"/>
                    </a:lnTo>
                    <a:lnTo>
                      <a:pt x="364" y="304"/>
                    </a:lnTo>
                    <a:lnTo>
                      <a:pt x="345" y="302"/>
                    </a:lnTo>
                    <a:lnTo>
                      <a:pt x="326" y="299"/>
                    </a:lnTo>
                    <a:lnTo>
                      <a:pt x="306" y="297"/>
                    </a:lnTo>
                    <a:lnTo>
                      <a:pt x="287" y="295"/>
                    </a:lnTo>
                    <a:lnTo>
                      <a:pt x="268" y="293"/>
                    </a:lnTo>
                    <a:lnTo>
                      <a:pt x="248" y="291"/>
                    </a:lnTo>
                    <a:lnTo>
                      <a:pt x="229" y="288"/>
                    </a:lnTo>
                    <a:lnTo>
                      <a:pt x="210" y="286"/>
                    </a:lnTo>
                    <a:lnTo>
                      <a:pt x="191" y="283"/>
                    </a:lnTo>
                    <a:lnTo>
                      <a:pt x="172" y="279"/>
                    </a:lnTo>
                    <a:lnTo>
                      <a:pt x="153" y="276"/>
                    </a:lnTo>
                    <a:lnTo>
                      <a:pt x="136" y="271"/>
                    </a:lnTo>
                    <a:lnTo>
                      <a:pt x="117" y="266"/>
                    </a:lnTo>
                    <a:lnTo>
                      <a:pt x="100" y="261"/>
                    </a:lnTo>
                    <a:lnTo>
                      <a:pt x="82" y="254"/>
                    </a:lnTo>
                    <a:lnTo>
                      <a:pt x="68" y="247"/>
                    </a:lnTo>
                    <a:lnTo>
                      <a:pt x="56" y="238"/>
                    </a:lnTo>
                    <a:lnTo>
                      <a:pt x="48" y="228"/>
                    </a:lnTo>
                    <a:lnTo>
                      <a:pt x="43" y="216"/>
                    </a:lnTo>
                    <a:lnTo>
                      <a:pt x="42" y="204"/>
                    </a:lnTo>
                    <a:lnTo>
                      <a:pt x="43" y="189"/>
                    </a:lnTo>
                    <a:lnTo>
                      <a:pt x="48" y="175"/>
                    </a:lnTo>
                    <a:lnTo>
                      <a:pt x="53" y="164"/>
                    </a:lnTo>
                    <a:lnTo>
                      <a:pt x="64" y="149"/>
                    </a:lnTo>
                    <a:lnTo>
                      <a:pt x="75" y="134"/>
                    </a:lnTo>
                    <a:lnTo>
                      <a:pt x="88" y="121"/>
                    </a:lnTo>
                    <a:lnTo>
                      <a:pt x="103" y="109"/>
                    </a:lnTo>
                    <a:lnTo>
                      <a:pt x="117" y="97"/>
                    </a:lnTo>
                    <a:lnTo>
                      <a:pt x="133" y="85"/>
                    </a:lnTo>
                    <a:lnTo>
                      <a:pt x="152" y="73"/>
                    </a:lnTo>
                    <a:lnTo>
                      <a:pt x="171" y="61"/>
                    </a:lnTo>
                    <a:lnTo>
                      <a:pt x="190" y="51"/>
                    </a:lnTo>
                    <a:lnTo>
                      <a:pt x="214" y="42"/>
                    </a:lnTo>
                    <a:lnTo>
                      <a:pt x="242" y="33"/>
                    </a:lnTo>
                    <a:lnTo>
                      <a:pt x="270" y="25"/>
                    </a:lnTo>
                    <a:lnTo>
                      <a:pt x="294" y="18"/>
                    </a:lnTo>
                    <a:lnTo>
                      <a:pt x="315" y="12"/>
                    </a:lnTo>
                    <a:lnTo>
                      <a:pt x="328" y="6"/>
                    </a:lnTo>
                    <a:lnTo>
                      <a:pt x="332" y="2"/>
                    </a:lnTo>
                    <a:lnTo>
                      <a:pt x="317" y="0"/>
                    </a:lnTo>
                    <a:lnTo>
                      <a:pt x="297" y="1"/>
                    </a:lnTo>
                    <a:lnTo>
                      <a:pt x="274" y="4"/>
                    </a:lnTo>
                    <a:lnTo>
                      <a:pt x="249" y="9"/>
                    </a:lnTo>
                    <a:lnTo>
                      <a:pt x="223" y="16"/>
                    </a:lnTo>
                    <a:lnTo>
                      <a:pt x="198" y="24"/>
                    </a:lnTo>
                    <a:lnTo>
                      <a:pt x="175" y="33"/>
                    </a:lnTo>
                    <a:lnTo>
                      <a:pt x="155" y="44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6" name="Freeform 40"/>
              <p:cNvSpPr>
                <a:spLocks/>
              </p:cNvSpPr>
              <p:nvPr/>
            </p:nvSpPr>
            <p:spPr bwMode="auto">
              <a:xfrm>
                <a:off x="1419" y="2206"/>
                <a:ext cx="116" cy="110"/>
              </a:xfrm>
              <a:custGeom>
                <a:avLst/>
                <a:gdLst>
                  <a:gd name="T0" fmla="*/ 96 w 350"/>
                  <a:gd name="T1" fmla="*/ 34 h 221"/>
                  <a:gd name="T2" fmla="*/ 101 w 350"/>
                  <a:gd name="T3" fmla="*/ 40 h 221"/>
                  <a:gd name="T4" fmla="*/ 105 w 350"/>
                  <a:gd name="T5" fmla="*/ 47 h 221"/>
                  <a:gd name="T6" fmla="*/ 106 w 350"/>
                  <a:gd name="T7" fmla="*/ 54 h 221"/>
                  <a:gd name="T8" fmla="*/ 106 w 350"/>
                  <a:gd name="T9" fmla="*/ 62 h 221"/>
                  <a:gd name="T10" fmla="*/ 105 w 350"/>
                  <a:gd name="T11" fmla="*/ 69 h 221"/>
                  <a:gd name="T12" fmla="*/ 103 w 350"/>
                  <a:gd name="T13" fmla="*/ 74 h 221"/>
                  <a:gd name="T14" fmla="*/ 100 w 350"/>
                  <a:gd name="T15" fmla="*/ 80 h 221"/>
                  <a:gd name="T16" fmla="*/ 97 w 350"/>
                  <a:gd name="T17" fmla="*/ 84 h 221"/>
                  <a:gd name="T18" fmla="*/ 92 w 350"/>
                  <a:gd name="T19" fmla="*/ 89 h 221"/>
                  <a:gd name="T20" fmla="*/ 88 w 350"/>
                  <a:gd name="T21" fmla="*/ 93 h 221"/>
                  <a:gd name="T22" fmla="*/ 84 w 350"/>
                  <a:gd name="T23" fmla="*/ 98 h 221"/>
                  <a:gd name="T24" fmla="*/ 80 w 350"/>
                  <a:gd name="T25" fmla="*/ 102 h 221"/>
                  <a:gd name="T26" fmla="*/ 79 w 350"/>
                  <a:gd name="T27" fmla="*/ 104 h 221"/>
                  <a:gd name="T28" fmla="*/ 79 w 350"/>
                  <a:gd name="T29" fmla="*/ 106 h 221"/>
                  <a:gd name="T30" fmla="*/ 79 w 350"/>
                  <a:gd name="T31" fmla="*/ 107 h 221"/>
                  <a:gd name="T32" fmla="*/ 80 w 350"/>
                  <a:gd name="T33" fmla="*/ 109 h 221"/>
                  <a:gd name="T34" fmla="*/ 81 w 350"/>
                  <a:gd name="T35" fmla="*/ 110 h 221"/>
                  <a:gd name="T36" fmla="*/ 83 w 350"/>
                  <a:gd name="T37" fmla="*/ 110 h 221"/>
                  <a:gd name="T38" fmla="*/ 84 w 350"/>
                  <a:gd name="T39" fmla="*/ 110 h 221"/>
                  <a:gd name="T40" fmla="*/ 86 w 350"/>
                  <a:gd name="T41" fmla="*/ 109 h 221"/>
                  <a:gd name="T42" fmla="*/ 95 w 350"/>
                  <a:gd name="T43" fmla="*/ 102 h 221"/>
                  <a:gd name="T44" fmla="*/ 103 w 350"/>
                  <a:gd name="T45" fmla="*/ 93 h 221"/>
                  <a:gd name="T46" fmla="*/ 110 w 350"/>
                  <a:gd name="T47" fmla="*/ 84 h 221"/>
                  <a:gd name="T48" fmla="*/ 114 w 350"/>
                  <a:gd name="T49" fmla="*/ 73 h 221"/>
                  <a:gd name="T50" fmla="*/ 116 w 350"/>
                  <a:gd name="T51" fmla="*/ 62 h 221"/>
                  <a:gd name="T52" fmla="*/ 115 w 350"/>
                  <a:gd name="T53" fmla="*/ 50 h 221"/>
                  <a:gd name="T54" fmla="*/ 111 w 350"/>
                  <a:gd name="T55" fmla="*/ 40 h 221"/>
                  <a:gd name="T56" fmla="*/ 103 w 350"/>
                  <a:gd name="T57" fmla="*/ 30 h 221"/>
                  <a:gd name="T58" fmla="*/ 98 w 350"/>
                  <a:gd name="T59" fmla="*/ 25 h 221"/>
                  <a:gd name="T60" fmla="*/ 91 w 350"/>
                  <a:gd name="T61" fmla="*/ 21 h 221"/>
                  <a:gd name="T62" fmla="*/ 84 w 350"/>
                  <a:gd name="T63" fmla="*/ 17 h 221"/>
                  <a:gd name="T64" fmla="*/ 76 w 350"/>
                  <a:gd name="T65" fmla="*/ 13 h 221"/>
                  <a:gd name="T66" fmla="*/ 67 w 350"/>
                  <a:gd name="T67" fmla="*/ 10 h 221"/>
                  <a:gd name="T68" fmla="*/ 59 w 350"/>
                  <a:gd name="T69" fmla="*/ 7 h 221"/>
                  <a:gd name="T70" fmla="*/ 50 w 350"/>
                  <a:gd name="T71" fmla="*/ 5 h 221"/>
                  <a:gd name="T72" fmla="*/ 42 w 350"/>
                  <a:gd name="T73" fmla="*/ 3 h 221"/>
                  <a:gd name="T74" fmla="*/ 34 w 350"/>
                  <a:gd name="T75" fmla="*/ 2 h 221"/>
                  <a:gd name="T76" fmla="*/ 27 w 350"/>
                  <a:gd name="T77" fmla="*/ 1 h 221"/>
                  <a:gd name="T78" fmla="*/ 20 w 350"/>
                  <a:gd name="T79" fmla="*/ 0 h 221"/>
                  <a:gd name="T80" fmla="*/ 14 w 350"/>
                  <a:gd name="T81" fmla="*/ 0 h 221"/>
                  <a:gd name="T82" fmla="*/ 9 w 350"/>
                  <a:gd name="T83" fmla="*/ 0 h 221"/>
                  <a:gd name="T84" fmla="*/ 4 w 350"/>
                  <a:gd name="T85" fmla="*/ 0 h 221"/>
                  <a:gd name="T86" fmla="*/ 1 w 350"/>
                  <a:gd name="T87" fmla="*/ 1 h 221"/>
                  <a:gd name="T88" fmla="*/ 0 w 350"/>
                  <a:gd name="T89" fmla="*/ 2 h 221"/>
                  <a:gd name="T90" fmla="*/ 5 w 350"/>
                  <a:gd name="T91" fmla="*/ 3 h 221"/>
                  <a:gd name="T92" fmla="*/ 10 w 350"/>
                  <a:gd name="T93" fmla="*/ 3 h 221"/>
                  <a:gd name="T94" fmla="*/ 16 w 350"/>
                  <a:gd name="T95" fmla="*/ 4 h 221"/>
                  <a:gd name="T96" fmla="*/ 21 w 350"/>
                  <a:gd name="T97" fmla="*/ 5 h 221"/>
                  <a:gd name="T98" fmla="*/ 27 w 350"/>
                  <a:gd name="T99" fmla="*/ 7 h 221"/>
                  <a:gd name="T100" fmla="*/ 34 w 350"/>
                  <a:gd name="T101" fmla="*/ 8 h 221"/>
                  <a:gd name="T102" fmla="*/ 40 w 350"/>
                  <a:gd name="T103" fmla="*/ 9 h 221"/>
                  <a:gd name="T104" fmla="*/ 47 w 350"/>
                  <a:gd name="T105" fmla="*/ 11 h 221"/>
                  <a:gd name="T106" fmla="*/ 53 w 350"/>
                  <a:gd name="T107" fmla="*/ 13 h 221"/>
                  <a:gd name="T108" fmla="*/ 60 w 350"/>
                  <a:gd name="T109" fmla="*/ 15 h 221"/>
                  <a:gd name="T110" fmla="*/ 66 w 350"/>
                  <a:gd name="T111" fmla="*/ 17 h 221"/>
                  <a:gd name="T112" fmla="*/ 73 w 350"/>
                  <a:gd name="T113" fmla="*/ 19 h 221"/>
                  <a:gd name="T114" fmla="*/ 79 w 350"/>
                  <a:gd name="T115" fmla="*/ 22 h 221"/>
                  <a:gd name="T116" fmla="*/ 85 w 350"/>
                  <a:gd name="T117" fmla="*/ 26 h 221"/>
                  <a:gd name="T118" fmla="*/ 91 w 350"/>
                  <a:gd name="T119" fmla="*/ 30 h 221"/>
                  <a:gd name="T120" fmla="*/ 96 w 350"/>
                  <a:gd name="T121" fmla="*/ 34 h 22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0"/>
                  <a:gd name="T184" fmla="*/ 0 h 221"/>
                  <a:gd name="T185" fmla="*/ 350 w 350"/>
                  <a:gd name="T186" fmla="*/ 221 h 22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0" h="221">
                    <a:moveTo>
                      <a:pt x="290" y="68"/>
                    </a:moveTo>
                    <a:lnTo>
                      <a:pt x="306" y="80"/>
                    </a:lnTo>
                    <a:lnTo>
                      <a:pt x="316" y="94"/>
                    </a:lnTo>
                    <a:lnTo>
                      <a:pt x="321" y="109"/>
                    </a:lnTo>
                    <a:lnTo>
                      <a:pt x="321" y="125"/>
                    </a:lnTo>
                    <a:lnTo>
                      <a:pt x="318" y="138"/>
                    </a:lnTo>
                    <a:lnTo>
                      <a:pt x="312" y="149"/>
                    </a:lnTo>
                    <a:lnTo>
                      <a:pt x="302" y="160"/>
                    </a:lnTo>
                    <a:lnTo>
                      <a:pt x="292" y="169"/>
                    </a:lnTo>
                    <a:lnTo>
                      <a:pt x="279" y="179"/>
                    </a:lnTo>
                    <a:lnTo>
                      <a:pt x="266" y="187"/>
                    </a:lnTo>
                    <a:lnTo>
                      <a:pt x="253" y="196"/>
                    </a:lnTo>
                    <a:lnTo>
                      <a:pt x="240" y="205"/>
                    </a:lnTo>
                    <a:lnTo>
                      <a:pt x="237" y="209"/>
                    </a:lnTo>
                    <a:lnTo>
                      <a:pt x="237" y="212"/>
                    </a:lnTo>
                    <a:lnTo>
                      <a:pt x="237" y="215"/>
                    </a:lnTo>
                    <a:lnTo>
                      <a:pt x="240" y="218"/>
                    </a:lnTo>
                    <a:lnTo>
                      <a:pt x="244" y="220"/>
                    </a:lnTo>
                    <a:lnTo>
                      <a:pt x="250" y="221"/>
                    </a:lnTo>
                    <a:lnTo>
                      <a:pt x="254" y="220"/>
                    </a:lnTo>
                    <a:lnTo>
                      <a:pt x="258" y="218"/>
                    </a:lnTo>
                    <a:lnTo>
                      <a:pt x="287" y="204"/>
                    </a:lnTo>
                    <a:lnTo>
                      <a:pt x="312" y="187"/>
                    </a:lnTo>
                    <a:lnTo>
                      <a:pt x="331" y="168"/>
                    </a:lnTo>
                    <a:lnTo>
                      <a:pt x="344" y="146"/>
                    </a:lnTo>
                    <a:lnTo>
                      <a:pt x="350" y="124"/>
                    </a:lnTo>
                    <a:lnTo>
                      <a:pt x="347" y="101"/>
                    </a:lnTo>
                    <a:lnTo>
                      <a:pt x="335" y="80"/>
                    </a:lnTo>
                    <a:lnTo>
                      <a:pt x="312" y="61"/>
                    </a:lnTo>
                    <a:lnTo>
                      <a:pt x="295" y="50"/>
                    </a:lnTo>
                    <a:lnTo>
                      <a:pt x="274" y="42"/>
                    </a:lnTo>
                    <a:lnTo>
                      <a:pt x="253" y="34"/>
                    </a:lnTo>
                    <a:lnTo>
                      <a:pt x="228" y="27"/>
                    </a:lnTo>
                    <a:lnTo>
                      <a:pt x="203" y="20"/>
                    </a:lnTo>
                    <a:lnTo>
                      <a:pt x="179" y="15"/>
                    </a:lnTo>
                    <a:lnTo>
                      <a:pt x="152" y="11"/>
                    </a:lnTo>
                    <a:lnTo>
                      <a:pt x="128" y="7"/>
                    </a:lnTo>
                    <a:lnTo>
                      <a:pt x="103" y="4"/>
                    </a:lnTo>
                    <a:lnTo>
                      <a:pt x="81" y="2"/>
                    </a:lnTo>
                    <a:lnTo>
                      <a:pt x="60" y="0"/>
                    </a:lnTo>
                    <a:lnTo>
                      <a:pt x="42" y="0"/>
                    </a:lnTo>
                    <a:lnTo>
                      <a:pt x="26" y="0"/>
                    </a:lnTo>
                    <a:lnTo>
                      <a:pt x="13" y="0"/>
                    </a:lnTo>
                    <a:lnTo>
                      <a:pt x="4" y="2"/>
                    </a:lnTo>
                    <a:lnTo>
                      <a:pt x="0" y="4"/>
                    </a:lnTo>
                    <a:lnTo>
                      <a:pt x="15" y="6"/>
                    </a:lnTo>
                    <a:lnTo>
                      <a:pt x="29" y="7"/>
                    </a:lnTo>
                    <a:lnTo>
                      <a:pt x="47" y="9"/>
                    </a:lnTo>
                    <a:lnTo>
                      <a:pt x="64" y="11"/>
                    </a:lnTo>
                    <a:lnTo>
                      <a:pt x="81" y="14"/>
                    </a:lnTo>
                    <a:lnTo>
                      <a:pt x="102" y="16"/>
                    </a:lnTo>
                    <a:lnTo>
                      <a:pt x="121" y="19"/>
                    </a:lnTo>
                    <a:lnTo>
                      <a:pt x="141" y="22"/>
                    </a:lnTo>
                    <a:lnTo>
                      <a:pt x="160" y="26"/>
                    </a:lnTo>
                    <a:lnTo>
                      <a:pt x="180" y="30"/>
                    </a:lnTo>
                    <a:lnTo>
                      <a:pt x="200" y="34"/>
                    </a:lnTo>
                    <a:lnTo>
                      <a:pt x="219" y="39"/>
                    </a:lnTo>
                    <a:lnTo>
                      <a:pt x="238" y="45"/>
                    </a:lnTo>
                    <a:lnTo>
                      <a:pt x="257" y="53"/>
                    </a:lnTo>
                    <a:lnTo>
                      <a:pt x="274" y="60"/>
                    </a:lnTo>
                    <a:lnTo>
                      <a:pt x="290" y="68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7" name="Freeform 41"/>
              <p:cNvSpPr>
                <a:spLocks/>
              </p:cNvSpPr>
              <p:nvPr/>
            </p:nvSpPr>
            <p:spPr bwMode="auto">
              <a:xfrm>
                <a:off x="1181" y="2256"/>
                <a:ext cx="48" cy="105"/>
              </a:xfrm>
              <a:custGeom>
                <a:avLst/>
                <a:gdLst>
                  <a:gd name="T0" fmla="*/ 0 w 142"/>
                  <a:gd name="T1" fmla="*/ 58 h 208"/>
                  <a:gd name="T2" fmla="*/ 0 w 142"/>
                  <a:gd name="T3" fmla="*/ 66 h 208"/>
                  <a:gd name="T4" fmla="*/ 2 w 142"/>
                  <a:gd name="T5" fmla="*/ 74 h 208"/>
                  <a:gd name="T6" fmla="*/ 5 w 142"/>
                  <a:gd name="T7" fmla="*/ 82 h 208"/>
                  <a:gd name="T8" fmla="*/ 10 w 142"/>
                  <a:gd name="T9" fmla="*/ 88 h 208"/>
                  <a:gd name="T10" fmla="*/ 16 w 142"/>
                  <a:gd name="T11" fmla="*/ 94 h 208"/>
                  <a:gd name="T12" fmla="*/ 23 w 142"/>
                  <a:gd name="T13" fmla="*/ 99 h 208"/>
                  <a:gd name="T14" fmla="*/ 31 w 142"/>
                  <a:gd name="T15" fmla="*/ 102 h 208"/>
                  <a:gd name="T16" fmla="*/ 39 w 142"/>
                  <a:gd name="T17" fmla="*/ 104 h 208"/>
                  <a:gd name="T18" fmla="*/ 41 w 142"/>
                  <a:gd name="T19" fmla="*/ 105 h 208"/>
                  <a:gd name="T20" fmla="*/ 44 w 142"/>
                  <a:gd name="T21" fmla="*/ 104 h 208"/>
                  <a:gd name="T22" fmla="*/ 46 w 142"/>
                  <a:gd name="T23" fmla="*/ 102 h 208"/>
                  <a:gd name="T24" fmla="*/ 47 w 142"/>
                  <a:gd name="T25" fmla="*/ 100 h 208"/>
                  <a:gd name="T26" fmla="*/ 47 w 142"/>
                  <a:gd name="T27" fmla="*/ 98 h 208"/>
                  <a:gd name="T28" fmla="*/ 46 w 142"/>
                  <a:gd name="T29" fmla="*/ 95 h 208"/>
                  <a:gd name="T30" fmla="*/ 45 w 142"/>
                  <a:gd name="T31" fmla="*/ 93 h 208"/>
                  <a:gd name="T32" fmla="*/ 42 w 142"/>
                  <a:gd name="T33" fmla="*/ 92 h 208"/>
                  <a:gd name="T34" fmla="*/ 34 w 142"/>
                  <a:gd name="T35" fmla="*/ 89 h 208"/>
                  <a:gd name="T36" fmla="*/ 27 w 142"/>
                  <a:gd name="T37" fmla="*/ 85 h 208"/>
                  <a:gd name="T38" fmla="*/ 21 w 142"/>
                  <a:gd name="T39" fmla="*/ 80 h 208"/>
                  <a:gd name="T40" fmla="*/ 17 w 142"/>
                  <a:gd name="T41" fmla="*/ 74 h 208"/>
                  <a:gd name="T42" fmla="*/ 14 w 142"/>
                  <a:gd name="T43" fmla="*/ 66 h 208"/>
                  <a:gd name="T44" fmla="*/ 12 w 142"/>
                  <a:gd name="T45" fmla="*/ 58 h 208"/>
                  <a:gd name="T46" fmla="*/ 12 w 142"/>
                  <a:gd name="T47" fmla="*/ 49 h 208"/>
                  <a:gd name="T48" fmla="*/ 15 w 142"/>
                  <a:gd name="T49" fmla="*/ 40 h 208"/>
                  <a:gd name="T50" fmla="*/ 18 w 142"/>
                  <a:gd name="T51" fmla="*/ 33 h 208"/>
                  <a:gd name="T52" fmla="*/ 22 w 142"/>
                  <a:gd name="T53" fmla="*/ 27 h 208"/>
                  <a:gd name="T54" fmla="*/ 26 w 142"/>
                  <a:gd name="T55" fmla="*/ 22 h 208"/>
                  <a:gd name="T56" fmla="*/ 31 w 142"/>
                  <a:gd name="T57" fmla="*/ 17 h 208"/>
                  <a:gd name="T58" fmla="*/ 35 w 142"/>
                  <a:gd name="T59" fmla="*/ 12 h 208"/>
                  <a:gd name="T60" fmla="*/ 40 w 142"/>
                  <a:gd name="T61" fmla="*/ 8 h 208"/>
                  <a:gd name="T62" fmla="*/ 45 w 142"/>
                  <a:gd name="T63" fmla="*/ 4 h 208"/>
                  <a:gd name="T64" fmla="*/ 48 w 142"/>
                  <a:gd name="T65" fmla="*/ 1 h 208"/>
                  <a:gd name="T66" fmla="*/ 45 w 142"/>
                  <a:gd name="T67" fmla="*/ 0 h 208"/>
                  <a:gd name="T68" fmla="*/ 39 w 142"/>
                  <a:gd name="T69" fmla="*/ 3 h 208"/>
                  <a:gd name="T70" fmla="*/ 32 w 142"/>
                  <a:gd name="T71" fmla="*/ 8 h 208"/>
                  <a:gd name="T72" fmla="*/ 23 w 142"/>
                  <a:gd name="T73" fmla="*/ 16 h 208"/>
                  <a:gd name="T74" fmla="*/ 16 w 142"/>
                  <a:gd name="T75" fmla="*/ 25 h 208"/>
                  <a:gd name="T76" fmla="*/ 8 w 142"/>
                  <a:gd name="T77" fmla="*/ 35 h 208"/>
                  <a:gd name="T78" fmla="*/ 3 w 142"/>
                  <a:gd name="T79" fmla="*/ 46 h 208"/>
                  <a:gd name="T80" fmla="*/ 0 w 142"/>
                  <a:gd name="T81" fmla="*/ 58 h 20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208"/>
                  <a:gd name="T125" fmla="*/ 142 w 142"/>
                  <a:gd name="T126" fmla="*/ 208 h 20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208">
                    <a:moveTo>
                      <a:pt x="0" y="114"/>
                    </a:moveTo>
                    <a:lnTo>
                      <a:pt x="0" y="131"/>
                    </a:lnTo>
                    <a:lnTo>
                      <a:pt x="6" y="147"/>
                    </a:lnTo>
                    <a:lnTo>
                      <a:pt x="16" y="162"/>
                    </a:lnTo>
                    <a:lnTo>
                      <a:pt x="30" y="175"/>
                    </a:lnTo>
                    <a:lnTo>
                      <a:pt x="48" y="186"/>
                    </a:lnTo>
                    <a:lnTo>
                      <a:pt x="68" y="196"/>
                    </a:lnTo>
                    <a:lnTo>
                      <a:pt x="91" y="203"/>
                    </a:lnTo>
                    <a:lnTo>
                      <a:pt x="114" y="207"/>
                    </a:lnTo>
                    <a:lnTo>
                      <a:pt x="122" y="208"/>
                    </a:lnTo>
                    <a:lnTo>
                      <a:pt x="129" y="206"/>
                    </a:lnTo>
                    <a:lnTo>
                      <a:pt x="135" y="203"/>
                    </a:lnTo>
                    <a:lnTo>
                      <a:pt x="138" y="199"/>
                    </a:lnTo>
                    <a:lnTo>
                      <a:pt x="138" y="194"/>
                    </a:lnTo>
                    <a:lnTo>
                      <a:pt x="136" y="189"/>
                    </a:lnTo>
                    <a:lnTo>
                      <a:pt x="132" y="185"/>
                    </a:lnTo>
                    <a:lnTo>
                      <a:pt x="125" y="183"/>
                    </a:lnTo>
                    <a:lnTo>
                      <a:pt x="101" y="177"/>
                    </a:lnTo>
                    <a:lnTo>
                      <a:pt x="80" y="169"/>
                    </a:lnTo>
                    <a:lnTo>
                      <a:pt x="62" y="158"/>
                    </a:lnTo>
                    <a:lnTo>
                      <a:pt x="49" y="146"/>
                    </a:lnTo>
                    <a:lnTo>
                      <a:pt x="40" y="131"/>
                    </a:lnTo>
                    <a:lnTo>
                      <a:pt x="36" y="115"/>
                    </a:lnTo>
                    <a:lnTo>
                      <a:pt x="36" y="97"/>
                    </a:lnTo>
                    <a:lnTo>
                      <a:pt x="43" y="79"/>
                    </a:lnTo>
                    <a:lnTo>
                      <a:pt x="52" y="66"/>
                    </a:lnTo>
                    <a:lnTo>
                      <a:pt x="64" y="54"/>
                    </a:lnTo>
                    <a:lnTo>
                      <a:pt x="77" y="43"/>
                    </a:lnTo>
                    <a:lnTo>
                      <a:pt x="91" y="33"/>
                    </a:lnTo>
                    <a:lnTo>
                      <a:pt x="104" y="24"/>
                    </a:lnTo>
                    <a:lnTo>
                      <a:pt x="119" y="16"/>
                    </a:lnTo>
                    <a:lnTo>
                      <a:pt x="132" y="8"/>
                    </a:lnTo>
                    <a:lnTo>
                      <a:pt x="142" y="1"/>
                    </a:lnTo>
                    <a:lnTo>
                      <a:pt x="132" y="0"/>
                    </a:lnTo>
                    <a:lnTo>
                      <a:pt x="116" y="5"/>
                    </a:lnTo>
                    <a:lnTo>
                      <a:pt x="94" y="16"/>
                    </a:lnTo>
                    <a:lnTo>
                      <a:pt x="69" y="31"/>
                    </a:lnTo>
                    <a:lnTo>
                      <a:pt x="46" y="50"/>
                    </a:lnTo>
                    <a:lnTo>
                      <a:pt x="24" y="70"/>
                    </a:lnTo>
                    <a:lnTo>
                      <a:pt x="9" y="92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8" name="Freeform 42"/>
              <p:cNvSpPr>
                <a:spLocks/>
              </p:cNvSpPr>
              <p:nvPr/>
            </p:nvSpPr>
            <p:spPr bwMode="auto">
              <a:xfrm>
                <a:off x="1515" y="2198"/>
                <a:ext cx="101" cy="136"/>
              </a:xfrm>
              <a:custGeom>
                <a:avLst/>
                <a:gdLst>
                  <a:gd name="T0" fmla="*/ 85 w 304"/>
                  <a:gd name="T1" fmla="*/ 54 h 272"/>
                  <a:gd name="T2" fmla="*/ 90 w 304"/>
                  <a:gd name="T3" fmla="*/ 63 h 272"/>
                  <a:gd name="T4" fmla="*/ 92 w 304"/>
                  <a:gd name="T5" fmla="*/ 72 h 272"/>
                  <a:gd name="T6" fmla="*/ 91 w 304"/>
                  <a:gd name="T7" fmla="*/ 82 h 272"/>
                  <a:gd name="T8" fmla="*/ 86 w 304"/>
                  <a:gd name="T9" fmla="*/ 91 h 272"/>
                  <a:gd name="T10" fmla="*/ 77 w 304"/>
                  <a:gd name="T11" fmla="*/ 100 h 272"/>
                  <a:gd name="T12" fmla="*/ 68 w 304"/>
                  <a:gd name="T13" fmla="*/ 107 h 272"/>
                  <a:gd name="T14" fmla="*/ 59 w 304"/>
                  <a:gd name="T15" fmla="*/ 116 h 272"/>
                  <a:gd name="T16" fmla="*/ 53 w 304"/>
                  <a:gd name="T17" fmla="*/ 122 h 272"/>
                  <a:gd name="T18" fmla="*/ 51 w 304"/>
                  <a:gd name="T19" fmla="*/ 126 h 272"/>
                  <a:gd name="T20" fmla="*/ 50 w 304"/>
                  <a:gd name="T21" fmla="*/ 130 h 272"/>
                  <a:gd name="T22" fmla="*/ 50 w 304"/>
                  <a:gd name="T23" fmla="*/ 134 h 272"/>
                  <a:gd name="T24" fmla="*/ 53 w 304"/>
                  <a:gd name="T25" fmla="*/ 136 h 272"/>
                  <a:gd name="T26" fmla="*/ 57 w 304"/>
                  <a:gd name="T27" fmla="*/ 136 h 272"/>
                  <a:gd name="T28" fmla="*/ 63 w 304"/>
                  <a:gd name="T29" fmla="*/ 129 h 272"/>
                  <a:gd name="T30" fmla="*/ 74 w 304"/>
                  <a:gd name="T31" fmla="*/ 118 h 272"/>
                  <a:gd name="T32" fmla="*/ 85 w 304"/>
                  <a:gd name="T33" fmla="*/ 107 h 272"/>
                  <a:gd name="T34" fmla="*/ 95 w 304"/>
                  <a:gd name="T35" fmla="*/ 96 h 272"/>
                  <a:gd name="T36" fmla="*/ 101 w 304"/>
                  <a:gd name="T37" fmla="*/ 82 h 272"/>
                  <a:gd name="T38" fmla="*/ 100 w 304"/>
                  <a:gd name="T39" fmla="*/ 67 h 272"/>
                  <a:gd name="T40" fmla="*/ 93 w 304"/>
                  <a:gd name="T41" fmla="*/ 53 h 272"/>
                  <a:gd name="T42" fmla="*/ 83 w 304"/>
                  <a:gd name="T43" fmla="*/ 41 h 272"/>
                  <a:gd name="T44" fmla="*/ 73 w 304"/>
                  <a:gd name="T45" fmla="*/ 33 h 272"/>
                  <a:gd name="T46" fmla="*/ 62 w 304"/>
                  <a:gd name="T47" fmla="*/ 26 h 272"/>
                  <a:gd name="T48" fmla="*/ 52 w 304"/>
                  <a:gd name="T49" fmla="*/ 19 h 272"/>
                  <a:gd name="T50" fmla="*/ 41 w 304"/>
                  <a:gd name="T51" fmla="*/ 12 h 272"/>
                  <a:gd name="T52" fmla="*/ 30 w 304"/>
                  <a:gd name="T53" fmla="*/ 7 h 272"/>
                  <a:gd name="T54" fmla="*/ 19 w 304"/>
                  <a:gd name="T55" fmla="*/ 3 h 272"/>
                  <a:gd name="T56" fmla="*/ 10 w 304"/>
                  <a:gd name="T57" fmla="*/ 1 h 272"/>
                  <a:gd name="T58" fmla="*/ 3 w 304"/>
                  <a:gd name="T59" fmla="*/ 1 h 272"/>
                  <a:gd name="T60" fmla="*/ 3 w 304"/>
                  <a:gd name="T61" fmla="*/ 2 h 272"/>
                  <a:gd name="T62" fmla="*/ 12 w 304"/>
                  <a:gd name="T63" fmla="*/ 6 h 272"/>
                  <a:gd name="T64" fmla="*/ 21 w 304"/>
                  <a:gd name="T65" fmla="*/ 10 h 272"/>
                  <a:gd name="T66" fmla="*/ 32 w 304"/>
                  <a:gd name="T67" fmla="*/ 16 h 272"/>
                  <a:gd name="T68" fmla="*/ 44 w 304"/>
                  <a:gd name="T69" fmla="*/ 22 h 272"/>
                  <a:gd name="T70" fmla="*/ 55 w 304"/>
                  <a:gd name="T71" fmla="*/ 30 h 272"/>
                  <a:gd name="T72" fmla="*/ 67 w 304"/>
                  <a:gd name="T73" fmla="*/ 38 h 272"/>
                  <a:gd name="T74" fmla="*/ 77 w 304"/>
                  <a:gd name="T75" fmla="*/ 46 h 27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4"/>
                  <a:gd name="T115" fmla="*/ 0 h 272"/>
                  <a:gd name="T116" fmla="*/ 304 w 304"/>
                  <a:gd name="T117" fmla="*/ 272 h 27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4" h="272">
                    <a:moveTo>
                      <a:pt x="246" y="102"/>
                    </a:moveTo>
                    <a:lnTo>
                      <a:pt x="257" y="109"/>
                    </a:lnTo>
                    <a:lnTo>
                      <a:pt x="265" y="117"/>
                    </a:lnTo>
                    <a:lnTo>
                      <a:pt x="271" y="126"/>
                    </a:lnTo>
                    <a:lnTo>
                      <a:pt x="277" y="135"/>
                    </a:lnTo>
                    <a:lnTo>
                      <a:pt x="278" y="144"/>
                    </a:lnTo>
                    <a:lnTo>
                      <a:pt x="278" y="154"/>
                    </a:lnTo>
                    <a:lnTo>
                      <a:pt x="274" y="164"/>
                    </a:lnTo>
                    <a:lnTo>
                      <a:pt x="268" y="173"/>
                    </a:lnTo>
                    <a:lnTo>
                      <a:pt x="258" y="183"/>
                    </a:lnTo>
                    <a:lnTo>
                      <a:pt x="246" y="192"/>
                    </a:lnTo>
                    <a:lnTo>
                      <a:pt x="233" y="200"/>
                    </a:lnTo>
                    <a:lnTo>
                      <a:pt x="219" y="208"/>
                    </a:lnTo>
                    <a:lnTo>
                      <a:pt x="206" y="215"/>
                    </a:lnTo>
                    <a:lnTo>
                      <a:pt x="191" y="224"/>
                    </a:lnTo>
                    <a:lnTo>
                      <a:pt x="177" y="232"/>
                    </a:lnTo>
                    <a:lnTo>
                      <a:pt x="164" y="241"/>
                    </a:lnTo>
                    <a:lnTo>
                      <a:pt x="159" y="244"/>
                    </a:lnTo>
                    <a:lnTo>
                      <a:pt x="157" y="248"/>
                    </a:lnTo>
                    <a:lnTo>
                      <a:pt x="154" y="252"/>
                    </a:lnTo>
                    <a:lnTo>
                      <a:pt x="151" y="256"/>
                    </a:lnTo>
                    <a:lnTo>
                      <a:pt x="149" y="260"/>
                    </a:lnTo>
                    <a:lnTo>
                      <a:pt x="149" y="264"/>
                    </a:lnTo>
                    <a:lnTo>
                      <a:pt x="151" y="268"/>
                    </a:lnTo>
                    <a:lnTo>
                      <a:pt x="155" y="271"/>
                    </a:lnTo>
                    <a:lnTo>
                      <a:pt x="161" y="272"/>
                    </a:lnTo>
                    <a:lnTo>
                      <a:pt x="167" y="272"/>
                    </a:lnTo>
                    <a:lnTo>
                      <a:pt x="172" y="271"/>
                    </a:lnTo>
                    <a:lnTo>
                      <a:pt x="177" y="268"/>
                    </a:lnTo>
                    <a:lnTo>
                      <a:pt x="191" y="257"/>
                    </a:lnTo>
                    <a:lnTo>
                      <a:pt x="207" y="246"/>
                    </a:lnTo>
                    <a:lnTo>
                      <a:pt x="223" y="236"/>
                    </a:lnTo>
                    <a:lnTo>
                      <a:pt x="241" y="226"/>
                    </a:lnTo>
                    <a:lnTo>
                      <a:pt x="257" y="215"/>
                    </a:lnTo>
                    <a:lnTo>
                      <a:pt x="271" y="204"/>
                    </a:lnTo>
                    <a:lnTo>
                      <a:pt x="286" y="192"/>
                    </a:lnTo>
                    <a:lnTo>
                      <a:pt x="296" y="179"/>
                    </a:lnTo>
                    <a:lnTo>
                      <a:pt x="303" y="164"/>
                    </a:lnTo>
                    <a:lnTo>
                      <a:pt x="304" y="149"/>
                    </a:lnTo>
                    <a:lnTo>
                      <a:pt x="300" y="134"/>
                    </a:lnTo>
                    <a:lnTo>
                      <a:pt x="293" y="120"/>
                    </a:lnTo>
                    <a:lnTo>
                      <a:pt x="281" y="106"/>
                    </a:lnTo>
                    <a:lnTo>
                      <a:pt x="267" y="94"/>
                    </a:lnTo>
                    <a:lnTo>
                      <a:pt x="249" y="83"/>
                    </a:lnTo>
                    <a:lnTo>
                      <a:pt x="232" y="73"/>
                    </a:lnTo>
                    <a:lnTo>
                      <a:pt x="219" y="65"/>
                    </a:lnTo>
                    <a:lnTo>
                      <a:pt x="204" y="59"/>
                    </a:lnTo>
                    <a:lnTo>
                      <a:pt x="188" y="52"/>
                    </a:lnTo>
                    <a:lnTo>
                      <a:pt x="172" y="45"/>
                    </a:lnTo>
                    <a:lnTo>
                      <a:pt x="157" y="38"/>
                    </a:lnTo>
                    <a:lnTo>
                      <a:pt x="139" y="31"/>
                    </a:lnTo>
                    <a:lnTo>
                      <a:pt x="122" y="25"/>
                    </a:lnTo>
                    <a:lnTo>
                      <a:pt x="106" y="19"/>
                    </a:lnTo>
                    <a:lnTo>
                      <a:pt x="90" y="14"/>
                    </a:lnTo>
                    <a:lnTo>
                      <a:pt x="74" y="9"/>
                    </a:lnTo>
                    <a:lnTo>
                      <a:pt x="58" y="6"/>
                    </a:lnTo>
                    <a:lnTo>
                      <a:pt x="43" y="3"/>
                    </a:lnTo>
                    <a:lnTo>
                      <a:pt x="30" y="1"/>
                    </a:lnTo>
                    <a:lnTo>
                      <a:pt x="19" y="0"/>
                    </a:lnTo>
                    <a:lnTo>
                      <a:pt x="9" y="1"/>
                    </a:lnTo>
                    <a:lnTo>
                      <a:pt x="0" y="3"/>
                    </a:lnTo>
                    <a:lnTo>
                      <a:pt x="10" y="5"/>
                    </a:lnTo>
                    <a:lnTo>
                      <a:pt x="22" y="8"/>
                    </a:lnTo>
                    <a:lnTo>
                      <a:pt x="35" y="12"/>
                    </a:lnTo>
                    <a:lnTo>
                      <a:pt x="48" y="16"/>
                    </a:lnTo>
                    <a:lnTo>
                      <a:pt x="64" y="21"/>
                    </a:lnTo>
                    <a:lnTo>
                      <a:pt x="80" y="26"/>
                    </a:lnTo>
                    <a:lnTo>
                      <a:pt x="97" y="32"/>
                    </a:lnTo>
                    <a:lnTo>
                      <a:pt x="114" y="38"/>
                    </a:lnTo>
                    <a:lnTo>
                      <a:pt x="132" y="45"/>
                    </a:lnTo>
                    <a:lnTo>
                      <a:pt x="149" y="52"/>
                    </a:lnTo>
                    <a:lnTo>
                      <a:pt x="167" y="60"/>
                    </a:lnTo>
                    <a:lnTo>
                      <a:pt x="184" y="69"/>
                    </a:lnTo>
                    <a:lnTo>
                      <a:pt x="201" y="77"/>
                    </a:lnTo>
                    <a:lnTo>
                      <a:pt x="217" y="85"/>
                    </a:lnTo>
                    <a:lnTo>
                      <a:pt x="232" y="93"/>
                    </a:lnTo>
                    <a:lnTo>
                      <a:pt x="246" y="10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09" name="Freeform 43"/>
              <p:cNvSpPr>
                <a:spLocks/>
              </p:cNvSpPr>
              <p:nvPr/>
            </p:nvSpPr>
            <p:spPr bwMode="auto">
              <a:xfrm>
                <a:off x="1403" y="2357"/>
                <a:ext cx="34" cy="82"/>
              </a:xfrm>
              <a:custGeom>
                <a:avLst/>
                <a:gdLst>
                  <a:gd name="T0" fmla="*/ 13 w 103"/>
                  <a:gd name="T1" fmla="*/ 6 h 164"/>
                  <a:gd name="T2" fmla="*/ 12 w 103"/>
                  <a:gd name="T3" fmla="*/ 3 h 164"/>
                  <a:gd name="T4" fmla="*/ 11 w 103"/>
                  <a:gd name="T5" fmla="*/ 1 h 164"/>
                  <a:gd name="T6" fmla="*/ 8 w 103"/>
                  <a:gd name="T7" fmla="*/ 1 h 164"/>
                  <a:gd name="T8" fmla="*/ 6 w 103"/>
                  <a:gd name="T9" fmla="*/ 0 h 164"/>
                  <a:gd name="T10" fmla="*/ 3 w 103"/>
                  <a:gd name="T11" fmla="*/ 1 h 164"/>
                  <a:gd name="T12" fmla="*/ 2 w 103"/>
                  <a:gd name="T13" fmla="*/ 3 h 164"/>
                  <a:gd name="T14" fmla="*/ 0 w 103"/>
                  <a:gd name="T15" fmla="*/ 5 h 164"/>
                  <a:gd name="T16" fmla="*/ 0 w 103"/>
                  <a:gd name="T17" fmla="*/ 7 h 164"/>
                  <a:gd name="T18" fmla="*/ 3 w 103"/>
                  <a:gd name="T19" fmla="*/ 19 h 164"/>
                  <a:gd name="T20" fmla="*/ 6 w 103"/>
                  <a:gd name="T21" fmla="*/ 31 h 164"/>
                  <a:gd name="T22" fmla="*/ 11 w 103"/>
                  <a:gd name="T23" fmla="*/ 44 h 164"/>
                  <a:gd name="T24" fmla="*/ 17 w 103"/>
                  <a:gd name="T25" fmla="*/ 56 h 164"/>
                  <a:gd name="T26" fmla="*/ 22 w 103"/>
                  <a:gd name="T27" fmla="*/ 67 h 164"/>
                  <a:gd name="T28" fmla="*/ 28 w 103"/>
                  <a:gd name="T29" fmla="*/ 75 h 164"/>
                  <a:gd name="T30" fmla="*/ 32 w 103"/>
                  <a:gd name="T31" fmla="*/ 81 h 164"/>
                  <a:gd name="T32" fmla="*/ 34 w 103"/>
                  <a:gd name="T33" fmla="*/ 82 h 164"/>
                  <a:gd name="T34" fmla="*/ 33 w 103"/>
                  <a:gd name="T35" fmla="*/ 77 h 164"/>
                  <a:gd name="T36" fmla="*/ 31 w 103"/>
                  <a:gd name="T37" fmla="*/ 70 h 164"/>
                  <a:gd name="T38" fmla="*/ 28 w 103"/>
                  <a:gd name="T39" fmla="*/ 60 h 164"/>
                  <a:gd name="T40" fmla="*/ 24 w 103"/>
                  <a:gd name="T41" fmla="*/ 50 h 164"/>
                  <a:gd name="T42" fmla="*/ 21 w 103"/>
                  <a:gd name="T43" fmla="*/ 39 h 164"/>
                  <a:gd name="T44" fmla="*/ 18 w 103"/>
                  <a:gd name="T45" fmla="*/ 27 h 164"/>
                  <a:gd name="T46" fmla="*/ 15 w 103"/>
                  <a:gd name="T47" fmla="*/ 17 h 164"/>
                  <a:gd name="T48" fmla="*/ 13 w 103"/>
                  <a:gd name="T49" fmla="*/ 6 h 16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3"/>
                  <a:gd name="T76" fmla="*/ 0 h 164"/>
                  <a:gd name="T77" fmla="*/ 103 w 103"/>
                  <a:gd name="T78" fmla="*/ 164 h 16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3" h="164">
                    <a:moveTo>
                      <a:pt x="39" y="12"/>
                    </a:moveTo>
                    <a:lnTo>
                      <a:pt x="37" y="7"/>
                    </a:lnTo>
                    <a:lnTo>
                      <a:pt x="32" y="3"/>
                    </a:lnTo>
                    <a:lnTo>
                      <a:pt x="25" y="1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0" y="10"/>
                    </a:lnTo>
                    <a:lnTo>
                      <a:pt x="0" y="15"/>
                    </a:lnTo>
                    <a:lnTo>
                      <a:pt x="8" y="37"/>
                    </a:lnTo>
                    <a:lnTo>
                      <a:pt x="19" y="63"/>
                    </a:lnTo>
                    <a:lnTo>
                      <a:pt x="34" y="88"/>
                    </a:lnTo>
                    <a:lnTo>
                      <a:pt x="51" y="112"/>
                    </a:lnTo>
                    <a:lnTo>
                      <a:pt x="68" y="133"/>
                    </a:lnTo>
                    <a:lnTo>
                      <a:pt x="84" y="150"/>
                    </a:lnTo>
                    <a:lnTo>
                      <a:pt x="96" y="161"/>
                    </a:lnTo>
                    <a:lnTo>
                      <a:pt x="103" y="164"/>
                    </a:lnTo>
                    <a:lnTo>
                      <a:pt x="100" y="153"/>
                    </a:lnTo>
                    <a:lnTo>
                      <a:pt x="93" y="139"/>
                    </a:lnTo>
                    <a:lnTo>
                      <a:pt x="84" y="121"/>
                    </a:lnTo>
                    <a:lnTo>
                      <a:pt x="74" y="100"/>
                    </a:lnTo>
                    <a:lnTo>
                      <a:pt x="64" y="78"/>
                    </a:lnTo>
                    <a:lnTo>
                      <a:pt x="54" y="55"/>
                    </a:lnTo>
                    <a:lnTo>
                      <a:pt x="45" y="33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0" name="Freeform 44"/>
              <p:cNvSpPr>
                <a:spLocks/>
              </p:cNvSpPr>
              <p:nvPr/>
            </p:nvSpPr>
            <p:spPr bwMode="auto">
              <a:xfrm>
                <a:off x="1388" y="2313"/>
                <a:ext cx="18" cy="42"/>
              </a:xfrm>
              <a:custGeom>
                <a:avLst/>
                <a:gdLst>
                  <a:gd name="T0" fmla="*/ 9 w 54"/>
                  <a:gd name="T1" fmla="*/ 5 h 82"/>
                  <a:gd name="T2" fmla="*/ 9 w 54"/>
                  <a:gd name="T3" fmla="*/ 3 h 82"/>
                  <a:gd name="T4" fmla="*/ 7 w 54"/>
                  <a:gd name="T5" fmla="*/ 1 h 82"/>
                  <a:gd name="T6" fmla="*/ 6 w 54"/>
                  <a:gd name="T7" fmla="*/ 0 h 82"/>
                  <a:gd name="T8" fmla="*/ 4 w 54"/>
                  <a:gd name="T9" fmla="*/ 0 h 82"/>
                  <a:gd name="T10" fmla="*/ 3 w 54"/>
                  <a:gd name="T11" fmla="*/ 1 h 82"/>
                  <a:gd name="T12" fmla="*/ 1 w 54"/>
                  <a:gd name="T13" fmla="*/ 2 h 82"/>
                  <a:gd name="T14" fmla="*/ 0 w 54"/>
                  <a:gd name="T15" fmla="*/ 3 h 82"/>
                  <a:gd name="T16" fmla="*/ 0 w 54"/>
                  <a:gd name="T17" fmla="*/ 5 h 82"/>
                  <a:gd name="T18" fmla="*/ 0 w 54"/>
                  <a:gd name="T19" fmla="*/ 11 h 82"/>
                  <a:gd name="T20" fmla="*/ 2 w 54"/>
                  <a:gd name="T21" fmla="*/ 17 h 82"/>
                  <a:gd name="T22" fmla="*/ 3 w 54"/>
                  <a:gd name="T23" fmla="*/ 23 h 82"/>
                  <a:gd name="T24" fmla="*/ 6 w 54"/>
                  <a:gd name="T25" fmla="*/ 29 h 82"/>
                  <a:gd name="T26" fmla="*/ 9 w 54"/>
                  <a:gd name="T27" fmla="*/ 35 h 82"/>
                  <a:gd name="T28" fmla="*/ 12 w 54"/>
                  <a:gd name="T29" fmla="*/ 39 h 82"/>
                  <a:gd name="T30" fmla="*/ 15 w 54"/>
                  <a:gd name="T31" fmla="*/ 41 h 82"/>
                  <a:gd name="T32" fmla="*/ 18 w 54"/>
                  <a:gd name="T33" fmla="*/ 42 h 82"/>
                  <a:gd name="T34" fmla="*/ 18 w 54"/>
                  <a:gd name="T35" fmla="*/ 34 h 82"/>
                  <a:gd name="T36" fmla="*/ 16 w 54"/>
                  <a:gd name="T37" fmla="*/ 24 h 82"/>
                  <a:gd name="T38" fmla="*/ 13 w 54"/>
                  <a:gd name="T39" fmla="*/ 14 h 82"/>
                  <a:gd name="T40" fmla="*/ 9 w 54"/>
                  <a:gd name="T41" fmla="*/ 5 h 8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4"/>
                  <a:gd name="T64" fmla="*/ 0 h 82"/>
                  <a:gd name="T65" fmla="*/ 54 w 54"/>
                  <a:gd name="T66" fmla="*/ 82 h 8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4" h="82">
                    <a:moveTo>
                      <a:pt x="28" y="9"/>
                    </a:moveTo>
                    <a:lnTo>
                      <a:pt x="26" y="5"/>
                    </a:lnTo>
                    <a:lnTo>
                      <a:pt x="22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21"/>
                    </a:lnTo>
                    <a:lnTo>
                      <a:pt x="5" y="33"/>
                    </a:lnTo>
                    <a:lnTo>
                      <a:pt x="10" y="45"/>
                    </a:lnTo>
                    <a:lnTo>
                      <a:pt x="18" y="57"/>
                    </a:lnTo>
                    <a:lnTo>
                      <a:pt x="26" y="68"/>
                    </a:lnTo>
                    <a:lnTo>
                      <a:pt x="35" y="76"/>
                    </a:lnTo>
                    <a:lnTo>
                      <a:pt x="45" y="81"/>
                    </a:lnTo>
                    <a:lnTo>
                      <a:pt x="53" y="82"/>
                    </a:lnTo>
                    <a:lnTo>
                      <a:pt x="54" y="66"/>
                    </a:lnTo>
                    <a:lnTo>
                      <a:pt x="47" y="47"/>
                    </a:lnTo>
                    <a:lnTo>
                      <a:pt x="38" y="28"/>
                    </a:lnTo>
                    <a:lnTo>
                      <a:pt x="28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1" name="Freeform 45"/>
              <p:cNvSpPr>
                <a:spLocks/>
              </p:cNvSpPr>
              <p:nvPr/>
            </p:nvSpPr>
            <p:spPr bwMode="auto">
              <a:xfrm>
                <a:off x="1373" y="2283"/>
                <a:ext cx="16" cy="24"/>
              </a:xfrm>
              <a:custGeom>
                <a:avLst/>
                <a:gdLst>
                  <a:gd name="T0" fmla="*/ 8 w 46"/>
                  <a:gd name="T1" fmla="*/ 3 h 47"/>
                  <a:gd name="T2" fmla="*/ 8 w 46"/>
                  <a:gd name="T3" fmla="*/ 4 h 47"/>
                  <a:gd name="T4" fmla="*/ 8 w 46"/>
                  <a:gd name="T5" fmla="*/ 4 h 47"/>
                  <a:gd name="T6" fmla="*/ 8 w 46"/>
                  <a:gd name="T7" fmla="*/ 4 h 47"/>
                  <a:gd name="T8" fmla="*/ 8 w 46"/>
                  <a:gd name="T9" fmla="*/ 4 h 47"/>
                  <a:gd name="T10" fmla="*/ 8 w 46"/>
                  <a:gd name="T11" fmla="*/ 2 h 47"/>
                  <a:gd name="T12" fmla="*/ 7 w 46"/>
                  <a:gd name="T13" fmla="*/ 1 h 47"/>
                  <a:gd name="T14" fmla="*/ 5 w 46"/>
                  <a:gd name="T15" fmla="*/ 0 h 47"/>
                  <a:gd name="T16" fmla="*/ 3 w 46"/>
                  <a:gd name="T17" fmla="*/ 0 h 47"/>
                  <a:gd name="T18" fmla="*/ 1 w 46"/>
                  <a:gd name="T19" fmla="*/ 1 h 47"/>
                  <a:gd name="T20" fmla="*/ 0 w 46"/>
                  <a:gd name="T21" fmla="*/ 2 h 47"/>
                  <a:gd name="T22" fmla="*/ 0 w 46"/>
                  <a:gd name="T23" fmla="*/ 4 h 47"/>
                  <a:gd name="T24" fmla="*/ 0 w 46"/>
                  <a:gd name="T25" fmla="*/ 5 h 47"/>
                  <a:gd name="T26" fmla="*/ 0 w 46"/>
                  <a:gd name="T27" fmla="*/ 8 h 47"/>
                  <a:gd name="T28" fmla="*/ 1 w 46"/>
                  <a:gd name="T29" fmla="*/ 11 h 47"/>
                  <a:gd name="T30" fmla="*/ 3 w 46"/>
                  <a:gd name="T31" fmla="*/ 14 h 47"/>
                  <a:gd name="T32" fmla="*/ 6 w 46"/>
                  <a:gd name="T33" fmla="*/ 17 h 47"/>
                  <a:gd name="T34" fmla="*/ 8 w 46"/>
                  <a:gd name="T35" fmla="*/ 20 h 47"/>
                  <a:gd name="T36" fmla="*/ 11 w 46"/>
                  <a:gd name="T37" fmla="*/ 22 h 47"/>
                  <a:gd name="T38" fmla="*/ 14 w 46"/>
                  <a:gd name="T39" fmla="*/ 24 h 47"/>
                  <a:gd name="T40" fmla="*/ 16 w 46"/>
                  <a:gd name="T41" fmla="*/ 24 h 47"/>
                  <a:gd name="T42" fmla="*/ 16 w 46"/>
                  <a:gd name="T43" fmla="*/ 19 h 47"/>
                  <a:gd name="T44" fmla="*/ 14 w 46"/>
                  <a:gd name="T45" fmla="*/ 13 h 47"/>
                  <a:gd name="T46" fmla="*/ 10 w 46"/>
                  <a:gd name="T47" fmla="*/ 7 h 47"/>
                  <a:gd name="T48" fmla="*/ 8 w 46"/>
                  <a:gd name="T49" fmla="*/ 3 h 4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46"/>
                  <a:gd name="T76" fmla="*/ 0 h 47"/>
                  <a:gd name="T77" fmla="*/ 46 w 46"/>
                  <a:gd name="T78" fmla="*/ 47 h 4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46" h="47">
                    <a:moveTo>
                      <a:pt x="24" y="6"/>
                    </a:moveTo>
                    <a:lnTo>
                      <a:pt x="24" y="7"/>
                    </a:lnTo>
                    <a:lnTo>
                      <a:pt x="23" y="4"/>
                    </a:lnTo>
                    <a:lnTo>
                      <a:pt x="19" y="1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1" y="4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1" y="15"/>
                    </a:lnTo>
                    <a:lnTo>
                      <a:pt x="4" y="21"/>
                    </a:lnTo>
                    <a:lnTo>
                      <a:pt x="10" y="28"/>
                    </a:lnTo>
                    <a:lnTo>
                      <a:pt x="17" y="34"/>
                    </a:lnTo>
                    <a:lnTo>
                      <a:pt x="24" y="40"/>
                    </a:lnTo>
                    <a:lnTo>
                      <a:pt x="33" y="44"/>
                    </a:lnTo>
                    <a:lnTo>
                      <a:pt x="40" y="47"/>
                    </a:lnTo>
                    <a:lnTo>
                      <a:pt x="46" y="47"/>
                    </a:lnTo>
                    <a:lnTo>
                      <a:pt x="45" y="37"/>
                    </a:lnTo>
                    <a:lnTo>
                      <a:pt x="39" y="25"/>
                    </a:lnTo>
                    <a:lnTo>
                      <a:pt x="30" y="14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2" name="Freeform 46"/>
              <p:cNvSpPr>
                <a:spLocks/>
              </p:cNvSpPr>
              <p:nvPr/>
            </p:nvSpPr>
            <p:spPr bwMode="auto">
              <a:xfrm>
                <a:off x="1360" y="2263"/>
                <a:ext cx="21" cy="16"/>
              </a:xfrm>
              <a:custGeom>
                <a:avLst/>
                <a:gdLst>
                  <a:gd name="T0" fmla="*/ 17 w 63"/>
                  <a:gd name="T1" fmla="*/ 12 h 31"/>
                  <a:gd name="T2" fmla="*/ 19 w 63"/>
                  <a:gd name="T3" fmla="*/ 11 h 31"/>
                  <a:gd name="T4" fmla="*/ 21 w 63"/>
                  <a:gd name="T5" fmla="*/ 9 h 31"/>
                  <a:gd name="T6" fmla="*/ 21 w 63"/>
                  <a:gd name="T7" fmla="*/ 7 h 31"/>
                  <a:gd name="T8" fmla="*/ 21 w 63"/>
                  <a:gd name="T9" fmla="*/ 5 h 31"/>
                  <a:gd name="T10" fmla="*/ 20 w 63"/>
                  <a:gd name="T11" fmla="*/ 3 h 31"/>
                  <a:gd name="T12" fmla="*/ 19 w 63"/>
                  <a:gd name="T13" fmla="*/ 1 h 31"/>
                  <a:gd name="T14" fmla="*/ 17 w 63"/>
                  <a:gd name="T15" fmla="*/ 0 h 31"/>
                  <a:gd name="T16" fmla="*/ 14 w 63"/>
                  <a:gd name="T17" fmla="*/ 0 h 31"/>
                  <a:gd name="T18" fmla="*/ 13 w 63"/>
                  <a:gd name="T19" fmla="*/ 0 h 31"/>
                  <a:gd name="T20" fmla="*/ 11 w 63"/>
                  <a:gd name="T21" fmla="*/ 1 h 31"/>
                  <a:gd name="T22" fmla="*/ 9 w 63"/>
                  <a:gd name="T23" fmla="*/ 2 h 31"/>
                  <a:gd name="T24" fmla="*/ 5 w 63"/>
                  <a:gd name="T25" fmla="*/ 4 h 31"/>
                  <a:gd name="T26" fmla="*/ 2 w 63"/>
                  <a:gd name="T27" fmla="*/ 7 h 31"/>
                  <a:gd name="T28" fmla="*/ 1 w 63"/>
                  <a:gd name="T29" fmla="*/ 10 h 31"/>
                  <a:gd name="T30" fmla="*/ 0 w 63"/>
                  <a:gd name="T31" fmla="*/ 13 h 31"/>
                  <a:gd name="T32" fmla="*/ 0 w 63"/>
                  <a:gd name="T33" fmla="*/ 14 h 31"/>
                  <a:gd name="T34" fmla="*/ 1 w 63"/>
                  <a:gd name="T35" fmla="*/ 15 h 31"/>
                  <a:gd name="T36" fmla="*/ 3 w 63"/>
                  <a:gd name="T37" fmla="*/ 16 h 31"/>
                  <a:gd name="T38" fmla="*/ 5 w 63"/>
                  <a:gd name="T39" fmla="*/ 16 h 31"/>
                  <a:gd name="T40" fmla="*/ 7 w 63"/>
                  <a:gd name="T41" fmla="*/ 16 h 31"/>
                  <a:gd name="T42" fmla="*/ 10 w 63"/>
                  <a:gd name="T43" fmla="*/ 15 h 31"/>
                  <a:gd name="T44" fmla="*/ 12 w 63"/>
                  <a:gd name="T45" fmla="*/ 14 h 31"/>
                  <a:gd name="T46" fmla="*/ 14 w 63"/>
                  <a:gd name="T47" fmla="*/ 13 h 31"/>
                  <a:gd name="T48" fmla="*/ 17 w 63"/>
                  <a:gd name="T49" fmla="*/ 12 h 3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31"/>
                  <a:gd name="T77" fmla="*/ 63 w 63"/>
                  <a:gd name="T78" fmla="*/ 31 h 3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31">
                    <a:moveTo>
                      <a:pt x="50" y="23"/>
                    </a:moveTo>
                    <a:lnTo>
                      <a:pt x="56" y="21"/>
                    </a:lnTo>
                    <a:lnTo>
                      <a:pt x="62" y="18"/>
                    </a:lnTo>
                    <a:lnTo>
                      <a:pt x="63" y="14"/>
                    </a:lnTo>
                    <a:lnTo>
                      <a:pt x="63" y="10"/>
                    </a:lnTo>
                    <a:lnTo>
                      <a:pt x="61" y="5"/>
                    </a:lnTo>
                    <a:lnTo>
                      <a:pt x="56" y="2"/>
                    </a:lnTo>
                    <a:lnTo>
                      <a:pt x="50" y="0"/>
                    </a:lnTo>
                    <a:lnTo>
                      <a:pt x="43" y="0"/>
                    </a:lnTo>
                    <a:lnTo>
                      <a:pt x="40" y="0"/>
                    </a:lnTo>
                    <a:lnTo>
                      <a:pt x="34" y="1"/>
                    </a:lnTo>
                    <a:lnTo>
                      <a:pt x="26" y="3"/>
                    </a:lnTo>
                    <a:lnTo>
                      <a:pt x="16" y="7"/>
                    </a:lnTo>
                    <a:lnTo>
                      <a:pt x="7" y="13"/>
                    </a:lnTo>
                    <a:lnTo>
                      <a:pt x="3" y="19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4" y="29"/>
                    </a:lnTo>
                    <a:lnTo>
                      <a:pt x="10" y="31"/>
                    </a:lnTo>
                    <a:lnTo>
                      <a:pt x="16" y="31"/>
                    </a:lnTo>
                    <a:lnTo>
                      <a:pt x="21" y="31"/>
                    </a:lnTo>
                    <a:lnTo>
                      <a:pt x="29" y="29"/>
                    </a:lnTo>
                    <a:lnTo>
                      <a:pt x="36" y="28"/>
                    </a:lnTo>
                    <a:lnTo>
                      <a:pt x="43" y="26"/>
                    </a:lnTo>
                    <a:lnTo>
                      <a:pt x="5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3" name="Freeform 47"/>
              <p:cNvSpPr>
                <a:spLocks/>
              </p:cNvSpPr>
              <p:nvPr/>
            </p:nvSpPr>
            <p:spPr bwMode="auto">
              <a:xfrm>
                <a:off x="1261" y="2237"/>
                <a:ext cx="81" cy="103"/>
              </a:xfrm>
              <a:custGeom>
                <a:avLst/>
                <a:gdLst>
                  <a:gd name="T0" fmla="*/ 30 w 245"/>
                  <a:gd name="T1" fmla="*/ 15 h 206"/>
                  <a:gd name="T2" fmla="*/ 24 w 245"/>
                  <a:gd name="T3" fmla="*/ 20 h 206"/>
                  <a:gd name="T4" fmla="*/ 19 w 245"/>
                  <a:gd name="T5" fmla="*/ 25 h 206"/>
                  <a:gd name="T6" fmla="*/ 13 w 245"/>
                  <a:gd name="T7" fmla="*/ 31 h 206"/>
                  <a:gd name="T8" fmla="*/ 9 w 245"/>
                  <a:gd name="T9" fmla="*/ 37 h 206"/>
                  <a:gd name="T10" fmla="*/ 6 w 245"/>
                  <a:gd name="T11" fmla="*/ 44 h 206"/>
                  <a:gd name="T12" fmla="*/ 3 w 245"/>
                  <a:gd name="T13" fmla="*/ 50 h 206"/>
                  <a:gd name="T14" fmla="*/ 1 w 245"/>
                  <a:gd name="T15" fmla="*/ 56 h 206"/>
                  <a:gd name="T16" fmla="*/ 0 w 245"/>
                  <a:gd name="T17" fmla="*/ 63 h 206"/>
                  <a:gd name="T18" fmla="*/ 1 w 245"/>
                  <a:gd name="T19" fmla="*/ 75 h 206"/>
                  <a:gd name="T20" fmla="*/ 5 w 245"/>
                  <a:gd name="T21" fmla="*/ 83 h 206"/>
                  <a:gd name="T22" fmla="*/ 11 w 245"/>
                  <a:gd name="T23" fmla="*/ 91 h 206"/>
                  <a:gd name="T24" fmla="*/ 18 w 245"/>
                  <a:gd name="T25" fmla="*/ 96 h 206"/>
                  <a:gd name="T26" fmla="*/ 26 w 245"/>
                  <a:gd name="T27" fmla="*/ 100 h 206"/>
                  <a:gd name="T28" fmla="*/ 36 w 245"/>
                  <a:gd name="T29" fmla="*/ 103 h 206"/>
                  <a:gd name="T30" fmla="*/ 45 w 245"/>
                  <a:gd name="T31" fmla="*/ 103 h 206"/>
                  <a:gd name="T32" fmla="*/ 54 w 245"/>
                  <a:gd name="T33" fmla="*/ 102 h 206"/>
                  <a:gd name="T34" fmla="*/ 56 w 245"/>
                  <a:gd name="T35" fmla="*/ 102 h 206"/>
                  <a:gd name="T36" fmla="*/ 58 w 245"/>
                  <a:gd name="T37" fmla="*/ 101 h 206"/>
                  <a:gd name="T38" fmla="*/ 60 w 245"/>
                  <a:gd name="T39" fmla="*/ 99 h 206"/>
                  <a:gd name="T40" fmla="*/ 60 w 245"/>
                  <a:gd name="T41" fmla="*/ 97 h 206"/>
                  <a:gd name="T42" fmla="*/ 60 w 245"/>
                  <a:gd name="T43" fmla="*/ 96 h 206"/>
                  <a:gd name="T44" fmla="*/ 58 w 245"/>
                  <a:gd name="T45" fmla="*/ 96 h 206"/>
                  <a:gd name="T46" fmla="*/ 56 w 245"/>
                  <a:gd name="T47" fmla="*/ 95 h 206"/>
                  <a:gd name="T48" fmla="*/ 54 w 245"/>
                  <a:gd name="T49" fmla="*/ 95 h 206"/>
                  <a:gd name="T50" fmla="*/ 51 w 245"/>
                  <a:gd name="T51" fmla="*/ 95 h 206"/>
                  <a:gd name="T52" fmla="*/ 48 w 245"/>
                  <a:gd name="T53" fmla="*/ 95 h 206"/>
                  <a:gd name="T54" fmla="*/ 46 w 245"/>
                  <a:gd name="T55" fmla="*/ 95 h 206"/>
                  <a:gd name="T56" fmla="*/ 45 w 245"/>
                  <a:gd name="T57" fmla="*/ 95 h 206"/>
                  <a:gd name="T58" fmla="*/ 40 w 245"/>
                  <a:gd name="T59" fmla="*/ 95 h 206"/>
                  <a:gd name="T60" fmla="*/ 35 w 245"/>
                  <a:gd name="T61" fmla="*/ 94 h 206"/>
                  <a:gd name="T62" fmla="*/ 31 w 245"/>
                  <a:gd name="T63" fmla="*/ 94 h 206"/>
                  <a:gd name="T64" fmla="*/ 26 w 245"/>
                  <a:gd name="T65" fmla="*/ 92 h 206"/>
                  <a:gd name="T66" fmla="*/ 21 w 245"/>
                  <a:gd name="T67" fmla="*/ 91 h 206"/>
                  <a:gd name="T68" fmla="*/ 16 w 245"/>
                  <a:gd name="T69" fmla="*/ 87 h 206"/>
                  <a:gd name="T70" fmla="*/ 12 w 245"/>
                  <a:gd name="T71" fmla="*/ 83 h 206"/>
                  <a:gd name="T72" fmla="*/ 7 w 245"/>
                  <a:gd name="T73" fmla="*/ 76 h 206"/>
                  <a:gd name="T74" fmla="*/ 6 w 245"/>
                  <a:gd name="T75" fmla="*/ 68 h 206"/>
                  <a:gd name="T76" fmla="*/ 7 w 245"/>
                  <a:gd name="T77" fmla="*/ 61 h 206"/>
                  <a:gd name="T78" fmla="*/ 9 w 245"/>
                  <a:gd name="T79" fmla="*/ 54 h 206"/>
                  <a:gd name="T80" fmla="*/ 12 w 245"/>
                  <a:gd name="T81" fmla="*/ 48 h 206"/>
                  <a:gd name="T82" fmla="*/ 16 w 245"/>
                  <a:gd name="T83" fmla="*/ 42 h 206"/>
                  <a:gd name="T84" fmla="*/ 20 w 245"/>
                  <a:gd name="T85" fmla="*/ 36 h 206"/>
                  <a:gd name="T86" fmla="*/ 26 w 245"/>
                  <a:gd name="T87" fmla="*/ 30 h 206"/>
                  <a:gd name="T88" fmla="*/ 32 w 245"/>
                  <a:gd name="T89" fmla="*/ 26 h 206"/>
                  <a:gd name="T90" fmla="*/ 38 w 245"/>
                  <a:gd name="T91" fmla="*/ 21 h 206"/>
                  <a:gd name="T92" fmla="*/ 45 w 245"/>
                  <a:gd name="T93" fmla="*/ 17 h 206"/>
                  <a:gd name="T94" fmla="*/ 52 w 245"/>
                  <a:gd name="T95" fmla="*/ 13 h 206"/>
                  <a:gd name="T96" fmla="*/ 58 w 245"/>
                  <a:gd name="T97" fmla="*/ 11 h 206"/>
                  <a:gd name="T98" fmla="*/ 65 w 245"/>
                  <a:gd name="T99" fmla="*/ 8 h 206"/>
                  <a:gd name="T100" fmla="*/ 70 w 245"/>
                  <a:gd name="T101" fmla="*/ 6 h 206"/>
                  <a:gd name="T102" fmla="*/ 76 w 245"/>
                  <a:gd name="T103" fmla="*/ 4 h 206"/>
                  <a:gd name="T104" fmla="*/ 81 w 245"/>
                  <a:gd name="T105" fmla="*/ 3 h 206"/>
                  <a:gd name="T106" fmla="*/ 78 w 245"/>
                  <a:gd name="T107" fmla="*/ 1 h 206"/>
                  <a:gd name="T108" fmla="*/ 72 w 245"/>
                  <a:gd name="T109" fmla="*/ 0 h 206"/>
                  <a:gd name="T110" fmla="*/ 66 w 245"/>
                  <a:gd name="T111" fmla="*/ 1 h 206"/>
                  <a:gd name="T112" fmla="*/ 59 w 245"/>
                  <a:gd name="T113" fmla="*/ 3 h 206"/>
                  <a:gd name="T114" fmla="*/ 51 w 245"/>
                  <a:gd name="T115" fmla="*/ 5 h 206"/>
                  <a:gd name="T116" fmla="*/ 43 w 245"/>
                  <a:gd name="T117" fmla="*/ 8 h 206"/>
                  <a:gd name="T118" fmla="*/ 36 w 245"/>
                  <a:gd name="T119" fmla="*/ 12 h 206"/>
                  <a:gd name="T120" fmla="*/ 30 w 245"/>
                  <a:gd name="T121" fmla="*/ 15 h 20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45"/>
                  <a:gd name="T184" fmla="*/ 0 h 206"/>
                  <a:gd name="T185" fmla="*/ 245 w 245"/>
                  <a:gd name="T186" fmla="*/ 206 h 20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45" h="206">
                    <a:moveTo>
                      <a:pt x="90" y="31"/>
                    </a:moveTo>
                    <a:lnTo>
                      <a:pt x="72" y="40"/>
                    </a:lnTo>
                    <a:lnTo>
                      <a:pt x="56" y="50"/>
                    </a:lnTo>
                    <a:lnTo>
                      <a:pt x="40" y="62"/>
                    </a:lnTo>
                    <a:lnTo>
                      <a:pt x="27" y="74"/>
                    </a:lnTo>
                    <a:lnTo>
                      <a:pt x="17" y="87"/>
                    </a:lnTo>
                    <a:lnTo>
                      <a:pt x="8" y="100"/>
                    </a:lnTo>
                    <a:lnTo>
                      <a:pt x="3" y="113"/>
                    </a:lnTo>
                    <a:lnTo>
                      <a:pt x="0" y="127"/>
                    </a:lnTo>
                    <a:lnTo>
                      <a:pt x="3" y="149"/>
                    </a:lnTo>
                    <a:lnTo>
                      <a:pt x="14" y="166"/>
                    </a:lnTo>
                    <a:lnTo>
                      <a:pt x="32" y="181"/>
                    </a:lnTo>
                    <a:lnTo>
                      <a:pt x="53" y="192"/>
                    </a:lnTo>
                    <a:lnTo>
                      <a:pt x="80" y="200"/>
                    </a:lnTo>
                    <a:lnTo>
                      <a:pt x="109" y="205"/>
                    </a:lnTo>
                    <a:lnTo>
                      <a:pt x="136" y="206"/>
                    </a:lnTo>
                    <a:lnTo>
                      <a:pt x="164" y="203"/>
                    </a:lnTo>
                    <a:lnTo>
                      <a:pt x="169" y="203"/>
                    </a:lnTo>
                    <a:lnTo>
                      <a:pt x="175" y="201"/>
                    </a:lnTo>
                    <a:lnTo>
                      <a:pt x="180" y="197"/>
                    </a:lnTo>
                    <a:lnTo>
                      <a:pt x="181" y="193"/>
                    </a:lnTo>
                    <a:lnTo>
                      <a:pt x="180" y="191"/>
                    </a:lnTo>
                    <a:lnTo>
                      <a:pt x="175" y="191"/>
                    </a:lnTo>
                    <a:lnTo>
                      <a:pt x="169" y="190"/>
                    </a:lnTo>
                    <a:lnTo>
                      <a:pt x="162" y="190"/>
                    </a:lnTo>
                    <a:lnTo>
                      <a:pt x="154" y="190"/>
                    </a:lnTo>
                    <a:lnTo>
                      <a:pt x="146" y="190"/>
                    </a:lnTo>
                    <a:lnTo>
                      <a:pt x="139" y="190"/>
                    </a:lnTo>
                    <a:lnTo>
                      <a:pt x="135" y="190"/>
                    </a:lnTo>
                    <a:lnTo>
                      <a:pt x="120" y="189"/>
                    </a:lnTo>
                    <a:lnTo>
                      <a:pt x="107" y="188"/>
                    </a:lnTo>
                    <a:lnTo>
                      <a:pt x="93" y="187"/>
                    </a:lnTo>
                    <a:lnTo>
                      <a:pt x="78" y="184"/>
                    </a:lnTo>
                    <a:lnTo>
                      <a:pt x="64" y="181"/>
                    </a:lnTo>
                    <a:lnTo>
                      <a:pt x="49" y="174"/>
                    </a:lnTo>
                    <a:lnTo>
                      <a:pt x="36" y="165"/>
                    </a:lnTo>
                    <a:lnTo>
                      <a:pt x="22" y="152"/>
                    </a:lnTo>
                    <a:lnTo>
                      <a:pt x="19" y="136"/>
                    </a:lnTo>
                    <a:lnTo>
                      <a:pt x="20" y="122"/>
                    </a:lnTo>
                    <a:lnTo>
                      <a:pt x="26" y="108"/>
                    </a:lnTo>
                    <a:lnTo>
                      <a:pt x="35" y="95"/>
                    </a:lnTo>
                    <a:lnTo>
                      <a:pt x="48" y="83"/>
                    </a:lnTo>
                    <a:lnTo>
                      <a:pt x="62" y="71"/>
                    </a:lnTo>
                    <a:lnTo>
                      <a:pt x="78" y="61"/>
                    </a:lnTo>
                    <a:lnTo>
                      <a:pt x="97" y="51"/>
                    </a:lnTo>
                    <a:lnTo>
                      <a:pt x="116" y="42"/>
                    </a:lnTo>
                    <a:lnTo>
                      <a:pt x="136" y="34"/>
                    </a:lnTo>
                    <a:lnTo>
                      <a:pt x="156" y="27"/>
                    </a:lnTo>
                    <a:lnTo>
                      <a:pt x="175" y="21"/>
                    </a:lnTo>
                    <a:lnTo>
                      <a:pt x="196" y="16"/>
                    </a:lnTo>
                    <a:lnTo>
                      <a:pt x="213" y="11"/>
                    </a:lnTo>
                    <a:lnTo>
                      <a:pt x="230" y="8"/>
                    </a:lnTo>
                    <a:lnTo>
                      <a:pt x="245" y="6"/>
                    </a:lnTo>
                    <a:lnTo>
                      <a:pt x="235" y="2"/>
                    </a:lnTo>
                    <a:lnTo>
                      <a:pt x="219" y="0"/>
                    </a:lnTo>
                    <a:lnTo>
                      <a:pt x="200" y="2"/>
                    </a:lnTo>
                    <a:lnTo>
                      <a:pt x="178" y="5"/>
                    </a:lnTo>
                    <a:lnTo>
                      <a:pt x="154" y="10"/>
                    </a:lnTo>
                    <a:lnTo>
                      <a:pt x="130" y="16"/>
                    </a:lnTo>
                    <a:lnTo>
                      <a:pt x="109" y="24"/>
                    </a:lnTo>
                    <a:lnTo>
                      <a:pt x="9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4" name="Freeform 48"/>
              <p:cNvSpPr>
                <a:spLocks/>
              </p:cNvSpPr>
              <p:nvPr/>
            </p:nvSpPr>
            <p:spPr bwMode="auto">
              <a:xfrm>
                <a:off x="1401" y="2236"/>
                <a:ext cx="53" cy="80"/>
              </a:xfrm>
              <a:custGeom>
                <a:avLst/>
                <a:gdLst>
                  <a:gd name="T0" fmla="*/ 45 w 159"/>
                  <a:gd name="T1" fmla="*/ 26 h 160"/>
                  <a:gd name="T2" fmla="*/ 46 w 159"/>
                  <a:gd name="T3" fmla="*/ 35 h 160"/>
                  <a:gd name="T4" fmla="*/ 45 w 159"/>
                  <a:gd name="T5" fmla="*/ 42 h 160"/>
                  <a:gd name="T6" fmla="*/ 42 w 159"/>
                  <a:gd name="T7" fmla="*/ 48 h 160"/>
                  <a:gd name="T8" fmla="*/ 37 w 159"/>
                  <a:gd name="T9" fmla="*/ 53 h 160"/>
                  <a:gd name="T10" fmla="*/ 31 w 159"/>
                  <a:gd name="T11" fmla="*/ 58 h 160"/>
                  <a:gd name="T12" fmla="*/ 25 w 159"/>
                  <a:gd name="T13" fmla="*/ 63 h 160"/>
                  <a:gd name="T14" fmla="*/ 18 w 159"/>
                  <a:gd name="T15" fmla="*/ 68 h 160"/>
                  <a:gd name="T16" fmla="*/ 12 w 159"/>
                  <a:gd name="T17" fmla="*/ 73 h 160"/>
                  <a:gd name="T18" fmla="*/ 11 w 159"/>
                  <a:gd name="T19" fmla="*/ 75 h 160"/>
                  <a:gd name="T20" fmla="*/ 11 w 159"/>
                  <a:gd name="T21" fmla="*/ 76 h 160"/>
                  <a:gd name="T22" fmla="*/ 11 w 159"/>
                  <a:gd name="T23" fmla="*/ 77 h 160"/>
                  <a:gd name="T24" fmla="*/ 12 w 159"/>
                  <a:gd name="T25" fmla="*/ 79 h 160"/>
                  <a:gd name="T26" fmla="*/ 13 w 159"/>
                  <a:gd name="T27" fmla="*/ 80 h 160"/>
                  <a:gd name="T28" fmla="*/ 14 w 159"/>
                  <a:gd name="T29" fmla="*/ 80 h 160"/>
                  <a:gd name="T30" fmla="*/ 16 w 159"/>
                  <a:gd name="T31" fmla="*/ 80 h 160"/>
                  <a:gd name="T32" fmla="*/ 17 w 159"/>
                  <a:gd name="T33" fmla="*/ 80 h 160"/>
                  <a:gd name="T34" fmla="*/ 24 w 159"/>
                  <a:gd name="T35" fmla="*/ 75 h 160"/>
                  <a:gd name="T36" fmla="*/ 32 w 159"/>
                  <a:gd name="T37" fmla="*/ 70 h 160"/>
                  <a:gd name="T38" fmla="*/ 38 w 159"/>
                  <a:gd name="T39" fmla="*/ 64 h 160"/>
                  <a:gd name="T40" fmla="*/ 45 w 159"/>
                  <a:gd name="T41" fmla="*/ 57 h 160"/>
                  <a:gd name="T42" fmla="*/ 49 w 159"/>
                  <a:gd name="T43" fmla="*/ 50 h 160"/>
                  <a:gd name="T44" fmla="*/ 52 w 159"/>
                  <a:gd name="T45" fmla="*/ 42 h 160"/>
                  <a:gd name="T46" fmla="*/ 53 w 159"/>
                  <a:gd name="T47" fmla="*/ 34 h 160"/>
                  <a:gd name="T48" fmla="*/ 51 w 159"/>
                  <a:gd name="T49" fmla="*/ 25 h 160"/>
                  <a:gd name="T50" fmla="*/ 47 w 159"/>
                  <a:gd name="T51" fmla="*/ 18 h 160"/>
                  <a:gd name="T52" fmla="*/ 41 w 159"/>
                  <a:gd name="T53" fmla="*/ 12 h 160"/>
                  <a:gd name="T54" fmla="*/ 33 w 159"/>
                  <a:gd name="T55" fmla="*/ 7 h 160"/>
                  <a:gd name="T56" fmla="*/ 25 w 159"/>
                  <a:gd name="T57" fmla="*/ 3 h 160"/>
                  <a:gd name="T58" fmla="*/ 17 w 159"/>
                  <a:gd name="T59" fmla="*/ 1 h 160"/>
                  <a:gd name="T60" fmla="*/ 10 w 159"/>
                  <a:gd name="T61" fmla="*/ 0 h 160"/>
                  <a:gd name="T62" fmla="*/ 4 w 159"/>
                  <a:gd name="T63" fmla="*/ 1 h 160"/>
                  <a:gd name="T64" fmla="*/ 0 w 159"/>
                  <a:gd name="T65" fmla="*/ 3 h 160"/>
                  <a:gd name="T66" fmla="*/ 7 w 159"/>
                  <a:gd name="T67" fmla="*/ 5 h 160"/>
                  <a:gd name="T68" fmla="*/ 14 w 159"/>
                  <a:gd name="T69" fmla="*/ 6 h 160"/>
                  <a:gd name="T70" fmla="*/ 20 w 159"/>
                  <a:gd name="T71" fmla="*/ 7 h 160"/>
                  <a:gd name="T72" fmla="*/ 26 w 159"/>
                  <a:gd name="T73" fmla="*/ 10 h 160"/>
                  <a:gd name="T74" fmla="*/ 32 w 159"/>
                  <a:gd name="T75" fmla="*/ 12 h 160"/>
                  <a:gd name="T76" fmla="*/ 37 w 159"/>
                  <a:gd name="T77" fmla="*/ 15 h 160"/>
                  <a:gd name="T78" fmla="*/ 42 w 159"/>
                  <a:gd name="T79" fmla="*/ 20 h 160"/>
                  <a:gd name="T80" fmla="*/ 45 w 159"/>
                  <a:gd name="T81" fmla="*/ 26 h 1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59"/>
                  <a:gd name="T124" fmla="*/ 0 h 160"/>
                  <a:gd name="T125" fmla="*/ 159 w 159"/>
                  <a:gd name="T126" fmla="*/ 160 h 1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59" h="160">
                    <a:moveTo>
                      <a:pt x="134" y="53"/>
                    </a:moveTo>
                    <a:lnTo>
                      <a:pt x="138" y="70"/>
                    </a:lnTo>
                    <a:lnTo>
                      <a:pt x="135" y="84"/>
                    </a:lnTo>
                    <a:lnTo>
                      <a:pt x="125" y="96"/>
                    </a:lnTo>
                    <a:lnTo>
                      <a:pt x="111" y="107"/>
                    </a:lnTo>
                    <a:lnTo>
                      <a:pt x="93" y="117"/>
                    </a:lnTo>
                    <a:lnTo>
                      <a:pt x="74" y="126"/>
                    </a:lnTo>
                    <a:lnTo>
                      <a:pt x="54" y="136"/>
                    </a:lnTo>
                    <a:lnTo>
                      <a:pt x="37" y="146"/>
                    </a:lnTo>
                    <a:lnTo>
                      <a:pt x="34" y="149"/>
                    </a:lnTo>
                    <a:lnTo>
                      <a:pt x="32" y="151"/>
                    </a:lnTo>
                    <a:lnTo>
                      <a:pt x="32" y="154"/>
                    </a:lnTo>
                    <a:lnTo>
                      <a:pt x="35" y="157"/>
                    </a:lnTo>
                    <a:lnTo>
                      <a:pt x="38" y="159"/>
                    </a:lnTo>
                    <a:lnTo>
                      <a:pt x="43" y="160"/>
                    </a:lnTo>
                    <a:lnTo>
                      <a:pt x="47" y="160"/>
                    </a:lnTo>
                    <a:lnTo>
                      <a:pt x="51" y="159"/>
                    </a:lnTo>
                    <a:lnTo>
                      <a:pt x="73" y="150"/>
                    </a:lnTo>
                    <a:lnTo>
                      <a:pt x="95" y="139"/>
                    </a:lnTo>
                    <a:lnTo>
                      <a:pt x="115" y="128"/>
                    </a:lnTo>
                    <a:lnTo>
                      <a:pt x="134" y="115"/>
                    </a:lnTo>
                    <a:lnTo>
                      <a:pt x="147" y="101"/>
                    </a:lnTo>
                    <a:lnTo>
                      <a:pt x="156" y="85"/>
                    </a:lnTo>
                    <a:lnTo>
                      <a:pt x="159" y="68"/>
                    </a:lnTo>
                    <a:lnTo>
                      <a:pt x="153" y="50"/>
                    </a:lnTo>
                    <a:lnTo>
                      <a:pt x="140" y="36"/>
                    </a:lnTo>
                    <a:lnTo>
                      <a:pt x="122" y="24"/>
                    </a:lnTo>
                    <a:lnTo>
                      <a:pt x="99" y="14"/>
                    </a:lnTo>
                    <a:lnTo>
                      <a:pt x="76" y="7"/>
                    </a:lnTo>
                    <a:lnTo>
                      <a:pt x="51" y="2"/>
                    </a:lnTo>
                    <a:lnTo>
                      <a:pt x="29" y="0"/>
                    </a:lnTo>
                    <a:lnTo>
                      <a:pt x="12" y="1"/>
                    </a:lnTo>
                    <a:lnTo>
                      <a:pt x="0" y="5"/>
                    </a:lnTo>
                    <a:lnTo>
                      <a:pt x="21" y="9"/>
                    </a:lnTo>
                    <a:lnTo>
                      <a:pt x="41" y="12"/>
                    </a:lnTo>
                    <a:lnTo>
                      <a:pt x="60" y="15"/>
                    </a:lnTo>
                    <a:lnTo>
                      <a:pt x="79" y="19"/>
                    </a:lnTo>
                    <a:lnTo>
                      <a:pt x="96" y="24"/>
                    </a:lnTo>
                    <a:lnTo>
                      <a:pt x="112" y="31"/>
                    </a:lnTo>
                    <a:lnTo>
                      <a:pt x="125" y="40"/>
                    </a:lnTo>
                    <a:lnTo>
                      <a:pt x="134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5" name="Freeform 49"/>
              <p:cNvSpPr>
                <a:spLocks/>
              </p:cNvSpPr>
              <p:nvPr/>
            </p:nvSpPr>
            <p:spPr bwMode="auto">
              <a:xfrm>
                <a:off x="1208" y="2218"/>
                <a:ext cx="133" cy="166"/>
              </a:xfrm>
              <a:custGeom>
                <a:avLst/>
                <a:gdLst>
                  <a:gd name="T0" fmla="*/ 42 w 399"/>
                  <a:gd name="T1" fmla="*/ 31 h 332"/>
                  <a:gd name="T2" fmla="*/ 22 w 399"/>
                  <a:gd name="T3" fmla="*/ 50 h 332"/>
                  <a:gd name="T4" fmla="*/ 7 w 399"/>
                  <a:gd name="T5" fmla="*/ 74 h 332"/>
                  <a:gd name="T6" fmla="*/ 0 w 399"/>
                  <a:gd name="T7" fmla="*/ 100 h 332"/>
                  <a:gd name="T8" fmla="*/ 1 w 399"/>
                  <a:gd name="T9" fmla="*/ 117 h 332"/>
                  <a:gd name="T10" fmla="*/ 4 w 399"/>
                  <a:gd name="T11" fmla="*/ 124 h 332"/>
                  <a:gd name="T12" fmla="*/ 9 w 399"/>
                  <a:gd name="T13" fmla="*/ 131 h 332"/>
                  <a:gd name="T14" fmla="*/ 14 w 399"/>
                  <a:gd name="T15" fmla="*/ 137 h 332"/>
                  <a:gd name="T16" fmla="*/ 23 w 399"/>
                  <a:gd name="T17" fmla="*/ 143 h 332"/>
                  <a:gd name="T18" fmla="*/ 36 w 399"/>
                  <a:gd name="T19" fmla="*/ 149 h 332"/>
                  <a:gd name="T20" fmla="*/ 49 w 399"/>
                  <a:gd name="T21" fmla="*/ 154 h 332"/>
                  <a:gd name="T22" fmla="*/ 63 w 399"/>
                  <a:gd name="T23" fmla="*/ 158 h 332"/>
                  <a:gd name="T24" fmla="*/ 77 w 399"/>
                  <a:gd name="T25" fmla="*/ 161 h 332"/>
                  <a:gd name="T26" fmla="*/ 91 w 399"/>
                  <a:gd name="T27" fmla="*/ 163 h 332"/>
                  <a:gd name="T28" fmla="*/ 105 w 399"/>
                  <a:gd name="T29" fmla="*/ 165 h 332"/>
                  <a:gd name="T30" fmla="*/ 119 w 399"/>
                  <a:gd name="T31" fmla="*/ 166 h 332"/>
                  <a:gd name="T32" fmla="*/ 129 w 399"/>
                  <a:gd name="T33" fmla="*/ 166 h 332"/>
                  <a:gd name="T34" fmla="*/ 132 w 399"/>
                  <a:gd name="T35" fmla="*/ 163 h 332"/>
                  <a:gd name="T36" fmla="*/ 133 w 399"/>
                  <a:gd name="T37" fmla="*/ 158 h 332"/>
                  <a:gd name="T38" fmla="*/ 130 w 399"/>
                  <a:gd name="T39" fmla="*/ 155 h 332"/>
                  <a:gd name="T40" fmla="*/ 121 w 399"/>
                  <a:gd name="T41" fmla="*/ 154 h 332"/>
                  <a:gd name="T42" fmla="*/ 108 w 399"/>
                  <a:gd name="T43" fmla="*/ 154 h 332"/>
                  <a:gd name="T44" fmla="*/ 95 w 399"/>
                  <a:gd name="T45" fmla="*/ 153 h 332"/>
                  <a:gd name="T46" fmla="*/ 82 w 399"/>
                  <a:gd name="T47" fmla="*/ 151 h 332"/>
                  <a:gd name="T48" fmla="*/ 69 w 399"/>
                  <a:gd name="T49" fmla="*/ 148 h 332"/>
                  <a:gd name="T50" fmla="*/ 56 w 399"/>
                  <a:gd name="T51" fmla="*/ 145 h 332"/>
                  <a:gd name="T52" fmla="*/ 44 w 399"/>
                  <a:gd name="T53" fmla="*/ 141 h 332"/>
                  <a:gd name="T54" fmla="*/ 31 w 399"/>
                  <a:gd name="T55" fmla="*/ 135 h 332"/>
                  <a:gd name="T56" fmla="*/ 21 w 399"/>
                  <a:gd name="T57" fmla="*/ 128 h 332"/>
                  <a:gd name="T58" fmla="*/ 15 w 399"/>
                  <a:gd name="T59" fmla="*/ 118 h 332"/>
                  <a:gd name="T60" fmla="*/ 13 w 399"/>
                  <a:gd name="T61" fmla="*/ 105 h 332"/>
                  <a:gd name="T62" fmla="*/ 15 w 399"/>
                  <a:gd name="T63" fmla="*/ 86 h 332"/>
                  <a:gd name="T64" fmla="*/ 21 w 399"/>
                  <a:gd name="T65" fmla="*/ 73 h 332"/>
                  <a:gd name="T66" fmla="*/ 28 w 399"/>
                  <a:gd name="T67" fmla="*/ 60 h 332"/>
                  <a:gd name="T68" fmla="*/ 37 w 399"/>
                  <a:gd name="T69" fmla="*/ 49 h 332"/>
                  <a:gd name="T70" fmla="*/ 47 w 399"/>
                  <a:gd name="T71" fmla="*/ 39 h 332"/>
                  <a:gd name="T72" fmla="*/ 60 w 399"/>
                  <a:gd name="T73" fmla="*/ 28 h 332"/>
                  <a:gd name="T74" fmla="*/ 74 w 399"/>
                  <a:gd name="T75" fmla="*/ 19 h 332"/>
                  <a:gd name="T76" fmla="*/ 90 w 399"/>
                  <a:gd name="T77" fmla="*/ 10 h 332"/>
                  <a:gd name="T78" fmla="*/ 104 w 399"/>
                  <a:gd name="T79" fmla="*/ 3 h 332"/>
                  <a:gd name="T80" fmla="*/ 105 w 399"/>
                  <a:gd name="T81" fmla="*/ 0 h 332"/>
                  <a:gd name="T82" fmla="*/ 91 w 399"/>
                  <a:gd name="T83" fmla="*/ 3 h 332"/>
                  <a:gd name="T84" fmla="*/ 74 w 399"/>
                  <a:gd name="T85" fmla="*/ 9 h 332"/>
                  <a:gd name="T86" fmla="*/ 59 w 399"/>
                  <a:gd name="T87" fmla="*/ 18 h 33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99"/>
                  <a:gd name="T133" fmla="*/ 0 h 332"/>
                  <a:gd name="T134" fmla="*/ 399 w 399"/>
                  <a:gd name="T135" fmla="*/ 332 h 33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99" h="332">
                    <a:moveTo>
                      <a:pt x="155" y="45"/>
                    </a:moveTo>
                    <a:lnTo>
                      <a:pt x="125" y="62"/>
                    </a:lnTo>
                    <a:lnTo>
                      <a:pt x="94" y="81"/>
                    </a:lnTo>
                    <a:lnTo>
                      <a:pt x="67" y="101"/>
                    </a:lnTo>
                    <a:lnTo>
                      <a:pt x="42" y="123"/>
                    </a:lnTo>
                    <a:lnTo>
                      <a:pt x="22" y="147"/>
                    </a:lnTo>
                    <a:lnTo>
                      <a:pt x="7" y="172"/>
                    </a:lnTo>
                    <a:lnTo>
                      <a:pt x="0" y="200"/>
                    </a:lnTo>
                    <a:lnTo>
                      <a:pt x="2" y="228"/>
                    </a:lnTo>
                    <a:lnTo>
                      <a:pt x="4" y="235"/>
                    </a:lnTo>
                    <a:lnTo>
                      <a:pt x="9" y="243"/>
                    </a:lnTo>
                    <a:lnTo>
                      <a:pt x="13" y="249"/>
                    </a:lnTo>
                    <a:lnTo>
                      <a:pt x="19" y="256"/>
                    </a:lnTo>
                    <a:lnTo>
                      <a:pt x="26" y="262"/>
                    </a:lnTo>
                    <a:lnTo>
                      <a:pt x="33" y="268"/>
                    </a:lnTo>
                    <a:lnTo>
                      <a:pt x="42" y="273"/>
                    </a:lnTo>
                    <a:lnTo>
                      <a:pt x="51" y="277"/>
                    </a:lnTo>
                    <a:lnTo>
                      <a:pt x="70" y="285"/>
                    </a:lnTo>
                    <a:lnTo>
                      <a:pt x="89" y="292"/>
                    </a:lnTo>
                    <a:lnTo>
                      <a:pt x="107" y="298"/>
                    </a:lnTo>
                    <a:lnTo>
                      <a:pt x="128" y="303"/>
                    </a:lnTo>
                    <a:lnTo>
                      <a:pt x="148" y="308"/>
                    </a:lnTo>
                    <a:lnTo>
                      <a:pt x="168" y="312"/>
                    </a:lnTo>
                    <a:lnTo>
                      <a:pt x="189" y="316"/>
                    </a:lnTo>
                    <a:lnTo>
                      <a:pt x="209" y="319"/>
                    </a:lnTo>
                    <a:lnTo>
                      <a:pt x="231" y="322"/>
                    </a:lnTo>
                    <a:lnTo>
                      <a:pt x="253" y="324"/>
                    </a:lnTo>
                    <a:lnTo>
                      <a:pt x="273" y="326"/>
                    </a:lnTo>
                    <a:lnTo>
                      <a:pt x="295" y="328"/>
                    </a:lnTo>
                    <a:lnTo>
                      <a:pt x="316" y="329"/>
                    </a:lnTo>
                    <a:lnTo>
                      <a:pt x="338" y="330"/>
                    </a:lnTo>
                    <a:lnTo>
                      <a:pt x="358" y="331"/>
                    </a:lnTo>
                    <a:lnTo>
                      <a:pt x="380" y="332"/>
                    </a:lnTo>
                    <a:lnTo>
                      <a:pt x="386" y="332"/>
                    </a:lnTo>
                    <a:lnTo>
                      <a:pt x="392" y="329"/>
                    </a:lnTo>
                    <a:lnTo>
                      <a:pt x="396" y="326"/>
                    </a:lnTo>
                    <a:lnTo>
                      <a:pt x="399" y="321"/>
                    </a:lnTo>
                    <a:lnTo>
                      <a:pt x="399" y="316"/>
                    </a:lnTo>
                    <a:lnTo>
                      <a:pt x="396" y="312"/>
                    </a:lnTo>
                    <a:lnTo>
                      <a:pt x="390" y="309"/>
                    </a:lnTo>
                    <a:lnTo>
                      <a:pt x="385" y="308"/>
                    </a:lnTo>
                    <a:lnTo>
                      <a:pt x="364" y="308"/>
                    </a:lnTo>
                    <a:lnTo>
                      <a:pt x="345" y="308"/>
                    </a:lnTo>
                    <a:lnTo>
                      <a:pt x="325" y="307"/>
                    </a:lnTo>
                    <a:lnTo>
                      <a:pt x="306" y="306"/>
                    </a:lnTo>
                    <a:lnTo>
                      <a:pt x="286" y="305"/>
                    </a:lnTo>
                    <a:lnTo>
                      <a:pt x="266" y="303"/>
                    </a:lnTo>
                    <a:lnTo>
                      <a:pt x="247" y="301"/>
                    </a:lnTo>
                    <a:lnTo>
                      <a:pt x="226" y="299"/>
                    </a:lnTo>
                    <a:lnTo>
                      <a:pt x="208" y="296"/>
                    </a:lnTo>
                    <a:lnTo>
                      <a:pt x="187" y="293"/>
                    </a:lnTo>
                    <a:lnTo>
                      <a:pt x="168" y="289"/>
                    </a:lnTo>
                    <a:lnTo>
                      <a:pt x="150" y="285"/>
                    </a:lnTo>
                    <a:lnTo>
                      <a:pt x="131" y="281"/>
                    </a:lnTo>
                    <a:lnTo>
                      <a:pt x="113" y="275"/>
                    </a:lnTo>
                    <a:lnTo>
                      <a:pt x="94" y="269"/>
                    </a:lnTo>
                    <a:lnTo>
                      <a:pt x="77" y="263"/>
                    </a:lnTo>
                    <a:lnTo>
                      <a:pt x="62" y="256"/>
                    </a:lnTo>
                    <a:lnTo>
                      <a:pt x="51" y="246"/>
                    </a:lnTo>
                    <a:lnTo>
                      <a:pt x="44" y="236"/>
                    </a:lnTo>
                    <a:lnTo>
                      <a:pt x="38" y="224"/>
                    </a:lnTo>
                    <a:lnTo>
                      <a:pt x="38" y="210"/>
                    </a:lnTo>
                    <a:lnTo>
                      <a:pt x="41" y="192"/>
                    </a:lnTo>
                    <a:lnTo>
                      <a:pt x="46" y="173"/>
                    </a:lnTo>
                    <a:lnTo>
                      <a:pt x="52" y="160"/>
                    </a:lnTo>
                    <a:lnTo>
                      <a:pt x="62" y="145"/>
                    </a:lnTo>
                    <a:lnTo>
                      <a:pt x="74" y="132"/>
                    </a:lnTo>
                    <a:lnTo>
                      <a:pt x="84" y="120"/>
                    </a:lnTo>
                    <a:lnTo>
                      <a:pt x="97" y="109"/>
                    </a:lnTo>
                    <a:lnTo>
                      <a:pt x="110" y="98"/>
                    </a:lnTo>
                    <a:lnTo>
                      <a:pt x="125" y="88"/>
                    </a:lnTo>
                    <a:lnTo>
                      <a:pt x="141" y="78"/>
                    </a:lnTo>
                    <a:lnTo>
                      <a:pt x="160" y="67"/>
                    </a:lnTo>
                    <a:lnTo>
                      <a:pt x="179" y="57"/>
                    </a:lnTo>
                    <a:lnTo>
                      <a:pt x="200" y="47"/>
                    </a:lnTo>
                    <a:lnTo>
                      <a:pt x="223" y="37"/>
                    </a:lnTo>
                    <a:lnTo>
                      <a:pt x="248" y="28"/>
                    </a:lnTo>
                    <a:lnTo>
                      <a:pt x="271" y="19"/>
                    </a:lnTo>
                    <a:lnTo>
                      <a:pt x="293" y="12"/>
                    </a:lnTo>
                    <a:lnTo>
                      <a:pt x="313" y="6"/>
                    </a:lnTo>
                    <a:lnTo>
                      <a:pt x="331" y="1"/>
                    </a:lnTo>
                    <a:lnTo>
                      <a:pt x="315" y="0"/>
                    </a:lnTo>
                    <a:lnTo>
                      <a:pt x="295" y="1"/>
                    </a:lnTo>
                    <a:lnTo>
                      <a:pt x="273" y="5"/>
                    </a:lnTo>
                    <a:lnTo>
                      <a:pt x="248" y="10"/>
                    </a:lnTo>
                    <a:lnTo>
                      <a:pt x="223" y="17"/>
                    </a:lnTo>
                    <a:lnTo>
                      <a:pt x="199" y="25"/>
                    </a:lnTo>
                    <a:lnTo>
                      <a:pt x="176" y="35"/>
                    </a:lnTo>
                    <a:lnTo>
                      <a:pt x="155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6" name="Freeform 50"/>
              <p:cNvSpPr>
                <a:spLocks/>
              </p:cNvSpPr>
              <p:nvPr/>
            </p:nvSpPr>
            <p:spPr bwMode="auto">
              <a:xfrm>
                <a:off x="1396" y="2213"/>
                <a:ext cx="116" cy="110"/>
              </a:xfrm>
              <a:custGeom>
                <a:avLst/>
                <a:gdLst>
                  <a:gd name="T0" fmla="*/ 97 w 348"/>
                  <a:gd name="T1" fmla="*/ 34 h 222"/>
                  <a:gd name="T2" fmla="*/ 102 w 348"/>
                  <a:gd name="T3" fmla="*/ 40 h 222"/>
                  <a:gd name="T4" fmla="*/ 105 w 348"/>
                  <a:gd name="T5" fmla="*/ 47 h 222"/>
                  <a:gd name="T6" fmla="*/ 107 w 348"/>
                  <a:gd name="T7" fmla="*/ 55 h 222"/>
                  <a:gd name="T8" fmla="*/ 107 w 348"/>
                  <a:gd name="T9" fmla="*/ 62 h 222"/>
                  <a:gd name="T10" fmla="*/ 106 w 348"/>
                  <a:gd name="T11" fmla="*/ 69 h 222"/>
                  <a:gd name="T12" fmla="*/ 104 w 348"/>
                  <a:gd name="T13" fmla="*/ 74 h 222"/>
                  <a:gd name="T14" fmla="*/ 101 w 348"/>
                  <a:gd name="T15" fmla="*/ 80 h 222"/>
                  <a:gd name="T16" fmla="*/ 97 w 348"/>
                  <a:gd name="T17" fmla="*/ 84 h 222"/>
                  <a:gd name="T18" fmla="*/ 93 w 348"/>
                  <a:gd name="T19" fmla="*/ 89 h 222"/>
                  <a:gd name="T20" fmla="*/ 88 w 348"/>
                  <a:gd name="T21" fmla="*/ 93 h 222"/>
                  <a:gd name="T22" fmla="*/ 84 w 348"/>
                  <a:gd name="T23" fmla="*/ 98 h 222"/>
                  <a:gd name="T24" fmla="*/ 80 w 348"/>
                  <a:gd name="T25" fmla="*/ 103 h 222"/>
                  <a:gd name="T26" fmla="*/ 79 w 348"/>
                  <a:gd name="T27" fmla="*/ 104 h 222"/>
                  <a:gd name="T28" fmla="*/ 78 w 348"/>
                  <a:gd name="T29" fmla="*/ 106 h 222"/>
                  <a:gd name="T30" fmla="*/ 79 w 348"/>
                  <a:gd name="T31" fmla="*/ 107 h 222"/>
                  <a:gd name="T32" fmla="*/ 80 w 348"/>
                  <a:gd name="T33" fmla="*/ 109 h 222"/>
                  <a:gd name="T34" fmla="*/ 81 w 348"/>
                  <a:gd name="T35" fmla="*/ 110 h 222"/>
                  <a:gd name="T36" fmla="*/ 83 w 348"/>
                  <a:gd name="T37" fmla="*/ 110 h 222"/>
                  <a:gd name="T38" fmla="*/ 85 w 348"/>
                  <a:gd name="T39" fmla="*/ 110 h 222"/>
                  <a:gd name="T40" fmla="*/ 86 w 348"/>
                  <a:gd name="T41" fmla="*/ 109 h 222"/>
                  <a:gd name="T42" fmla="*/ 96 w 348"/>
                  <a:gd name="T43" fmla="*/ 102 h 222"/>
                  <a:gd name="T44" fmla="*/ 103 w 348"/>
                  <a:gd name="T45" fmla="*/ 93 h 222"/>
                  <a:gd name="T46" fmla="*/ 110 w 348"/>
                  <a:gd name="T47" fmla="*/ 83 h 222"/>
                  <a:gd name="T48" fmla="*/ 115 w 348"/>
                  <a:gd name="T49" fmla="*/ 73 h 222"/>
                  <a:gd name="T50" fmla="*/ 116 w 348"/>
                  <a:gd name="T51" fmla="*/ 61 h 222"/>
                  <a:gd name="T52" fmla="*/ 115 w 348"/>
                  <a:gd name="T53" fmla="*/ 51 h 222"/>
                  <a:gd name="T54" fmla="*/ 111 w 348"/>
                  <a:gd name="T55" fmla="*/ 40 h 222"/>
                  <a:gd name="T56" fmla="*/ 103 w 348"/>
                  <a:gd name="T57" fmla="*/ 31 h 222"/>
                  <a:gd name="T58" fmla="*/ 98 w 348"/>
                  <a:gd name="T59" fmla="*/ 26 h 222"/>
                  <a:gd name="T60" fmla="*/ 91 w 348"/>
                  <a:gd name="T61" fmla="*/ 21 h 222"/>
                  <a:gd name="T62" fmla="*/ 83 w 348"/>
                  <a:gd name="T63" fmla="*/ 17 h 222"/>
                  <a:gd name="T64" fmla="*/ 75 w 348"/>
                  <a:gd name="T65" fmla="*/ 13 h 222"/>
                  <a:gd name="T66" fmla="*/ 67 w 348"/>
                  <a:gd name="T67" fmla="*/ 10 h 222"/>
                  <a:gd name="T68" fmla="*/ 59 w 348"/>
                  <a:gd name="T69" fmla="*/ 8 h 222"/>
                  <a:gd name="T70" fmla="*/ 50 w 348"/>
                  <a:gd name="T71" fmla="*/ 5 h 222"/>
                  <a:gd name="T72" fmla="*/ 42 w 348"/>
                  <a:gd name="T73" fmla="*/ 3 h 222"/>
                  <a:gd name="T74" fmla="*/ 34 w 348"/>
                  <a:gd name="T75" fmla="*/ 2 h 222"/>
                  <a:gd name="T76" fmla="*/ 26 w 348"/>
                  <a:gd name="T77" fmla="*/ 1 h 222"/>
                  <a:gd name="T78" fmla="*/ 19 w 348"/>
                  <a:gd name="T79" fmla="*/ 0 h 222"/>
                  <a:gd name="T80" fmla="*/ 13 w 348"/>
                  <a:gd name="T81" fmla="*/ 0 h 222"/>
                  <a:gd name="T82" fmla="*/ 8 w 348"/>
                  <a:gd name="T83" fmla="*/ 0 h 222"/>
                  <a:gd name="T84" fmla="*/ 4 w 348"/>
                  <a:gd name="T85" fmla="*/ 0 h 222"/>
                  <a:gd name="T86" fmla="*/ 1 w 348"/>
                  <a:gd name="T87" fmla="*/ 1 h 222"/>
                  <a:gd name="T88" fmla="*/ 0 w 348"/>
                  <a:gd name="T89" fmla="*/ 2 h 222"/>
                  <a:gd name="T90" fmla="*/ 5 w 348"/>
                  <a:gd name="T91" fmla="*/ 3 h 222"/>
                  <a:gd name="T92" fmla="*/ 10 w 348"/>
                  <a:gd name="T93" fmla="*/ 4 h 222"/>
                  <a:gd name="T94" fmla="*/ 15 w 348"/>
                  <a:gd name="T95" fmla="*/ 5 h 222"/>
                  <a:gd name="T96" fmla="*/ 21 w 348"/>
                  <a:gd name="T97" fmla="*/ 6 h 222"/>
                  <a:gd name="T98" fmla="*/ 28 w 348"/>
                  <a:gd name="T99" fmla="*/ 7 h 222"/>
                  <a:gd name="T100" fmla="*/ 34 w 348"/>
                  <a:gd name="T101" fmla="*/ 8 h 222"/>
                  <a:gd name="T102" fmla="*/ 40 w 348"/>
                  <a:gd name="T103" fmla="*/ 9 h 222"/>
                  <a:gd name="T104" fmla="*/ 47 w 348"/>
                  <a:gd name="T105" fmla="*/ 11 h 222"/>
                  <a:gd name="T106" fmla="*/ 53 w 348"/>
                  <a:gd name="T107" fmla="*/ 13 h 222"/>
                  <a:gd name="T108" fmla="*/ 60 w 348"/>
                  <a:gd name="T109" fmla="*/ 15 h 222"/>
                  <a:gd name="T110" fmla="*/ 67 w 348"/>
                  <a:gd name="T111" fmla="*/ 17 h 222"/>
                  <a:gd name="T112" fmla="*/ 73 w 348"/>
                  <a:gd name="T113" fmla="*/ 20 h 222"/>
                  <a:gd name="T114" fmla="*/ 79 w 348"/>
                  <a:gd name="T115" fmla="*/ 23 h 222"/>
                  <a:gd name="T116" fmla="*/ 86 w 348"/>
                  <a:gd name="T117" fmla="*/ 26 h 222"/>
                  <a:gd name="T118" fmla="*/ 91 w 348"/>
                  <a:gd name="T119" fmla="*/ 30 h 222"/>
                  <a:gd name="T120" fmla="*/ 97 w 348"/>
                  <a:gd name="T121" fmla="*/ 34 h 22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48"/>
                  <a:gd name="T184" fmla="*/ 0 h 222"/>
                  <a:gd name="T185" fmla="*/ 348 w 348"/>
                  <a:gd name="T186" fmla="*/ 222 h 22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48" h="222">
                    <a:moveTo>
                      <a:pt x="290" y="69"/>
                    </a:moveTo>
                    <a:lnTo>
                      <a:pt x="306" y="81"/>
                    </a:lnTo>
                    <a:lnTo>
                      <a:pt x="315" y="95"/>
                    </a:lnTo>
                    <a:lnTo>
                      <a:pt x="321" y="110"/>
                    </a:lnTo>
                    <a:lnTo>
                      <a:pt x="321" y="126"/>
                    </a:lnTo>
                    <a:lnTo>
                      <a:pt x="318" y="139"/>
                    </a:lnTo>
                    <a:lnTo>
                      <a:pt x="312" y="150"/>
                    </a:lnTo>
                    <a:lnTo>
                      <a:pt x="302" y="161"/>
                    </a:lnTo>
                    <a:lnTo>
                      <a:pt x="292" y="170"/>
                    </a:lnTo>
                    <a:lnTo>
                      <a:pt x="279" y="180"/>
                    </a:lnTo>
                    <a:lnTo>
                      <a:pt x="265" y="188"/>
                    </a:lnTo>
                    <a:lnTo>
                      <a:pt x="252" y="198"/>
                    </a:lnTo>
                    <a:lnTo>
                      <a:pt x="239" y="207"/>
                    </a:lnTo>
                    <a:lnTo>
                      <a:pt x="236" y="210"/>
                    </a:lnTo>
                    <a:lnTo>
                      <a:pt x="235" y="213"/>
                    </a:lnTo>
                    <a:lnTo>
                      <a:pt x="236" y="216"/>
                    </a:lnTo>
                    <a:lnTo>
                      <a:pt x="239" y="219"/>
                    </a:lnTo>
                    <a:lnTo>
                      <a:pt x="244" y="221"/>
                    </a:lnTo>
                    <a:lnTo>
                      <a:pt x="248" y="222"/>
                    </a:lnTo>
                    <a:lnTo>
                      <a:pt x="254" y="221"/>
                    </a:lnTo>
                    <a:lnTo>
                      <a:pt x="258" y="219"/>
                    </a:lnTo>
                    <a:lnTo>
                      <a:pt x="287" y="206"/>
                    </a:lnTo>
                    <a:lnTo>
                      <a:pt x="310" y="188"/>
                    </a:lnTo>
                    <a:lnTo>
                      <a:pt x="331" y="168"/>
                    </a:lnTo>
                    <a:lnTo>
                      <a:pt x="344" y="147"/>
                    </a:lnTo>
                    <a:lnTo>
                      <a:pt x="348" y="124"/>
                    </a:lnTo>
                    <a:lnTo>
                      <a:pt x="345" y="102"/>
                    </a:lnTo>
                    <a:lnTo>
                      <a:pt x="334" y="81"/>
                    </a:lnTo>
                    <a:lnTo>
                      <a:pt x="310" y="62"/>
                    </a:lnTo>
                    <a:lnTo>
                      <a:pt x="293" y="52"/>
                    </a:lnTo>
                    <a:lnTo>
                      <a:pt x="273" y="43"/>
                    </a:lnTo>
                    <a:lnTo>
                      <a:pt x="249" y="34"/>
                    </a:lnTo>
                    <a:lnTo>
                      <a:pt x="226" y="27"/>
                    </a:lnTo>
                    <a:lnTo>
                      <a:pt x="202" y="21"/>
                    </a:lnTo>
                    <a:lnTo>
                      <a:pt x="176" y="16"/>
                    </a:lnTo>
                    <a:lnTo>
                      <a:pt x="151" y="11"/>
                    </a:lnTo>
                    <a:lnTo>
                      <a:pt x="125" y="7"/>
                    </a:lnTo>
                    <a:lnTo>
                      <a:pt x="102" y="4"/>
                    </a:lnTo>
                    <a:lnTo>
                      <a:pt x="78" y="2"/>
                    </a:lnTo>
                    <a:lnTo>
                      <a:pt x="58" y="0"/>
                    </a:lnTo>
                    <a:lnTo>
                      <a:pt x="39" y="0"/>
                    </a:lnTo>
                    <a:lnTo>
                      <a:pt x="23" y="0"/>
                    </a:lnTo>
                    <a:lnTo>
                      <a:pt x="12" y="1"/>
                    </a:lnTo>
                    <a:lnTo>
                      <a:pt x="4" y="3"/>
                    </a:lnTo>
                    <a:lnTo>
                      <a:pt x="0" y="5"/>
                    </a:lnTo>
                    <a:lnTo>
                      <a:pt x="14" y="7"/>
                    </a:lnTo>
                    <a:lnTo>
                      <a:pt x="30" y="8"/>
                    </a:lnTo>
                    <a:lnTo>
                      <a:pt x="46" y="10"/>
                    </a:lnTo>
                    <a:lnTo>
                      <a:pt x="64" y="12"/>
                    </a:lnTo>
                    <a:lnTo>
                      <a:pt x="83" y="14"/>
                    </a:lnTo>
                    <a:lnTo>
                      <a:pt x="102" y="16"/>
                    </a:lnTo>
                    <a:lnTo>
                      <a:pt x="120" y="19"/>
                    </a:lnTo>
                    <a:lnTo>
                      <a:pt x="141" y="22"/>
                    </a:lnTo>
                    <a:lnTo>
                      <a:pt x="160" y="26"/>
                    </a:lnTo>
                    <a:lnTo>
                      <a:pt x="180" y="30"/>
                    </a:lnTo>
                    <a:lnTo>
                      <a:pt x="200" y="35"/>
                    </a:lnTo>
                    <a:lnTo>
                      <a:pt x="219" y="41"/>
                    </a:lnTo>
                    <a:lnTo>
                      <a:pt x="238" y="47"/>
                    </a:lnTo>
                    <a:lnTo>
                      <a:pt x="257" y="53"/>
                    </a:lnTo>
                    <a:lnTo>
                      <a:pt x="274" y="61"/>
                    </a:lnTo>
                    <a:lnTo>
                      <a:pt x="290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7" name="Freeform 51"/>
              <p:cNvSpPr>
                <a:spLocks/>
              </p:cNvSpPr>
              <p:nvPr/>
            </p:nvSpPr>
            <p:spPr bwMode="auto">
              <a:xfrm>
                <a:off x="1162" y="2273"/>
                <a:ext cx="48" cy="103"/>
              </a:xfrm>
              <a:custGeom>
                <a:avLst/>
                <a:gdLst>
                  <a:gd name="T0" fmla="*/ 0 w 142"/>
                  <a:gd name="T1" fmla="*/ 56 h 207"/>
                  <a:gd name="T2" fmla="*/ 0 w 142"/>
                  <a:gd name="T3" fmla="*/ 65 h 207"/>
                  <a:gd name="T4" fmla="*/ 2 w 142"/>
                  <a:gd name="T5" fmla="*/ 73 h 207"/>
                  <a:gd name="T6" fmla="*/ 5 w 142"/>
                  <a:gd name="T7" fmla="*/ 80 h 207"/>
                  <a:gd name="T8" fmla="*/ 10 w 142"/>
                  <a:gd name="T9" fmla="*/ 87 h 207"/>
                  <a:gd name="T10" fmla="*/ 16 w 142"/>
                  <a:gd name="T11" fmla="*/ 92 h 207"/>
                  <a:gd name="T12" fmla="*/ 23 w 142"/>
                  <a:gd name="T13" fmla="*/ 97 h 207"/>
                  <a:gd name="T14" fmla="*/ 31 w 142"/>
                  <a:gd name="T15" fmla="*/ 101 h 207"/>
                  <a:gd name="T16" fmla="*/ 39 w 142"/>
                  <a:gd name="T17" fmla="*/ 103 h 207"/>
                  <a:gd name="T18" fmla="*/ 41 w 142"/>
                  <a:gd name="T19" fmla="*/ 103 h 207"/>
                  <a:gd name="T20" fmla="*/ 44 w 142"/>
                  <a:gd name="T21" fmla="*/ 102 h 207"/>
                  <a:gd name="T22" fmla="*/ 46 w 142"/>
                  <a:gd name="T23" fmla="*/ 101 h 207"/>
                  <a:gd name="T24" fmla="*/ 47 w 142"/>
                  <a:gd name="T25" fmla="*/ 99 h 207"/>
                  <a:gd name="T26" fmla="*/ 47 w 142"/>
                  <a:gd name="T27" fmla="*/ 96 h 207"/>
                  <a:gd name="T28" fmla="*/ 46 w 142"/>
                  <a:gd name="T29" fmla="*/ 94 h 207"/>
                  <a:gd name="T30" fmla="*/ 45 w 142"/>
                  <a:gd name="T31" fmla="*/ 92 h 207"/>
                  <a:gd name="T32" fmla="*/ 42 w 142"/>
                  <a:gd name="T33" fmla="*/ 91 h 207"/>
                  <a:gd name="T34" fmla="*/ 34 w 142"/>
                  <a:gd name="T35" fmla="*/ 88 h 207"/>
                  <a:gd name="T36" fmla="*/ 27 w 142"/>
                  <a:gd name="T37" fmla="*/ 84 h 207"/>
                  <a:gd name="T38" fmla="*/ 21 w 142"/>
                  <a:gd name="T39" fmla="*/ 78 h 207"/>
                  <a:gd name="T40" fmla="*/ 17 w 142"/>
                  <a:gd name="T41" fmla="*/ 72 h 207"/>
                  <a:gd name="T42" fmla="*/ 14 w 142"/>
                  <a:gd name="T43" fmla="*/ 65 h 207"/>
                  <a:gd name="T44" fmla="*/ 13 w 142"/>
                  <a:gd name="T45" fmla="*/ 57 h 207"/>
                  <a:gd name="T46" fmla="*/ 13 w 142"/>
                  <a:gd name="T47" fmla="*/ 48 h 207"/>
                  <a:gd name="T48" fmla="*/ 15 w 142"/>
                  <a:gd name="T49" fmla="*/ 39 h 207"/>
                  <a:gd name="T50" fmla="*/ 18 w 142"/>
                  <a:gd name="T51" fmla="*/ 32 h 207"/>
                  <a:gd name="T52" fmla="*/ 24 w 142"/>
                  <a:gd name="T53" fmla="*/ 26 h 207"/>
                  <a:gd name="T54" fmla="*/ 29 w 142"/>
                  <a:gd name="T55" fmla="*/ 20 h 207"/>
                  <a:gd name="T56" fmla="*/ 36 w 142"/>
                  <a:gd name="T57" fmla="*/ 14 h 207"/>
                  <a:gd name="T58" fmla="*/ 41 w 142"/>
                  <a:gd name="T59" fmla="*/ 10 h 207"/>
                  <a:gd name="T60" fmla="*/ 46 w 142"/>
                  <a:gd name="T61" fmla="*/ 5 h 207"/>
                  <a:gd name="T62" fmla="*/ 48 w 142"/>
                  <a:gd name="T63" fmla="*/ 2 h 207"/>
                  <a:gd name="T64" fmla="*/ 48 w 142"/>
                  <a:gd name="T65" fmla="*/ 0 h 207"/>
                  <a:gd name="T66" fmla="*/ 43 w 142"/>
                  <a:gd name="T67" fmla="*/ 2 h 207"/>
                  <a:gd name="T68" fmla="*/ 36 w 142"/>
                  <a:gd name="T69" fmla="*/ 5 h 207"/>
                  <a:gd name="T70" fmla="*/ 28 w 142"/>
                  <a:gd name="T71" fmla="*/ 11 h 207"/>
                  <a:gd name="T72" fmla="*/ 21 w 142"/>
                  <a:gd name="T73" fmla="*/ 18 h 207"/>
                  <a:gd name="T74" fmla="*/ 13 w 142"/>
                  <a:gd name="T75" fmla="*/ 26 h 207"/>
                  <a:gd name="T76" fmla="*/ 7 w 142"/>
                  <a:gd name="T77" fmla="*/ 36 h 207"/>
                  <a:gd name="T78" fmla="*/ 3 w 142"/>
                  <a:gd name="T79" fmla="*/ 46 h 207"/>
                  <a:gd name="T80" fmla="*/ 0 w 142"/>
                  <a:gd name="T81" fmla="*/ 56 h 20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207"/>
                  <a:gd name="T125" fmla="*/ 142 w 142"/>
                  <a:gd name="T126" fmla="*/ 207 h 20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207">
                    <a:moveTo>
                      <a:pt x="0" y="113"/>
                    </a:moveTo>
                    <a:lnTo>
                      <a:pt x="0" y="130"/>
                    </a:lnTo>
                    <a:lnTo>
                      <a:pt x="6" y="146"/>
                    </a:lnTo>
                    <a:lnTo>
                      <a:pt x="16" y="161"/>
                    </a:lnTo>
                    <a:lnTo>
                      <a:pt x="31" y="174"/>
                    </a:lnTo>
                    <a:lnTo>
                      <a:pt x="48" y="185"/>
                    </a:lnTo>
                    <a:lnTo>
                      <a:pt x="68" y="195"/>
                    </a:lnTo>
                    <a:lnTo>
                      <a:pt x="92" y="202"/>
                    </a:lnTo>
                    <a:lnTo>
                      <a:pt x="115" y="206"/>
                    </a:lnTo>
                    <a:lnTo>
                      <a:pt x="122" y="207"/>
                    </a:lnTo>
                    <a:lnTo>
                      <a:pt x="129" y="205"/>
                    </a:lnTo>
                    <a:lnTo>
                      <a:pt x="135" y="202"/>
                    </a:lnTo>
                    <a:lnTo>
                      <a:pt x="138" y="198"/>
                    </a:lnTo>
                    <a:lnTo>
                      <a:pt x="138" y="193"/>
                    </a:lnTo>
                    <a:lnTo>
                      <a:pt x="137" y="188"/>
                    </a:lnTo>
                    <a:lnTo>
                      <a:pt x="132" y="184"/>
                    </a:lnTo>
                    <a:lnTo>
                      <a:pt x="125" y="182"/>
                    </a:lnTo>
                    <a:lnTo>
                      <a:pt x="102" y="176"/>
                    </a:lnTo>
                    <a:lnTo>
                      <a:pt x="80" y="168"/>
                    </a:lnTo>
                    <a:lnTo>
                      <a:pt x="63" y="157"/>
                    </a:lnTo>
                    <a:lnTo>
                      <a:pt x="50" y="145"/>
                    </a:lnTo>
                    <a:lnTo>
                      <a:pt x="41" y="130"/>
                    </a:lnTo>
                    <a:lnTo>
                      <a:pt x="37" y="114"/>
                    </a:lnTo>
                    <a:lnTo>
                      <a:pt x="37" y="97"/>
                    </a:lnTo>
                    <a:lnTo>
                      <a:pt x="44" y="79"/>
                    </a:lnTo>
                    <a:lnTo>
                      <a:pt x="54" y="65"/>
                    </a:lnTo>
                    <a:lnTo>
                      <a:pt x="70" y="52"/>
                    </a:lnTo>
                    <a:lnTo>
                      <a:pt x="87" y="40"/>
                    </a:lnTo>
                    <a:lnTo>
                      <a:pt x="106" y="29"/>
                    </a:lnTo>
                    <a:lnTo>
                      <a:pt x="122" y="20"/>
                    </a:lnTo>
                    <a:lnTo>
                      <a:pt x="135" y="11"/>
                    </a:lnTo>
                    <a:lnTo>
                      <a:pt x="142" y="5"/>
                    </a:lnTo>
                    <a:lnTo>
                      <a:pt x="142" y="0"/>
                    </a:lnTo>
                    <a:lnTo>
                      <a:pt x="126" y="4"/>
                    </a:lnTo>
                    <a:lnTo>
                      <a:pt x="106" y="11"/>
                    </a:lnTo>
                    <a:lnTo>
                      <a:pt x="84" y="23"/>
                    </a:lnTo>
                    <a:lnTo>
                      <a:pt x="61" y="37"/>
                    </a:lnTo>
                    <a:lnTo>
                      <a:pt x="39" y="53"/>
                    </a:lnTo>
                    <a:lnTo>
                      <a:pt x="22" y="72"/>
                    </a:lnTo>
                    <a:lnTo>
                      <a:pt x="8" y="9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8" name="Freeform 52"/>
              <p:cNvSpPr>
                <a:spLocks/>
              </p:cNvSpPr>
              <p:nvPr/>
            </p:nvSpPr>
            <p:spPr bwMode="auto">
              <a:xfrm>
                <a:off x="1492" y="2206"/>
                <a:ext cx="101" cy="135"/>
              </a:xfrm>
              <a:custGeom>
                <a:avLst/>
                <a:gdLst>
                  <a:gd name="T0" fmla="*/ 85 w 303"/>
                  <a:gd name="T1" fmla="*/ 54 h 272"/>
                  <a:gd name="T2" fmla="*/ 90 w 303"/>
                  <a:gd name="T3" fmla="*/ 63 h 272"/>
                  <a:gd name="T4" fmla="*/ 93 w 303"/>
                  <a:gd name="T5" fmla="*/ 71 h 272"/>
                  <a:gd name="T6" fmla="*/ 91 w 303"/>
                  <a:gd name="T7" fmla="*/ 81 h 272"/>
                  <a:gd name="T8" fmla="*/ 85 w 303"/>
                  <a:gd name="T9" fmla="*/ 91 h 272"/>
                  <a:gd name="T10" fmla="*/ 77 w 303"/>
                  <a:gd name="T11" fmla="*/ 99 h 272"/>
                  <a:gd name="T12" fmla="*/ 68 w 303"/>
                  <a:gd name="T13" fmla="*/ 107 h 272"/>
                  <a:gd name="T14" fmla="*/ 58 w 303"/>
                  <a:gd name="T15" fmla="*/ 115 h 272"/>
                  <a:gd name="T16" fmla="*/ 53 w 303"/>
                  <a:gd name="T17" fmla="*/ 121 h 272"/>
                  <a:gd name="T18" fmla="*/ 51 w 303"/>
                  <a:gd name="T19" fmla="*/ 125 h 272"/>
                  <a:gd name="T20" fmla="*/ 49 w 303"/>
                  <a:gd name="T21" fmla="*/ 129 h 272"/>
                  <a:gd name="T22" fmla="*/ 50 w 303"/>
                  <a:gd name="T23" fmla="*/ 133 h 272"/>
                  <a:gd name="T24" fmla="*/ 54 w 303"/>
                  <a:gd name="T25" fmla="*/ 135 h 272"/>
                  <a:gd name="T26" fmla="*/ 57 w 303"/>
                  <a:gd name="T27" fmla="*/ 135 h 272"/>
                  <a:gd name="T28" fmla="*/ 63 w 303"/>
                  <a:gd name="T29" fmla="*/ 127 h 272"/>
                  <a:gd name="T30" fmla="*/ 74 w 303"/>
                  <a:gd name="T31" fmla="*/ 117 h 272"/>
                  <a:gd name="T32" fmla="*/ 85 w 303"/>
                  <a:gd name="T33" fmla="*/ 107 h 272"/>
                  <a:gd name="T34" fmla="*/ 95 w 303"/>
                  <a:gd name="T35" fmla="*/ 95 h 272"/>
                  <a:gd name="T36" fmla="*/ 100 w 303"/>
                  <a:gd name="T37" fmla="*/ 81 h 272"/>
                  <a:gd name="T38" fmla="*/ 100 w 303"/>
                  <a:gd name="T39" fmla="*/ 66 h 272"/>
                  <a:gd name="T40" fmla="*/ 94 w 303"/>
                  <a:gd name="T41" fmla="*/ 52 h 272"/>
                  <a:gd name="T42" fmla="*/ 84 w 303"/>
                  <a:gd name="T43" fmla="*/ 41 h 272"/>
                  <a:gd name="T44" fmla="*/ 72 w 303"/>
                  <a:gd name="T45" fmla="*/ 33 h 272"/>
                  <a:gd name="T46" fmla="*/ 62 w 303"/>
                  <a:gd name="T47" fmla="*/ 27 h 272"/>
                  <a:gd name="T48" fmla="*/ 50 w 303"/>
                  <a:gd name="T49" fmla="*/ 20 h 272"/>
                  <a:gd name="T50" fmla="*/ 38 w 303"/>
                  <a:gd name="T51" fmla="*/ 13 h 272"/>
                  <a:gd name="T52" fmla="*/ 27 w 303"/>
                  <a:gd name="T53" fmla="*/ 8 h 272"/>
                  <a:gd name="T54" fmla="*/ 16 w 303"/>
                  <a:gd name="T55" fmla="*/ 3 h 272"/>
                  <a:gd name="T56" fmla="*/ 8 w 303"/>
                  <a:gd name="T57" fmla="*/ 0 h 272"/>
                  <a:gd name="T58" fmla="*/ 2 w 303"/>
                  <a:gd name="T59" fmla="*/ 0 h 272"/>
                  <a:gd name="T60" fmla="*/ 4 w 303"/>
                  <a:gd name="T61" fmla="*/ 3 h 272"/>
                  <a:gd name="T62" fmla="*/ 14 w 303"/>
                  <a:gd name="T63" fmla="*/ 8 h 272"/>
                  <a:gd name="T64" fmla="*/ 25 w 303"/>
                  <a:gd name="T65" fmla="*/ 13 h 272"/>
                  <a:gd name="T66" fmla="*/ 35 w 303"/>
                  <a:gd name="T67" fmla="*/ 19 h 272"/>
                  <a:gd name="T68" fmla="*/ 46 w 303"/>
                  <a:gd name="T69" fmla="*/ 25 h 272"/>
                  <a:gd name="T70" fmla="*/ 57 w 303"/>
                  <a:gd name="T71" fmla="*/ 31 h 272"/>
                  <a:gd name="T72" fmla="*/ 68 w 303"/>
                  <a:gd name="T73" fmla="*/ 39 h 272"/>
                  <a:gd name="T74" fmla="*/ 77 w 303"/>
                  <a:gd name="T75" fmla="*/ 46 h 27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3"/>
                  <a:gd name="T115" fmla="*/ 0 h 272"/>
                  <a:gd name="T116" fmla="*/ 303 w 303"/>
                  <a:gd name="T117" fmla="*/ 272 h 27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3" h="272">
                    <a:moveTo>
                      <a:pt x="246" y="102"/>
                    </a:moveTo>
                    <a:lnTo>
                      <a:pt x="256" y="109"/>
                    </a:lnTo>
                    <a:lnTo>
                      <a:pt x="264" y="117"/>
                    </a:lnTo>
                    <a:lnTo>
                      <a:pt x="271" y="126"/>
                    </a:lnTo>
                    <a:lnTo>
                      <a:pt x="275" y="135"/>
                    </a:lnTo>
                    <a:lnTo>
                      <a:pt x="278" y="144"/>
                    </a:lnTo>
                    <a:lnTo>
                      <a:pt x="277" y="154"/>
                    </a:lnTo>
                    <a:lnTo>
                      <a:pt x="274" y="164"/>
                    </a:lnTo>
                    <a:lnTo>
                      <a:pt x="267" y="173"/>
                    </a:lnTo>
                    <a:lnTo>
                      <a:pt x="256" y="183"/>
                    </a:lnTo>
                    <a:lnTo>
                      <a:pt x="245" y="192"/>
                    </a:lnTo>
                    <a:lnTo>
                      <a:pt x="232" y="200"/>
                    </a:lnTo>
                    <a:lnTo>
                      <a:pt x="219" y="209"/>
                    </a:lnTo>
                    <a:lnTo>
                      <a:pt x="204" y="216"/>
                    </a:lnTo>
                    <a:lnTo>
                      <a:pt x="190" y="224"/>
                    </a:lnTo>
                    <a:lnTo>
                      <a:pt x="175" y="232"/>
                    </a:lnTo>
                    <a:lnTo>
                      <a:pt x="162" y="241"/>
                    </a:lnTo>
                    <a:lnTo>
                      <a:pt x="158" y="244"/>
                    </a:lnTo>
                    <a:lnTo>
                      <a:pt x="155" y="248"/>
                    </a:lnTo>
                    <a:lnTo>
                      <a:pt x="152" y="252"/>
                    </a:lnTo>
                    <a:lnTo>
                      <a:pt x="149" y="256"/>
                    </a:lnTo>
                    <a:lnTo>
                      <a:pt x="148" y="260"/>
                    </a:lnTo>
                    <a:lnTo>
                      <a:pt x="148" y="264"/>
                    </a:lnTo>
                    <a:lnTo>
                      <a:pt x="151" y="268"/>
                    </a:lnTo>
                    <a:lnTo>
                      <a:pt x="155" y="271"/>
                    </a:lnTo>
                    <a:lnTo>
                      <a:pt x="161" y="272"/>
                    </a:lnTo>
                    <a:lnTo>
                      <a:pt x="166" y="272"/>
                    </a:lnTo>
                    <a:lnTo>
                      <a:pt x="171" y="271"/>
                    </a:lnTo>
                    <a:lnTo>
                      <a:pt x="175" y="268"/>
                    </a:lnTo>
                    <a:lnTo>
                      <a:pt x="190" y="256"/>
                    </a:lnTo>
                    <a:lnTo>
                      <a:pt x="206" y="246"/>
                    </a:lnTo>
                    <a:lnTo>
                      <a:pt x="222" y="236"/>
                    </a:lnTo>
                    <a:lnTo>
                      <a:pt x="239" y="226"/>
                    </a:lnTo>
                    <a:lnTo>
                      <a:pt x="255" y="216"/>
                    </a:lnTo>
                    <a:lnTo>
                      <a:pt x="271" y="204"/>
                    </a:lnTo>
                    <a:lnTo>
                      <a:pt x="284" y="192"/>
                    </a:lnTo>
                    <a:lnTo>
                      <a:pt x="294" y="179"/>
                    </a:lnTo>
                    <a:lnTo>
                      <a:pt x="301" y="163"/>
                    </a:lnTo>
                    <a:lnTo>
                      <a:pt x="303" y="148"/>
                    </a:lnTo>
                    <a:lnTo>
                      <a:pt x="300" y="133"/>
                    </a:lnTo>
                    <a:lnTo>
                      <a:pt x="293" y="118"/>
                    </a:lnTo>
                    <a:lnTo>
                      <a:pt x="281" y="105"/>
                    </a:lnTo>
                    <a:lnTo>
                      <a:pt x="268" y="92"/>
                    </a:lnTo>
                    <a:lnTo>
                      <a:pt x="251" y="82"/>
                    </a:lnTo>
                    <a:lnTo>
                      <a:pt x="232" y="73"/>
                    </a:lnTo>
                    <a:lnTo>
                      <a:pt x="217" y="67"/>
                    </a:lnTo>
                    <a:lnTo>
                      <a:pt x="201" y="61"/>
                    </a:lnTo>
                    <a:lnTo>
                      <a:pt x="185" y="54"/>
                    </a:lnTo>
                    <a:lnTo>
                      <a:pt x="168" y="47"/>
                    </a:lnTo>
                    <a:lnTo>
                      <a:pt x="151" y="40"/>
                    </a:lnTo>
                    <a:lnTo>
                      <a:pt x="132" y="34"/>
                    </a:lnTo>
                    <a:lnTo>
                      <a:pt x="114" y="27"/>
                    </a:lnTo>
                    <a:lnTo>
                      <a:pt x="97" y="21"/>
                    </a:lnTo>
                    <a:lnTo>
                      <a:pt x="81" y="16"/>
                    </a:lnTo>
                    <a:lnTo>
                      <a:pt x="65" y="11"/>
                    </a:lnTo>
                    <a:lnTo>
                      <a:pt x="49" y="7"/>
                    </a:lnTo>
                    <a:lnTo>
                      <a:pt x="36" y="4"/>
                    </a:lnTo>
                    <a:lnTo>
                      <a:pt x="24" y="1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3" y="7"/>
                    </a:lnTo>
                    <a:lnTo>
                      <a:pt x="27" y="12"/>
                    </a:lnTo>
                    <a:lnTo>
                      <a:pt x="43" y="17"/>
                    </a:lnTo>
                    <a:lnTo>
                      <a:pt x="58" y="22"/>
                    </a:lnTo>
                    <a:lnTo>
                      <a:pt x="74" y="27"/>
                    </a:lnTo>
                    <a:lnTo>
                      <a:pt x="90" y="32"/>
                    </a:lnTo>
                    <a:lnTo>
                      <a:pt x="106" y="38"/>
                    </a:lnTo>
                    <a:lnTo>
                      <a:pt x="122" y="44"/>
                    </a:lnTo>
                    <a:lnTo>
                      <a:pt x="139" y="50"/>
                    </a:lnTo>
                    <a:lnTo>
                      <a:pt x="155" y="57"/>
                    </a:lnTo>
                    <a:lnTo>
                      <a:pt x="171" y="63"/>
                    </a:lnTo>
                    <a:lnTo>
                      <a:pt x="187" y="70"/>
                    </a:lnTo>
                    <a:lnTo>
                      <a:pt x="203" y="78"/>
                    </a:lnTo>
                    <a:lnTo>
                      <a:pt x="217" y="85"/>
                    </a:lnTo>
                    <a:lnTo>
                      <a:pt x="232" y="93"/>
                    </a:lnTo>
                    <a:lnTo>
                      <a:pt x="246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271" name="Group 53"/>
          <p:cNvGrpSpPr>
            <a:grpSpLocks/>
          </p:cNvGrpSpPr>
          <p:nvPr/>
        </p:nvGrpSpPr>
        <p:grpSpPr bwMode="auto">
          <a:xfrm>
            <a:off x="760413" y="2992438"/>
            <a:ext cx="414337" cy="511175"/>
            <a:chOff x="2870" y="1518"/>
            <a:chExt cx="292" cy="320"/>
          </a:xfrm>
        </p:grpSpPr>
        <p:graphicFrame>
          <p:nvGraphicFramePr>
            <p:cNvPr id="10252" name="Object 5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52" name="Clip" r:id="rId7" imgW="819000" imgH="847800" progId="MS_ClipArt_Gallery.2">
                <p:embed/>
              </p:oleObj>
            </a:graphicData>
          </a:graphic>
        </p:graphicFrame>
        <p:graphicFrame>
          <p:nvGraphicFramePr>
            <p:cNvPr id="10253" name="Object 5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53" name="Clip" r:id="rId8" imgW="1266840" imgH="1200240" progId="MS_ClipArt_Gallery.2">
                <p:embed/>
              </p:oleObj>
            </a:graphicData>
          </a:graphic>
        </p:graphicFrame>
      </p:grpSp>
      <p:grpSp>
        <p:nvGrpSpPr>
          <p:cNvPr id="10272" name="Group 56"/>
          <p:cNvGrpSpPr>
            <a:grpSpLocks/>
          </p:cNvGrpSpPr>
          <p:nvPr/>
        </p:nvGrpSpPr>
        <p:grpSpPr bwMode="auto">
          <a:xfrm>
            <a:off x="1312863" y="2774950"/>
            <a:ext cx="415925" cy="509588"/>
            <a:chOff x="2870" y="1518"/>
            <a:chExt cx="292" cy="320"/>
          </a:xfrm>
        </p:grpSpPr>
        <p:graphicFrame>
          <p:nvGraphicFramePr>
            <p:cNvPr id="10250" name="Object 5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50" name="Clip" r:id="rId9" imgW="819000" imgH="847800" progId="MS_ClipArt_Gallery.2">
                <p:embed/>
              </p:oleObj>
            </a:graphicData>
          </a:graphic>
        </p:graphicFrame>
        <p:graphicFrame>
          <p:nvGraphicFramePr>
            <p:cNvPr id="10251" name="Object 5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51" name="Clip" r:id="rId10" imgW="1266840" imgH="1200240" progId="MS_ClipArt_Gallery.2">
                <p:embed/>
              </p:oleObj>
            </a:graphicData>
          </a:graphic>
        </p:graphicFrame>
      </p:grpSp>
      <p:grpSp>
        <p:nvGrpSpPr>
          <p:cNvPr id="10273" name="Group 59"/>
          <p:cNvGrpSpPr>
            <a:grpSpLocks/>
          </p:cNvGrpSpPr>
          <p:nvPr/>
        </p:nvGrpSpPr>
        <p:grpSpPr bwMode="auto">
          <a:xfrm>
            <a:off x="3217863" y="4232275"/>
            <a:ext cx="782637" cy="917575"/>
            <a:chOff x="1952" y="1032"/>
            <a:chExt cx="589" cy="706"/>
          </a:xfrm>
        </p:grpSpPr>
        <p:sp>
          <p:nvSpPr>
            <p:cNvPr id="10279" name="Text Box 60"/>
            <p:cNvSpPr txBox="1">
              <a:spLocks noChangeArrowheads="1"/>
            </p:cNvSpPr>
            <p:nvPr/>
          </p:nvSpPr>
          <p:spPr bwMode="auto">
            <a:xfrm>
              <a:off x="2080" y="1456"/>
              <a:ext cx="353" cy="2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00" b="0">
                  <a:latin typeface="Comic Sans MS" pitchFamily="66" charset="0"/>
                </a:rPr>
                <a:t>AP</a:t>
              </a:r>
            </a:p>
          </p:txBody>
        </p:sp>
        <p:grpSp>
          <p:nvGrpSpPr>
            <p:cNvPr id="10280" name="Group 61"/>
            <p:cNvGrpSpPr>
              <a:grpSpLocks/>
            </p:cNvGrpSpPr>
            <p:nvPr/>
          </p:nvGrpSpPr>
          <p:grpSpPr bwMode="auto">
            <a:xfrm>
              <a:off x="1952" y="1032"/>
              <a:ext cx="589" cy="440"/>
              <a:chOff x="1160" y="2192"/>
              <a:chExt cx="589" cy="440"/>
            </a:xfrm>
          </p:grpSpPr>
          <p:pic>
            <p:nvPicPr>
              <p:cNvPr id="10281" name="Picture 62" descr="31u_bnrz[1]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 rot="-5400000">
                <a:off x="1349" y="2458"/>
                <a:ext cx="212" cy="1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0282" name="AutoShape 63"/>
              <p:cNvSpPr>
                <a:spLocks noChangeAspect="1" noChangeArrowheads="1" noTextEdit="1"/>
              </p:cNvSpPr>
              <p:nvPr/>
            </p:nvSpPr>
            <p:spPr bwMode="auto">
              <a:xfrm>
                <a:off x="1160" y="2192"/>
                <a:ext cx="589" cy="22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3" name="Freeform 64"/>
              <p:cNvSpPr>
                <a:spLocks/>
              </p:cNvSpPr>
              <p:nvPr/>
            </p:nvSpPr>
            <p:spPr bwMode="auto">
              <a:xfrm>
                <a:off x="1283" y="2231"/>
                <a:ext cx="83" cy="102"/>
              </a:xfrm>
              <a:custGeom>
                <a:avLst/>
                <a:gdLst>
                  <a:gd name="T0" fmla="*/ 29 w 247"/>
                  <a:gd name="T1" fmla="*/ 13 h 203"/>
                  <a:gd name="T2" fmla="*/ 23 w 247"/>
                  <a:gd name="T3" fmla="*/ 17 h 203"/>
                  <a:gd name="T4" fmla="*/ 17 w 247"/>
                  <a:gd name="T5" fmla="*/ 22 h 203"/>
                  <a:gd name="T6" fmla="*/ 13 w 247"/>
                  <a:gd name="T7" fmla="*/ 28 h 203"/>
                  <a:gd name="T8" fmla="*/ 8 w 247"/>
                  <a:gd name="T9" fmla="*/ 34 h 203"/>
                  <a:gd name="T10" fmla="*/ 5 w 247"/>
                  <a:gd name="T11" fmla="*/ 40 h 203"/>
                  <a:gd name="T12" fmla="*/ 2 w 247"/>
                  <a:gd name="T13" fmla="*/ 47 h 203"/>
                  <a:gd name="T14" fmla="*/ 1 w 247"/>
                  <a:gd name="T15" fmla="*/ 55 h 203"/>
                  <a:gd name="T16" fmla="*/ 0 w 247"/>
                  <a:gd name="T17" fmla="*/ 62 h 203"/>
                  <a:gd name="T18" fmla="*/ 1 w 247"/>
                  <a:gd name="T19" fmla="*/ 73 h 203"/>
                  <a:gd name="T20" fmla="*/ 5 w 247"/>
                  <a:gd name="T21" fmla="*/ 82 h 203"/>
                  <a:gd name="T22" fmla="*/ 11 w 247"/>
                  <a:gd name="T23" fmla="*/ 89 h 203"/>
                  <a:gd name="T24" fmla="*/ 18 w 247"/>
                  <a:gd name="T25" fmla="*/ 95 h 203"/>
                  <a:gd name="T26" fmla="*/ 27 w 247"/>
                  <a:gd name="T27" fmla="*/ 99 h 203"/>
                  <a:gd name="T28" fmla="*/ 37 w 247"/>
                  <a:gd name="T29" fmla="*/ 101 h 203"/>
                  <a:gd name="T30" fmla="*/ 46 w 247"/>
                  <a:gd name="T31" fmla="*/ 102 h 203"/>
                  <a:gd name="T32" fmla="*/ 55 w 247"/>
                  <a:gd name="T33" fmla="*/ 100 h 203"/>
                  <a:gd name="T34" fmla="*/ 57 w 247"/>
                  <a:gd name="T35" fmla="*/ 100 h 203"/>
                  <a:gd name="T36" fmla="*/ 59 w 247"/>
                  <a:gd name="T37" fmla="*/ 99 h 203"/>
                  <a:gd name="T38" fmla="*/ 61 w 247"/>
                  <a:gd name="T39" fmla="*/ 98 h 203"/>
                  <a:gd name="T40" fmla="*/ 61 w 247"/>
                  <a:gd name="T41" fmla="*/ 96 h 203"/>
                  <a:gd name="T42" fmla="*/ 60 w 247"/>
                  <a:gd name="T43" fmla="*/ 93 h 203"/>
                  <a:gd name="T44" fmla="*/ 58 w 247"/>
                  <a:gd name="T45" fmla="*/ 91 h 203"/>
                  <a:gd name="T46" fmla="*/ 56 w 247"/>
                  <a:gd name="T47" fmla="*/ 89 h 203"/>
                  <a:gd name="T48" fmla="*/ 54 w 247"/>
                  <a:gd name="T49" fmla="*/ 88 h 203"/>
                  <a:gd name="T50" fmla="*/ 49 w 247"/>
                  <a:gd name="T51" fmla="*/ 87 h 203"/>
                  <a:gd name="T52" fmla="*/ 44 w 247"/>
                  <a:gd name="T53" fmla="*/ 86 h 203"/>
                  <a:gd name="T54" fmla="*/ 39 w 247"/>
                  <a:gd name="T55" fmla="*/ 85 h 203"/>
                  <a:gd name="T56" fmla="*/ 35 w 247"/>
                  <a:gd name="T57" fmla="*/ 84 h 203"/>
                  <a:gd name="T58" fmla="*/ 30 w 247"/>
                  <a:gd name="T59" fmla="*/ 82 h 203"/>
                  <a:gd name="T60" fmla="*/ 26 w 247"/>
                  <a:gd name="T61" fmla="*/ 80 h 203"/>
                  <a:gd name="T62" fmla="*/ 22 w 247"/>
                  <a:gd name="T63" fmla="*/ 77 h 203"/>
                  <a:gd name="T64" fmla="*/ 18 w 247"/>
                  <a:gd name="T65" fmla="*/ 73 h 203"/>
                  <a:gd name="T66" fmla="*/ 16 w 247"/>
                  <a:gd name="T67" fmla="*/ 56 h 203"/>
                  <a:gd name="T68" fmla="*/ 20 w 247"/>
                  <a:gd name="T69" fmla="*/ 42 h 203"/>
                  <a:gd name="T70" fmla="*/ 28 w 247"/>
                  <a:gd name="T71" fmla="*/ 31 h 203"/>
                  <a:gd name="T72" fmla="*/ 39 w 247"/>
                  <a:gd name="T73" fmla="*/ 22 h 203"/>
                  <a:gd name="T74" fmla="*/ 51 w 247"/>
                  <a:gd name="T75" fmla="*/ 15 h 203"/>
                  <a:gd name="T76" fmla="*/ 63 w 247"/>
                  <a:gd name="T77" fmla="*/ 10 h 203"/>
                  <a:gd name="T78" fmla="*/ 74 w 247"/>
                  <a:gd name="T79" fmla="*/ 6 h 203"/>
                  <a:gd name="T80" fmla="*/ 83 w 247"/>
                  <a:gd name="T81" fmla="*/ 2 h 203"/>
                  <a:gd name="T82" fmla="*/ 78 w 247"/>
                  <a:gd name="T83" fmla="*/ 1 h 203"/>
                  <a:gd name="T84" fmla="*/ 72 w 247"/>
                  <a:gd name="T85" fmla="*/ 0 h 203"/>
                  <a:gd name="T86" fmla="*/ 65 w 247"/>
                  <a:gd name="T87" fmla="*/ 1 h 203"/>
                  <a:gd name="T88" fmla="*/ 57 w 247"/>
                  <a:gd name="T89" fmla="*/ 2 h 203"/>
                  <a:gd name="T90" fmla="*/ 50 w 247"/>
                  <a:gd name="T91" fmla="*/ 5 h 203"/>
                  <a:gd name="T92" fmla="*/ 43 w 247"/>
                  <a:gd name="T93" fmla="*/ 7 h 203"/>
                  <a:gd name="T94" fmla="*/ 36 w 247"/>
                  <a:gd name="T95" fmla="*/ 10 h 203"/>
                  <a:gd name="T96" fmla="*/ 29 w 247"/>
                  <a:gd name="T97" fmla="*/ 13 h 20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47"/>
                  <a:gd name="T148" fmla="*/ 0 h 203"/>
                  <a:gd name="T149" fmla="*/ 247 w 247"/>
                  <a:gd name="T150" fmla="*/ 203 h 20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47" h="203">
                    <a:moveTo>
                      <a:pt x="87" y="26"/>
                    </a:moveTo>
                    <a:lnTo>
                      <a:pt x="68" y="34"/>
                    </a:lnTo>
                    <a:lnTo>
                      <a:pt x="52" y="44"/>
                    </a:lnTo>
                    <a:lnTo>
                      <a:pt x="38" y="55"/>
                    </a:lnTo>
                    <a:lnTo>
                      <a:pt x="25" y="67"/>
                    </a:lnTo>
                    <a:lnTo>
                      <a:pt x="14" y="80"/>
                    </a:lnTo>
                    <a:lnTo>
                      <a:pt x="7" y="94"/>
                    </a:lnTo>
                    <a:lnTo>
                      <a:pt x="3" y="109"/>
                    </a:lnTo>
                    <a:lnTo>
                      <a:pt x="0" y="124"/>
                    </a:lnTo>
                    <a:lnTo>
                      <a:pt x="3" y="145"/>
                    </a:lnTo>
                    <a:lnTo>
                      <a:pt x="14" y="163"/>
                    </a:lnTo>
                    <a:lnTo>
                      <a:pt x="32" y="178"/>
                    </a:lnTo>
                    <a:lnTo>
                      <a:pt x="55" y="189"/>
                    </a:lnTo>
                    <a:lnTo>
                      <a:pt x="81" y="198"/>
                    </a:lnTo>
                    <a:lnTo>
                      <a:pt x="109" y="202"/>
                    </a:lnTo>
                    <a:lnTo>
                      <a:pt x="138" y="203"/>
                    </a:lnTo>
                    <a:lnTo>
                      <a:pt x="165" y="200"/>
                    </a:lnTo>
                    <a:lnTo>
                      <a:pt x="171" y="200"/>
                    </a:lnTo>
                    <a:lnTo>
                      <a:pt x="177" y="198"/>
                    </a:lnTo>
                    <a:lnTo>
                      <a:pt x="181" y="195"/>
                    </a:lnTo>
                    <a:lnTo>
                      <a:pt x="183" y="191"/>
                    </a:lnTo>
                    <a:lnTo>
                      <a:pt x="180" y="186"/>
                    </a:lnTo>
                    <a:lnTo>
                      <a:pt x="174" y="182"/>
                    </a:lnTo>
                    <a:lnTo>
                      <a:pt x="167" y="178"/>
                    </a:lnTo>
                    <a:lnTo>
                      <a:pt x="160" y="176"/>
                    </a:lnTo>
                    <a:lnTo>
                      <a:pt x="145" y="173"/>
                    </a:lnTo>
                    <a:lnTo>
                      <a:pt x="131" y="171"/>
                    </a:lnTo>
                    <a:lnTo>
                      <a:pt x="116" y="169"/>
                    </a:lnTo>
                    <a:lnTo>
                      <a:pt x="103" y="167"/>
                    </a:lnTo>
                    <a:lnTo>
                      <a:pt x="90" y="164"/>
                    </a:lnTo>
                    <a:lnTo>
                      <a:pt x="77" y="160"/>
                    </a:lnTo>
                    <a:lnTo>
                      <a:pt x="65" y="154"/>
                    </a:lnTo>
                    <a:lnTo>
                      <a:pt x="54" y="146"/>
                    </a:lnTo>
                    <a:lnTo>
                      <a:pt x="49" y="112"/>
                    </a:lnTo>
                    <a:lnTo>
                      <a:pt x="61" y="84"/>
                    </a:lnTo>
                    <a:lnTo>
                      <a:pt x="84" y="62"/>
                    </a:lnTo>
                    <a:lnTo>
                      <a:pt x="116" y="44"/>
                    </a:lnTo>
                    <a:lnTo>
                      <a:pt x="151" y="30"/>
                    </a:lnTo>
                    <a:lnTo>
                      <a:pt x="187" y="19"/>
                    </a:lnTo>
                    <a:lnTo>
                      <a:pt x="220" y="11"/>
                    </a:lnTo>
                    <a:lnTo>
                      <a:pt x="247" y="4"/>
                    </a:lnTo>
                    <a:lnTo>
                      <a:pt x="231" y="1"/>
                    </a:lnTo>
                    <a:lnTo>
                      <a:pt x="213" y="0"/>
                    </a:lnTo>
                    <a:lnTo>
                      <a:pt x="193" y="2"/>
                    </a:lnTo>
                    <a:lnTo>
                      <a:pt x="171" y="4"/>
                    </a:lnTo>
                    <a:lnTo>
                      <a:pt x="149" y="9"/>
                    </a:lnTo>
                    <a:lnTo>
                      <a:pt x="128" y="14"/>
                    </a:lnTo>
                    <a:lnTo>
                      <a:pt x="106" y="20"/>
                    </a:lnTo>
                    <a:lnTo>
                      <a:pt x="87" y="26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4" name="Freeform 65"/>
              <p:cNvSpPr>
                <a:spLocks/>
              </p:cNvSpPr>
              <p:nvPr/>
            </p:nvSpPr>
            <p:spPr bwMode="auto">
              <a:xfrm>
                <a:off x="1424" y="2230"/>
                <a:ext cx="52" cy="79"/>
              </a:xfrm>
              <a:custGeom>
                <a:avLst/>
                <a:gdLst>
                  <a:gd name="T0" fmla="*/ 44 w 158"/>
                  <a:gd name="T1" fmla="*/ 26 h 158"/>
                  <a:gd name="T2" fmla="*/ 46 w 158"/>
                  <a:gd name="T3" fmla="*/ 34 h 158"/>
                  <a:gd name="T4" fmla="*/ 45 w 158"/>
                  <a:gd name="T5" fmla="*/ 41 h 158"/>
                  <a:gd name="T6" fmla="*/ 42 w 158"/>
                  <a:gd name="T7" fmla="*/ 47 h 158"/>
                  <a:gd name="T8" fmla="*/ 37 w 158"/>
                  <a:gd name="T9" fmla="*/ 53 h 158"/>
                  <a:gd name="T10" fmla="*/ 31 w 158"/>
                  <a:gd name="T11" fmla="*/ 58 h 158"/>
                  <a:gd name="T12" fmla="*/ 25 w 158"/>
                  <a:gd name="T13" fmla="*/ 63 h 158"/>
                  <a:gd name="T14" fmla="*/ 18 w 158"/>
                  <a:gd name="T15" fmla="*/ 68 h 158"/>
                  <a:gd name="T16" fmla="*/ 12 w 158"/>
                  <a:gd name="T17" fmla="*/ 72 h 158"/>
                  <a:gd name="T18" fmla="*/ 11 w 158"/>
                  <a:gd name="T19" fmla="*/ 74 h 158"/>
                  <a:gd name="T20" fmla="*/ 11 w 158"/>
                  <a:gd name="T21" fmla="*/ 75 h 158"/>
                  <a:gd name="T22" fmla="*/ 11 w 158"/>
                  <a:gd name="T23" fmla="*/ 76 h 158"/>
                  <a:gd name="T24" fmla="*/ 11 w 158"/>
                  <a:gd name="T25" fmla="*/ 78 h 158"/>
                  <a:gd name="T26" fmla="*/ 13 w 158"/>
                  <a:gd name="T27" fmla="*/ 79 h 158"/>
                  <a:gd name="T28" fmla="*/ 14 w 158"/>
                  <a:gd name="T29" fmla="*/ 79 h 158"/>
                  <a:gd name="T30" fmla="*/ 15 w 158"/>
                  <a:gd name="T31" fmla="*/ 79 h 158"/>
                  <a:gd name="T32" fmla="*/ 16 w 158"/>
                  <a:gd name="T33" fmla="*/ 79 h 158"/>
                  <a:gd name="T34" fmla="*/ 24 w 158"/>
                  <a:gd name="T35" fmla="*/ 74 h 158"/>
                  <a:gd name="T36" fmla="*/ 31 w 158"/>
                  <a:gd name="T37" fmla="*/ 69 h 158"/>
                  <a:gd name="T38" fmla="*/ 38 w 158"/>
                  <a:gd name="T39" fmla="*/ 63 h 158"/>
                  <a:gd name="T40" fmla="*/ 44 w 158"/>
                  <a:gd name="T41" fmla="*/ 57 h 158"/>
                  <a:gd name="T42" fmla="*/ 49 w 158"/>
                  <a:gd name="T43" fmla="*/ 50 h 158"/>
                  <a:gd name="T44" fmla="*/ 51 w 158"/>
                  <a:gd name="T45" fmla="*/ 42 h 158"/>
                  <a:gd name="T46" fmla="*/ 52 w 158"/>
                  <a:gd name="T47" fmla="*/ 34 h 158"/>
                  <a:gd name="T48" fmla="*/ 50 w 158"/>
                  <a:gd name="T49" fmla="*/ 24 h 158"/>
                  <a:gd name="T50" fmla="*/ 46 w 158"/>
                  <a:gd name="T51" fmla="*/ 18 h 158"/>
                  <a:gd name="T52" fmla="*/ 39 w 158"/>
                  <a:gd name="T53" fmla="*/ 11 h 158"/>
                  <a:gd name="T54" fmla="*/ 32 w 158"/>
                  <a:gd name="T55" fmla="*/ 7 h 158"/>
                  <a:gd name="T56" fmla="*/ 23 w 158"/>
                  <a:gd name="T57" fmla="*/ 3 h 158"/>
                  <a:gd name="T58" fmla="*/ 15 w 158"/>
                  <a:gd name="T59" fmla="*/ 1 h 158"/>
                  <a:gd name="T60" fmla="*/ 8 w 158"/>
                  <a:gd name="T61" fmla="*/ 0 h 158"/>
                  <a:gd name="T62" fmla="*/ 2 w 158"/>
                  <a:gd name="T63" fmla="*/ 0 h 158"/>
                  <a:gd name="T64" fmla="*/ 0 w 158"/>
                  <a:gd name="T65" fmla="*/ 2 h 158"/>
                  <a:gd name="T66" fmla="*/ 6 w 158"/>
                  <a:gd name="T67" fmla="*/ 5 h 158"/>
                  <a:gd name="T68" fmla="*/ 12 w 158"/>
                  <a:gd name="T69" fmla="*/ 6 h 158"/>
                  <a:gd name="T70" fmla="*/ 18 w 158"/>
                  <a:gd name="T71" fmla="*/ 9 h 158"/>
                  <a:gd name="T72" fmla="*/ 25 w 158"/>
                  <a:gd name="T73" fmla="*/ 10 h 158"/>
                  <a:gd name="T74" fmla="*/ 31 w 158"/>
                  <a:gd name="T75" fmla="*/ 13 h 158"/>
                  <a:gd name="T76" fmla="*/ 36 w 158"/>
                  <a:gd name="T77" fmla="*/ 17 h 158"/>
                  <a:gd name="T78" fmla="*/ 40 w 158"/>
                  <a:gd name="T79" fmla="*/ 20 h 158"/>
                  <a:gd name="T80" fmla="*/ 44 w 158"/>
                  <a:gd name="T81" fmla="*/ 26 h 15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58"/>
                  <a:gd name="T124" fmla="*/ 0 h 158"/>
                  <a:gd name="T125" fmla="*/ 158 w 158"/>
                  <a:gd name="T126" fmla="*/ 158 h 15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58" h="158">
                    <a:moveTo>
                      <a:pt x="133" y="52"/>
                    </a:moveTo>
                    <a:lnTo>
                      <a:pt x="139" y="68"/>
                    </a:lnTo>
                    <a:lnTo>
                      <a:pt x="137" y="83"/>
                    </a:lnTo>
                    <a:lnTo>
                      <a:pt x="127" y="95"/>
                    </a:lnTo>
                    <a:lnTo>
                      <a:pt x="113" y="106"/>
                    </a:lnTo>
                    <a:lnTo>
                      <a:pt x="95" y="116"/>
                    </a:lnTo>
                    <a:lnTo>
                      <a:pt x="75" y="126"/>
                    </a:lnTo>
                    <a:lnTo>
                      <a:pt x="55" y="135"/>
                    </a:lnTo>
                    <a:lnTo>
                      <a:pt x="37" y="144"/>
                    </a:lnTo>
                    <a:lnTo>
                      <a:pt x="34" y="147"/>
                    </a:lnTo>
                    <a:lnTo>
                      <a:pt x="33" y="149"/>
                    </a:lnTo>
                    <a:lnTo>
                      <a:pt x="33" y="152"/>
                    </a:lnTo>
                    <a:lnTo>
                      <a:pt x="34" y="155"/>
                    </a:lnTo>
                    <a:lnTo>
                      <a:pt x="39" y="157"/>
                    </a:lnTo>
                    <a:lnTo>
                      <a:pt x="43" y="158"/>
                    </a:lnTo>
                    <a:lnTo>
                      <a:pt x="46" y="158"/>
                    </a:lnTo>
                    <a:lnTo>
                      <a:pt x="50" y="157"/>
                    </a:lnTo>
                    <a:lnTo>
                      <a:pt x="74" y="148"/>
                    </a:lnTo>
                    <a:lnTo>
                      <a:pt x="95" y="138"/>
                    </a:lnTo>
                    <a:lnTo>
                      <a:pt x="116" y="127"/>
                    </a:lnTo>
                    <a:lnTo>
                      <a:pt x="135" y="114"/>
                    </a:lnTo>
                    <a:lnTo>
                      <a:pt x="148" y="100"/>
                    </a:lnTo>
                    <a:lnTo>
                      <a:pt x="156" y="84"/>
                    </a:lnTo>
                    <a:lnTo>
                      <a:pt x="158" y="67"/>
                    </a:lnTo>
                    <a:lnTo>
                      <a:pt x="152" y="49"/>
                    </a:lnTo>
                    <a:lnTo>
                      <a:pt x="139" y="35"/>
                    </a:lnTo>
                    <a:lnTo>
                      <a:pt x="120" y="23"/>
                    </a:lnTo>
                    <a:lnTo>
                      <a:pt x="97" y="14"/>
                    </a:lnTo>
                    <a:lnTo>
                      <a:pt x="71" y="7"/>
                    </a:lnTo>
                    <a:lnTo>
                      <a:pt x="45" y="2"/>
                    </a:lnTo>
                    <a:lnTo>
                      <a:pt x="23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7" y="9"/>
                    </a:lnTo>
                    <a:lnTo>
                      <a:pt x="36" y="13"/>
                    </a:lnTo>
                    <a:lnTo>
                      <a:pt x="56" y="17"/>
                    </a:lnTo>
                    <a:lnTo>
                      <a:pt x="75" y="21"/>
                    </a:lnTo>
                    <a:lnTo>
                      <a:pt x="94" y="26"/>
                    </a:lnTo>
                    <a:lnTo>
                      <a:pt x="110" y="33"/>
                    </a:lnTo>
                    <a:lnTo>
                      <a:pt x="123" y="41"/>
                    </a:lnTo>
                    <a:lnTo>
                      <a:pt x="133" y="5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5" name="Freeform 66"/>
              <p:cNvSpPr>
                <a:spLocks/>
              </p:cNvSpPr>
              <p:nvPr/>
            </p:nvSpPr>
            <p:spPr bwMode="auto">
              <a:xfrm>
                <a:off x="1232" y="2211"/>
                <a:ext cx="133" cy="166"/>
              </a:xfrm>
              <a:custGeom>
                <a:avLst/>
                <a:gdLst>
                  <a:gd name="T0" fmla="*/ 41 w 399"/>
                  <a:gd name="T1" fmla="*/ 31 h 331"/>
                  <a:gd name="T2" fmla="*/ 22 w 399"/>
                  <a:gd name="T3" fmla="*/ 51 h 331"/>
                  <a:gd name="T4" fmla="*/ 7 w 399"/>
                  <a:gd name="T5" fmla="*/ 73 h 331"/>
                  <a:gd name="T6" fmla="*/ 0 w 399"/>
                  <a:gd name="T7" fmla="*/ 100 h 331"/>
                  <a:gd name="T8" fmla="*/ 1 w 399"/>
                  <a:gd name="T9" fmla="*/ 117 h 331"/>
                  <a:gd name="T10" fmla="*/ 4 w 399"/>
                  <a:gd name="T11" fmla="*/ 124 h 331"/>
                  <a:gd name="T12" fmla="*/ 8 w 399"/>
                  <a:gd name="T13" fmla="*/ 131 h 331"/>
                  <a:gd name="T14" fmla="*/ 13 w 399"/>
                  <a:gd name="T15" fmla="*/ 136 h 331"/>
                  <a:gd name="T16" fmla="*/ 23 w 399"/>
                  <a:gd name="T17" fmla="*/ 142 h 331"/>
                  <a:gd name="T18" fmla="*/ 36 w 399"/>
                  <a:gd name="T19" fmla="*/ 149 h 331"/>
                  <a:gd name="T20" fmla="*/ 49 w 399"/>
                  <a:gd name="T21" fmla="*/ 154 h 331"/>
                  <a:gd name="T22" fmla="*/ 63 w 399"/>
                  <a:gd name="T23" fmla="*/ 158 h 331"/>
                  <a:gd name="T24" fmla="*/ 77 w 399"/>
                  <a:gd name="T25" fmla="*/ 161 h 331"/>
                  <a:gd name="T26" fmla="*/ 91 w 399"/>
                  <a:gd name="T27" fmla="*/ 163 h 331"/>
                  <a:gd name="T28" fmla="*/ 105 w 399"/>
                  <a:gd name="T29" fmla="*/ 164 h 331"/>
                  <a:gd name="T30" fmla="*/ 119 w 399"/>
                  <a:gd name="T31" fmla="*/ 165 h 331"/>
                  <a:gd name="T32" fmla="*/ 129 w 399"/>
                  <a:gd name="T33" fmla="*/ 166 h 331"/>
                  <a:gd name="T34" fmla="*/ 132 w 399"/>
                  <a:gd name="T35" fmla="*/ 163 h 331"/>
                  <a:gd name="T36" fmla="*/ 133 w 399"/>
                  <a:gd name="T37" fmla="*/ 158 h 331"/>
                  <a:gd name="T38" fmla="*/ 130 w 399"/>
                  <a:gd name="T39" fmla="*/ 155 h 331"/>
                  <a:gd name="T40" fmla="*/ 121 w 399"/>
                  <a:gd name="T41" fmla="*/ 152 h 331"/>
                  <a:gd name="T42" fmla="*/ 109 w 399"/>
                  <a:gd name="T43" fmla="*/ 150 h 331"/>
                  <a:gd name="T44" fmla="*/ 96 w 399"/>
                  <a:gd name="T45" fmla="*/ 148 h 331"/>
                  <a:gd name="T46" fmla="*/ 83 w 399"/>
                  <a:gd name="T47" fmla="*/ 146 h 331"/>
                  <a:gd name="T48" fmla="*/ 70 w 399"/>
                  <a:gd name="T49" fmla="*/ 143 h 331"/>
                  <a:gd name="T50" fmla="*/ 57 w 399"/>
                  <a:gd name="T51" fmla="*/ 140 h 331"/>
                  <a:gd name="T52" fmla="*/ 45 w 399"/>
                  <a:gd name="T53" fmla="*/ 136 h 331"/>
                  <a:gd name="T54" fmla="*/ 33 w 399"/>
                  <a:gd name="T55" fmla="*/ 131 h 331"/>
                  <a:gd name="T56" fmla="*/ 23 w 399"/>
                  <a:gd name="T57" fmla="*/ 124 h 331"/>
                  <a:gd name="T58" fmla="*/ 16 w 399"/>
                  <a:gd name="T59" fmla="*/ 114 h 331"/>
                  <a:gd name="T60" fmla="*/ 14 w 399"/>
                  <a:gd name="T61" fmla="*/ 102 h 331"/>
                  <a:gd name="T62" fmla="*/ 16 w 399"/>
                  <a:gd name="T63" fmla="*/ 88 h 331"/>
                  <a:gd name="T64" fmla="*/ 21 w 399"/>
                  <a:gd name="T65" fmla="*/ 75 h 331"/>
                  <a:gd name="T66" fmla="*/ 29 w 399"/>
                  <a:gd name="T67" fmla="*/ 61 h 331"/>
                  <a:gd name="T68" fmla="*/ 39 w 399"/>
                  <a:gd name="T69" fmla="*/ 49 h 331"/>
                  <a:gd name="T70" fmla="*/ 51 w 399"/>
                  <a:gd name="T71" fmla="*/ 37 h 331"/>
                  <a:gd name="T72" fmla="*/ 63 w 399"/>
                  <a:gd name="T73" fmla="*/ 26 h 331"/>
                  <a:gd name="T74" fmla="*/ 81 w 399"/>
                  <a:gd name="T75" fmla="*/ 17 h 331"/>
                  <a:gd name="T76" fmla="*/ 98 w 399"/>
                  <a:gd name="T77" fmla="*/ 9 h 331"/>
                  <a:gd name="T78" fmla="*/ 109 w 399"/>
                  <a:gd name="T79" fmla="*/ 3 h 331"/>
                  <a:gd name="T80" fmla="*/ 106 w 399"/>
                  <a:gd name="T81" fmla="*/ 0 h 331"/>
                  <a:gd name="T82" fmla="*/ 91 w 399"/>
                  <a:gd name="T83" fmla="*/ 2 h 331"/>
                  <a:gd name="T84" fmla="*/ 74 w 399"/>
                  <a:gd name="T85" fmla="*/ 8 h 331"/>
                  <a:gd name="T86" fmla="*/ 58 w 399"/>
                  <a:gd name="T87" fmla="*/ 17 h 33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99"/>
                  <a:gd name="T133" fmla="*/ 0 h 331"/>
                  <a:gd name="T134" fmla="*/ 399 w 399"/>
                  <a:gd name="T135" fmla="*/ 331 h 33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99" h="331">
                    <a:moveTo>
                      <a:pt x="155" y="44"/>
                    </a:moveTo>
                    <a:lnTo>
                      <a:pt x="124" y="62"/>
                    </a:lnTo>
                    <a:lnTo>
                      <a:pt x="94" y="80"/>
                    </a:lnTo>
                    <a:lnTo>
                      <a:pt x="66" y="101"/>
                    </a:lnTo>
                    <a:lnTo>
                      <a:pt x="42" y="123"/>
                    </a:lnTo>
                    <a:lnTo>
                      <a:pt x="21" y="146"/>
                    </a:lnTo>
                    <a:lnTo>
                      <a:pt x="7" y="171"/>
                    </a:lnTo>
                    <a:lnTo>
                      <a:pt x="0" y="199"/>
                    </a:lnTo>
                    <a:lnTo>
                      <a:pt x="1" y="227"/>
                    </a:lnTo>
                    <a:lnTo>
                      <a:pt x="4" y="234"/>
                    </a:lnTo>
                    <a:lnTo>
                      <a:pt x="7" y="242"/>
                    </a:lnTo>
                    <a:lnTo>
                      <a:pt x="11" y="248"/>
                    </a:lnTo>
                    <a:lnTo>
                      <a:pt x="17" y="255"/>
                    </a:lnTo>
                    <a:lnTo>
                      <a:pt x="24" y="261"/>
                    </a:lnTo>
                    <a:lnTo>
                      <a:pt x="33" y="267"/>
                    </a:lnTo>
                    <a:lnTo>
                      <a:pt x="40" y="272"/>
                    </a:lnTo>
                    <a:lnTo>
                      <a:pt x="50" y="276"/>
                    </a:lnTo>
                    <a:lnTo>
                      <a:pt x="69" y="284"/>
                    </a:lnTo>
                    <a:lnTo>
                      <a:pt x="88" y="291"/>
                    </a:lnTo>
                    <a:lnTo>
                      <a:pt x="107" y="297"/>
                    </a:lnTo>
                    <a:lnTo>
                      <a:pt x="127" y="302"/>
                    </a:lnTo>
                    <a:lnTo>
                      <a:pt x="148" y="307"/>
                    </a:lnTo>
                    <a:lnTo>
                      <a:pt x="168" y="311"/>
                    </a:lnTo>
                    <a:lnTo>
                      <a:pt x="188" y="315"/>
                    </a:lnTo>
                    <a:lnTo>
                      <a:pt x="209" y="318"/>
                    </a:lnTo>
                    <a:lnTo>
                      <a:pt x="230" y="321"/>
                    </a:lnTo>
                    <a:lnTo>
                      <a:pt x="251" y="323"/>
                    </a:lnTo>
                    <a:lnTo>
                      <a:pt x="272" y="325"/>
                    </a:lnTo>
                    <a:lnTo>
                      <a:pt x="294" y="327"/>
                    </a:lnTo>
                    <a:lnTo>
                      <a:pt x="315" y="328"/>
                    </a:lnTo>
                    <a:lnTo>
                      <a:pt x="336" y="329"/>
                    </a:lnTo>
                    <a:lnTo>
                      <a:pt x="358" y="330"/>
                    </a:lnTo>
                    <a:lnTo>
                      <a:pt x="378" y="331"/>
                    </a:lnTo>
                    <a:lnTo>
                      <a:pt x="386" y="331"/>
                    </a:lnTo>
                    <a:lnTo>
                      <a:pt x="391" y="329"/>
                    </a:lnTo>
                    <a:lnTo>
                      <a:pt x="396" y="325"/>
                    </a:lnTo>
                    <a:lnTo>
                      <a:pt x="399" y="321"/>
                    </a:lnTo>
                    <a:lnTo>
                      <a:pt x="399" y="316"/>
                    </a:lnTo>
                    <a:lnTo>
                      <a:pt x="396" y="312"/>
                    </a:lnTo>
                    <a:lnTo>
                      <a:pt x="390" y="309"/>
                    </a:lnTo>
                    <a:lnTo>
                      <a:pt x="383" y="307"/>
                    </a:lnTo>
                    <a:lnTo>
                      <a:pt x="364" y="304"/>
                    </a:lnTo>
                    <a:lnTo>
                      <a:pt x="345" y="302"/>
                    </a:lnTo>
                    <a:lnTo>
                      <a:pt x="326" y="299"/>
                    </a:lnTo>
                    <a:lnTo>
                      <a:pt x="306" y="297"/>
                    </a:lnTo>
                    <a:lnTo>
                      <a:pt x="287" y="295"/>
                    </a:lnTo>
                    <a:lnTo>
                      <a:pt x="268" y="293"/>
                    </a:lnTo>
                    <a:lnTo>
                      <a:pt x="248" y="291"/>
                    </a:lnTo>
                    <a:lnTo>
                      <a:pt x="229" y="288"/>
                    </a:lnTo>
                    <a:lnTo>
                      <a:pt x="210" y="286"/>
                    </a:lnTo>
                    <a:lnTo>
                      <a:pt x="191" y="283"/>
                    </a:lnTo>
                    <a:lnTo>
                      <a:pt x="172" y="279"/>
                    </a:lnTo>
                    <a:lnTo>
                      <a:pt x="153" y="276"/>
                    </a:lnTo>
                    <a:lnTo>
                      <a:pt x="136" y="271"/>
                    </a:lnTo>
                    <a:lnTo>
                      <a:pt x="117" y="266"/>
                    </a:lnTo>
                    <a:lnTo>
                      <a:pt x="100" y="261"/>
                    </a:lnTo>
                    <a:lnTo>
                      <a:pt x="82" y="254"/>
                    </a:lnTo>
                    <a:lnTo>
                      <a:pt x="68" y="247"/>
                    </a:lnTo>
                    <a:lnTo>
                      <a:pt x="56" y="238"/>
                    </a:lnTo>
                    <a:lnTo>
                      <a:pt x="48" y="228"/>
                    </a:lnTo>
                    <a:lnTo>
                      <a:pt x="43" y="216"/>
                    </a:lnTo>
                    <a:lnTo>
                      <a:pt x="42" y="204"/>
                    </a:lnTo>
                    <a:lnTo>
                      <a:pt x="43" y="189"/>
                    </a:lnTo>
                    <a:lnTo>
                      <a:pt x="48" y="175"/>
                    </a:lnTo>
                    <a:lnTo>
                      <a:pt x="53" y="164"/>
                    </a:lnTo>
                    <a:lnTo>
                      <a:pt x="64" y="149"/>
                    </a:lnTo>
                    <a:lnTo>
                      <a:pt x="75" y="134"/>
                    </a:lnTo>
                    <a:lnTo>
                      <a:pt x="88" y="121"/>
                    </a:lnTo>
                    <a:lnTo>
                      <a:pt x="103" y="109"/>
                    </a:lnTo>
                    <a:lnTo>
                      <a:pt x="117" y="97"/>
                    </a:lnTo>
                    <a:lnTo>
                      <a:pt x="133" y="85"/>
                    </a:lnTo>
                    <a:lnTo>
                      <a:pt x="152" y="73"/>
                    </a:lnTo>
                    <a:lnTo>
                      <a:pt x="171" y="61"/>
                    </a:lnTo>
                    <a:lnTo>
                      <a:pt x="190" y="51"/>
                    </a:lnTo>
                    <a:lnTo>
                      <a:pt x="214" y="42"/>
                    </a:lnTo>
                    <a:lnTo>
                      <a:pt x="242" y="33"/>
                    </a:lnTo>
                    <a:lnTo>
                      <a:pt x="270" y="25"/>
                    </a:lnTo>
                    <a:lnTo>
                      <a:pt x="294" y="18"/>
                    </a:lnTo>
                    <a:lnTo>
                      <a:pt x="315" y="12"/>
                    </a:lnTo>
                    <a:lnTo>
                      <a:pt x="328" y="6"/>
                    </a:lnTo>
                    <a:lnTo>
                      <a:pt x="332" y="2"/>
                    </a:lnTo>
                    <a:lnTo>
                      <a:pt x="317" y="0"/>
                    </a:lnTo>
                    <a:lnTo>
                      <a:pt x="297" y="1"/>
                    </a:lnTo>
                    <a:lnTo>
                      <a:pt x="274" y="4"/>
                    </a:lnTo>
                    <a:lnTo>
                      <a:pt x="249" y="9"/>
                    </a:lnTo>
                    <a:lnTo>
                      <a:pt x="223" y="16"/>
                    </a:lnTo>
                    <a:lnTo>
                      <a:pt x="198" y="24"/>
                    </a:lnTo>
                    <a:lnTo>
                      <a:pt x="175" y="33"/>
                    </a:lnTo>
                    <a:lnTo>
                      <a:pt x="155" y="44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6" name="Freeform 67"/>
              <p:cNvSpPr>
                <a:spLocks/>
              </p:cNvSpPr>
              <p:nvPr/>
            </p:nvSpPr>
            <p:spPr bwMode="auto">
              <a:xfrm>
                <a:off x="1419" y="2206"/>
                <a:ext cx="116" cy="110"/>
              </a:xfrm>
              <a:custGeom>
                <a:avLst/>
                <a:gdLst>
                  <a:gd name="T0" fmla="*/ 96 w 350"/>
                  <a:gd name="T1" fmla="*/ 34 h 221"/>
                  <a:gd name="T2" fmla="*/ 101 w 350"/>
                  <a:gd name="T3" fmla="*/ 40 h 221"/>
                  <a:gd name="T4" fmla="*/ 105 w 350"/>
                  <a:gd name="T5" fmla="*/ 47 h 221"/>
                  <a:gd name="T6" fmla="*/ 106 w 350"/>
                  <a:gd name="T7" fmla="*/ 54 h 221"/>
                  <a:gd name="T8" fmla="*/ 106 w 350"/>
                  <a:gd name="T9" fmla="*/ 62 h 221"/>
                  <a:gd name="T10" fmla="*/ 105 w 350"/>
                  <a:gd name="T11" fmla="*/ 69 h 221"/>
                  <a:gd name="T12" fmla="*/ 103 w 350"/>
                  <a:gd name="T13" fmla="*/ 74 h 221"/>
                  <a:gd name="T14" fmla="*/ 100 w 350"/>
                  <a:gd name="T15" fmla="*/ 80 h 221"/>
                  <a:gd name="T16" fmla="*/ 97 w 350"/>
                  <a:gd name="T17" fmla="*/ 84 h 221"/>
                  <a:gd name="T18" fmla="*/ 92 w 350"/>
                  <a:gd name="T19" fmla="*/ 89 h 221"/>
                  <a:gd name="T20" fmla="*/ 88 w 350"/>
                  <a:gd name="T21" fmla="*/ 93 h 221"/>
                  <a:gd name="T22" fmla="*/ 84 w 350"/>
                  <a:gd name="T23" fmla="*/ 98 h 221"/>
                  <a:gd name="T24" fmla="*/ 80 w 350"/>
                  <a:gd name="T25" fmla="*/ 102 h 221"/>
                  <a:gd name="T26" fmla="*/ 79 w 350"/>
                  <a:gd name="T27" fmla="*/ 104 h 221"/>
                  <a:gd name="T28" fmla="*/ 79 w 350"/>
                  <a:gd name="T29" fmla="*/ 106 h 221"/>
                  <a:gd name="T30" fmla="*/ 79 w 350"/>
                  <a:gd name="T31" fmla="*/ 107 h 221"/>
                  <a:gd name="T32" fmla="*/ 80 w 350"/>
                  <a:gd name="T33" fmla="*/ 109 h 221"/>
                  <a:gd name="T34" fmla="*/ 81 w 350"/>
                  <a:gd name="T35" fmla="*/ 110 h 221"/>
                  <a:gd name="T36" fmla="*/ 83 w 350"/>
                  <a:gd name="T37" fmla="*/ 110 h 221"/>
                  <a:gd name="T38" fmla="*/ 84 w 350"/>
                  <a:gd name="T39" fmla="*/ 110 h 221"/>
                  <a:gd name="T40" fmla="*/ 86 w 350"/>
                  <a:gd name="T41" fmla="*/ 109 h 221"/>
                  <a:gd name="T42" fmla="*/ 95 w 350"/>
                  <a:gd name="T43" fmla="*/ 102 h 221"/>
                  <a:gd name="T44" fmla="*/ 103 w 350"/>
                  <a:gd name="T45" fmla="*/ 93 h 221"/>
                  <a:gd name="T46" fmla="*/ 110 w 350"/>
                  <a:gd name="T47" fmla="*/ 84 h 221"/>
                  <a:gd name="T48" fmla="*/ 114 w 350"/>
                  <a:gd name="T49" fmla="*/ 73 h 221"/>
                  <a:gd name="T50" fmla="*/ 116 w 350"/>
                  <a:gd name="T51" fmla="*/ 62 h 221"/>
                  <a:gd name="T52" fmla="*/ 115 w 350"/>
                  <a:gd name="T53" fmla="*/ 50 h 221"/>
                  <a:gd name="T54" fmla="*/ 111 w 350"/>
                  <a:gd name="T55" fmla="*/ 40 h 221"/>
                  <a:gd name="T56" fmla="*/ 103 w 350"/>
                  <a:gd name="T57" fmla="*/ 30 h 221"/>
                  <a:gd name="T58" fmla="*/ 98 w 350"/>
                  <a:gd name="T59" fmla="*/ 25 h 221"/>
                  <a:gd name="T60" fmla="*/ 91 w 350"/>
                  <a:gd name="T61" fmla="*/ 21 h 221"/>
                  <a:gd name="T62" fmla="*/ 84 w 350"/>
                  <a:gd name="T63" fmla="*/ 17 h 221"/>
                  <a:gd name="T64" fmla="*/ 76 w 350"/>
                  <a:gd name="T65" fmla="*/ 13 h 221"/>
                  <a:gd name="T66" fmla="*/ 67 w 350"/>
                  <a:gd name="T67" fmla="*/ 10 h 221"/>
                  <a:gd name="T68" fmla="*/ 59 w 350"/>
                  <a:gd name="T69" fmla="*/ 7 h 221"/>
                  <a:gd name="T70" fmla="*/ 50 w 350"/>
                  <a:gd name="T71" fmla="*/ 5 h 221"/>
                  <a:gd name="T72" fmla="*/ 42 w 350"/>
                  <a:gd name="T73" fmla="*/ 3 h 221"/>
                  <a:gd name="T74" fmla="*/ 34 w 350"/>
                  <a:gd name="T75" fmla="*/ 2 h 221"/>
                  <a:gd name="T76" fmla="*/ 27 w 350"/>
                  <a:gd name="T77" fmla="*/ 1 h 221"/>
                  <a:gd name="T78" fmla="*/ 20 w 350"/>
                  <a:gd name="T79" fmla="*/ 0 h 221"/>
                  <a:gd name="T80" fmla="*/ 14 w 350"/>
                  <a:gd name="T81" fmla="*/ 0 h 221"/>
                  <a:gd name="T82" fmla="*/ 9 w 350"/>
                  <a:gd name="T83" fmla="*/ 0 h 221"/>
                  <a:gd name="T84" fmla="*/ 4 w 350"/>
                  <a:gd name="T85" fmla="*/ 0 h 221"/>
                  <a:gd name="T86" fmla="*/ 1 w 350"/>
                  <a:gd name="T87" fmla="*/ 1 h 221"/>
                  <a:gd name="T88" fmla="*/ 0 w 350"/>
                  <a:gd name="T89" fmla="*/ 2 h 221"/>
                  <a:gd name="T90" fmla="*/ 5 w 350"/>
                  <a:gd name="T91" fmla="*/ 3 h 221"/>
                  <a:gd name="T92" fmla="*/ 10 w 350"/>
                  <a:gd name="T93" fmla="*/ 3 h 221"/>
                  <a:gd name="T94" fmla="*/ 16 w 350"/>
                  <a:gd name="T95" fmla="*/ 4 h 221"/>
                  <a:gd name="T96" fmla="*/ 21 w 350"/>
                  <a:gd name="T97" fmla="*/ 5 h 221"/>
                  <a:gd name="T98" fmla="*/ 27 w 350"/>
                  <a:gd name="T99" fmla="*/ 7 h 221"/>
                  <a:gd name="T100" fmla="*/ 34 w 350"/>
                  <a:gd name="T101" fmla="*/ 8 h 221"/>
                  <a:gd name="T102" fmla="*/ 40 w 350"/>
                  <a:gd name="T103" fmla="*/ 9 h 221"/>
                  <a:gd name="T104" fmla="*/ 47 w 350"/>
                  <a:gd name="T105" fmla="*/ 11 h 221"/>
                  <a:gd name="T106" fmla="*/ 53 w 350"/>
                  <a:gd name="T107" fmla="*/ 13 h 221"/>
                  <a:gd name="T108" fmla="*/ 60 w 350"/>
                  <a:gd name="T109" fmla="*/ 15 h 221"/>
                  <a:gd name="T110" fmla="*/ 66 w 350"/>
                  <a:gd name="T111" fmla="*/ 17 h 221"/>
                  <a:gd name="T112" fmla="*/ 73 w 350"/>
                  <a:gd name="T113" fmla="*/ 19 h 221"/>
                  <a:gd name="T114" fmla="*/ 79 w 350"/>
                  <a:gd name="T115" fmla="*/ 22 h 221"/>
                  <a:gd name="T116" fmla="*/ 85 w 350"/>
                  <a:gd name="T117" fmla="*/ 26 h 221"/>
                  <a:gd name="T118" fmla="*/ 91 w 350"/>
                  <a:gd name="T119" fmla="*/ 30 h 221"/>
                  <a:gd name="T120" fmla="*/ 96 w 350"/>
                  <a:gd name="T121" fmla="*/ 34 h 221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0"/>
                  <a:gd name="T184" fmla="*/ 0 h 221"/>
                  <a:gd name="T185" fmla="*/ 350 w 350"/>
                  <a:gd name="T186" fmla="*/ 221 h 221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0" h="221">
                    <a:moveTo>
                      <a:pt x="290" y="68"/>
                    </a:moveTo>
                    <a:lnTo>
                      <a:pt x="306" y="80"/>
                    </a:lnTo>
                    <a:lnTo>
                      <a:pt x="316" y="94"/>
                    </a:lnTo>
                    <a:lnTo>
                      <a:pt x="321" y="109"/>
                    </a:lnTo>
                    <a:lnTo>
                      <a:pt x="321" y="125"/>
                    </a:lnTo>
                    <a:lnTo>
                      <a:pt x="318" y="138"/>
                    </a:lnTo>
                    <a:lnTo>
                      <a:pt x="312" y="149"/>
                    </a:lnTo>
                    <a:lnTo>
                      <a:pt x="302" y="160"/>
                    </a:lnTo>
                    <a:lnTo>
                      <a:pt x="292" y="169"/>
                    </a:lnTo>
                    <a:lnTo>
                      <a:pt x="279" y="179"/>
                    </a:lnTo>
                    <a:lnTo>
                      <a:pt x="266" y="187"/>
                    </a:lnTo>
                    <a:lnTo>
                      <a:pt x="253" y="196"/>
                    </a:lnTo>
                    <a:lnTo>
                      <a:pt x="240" y="205"/>
                    </a:lnTo>
                    <a:lnTo>
                      <a:pt x="237" y="209"/>
                    </a:lnTo>
                    <a:lnTo>
                      <a:pt x="237" y="212"/>
                    </a:lnTo>
                    <a:lnTo>
                      <a:pt x="237" y="215"/>
                    </a:lnTo>
                    <a:lnTo>
                      <a:pt x="240" y="218"/>
                    </a:lnTo>
                    <a:lnTo>
                      <a:pt x="244" y="220"/>
                    </a:lnTo>
                    <a:lnTo>
                      <a:pt x="250" y="221"/>
                    </a:lnTo>
                    <a:lnTo>
                      <a:pt x="254" y="220"/>
                    </a:lnTo>
                    <a:lnTo>
                      <a:pt x="258" y="218"/>
                    </a:lnTo>
                    <a:lnTo>
                      <a:pt x="287" y="204"/>
                    </a:lnTo>
                    <a:lnTo>
                      <a:pt x="312" y="187"/>
                    </a:lnTo>
                    <a:lnTo>
                      <a:pt x="331" y="168"/>
                    </a:lnTo>
                    <a:lnTo>
                      <a:pt x="344" y="146"/>
                    </a:lnTo>
                    <a:lnTo>
                      <a:pt x="350" y="124"/>
                    </a:lnTo>
                    <a:lnTo>
                      <a:pt x="347" y="101"/>
                    </a:lnTo>
                    <a:lnTo>
                      <a:pt x="335" y="80"/>
                    </a:lnTo>
                    <a:lnTo>
                      <a:pt x="312" y="61"/>
                    </a:lnTo>
                    <a:lnTo>
                      <a:pt x="295" y="50"/>
                    </a:lnTo>
                    <a:lnTo>
                      <a:pt x="274" y="42"/>
                    </a:lnTo>
                    <a:lnTo>
                      <a:pt x="253" y="34"/>
                    </a:lnTo>
                    <a:lnTo>
                      <a:pt x="228" y="27"/>
                    </a:lnTo>
                    <a:lnTo>
                      <a:pt x="203" y="20"/>
                    </a:lnTo>
                    <a:lnTo>
                      <a:pt x="179" y="15"/>
                    </a:lnTo>
                    <a:lnTo>
                      <a:pt x="152" y="11"/>
                    </a:lnTo>
                    <a:lnTo>
                      <a:pt x="128" y="7"/>
                    </a:lnTo>
                    <a:lnTo>
                      <a:pt x="103" y="4"/>
                    </a:lnTo>
                    <a:lnTo>
                      <a:pt x="81" y="2"/>
                    </a:lnTo>
                    <a:lnTo>
                      <a:pt x="60" y="0"/>
                    </a:lnTo>
                    <a:lnTo>
                      <a:pt x="42" y="0"/>
                    </a:lnTo>
                    <a:lnTo>
                      <a:pt x="26" y="0"/>
                    </a:lnTo>
                    <a:lnTo>
                      <a:pt x="13" y="0"/>
                    </a:lnTo>
                    <a:lnTo>
                      <a:pt x="4" y="2"/>
                    </a:lnTo>
                    <a:lnTo>
                      <a:pt x="0" y="4"/>
                    </a:lnTo>
                    <a:lnTo>
                      <a:pt x="15" y="6"/>
                    </a:lnTo>
                    <a:lnTo>
                      <a:pt x="29" y="7"/>
                    </a:lnTo>
                    <a:lnTo>
                      <a:pt x="47" y="9"/>
                    </a:lnTo>
                    <a:lnTo>
                      <a:pt x="64" y="11"/>
                    </a:lnTo>
                    <a:lnTo>
                      <a:pt x="81" y="14"/>
                    </a:lnTo>
                    <a:lnTo>
                      <a:pt x="102" y="16"/>
                    </a:lnTo>
                    <a:lnTo>
                      <a:pt x="121" y="19"/>
                    </a:lnTo>
                    <a:lnTo>
                      <a:pt x="141" y="22"/>
                    </a:lnTo>
                    <a:lnTo>
                      <a:pt x="160" y="26"/>
                    </a:lnTo>
                    <a:lnTo>
                      <a:pt x="180" y="30"/>
                    </a:lnTo>
                    <a:lnTo>
                      <a:pt x="200" y="34"/>
                    </a:lnTo>
                    <a:lnTo>
                      <a:pt x="219" y="39"/>
                    </a:lnTo>
                    <a:lnTo>
                      <a:pt x="238" y="45"/>
                    </a:lnTo>
                    <a:lnTo>
                      <a:pt x="257" y="53"/>
                    </a:lnTo>
                    <a:lnTo>
                      <a:pt x="274" y="60"/>
                    </a:lnTo>
                    <a:lnTo>
                      <a:pt x="290" y="68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7" name="Freeform 68"/>
              <p:cNvSpPr>
                <a:spLocks/>
              </p:cNvSpPr>
              <p:nvPr/>
            </p:nvSpPr>
            <p:spPr bwMode="auto">
              <a:xfrm>
                <a:off x="1181" y="2256"/>
                <a:ext cx="48" cy="105"/>
              </a:xfrm>
              <a:custGeom>
                <a:avLst/>
                <a:gdLst>
                  <a:gd name="T0" fmla="*/ 0 w 142"/>
                  <a:gd name="T1" fmla="*/ 58 h 208"/>
                  <a:gd name="T2" fmla="*/ 0 w 142"/>
                  <a:gd name="T3" fmla="*/ 66 h 208"/>
                  <a:gd name="T4" fmla="*/ 2 w 142"/>
                  <a:gd name="T5" fmla="*/ 74 h 208"/>
                  <a:gd name="T6" fmla="*/ 5 w 142"/>
                  <a:gd name="T7" fmla="*/ 82 h 208"/>
                  <a:gd name="T8" fmla="*/ 10 w 142"/>
                  <a:gd name="T9" fmla="*/ 88 h 208"/>
                  <a:gd name="T10" fmla="*/ 16 w 142"/>
                  <a:gd name="T11" fmla="*/ 94 h 208"/>
                  <a:gd name="T12" fmla="*/ 23 w 142"/>
                  <a:gd name="T13" fmla="*/ 99 h 208"/>
                  <a:gd name="T14" fmla="*/ 31 w 142"/>
                  <a:gd name="T15" fmla="*/ 102 h 208"/>
                  <a:gd name="T16" fmla="*/ 39 w 142"/>
                  <a:gd name="T17" fmla="*/ 104 h 208"/>
                  <a:gd name="T18" fmla="*/ 41 w 142"/>
                  <a:gd name="T19" fmla="*/ 105 h 208"/>
                  <a:gd name="T20" fmla="*/ 44 w 142"/>
                  <a:gd name="T21" fmla="*/ 104 h 208"/>
                  <a:gd name="T22" fmla="*/ 46 w 142"/>
                  <a:gd name="T23" fmla="*/ 102 h 208"/>
                  <a:gd name="T24" fmla="*/ 47 w 142"/>
                  <a:gd name="T25" fmla="*/ 100 h 208"/>
                  <a:gd name="T26" fmla="*/ 47 w 142"/>
                  <a:gd name="T27" fmla="*/ 98 h 208"/>
                  <a:gd name="T28" fmla="*/ 46 w 142"/>
                  <a:gd name="T29" fmla="*/ 95 h 208"/>
                  <a:gd name="T30" fmla="*/ 45 w 142"/>
                  <a:gd name="T31" fmla="*/ 93 h 208"/>
                  <a:gd name="T32" fmla="*/ 42 w 142"/>
                  <a:gd name="T33" fmla="*/ 92 h 208"/>
                  <a:gd name="T34" fmla="*/ 34 w 142"/>
                  <a:gd name="T35" fmla="*/ 89 h 208"/>
                  <a:gd name="T36" fmla="*/ 27 w 142"/>
                  <a:gd name="T37" fmla="*/ 85 h 208"/>
                  <a:gd name="T38" fmla="*/ 21 w 142"/>
                  <a:gd name="T39" fmla="*/ 80 h 208"/>
                  <a:gd name="T40" fmla="*/ 17 w 142"/>
                  <a:gd name="T41" fmla="*/ 74 h 208"/>
                  <a:gd name="T42" fmla="*/ 14 w 142"/>
                  <a:gd name="T43" fmla="*/ 66 h 208"/>
                  <a:gd name="T44" fmla="*/ 12 w 142"/>
                  <a:gd name="T45" fmla="*/ 58 h 208"/>
                  <a:gd name="T46" fmla="*/ 12 w 142"/>
                  <a:gd name="T47" fmla="*/ 49 h 208"/>
                  <a:gd name="T48" fmla="*/ 15 w 142"/>
                  <a:gd name="T49" fmla="*/ 40 h 208"/>
                  <a:gd name="T50" fmla="*/ 18 w 142"/>
                  <a:gd name="T51" fmla="*/ 33 h 208"/>
                  <a:gd name="T52" fmla="*/ 22 w 142"/>
                  <a:gd name="T53" fmla="*/ 27 h 208"/>
                  <a:gd name="T54" fmla="*/ 26 w 142"/>
                  <a:gd name="T55" fmla="*/ 22 h 208"/>
                  <a:gd name="T56" fmla="*/ 31 w 142"/>
                  <a:gd name="T57" fmla="*/ 17 h 208"/>
                  <a:gd name="T58" fmla="*/ 35 w 142"/>
                  <a:gd name="T59" fmla="*/ 12 h 208"/>
                  <a:gd name="T60" fmla="*/ 40 w 142"/>
                  <a:gd name="T61" fmla="*/ 8 h 208"/>
                  <a:gd name="T62" fmla="*/ 45 w 142"/>
                  <a:gd name="T63" fmla="*/ 4 h 208"/>
                  <a:gd name="T64" fmla="*/ 48 w 142"/>
                  <a:gd name="T65" fmla="*/ 1 h 208"/>
                  <a:gd name="T66" fmla="*/ 45 w 142"/>
                  <a:gd name="T67" fmla="*/ 0 h 208"/>
                  <a:gd name="T68" fmla="*/ 39 w 142"/>
                  <a:gd name="T69" fmla="*/ 3 h 208"/>
                  <a:gd name="T70" fmla="*/ 32 w 142"/>
                  <a:gd name="T71" fmla="*/ 8 h 208"/>
                  <a:gd name="T72" fmla="*/ 23 w 142"/>
                  <a:gd name="T73" fmla="*/ 16 h 208"/>
                  <a:gd name="T74" fmla="*/ 16 w 142"/>
                  <a:gd name="T75" fmla="*/ 25 h 208"/>
                  <a:gd name="T76" fmla="*/ 8 w 142"/>
                  <a:gd name="T77" fmla="*/ 35 h 208"/>
                  <a:gd name="T78" fmla="*/ 3 w 142"/>
                  <a:gd name="T79" fmla="*/ 46 h 208"/>
                  <a:gd name="T80" fmla="*/ 0 w 142"/>
                  <a:gd name="T81" fmla="*/ 58 h 208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208"/>
                  <a:gd name="T125" fmla="*/ 142 w 142"/>
                  <a:gd name="T126" fmla="*/ 208 h 208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208">
                    <a:moveTo>
                      <a:pt x="0" y="114"/>
                    </a:moveTo>
                    <a:lnTo>
                      <a:pt x="0" y="131"/>
                    </a:lnTo>
                    <a:lnTo>
                      <a:pt x="6" y="147"/>
                    </a:lnTo>
                    <a:lnTo>
                      <a:pt x="16" y="162"/>
                    </a:lnTo>
                    <a:lnTo>
                      <a:pt x="30" y="175"/>
                    </a:lnTo>
                    <a:lnTo>
                      <a:pt x="48" y="186"/>
                    </a:lnTo>
                    <a:lnTo>
                      <a:pt x="68" y="196"/>
                    </a:lnTo>
                    <a:lnTo>
                      <a:pt x="91" y="203"/>
                    </a:lnTo>
                    <a:lnTo>
                      <a:pt x="114" y="207"/>
                    </a:lnTo>
                    <a:lnTo>
                      <a:pt x="122" y="208"/>
                    </a:lnTo>
                    <a:lnTo>
                      <a:pt x="129" y="206"/>
                    </a:lnTo>
                    <a:lnTo>
                      <a:pt x="135" y="203"/>
                    </a:lnTo>
                    <a:lnTo>
                      <a:pt x="138" y="199"/>
                    </a:lnTo>
                    <a:lnTo>
                      <a:pt x="138" y="194"/>
                    </a:lnTo>
                    <a:lnTo>
                      <a:pt x="136" y="189"/>
                    </a:lnTo>
                    <a:lnTo>
                      <a:pt x="132" y="185"/>
                    </a:lnTo>
                    <a:lnTo>
                      <a:pt x="125" y="183"/>
                    </a:lnTo>
                    <a:lnTo>
                      <a:pt x="101" y="177"/>
                    </a:lnTo>
                    <a:lnTo>
                      <a:pt x="80" y="169"/>
                    </a:lnTo>
                    <a:lnTo>
                      <a:pt x="62" y="158"/>
                    </a:lnTo>
                    <a:lnTo>
                      <a:pt x="49" y="146"/>
                    </a:lnTo>
                    <a:lnTo>
                      <a:pt x="40" y="131"/>
                    </a:lnTo>
                    <a:lnTo>
                      <a:pt x="36" y="115"/>
                    </a:lnTo>
                    <a:lnTo>
                      <a:pt x="36" y="97"/>
                    </a:lnTo>
                    <a:lnTo>
                      <a:pt x="43" y="79"/>
                    </a:lnTo>
                    <a:lnTo>
                      <a:pt x="52" y="66"/>
                    </a:lnTo>
                    <a:lnTo>
                      <a:pt x="64" y="54"/>
                    </a:lnTo>
                    <a:lnTo>
                      <a:pt x="77" y="43"/>
                    </a:lnTo>
                    <a:lnTo>
                      <a:pt x="91" y="33"/>
                    </a:lnTo>
                    <a:lnTo>
                      <a:pt x="104" y="24"/>
                    </a:lnTo>
                    <a:lnTo>
                      <a:pt x="119" y="16"/>
                    </a:lnTo>
                    <a:lnTo>
                      <a:pt x="132" y="8"/>
                    </a:lnTo>
                    <a:lnTo>
                      <a:pt x="142" y="1"/>
                    </a:lnTo>
                    <a:lnTo>
                      <a:pt x="132" y="0"/>
                    </a:lnTo>
                    <a:lnTo>
                      <a:pt x="116" y="5"/>
                    </a:lnTo>
                    <a:lnTo>
                      <a:pt x="94" y="16"/>
                    </a:lnTo>
                    <a:lnTo>
                      <a:pt x="69" y="31"/>
                    </a:lnTo>
                    <a:lnTo>
                      <a:pt x="46" y="50"/>
                    </a:lnTo>
                    <a:lnTo>
                      <a:pt x="24" y="70"/>
                    </a:lnTo>
                    <a:lnTo>
                      <a:pt x="9" y="92"/>
                    </a:lnTo>
                    <a:lnTo>
                      <a:pt x="0" y="114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8" name="Freeform 69"/>
              <p:cNvSpPr>
                <a:spLocks/>
              </p:cNvSpPr>
              <p:nvPr/>
            </p:nvSpPr>
            <p:spPr bwMode="auto">
              <a:xfrm>
                <a:off x="1515" y="2198"/>
                <a:ext cx="101" cy="136"/>
              </a:xfrm>
              <a:custGeom>
                <a:avLst/>
                <a:gdLst>
                  <a:gd name="T0" fmla="*/ 85 w 304"/>
                  <a:gd name="T1" fmla="*/ 54 h 272"/>
                  <a:gd name="T2" fmla="*/ 90 w 304"/>
                  <a:gd name="T3" fmla="*/ 63 h 272"/>
                  <a:gd name="T4" fmla="*/ 92 w 304"/>
                  <a:gd name="T5" fmla="*/ 72 h 272"/>
                  <a:gd name="T6" fmla="*/ 91 w 304"/>
                  <a:gd name="T7" fmla="*/ 82 h 272"/>
                  <a:gd name="T8" fmla="*/ 86 w 304"/>
                  <a:gd name="T9" fmla="*/ 91 h 272"/>
                  <a:gd name="T10" fmla="*/ 77 w 304"/>
                  <a:gd name="T11" fmla="*/ 100 h 272"/>
                  <a:gd name="T12" fmla="*/ 68 w 304"/>
                  <a:gd name="T13" fmla="*/ 107 h 272"/>
                  <a:gd name="T14" fmla="*/ 59 w 304"/>
                  <a:gd name="T15" fmla="*/ 116 h 272"/>
                  <a:gd name="T16" fmla="*/ 53 w 304"/>
                  <a:gd name="T17" fmla="*/ 122 h 272"/>
                  <a:gd name="T18" fmla="*/ 51 w 304"/>
                  <a:gd name="T19" fmla="*/ 126 h 272"/>
                  <a:gd name="T20" fmla="*/ 50 w 304"/>
                  <a:gd name="T21" fmla="*/ 130 h 272"/>
                  <a:gd name="T22" fmla="*/ 50 w 304"/>
                  <a:gd name="T23" fmla="*/ 134 h 272"/>
                  <a:gd name="T24" fmla="*/ 53 w 304"/>
                  <a:gd name="T25" fmla="*/ 136 h 272"/>
                  <a:gd name="T26" fmla="*/ 57 w 304"/>
                  <a:gd name="T27" fmla="*/ 136 h 272"/>
                  <a:gd name="T28" fmla="*/ 63 w 304"/>
                  <a:gd name="T29" fmla="*/ 129 h 272"/>
                  <a:gd name="T30" fmla="*/ 74 w 304"/>
                  <a:gd name="T31" fmla="*/ 118 h 272"/>
                  <a:gd name="T32" fmla="*/ 85 w 304"/>
                  <a:gd name="T33" fmla="*/ 107 h 272"/>
                  <a:gd name="T34" fmla="*/ 95 w 304"/>
                  <a:gd name="T35" fmla="*/ 96 h 272"/>
                  <a:gd name="T36" fmla="*/ 101 w 304"/>
                  <a:gd name="T37" fmla="*/ 82 h 272"/>
                  <a:gd name="T38" fmla="*/ 100 w 304"/>
                  <a:gd name="T39" fmla="*/ 67 h 272"/>
                  <a:gd name="T40" fmla="*/ 93 w 304"/>
                  <a:gd name="T41" fmla="*/ 53 h 272"/>
                  <a:gd name="T42" fmla="*/ 83 w 304"/>
                  <a:gd name="T43" fmla="*/ 41 h 272"/>
                  <a:gd name="T44" fmla="*/ 73 w 304"/>
                  <a:gd name="T45" fmla="*/ 33 h 272"/>
                  <a:gd name="T46" fmla="*/ 62 w 304"/>
                  <a:gd name="T47" fmla="*/ 26 h 272"/>
                  <a:gd name="T48" fmla="*/ 52 w 304"/>
                  <a:gd name="T49" fmla="*/ 19 h 272"/>
                  <a:gd name="T50" fmla="*/ 41 w 304"/>
                  <a:gd name="T51" fmla="*/ 12 h 272"/>
                  <a:gd name="T52" fmla="*/ 30 w 304"/>
                  <a:gd name="T53" fmla="*/ 7 h 272"/>
                  <a:gd name="T54" fmla="*/ 19 w 304"/>
                  <a:gd name="T55" fmla="*/ 3 h 272"/>
                  <a:gd name="T56" fmla="*/ 10 w 304"/>
                  <a:gd name="T57" fmla="*/ 1 h 272"/>
                  <a:gd name="T58" fmla="*/ 3 w 304"/>
                  <a:gd name="T59" fmla="*/ 1 h 272"/>
                  <a:gd name="T60" fmla="*/ 3 w 304"/>
                  <a:gd name="T61" fmla="*/ 2 h 272"/>
                  <a:gd name="T62" fmla="*/ 12 w 304"/>
                  <a:gd name="T63" fmla="*/ 6 h 272"/>
                  <a:gd name="T64" fmla="*/ 21 w 304"/>
                  <a:gd name="T65" fmla="*/ 10 h 272"/>
                  <a:gd name="T66" fmla="*/ 32 w 304"/>
                  <a:gd name="T67" fmla="*/ 16 h 272"/>
                  <a:gd name="T68" fmla="*/ 44 w 304"/>
                  <a:gd name="T69" fmla="*/ 22 h 272"/>
                  <a:gd name="T70" fmla="*/ 55 w 304"/>
                  <a:gd name="T71" fmla="*/ 30 h 272"/>
                  <a:gd name="T72" fmla="*/ 67 w 304"/>
                  <a:gd name="T73" fmla="*/ 38 h 272"/>
                  <a:gd name="T74" fmla="*/ 77 w 304"/>
                  <a:gd name="T75" fmla="*/ 46 h 27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4"/>
                  <a:gd name="T115" fmla="*/ 0 h 272"/>
                  <a:gd name="T116" fmla="*/ 304 w 304"/>
                  <a:gd name="T117" fmla="*/ 272 h 27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4" h="272">
                    <a:moveTo>
                      <a:pt x="246" y="102"/>
                    </a:moveTo>
                    <a:lnTo>
                      <a:pt x="257" y="109"/>
                    </a:lnTo>
                    <a:lnTo>
                      <a:pt x="265" y="117"/>
                    </a:lnTo>
                    <a:lnTo>
                      <a:pt x="271" y="126"/>
                    </a:lnTo>
                    <a:lnTo>
                      <a:pt x="277" y="135"/>
                    </a:lnTo>
                    <a:lnTo>
                      <a:pt x="278" y="144"/>
                    </a:lnTo>
                    <a:lnTo>
                      <a:pt x="278" y="154"/>
                    </a:lnTo>
                    <a:lnTo>
                      <a:pt x="274" y="164"/>
                    </a:lnTo>
                    <a:lnTo>
                      <a:pt x="268" y="173"/>
                    </a:lnTo>
                    <a:lnTo>
                      <a:pt x="258" y="183"/>
                    </a:lnTo>
                    <a:lnTo>
                      <a:pt x="246" y="192"/>
                    </a:lnTo>
                    <a:lnTo>
                      <a:pt x="233" y="200"/>
                    </a:lnTo>
                    <a:lnTo>
                      <a:pt x="219" y="208"/>
                    </a:lnTo>
                    <a:lnTo>
                      <a:pt x="206" y="215"/>
                    </a:lnTo>
                    <a:lnTo>
                      <a:pt x="191" y="224"/>
                    </a:lnTo>
                    <a:lnTo>
                      <a:pt x="177" y="232"/>
                    </a:lnTo>
                    <a:lnTo>
                      <a:pt x="164" y="241"/>
                    </a:lnTo>
                    <a:lnTo>
                      <a:pt x="159" y="244"/>
                    </a:lnTo>
                    <a:lnTo>
                      <a:pt x="157" y="248"/>
                    </a:lnTo>
                    <a:lnTo>
                      <a:pt x="154" y="252"/>
                    </a:lnTo>
                    <a:lnTo>
                      <a:pt x="151" y="256"/>
                    </a:lnTo>
                    <a:lnTo>
                      <a:pt x="149" y="260"/>
                    </a:lnTo>
                    <a:lnTo>
                      <a:pt x="149" y="264"/>
                    </a:lnTo>
                    <a:lnTo>
                      <a:pt x="151" y="268"/>
                    </a:lnTo>
                    <a:lnTo>
                      <a:pt x="155" y="271"/>
                    </a:lnTo>
                    <a:lnTo>
                      <a:pt x="161" y="272"/>
                    </a:lnTo>
                    <a:lnTo>
                      <a:pt x="167" y="272"/>
                    </a:lnTo>
                    <a:lnTo>
                      <a:pt x="172" y="271"/>
                    </a:lnTo>
                    <a:lnTo>
                      <a:pt x="177" y="268"/>
                    </a:lnTo>
                    <a:lnTo>
                      <a:pt x="191" y="257"/>
                    </a:lnTo>
                    <a:lnTo>
                      <a:pt x="207" y="246"/>
                    </a:lnTo>
                    <a:lnTo>
                      <a:pt x="223" y="236"/>
                    </a:lnTo>
                    <a:lnTo>
                      <a:pt x="241" y="226"/>
                    </a:lnTo>
                    <a:lnTo>
                      <a:pt x="257" y="215"/>
                    </a:lnTo>
                    <a:lnTo>
                      <a:pt x="271" y="204"/>
                    </a:lnTo>
                    <a:lnTo>
                      <a:pt x="286" y="192"/>
                    </a:lnTo>
                    <a:lnTo>
                      <a:pt x="296" y="179"/>
                    </a:lnTo>
                    <a:lnTo>
                      <a:pt x="303" y="164"/>
                    </a:lnTo>
                    <a:lnTo>
                      <a:pt x="304" y="149"/>
                    </a:lnTo>
                    <a:lnTo>
                      <a:pt x="300" y="134"/>
                    </a:lnTo>
                    <a:lnTo>
                      <a:pt x="293" y="120"/>
                    </a:lnTo>
                    <a:lnTo>
                      <a:pt x="281" y="106"/>
                    </a:lnTo>
                    <a:lnTo>
                      <a:pt x="267" y="94"/>
                    </a:lnTo>
                    <a:lnTo>
                      <a:pt x="249" y="83"/>
                    </a:lnTo>
                    <a:lnTo>
                      <a:pt x="232" y="73"/>
                    </a:lnTo>
                    <a:lnTo>
                      <a:pt x="219" y="65"/>
                    </a:lnTo>
                    <a:lnTo>
                      <a:pt x="204" y="59"/>
                    </a:lnTo>
                    <a:lnTo>
                      <a:pt x="188" y="52"/>
                    </a:lnTo>
                    <a:lnTo>
                      <a:pt x="172" y="45"/>
                    </a:lnTo>
                    <a:lnTo>
                      <a:pt x="157" y="38"/>
                    </a:lnTo>
                    <a:lnTo>
                      <a:pt x="139" y="31"/>
                    </a:lnTo>
                    <a:lnTo>
                      <a:pt x="122" y="25"/>
                    </a:lnTo>
                    <a:lnTo>
                      <a:pt x="106" y="19"/>
                    </a:lnTo>
                    <a:lnTo>
                      <a:pt x="90" y="14"/>
                    </a:lnTo>
                    <a:lnTo>
                      <a:pt x="74" y="9"/>
                    </a:lnTo>
                    <a:lnTo>
                      <a:pt x="58" y="6"/>
                    </a:lnTo>
                    <a:lnTo>
                      <a:pt x="43" y="3"/>
                    </a:lnTo>
                    <a:lnTo>
                      <a:pt x="30" y="1"/>
                    </a:lnTo>
                    <a:lnTo>
                      <a:pt x="19" y="0"/>
                    </a:lnTo>
                    <a:lnTo>
                      <a:pt x="9" y="1"/>
                    </a:lnTo>
                    <a:lnTo>
                      <a:pt x="0" y="3"/>
                    </a:lnTo>
                    <a:lnTo>
                      <a:pt x="10" y="5"/>
                    </a:lnTo>
                    <a:lnTo>
                      <a:pt x="22" y="8"/>
                    </a:lnTo>
                    <a:lnTo>
                      <a:pt x="35" y="12"/>
                    </a:lnTo>
                    <a:lnTo>
                      <a:pt x="48" y="16"/>
                    </a:lnTo>
                    <a:lnTo>
                      <a:pt x="64" y="21"/>
                    </a:lnTo>
                    <a:lnTo>
                      <a:pt x="80" y="26"/>
                    </a:lnTo>
                    <a:lnTo>
                      <a:pt x="97" y="32"/>
                    </a:lnTo>
                    <a:lnTo>
                      <a:pt x="114" y="38"/>
                    </a:lnTo>
                    <a:lnTo>
                      <a:pt x="132" y="45"/>
                    </a:lnTo>
                    <a:lnTo>
                      <a:pt x="149" y="52"/>
                    </a:lnTo>
                    <a:lnTo>
                      <a:pt x="167" y="60"/>
                    </a:lnTo>
                    <a:lnTo>
                      <a:pt x="184" y="69"/>
                    </a:lnTo>
                    <a:lnTo>
                      <a:pt x="201" y="77"/>
                    </a:lnTo>
                    <a:lnTo>
                      <a:pt x="217" y="85"/>
                    </a:lnTo>
                    <a:lnTo>
                      <a:pt x="232" y="93"/>
                    </a:lnTo>
                    <a:lnTo>
                      <a:pt x="246" y="10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89" name="Freeform 70"/>
              <p:cNvSpPr>
                <a:spLocks/>
              </p:cNvSpPr>
              <p:nvPr/>
            </p:nvSpPr>
            <p:spPr bwMode="auto">
              <a:xfrm>
                <a:off x="1403" y="2357"/>
                <a:ext cx="34" cy="82"/>
              </a:xfrm>
              <a:custGeom>
                <a:avLst/>
                <a:gdLst>
                  <a:gd name="T0" fmla="*/ 13 w 103"/>
                  <a:gd name="T1" fmla="*/ 6 h 164"/>
                  <a:gd name="T2" fmla="*/ 12 w 103"/>
                  <a:gd name="T3" fmla="*/ 3 h 164"/>
                  <a:gd name="T4" fmla="*/ 11 w 103"/>
                  <a:gd name="T5" fmla="*/ 1 h 164"/>
                  <a:gd name="T6" fmla="*/ 8 w 103"/>
                  <a:gd name="T7" fmla="*/ 1 h 164"/>
                  <a:gd name="T8" fmla="*/ 6 w 103"/>
                  <a:gd name="T9" fmla="*/ 0 h 164"/>
                  <a:gd name="T10" fmla="*/ 3 w 103"/>
                  <a:gd name="T11" fmla="*/ 1 h 164"/>
                  <a:gd name="T12" fmla="*/ 2 w 103"/>
                  <a:gd name="T13" fmla="*/ 3 h 164"/>
                  <a:gd name="T14" fmla="*/ 0 w 103"/>
                  <a:gd name="T15" fmla="*/ 5 h 164"/>
                  <a:gd name="T16" fmla="*/ 0 w 103"/>
                  <a:gd name="T17" fmla="*/ 7 h 164"/>
                  <a:gd name="T18" fmla="*/ 3 w 103"/>
                  <a:gd name="T19" fmla="*/ 19 h 164"/>
                  <a:gd name="T20" fmla="*/ 6 w 103"/>
                  <a:gd name="T21" fmla="*/ 31 h 164"/>
                  <a:gd name="T22" fmla="*/ 11 w 103"/>
                  <a:gd name="T23" fmla="*/ 44 h 164"/>
                  <a:gd name="T24" fmla="*/ 17 w 103"/>
                  <a:gd name="T25" fmla="*/ 56 h 164"/>
                  <a:gd name="T26" fmla="*/ 22 w 103"/>
                  <a:gd name="T27" fmla="*/ 67 h 164"/>
                  <a:gd name="T28" fmla="*/ 28 w 103"/>
                  <a:gd name="T29" fmla="*/ 75 h 164"/>
                  <a:gd name="T30" fmla="*/ 32 w 103"/>
                  <a:gd name="T31" fmla="*/ 81 h 164"/>
                  <a:gd name="T32" fmla="*/ 34 w 103"/>
                  <a:gd name="T33" fmla="*/ 82 h 164"/>
                  <a:gd name="T34" fmla="*/ 33 w 103"/>
                  <a:gd name="T35" fmla="*/ 77 h 164"/>
                  <a:gd name="T36" fmla="*/ 31 w 103"/>
                  <a:gd name="T37" fmla="*/ 70 h 164"/>
                  <a:gd name="T38" fmla="*/ 28 w 103"/>
                  <a:gd name="T39" fmla="*/ 60 h 164"/>
                  <a:gd name="T40" fmla="*/ 24 w 103"/>
                  <a:gd name="T41" fmla="*/ 50 h 164"/>
                  <a:gd name="T42" fmla="*/ 21 w 103"/>
                  <a:gd name="T43" fmla="*/ 39 h 164"/>
                  <a:gd name="T44" fmla="*/ 18 w 103"/>
                  <a:gd name="T45" fmla="*/ 27 h 164"/>
                  <a:gd name="T46" fmla="*/ 15 w 103"/>
                  <a:gd name="T47" fmla="*/ 17 h 164"/>
                  <a:gd name="T48" fmla="*/ 13 w 103"/>
                  <a:gd name="T49" fmla="*/ 6 h 16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3"/>
                  <a:gd name="T76" fmla="*/ 0 h 164"/>
                  <a:gd name="T77" fmla="*/ 103 w 103"/>
                  <a:gd name="T78" fmla="*/ 164 h 164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3" h="164">
                    <a:moveTo>
                      <a:pt x="39" y="12"/>
                    </a:moveTo>
                    <a:lnTo>
                      <a:pt x="37" y="7"/>
                    </a:lnTo>
                    <a:lnTo>
                      <a:pt x="32" y="3"/>
                    </a:lnTo>
                    <a:lnTo>
                      <a:pt x="25" y="1"/>
                    </a:lnTo>
                    <a:lnTo>
                      <a:pt x="18" y="0"/>
                    </a:lnTo>
                    <a:lnTo>
                      <a:pt x="10" y="2"/>
                    </a:lnTo>
                    <a:lnTo>
                      <a:pt x="5" y="5"/>
                    </a:lnTo>
                    <a:lnTo>
                      <a:pt x="0" y="10"/>
                    </a:lnTo>
                    <a:lnTo>
                      <a:pt x="0" y="15"/>
                    </a:lnTo>
                    <a:lnTo>
                      <a:pt x="8" y="37"/>
                    </a:lnTo>
                    <a:lnTo>
                      <a:pt x="19" y="63"/>
                    </a:lnTo>
                    <a:lnTo>
                      <a:pt x="34" y="88"/>
                    </a:lnTo>
                    <a:lnTo>
                      <a:pt x="51" y="112"/>
                    </a:lnTo>
                    <a:lnTo>
                      <a:pt x="68" y="133"/>
                    </a:lnTo>
                    <a:lnTo>
                      <a:pt x="84" y="150"/>
                    </a:lnTo>
                    <a:lnTo>
                      <a:pt x="96" y="161"/>
                    </a:lnTo>
                    <a:lnTo>
                      <a:pt x="103" y="164"/>
                    </a:lnTo>
                    <a:lnTo>
                      <a:pt x="100" y="153"/>
                    </a:lnTo>
                    <a:lnTo>
                      <a:pt x="93" y="139"/>
                    </a:lnTo>
                    <a:lnTo>
                      <a:pt x="84" y="121"/>
                    </a:lnTo>
                    <a:lnTo>
                      <a:pt x="74" y="100"/>
                    </a:lnTo>
                    <a:lnTo>
                      <a:pt x="64" y="78"/>
                    </a:lnTo>
                    <a:lnTo>
                      <a:pt x="54" y="55"/>
                    </a:lnTo>
                    <a:lnTo>
                      <a:pt x="45" y="33"/>
                    </a:lnTo>
                    <a:lnTo>
                      <a:pt x="39" y="1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0" name="Freeform 71"/>
              <p:cNvSpPr>
                <a:spLocks/>
              </p:cNvSpPr>
              <p:nvPr/>
            </p:nvSpPr>
            <p:spPr bwMode="auto">
              <a:xfrm>
                <a:off x="1388" y="2313"/>
                <a:ext cx="18" cy="42"/>
              </a:xfrm>
              <a:custGeom>
                <a:avLst/>
                <a:gdLst>
                  <a:gd name="T0" fmla="*/ 9 w 54"/>
                  <a:gd name="T1" fmla="*/ 5 h 82"/>
                  <a:gd name="T2" fmla="*/ 9 w 54"/>
                  <a:gd name="T3" fmla="*/ 3 h 82"/>
                  <a:gd name="T4" fmla="*/ 7 w 54"/>
                  <a:gd name="T5" fmla="*/ 1 h 82"/>
                  <a:gd name="T6" fmla="*/ 6 w 54"/>
                  <a:gd name="T7" fmla="*/ 0 h 82"/>
                  <a:gd name="T8" fmla="*/ 4 w 54"/>
                  <a:gd name="T9" fmla="*/ 0 h 82"/>
                  <a:gd name="T10" fmla="*/ 3 w 54"/>
                  <a:gd name="T11" fmla="*/ 1 h 82"/>
                  <a:gd name="T12" fmla="*/ 1 w 54"/>
                  <a:gd name="T13" fmla="*/ 2 h 82"/>
                  <a:gd name="T14" fmla="*/ 0 w 54"/>
                  <a:gd name="T15" fmla="*/ 3 h 82"/>
                  <a:gd name="T16" fmla="*/ 0 w 54"/>
                  <a:gd name="T17" fmla="*/ 5 h 82"/>
                  <a:gd name="T18" fmla="*/ 0 w 54"/>
                  <a:gd name="T19" fmla="*/ 11 h 82"/>
                  <a:gd name="T20" fmla="*/ 2 w 54"/>
                  <a:gd name="T21" fmla="*/ 17 h 82"/>
                  <a:gd name="T22" fmla="*/ 3 w 54"/>
                  <a:gd name="T23" fmla="*/ 23 h 82"/>
                  <a:gd name="T24" fmla="*/ 6 w 54"/>
                  <a:gd name="T25" fmla="*/ 29 h 82"/>
                  <a:gd name="T26" fmla="*/ 9 w 54"/>
                  <a:gd name="T27" fmla="*/ 35 h 82"/>
                  <a:gd name="T28" fmla="*/ 12 w 54"/>
                  <a:gd name="T29" fmla="*/ 39 h 82"/>
                  <a:gd name="T30" fmla="*/ 15 w 54"/>
                  <a:gd name="T31" fmla="*/ 41 h 82"/>
                  <a:gd name="T32" fmla="*/ 18 w 54"/>
                  <a:gd name="T33" fmla="*/ 42 h 82"/>
                  <a:gd name="T34" fmla="*/ 18 w 54"/>
                  <a:gd name="T35" fmla="*/ 34 h 82"/>
                  <a:gd name="T36" fmla="*/ 16 w 54"/>
                  <a:gd name="T37" fmla="*/ 24 h 82"/>
                  <a:gd name="T38" fmla="*/ 13 w 54"/>
                  <a:gd name="T39" fmla="*/ 14 h 82"/>
                  <a:gd name="T40" fmla="*/ 9 w 54"/>
                  <a:gd name="T41" fmla="*/ 5 h 82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4"/>
                  <a:gd name="T64" fmla="*/ 0 h 82"/>
                  <a:gd name="T65" fmla="*/ 54 w 54"/>
                  <a:gd name="T66" fmla="*/ 82 h 82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4" h="82">
                    <a:moveTo>
                      <a:pt x="28" y="9"/>
                    </a:moveTo>
                    <a:lnTo>
                      <a:pt x="26" y="5"/>
                    </a:lnTo>
                    <a:lnTo>
                      <a:pt x="22" y="2"/>
                    </a:lnTo>
                    <a:lnTo>
                      <a:pt x="18" y="0"/>
                    </a:lnTo>
                    <a:lnTo>
                      <a:pt x="12" y="0"/>
                    </a:lnTo>
                    <a:lnTo>
                      <a:pt x="8" y="1"/>
                    </a:lnTo>
                    <a:lnTo>
                      <a:pt x="3" y="3"/>
                    </a:lnTo>
                    <a:lnTo>
                      <a:pt x="0" y="6"/>
                    </a:lnTo>
                    <a:lnTo>
                      <a:pt x="0" y="10"/>
                    </a:lnTo>
                    <a:lnTo>
                      <a:pt x="0" y="21"/>
                    </a:lnTo>
                    <a:lnTo>
                      <a:pt x="5" y="33"/>
                    </a:lnTo>
                    <a:lnTo>
                      <a:pt x="10" y="45"/>
                    </a:lnTo>
                    <a:lnTo>
                      <a:pt x="18" y="57"/>
                    </a:lnTo>
                    <a:lnTo>
                      <a:pt x="26" y="68"/>
                    </a:lnTo>
                    <a:lnTo>
                      <a:pt x="35" y="76"/>
                    </a:lnTo>
                    <a:lnTo>
                      <a:pt x="45" y="81"/>
                    </a:lnTo>
                    <a:lnTo>
                      <a:pt x="53" y="82"/>
                    </a:lnTo>
                    <a:lnTo>
                      <a:pt x="54" y="66"/>
                    </a:lnTo>
                    <a:lnTo>
                      <a:pt x="47" y="47"/>
                    </a:lnTo>
                    <a:lnTo>
                      <a:pt x="38" y="28"/>
                    </a:lnTo>
                    <a:lnTo>
                      <a:pt x="28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1" name="Freeform 72"/>
              <p:cNvSpPr>
                <a:spLocks/>
              </p:cNvSpPr>
              <p:nvPr/>
            </p:nvSpPr>
            <p:spPr bwMode="auto">
              <a:xfrm>
                <a:off x="1373" y="2283"/>
                <a:ext cx="16" cy="24"/>
              </a:xfrm>
              <a:custGeom>
                <a:avLst/>
                <a:gdLst>
                  <a:gd name="T0" fmla="*/ 8 w 46"/>
                  <a:gd name="T1" fmla="*/ 3 h 47"/>
                  <a:gd name="T2" fmla="*/ 8 w 46"/>
                  <a:gd name="T3" fmla="*/ 4 h 47"/>
                  <a:gd name="T4" fmla="*/ 8 w 46"/>
                  <a:gd name="T5" fmla="*/ 4 h 47"/>
                  <a:gd name="T6" fmla="*/ 8 w 46"/>
                  <a:gd name="T7" fmla="*/ 4 h 47"/>
                  <a:gd name="T8" fmla="*/ 8 w 46"/>
                  <a:gd name="T9" fmla="*/ 4 h 47"/>
                  <a:gd name="T10" fmla="*/ 8 w 46"/>
                  <a:gd name="T11" fmla="*/ 2 h 47"/>
                  <a:gd name="T12" fmla="*/ 7 w 46"/>
                  <a:gd name="T13" fmla="*/ 1 h 47"/>
                  <a:gd name="T14" fmla="*/ 5 w 46"/>
                  <a:gd name="T15" fmla="*/ 0 h 47"/>
                  <a:gd name="T16" fmla="*/ 3 w 46"/>
                  <a:gd name="T17" fmla="*/ 0 h 47"/>
                  <a:gd name="T18" fmla="*/ 1 w 46"/>
                  <a:gd name="T19" fmla="*/ 1 h 47"/>
                  <a:gd name="T20" fmla="*/ 0 w 46"/>
                  <a:gd name="T21" fmla="*/ 2 h 47"/>
                  <a:gd name="T22" fmla="*/ 0 w 46"/>
                  <a:gd name="T23" fmla="*/ 4 h 47"/>
                  <a:gd name="T24" fmla="*/ 0 w 46"/>
                  <a:gd name="T25" fmla="*/ 5 h 47"/>
                  <a:gd name="T26" fmla="*/ 0 w 46"/>
                  <a:gd name="T27" fmla="*/ 8 h 47"/>
                  <a:gd name="T28" fmla="*/ 1 w 46"/>
                  <a:gd name="T29" fmla="*/ 11 h 47"/>
                  <a:gd name="T30" fmla="*/ 3 w 46"/>
                  <a:gd name="T31" fmla="*/ 14 h 47"/>
                  <a:gd name="T32" fmla="*/ 6 w 46"/>
                  <a:gd name="T33" fmla="*/ 17 h 47"/>
                  <a:gd name="T34" fmla="*/ 8 w 46"/>
                  <a:gd name="T35" fmla="*/ 20 h 47"/>
                  <a:gd name="T36" fmla="*/ 11 w 46"/>
                  <a:gd name="T37" fmla="*/ 22 h 47"/>
                  <a:gd name="T38" fmla="*/ 14 w 46"/>
                  <a:gd name="T39" fmla="*/ 24 h 47"/>
                  <a:gd name="T40" fmla="*/ 16 w 46"/>
                  <a:gd name="T41" fmla="*/ 24 h 47"/>
                  <a:gd name="T42" fmla="*/ 16 w 46"/>
                  <a:gd name="T43" fmla="*/ 19 h 47"/>
                  <a:gd name="T44" fmla="*/ 14 w 46"/>
                  <a:gd name="T45" fmla="*/ 13 h 47"/>
                  <a:gd name="T46" fmla="*/ 10 w 46"/>
                  <a:gd name="T47" fmla="*/ 7 h 47"/>
                  <a:gd name="T48" fmla="*/ 8 w 46"/>
                  <a:gd name="T49" fmla="*/ 3 h 4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46"/>
                  <a:gd name="T76" fmla="*/ 0 h 47"/>
                  <a:gd name="T77" fmla="*/ 46 w 46"/>
                  <a:gd name="T78" fmla="*/ 47 h 4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46" h="47">
                    <a:moveTo>
                      <a:pt x="24" y="6"/>
                    </a:moveTo>
                    <a:lnTo>
                      <a:pt x="24" y="7"/>
                    </a:lnTo>
                    <a:lnTo>
                      <a:pt x="23" y="4"/>
                    </a:lnTo>
                    <a:lnTo>
                      <a:pt x="19" y="1"/>
                    </a:lnTo>
                    <a:lnTo>
                      <a:pt x="14" y="0"/>
                    </a:lnTo>
                    <a:lnTo>
                      <a:pt x="8" y="0"/>
                    </a:lnTo>
                    <a:lnTo>
                      <a:pt x="4" y="1"/>
                    </a:lnTo>
                    <a:lnTo>
                      <a:pt x="1" y="4"/>
                    </a:lnTo>
                    <a:lnTo>
                      <a:pt x="0" y="7"/>
                    </a:lnTo>
                    <a:lnTo>
                      <a:pt x="0" y="10"/>
                    </a:lnTo>
                    <a:lnTo>
                      <a:pt x="1" y="15"/>
                    </a:lnTo>
                    <a:lnTo>
                      <a:pt x="4" y="21"/>
                    </a:lnTo>
                    <a:lnTo>
                      <a:pt x="10" y="28"/>
                    </a:lnTo>
                    <a:lnTo>
                      <a:pt x="17" y="34"/>
                    </a:lnTo>
                    <a:lnTo>
                      <a:pt x="24" y="40"/>
                    </a:lnTo>
                    <a:lnTo>
                      <a:pt x="33" y="44"/>
                    </a:lnTo>
                    <a:lnTo>
                      <a:pt x="40" y="47"/>
                    </a:lnTo>
                    <a:lnTo>
                      <a:pt x="46" y="47"/>
                    </a:lnTo>
                    <a:lnTo>
                      <a:pt x="45" y="37"/>
                    </a:lnTo>
                    <a:lnTo>
                      <a:pt x="39" y="25"/>
                    </a:lnTo>
                    <a:lnTo>
                      <a:pt x="30" y="14"/>
                    </a:lnTo>
                    <a:lnTo>
                      <a:pt x="24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2" name="Freeform 73"/>
              <p:cNvSpPr>
                <a:spLocks/>
              </p:cNvSpPr>
              <p:nvPr/>
            </p:nvSpPr>
            <p:spPr bwMode="auto">
              <a:xfrm>
                <a:off x="1360" y="2263"/>
                <a:ext cx="21" cy="16"/>
              </a:xfrm>
              <a:custGeom>
                <a:avLst/>
                <a:gdLst>
                  <a:gd name="T0" fmla="*/ 17 w 63"/>
                  <a:gd name="T1" fmla="*/ 12 h 31"/>
                  <a:gd name="T2" fmla="*/ 19 w 63"/>
                  <a:gd name="T3" fmla="*/ 11 h 31"/>
                  <a:gd name="T4" fmla="*/ 21 w 63"/>
                  <a:gd name="T5" fmla="*/ 9 h 31"/>
                  <a:gd name="T6" fmla="*/ 21 w 63"/>
                  <a:gd name="T7" fmla="*/ 7 h 31"/>
                  <a:gd name="T8" fmla="*/ 21 w 63"/>
                  <a:gd name="T9" fmla="*/ 5 h 31"/>
                  <a:gd name="T10" fmla="*/ 20 w 63"/>
                  <a:gd name="T11" fmla="*/ 3 h 31"/>
                  <a:gd name="T12" fmla="*/ 19 w 63"/>
                  <a:gd name="T13" fmla="*/ 1 h 31"/>
                  <a:gd name="T14" fmla="*/ 17 w 63"/>
                  <a:gd name="T15" fmla="*/ 0 h 31"/>
                  <a:gd name="T16" fmla="*/ 14 w 63"/>
                  <a:gd name="T17" fmla="*/ 0 h 31"/>
                  <a:gd name="T18" fmla="*/ 13 w 63"/>
                  <a:gd name="T19" fmla="*/ 0 h 31"/>
                  <a:gd name="T20" fmla="*/ 11 w 63"/>
                  <a:gd name="T21" fmla="*/ 1 h 31"/>
                  <a:gd name="T22" fmla="*/ 9 w 63"/>
                  <a:gd name="T23" fmla="*/ 2 h 31"/>
                  <a:gd name="T24" fmla="*/ 5 w 63"/>
                  <a:gd name="T25" fmla="*/ 4 h 31"/>
                  <a:gd name="T26" fmla="*/ 2 w 63"/>
                  <a:gd name="T27" fmla="*/ 7 h 31"/>
                  <a:gd name="T28" fmla="*/ 1 w 63"/>
                  <a:gd name="T29" fmla="*/ 10 h 31"/>
                  <a:gd name="T30" fmla="*/ 0 w 63"/>
                  <a:gd name="T31" fmla="*/ 13 h 31"/>
                  <a:gd name="T32" fmla="*/ 0 w 63"/>
                  <a:gd name="T33" fmla="*/ 14 h 31"/>
                  <a:gd name="T34" fmla="*/ 1 w 63"/>
                  <a:gd name="T35" fmla="*/ 15 h 31"/>
                  <a:gd name="T36" fmla="*/ 3 w 63"/>
                  <a:gd name="T37" fmla="*/ 16 h 31"/>
                  <a:gd name="T38" fmla="*/ 5 w 63"/>
                  <a:gd name="T39" fmla="*/ 16 h 31"/>
                  <a:gd name="T40" fmla="*/ 7 w 63"/>
                  <a:gd name="T41" fmla="*/ 16 h 31"/>
                  <a:gd name="T42" fmla="*/ 10 w 63"/>
                  <a:gd name="T43" fmla="*/ 15 h 31"/>
                  <a:gd name="T44" fmla="*/ 12 w 63"/>
                  <a:gd name="T45" fmla="*/ 14 h 31"/>
                  <a:gd name="T46" fmla="*/ 14 w 63"/>
                  <a:gd name="T47" fmla="*/ 13 h 31"/>
                  <a:gd name="T48" fmla="*/ 17 w 63"/>
                  <a:gd name="T49" fmla="*/ 12 h 3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31"/>
                  <a:gd name="T77" fmla="*/ 63 w 63"/>
                  <a:gd name="T78" fmla="*/ 31 h 3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31">
                    <a:moveTo>
                      <a:pt x="50" y="23"/>
                    </a:moveTo>
                    <a:lnTo>
                      <a:pt x="56" y="21"/>
                    </a:lnTo>
                    <a:lnTo>
                      <a:pt x="62" y="18"/>
                    </a:lnTo>
                    <a:lnTo>
                      <a:pt x="63" y="14"/>
                    </a:lnTo>
                    <a:lnTo>
                      <a:pt x="63" y="10"/>
                    </a:lnTo>
                    <a:lnTo>
                      <a:pt x="61" y="5"/>
                    </a:lnTo>
                    <a:lnTo>
                      <a:pt x="56" y="2"/>
                    </a:lnTo>
                    <a:lnTo>
                      <a:pt x="50" y="0"/>
                    </a:lnTo>
                    <a:lnTo>
                      <a:pt x="43" y="0"/>
                    </a:lnTo>
                    <a:lnTo>
                      <a:pt x="40" y="0"/>
                    </a:lnTo>
                    <a:lnTo>
                      <a:pt x="34" y="1"/>
                    </a:lnTo>
                    <a:lnTo>
                      <a:pt x="26" y="3"/>
                    </a:lnTo>
                    <a:lnTo>
                      <a:pt x="16" y="7"/>
                    </a:lnTo>
                    <a:lnTo>
                      <a:pt x="7" y="13"/>
                    </a:lnTo>
                    <a:lnTo>
                      <a:pt x="3" y="19"/>
                    </a:lnTo>
                    <a:lnTo>
                      <a:pt x="0" y="25"/>
                    </a:lnTo>
                    <a:lnTo>
                      <a:pt x="0" y="27"/>
                    </a:lnTo>
                    <a:lnTo>
                      <a:pt x="4" y="29"/>
                    </a:lnTo>
                    <a:lnTo>
                      <a:pt x="10" y="31"/>
                    </a:lnTo>
                    <a:lnTo>
                      <a:pt x="16" y="31"/>
                    </a:lnTo>
                    <a:lnTo>
                      <a:pt x="21" y="31"/>
                    </a:lnTo>
                    <a:lnTo>
                      <a:pt x="29" y="29"/>
                    </a:lnTo>
                    <a:lnTo>
                      <a:pt x="36" y="28"/>
                    </a:lnTo>
                    <a:lnTo>
                      <a:pt x="43" y="26"/>
                    </a:lnTo>
                    <a:lnTo>
                      <a:pt x="50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3" name="Freeform 74"/>
              <p:cNvSpPr>
                <a:spLocks/>
              </p:cNvSpPr>
              <p:nvPr/>
            </p:nvSpPr>
            <p:spPr bwMode="auto">
              <a:xfrm>
                <a:off x="1261" y="2237"/>
                <a:ext cx="81" cy="103"/>
              </a:xfrm>
              <a:custGeom>
                <a:avLst/>
                <a:gdLst>
                  <a:gd name="T0" fmla="*/ 30 w 245"/>
                  <a:gd name="T1" fmla="*/ 15 h 206"/>
                  <a:gd name="T2" fmla="*/ 24 w 245"/>
                  <a:gd name="T3" fmla="*/ 20 h 206"/>
                  <a:gd name="T4" fmla="*/ 19 w 245"/>
                  <a:gd name="T5" fmla="*/ 25 h 206"/>
                  <a:gd name="T6" fmla="*/ 13 w 245"/>
                  <a:gd name="T7" fmla="*/ 31 h 206"/>
                  <a:gd name="T8" fmla="*/ 9 w 245"/>
                  <a:gd name="T9" fmla="*/ 37 h 206"/>
                  <a:gd name="T10" fmla="*/ 6 w 245"/>
                  <a:gd name="T11" fmla="*/ 44 h 206"/>
                  <a:gd name="T12" fmla="*/ 3 w 245"/>
                  <a:gd name="T13" fmla="*/ 50 h 206"/>
                  <a:gd name="T14" fmla="*/ 1 w 245"/>
                  <a:gd name="T15" fmla="*/ 56 h 206"/>
                  <a:gd name="T16" fmla="*/ 0 w 245"/>
                  <a:gd name="T17" fmla="*/ 63 h 206"/>
                  <a:gd name="T18" fmla="*/ 1 w 245"/>
                  <a:gd name="T19" fmla="*/ 75 h 206"/>
                  <a:gd name="T20" fmla="*/ 5 w 245"/>
                  <a:gd name="T21" fmla="*/ 83 h 206"/>
                  <a:gd name="T22" fmla="*/ 11 w 245"/>
                  <a:gd name="T23" fmla="*/ 91 h 206"/>
                  <a:gd name="T24" fmla="*/ 18 w 245"/>
                  <a:gd name="T25" fmla="*/ 96 h 206"/>
                  <a:gd name="T26" fmla="*/ 26 w 245"/>
                  <a:gd name="T27" fmla="*/ 100 h 206"/>
                  <a:gd name="T28" fmla="*/ 36 w 245"/>
                  <a:gd name="T29" fmla="*/ 103 h 206"/>
                  <a:gd name="T30" fmla="*/ 45 w 245"/>
                  <a:gd name="T31" fmla="*/ 103 h 206"/>
                  <a:gd name="T32" fmla="*/ 54 w 245"/>
                  <a:gd name="T33" fmla="*/ 102 h 206"/>
                  <a:gd name="T34" fmla="*/ 56 w 245"/>
                  <a:gd name="T35" fmla="*/ 102 h 206"/>
                  <a:gd name="T36" fmla="*/ 58 w 245"/>
                  <a:gd name="T37" fmla="*/ 101 h 206"/>
                  <a:gd name="T38" fmla="*/ 60 w 245"/>
                  <a:gd name="T39" fmla="*/ 99 h 206"/>
                  <a:gd name="T40" fmla="*/ 60 w 245"/>
                  <a:gd name="T41" fmla="*/ 97 h 206"/>
                  <a:gd name="T42" fmla="*/ 60 w 245"/>
                  <a:gd name="T43" fmla="*/ 96 h 206"/>
                  <a:gd name="T44" fmla="*/ 58 w 245"/>
                  <a:gd name="T45" fmla="*/ 96 h 206"/>
                  <a:gd name="T46" fmla="*/ 56 w 245"/>
                  <a:gd name="T47" fmla="*/ 95 h 206"/>
                  <a:gd name="T48" fmla="*/ 54 w 245"/>
                  <a:gd name="T49" fmla="*/ 95 h 206"/>
                  <a:gd name="T50" fmla="*/ 51 w 245"/>
                  <a:gd name="T51" fmla="*/ 95 h 206"/>
                  <a:gd name="T52" fmla="*/ 48 w 245"/>
                  <a:gd name="T53" fmla="*/ 95 h 206"/>
                  <a:gd name="T54" fmla="*/ 46 w 245"/>
                  <a:gd name="T55" fmla="*/ 95 h 206"/>
                  <a:gd name="T56" fmla="*/ 45 w 245"/>
                  <a:gd name="T57" fmla="*/ 95 h 206"/>
                  <a:gd name="T58" fmla="*/ 40 w 245"/>
                  <a:gd name="T59" fmla="*/ 95 h 206"/>
                  <a:gd name="T60" fmla="*/ 35 w 245"/>
                  <a:gd name="T61" fmla="*/ 94 h 206"/>
                  <a:gd name="T62" fmla="*/ 31 w 245"/>
                  <a:gd name="T63" fmla="*/ 94 h 206"/>
                  <a:gd name="T64" fmla="*/ 26 w 245"/>
                  <a:gd name="T65" fmla="*/ 92 h 206"/>
                  <a:gd name="T66" fmla="*/ 21 w 245"/>
                  <a:gd name="T67" fmla="*/ 91 h 206"/>
                  <a:gd name="T68" fmla="*/ 16 w 245"/>
                  <a:gd name="T69" fmla="*/ 87 h 206"/>
                  <a:gd name="T70" fmla="*/ 12 w 245"/>
                  <a:gd name="T71" fmla="*/ 83 h 206"/>
                  <a:gd name="T72" fmla="*/ 7 w 245"/>
                  <a:gd name="T73" fmla="*/ 76 h 206"/>
                  <a:gd name="T74" fmla="*/ 6 w 245"/>
                  <a:gd name="T75" fmla="*/ 68 h 206"/>
                  <a:gd name="T76" fmla="*/ 7 w 245"/>
                  <a:gd name="T77" fmla="*/ 61 h 206"/>
                  <a:gd name="T78" fmla="*/ 9 w 245"/>
                  <a:gd name="T79" fmla="*/ 54 h 206"/>
                  <a:gd name="T80" fmla="*/ 12 w 245"/>
                  <a:gd name="T81" fmla="*/ 48 h 206"/>
                  <a:gd name="T82" fmla="*/ 16 w 245"/>
                  <a:gd name="T83" fmla="*/ 42 h 206"/>
                  <a:gd name="T84" fmla="*/ 20 w 245"/>
                  <a:gd name="T85" fmla="*/ 36 h 206"/>
                  <a:gd name="T86" fmla="*/ 26 w 245"/>
                  <a:gd name="T87" fmla="*/ 30 h 206"/>
                  <a:gd name="T88" fmla="*/ 32 w 245"/>
                  <a:gd name="T89" fmla="*/ 26 h 206"/>
                  <a:gd name="T90" fmla="*/ 38 w 245"/>
                  <a:gd name="T91" fmla="*/ 21 h 206"/>
                  <a:gd name="T92" fmla="*/ 45 w 245"/>
                  <a:gd name="T93" fmla="*/ 17 h 206"/>
                  <a:gd name="T94" fmla="*/ 52 w 245"/>
                  <a:gd name="T95" fmla="*/ 13 h 206"/>
                  <a:gd name="T96" fmla="*/ 58 w 245"/>
                  <a:gd name="T97" fmla="*/ 11 h 206"/>
                  <a:gd name="T98" fmla="*/ 65 w 245"/>
                  <a:gd name="T99" fmla="*/ 8 h 206"/>
                  <a:gd name="T100" fmla="*/ 70 w 245"/>
                  <a:gd name="T101" fmla="*/ 6 h 206"/>
                  <a:gd name="T102" fmla="*/ 76 w 245"/>
                  <a:gd name="T103" fmla="*/ 4 h 206"/>
                  <a:gd name="T104" fmla="*/ 81 w 245"/>
                  <a:gd name="T105" fmla="*/ 3 h 206"/>
                  <a:gd name="T106" fmla="*/ 78 w 245"/>
                  <a:gd name="T107" fmla="*/ 1 h 206"/>
                  <a:gd name="T108" fmla="*/ 72 w 245"/>
                  <a:gd name="T109" fmla="*/ 0 h 206"/>
                  <a:gd name="T110" fmla="*/ 66 w 245"/>
                  <a:gd name="T111" fmla="*/ 1 h 206"/>
                  <a:gd name="T112" fmla="*/ 59 w 245"/>
                  <a:gd name="T113" fmla="*/ 3 h 206"/>
                  <a:gd name="T114" fmla="*/ 51 w 245"/>
                  <a:gd name="T115" fmla="*/ 5 h 206"/>
                  <a:gd name="T116" fmla="*/ 43 w 245"/>
                  <a:gd name="T117" fmla="*/ 8 h 206"/>
                  <a:gd name="T118" fmla="*/ 36 w 245"/>
                  <a:gd name="T119" fmla="*/ 12 h 206"/>
                  <a:gd name="T120" fmla="*/ 30 w 245"/>
                  <a:gd name="T121" fmla="*/ 15 h 20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245"/>
                  <a:gd name="T184" fmla="*/ 0 h 206"/>
                  <a:gd name="T185" fmla="*/ 245 w 245"/>
                  <a:gd name="T186" fmla="*/ 206 h 20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245" h="206">
                    <a:moveTo>
                      <a:pt x="90" y="31"/>
                    </a:moveTo>
                    <a:lnTo>
                      <a:pt x="72" y="40"/>
                    </a:lnTo>
                    <a:lnTo>
                      <a:pt x="56" y="50"/>
                    </a:lnTo>
                    <a:lnTo>
                      <a:pt x="40" y="62"/>
                    </a:lnTo>
                    <a:lnTo>
                      <a:pt x="27" y="74"/>
                    </a:lnTo>
                    <a:lnTo>
                      <a:pt x="17" y="87"/>
                    </a:lnTo>
                    <a:lnTo>
                      <a:pt x="8" y="100"/>
                    </a:lnTo>
                    <a:lnTo>
                      <a:pt x="3" y="113"/>
                    </a:lnTo>
                    <a:lnTo>
                      <a:pt x="0" y="127"/>
                    </a:lnTo>
                    <a:lnTo>
                      <a:pt x="3" y="149"/>
                    </a:lnTo>
                    <a:lnTo>
                      <a:pt x="14" y="166"/>
                    </a:lnTo>
                    <a:lnTo>
                      <a:pt x="32" y="181"/>
                    </a:lnTo>
                    <a:lnTo>
                      <a:pt x="53" y="192"/>
                    </a:lnTo>
                    <a:lnTo>
                      <a:pt x="80" y="200"/>
                    </a:lnTo>
                    <a:lnTo>
                      <a:pt x="109" y="205"/>
                    </a:lnTo>
                    <a:lnTo>
                      <a:pt x="136" y="206"/>
                    </a:lnTo>
                    <a:lnTo>
                      <a:pt x="164" y="203"/>
                    </a:lnTo>
                    <a:lnTo>
                      <a:pt x="169" y="203"/>
                    </a:lnTo>
                    <a:lnTo>
                      <a:pt x="175" y="201"/>
                    </a:lnTo>
                    <a:lnTo>
                      <a:pt x="180" y="197"/>
                    </a:lnTo>
                    <a:lnTo>
                      <a:pt x="181" y="193"/>
                    </a:lnTo>
                    <a:lnTo>
                      <a:pt x="180" y="191"/>
                    </a:lnTo>
                    <a:lnTo>
                      <a:pt x="175" y="191"/>
                    </a:lnTo>
                    <a:lnTo>
                      <a:pt x="169" y="190"/>
                    </a:lnTo>
                    <a:lnTo>
                      <a:pt x="162" y="190"/>
                    </a:lnTo>
                    <a:lnTo>
                      <a:pt x="154" y="190"/>
                    </a:lnTo>
                    <a:lnTo>
                      <a:pt x="146" y="190"/>
                    </a:lnTo>
                    <a:lnTo>
                      <a:pt x="139" y="190"/>
                    </a:lnTo>
                    <a:lnTo>
                      <a:pt x="135" y="190"/>
                    </a:lnTo>
                    <a:lnTo>
                      <a:pt x="120" y="189"/>
                    </a:lnTo>
                    <a:lnTo>
                      <a:pt x="107" y="188"/>
                    </a:lnTo>
                    <a:lnTo>
                      <a:pt x="93" y="187"/>
                    </a:lnTo>
                    <a:lnTo>
                      <a:pt x="78" y="184"/>
                    </a:lnTo>
                    <a:lnTo>
                      <a:pt x="64" y="181"/>
                    </a:lnTo>
                    <a:lnTo>
                      <a:pt x="49" y="174"/>
                    </a:lnTo>
                    <a:lnTo>
                      <a:pt x="36" y="165"/>
                    </a:lnTo>
                    <a:lnTo>
                      <a:pt x="22" y="152"/>
                    </a:lnTo>
                    <a:lnTo>
                      <a:pt x="19" y="136"/>
                    </a:lnTo>
                    <a:lnTo>
                      <a:pt x="20" y="122"/>
                    </a:lnTo>
                    <a:lnTo>
                      <a:pt x="26" y="108"/>
                    </a:lnTo>
                    <a:lnTo>
                      <a:pt x="35" y="95"/>
                    </a:lnTo>
                    <a:lnTo>
                      <a:pt x="48" y="83"/>
                    </a:lnTo>
                    <a:lnTo>
                      <a:pt x="62" y="71"/>
                    </a:lnTo>
                    <a:lnTo>
                      <a:pt x="78" y="61"/>
                    </a:lnTo>
                    <a:lnTo>
                      <a:pt x="97" y="51"/>
                    </a:lnTo>
                    <a:lnTo>
                      <a:pt x="116" y="42"/>
                    </a:lnTo>
                    <a:lnTo>
                      <a:pt x="136" y="34"/>
                    </a:lnTo>
                    <a:lnTo>
                      <a:pt x="156" y="27"/>
                    </a:lnTo>
                    <a:lnTo>
                      <a:pt x="175" y="21"/>
                    </a:lnTo>
                    <a:lnTo>
                      <a:pt x="196" y="16"/>
                    </a:lnTo>
                    <a:lnTo>
                      <a:pt x="213" y="11"/>
                    </a:lnTo>
                    <a:lnTo>
                      <a:pt x="230" y="8"/>
                    </a:lnTo>
                    <a:lnTo>
                      <a:pt x="245" y="6"/>
                    </a:lnTo>
                    <a:lnTo>
                      <a:pt x="235" y="2"/>
                    </a:lnTo>
                    <a:lnTo>
                      <a:pt x="219" y="0"/>
                    </a:lnTo>
                    <a:lnTo>
                      <a:pt x="200" y="2"/>
                    </a:lnTo>
                    <a:lnTo>
                      <a:pt x="178" y="5"/>
                    </a:lnTo>
                    <a:lnTo>
                      <a:pt x="154" y="10"/>
                    </a:lnTo>
                    <a:lnTo>
                      <a:pt x="130" y="16"/>
                    </a:lnTo>
                    <a:lnTo>
                      <a:pt x="109" y="24"/>
                    </a:lnTo>
                    <a:lnTo>
                      <a:pt x="90" y="31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4" name="Freeform 75"/>
              <p:cNvSpPr>
                <a:spLocks/>
              </p:cNvSpPr>
              <p:nvPr/>
            </p:nvSpPr>
            <p:spPr bwMode="auto">
              <a:xfrm>
                <a:off x="1401" y="2236"/>
                <a:ext cx="53" cy="80"/>
              </a:xfrm>
              <a:custGeom>
                <a:avLst/>
                <a:gdLst>
                  <a:gd name="T0" fmla="*/ 45 w 159"/>
                  <a:gd name="T1" fmla="*/ 26 h 160"/>
                  <a:gd name="T2" fmla="*/ 46 w 159"/>
                  <a:gd name="T3" fmla="*/ 35 h 160"/>
                  <a:gd name="T4" fmla="*/ 45 w 159"/>
                  <a:gd name="T5" fmla="*/ 42 h 160"/>
                  <a:gd name="T6" fmla="*/ 42 w 159"/>
                  <a:gd name="T7" fmla="*/ 48 h 160"/>
                  <a:gd name="T8" fmla="*/ 37 w 159"/>
                  <a:gd name="T9" fmla="*/ 53 h 160"/>
                  <a:gd name="T10" fmla="*/ 31 w 159"/>
                  <a:gd name="T11" fmla="*/ 58 h 160"/>
                  <a:gd name="T12" fmla="*/ 25 w 159"/>
                  <a:gd name="T13" fmla="*/ 63 h 160"/>
                  <a:gd name="T14" fmla="*/ 18 w 159"/>
                  <a:gd name="T15" fmla="*/ 68 h 160"/>
                  <a:gd name="T16" fmla="*/ 12 w 159"/>
                  <a:gd name="T17" fmla="*/ 73 h 160"/>
                  <a:gd name="T18" fmla="*/ 11 w 159"/>
                  <a:gd name="T19" fmla="*/ 75 h 160"/>
                  <a:gd name="T20" fmla="*/ 11 w 159"/>
                  <a:gd name="T21" fmla="*/ 76 h 160"/>
                  <a:gd name="T22" fmla="*/ 11 w 159"/>
                  <a:gd name="T23" fmla="*/ 77 h 160"/>
                  <a:gd name="T24" fmla="*/ 12 w 159"/>
                  <a:gd name="T25" fmla="*/ 79 h 160"/>
                  <a:gd name="T26" fmla="*/ 13 w 159"/>
                  <a:gd name="T27" fmla="*/ 80 h 160"/>
                  <a:gd name="T28" fmla="*/ 14 w 159"/>
                  <a:gd name="T29" fmla="*/ 80 h 160"/>
                  <a:gd name="T30" fmla="*/ 16 w 159"/>
                  <a:gd name="T31" fmla="*/ 80 h 160"/>
                  <a:gd name="T32" fmla="*/ 17 w 159"/>
                  <a:gd name="T33" fmla="*/ 80 h 160"/>
                  <a:gd name="T34" fmla="*/ 24 w 159"/>
                  <a:gd name="T35" fmla="*/ 75 h 160"/>
                  <a:gd name="T36" fmla="*/ 32 w 159"/>
                  <a:gd name="T37" fmla="*/ 70 h 160"/>
                  <a:gd name="T38" fmla="*/ 38 w 159"/>
                  <a:gd name="T39" fmla="*/ 64 h 160"/>
                  <a:gd name="T40" fmla="*/ 45 w 159"/>
                  <a:gd name="T41" fmla="*/ 57 h 160"/>
                  <a:gd name="T42" fmla="*/ 49 w 159"/>
                  <a:gd name="T43" fmla="*/ 50 h 160"/>
                  <a:gd name="T44" fmla="*/ 52 w 159"/>
                  <a:gd name="T45" fmla="*/ 42 h 160"/>
                  <a:gd name="T46" fmla="*/ 53 w 159"/>
                  <a:gd name="T47" fmla="*/ 34 h 160"/>
                  <a:gd name="T48" fmla="*/ 51 w 159"/>
                  <a:gd name="T49" fmla="*/ 25 h 160"/>
                  <a:gd name="T50" fmla="*/ 47 w 159"/>
                  <a:gd name="T51" fmla="*/ 18 h 160"/>
                  <a:gd name="T52" fmla="*/ 41 w 159"/>
                  <a:gd name="T53" fmla="*/ 12 h 160"/>
                  <a:gd name="T54" fmla="*/ 33 w 159"/>
                  <a:gd name="T55" fmla="*/ 7 h 160"/>
                  <a:gd name="T56" fmla="*/ 25 w 159"/>
                  <a:gd name="T57" fmla="*/ 3 h 160"/>
                  <a:gd name="T58" fmla="*/ 17 w 159"/>
                  <a:gd name="T59" fmla="*/ 1 h 160"/>
                  <a:gd name="T60" fmla="*/ 10 w 159"/>
                  <a:gd name="T61" fmla="*/ 0 h 160"/>
                  <a:gd name="T62" fmla="*/ 4 w 159"/>
                  <a:gd name="T63" fmla="*/ 1 h 160"/>
                  <a:gd name="T64" fmla="*/ 0 w 159"/>
                  <a:gd name="T65" fmla="*/ 3 h 160"/>
                  <a:gd name="T66" fmla="*/ 7 w 159"/>
                  <a:gd name="T67" fmla="*/ 5 h 160"/>
                  <a:gd name="T68" fmla="*/ 14 w 159"/>
                  <a:gd name="T69" fmla="*/ 6 h 160"/>
                  <a:gd name="T70" fmla="*/ 20 w 159"/>
                  <a:gd name="T71" fmla="*/ 7 h 160"/>
                  <a:gd name="T72" fmla="*/ 26 w 159"/>
                  <a:gd name="T73" fmla="*/ 10 h 160"/>
                  <a:gd name="T74" fmla="*/ 32 w 159"/>
                  <a:gd name="T75" fmla="*/ 12 h 160"/>
                  <a:gd name="T76" fmla="*/ 37 w 159"/>
                  <a:gd name="T77" fmla="*/ 15 h 160"/>
                  <a:gd name="T78" fmla="*/ 42 w 159"/>
                  <a:gd name="T79" fmla="*/ 20 h 160"/>
                  <a:gd name="T80" fmla="*/ 45 w 159"/>
                  <a:gd name="T81" fmla="*/ 26 h 160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59"/>
                  <a:gd name="T124" fmla="*/ 0 h 160"/>
                  <a:gd name="T125" fmla="*/ 159 w 159"/>
                  <a:gd name="T126" fmla="*/ 160 h 160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59" h="160">
                    <a:moveTo>
                      <a:pt x="134" y="53"/>
                    </a:moveTo>
                    <a:lnTo>
                      <a:pt x="138" y="70"/>
                    </a:lnTo>
                    <a:lnTo>
                      <a:pt x="135" y="84"/>
                    </a:lnTo>
                    <a:lnTo>
                      <a:pt x="125" y="96"/>
                    </a:lnTo>
                    <a:lnTo>
                      <a:pt x="111" y="107"/>
                    </a:lnTo>
                    <a:lnTo>
                      <a:pt x="93" y="117"/>
                    </a:lnTo>
                    <a:lnTo>
                      <a:pt x="74" y="126"/>
                    </a:lnTo>
                    <a:lnTo>
                      <a:pt x="54" y="136"/>
                    </a:lnTo>
                    <a:lnTo>
                      <a:pt x="37" y="146"/>
                    </a:lnTo>
                    <a:lnTo>
                      <a:pt x="34" y="149"/>
                    </a:lnTo>
                    <a:lnTo>
                      <a:pt x="32" y="151"/>
                    </a:lnTo>
                    <a:lnTo>
                      <a:pt x="32" y="154"/>
                    </a:lnTo>
                    <a:lnTo>
                      <a:pt x="35" y="157"/>
                    </a:lnTo>
                    <a:lnTo>
                      <a:pt x="38" y="159"/>
                    </a:lnTo>
                    <a:lnTo>
                      <a:pt x="43" y="160"/>
                    </a:lnTo>
                    <a:lnTo>
                      <a:pt x="47" y="160"/>
                    </a:lnTo>
                    <a:lnTo>
                      <a:pt x="51" y="159"/>
                    </a:lnTo>
                    <a:lnTo>
                      <a:pt x="73" y="150"/>
                    </a:lnTo>
                    <a:lnTo>
                      <a:pt x="95" y="139"/>
                    </a:lnTo>
                    <a:lnTo>
                      <a:pt x="115" y="128"/>
                    </a:lnTo>
                    <a:lnTo>
                      <a:pt x="134" y="115"/>
                    </a:lnTo>
                    <a:lnTo>
                      <a:pt x="147" y="101"/>
                    </a:lnTo>
                    <a:lnTo>
                      <a:pt x="156" y="85"/>
                    </a:lnTo>
                    <a:lnTo>
                      <a:pt x="159" y="68"/>
                    </a:lnTo>
                    <a:lnTo>
                      <a:pt x="153" y="50"/>
                    </a:lnTo>
                    <a:lnTo>
                      <a:pt x="140" y="36"/>
                    </a:lnTo>
                    <a:lnTo>
                      <a:pt x="122" y="24"/>
                    </a:lnTo>
                    <a:lnTo>
                      <a:pt x="99" y="14"/>
                    </a:lnTo>
                    <a:lnTo>
                      <a:pt x="76" y="7"/>
                    </a:lnTo>
                    <a:lnTo>
                      <a:pt x="51" y="2"/>
                    </a:lnTo>
                    <a:lnTo>
                      <a:pt x="29" y="0"/>
                    </a:lnTo>
                    <a:lnTo>
                      <a:pt x="12" y="1"/>
                    </a:lnTo>
                    <a:lnTo>
                      <a:pt x="0" y="5"/>
                    </a:lnTo>
                    <a:lnTo>
                      <a:pt x="21" y="9"/>
                    </a:lnTo>
                    <a:lnTo>
                      <a:pt x="41" y="12"/>
                    </a:lnTo>
                    <a:lnTo>
                      <a:pt x="60" y="15"/>
                    </a:lnTo>
                    <a:lnTo>
                      <a:pt x="79" y="19"/>
                    </a:lnTo>
                    <a:lnTo>
                      <a:pt x="96" y="24"/>
                    </a:lnTo>
                    <a:lnTo>
                      <a:pt x="112" y="31"/>
                    </a:lnTo>
                    <a:lnTo>
                      <a:pt x="125" y="40"/>
                    </a:lnTo>
                    <a:lnTo>
                      <a:pt x="134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5" name="Freeform 76"/>
              <p:cNvSpPr>
                <a:spLocks/>
              </p:cNvSpPr>
              <p:nvPr/>
            </p:nvSpPr>
            <p:spPr bwMode="auto">
              <a:xfrm>
                <a:off x="1208" y="2218"/>
                <a:ext cx="133" cy="166"/>
              </a:xfrm>
              <a:custGeom>
                <a:avLst/>
                <a:gdLst>
                  <a:gd name="T0" fmla="*/ 42 w 399"/>
                  <a:gd name="T1" fmla="*/ 31 h 332"/>
                  <a:gd name="T2" fmla="*/ 22 w 399"/>
                  <a:gd name="T3" fmla="*/ 50 h 332"/>
                  <a:gd name="T4" fmla="*/ 7 w 399"/>
                  <a:gd name="T5" fmla="*/ 74 h 332"/>
                  <a:gd name="T6" fmla="*/ 0 w 399"/>
                  <a:gd name="T7" fmla="*/ 100 h 332"/>
                  <a:gd name="T8" fmla="*/ 1 w 399"/>
                  <a:gd name="T9" fmla="*/ 117 h 332"/>
                  <a:gd name="T10" fmla="*/ 4 w 399"/>
                  <a:gd name="T11" fmla="*/ 124 h 332"/>
                  <a:gd name="T12" fmla="*/ 9 w 399"/>
                  <a:gd name="T13" fmla="*/ 131 h 332"/>
                  <a:gd name="T14" fmla="*/ 14 w 399"/>
                  <a:gd name="T15" fmla="*/ 137 h 332"/>
                  <a:gd name="T16" fmla="*/ 23 w 399"/>
                  <a:gd name="T17" fmla="*/ 143 h 332"/>
                  <a:gd name="T18" fmla="*/ 36 w 399"/>
                  <a:gd name="T19" fmla="*/ 149 h 332"/>
                  <a:gd name="T20" fmla="*/ 49 w 399"/>
                  <a:gd name="T21" fmla="*/ 154 h 332"/>
                  <a:gd name="T22" fmla="*/ 63 w 399"/>
                  <a:gd name="T23" fmla="*/ 158 h 332"/>
                  <a:gd name="T24" fmla="*/ 77 w 399"/>
                  <a:gd name="T25" fmla="*/ 161 h 332"/>
                  <a:gd name="T26" fmla="*/ 91 w 399"/>
                  <a:gd name="T27" fmla="*/ 163 h 332"/>
                  <a:gd name="T28" fmla="*/ 105 w 399"/>
                  <a:gd name="T29" fmla="*/ 165 h 332"/>
                  <a:gd name="T30" fmla="*/ 119 w 399"/>
                  <a:gd name="T31" fmla="*/ 166 h 332"/>
                  <a:gd name="T32" fmla="*/ 129 w 399"/>
                  <a:gd name="T33" fmla="*/ 166 h 332"/>
                  <a:gd name="T34" fmla="*/ 132 w 399"/>
                  <a:gd name="T35" fmla="*/ 163 h 332"/>
                  <a:gd name="T36" fmla="*/ 133 w 399"/>
                  <a:gd name="T37" fmla="*/ 158 h 332"/>
                  <a:gd name="T38" fmla="*/ 130 w 399"/>
                  <a:gd name="T39" fmla="*/ 155 h 332"/>
                  <a:gd name="T40" fmla="*/ 121 w 399"/>
                  <a:gd name="T41" fmla="*/ 154 h 332"/>
                  <a:gd name="T42" fmla="*/ 108 w 399"/>
                  <a:gd name="T43" fmla="*/ 154 h 332"/>
                  <a:gd name="T44" fmla="*/ 95 w 399"/>
                  <a:gd name="T45" fmla="*/ 153 h 332"/>
                  <a:gd name="T46" fmla="*/ 82 w 399"/>
                  <a:gd name="T47" fmla="*/ 151 h 332"/>
                  <a:gd name="T48" fmla="*/ 69 w 399"/>
                  <a:gd name="T49" fmla="*/ 148 h 332"/>
                  <a:gd name="T50" fmla="*/ 56 w 399"/>
                  <a:gd name="T51" fmla="*/ 145 h 332"/>
                  <a:gd name="T52" fmla="*/ 44 w 399"/>
                  <a:gd name="T53" fmla="*/ 141 h 332"/>
                  <a:gd name="T54" fmla="*/ 31 w 399"/>
                  <a:gd name="T55" fmla="*/ 135 h 332"/>
                  <a:gd name="T56" fmla="*/ 21 w 399"/>
                  <a:gd name="T57" fmla="*/ 128 h 332"/>
                  <a:gd name="T58" fmla="*/ 15 w 399"/>
                  <a:gd name="T59" fmla="*/ 118 h 332"/>
                  <a:gd name="T60" fmla="*/ 13 w 399"/>
                  <a:gd name="T61" fmla="*/ 105 h 332"/>
                  <a:gd name="T62" fmla="*/ 15 w 399"/>
                  <a:gd name="T63" fmla="*/ 86 h 332"/>
                  <a:gd name="T64" fmla="*/ 21 w 399"/>
                  <a:gd name="T65" fmla="*/ 73 h 332"/>
                  <a:gd name="T66" fmla="*/ 28 w 399"/>
                  <a:gd name="T67" fmla="*/ 60 h 332"/>
                  <a:gd name="T68" fmla="*/ 37 w 399"/>
                  <a:gd name="T69" fmla="*/ 49 h 332"/>
                  <a:gd name="T70" fmla="*/ 47 w 399"/>
                  <a:gd name="T71" fmla="*/ 39 h 332"/>
                  <a:gd name="T72" fmla="*/ 60 w 399"/>
                  <a:gd name="T73" fmla="*/ 28 h 332"/>
                  <a:gd name="T74" fmla="*/ 74 w 399"/>
                  <a:gd name="T75" fmla="*/ 19 h 332"/>
                  <a:gd name="T76" fmla="*/ 90 w 399"/>
                  <a:gd name="T77" fmla="*/ 10 h 332"/>
                  <a:gd name="T78" fmla="*/ 104 w 399"/>
                  <a:gd name="T79" fmla="*/ 3 h 332"/>
                  <a:gd name="T80" fmla="*/ 105 w 399"/>
                  <a:gd name="T81" fmla="*/ 0 h 332"/>
                  <a:gd name="T82" fmla="*/ 91 w 399"/>
                  <a:gd name="T83" fmla="*/ 3 h 332"/>
                  <a:gd name="T84" fmla="*/ 74 w 399"/>
                  <a:gd name="T85" fmla="*/ 9 h 332"/>
                  <a:gd name="T86" fmla="*/ 59 w 399"/>
                  <a:gd name="T87" fmla="*/ 18 h 33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399"/>
                  <a:gd name="T133" fmla="*/ 0 h 332"/>
                  <a:gd name="T134" fmla="*/ 399 w 399"/>
                  <a:gd name="T135" fmla="*/ 332 h 33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399" h="332">
                    <a:moveTo>
                      <a:pt x="155" y="45"/>
                    </a:moveTo>
                    <a:lnTo>
                      <a:pt x="125" y="62"/>
                    </a:lnTo>
                    <a:lnTo>
                      <a:pt x="94" y="81"/>
                    </a:lnTo>
                    <a:lnTo>
                      <a:pt x="67" y="101"/>
                    </a:lnTo>
                    <a:lnTo>
                      <a:pt x="42" y="123"/>
                    </a:lnTo>
                    <a:lnTo>
                      <a:pt x="22" y="147"/>
                    </a:lnTo>
                    <a:lnTo>
                      <a:pt x="7" y="172"/>
                    </a:lnTo>
                    <a:lnTo>
                      <a:pt x="0" y="200"/>
                    </a:lnTo>
                    <a:lnTo>
                      <a:pt x="2" y="228"/>
                    </a:lnTo>
                    <a:lnTo>
                      <a:pt x="4" y="235"/>
                    </a:lnTo>
                    <a:lnTo>
                      <a:pt x="9" y="243"/>
                    </a:lnTo>
                    <a:lnTo>
                      <a:pt x="13" y="249"/>
                    </a:lnTo>
                    <a:lnTo>
                      <a:pt x="19" y="256"/>
                    </a:lnTo>
                    <a:lnTo>
                      <a:pt x="26" y="262"/>
                    </a:lnTo>
                    <a:lnTo>
                      <a:pt x="33" y="268"/>
                    </a:lnTo>
                    <a:lnTo>
                      <a:pt x="42" y="273"/>
                    </a:lnTo>
                    <a:lnTo>
                      <a:pt x="51" y="277"/>
                    </a:lnTo>
                    <a:lnTo>
                      <a:pt x="70" y="285"/>
                    </a:lnTo>
                    <a:lnTo>
                      <a:pt x="89" y="292"/>
                    </a:lnTo>
                    <a:lnTo>
                      <a:pt x="107" y="298"/>
                    </a:lnTo>
                    <a:lnTo>
                      <a:pt x="128" y="303"/>
                    </a:lnTo>
                    <a:lnTo>
                      <a:pt x="148" y="308"/>
                    </a:lnTo>
                    <a:lnTo>
                      <a:pt x="168" y="312"/>
                    </a:lnTo>
                    <a:lnTo>
                      <a:pt x="189" y="316"/>
                    </a:lnTo>
                    <a:lnTo>
                      <a:pt x="209" y="319"/>
                    </a:lnTo>
                    <a:lnTo>
                      <a:pt x="231" y="322"/>
                    </a:lnTo>
                    <a:lnTo>
                      <a:pt x="253" y="324"/>
                    </a:lnTo>
                    <a:lnTo>
                      <a:pt x="273" y="326"/>
                    </a:lnTo>
                    <a:lnTo>
                      <a:pt x="295" y="328"/>
                    </a:lnTo>
                    <a:lnTo>
                      <a:pt x="316" y="329"/>
                    </a:lnTo>
                    <a:lnTo>
                      <a:pt x="338" y="330"/>
                    </a:lnTo>
                    <a:lnTo>
                      <a:pt x="358" y="331"/>
                    </a:lnTo>
                    <a:lnTo>
                      <a:pt x="380" y="332"/>
                    </a:lnTo>
                    <a:lnTo>
                      <a:pt x="386" y="332"/>
                    </a:lnTo>
                    <a:lnTo>
                      <a:pt x="392" y="329"/>
                    </a:lnTo>
                    <a:lnTo>
                      <a:pt x="396" y="326"/>
                    </a:lnTo>
                    <a:lnTo>
                      <a:pt x="399" y="321"/>
                    </a:lnTo>
                    <a:lnTo>
                      <a:pt x="399" y="316"/>
                    </a:lnTo>
                    <a:lnTo>
                      <a:pt x="396" y="312"/>
                    </a:lnTo>
                    <a:lnTo>
                      <a:pt x="390" y="309"/>
                    </a:lnTo>
                    <a:lnTo>
                      <a:pt x="385" y="308"/>
                    </a:lnTo>
                    <a:lnTo>
                      <a:pt x="364" y="308"/>
                    </a:lnTo>
                    <a:lnTo>
                      <a:pt x="345" y="308"/>
                    </a:lnTo>
                    <a:lnTo>
                      <a:pt x="325" y="307"/>
                    </a:lnTo>
                    <a:lnTo>
                      <a:pt x="306" y="306"/>
                    </a:lnTo>
                    <a:lnTo>
                      <a:pt x="286" y="305"/>
                    </a:lnTo>
                    <a:lnTo>
                      <a:pt x="266" y="303"/>
                    </a:lnTo>
                    <a:lnTo>
                      <a:pt x="247" y="301"/>
                    </a:lnTo>
                    <a:lnTo>
                      <a:pt x="226" y="299"/>
                    </a:lnTo>
                    <a:lnTo>
                      <a:pt x="208" y="296"/>
                    </a:lnTo>
                    <a:lnTo>
                      <a:pt x="187" y="293"/>
                    </a:lnTo>
                    <a:lnTo>
                      <a:pt x="168" y="289"/>
                    </a:lnTo>
                    <a:lnTo>
                      <a:pt x="150" y="285"/>
                    </a:lnTo>
                    <a:lnTo>
                      <a:pt x="131" y="281"/>
                    </a:lnTo>
                    <a:lnTo>
                      <a:pt x="113" y="275"/>
                    </a:lnTo>
                    <a:lnTo>
                      <a:pt x="94" y="269"/>
                    </a:lnTo>
                    <a:lnTo>
                      <a:pt x="77" y="263"/>
                    </a:lnTo>
                    <a:lnTo>
                      <a:pt x="62" y="256"/>
                    </a:lnTo>
                    <a:lnTo>
                      <a:pt x="51" y="246"/>
                    </a:lnTo>
                    <a:lnTo>
                      <a:pt x="44" y="236"/>
                    </a:lnTo>
                    <a:lnTo>
                      <a:pt x="38" y="224"/>
                    </a:lnTo>
                    <a:lnTo>
                      <a:pt x="38" y="210"/>
                    </a:lnTo>
                    <a:lnTo>
                      <a:pt x="41" y="192"/>
                    </a:lnTo>
                    <a:lnTo>
                      <a:pt x="46" y="173"/>
                    </a:lnTo>
                    <a:lnTo>
                      <a:pt x="52" y="160"/>
                    </a:lnTo>
                    <a:lnTo>
                      <a:pt x="62" y="145"/>
                    </a:lnTo>
                    <a:lnTo>
                      <a:pt x="74" y="132"/>
                    </a:lnTo>
                    <a:lnTo>
                      <a:pt x="84" y="120"/>
                    </a:lnTo>
                    <a:lnTo>
                      <a:pt x="97" y="109"/>
                    </a:lnTo>
                    <a:lnTo>
                      <a:pt x="110" y="98"/>
                    </a:lnTo>
                    <a:lnTo>
                      <a:pt x="125" y="88"/>
                    </a:lnTo>
                    <a:lnTo>
                      <a:pt x="141" y="78"/>
                    </a:lnTo>
                    <a:lnTo>
                      <a:pt x="160" y="67"/>
                    </a:lnTo>
                    <a:lnTo>
                      <a:pt x="179" y="57"/>
                    </a:lnTo>
                    <a:lnTo>
                      <a:pt x="200" y="47"/>
                    </a:lnTo>
                    <a:lnTo>
                      <a:pt x="223" y="37"/>
                    </a:lnTo>
                    <a:lnTo>
                      <a:pt x="248" y="28"/>
                    </a:lnTo>
                    <a:lnTo>
                      <a:pt x="271" y="19"/>
                    </a:lnTo>
                    <a:lnTo>
                      <a:pt x="293" y="12"/>
                    </a:lnTo>
                    <a:lnTo>
                      <a:pt x="313" y="6"/>
                    </a:lnTo>
                    <a:lnTo>
                      <a:pt x="331" y="1"/>
                    </a:lnTo>
                    <a:lnTo>
                      <a:pt x="315" y="0"/>
                    </a:lnTo>
                    <a:lnTo>
                      <a:pt x="295" y="1"/>
                    </a:lnTo>
                    <a:lnTo>
                      <a:pt x="273" y="5"/>
                    </a:lnTo>
                    <a:lnTo>
                      <a:pt x="248" y="10"/>
                    </a:lnTo>
                    <a:lnTo>
                      <a:pt x="223" y="17"/>
                    </a:lnTo>
                    <a:lnTo>
                      <a:pt x="199" y="25"/>
                    </a:lnTo>
                    <a:lnTo>
                      <a:pt x="176" y="35"/>
                    </a:lnTo>
                    <a:lnTo>
                      <a:pt x="155" y="4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6" name="Freeform 77"/>
              <p:cNvSpPr>
                <a:spLocks/>
              </p:cNvSpPr>
              <p:nvPr/>
            </p:nvSpPr>
            <p:spPr bwMode="auto">
              <a:xfrm>
                <a:off x="1396" y="2213"/>
                <a:ext cx="116" cy="110"/>
              </a:xfrm>
              <a:custGeom>
                <a:avLst/>
                <a:gdLst>
                  <a:gd name="T0" fmla="*/ 97 w 348"/>
                  <a:gd name="T1" fmla="*/ 34 h 222"/>
                  <a:gd name="T2" fmla="*/ 102 w 348"/>
                  <a:gd name="T3" fmla="*/ 40 h 222"/>
                  <a:gd name="T4" fmla="*/ 105 w 348"/>
                  <a:gd name="T5" fmla="*/ 47 h 222"/>
                  <a:gd name="T6" fmla="*/ 107 w 348"/>
                  <a:gd name="T7" fmla="*/ 55 h 222"/>
                  <a:gd name="T8" fmla="*/ 107 w 348"/>
                  <a:gd name="T9" fmla="*/ 62 h 222"/>
                  <a:gd name="T10" fmla="*/ 106 w 348"/>
                  <a:gd name="T11" fmla="*/ 69 h 222"/>
                  <a:gd name="T12" fmla="*/ 104 w 348"/>
                  <a:gd name="T13" fmla="*/ 74 h 222"/>
                  <a:gd name="T14" fmla="*/ 101 w 348"/>
                  <a:gd name="T15" fmla="*/ 80 h 222"/>
                  <a:gd name="T16" fmla="*/ 97 w 348"/>
                  <a:gd name="T17" fmla="*/ 84 h 222"/>
                  <a:gd name="T18" fmla="*/ 93 w 348"/>
                  <a:gd name="T19" fmla="*/ 89 h 222"/>
                  <a:gd name="T20" fmla="*/ 88 w 348"/>
                  <a:gd name="T21" fmla="*/ 93 h 222"/>
                  <a:gd name="T22" fmla="*/ 84 w 348"/>
                  <a:gd name="T23" fmla="*/ 98 h 222"/>
                  <a:gd name="T24" fmla="*/ 80 w 348"/>
                  <a:gd name="T25" fmla="*/ 103 h 222"/>
                  <a:gd name="T26" fmla="*/ 79 w 348"/>
                  <a:gd name="T27" fmla="*/ 104 h 222"/>
                  <a:gd name="T28" fmla="*/ 78 w 348"/>
                  <a:gd name="T29" fmla="*/ 106 h 222"/>
                  <a:gd name="T30" fmla="*/ 79 w 348"/>
                  <a:gd name="T31" fmla="*/ 107 h 222"/>
                  <a:gd name="T32" fmla="*/ 80 w 348"/>
                  <a:gd name="T33" fmla="*/ 109 h 222"/>
                  <a:gd name="T34" fmla="*/ 81 w 348"/>
                  <a:gd name="T35" fmla="*/ 110 h 222"/>
                  <a:gd name="T36" fmla="*/ 83 w 348"/>
                  <a:gd name="T37" fmla="*/ 110 h 222"/>
                  <a:gd name="T38" fmla="*/ 85 w 348"/>
                  <a:gd name="T39" fmla="*/ 110 h 222"/>
                  <a:gd name="T40" fmla="*/ 86 w 348"/>
                  <a:gd name="T41" fmla="*/ 109 h 222"/>
                  <a:gd name="T42" fmla="*/ 96 w 348"/>
                  <a:gd name="T43" fmla="*/ 102 h 222"/>
                  <a:gd name="T44" fmla="*/ 103 w 348"/>
                  <a:gd name="T45" fmla="*/ 93 h 222"/>
                  <a:gd name="T46" fmla="*/ 110 w 348"/>
                  <a:gd name="T47" fmla="*/ 83 h 222"/>
                  <a:gd name="T48" fmla="*/ 115 w 348"/>
                  <a:gd name="T49" fmla="*/ 73 h 222"/>
                  <a:gd name="T50" fmla="*/ 116 w 348"/>
                  <a:gd name="T51" fmla="*/ 61 h 222"/>
                  <a:gd name="T52" fmla="*/ 115 w 348"/>
                  <a:gd name="T53" fmla="*/ 51 h 222"/>
                  <a:gd name="T54" fmla="*/ 111 w 348"/>
                  <a:gd name="T55" fmla="*/ 40 h 222"/>
                  <a:gd name="T56" fmla="*/ 103 w 348"/>
                  <a:gd name="T57" fmla="*/ 31 h 222"/>
                  <a:gd name="T58" fmla="*/ 98 w 348"/>
                  <a:gd name="T59" fmla="*/ 26 h 222"/>
                  <a:gd name="T60" fmla="*/ 91 w 348"/>
                  <a:gd name="T61" fmla="*/ 21 h 222"/>
                  <a:gd name="T62" fmla="*/ 83 w 348"/>
                  <a:gd name="T63" fmla="*/ 17 h 222"/>
                  <a:gd name="T64" fmla="*/ 75 w 348"/>
                  <a:gd name="T65" fmla="*/ 13 h 222"/>
                  <a:gd name="T66" fmla="*/ 67 w 348"/>
                  <a:gd name="T67" fmla="*/ 10 h 222"/>
                  <a:gd name="T68" fmla="*/ 59 w 348"/>
                  <a:gd name="T69" fmla="*/ 8 h 222"/>
                  <a:gd name="T70" fmla="*/ 50 w 348"/>
                  <a:gd name="T71" fmla="*/ 5 h 222"/>
                  <a:gd name="T72" fmla="*/ 42 w 348"/>
                  <a:gd name="T73" fmla="*/ 3 h 222"/>
                  <a:gd name="T74" fmla="*/ 34 w 348"/>
                  <a:gd name="T75" fmla="*/ 2 h 222"/>
                  <a:gd name="T76" fmla="*/ 26 w 348"/>
                  <a:gd name="T77" fmla="*/ 1 h 222"/>
                  <a:gd name="T78" fmla="*/ 19 w 348"/>
                  <a:gd name="T79" fmla="*/ 0 h 222"/>
                  <a:gd name="T80" fmla="*/ 13 w 348"/>
                  <a:gd name="T81" fmla="*/ 0 h 222"/>
                  <a:gd name="T82" fmla="*/ 8 w 348"/>
                  <a:gd name="T83" fmla="*/ 0 h 222"/>
                  <a:gd name="T84" fmla="*/ 4 w 348"/>
                  <a:gd name="T85" fmla="*/ 0 h 222"/>
                  <a:gd name="T86" fmla="*/ 1 w 348"/>
                  <a:gd name="T87" fmla="*/ 1 h 222"/>
                  <a:gd name="T88" fmla="*/ 0 w 348"/>
                  <a:gd name="T89" fmla="*/ 2 h 222"/>
                  <a:gd name="T90" fmla="*/ 5 w 348"/>
                  <a:gd name="T91" fmla="*/ 3 h 222"/>
                  <a:gd name="T92" fmla="*/ 10 w 348"/>
                  <a:gd name="T93" fmla="*/ 4 h 222"/>
                  <a:gd name="T94" fmla="*/ 15 w 348"/>
                  <a:gd name="T95" fmla="*/ 5 h 222"/>
                  <a:gd name="T96" fmla="*/ 21 w 348"/>
                  <a:gd name="T97" fmla="*/ 6 h 222"/>
                  <a:gd name="T98" fmla="*/ 28 w 348"/>
                  <a:gd name="T99" fmla="*/ 7 h 222"/>
                  <a:gd name="T100" fmla="*/ 34 w 348"/>
                  <a:gd name="T101" fmla="*/ 8 h 222"/>
                  <a:gd name="T102" fmla="*/ 40 w 348"/>
                  <a:gd name="T103" fmla="*/ 9 h 222"/>
                  <a:gd name="T104" fmla="*/ 47 w 348"/>
                  <a:gd name="T105" fmla="*/ 11 h 222"/>
                  <a:gd name="T106" fmla="*/ 53 w 348"/>
                  <a:gd name="T107" fmla="*/ 13 h 222"/>
                  <a:gd name="T108" fmla="*/ 60 w 348"/>
                  <a:gd name="T109" fmla="*/ 15 h 222"/>
                  <a:gd name="T110" fmla="*/ 67 w 348"/>
                  <a:gd name="T111" fmla="*/ 17 h 222"/>
                  <a:gd name="T112" fmla="*/ 73 w 348"/>
                  <a:gd name="T113" fmla="*/ 20 h 222"/>
                  <a:gd name="T114" fmla="*/ 79 w 348"/>
                  <a:gd name="T115" fmla="*/ 23 h 222"/>
                  <a:gd name="T116" fmla="*/ 86 w 348"/>
                  <a:gd name="T117" fmla="*/ 26 h 222"/>
                  <a:gd name="T118" fmla="*/ 91 w 348"/>
                  <a:gd name="T119" fmla="*/ 30 h 222"/>
                  <a:gd name="T120" fmla="*/ 97 w 348"/>
                  <a:gd name="T121" fmla="*/ 34 h 222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48"/>
                  <a:gd name="T184" fmla="*/ 0 h 222"/>
                  <a:gd name="T185" fmla="*/ 348 w 348"/>
                  <a:gd name="T186" fmla="*/ 222 h 222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48" h="222">
                    <a:moveTo>
                      <a:pt x="290" y="69"/>
                    </a:moveTo>
                    <a:lnTo>
                      <a:pt x="306" y="81"/>
                    </a:lnTo>
                    <a:lnTo>
                      <a:pt x="315" y="95"/>
                    </a:lnTo>
                    <a:lnTo>
                      <a:pt x="321" y="110"/>
                    </a:lnTo>
                    <a:lnTo>
                      <a:pt x="321" y="126"/>
                    </a:lnTo>
                    <a:lnTo>
                      <a:pt x="318" y="139"/>
                    </a:lnTo>
                    <a:lnTo>
                      <a:pt x="312" y="150"/>
                    </a:lnTo>
                    <a:lnTo>
                      <a:pt x="302" y="161"/>
                    </a:lnTo>
                    <a:lnTo>
                      <a:pt x="292" y="170"/>
                    </a:lnTo>
                    <a:lnTo>
                      <a:pt x="279" y="180"/>
                    </a:lnTo>
                    <a:lnTo>
                      <a:pt x="265" y="188"/>
                    </a:lnTo>
                    <a:lnTo>
                      <a:pt x="252" y="198"/>
                    </a:lnTo>
                    <a:lnTo>
                      <a:pt x="239" y="207"/>
                    </a:lnTo>
                    <a:lnTo>
                      <a:pt x="236" y="210"/>
                    </a:lnTo>
                    <a:lnTo>
                      <a:pt x="235" y="213"/>
                    </a:lnTo>
                    <a:lnTo>
                      <a:pt x="236" y="216"/>
                    </a:lnTo>
                    <a:lnTo>
                      <a:pt x="239" y="219"/>
                    </a:lnTo>
                    <a:lnTo>
                      <a:pt x="244" y="221"/>
                    </a:lnTo>
                    <a:lnTo>
                      <a:pt x="248" y="222"/>
                    </a:lnTo>
                    <a:lnTo>
                      <a:pt x="254" y="221"/>
                    </a:lnTo>
                    <a:lnTo>
                      <a:pt x="258" y="219"/>
                    </a:lnTo>
                    <a:lnTo>
                      <a:pt x="287" y="206"/>
                    </a:lnTo>
                    <a:lnTo>
                      <a:pt x="310" y="188"/>
                    </a:lnTo>
                    <a:lnTo>
                      <a:pt x="331" y="168"/>
                    </a:lnTo>
                    <a:lnTo>
                      <a:pt x="344" y="147"/>
                    </a:lnTo>
                    <a:lnTo>
                      <a:pt x="348" y="124"/>
                    </a:lnTo>
                    <a:lnTo>
                      <a:pt x="345" y="102"/>
                    </a:lnTo>
                    <a:lnTo>
                      <a:pt x="334" y="81"/>
                    </a:lnTo>
                    <a:lnTo>
                      <a:pt x="310" y="62"/>
                    </a:lnTo>
                    <a:lnTo>
                      <a:pt x="293" y="52"/>
                    </a:lnTo>
                    <a:lnTo>
                      <a:pt x="273" y="43"/>
                    </a:lnTo>
                    <a:lnTo>
                      <a:pt x="249" y="34"/>
                    </a:lnTo>
                    <a:lnTo>
                      <a:pt x="226" y="27"/>
                    </a:lnTo>
                    <a:lnTo>
                      <a:pt x="202" y="21"/>
                    </a:lnTo>
                    <a:lnTo>
                      <a:pt x="176" y="16"/>
                    </a:lnTo>
                    <a:lnTo>
                      <a:pt x="151" y="11"/>
                    </a:lnTo>
                    <a:lnTo>
                      <a:pt x="125" y="7"/>
                    </a:lnTo>
                    <a:lnTo>
                      <a:pt x="102" y="4"/>
                    </a:lnTo>
                    <a:lnTo>
                      <a:pt x="78" y="2"/>
                    </a:lnTo>
                    <a:lnTo>
                      <a:pt x="58" y="0"/>
                    </a:lnTo>
                    <a:lnTo>
                      <a:pt x="39" y="0"/>
                    </a:lnTo>
                    <a:lnTo>
                      <a:pt x="23" y="0"/>
                    </a:lnTo>
                    <a:lnTo>
                      <a:pt x="12" y="1"/>
                    </a:lnTo>
                    <a:lnTo>
                      <a:pt x="4" y="3"/>
                    </a:lnTo>
                    <a:lnTo>
                      <a:pt x="0" y="5"/>
                    </a:lnTo>
                    <a:lnTo>
                      <a:pt x="14" y="7"/>
                    </a:lnTo>
                    <a:lnTo>
                      <a:pt x="30" y="8"/>
                    </a:lnTo>
                    <a:lnTo>
                      <a:pt x="46" y="10"/>
                    </a:lnTo>
                    <a:lnTo>
                      <a:pt x="64" y="12"/>
                    </a:lnTo>
                    <a:lnTo>
                      <a:pt x="83" y="14"/>
                    </a:lnTo>
                    <a:lnTo>
                      <a:pt x="102" y="16"/>
                    </a:lnTo>
                    <a:lnTo>
                      <a:pt x="120" y="19"/>
                    </a:lnTo>
                    <a:lnTo>
                      <a:pt x="141" y="22"/>
                    </a:lnTo>
                    <a:lnTo>
                      <a:pt x="160" y="26"/>
                    </a:lnTo>
                    <a:lnTo>
                      <a:pt x="180" y="30"/>
                    </a:lnTo>
                    <a:lnTo>
                      <a:pt x="200" y="35"/>
                    </a:lnTo>
                    <a:lnTo>
                      <a:pt x="219" y="41"/>
                    </a:lnTo>
                    <a:lnTo>
                      <a:pt x="238" y="47"/>
                    </a:lnTo>
                    <a:lnTo>
                      <a:pt x="257" y="53"/>
                    </a:lnTo>
                    <a:lnTo>
                      <a:pt x="274" y="61"/>
                    </a:lnTo>
                    <a:lnTo>
                      <a:pt x="290" y="6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7" name="Freeform 78"/>
              <p:cNvSpPr>
                <a:spLocks/>
              </p:cNvSpPr>
              <p:nvPr/>
            </p:nvSpPr>
            <p:spPr bwMode="auto">
              <a:xfrm>
                <a:off x="1162" y="2273"/>
                <a:ext cx="48" cy="103"/>
              </a:xfrm>
              <a:custGeom>
                <a:avLst/>
                <a:gdLst>
                  <a:gd name="T0" fmla="*/ 0 w 142"/>
                  <a:gd name="T1" fmla="*/ 56 h 207"/>
                  <a:gd name="T2" fmla="*/ 0 w 142"/>
                  <a:gd name="T3" fmla="*/ 65 h 207"/>
                  <a:gd name="T4" fmla="*/ 2 w 142"/>
                  <a:gd name="T5" fmla="*/ 73 h 207"/>
                  <a:gd name="T6" fmla="*/ 5 w 142"/>
                  <a:gd name="T7" fmla="*/ 80 h 207"/>
                  <a:gd name="T8" fmla="*/ 10 w 142"/>
                  <a:gd name="T9" fmla="*/ 87 h 207"/>
                  <a:gd name="T10" fmla="*/ 16 w 142"/>
                  <a:gd name="T11" fmla="*/ 92 h 207"/>
                  <a:gd name="T12" fmla="*/ 23 w 142"/>
                  <a:gd name="T13" fmla="*/ 97 h 207"/>
                  <a:gd name="T14" fmla="*/ 31 w 142"/>
                  <a:gd name="T15" fmla="*/ 101 h 207"/>
                  <a:gd name="T16" fmla="*/ 39 w 142"/>
                  <a:gd name="T17" fmla="*/ 103 h 207"/>
                  <a:gd name="T18" fmla="*/ 41 w 142"/>
                  <a:gd name="T19" fmla="*/ 103 h 207"/>
                  <a:gd name="T20" fmla="*/ 44 w 142"/>
                  <a:gd name="T21" fmla="*/ 102 h 207"/>
                  <a:gd name="T22" fmla="*/ 46 w 142"/>
                  <a:gd name="T23" fmla="*/ 101 h 207"/>
                  <a:gd name="T24" fmla="*/ 47 w 142"/>
                  <a:gd name="T25" fmla="*/ 99 h 207"/>
                  <a:gd name="T26" fmla="*/ 47 w 142"/>
                  <a:gd name="T27" fmla="*/ 96 h 207"/>
                  <a:gd name="T28" fmla="*/ 46 w 142"/>
                  <a:gd name="T29" fmla="*/ 94 h 207"/>
                  <a:gd name="T30" fmla="*/ 45 w 142"/>
                  <a:gd name="T31" fmla="*/ 92 h 207"/>
                  <a:gd name="T32" fmla="*/ 42 w 142"/>
                  <a:gd name="T33" fmla="*/ 91 h 207"/>
                  <a:gd name="T34" fmla="*/ 34 w 142"/>
                  <a:gd name="T35" fmla="*/ 88 h 207"/>
                  <a:gd name="T36" fmla="*/ 27 w 142"/>
                  <a:gd name="T37" fmla="*/ 84 h 207"/>
                  <a:gd name="T38" fmla="*/ 21 w 142"/>
                  <a:gd name="T39" fmla="*/ 78 h 207"/>
                  <a:gd name="T40" fmla="*/ 17 w 142"/>
                  <a:gd name="T41" fmla="*/ 72 h 207"/>
                  <a:gd name="T42" fmla="*/ 14 w 142"/>
                  <a:gd name="T43" fmla="*/ 65 h 207"/>
                  <a:gd name="T44" fmla="*/ 13 w 142"/>
                  <a:gd name="T45" fmla="*/ 57 h 207"/>
                  <a:gd name="T46" fmla="*/ 13 w 142"/>
                  <a:gd name="T47" fmla="*/ 48 h 207"/>
                  <a:gd name="T48" fmla="*/ 15 w 142"/>
                  <a:gd name="T49" fmla="*/ 39 h 207"/>
                  <a:gd name="T50" fmla="*/ 18 w 142"/>
                  <a:gd name="T51" fmla="*/ 32 h 207"/>
                  <a:gd name="T52" fmla="*/ 24 w 142"/>
                  <a:gd name="T53" fmla="*/ 26 h 207"/>
                  <a:gd name="T54" fmla="*/ 29 w 142"/>
                  <a:gd name="T55" fmla="*/ 20 h 207"/>
                  <a:gd name="T56" fmla="*/ 36 w 142"/>
                  <a:gd name="T57" fmla="*/ 14 h 207"/>
                  <a:gd name="T58" fmla="*/ 41 w 142"/>
                  <a:gd name="T59" fmla="*/ 10 h 207"/>
                  <a:gd name="T60" fmla="*/ 46 w 142"/>
                  <a:gd name="T61" fmla="*/ 5 h 207"/>
                  <a:gd name="T62" fmla="*/ 48 w 142"/>
                  <a:gd name="T63" fmla="*/ 2 h 207"/>
                  <a:gd name="T64" fmla="*/ 48 w 142"/>
                  <a:gd name="T65" fmla="*/ 0 h 207"/>
                  <a:gd name="T66" fmla="*/ 43 w 142"/>
                  <a:gd name="T67" fmla="*/ 2 h 207"/>
                  <a:gd name="T68" fmla="*/ 36 w 142"/>
                  <a:gd name="T69" fmla="*/ 5 h 207"/>
                  <a:gd name="T70" fmla="*/ 28 w 142"/>
                  <a:gd name="T71" fmla="*/ 11 h 207"/>
                  <a:gd name="T72" fmla="*/ 21 w 142"/>
                  <a:gd name="T73" fmla="*/ 18 h 207"/>
                  <a:gd name="T74" fmla="*/ 13 w 142"/>
                  <a:gd name="T75" fmla="*/ 26 h 207"/>
                  <a:gd name="T76" fmla="*/ 7 w 142"/>
                  <a:gd name="T77" fmla="*/ 36 h 207"/>
                  <a:gd name="T78" fmla="*/ 3 w 142"/>
                  <a:gd name="T79" fmla="*/ 46 h 207"/>
                  <a:gd name="T80" fmla="*/ 0 w 142"/>
                  <a:gd name="T81" fmla="*/ 56 h 20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2"/>
                  <a:gd name="T124" fmla="*/ 0 h 207"/>
                  <a:gd name="T125" fmla="*/ 142 w 142"/>
                  <a:gd name="T126" fmla="*/ 207 h 20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2" h="207">
                    <a:moveTo>
                      <a:pt x="0" y="113"/>
                    </a:moveTo>
                    <a:lnTo>
                      <a:pt x="0" y="130"/>
                    </a:lnTo>
                    <a:lnTo>
                      <a:pt x="6" y="146"/>
                    </a:lnTo>
                    <a:lnTo>
                      <a:pt x="16" y="161"/>
                    </a:lnTo>
                    <a:lnTo>
                      <a:pt x="31" y="174"/>
                    </a:lnTo>
                    <a:lnTo>
                      <a:pt x="48" y="185"/>
                    </a:lnTo>
                    <a:lnTo>
                      <a:pt x="68" y="195"/>
                    </a:lnTo>
                    <a:lnTo>
                      <a:pt x="92" y="202"/>
                    </a:lnTo>
                    <a:lnTo>
                      <a:pt x="115" y="206"/>
                    </a:lnTo>
                    <a:lnTo>
                      <a:pt x="122" y="207"/>
                    </a:lnTo>
                    <a:lnTo>
                      <a:pt x="129" y="205"/>
                    </a:lnTo>
                    <a:lnTo>
                      <a:pt x="135" y="202"/>
                    </a:lnTo>
                    <a:lnTo>
                      <a:pt x="138" y="198"/>
                    </a:lnTo>
                    <a:lnTo>
                      <a:pt x="138" y="193"/>
                    </a:lnTo>
                    <a:lnTo>
                      <a:pt x="137" y="188"/>
                    </a:lnTo>
                    <a:lnTo>
                      <a:pt x="132" y="184"/>
                    </a:lnTo>
                    <a:lnTo>
                      <a:pt x="125" y="182"/>
                    </a:lnTo>
                    <a:lnTo>
                      <a:pt x="102" y="176"/>
                    </a:lnTo>
                    <a:lnTo>
                      <a:pt x="80" y="168"/>
                    </a:lnTo>
                    <a:lnTo>
                      <a:pt x="63" y="157"/>
                    </a:lnTo>
                    <a:lnTo>
                      <a:pt x="50" y="145"/>
                    </a:lnTo>
                    <a:lnTo>
                      <a:pt x="41" y="130"/>
                    </a:lnTo>
                    <a:lnTo>
                      <a:pt x="37" y="114"/>
                    </a:lnTo>
                    <a:lnTo>
                      <a:pt x="37" y="97"/>
                    </a:lnTo>
                    <a:lnTo>
                      <a:pt x="44" y="79"/>
                    </a:lnTo>
                    <a:lnTo>
                      <a:pt x="54" y="65"/>
                    </a:lnTo>
                    <a:lnTo>
                      <a:pt x="70" y="52"/>
                    </a:lnTo>
                    <a:lnTo>
                      <a:pt x="87" y="40"/>
                    </a:lnTo>
                    <a:lnTo>
                      <a:pt x="106" y="29"/>
                    </a:lnTo>
                    <a:lnTo>
                      <a:pt x="122" y="20"/>
                    </a:lnTo>
                    <a:lnTo>
                      <a:pt x="135" y="11"/>
                    </a:lnTo>
                    <a:lnTo>
                      <a:pt x="142" y="5"/>
                    </a:lnTo>
                    <a:lnTo>
                      <a:pt x="142" y="0"/>
                    </a:lnTo>
                    <a:lnTo>
                      <a:pt x="126" y="4"/>
                    </a:lnTo>
                    <a:lnTo>
                      <a:pt x="106" y="11"/>
                    </a:lnTo>
                    <a:lnTo>
                      <a:pt x="84" y="23"/>
                    </a:lnTo>
                    <a:lnTo>
                      <a:pt x="61" y="37"/>
                    </a:lnTo>
                    <a:lnTo>
                      <a:pt x="39" y="53"/>
                    </a:lnTo>
                    <a:lnTo>
                      <a:pt x="22" y="72"/>
                    </a:lnTo>
                    <a:lnTo>
                      <a:pt x="8" y="93"/>
                    </a:lnTo>
                    <a:lnTo>
                      <a:pt x="0" y="11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98" name="Freeform 79"/>
              <p:cNvSpPr>
                <a:spLocks/>
              </p:cNvSpPr>
              <p:nvPr/>
            </p:nvSpPr>
            <p:spPr bwMode="auto">
              <a:xfrm>
                <a:off x="1492" y="2206"/>
                <a:ext cx="101" cy="135"/>
              </a:xfrm>
              <a:custGeom>
                <a:avLst/>
                <a:gdLst>
                  <a:gd name="T0" fmla="*/ 85 w 303"/>
                  <a:gd name="T1" fmla="*/ 54 h 272"/>
                  <a:gd name="T2" fmla="*/ 90 w 303"/>
                  <a:gd name="T3" fmla="*/ 63 h 272"/>
                  <a:gd name="T4" fmla="*/ 93 w 303"/>
                  <a:gd name="T5" fmla="*/ 71 h 272"/>
                  <a:gd name="T6" fmla="*/ 91 w 303"/>
                  <a:gd name="T7" fmla="*/ 81 h 272"/>
                  <a:gd name="T8" fmla="*/ 85 w 303"/>
                  <a:gd name="T9" fmla="*/ 91 h 272"/>
                  <a:gd name="T10" fmla="*/ 77 w 303"/>
                  <a:gd name="T11" fmla="*/ 99 h 272"/>
                  <a:gd name="T12" fmla="*/ 68 w 303"/>
                  <a:gd name="T13" fmla="*/ 107 h 272"/>
                  <a:gd name="T14" fmla="*/ 58 w 303"/>
                  <a:gd name="T15" fmla="*/ 115 h 272"/>
                  <a:gd name="T16" fmla="*/ 53 w 303"/>
                  <a:gd name="T17" fmla="*/ 121 h 272"/>
                  <a:gd name="T18" fmla="*/ 51 w 303"/>
                  <a:gd name="T19" fmla="*/ 125 h 272"/>
                  <a:gd name="T20" fmla="*/ 49 w 303"/>
                  <a:gd name="T21" fmla="*/ 129 h 272"/>
                  <a:gd name="T22" fmla="*/ 50 w 303"/>
                  <a:gd name="T23" fmla="*/ 133 h 272"/>
                  <a:gd name="T24" fmla="*/ 54 w 303"/>
                  <a:gd name="T25" fmla="*/ 135 h 272"/>
                  <a:gd name="T26" fmla="*/ 57 w 303"/>
                  <a:gd name="T27" fmla="*/ 135 h 272"/>
                  <a:gd name="T28" fmla="*/ 63 w 303"/>
                  <a:gd name="T29" fmla="*/ 127 h 272"/>
                  <a:gd name="T30" fmla="*/ 74 w 303"/>
                  <a:gd name="T31" fmla="*/ 117 h 272"/>
                  <a:gd name="T32" fmla="*/ 85 w 303"/>
                  <a:gd name="T33" fmla="*/ 107 h 272"/>
                  <a:gd name="T34" fmla="*/ 95 w 303"/>
                  <a:gd name="T35" fmla="*/ 95 h 272"/>
                  <a:gd name="T36" fmla="*/ 100 w 303"/>
                  <a:gd name="T37" fmla="*/ 81 h 272"/>
                  <a:gd name="T38" fmla="*/ 100 w 303"/>
                  <a:gd name="T39" fmla="*/ 66 h 272"/>
                  <a:gd name="T40" fmla="*/ 94 w 303"/>
                  <a:gd name="T41" fmla="*/ 52 h 272"/>
                  <a:gd name="T42" fmla="*/ 84 w 303"/>
                  <a:gd name="T43" fmla="*/ 41 h 272"/>
                  <a:gd name="T44" fmla="*/ 72 w 303"/>
                  <a:gd name="T45" fmla="*/ 33 h 272"/>
                  <a:gd name="T46" fmla="*/ 62 w 303"/>
                  <a:gd name="T47" fmla="*/ 27 h 272"/>
                  <a:gd name="T48" fmla="*/ 50 w 303"/>
                  <a:gd name="T49" fmla="*/ 20 h 272"/>
                  <a:gd name="T50" fmla="*/ 38 w 303"/>
                  <a:gd name="T51" fmla="*/ 13 h 272"/>
                  <a:gd name="T52" fmla="*/ 27 w 303"/>
                  <a:gd name="T53" fmla="*/ 8 h 272"/>
                  <a:gd name="T54" fmla="*/ 16 w 303"/>
                  <a:gd name="T55" fmla="*/ 3 h 272"/>
                  <a:gd name="T56" fmla="*/ 8 w 303"/>
                  <a:gd name="T57" fmla="*/ 0 h 272"/>
                  <a:gd name="T58" fmla="*/ 2 w 303"/>
                  <a:gd name="T59" fmla="*/ 0 h 272"/>
                  <a:gd name="T60" fmla="*/ 4 w 303"/>
                  <a:gd name="T61" fmla="*/ 3 h 272"/>
                  <a:gd name="T62" fmla="*/ 14 w 303"/>
                  <a:gd name="T63" fmla="*/ 8 h 272"/>
                  <a:gd name="T64" fmla="*/ 25 w 303"/>
                  <a:gd name="T65" fmla="*/ 13 h 272"/>
                  <a:gd name="T66" fmla="*/ 35 w 303"/>
                  <a:gd name="T67" fmla="*/ 19 h 272"/>
                  <a:gd name="T68" fmla="*/ 46 w 303"/>
                  <a:gd name="T69" fmla="*/ 25 h 272"/>
                  <a:gd name="T70" fmla="*/ 57 w 303"/>
                  <a:gd name="T71" fmla="*/ 31 h 272"/>
                  <a:gd name="T72" fmla="*/ 68 w 303"/>
                  <a:gd name="T73" fmla="*/ 39 h 272"/>
                  <a:gd name="T74" fmla="*/ 77 w 303"/>
                  <a:gd name="T75" fmla="*/ 46 h 272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3"/>
                  <a:gd name="T115" fmla="*/ 0 h 272"/>
                  <a:gd name="T116" fmla="*/ 303 w 303"/>
                  <a:gd name="T117" fmla="*/ 272 h 272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3" h="272">
                    <a:moveTo>
                      <a:pt x="246" y="102"/>
                    </a:moveTo>
                    <a:lnTo>
                      <a:pt x="256" y="109"/>
                    </a:lnTo>
                    <a:lnTo>
                      <a:pt x="264" y="117"/>
                    </a:lnTo>
                    <a:lnTo>
                      <a:pt x="271" y="126"/>
                    </a:lnTo>
                    <a:lnTo>
                      <a:pt x="275" y="135"/>
                    </a:lnTo>
                    <a:lnTo>
                      <a:pt x="278" y="144"/>
                    </a:lnTo>
                    <a:lnTo>
                      <a:pt x="277" y="154"/>
                    </a:lnTo>
                    <a:lnTo>
                      <a:pt x="274" y="164"/>
                    </a:lnTo>
                    <a:lnTo>
                      <a:pt x="267" y="173"/>
                    </a:lnTo>
                    <a:lnTo>
                      <a:pt x="256" y="183"/>
                    </a:lnTo>
                    <a:lnTo>
                      <a:pt x="245" y="192"/>
                    </a:lnTo>
                    <a:lnTo>
                      <a:pt x="232" y="200"/>
                    </a:lnTo>
                    <a:lnTo>
                      <a:pt x="219" y="209"/>
                    </a:lnTo>
                    <a:lnTo>
                      <a:pt x="204" y="216"/>
                    </a:lnTo>
                    <a:lnTo>
                      <a:pt x="190" y="224"/>
                    </a:lnTo>
                    <a:lnTo>
                      <a:pt x="175" y="232"/>
                    </a:lnTo>
                    <a:lnTo>
                      <a:pt x="162" y="241"/>
                    </a:lnTo>
                    <a:lnTo>
                      <a:pt x="158" y="244"/>
                    </a:lnTo>
                    <a:lnTo>
                      <a:pt x="155" y="248"/>
                    </a:lnTo>
                    <a:lnTo>
                      <a:pt x="152" y="252"/>
                    </a:lnTo>
                    <a:lnTo>
                      <a:pt x="149" y="256"/>
                    </a:lnTo>
                    <a:lnTo>
                      <a:pt x="148" y="260"/>
                    </a:lnTo>
                    <a:lnTo>
                      <a:pt x="148" y="264"/>
                    </a:lnTo>
                    <a:lnTo>
                      <a:pt x="151" y="268"/>
                    </a:lnTo>
                    <a:lnTo>
                      <a:pt x="155" y="271"/>
                    </a:lnTo>
                    <a:lnTo>
                      <a:pt x="161" y="272"/>
                    </a:lnTo>
                    <a:lnTo>
                      <a:pt x="166" y="272"/>
                    </a:lnTo>
                    <a:lnTo>
                      <a:pt x="171" y="271"/>
                    </a:lnTo>
                    <a:lnTo>
                      <a:pt x="175" y="268"/>
                    </a:lnTo>
                    <a:lnTo>
                      <a:pt x="190" y="256"/>
                    </a:lnTo>
                    <a:lnTo>
                      <a:pt x="206" y="246"/>
                    </a:lnTo>
                    <a:lnTo>
                      <a:pt x="222" y="236"/>
                    </a:lnTo>
                    <a:lnTo>
                      <a:pt x="239" y="226"/>
                    </a:lnTo>
                    <a:lnTo>
                      <a:pt x="255" y="216"/>
                    </a:lnTo>
                    <a:lnTo>
                      <a:pt x="271" y="204"/>
                    </a:lnTo>
                    <a:lnTo>
                      <a:pt x="284" y="192"/>
                    </a:lnTo>
                    <a:lnTo>
                      <a:pt x="294" y="179"/>
                    </a:lnTo>
                    <a:lnTo>
                      <a:pt x="301" y="163"/>
                    </a:lnTo>
                    <a:lnTo>
                      <a:pt x="303" y="148"/>
                    </a:lnTo>
                    <a:lnTo>
                      <a:pt x="300" y="133"/>
                    </a:lnTo>
                    <a:lnTo>
                      <a:pt x="293" y="118"/>
                    </a:lnTo>
                    <a:lnTo>
                      <a:pt x="281" y="105"/>
                    </a:lnTo>
                    <a:lnTo>
                      <a:pt x="268" y="92"/>
                    </a:lnTo>
                    <a:lnTo>
                      <a:pt x="251" y="82"/>
                    </a:lnTo>
                    <a:lnTo>
                      <a:pt x="232" y="73"/>
                    </a:lnTo>
                    <a:lnTo>
                      <a:pt x="217" y="67"/>
                    </a:lnTo>
                    <a:lnTo>
                      <a:pt x="201" y="61"/>
                    </a:lnTo>
                    <a:lnTo>
                      <a:pt x="185" y="54"/>
                    </a:lnTo>
                    <a:lnTo>
                      <a:pt x="168" y="47"/>
                    </a:lnTo>
                    <a:lnTo>
                      <a:pt x="151" y="40"/>
                    </a:lnTo>
                    <a:lnTo>
                      <a:pt x="132" y="34"/>
                    </a:lnTo>
                    <a:lnTo>
                      <a:pt x="114" y="27"/>
                    </a:lnTo>
                    <a:lnTo>
                      <a:pt x="97" y="21"/>
                    </a:lnTo>
                    <a:lnTo>
                      <a:pt x="81" y="16"/>
                    </a:lnTo>
                    <a:lnTo>
                      <a:pt x="65" y="11"/>
                    </a:lnTo>
                    <a:lnTo>
                      <a:pt x="49" y="7"/>
                    </a:lnTo>
                    <a:lnTo>
                      <a:pt x="36" y="4"/>
                    </a:lnTo>
                    <a:lnTo>
                      <a:pt x="24" y="1"/>
                    </a:lnTo>
                    <a:lnTo>
                      <a:pt x="14" y="0"/>
                    </a:lnTo>
                    <a:lnTo>
                      <a:pt x="5" y="0"/>
                    </a:lnTo>
                    <a:lnTo>
                      <a:pt x="0" y="2"/>
                    </a:lnTo>
                    <a:lnTo>
                      <a:pt x="13" y="7"/>
                    </a:lnTo>
                    <a:lnTo>
                      <a:pt x="27" y="12"/>
                    </a:lnTo>
                    <a:lnTo>
                      <a:pt x="43" y="17"/>
                    </a:lnTo>
                    <a:lnTo>
                      <a:pt x="58" y="22"/>
                    </a:lnTo>
                    <a:lnTo>
                      <a:pt x="74" y="27"/>
                    </a:lnTo>
                    <a:lnTo>
                      <a:pt x="90" y="32"/>
                    </a:lnTo>
                    <a:lnTo>
                      <a:pt x="106" y="38"/>
                    </a:lnTo>
                    <a:lnTo>
                      <a:pt x="122" y="44"/>
                    </a:lnTo>
                    <a:lnTo>
                      <a:pt x="139" y="50"/>
                    </a:lnTo>
                    <a:lnTo>
                      <a:pt x="155" y="57"/>
                    </a:lnTo>
                    <a:lnTo>
                      <a:pt x="171" y="63"/>
                    </a:lnTo>
                    <a:lnTo>
                      <a:pt x="187" y="70"/>
                    </a:lnTo>
                    <a:lnTo>
                      <a:pt x="203" y="78"/>
                    </a:lnTo>
                    <a:lnTo>
                      <a:pt x="217" y="85"/>
                    </a:lnTo>
                    <a:lnTo>
                      <a:pt x="232" y="93"/>
                    </a:lnTo>
                    <a:lnTo>
                      <a:pt x="246" y="10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0274" name="Group 80"/>
          <p:cNvGrpSpPr>
            <a:grpSpLocks/>
          </p:cNvGrpSpPr>
          <p:nvPr/>
        </p:nvGrpSpPr>
        <p:grpSpPr bwMode="auto">
          <a:xfrm>
            <a:off x="2728913" y="4762500"/>
            <a:ext cx="414337" cy="509588"/>
            <a:chOff x="2870" y="1518"/>
            <a:chExt cx="292" cy="320"/>
          </a:xfrm>
        </p:grpSpPr>
        <p:graphicFrame>
          <p:nvGraphicFramePr>
            <p:cNvPr id="10248" name="Object 81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48" name="Clip" r:id="rId11" imgW="819000" imgH="847800" progId="MS_ClipArt_Gallery.2">
                <p:embed/>
              </p:oleObj>
            </a:graphicData>
          </a:graphic>
        </p:graphicFrame>
        <p:graphicFrame>
          <p:nvGraphicFramePr>
            <p:cNvPr id="10249" name="Object 82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49" name="Clip" r:id="rId12" imgW="1266840" imgH="1200240" progId="MS_ClipArt_Gallery.2">
                <p:embed/>
              </p:oleObj>
            </a:graphicData>
          </a:graphic>
        </p:graphicFrame>
      </p:grpSp>
      <p:grpSp>
        <p:nvGrpSpPr>
          <p:cNvPr id="10275" name="Group 83"/>
          <p:cNvGrpSpPr>
            <a:grpSpLocks/>
          </p:cNvGrpSpPr>
          <p:nvPr/>
        </p:nvGrpSpPr>
        <p:grpSpPr bwMode="auto">
          <a:xfrm>
            <a:off x="2908300" y="5303838"/>
            <a:ext cx="415925" cy="509587"/>
            <a:chOff x="2870" y="1518"/>
            <a:chExt cx="292" cy="320"/>
          </a:xfrm>
        </p:grpSpPr>
        <p:graphicFrame>
          <p:nvGraphicFramePr>
            <p:cNvPr id="10246" name="Object 8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46" name="Clip" r:id="rId13" imgW="819000" imgH="847800" progId="MS_ClipArt_Gallery.2">
                <p:embed/>
              </p:oleObj>
            </a:graphicData>
          </a:graphic>
        </p:graphicFrame>
        <p:graphicFrame>
          <p:nvGraphicFramePr>
            <p:cNvPr id="10247" name="Object 8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47" name="Clip" r:id="rId14" imgW="1266840" imgH="1200240" progId="MS_ClipArt_Gallery.2">
                <p:embed/>
              </p:oleObj>
            </a:graphicData>
          </a:graphic>
        </p:graphicFrame>
      </p:grpSp>
      <p:grpSp>
        <p:nvGrpSpPr>
          <p:cNvPr id="10276" name="Group 86"/>
          <p:cNvGrpSpPr>
            <a:grpSpLocks/>
          </p:cNvGrpSpPr>
          <p:nvPr/>
        </p:nvGrpSpPr>
        <p:grpSpPr bwMode="auto">
          <a:xfrm>
            <a:off x="3940175" y="4772025"/>
            <a:ext cx="415925" cy="511175"/>
            <a:chOff x="2870" y="1518"/>
            <a:chExt cx="292" cy="320"/>
          </a:xfrm>
        </p:grpSpPr>
        <p:graphicFrame>
          <p:nvGraphicFramePr>
            <p:cNvPr id="10244" name="Object 87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44" name="Clip" r:id="rId15" imgW="819000" imgH="847800" progId="MS_ClipArt_Gallery.2">
                <p:embed/>
              </p:oleObj>
            </a:graphicData>
          </a:graphic>
        </p:graphicFrame>
        <p:graphicFrame>
          <p:nvGraphicFramePr>
            <p:cNvPr id="10245" name="Object 88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45" name="Clip" r:id="rId16" imgW="1266840" imgH="1200240" progId="MS_ClipArt_Gallery.2">
                <p:embed/>
              </p:oleObj>
            </a:graphicData>
          </a:graphic>
        </p:graphicFrame>
      </p:grpSp>
      <p:grpSp>
        <p:nvGrpSpPr>
          <p:cNvPr id="10277" name="Group 89"/>
          <p:cNvGrpSpPr>
            <a:grpSpLocks/>
          </p:cNvGrpSpPr>
          <p:nvPr/>
        </p:nvGrpSpPr>
        <p:grpSpPr bwMode="auto">
          <a:xfrm>
            <a:off x="3494088" y="5313363"/>
            <a:ext cx="414337" cy="509587"/>
            <a:chOff x="2870" y="1518"/>
            <a:chExt cx="292" cy="320"/>
          </a:xfrm>
        </p:grpSpPr>
        <p:graphicFrame>
          <p:nvGraphicFramePr>
            <p:cNvPr id="10242" name="Object 90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0242" name="Clip" r:id="rId17" imgW="819000" imgH="847800" progId="MS_ClipArt_Gallery.2">
                <p:embed/>
              </p:oleObj>
            </a:graphicData>
          </a:graphic>
        </p:graphicFrame>
        <p:graphicFrame>
          <p:nvGraphicFramePr>
            <p:cNvPr id="10243" name="Object 91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0243" name="Clip" r:id="rId18" imgW="1266840" imgH="1200240" progId="MS_ClipArt_Gallery.2">
                <p:embed/>
              </p:oleObj>
            </a:graphicData>
          </a:graphic>
        </p:graphicFrame>
      </p:grpSp>
      <p:sp>
        <p:nvSpPr>
          <p:cNvPr id="10278" name="Text Box 93"/>
          <p:cNvSpPr txBox="1">
            <a:spLocks noChangeArrowheads="1"/>
          </p:cNvSpPr>
          <p:nvPr/>
        </p:nvSpPr>
        <p:spPr bwMode="auto">
          <a:xfrm>
            <a:off x="5072063" y="6232525"/>
            <a:ext cx="343535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SSID: Service Set Identifier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99791D-0D28-4B6F-8951-5E3AC9B5BDDC}" type="slidenum">
              <a:rPr lang="en-US" smtClean="0"/>
              <a:pPr>
                <a:defRPr/>
              </a:pPr>
              <a:t>12</a:t>
            </a:fld>
            <a:endParaRPr lang="en-US" smtClean="0"/>
          </a:p>
        </p:txBody>
      </p:sp>
      <p:grpSp>
        <p:nvGrpSpPr>
          <p:cNvPr id="25603" name="Group 8"/>
          <p:cNvGrpSpPr>
            <a:grpSpLocks/>
          </p:cNvGrpSpPr>
          <p:nvPr/>
        </p:nvGrpSpPr>
        <p:grpSpPr bwMode="auto">
          <a:xfrm>
            <a:off x="1268413" y="3121025"/>
            <a:ext cx="6299200" cy="3571875"/>
            <a:chOff x="1259" y="2233"/>
            <a:chExt cx="3266" cy="1968"/>
          </a:xfrm>
        </p:grpSpPr>
        <p:pic>
          <p:nvPicPr>
            <p:cNvPr id="25606" name="Picture 5" descr="fig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404" y="2281"/>
              <a:ext cx="2952" cy="19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5607" name="Rectangle 6"/>
            <p:cNvSpPr>
              <a:spLocks noChangeArrowheads="1"/>
            </p:cNvSpPr>
            <p:nvPr/>
          </p:nvSpPr>
          <p:spPr bwMode="auto">
            <a:xfrm>
              <a:off x="1259" y="3660"/>
              <a:ext cx="3266" cy="508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8" name="Rectangle 7"/>
            <p:cNvSpPr>
              <a:spLocks noChangeArrowheads="1"/>
            </p:cNvSpPr>
            <p:nvPr/>
          </p:nvSpPr>
          <p:spPr bwMode="auto">
            <a:xfrm>
              <a:off x="1283" y="2233"/>
              <a:ext cx="339" cy="1741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0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Links: High Bit Error Rate</a:t>
            </a:r>
          </a:p>
        </p:txBody>
      </p:sp>
      <p:sp>
        <p:nvSpPr>
          <p:cNvPr id="2560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1979613"/>
          </a:xfrm>
        </p:spPr>
        <p:txBody>
          <a:bodyPr/>
          <a:lstStyle/>
          <a:p>
            <a:r>
              <a:rPr lang="en-US" sz="3600" smtClean="0"/>
              <a:t>Decreasing signal strength</a:t>
            </a:r>
          </a:p>
          <a:p>
            <a:pPr lvl="1"/>
            <a:r>
              <a:rPr lang="en-US" sz="3200" smtClean="0"/>
              <a:t>Disperses as it travels greater distance</a:t>
            </a:r>
          </a:p>
          <a:p>
            <a:pPr lvl="1"/>
            <a:r>
              <a:rPr lang="en-US" sz="3200" smtClean="0"/>
              <a:t>Attenuates as it passes through matter</a:t>
            </a:r>
          </a:p>
          <a:p>
            <a:pPr lvl="1">
              <a:buFont typeface="Helvetica" pitchFamily="34" charset="0"/>
              <a:buNone/>
            </a:pPr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34ED53D-E42B-45E8-9461-07092A824432}" type="slidenum">
              <a:rPr lang="en-US" smtClean="0"/>
              <a:pPr>
                <a:defRPr/>
              </a:pPr>
              <a:t>13</a:t>
            </a:fld>
            <a:endParaRPr lang="en-US" smtClean="0"/>
          </a:p>
        </p:txBody>
      </p:sp>
      <p:sp>
        <p:nvSpPr>
          <p:cNvPr id="26627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Links: High Bit Error Rate</a:t>
            </a:r>
          </a:p>
        </p:txBody>
      </p:sp>
      <p:sp>
        <p:nvSpPr>
          <p:cNvPr id="26628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2709863"/>
          </a:xfrm>
        </p:spPr>
        <p:txBody>
          <a:bodyPr/>
          <a:lstStyle/>
          <a:p>
            <a:r>
              <a:rPr lang="en-US" sz="3200" smtClean="0"/>
              <a:t>Interference from other sources</a:t>
            </a:r>
          </a:p>
          <a:p>
            <a:pPr lvl="1"/>
            <a:r>
              <a:rPr lang="en-US" sz="2800" smtClean="0"/>
              <a:t>Radio sources in same frequency band</a:t>
            </a:r>
          </a:p>
          <a:p>
            <a:pPr lvl="1"/>
            <a:r>
              <a:rPr lang="en-US" sz="2800" smtClean="0"/>
              <a:t>E.g., 2.4 GHz wireless phone interferes with 802.11b wireless LAN</a:t>
            </a:r>
          </a:p>
          <a:p>
            <a:pPr lvl="1"/>
            <a:r>
              <a:rPr lang="en-US" sz="2800" smtClean="0"/>
              <a:t>Electromagnetic noise (e.g., microwave oven)</a:t>
            </a:r>
          </a:p>
          <a:p>
            <a:pPr lvl="1">
              <a:buFont typeface="Helvetica" pitchFamily="34" charset="0"/>
              <a:buNone/>
            </a:pPr>
            <a:endParaRPr lang="en-US" sz="2000" smtClean="0"/>
          </a:p>
        </p:txBody>
      </p:sp>
      <p:pic>
        <p:nvPicPr>
          <p:cNvPr id="26629" name="Picture 9" descr="microwave-interferenc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8038" y="3889375"/>
            <a:ext cx="7758112" cy="261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04EC8E7-784C-4838-B726-C6E075AB3BFE}" type="slidenum">
              <a:rPr lang="en-US" smtClean="0"/>
              <a:pPr>
                <a:defRPr/>
              </a:pPr>
              <a:t>14</a:t>
            </a:fld>
            <a:endParaRPr lang="en-US" smtClean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Wireless Links: High Bit Error Rate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2709863"/>
          </a:xfrm>
        </p:spPr>
        <p:txBody>
          <a:bodyPr/>
          <a:lstStyle/>
          <a:p>
            <a:r>
              <a:rPr lang="en-US" sz="3600" smtClean="0"/>
              <a:t>Multi-path propagation</a:t>
            </a:r>
          </a:p>
          <a:p>
            <a:pPr lvl="1"/>
            <a:r>
              <a:rPr lang="en-US" sz="3200" smtClean="0"/>
              <a:t>Electromagnetic waves reflect off objects</a:t>
            </a:r>
          </a:p>
          <a:p>
            <a:pPr lvl="1"/>
            <a:r>
              <a:rPr lang="en-US" sz="3200" smtClean="0"/>
              <a:t>Taking many paths of different lengths</a:t>
            </a:r>
          </a:p>
          <a:p>
            <a:pPr lvl="1"/>
            <a:r>
              <a:rPr lang="en-US" sz="3200" smtClean="0"/>
              <a:t>Causing blurring of signal at the receiver</a:t>
            </a:r>
          </a:p>
          <a:p>
            <a:pPr lvl="1">
              <a:buFont typeface="Helvetica" pitchFamily="34" charset="0"/>
              <a:buNone/>
            </a:pPr>
            <a:endParaRPr lang="en-US" smtClean="0"/>
          </a:p>
        </p:txBody>
      </p:sp>
      <p:grpSp>
        <p:nvGrpSpPr>
          <p:cNvPr id="27653" name="Group 23"/>
          <p:cNvGrpSpPr>
            <a:grpSpLocks/>
          </p:cNvGrpSpPr>
          <p:nvPr/>
        </p:nvGrpSpPr>
        <p:grpSpPr bwMode="auto">
          <a:xfrm>
            <a:off x="962025" y="3533775"/>
            <a:ext cx="7959725" cy="3324225"/>
            <a:chOff x="606" y="2226"/>
            <a:chExt cx="5014" cy="2094"/>
          </a:xfrm>
        </p:grpSpPr>
        <p:pic>
          <p:nvPicPr>
            <p:cNvPr id="27654" name="Picture 6" descr="multipath_propagation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06" y="2226"/>
              <a:ext cx="4669" cy="20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655" name="Rectangle 7"/>
            <p:cNvSpPr>
              <a:spLocks noChangeArrowheads="1"/>
            </p:cNvSpPr>
            <p:nvPr/>
          </p:nvSpPr>
          <p:spPr bwMode="auto">
            <a:xfrm>
              <a:off x="3195" y="2257"/>
              <a:ext cx="459" cy="97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Rectangle 8"/>
            <p:cNvSpPr>
              <a:spLocks noChangeArrowheads="1"/>
            </p:cNvSpPr>
            <p:nvPr/>
          </p:nvSpPr>
          <p:spPr bwMode="auto">
            <a:xfrm>
              <a:off x="3388" y="2571"/>
              <a:ext cx="242" cy="121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Rectangle 9"/>
            <p:cNvSpPr>
              <a:spLocks noChangeArrowheads="1"/>
            </p:cNvSpPr>
            <p:nvPr/>
          </p:nvSpPr>
          <p:spPr bwMode="auto">
            <a:xfrm>
              <a:off x="3655" y="2644"/>
              <a:ext cx="169" cy="72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1"/>
            <p:cNvSpPr>
              <a:spLocks noChangeArrowheads="1"/>
            </p:cNvSpPr>
            <p:nvPr/>
          </p:nvSpPr>
          <p:spPr bwMode="auto">
            <a:xfrm>
              <a:off x="993" y="2692"/>
              <a:ext cx="387" cy="121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2"/>
            <p:cNvSpPr>
              <a:spLocks noChangeArrowheads="1"/>
            </p:cNvSpPr>
            <p:nvPr/>
          </p:nvSpPr>
          <p:spPr bwMode="auto">
            <a:xfrm>
              <a:off x="4719" y="3394"/>
              <a:ext cx="556" cy="121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0" name="Rectangle 13"/>
            <p:cNvSpPr>
              <a:spLocks noChangeArrowheads="1"/>
            </p:cNvSpPr>
            <p:nvPr/>
          </p:nvSpPr>
          <p:spPr bwMode="auto">
            <a:xfrm>
              <a:off x="3703" y="2910"/>
              <a:ext cx="508" cy="73"/>
            </a:xfrm>
            <a:prstGeom prst="rect">
              <a:avLst/>
            </a:prstGeom>
            <a:solidFill>
              <a:schemeClr val="bg1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1" name="Oval 14"/>
            <p:cNvSpPr>
              <a:spLocks noChangeArrowheads="1"/>
            </p:cNvSpPr>
            <p:nvPr/>
          </p:nvSpPr>
          <p:spPr bwMode="auto">
            <a:xfrm>
              <a:off x="4186" y="2934"/>
              <a:ext cx="73" cy="49"/>
            </a:xfrm>
            <a:prstGeom prst="ellipse">
              <a:avLst/>
            </a:prstGeom>
            <a:solidFill>
              <a:schemeClr val="bg1"/>
            </a:solidFill>
            <a:ln w="3810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2" name="Oval 15"/>
            <p:cNvSpPr>
              <a:spLocks noChangeArrowheads="1"/>
            </p:cNvSpPr>
            <p:nvPr/>
          </p:nvSpPr>
          <p:spPr bwMode="auto">
            <a:xfrm>
              <a:off x="3582" y="2620"/>
              <a:ext cx="145" cy="96"/>
            </a:xfrm>
            <a:prstGeom prst="ellipse">
              <a:avLst/>
            </a:prstGeom>
            <a:solidFill>
              <a:schemeClr val="bg1"/>
            </a:solidFill>
            <a:ln w="3810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Rectangle 16"/>
            <p:cNvSpPr>
              <a:spLocks noChangeArrowheads="1"/>
            </p:cNvSpPr>
            <p:nvPr/>
          </p:nvSpPr>
          <p:spPr bwMode="auto">
            <a:xfrm>
              <a:off x="3775" y="3418"/>
              <a:ext cx="460" cy="121"/>
            </a:xfrm>
            <a:prstGeom prst="rect">
              <a:avLst/>
            </a:prstGeom>
            <a:solidFill>
              <a:srgbClr val="CCFFFF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4" name="Rectangle 17"/>
            <p:cNvSpPr>
              <a:spLocks noChangeArrowheads="1"/>
            </p:cNvSpPr>
            <p:nvPr/>
          </p:nvSpPr>
          <p:spPr bwMode="auto">
            <a:xfrm>
              <a:off x="3799" y="4047"/>
              <a:ext cx="412" cy="121"/>
            </a:xfrm>
            <a:prstGeom prst="rect">
              <a:avLst/>
            </a:prstGeom>
            <a:solidFill>
              <a:srgbClr val="CCFFFF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5" name="Rectangle 18"/>
            <p:cNvSpPr>
              <a:spLocks noChangeArrowheads="1"/>
            </p:cNvSpPr>
            <p:nvPr/>
          </p:nvSpPr>
          <p:spPr bwMode="auto">
            <a:xfrm>
              <a:off x="1574" y="3636"/>
              <a:ext cx="387" cy="121"/>
            </a:xfrm>
            <a:prstGeom prst="rect">
              <a:avLst/>
            </a:prstGeom>
            <a:solidFill>
              <a:srgbClr val="CCFFFF"/>
            </a:solidFill>
            <a:ln w="38100" algn="ctr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6" name="Oval 19"/>
            <p:cNvSpPr>
              <a:spLocks noChangeArrowheads="1"/>
            </p:cNvSpPr>
            <p:nvPr/>
          </p:nvSpPr>
          <p:spPr bwMode="auto">
            <a:xfrm>
              <a:off x="1525" y="3660"/>
              <a:ext cx="97" cy="73"/>
            </a:xfrm>
            <a:prstGeom prst="ellipse">
              <a:avLst/>
            </a:prstGeom>
            <a:solidFill>
              <a:srgbClr val="CCFFFF"/>
            </a:solidFill>
            <a:ln w="38100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7" name="Text Box 20"/>
            <p:cNvSpPr txBox="1">
              <a:spLocks noChangeArrowheads="1"/>
            </p:cNvSpPr>
            <p:nvPr/>
          </p:nvSpPr>
          <p:spPr bwMode="auto">
            <a:xfrm>
              <a:off x="824" y="2475"/>
              <a:ext cx="726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receiver</a:t>
              </a:r>
            </a:p>
          </p:txBody>
        </p:sp>
        <p:sp>
          <p:nvSpPr>
            <p:cNvPr id="27668" name="Text Box 21"/>
            <p:cNvSpPr txBox="1">
              <a:spLocks noChangeArrowheads="1"/>
            </p:cNvSpPr>
            <p:nvPr/>
          </p:nvSpPr>
          <p:spPr bwMode="auto">
            <a:xfrm>
              <a:off x="4670" y="2668"/>
              <a:ext cx="950" cy="250"/>
            </a:xfrm>
            <a:prstGeom prst="rect">
              <a:avLst/>
            </a:prstGeom>
            <a:noFill/>
            <a:ln w="38100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/>
                <a:t>transmitter</a:t>
              </a:r>
            </a:p>
          </p:txBody>
        </p:sp>
        <p:sp>
          <p:nvSpPr>
            <p:cNvPr id="27669" name="Line 22"/>
            <p:cNvSpPr>
              <a:spLocks noChangeShapeType="1"/>
            </p:cNvSpPr>
            <p:nvPr/>
          </p:nvSpPr>
          <p:spPr bwMode="auto">
            <a:xfrm flipH="1" flipV="1">
              <a:off x="1646" y="2886"/>
              <a:ext cx="3242" cy="145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lg" len="lg"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6EBF094-505C-4901-9154-EDEAF8E17633}" type="slidenum">
              <a:rPr lang="en-US" smtClean="0"/>
              <a:pPr>
                <a:defRPr/>
              </a:pPr>
              <a:t>15</a:t>
            </a:fld>
            <a:endParaRPr lang="en-US" smtClean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Dealing With Bit Errors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dirty="0" smtClean="0"/>
              <a:t>Wireless vs. wired links</a:t>
            </a:r>
          </a:p>
          <a:p>
            <a:pPr lvl="1"/>
            <a:r>
              <a:rPr lang="en-US" sz="2800" dirty="0" smtClean="0"/>
              <a:t>Wired: most loss is due to congestion</a:t>
            </a:r>
          </a:p>
          <a:p>
            <a:pPr lvl="1"/>
            <a:r>
              <a:rPr lang="en-US" sz="2800" dirty="0" smtClean="0"/>
              <a:t>Wireless: </a:t>
            </a:r>
            <a:r>
              <a:rPr lang="en-US" sz="2800" dirty="0" smtClean="0"/>
              <a:t>higher </a:t>
            </a:r>
            <a:r>
              <a:rPr lang="en-US" sz="2800" dirty="0" smtClean="0"/>
              <a:t>bit-error rate</a:t>
            </a:r>
          </a:p>
          <a:p>
            <a:r>
              <a:rPr lang="en-US" sz="3200" dirty="0" smtClean="0"/>
              <a:t>Dealing with high bit-error rates</a:t>
            </a:r>
          </a:p>
          <a:p>
            <a:pPr lvl="1"/>
            <a:r>
              <a:rPr lang="en-US" sz="2800" dirty="0" smtClean="0"/>
              <a:t>Sender could increase transmission power</a:t>
            </a:r>
          </a:p>
          <a:p>
            <a:pPr lvl="2"/>
            <a:r>
              <a:rPr lang="en-US" sz="2400" dirty="0" smtClean="0"/>
              <a:t>Requires more energy (bad for battery-powered hosts)</a:t>
            </a:r>
          </a:p>
          <a:p>
            <a:pPr lvl="2"/>
            <a:r>
              <a:rPr lang="en-US" sz="2400" dirty="0" smtClean="0"/>
              <a:t>Creates more interference with other senders</a:t>
            </a:r>
          </a:p>
          <a:p>
            <a:pPr lvl="1"/>
            <a:r>
              <a:rPr lang="en-US" sz="2800" dirty="0" smtClean="0"/>
              <a:t>Stronger error detection and recovery</a:t>
            </a:r>
          </a:p>
          <a:p>
            <a:pPr lvl="2"/>
            <a:r>
              <a:rPr lang="en-US" sz="2400" dirty="0" smtClean="0"/>
              <a:t>More powerful error detection codes are required</a:t>
            </a:r>
          </a:p>
          <a:p>
            <a:pPr lvl="2"/>
            <a:r>
              <a:rPr lang="en-US" sz="2400" dirty="0" smtClean="0"/>
              <a:t>Link-layer retransmission of corrupted frames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51EBD8-C6EE-4D2E-832A-BC41318A3FD2}" type="slidenum">
              <a:rPr lang="en-US" smtClean="0"/>
              <a:pPr>
                <a:defRPr/>
              </a:pPr>
              <a:t>16</a:t>
            </a:fld>
            <a:endParaRPr lang="en-US" smtClean="0"/>
          </a:p>
        </p:txBody>
      </p:sp>
      <p:sp>
        <p:nvSpPr>
          <p:cNvPr id="20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Wireless Links: Broadcast Limitations</a:t>
            </a:r>
          </a:p>
        </p:txBody>
      </p:sp>
      <p:sp>
        <p:nvSpPr>
          <p:cNvPr id="205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Wired broadcast links</a:t>
            </a:r>
          </a:p>
          <a:p>
            <a:pPr lvl="1"/>
            <a:r>
              <a:rPr lang="en-US" dirty="0" smtClean="0"/>
              <a:t>E.g., Ethernet bridging, in wired LANs</a:t>
            </a:r>
          </a:p>
          <a:p>
            <a:pPr lvl="1"/>
            <a:r>
              <a:rPr lang="en-US" dirty="0" smtClean="0"/>
              <a:t>All nodes receive transmissions from all other nodes</a:t>
            </a:r>
          </a:p>
          <a:p>
            <a:r>
              <a:rPr lang="en-US" dirty="0" smtClean="0"/>
              <a:t>Wireless broadcast: </a:t>
            </a:r>
          </a:p>
        </p:txBody>
      </p:sp>
      <p:grpSp>
        <p:nvGrpSpPr>
          <p:cNvPr id="2059" name="Group 4"/>
          <p:cNvGrpSpPr>
            <a:grpSpLocks/>
          </p:cNvGrpSpPr>
          <p:nvPr/>
        </p:nvGrpSpPr>
        <p:grpSpPr bwMode="auto">
          <a:xfrm>
            <a:off x="577850" y="3505200"/>
            <a:ext cx="4097338" cy="2803525"/>
            <a:chOff x="759" y="2008"/>
            <a:chExt cx="1962" cy="1018"/>
          </a:xfrm>
        </p:grpSpPr>
        <p:grpSp>
          <p:nvGrpSpPr>
            <p:cNvPr id="2061" name="Group 5"/>
            <p:cNvGrpSpPr>
              <a:grpSpLocks/>
            </p:cNvGrpSpPr>
            <p:nvPr/>
          </p:nvGrpSpPr>
          <p:grpSpPr bwMode="auto">
            <a:xfrm>
              <a:off x="1529" y="2018"/>
              <a:ext cx="535" cy="466"/>
              <a:chOff x="2870" y="1518"/>
              <a:chExt cx="292" cy="320"/>
            </a:xfrm>
          </p:grpSpPr>
          <p:graphicFrame>
            <p:nvGraphicFramePr>
              <p:cNvPr id="2054" name="Object 6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2054" name="Clip" r:id="rId4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2055" name="Object 7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2055" name="Clip" r:id="rId5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2062" name="Freeform 8"/>
            <p:cNvSpPr>
              <a:spLocks/>
            </p:cNvSpPr>
            <p:nvPr/>
          </p:nvSpPr>
          <p:spPr bwMode="auto">
            <a:xfrm>
              <a:off x="759" y="2008"/>
              <a:ext cx="1273" cy="684"/>
            </a:xfrm>
            <a:custGeom>
              <a:avLst/>
              <a:gdLst>
                <a:gd name="T0" fmla="*/ 9 w 1273"/>
                <a:gd name="T1" fmla="*/ 675 h 684"/>
                <a:gd name="T2" fmla="*/ 316 w 1273"/>
                <a:gd name="T3" fmla="*/ 0 h 684"/>
                <a:gd name="T4" fmla="*/ 461 w 1273"/>
                <a:gd name="T5" fmla="*/ 228 h 684"/>
                <a:gd name="T6" fmla="*/ 510 w 1273"/>
                <a:gd name="T7" fmla="*/ 119 h 684"/>
                <a:gd name="T8" fmla="*/ 631 w 1273"/>
                <a:gd name="T9" fmla="*/ 467 h 684"/>
                <a:gd name="T10" fmla="*/ 667 w 1273"/>
                <a:gd name="T11" fmla="*/ 391 h 684"/>
                <a:gd name="T12" fmla="*/ 739 w 1273"/>
                <a:gd name="T13" fmla="*/ 464 h 684"/>
                <a:gd name="T14" fmla="*/ 1058 w 1273"/>
                <a:gd name="T15" fmla="*/ 57 h 684"/>
                <a:gd name="T16" fmla="*/ 1273 w 1273"/>
                <a:gd name="T17" fmla="*/ 684 h 684"/>
                <a:gd name="T18" fmla="*/ 0 w 1273"/>
                <a:gd name="T19" fmla="*/ 674 h 68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73"/>
                <a:gd name="T31" fmla="*/ 0 h 684"/>
                <a:gd name="T32" fmla="*/ 1273 w 1273"/>
                <a:gd name="T33" fmla="*/ 684 h 68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73" h="684">
                  <a:moveTo>
                    <a:pt x="9" y="675"/>
                  </a:moveTo>
                  <a:lnTo>
                    <a:pt x="316" y="0"/>
                  </a:lnTo>
                  <a:lnTo>
                    <a:pt x="461" y="228"/>
                  </a:lnTo>
                  <a:lnTo>
                    <a:pt x="510" y="119"/>
                  </a:lnTo>
                  <a:lnTo>
                    <a:pt x="631" y="467"/>
                  </a:lnTo>
                  <a:lnTo>
                    <a:pt x="667" y="391"/>
                  </a:lnTo>
                  <a:lnTo>
                    <a:pt x="739" y="464"/>
                  </a:lnTo>
                  <a:lnTo>
                    <a:pt x="1058" y="57"/>
                  </a:lnTo>
                  <a:lnTo>
                    <a:pt x="1273" y="684"/>
                  </a:lnTo>
                  <a:lnTo>
                    <a:pt x="0" y="674"/>
                  </a:lnTo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00CC66"/>
                </a:gs>
              </a:gsLst>
              <a:lin ang="5400000" scaled="1"/>
            </a:gradFill>
            <a:ln w="9525" cap="flat" cmpd="sng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2063" name="Group 9"/>
            <p:cNvGrpSpPr>
              <a:grpSpLocks/>
            </p:cNvGrpSpPr>
            <p:nvPr/>
          </p:nvGrpSpPr>
          <p:grpSpPr bwMode="auto">
            <a:xfrm>
              <a:off x="1053" y="2587"/>
              <a:ext cx="482" cy="439"/>
              <a:chOff x="2870" y="1518"/>
              <a:chExt cx="292" cy="320"/>
            </a:xfrm>
          </p:grpSpPr>
          <p:graphicFrame>
            <p:nvGraphicFramePr>
              <p:cNvPr id="2052" name="Object 10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2052" name="Clip" r:id="rId6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2053" name="Object 11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2053" name="Clip" r:id="rId7" imgW="1266840" imgH="1200240" progId="MS_ClipArt_Gallery.2">
                  <p:embed/>
                </p:oleObj>
              </a:graphicData>
            </a:graphic>
          </p:graphicFrame>
        </p:grpSp>
        <p:grpSp>
          <p:nvGrpSpPr>
            <p:cNvPr id="2064" name="Group 12"/>
            <p:cNvGrpSpPr>
              <a:grpSpLocks/>
            </p:cNvGrpSpPr>
            <p:nvPr/>
          </p:nvGrpSpPr>
          <p:grpSpPr bwMode="auto">
            <a:xfrm>
              <a:off x="2124" y="2391"/>
              <a:ext cx="482" cy="439"/>
              <a:chOff x="2870" y="1518"/>
              <a:chExt cx="292" cy="320"/>
            </a:xfrm>
          </p:grpSpPr>
          <p:graphicFrame>
            <p:nvGraphicFramePr>
              <p:cNvPr id="2050" name="Object 13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2050" name="Clip" r:id="rId8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2051" name="Object 14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2051" name="Clip" r:id="rId9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2065" name="Line 15"/>
            <p:cNvSpPr>
              <a:spLocks noChangeShapeType="1"/>
            </p:cNvSpPr>
            <p:nvPr/>
          </p:nvSpPr>
          <p:spPr bwMode="auto">
            <a:xfrm flipV="1">
              <a:off x="1561" y="2773"/>
              <a:ext cx="629" cy="10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66" name="Line 16"/>
            <p:cNvSpPr>
              <a:spLocks noChangeShapeType="1"/>
            </p:cNvSpPr>
            <p:nvPr/>
          </p:nvSpPr>
          <p:spPr bwMode="auto">
            <a:xfrm>
              <a:off x="1985" y="2471"/>
              <a:ext cx="257" cy="20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067" name="Text Box 17"/>
            <p:cNvSpPr txBox="1">
              <a:spLocks noChangeArrowheads="1"/>
            </p:cNvSpPr>
            <p:nvPr/>
          </p:nvSpPr>
          <p:spPr bwMode="auto">
            <a:xfrm>
              <a:off x="1006" y="2705"/>
              <a:ext cx="168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A</a:t>
              </a:r>
            </a:p>
          </p:txBody>
        </p:sp>
        <p:sp>
          <p:nvSpPr>
            <p:cNvPr id="2068" name="Text Box 18"/>
            <p:cNvSpPr txBox="1">
              <a:spLocks noChangeArrowheads="1"/>
            </p:cNvSpPr>
            <p:nvPr/>
          </p:nvSpPr>
          <p:spPr bwMode="auto">
            <a:xfrm>
              <a:off x="2564" y="2562"/>
              <a:ext cx="157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B</a:t>
              </a:r>
            </a:p>
          </p:txBody>
        </p:sp>
        <p:sp>
          <p:nvSpPr>
            <p:cNvPr id="2069" name="Text Box 19"/>
            <p:cNvSpPr txBox="1">
              <a:spLocks noChangeArrowheads="1"/>
            </p:cNvSpPr>
            <p:nvPr/>
          </p:nvSpPr>
          <p:spPr bwMode="auto">
            <a:xfrm>
              <a:off x="2014" y="2118"/>
              <a:ext cx="154" cy="1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C</a:t>
              </a:r>
            </a:p>
          </p:txBody>
        </p:sp>
      </p:grpSp>
      <p:sp>
        <p:nvSpPr>
          <p:cNvPr id="2060" name="Text Box 21"/>
          <p:cNvSpPr txBox="1">
            <a:spLocks noChangeArrowheads="1"/>
          </p:cNvSpPr>
          <p:nvPr/>
        </p:nvSpPr>
        <p:spPr bwMode="auto">
          <a:xfrm>
            <a:off x="5000625" y="3736975"/>
            <a:ext cx="3833813" cy="2320925"/>
          </a:xfrm>
          <a:prstGeom prst="rect">
            <a:avLst/>
          </a:prstGeom>
          <a:solidFill>
            <a:srgbClr val="CCFFFF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US" sz="2400"/>
              <a:t>A and B hear each other</a:t>
            </a:r>
          </a:p>
          <a:p>
            <a:pPr algn="l">
              <a:buFontTx/>
              <a:buChar char="•"/>
            </a:pPr>
            <a:r>
              <a:rPr lang="en-US" sz="2400"/>
              <a:t>B and C hear each other</a:t>
            </a:r>
          </a:p>
          <a:p>
            <a:pPr algn="l">
              <a:buFontTx/>
              <a:buChar char="•"/>
            </a:pPr>
            <a:r>
              <a:rPr lang="en-US" sz="2400"/>
              <a:t>But, A and C do not</a:t>
            </a:r>
          </a:p>
          <a:p>
            <a:pPr algn="l">
              <a:buFontTx/>
              <a:buChar char="•"/>
            </a:pPr>
            <a:endParaRPr lang="en-US" sz="2400"/>
          </a:p>
          <a:p>
            <a:pPr algn="l"/>
            <a:r>
              <a:rPr lang="en-US" sz="2400"/>
              <a:t>So, A and C are unaware</a:t>
            </a:r>
          </a:p>
          <a:p>
            <a:pPr algn="l"/>
            <a:r>
              <a:rPr lang="en-US" sz="2400"/>
              <a:t>of their interference at 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3CCBED3-4C62-49E9-A5AC-DCE165020E43}" type="slidenum">
              <a:rPr lang="en-US" smtClean="0"/>
              <a:pPr>
                <a:defRPr/>
              </a:pPr>
              <a:t>17</a:t>
            </a:fld>
            <a:endParaRPr lang="en-US" smtClean="0"/>
          </a:p>
        </p:txBody>
      </p:sp>
      <p:sp>
        <p:nvSpPr>
          <p:cNvPr id="30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Wireless Links: Broadcast Limitations</a:t>
            </a:r>
          </a:p>
        </p:txBody>
      </p:sp>
      <p:sp>
        <p:nvSpPr>
          <p:cNvPr id="308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Wired broadcast links</a:t>
            </a:r>
          </a:p>
          <a:p>
            <a:pPr lvl="1"/>
            <a:r>
              <a:rPr lang="en-US" dirty="0" smtClean="0"/>
              <a:t>All </a:t>
            </a:r>
            <a:r>
              <a:rPr lang="en-US" dirty="0" smtClean="0"/>
              <a:t>nodes receive transmissions from all other nodes</a:t>
            </a:r>
          </a:p>
          <a:p>
            <a:r>
              <a:rPr lang="en-US" dirty="0" smtClean="0"/>
              <a:t>Wireless broadcast: fading over distance</a:t>
            </a:r>
          </a:p>
        </p:txBody>
      </p:sp>
      <p:grpSp>
        <p:nvGrpSpPr>
          <p:cNvPr id="3083" name="Group 21"/>
          <p:cNvGrpSpPr>
            <a:grpSpLocks/>
          </p:cNvGrpSpPr>
          <p:nvPr/>
        </p:nvGrpSpPr>
        <p:grpSpPr bwMode="auto">
          <a:xfrm>
            <a:off x="539750" y="3621088"/>
            <a:ext cx="4243388" cy="2754312"/>
            <a:chOff x="3264" y="1698"/>
            <a:chExt cx="2176" cy="1404"/>
          </a:xfrm>
        </p:grpSpPr>
        <p:grpSp>
          <p:nvGrpSpPr>
            <p:cNvPr id="3085" name="Group 22"/>
            <p:cNvGrpSpPr>
              <a:grpSpLocks/>
            </p:cNvGrpSpPr>
            <p:nvPr/>
          </p:nvGrpSpPr>
          <p:grpSpPr bwMode="auto">
            <a:xfrm>
              <a:off x="3264" y="1698"/>
              <a:ext cx="2113" cy="455"/>
              <a:chOff x="3256" y="1911"/>
              <a:chExt cx="2113" cy="455"/>
            </a:xfrm>
          </p:grpSpPr>
          <p:grpSp>
            <p:nvGrpSpPr>
              <p:cNvPr id="3096" name="Group 23"/>
              <p:cNvGrpSpPr>
                <a:grpSpLocks/>
              </p:cNvGrpSpPr>
              <p:nvPr/>
            </p:nvGrpSpPr>
            <p:grpSpPr bwMode="auto">
              <a:xfrm>
                <a:off x="3303" y="191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3078" name="Object 24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3078" name="Clip" r:id="rId4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3079" name="Object 25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3079" name="Clip" r:id="rId5" imgW="1266840" imgH="1200240" progId="MS_ClipArt_Gallery.2">
                    <p:embed/>
                  </p:oleObj>
                </a:graphicData>
              </a:graphic>
            </p:graphicFrame>
          </p:grpSp>
          <p:grpSp>
            <p:nvGrpSpPr>
              <p:cNvPr id="3097" name="Group 26"/>
              <p:cNvGrpSpPr>
                <a:grpSpLocks/>
              </p:cNvGrpSpPr>
              <p:nvPr/>
            </p:nvGrpSpPr>
            <p:grpSpPr bwMode="auto">
              <a:xfrm>
                <a:off x="4037" y="1919"/>
                <a:ext cx="482" cy="439"/>
                <a:chOff x="2870" y="1518"/>
                <a:chExt cx="292" cy="320"/>
              </a:xfrm>
            </p:grpSpPr>
            <p:graphicFrame>
              <p:nvGraphicFramePr>
                <p:cNvPr id="3076" name="Object 27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3076" name="Clip" r:id="rId6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3077" name="Object 28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3077" name="Clip" r:id="rId7" imgW="1266840" imgH="1200240" progId="MS_ClipArt_Gallery.2">
                    <p:embed/>
                  </p:oleObj>
                </a:graphicData>
              </a:graphic>
            </p:graphicFrame>
          </p:grpSp>
          <p:sp>
            <p:nvSpPr>
              <p:cNvPr id="3098" name="Text Box 29"/>
              <p:cNvSpPr txBox="1">
                <a:spLocks noChangeArrowheads="1"/>
              </p:cNvSpPr>
              <p:nvPr/>
            </p:nvSpPr>
            <p:spPr bwMode="auto">
              <a:xfrm>
                <a:off x="3256" y="2029"/>
                <a:ext cx="180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A</a:t>
                </a:r>
              </a:p>
            </p:txBody>
          </p:sp>
          <p:sp>
            <p:nvSpPr>
              <p:cNvPr id="3099" name="Text Box 30"/>
              <p:cNvSpPr txBox="1">
                <a:spLocks noChangeArrowheads="1"/>
              </p:cNvSpPr>
              <p:nvPr/>
            </p:nvSpPr>
            <p:spPr bwMode="auto">
              <a:xfrm>
                <a:off x="4459" y="2027"/>
                <a:ext cx="207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 eaLnBrk="0" hangingPunct="0"/>
                <a:r>
                  <a:rPr lang="en-US" sz="1800" b="0">
                    <a:latin typeface="Comic Sans MS" pitchFamily="66" charset="0"/>
                  </a:rPr>
                  <a:t>B</a:t>
                </a:r>
              </a:p>
            </p:txBody>
          </p:sp>
          <p:sp>
            <p:nvSpPr>
              <p:cNvPr id="3100" name="Text Box 31"/>
              <p:cNvSpPr txBox="1">
                <a:spLocks noChangeArrowheads="1"/>
              </p:cNvSpPr>
              <p:nvPr/>
            </p:nvSpPr>
            <p:spPr bwMode="auto">
              <a:xfrm>
                <a:off x="5203" y="2054"/>
                <a:ext cx="166" cy="1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latin typeface="Comic Sans MS" pitchFamily="66" charset="0"/>
                  </a:rPr>
                  <a:t>C</a:t>
                </a:r>
              </a:p>
            </p:txBody>
          </p:sp>
          <p:grpSp>
            <p:nvGrpSpPr>
              <p:cNvPr id="3101" name="Group 32"/>
              <p:cNvGrpSpPr>
                <a:grpSpLocks/>
              </p:cNvGrpSpPr>
              <p:nvPr/>
            </p:nvGrpSpPr>
            <p:grpSpPr bwMode="auto">
              <a:xfrm>
                <a:off x="4726" y="192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3074" name="Object 33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3074" name="Clip" r:id="rId8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3075" name="Object 34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3075" name="Clip" r:id="rId9" imgW="1266840" imgH="1200240" progId="MS_ClipArt_Gallery.2">
                    <p:embed/>
                  </p:oleObj>
                </a:graphicData>
              </a:graphic>
            </p:graphicFrame>
          </p:grpSp>
        </p:grpSp>
        <p:sp>
          <p:nvSpPr>
            <p:cNvPr id="3086" name="Text Box 35"/>
            <p:cNvSpPr txBox="1">
              <a:spLocks noChangeArrowheads="1"/>
            </p:cNvSpPr>
            <p:nvPr/>
          </p:nvSpPr>
          <p:spPr bwMode="auto">
            <a:xfrm>
              <a:off x="3310" y="2337"/>
              <a:ext cx="487" cy="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400" b="0">
                  <a:solidFill>
                    <a:srgbClr val="FF0000"/>
                  </a:solidFill>
                  <a:latin typeface="Comic Sans MS" pitchFamily="66" charset="0"/>
                </a:rPr>
                <a:t>A’s signal</a:t>
              </a:r>
            </a:p>
            <a:p>
              <a:pPr algn="l" eaLnBrk="0" hangingPunct="0"/>
              <a:r>
                <a:rPr lang="en-US" sz="1400" b="0">
                  <a:solidFill>
                    <a:srgbClr val="FF0000"/>
                  </a:solidFill>
                  <a:latin typeface="Comic Sans MS" pitchFamily="66" charset="0"/>
                </a:rPr>
                <a:t>strength</a:t>
              </a:r>
            </a:p>
          </p:txBody>
        </p:sp>
        <p:sp>
          <p:nvSpPr>
            <p:cNvPr id="3087" name="Line 36"/>
            <p:cNvSpPr>
              <a:spLocks noChangeShapeType="1"/>
            </p:cNvSpPr>
            <p:nvPr/>
          </p:nvSpPr>
          <p:spPr bwMode="auto">
            <a:xfrm>
              <a:off x="3349" y="2985"/>
              <a:ext cx="20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8" name="Line 37"/>
            <p:cNvSpPr>
              <a:spLocks noChangeShapeType="1"/>
            </p:cNvSpPr>
            <p:nvPr/>
          </p:nvSpPr>
          <p:spPr bwMode="auto">
            <a:xfrm>
              <a:off x="3315" y="2242"/>
              <a:ext cx="0" cy="7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89" name="Freeform 38"/>
            <p:cNvSpPr>
              <a:spLocks/>
            </p:cNvSpPr>
            <p:nvPr/>
          </p:nvSpPr>
          <p:spPr bwMode="auto">
            <a:xfrm>
              <a:off x="3367" y="2277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7"/>
                <a:gd name="T13" fmla="*/ 0 h 681"/>
                <a:gd name="T14" fmla="*/ 1887 w 1887"/>
                <a:gd name="T15" fmla="*/ 681 h 6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0" name="Text Box 39"/>
            <p:cNvSpPr txBox="1">
              <a:spLocks noChangeArrowheads="1"/>
            </p:cNvSpPr>
            <p:nvPr/>
          </p:nvSpPr>
          <p:spPr bwMode="auto">
            <a:xfrm>
              <a:off x="4158" y="2962"/>
              <a:ext cx="297" cy="14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200" b="0">
                  <a:latin typeface="Comic Sans MS" pitchFamily="66" charset="0"/>
                </a:rPr>
                <a:t>space</a:t>
              </a:r>
            </a:p>
          </p:txBody>
        </p:sp>
        <p:sp>
          <p:nvSpPr>
            <p:cNvPr id="3091" name="Freeform 40"/>
            <p:cNvSpPr>
              <a:spLocks/>
            </p:cNvSpPr>
            <p:nvPr/>
          </p:nvSpPr>
          <p:spPr bwMode="auto">
            <a:xfrm flipH="1">
              <a:off x="3427" y="2258"/>
              <a:ext cx="1887" cy="681"/>
            </a:xfrm>
            <a:custGeom>
              <a:avLst/>
              <a:gdLst>
                <a:gd name="T0" fmla="*/ 0 w 1887"/>
                <a:gd name="T1" fmla="*/ 0 h 681"/>
                <a:gd name="T2" fmla="*/ 966 w 1887"/>
                <a:gd name="T3" fmla="*/ 151 h 681"/>
                <a:gd name="T4" fmla="*/ 1373 w 1887"/>
                <a:gd name="T5" fmla="*/ 594 h 681"/>
                <a:gd name="T6" fmla="*/ 1887 w 1887"/>
                <a:gd name="T7" fmla="*/ 673 h 6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7"/>
                <a:gd name="T13" fmla="*/ 0 h 681"/>
                <a:gd name="T14" fmla="*/ 1887 w 1887"/>
                <a:gd name="T15" fmla="*/ 681 h 6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7" h="681">
                  <a:moveTo>
                    <a:pt x="0" y="0"/>
                  </a:moveTo>
                  <a:cubicBezTo>
                    <a:pt x="161" y="25"/>
                    <a:pt x="737" y="52"/>
                    <a:pt x="966" y="151"/>
                  </a:cubicBezTo>
                  <a:cubicBezTo>
                    <a:pt x="1195" y="250"/>
                    <a:pt x="1220" y="507"/>
                    <a:pt x="1373" y="594"/>
                  </a:cubicBezTo>
                  <a:cubicBezTo>
                    <a:pt x="1526" y="681"/>
                    <a:pt x="1780" y="657"/>
                    <a:pt x="1887" y="673"/>
                  </a:cubicBezTo>
                </a:path>
              </a:pathLst>
            </a:custGeom>
            <a:noFill/>
            <a:ln w="38100" cap="flat" cmpd="sng">
              <a:solidFill>
                <a:schemeClr val="accent2"/>
              </a:solidFill>
              <a:prstDash val="solid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2" name="Text Box 41"/>
            <p:cNvSpPr txBox="1">
              <a:spLocks noChangeArrowheads="1"/>
            </p:cNvSpPr>
            <p:nvPr/>
          </p:nvSpPr>
          <p:spPr bwMode="auto">
            <a:xfrm>
              <a:off x="4965" y="2292"/>
              <a:ext cx="475" cy="2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400" b="0">
                  <a:solidFill>
                    <a:schemeClr val="accent2"/>
                  </a:solidFill>
                  <a:latin typeface="Comic Sans MS" pitchFamily="66" charset="0"/>
                </a:rPr>
                <a:t>C’s signal</a:t>
              </a:r>
            </a:p>
            <a:p>
              <a:pPr algn="l" eaLnBrk="0" hangingPunct="0"/>
              <a:r>
                <a:rPr lang="en-US" sz="1400" b="0">
                  <a:solidFill>
                    <a:schemeClr val="accent2"/>
                  </a:solidFill>
                  <a:latin typeface="Comic Sans MS" pitchFamily="66" charset="0"/>
                </a:rPr>
                <a:t>strength</a:t>
              </a:r>
            </a:p>
          </p:txBody>
        </p:sp>
        <p:sp>
          <p:nvSpPr>
            <p:cNvPr id="3093" name="Line 42"/>
            <p:cNvSpPr>
              <a:spLocks noChangeShapeType="1"/>
            </p:cNvSpPr>
            <p:nvPr/>
          </p:nvSpPr>
          <p:spPr bwMode="auto">
            <a:xfrm flipH="1">
              <a:off x="3554" y="2171"/>
              <a:ext cx="17" cy="7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4" name="Line 43"/>
            <p:cNvSpPr>
              <a:spLocks noChangeShapeType="1"/>
            </p:cNvSpPr>
            <p:nvPr/>
          </p:nvSpPr>
          <p:spPr bwMode="auto">
            <a:xfrm>
              <a:off x="4323" y="2214"/>
              <a:ext cx="0" cy="7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3095" name="Line 44"/>
            <p:cNvSpPr>
              <a:spLocks noChangeShapeType="1"/>
            </p:cNvSpPr>
            <p:nvPr/>
          </p:nvSpPr>
          <p:spPr bwMode="auto">
            <a:xfrm>
              <a:off x="5004" y="2204"/>
              <a:ext cx="0" cy="7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3084" name="Text Box 46"/>
          <p:cNvSpPr txBox="1">
            <a:spLocks noChangeArrowheads="1"/>
          </p:cNvSpPr>
          <p:nvPr/>
        </p:nvSpPr>
        <p:spPr bwMode="auto">
          <a:xfrm>
            <a:off x="5032375" y="3795713"/>
            <a:ext cx="3833813" cy="2320925"/>
          </a:xfrm>
          <a:prstGeom prst="rect">
            <a:avLst/>
          </a:prstGeom>
          <a:solidFill>
            <a:srgbClr val="CCFFFF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US" sz="2400"/>
              <a:t>A and B hear each other</a:t>
            </a:r>
          </a:p>
          <a:p>
            <a:pPr algn="l">
              <a:buFontTx/>
              <a:buChar char="•"/>
            </a:pPr>
            <a:r>
              <a:rPr lang="en-US" sz="2400"/>
              <a:t>B and C hear each other</a:t>
            </a:r>
          </a:p>
          <a:p>
            <a:pPr algn="l">
              <a:buFontTx/>
              <a:buChar char="•"/>
            </a:pPr>
            <a:r>
              <a:rPr lang="en-US" sz="2400"/>
              <a:t>But, A and C do not</a:t>
            </a:r>
          </a:p>
          <a:p>
            <a:pPr algn="l">
              <a:buFontTx/>
              <a:buChar char="•"/>
            </a:pPr>
            <a:endParaRPr lang="en-US" sz="2400"/>
          </a:p>
          <a:p>
            <a:pPr algn="l"/>
            <a:r>
              <a:rPr lang="en-US" sz="2400"/>
              <a:t>So, A and C are unaware</a:t>
            </a:r>
          </a:p>
          <a:p>
            <a:pPr algn="l"/>
            <a:r>
              <a:rPr lang="en-US" sz="2400"/>
              <a:t>of their interference at 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07A253A-9D28-4B4F-B75E-3139DC0AFC13}" type="slidenum">
              <a:rPr lang="en-US" smtClean="0"/>
              <a:pPr>
                <a:defRPr/>
              </a:pPr>
              <a:t>18</a:t>
            </a:fld>
            <a:endParaRPr lang="en-US" smtClean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Example Wireless Link Technologies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Data networks</a:t>
            </a:r>
          </a:p>
          <a:p>
            <a:pPr lvl="1"/>
            <a:r>
              <a:rPr lang="en-US" smtClean="0"/>
              <a:t>Indoor (10-30 meters)</a:t>
            </a:r>
          </a:p>
          <a:p>
            <a:pPr lvl="2"/>
            <a:r>
              <a:rPr lang="en-US" smtClean="0"/>
              <a:t>802.11n: 200 Mbps</a:t>
            </a:r>
          </a:p>
          <a:p>
            <a:pPr lvl="2"/>
            <a:r>
              <a:rPr lang="en-US" smtClean="0"/>
              <a:t>802.11a and g: 54 Mbps</a:t>
            </a:r>
          </a:p>
          <a:p>
            <a:pPr lvl="2"/>
            <a:r>
              <a:rPr lang="en-US" smtClean="0"/>
              <a:t>802.11b: 5-11 Mbps</a:t>
            </a:r>
          </a:p>
          <a:p>
            <a:pPr lvl="2"/>
            <a:r>
              <a:rPr lang="en-US" smtClean="0"/>
              <a:t>802.15.1: 1 Mbps</a:t>
            </a:r>
          </a:p>
          <a:p>
            <a:pPr lvl="1"/>
            <a:r>
              <a:rPr lang="en-US" smtClean="0"/>
              <a:t>Outdoor (50 meters to 20 kmeters)</a:t>
            </a:r>
          </a:p>
          <a:p>
            <a:pPr lvl="2"/>
            <a:r>
              <a:rPr lang="en-US" smtClean="0"/>
              <a:t>802.11 and g point-to-point: 54 Mbps</a:t>
            </a:r>
          </a:p>
          <a:p>
            <a:pPr lvl="2"/>
            <a:r>
              <a:rPr lang="en-US" smtClean="0"/>
              <a:t>WiMax: 5-11 Mbps</a:t>
            </a:r>
          </a:p>
          <a:p>
            <a:r>
              <a:rPr lang="en-US" smtClean="0"/>
              <a:t>Cellular networks, outdoors</a:t>
            </a:r>
          </a:p>
          <a:p>
            <a:pPr lvl="1"/>
            <a:r>
              <a:rPr lang="en-US" smtClean="0"/>
              <a:t>3G enhanced: 4 Mbps</a:t>
            </a:r>
          </a:p>
          <a:p>
            <a:pPr lvl="1"/>
            <a:r>
              <a:rPr lang="en-US" smtClean="0"/>
              <a:t>3G: 384 Kbps</a:t>
            </a:r>
          </a:p>
          <a:p>
            <a:pPr lvl="1"/>
            <a:r>
              <a:rPr lang="en-US" smtClean="0"/>
              <a:t>2G: 56 Kbps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FAFB22-B85F-41B5-B321-93038E861241}" type="slidenum">
              <a:rPr lang="en-US" smtClean="0"/>
              <a:pPr>
                <a:defRPr/>
              </a:pPr>
              <a:t>19</a:t>
            </a:fld>
            <a:endParaRPr lang="en-US" smtClean="0"/>
          </a:p>
        </p:txBody>
      </p:sp>
      <p:sp>
        <p:nvSpPr>
          <p:cNvPr id="1126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Channels and Association</a:t>
            </a:r>
          </a:p>
        </p:txBody>
      </p:sp>
      <p:sp>
        <p:nvSpPr>
          <p:cNvPr id="1127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Multiple channels at different frequencies</a:t>
            </a:r>
          </a:p>
          <a:p>
            <a:pPr lvl="1"/>
            <a:r>
              <a:rPr lang="en-US" smtClean="0"/>
              <a:t>Network administrator chooses frequency for AP</a:t>
            </a:r>
          </a:p>
          <a:p>
            <a:pPr lvl="1"/>
            <a:r>
              <a:rPr lang="en-US" smtClean="0"/>
              <a:t>Interference if frequency is same as neighboring AP</a:t>
            </a:r>
          </a:p>
          <a:p>
            <a:r>
              <a:rPr lang="en-US" smtClean="0"/>
              <a:t>Access points send periodic beacon frames</a:t>
            </a:r>
          </a:p>
          <a:p>
            <a:pPr lvl="1"/>
            <a:r>
              <a:rPr lang="en-US" smtClean="0"/>
              <a:t>Containing AP’s name (SSID) and MAC address</a:t>
            </a:r>
          </a:p>
          <a:p>
            <a:pPr lvl="1"/>
            <a:r>
              <a:rPr lang="en-US" smtClean="0"/>
              <a:t>Host scans channels, listening for beacon frames</a:t>
            </a:r>
          </a:p>
          <a:p>
            <a:pPr lvl="1"/>
            <a:r>
              <a:rPr lang="en-US" smtClean="0"/>
              <a:t>Host selects an access point to associate with</a:t>
            </a:r>
          </a:p>
        </p:txBody>
      </p:sp>
      <p:sp>
        <p:nvSpPr>
          <p:cNvPr id="11271" name="Oval 6"/>
          <p:cNvSpPr>
            <a:spLocks noChangeArrowheads="1"/>
          </p:cNvSpPr>
          <p:nvPr/>
        </p:nvSpPr>
        <p:spPr bwMode="auto">
          <a:xfrm>
            <a:off x="1076325" y="4632325"/>
            <a:ext cx="2055813" cy="1946275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2" name="Oval 7"/>
          <p:cNvSpPr>
            <a:spLocks noChangeArrowheads="1"/>
          </p:cNvSpPr>
          <p:nvPr/>
        </p:nvSpPr>
        <p:spPr bwMode="auto">
          <a:xfrm>
            <a:off x="2305050" y="4594225"/>
            <a:ext cx="2055813" cy="1946275"/>
          </a:xfrm>
          <a:prstGeom prst="ellipse">
            <a:avLst/>
          </a:prstGeom>
          <a:solidFill>
            <a:srgbClr val="CCECFF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1273" name="Group 8"/>
          <p:cNvGrpSpPr>
            <a:grpSpLocks/>
          </p:cNvGrpSpPr>
          <p:nvPr/>
        </p:nvGrpSpPr>
        <p:grpSpPr bwMode="auto">
          <a:xfrm>
            <a:off x="2363788" y="5233988"/>
            <a:ext cx="730250" cy="882650"/>
            <a:chOff x="2870" y="1518"/>
            <a:chExt cx="292" cy="320"/>
          </a:xfrm>
        </p:grpSpPr>
        <p:graphicFrame>
          <p:nvGraphicFramePr>
            <p:cNvPr id="11266" name="Object 9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1266" name="Clip" r:id="rId4" imgW="819000" imgH="847800" progId="MS_ClipArt_Gallery.2">
                <p:embed/>
              </p:oleObj>
            </a:graphicData>
          </a:graphic>
        </p:graphicFrame>
        <p:graphicFrame>
          <p:nvGraphicFramePr>
            <p:cNvPr id="11267" name="Object 10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1267" name="Clip" r:id="rId5" imgW="1266840" imgH="1200240" progId="MS_ClipArt_Gallery.2">
                <p:embed/>
              </p:oleObj>
            </a:graphicData>
          </a:graphic>
        </p:graphicFrame>
      </p:grpSp>
      <p:grpSp>
        <p:nvGrpSpPr>
          <p:cNvPr id="11274" name="Group 13"/>
          <p:cNvGrpSpPr>
            <a:grpSpLocks/>
          </p:cNvGrpSpPr>
          <p:nvPr/>
        </p:nvGrpSpPr>
        <p:grpSpPr bwMode="auto">
          <a:xfrm>
            <a:off x="3554413" y="4887913"/>
            <a:ext cx="827087" cy="831850"/>
            <a:chOff x="1160" y="2192"/>
            <a:chExt cx="589" cy="440"/>
          </a:xfrm>
        </p:grpSpPr>
        <p:pic>
          <p:nvPicPr>
            <p:cNvPr id="11299" name="Picture 14" descr="31u_bnrz[1]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300" name="AutoShape 15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16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29 w 247"/>
                <a:gd name="T1" fmla="*/ 13 h 203"/>
                <a:gd name="T2" fmla="*/ 23 w 247"/>
                <a:gd name="T3" fmla="*/ 17 h 203"/>
                <a:gd name="T4" fmla="*/ 17 w 247"/>
                <a:gd name="T5" fmla="*/ 22 h 203"/>
                <a:gd name="T6" fmla="*/ 13 w 247"/>
                <a:gd name="T7" fmla="*/ 28 h 203"/>
                <a:gd name="T8" fmla="*/ 8 w 247"/>
                <a:gd name="T9" fmla="*/ 34 h 203"/>
                <a:gd name="T10" fmla="*/ 5 w 247"/>
                <a:gd name="T11" fmla="*/ 40 h 203"/>
                <a:gd name="T12" fmla="*/ 2 w 247"/>
                <a:gd name="T13" fmla="*/ 47 h 203"/>
                <a:gd name="T14" fmla="*/ 1 w 247"/>
                <a:gd name="T15" fmla="*/ 55 h 203"/>
                <a:gd name="T16" fmla="*/ 0 w 247"/>
                <a:gd name="T17" fmla="*/ 62 h 203"/>
                <a:gd name="T18" fmla="*/ 1 w 247"/>
                <a:gd name="T19" fmla="*/ 73 h 203"/>
                <a:gd name="T20" fmla="*/ 5 w 247"/>
                <a:gd name="T21" fmla="*/ 82 h 203"/>
                <a:gd name="T22" fmla="*/ 11 w 247"/>
                <a:gd name="T23" fmla="*/ 89 h 203"/>
                <a:gd name="T24" fmla="*/ 18 w 247"/>
                <a:gd name="T25" fmla="*/ 95 h 203"/>
                <a:gd name="T26" fmla="*/ 27 w 247"/>
                <a:gd name="T27" fmla="*/ 99 h 203"/>
                <a:gd name="T28" fmla="*/ 37 w 247"/>
                <a:gd name="T29" fmla="*/ 101 h 203"/>
                <a:gd name="T30" fmla="*/ 46 w 247"/>
                <a:gd name="T31" fmla="*/ 102 h 203"/>
                <a:gd name="T32" fmla="*/ 55 w 247"/>
                <a:gd name="T33" fmla="*/ 100 h 203"/>
                <a:gd name="T34" fmla="*/ 57 w 247"/>
                <a:gd name="T35" fmla="*/ 100 h 203"/>
                <a:gd name="T36" fmla="*/ 59 w 247"/>
                <a:gd name="T37" fmla="*/ 99 h 203"/>
                <a:gd name="T38" fmla="*/ 61 w 247"/>
                <a:gd name="T39" fmla="*/ 98 h 203"/>
                <a:gd name="T40" fmla="*/ 61 w 247"/>
                <a:gd name="T41" fmla="*/ 96 h 203"/>
                <a:gd name="T42" fmla="*/ 60 w 247"/>
                <a:gd name="T43" fmla="*/ 93 h 203"/>
                <a:gd name="T44" fmla="*/ 58 w 247"/>
                <a:gd name="T45" fmla="*/ 91 h 203"/>
                <a:gd name="T46" fmla="*/ 56 w 247"/>
                <a:gd name="T47" fmla="*/ 89 h 203"/>
                <a:gd name="T48" fmla="*/ 54 w 247"/>
                <a:gd name="T49" fmla="*/ 88 h 203"/>
                <a:gd name="T50" fmla="*/ 49 w 247"/>
                <a:gd name="T51" fmla="*/ 87 h 203"/>
                <a:gd name="T52" fmla="*/ 44 w 247"/>
                <a:gd name="T53" fmla="*/ 86 h 203"/>
                <a:gd name="T54" fmla="*/ 39 w 247"/>
                <a:gd name="T55" fmla="*/ 85 h 203"/>
                <a:gd name="T56" fmla="*/ 35 w 247"/>
                <a:gd name="T57" fmla="*/ 84 h 203"/>
                <a:gd name="T58" fmla="*/ 30 w 247"/>
                <a:gd name="T59" fmla="*/ 82 h 203"/>
                <a:gd name="T60" fmla="*/ 26 w 247"/>
                <a:gd name="T61" fmla="*/ 80 h 203"/>
                <a:gd name="T62" fmla="*/ 22 w 247"/>
                <a:gd name="T63" fmla="*/ 77 h 203"/>
                <a:gd name="T64" fmla="*/ 18 w 247"/>
                <a:gd name="T65" fmla="*/ 73 h 203"/>
                <a:gd name="T66" fmla="*/ 16 w 247"/>
                <a:gd name="T67" fmla="*/ 56 h 203"/>
                <a:gd name="T68" fmla="*/ 20 w 247"/>
                <a:gd name="T69" fmla="*/ 42 h 203"/>
                <a:gd name="T70" fmla="*/ 28 w 247"/>
                <a:gd name="T71" fmla="*/ 31 h 203"/>
                <a:gd name="T72" fmla="*/ 39 w 247"/>
                <a:gd name="T73" fmla="*/ 22 h 203"/>
                <a:gd name="T74" fmla="*/ 51 w 247"/>
                <a:gd name="T75" fmla="*/ 15 h 203"/>
                <a:gd name="T76" fmla="*/ 63 w 247"/>
                <a:gd name="T77" fmla="*/ 10 h 203"/>
                <a:gd name="T78" fmla="*/ 74 w 247"/>
                <a:gd name="T79" fmla="*/ 6 h 203"/>
                <a:gd name="T80" fmla="*/ 83 w 247"/>
                <a:gd name="T81" fmla="*/ 2 h 203"/>
                <a:gd name="T82" fmla="*/ 78 w 247"/>
                <a:gd name="T83" fmla="*/ 1 h 203"/>
                <a:gd name="T84" fmla="*/ 72 w 247"/>
                <a:gd name="T85" fmla="*/ 0 h 203"/>
                <a:gd name="T86" fmla="*/ 65 w 247"/>
                <a:gd name="T87" fmla="*/ 1 h 203"/>
                <a:gd name="T88" fmla="*/ 57 w 247"/>
                <a:gd name="T89" fmla="*/ 2 h 203"/>
                <a:gd name="T90" fmla="*/ 50 w 247"/>
                <a:gd name="T91" fmla="*/ 5 h 203"/>
                <a:gd name="T92" fmla="*/ 43 w 247"/>
                <a:gd name="T93" fmla="*/ 7 h 203"/>
                <a:gd name="T94" fmla="*/ 36 w 247"/>
                <a:gd name="T95" fmla="*/ 10 h 203"/>
                <a:gd name="T96" fmla="*/ 29 w 247"/>
                <a:gd name="T97" fmla="*/ 13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17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44 w 158"/>
                <a:gd name="T1" fmla="*/ 26 h 158"/>
                <a:gd name="T2" fmla="*/ 46 w 158"/>
                <a:gd name="T3" fmla="*/ 34 h 158"/>
                <a:gd name="T4" fmla="*/ 45 w 158"/>
                <a:gd name="T5" fmla="*/ 41 h 158"/>
                <a:gd name="T6" fmla="*/ 42 w 158"/>
                <a:gd name="T7" fmla="*/ 47 h 158"/>
                <a:gd name="T8" fmla="*/ 37 w 158"/>
                <a:gd name="T9" fmla="*/ 53 h 158"/>
                <a:gd name="T10" fmla="*/ 31 w 158"/>
                <a:gd name="T11" fmla="*/ 58 h 158"/>
                <a:gd name="T12" fmla="*/ 25 w 158"/>
                <a:gd name="T13" fmla="*/ 63 h 158"/>
                <a:gd name="T14" fmla="*/ 18 w 158"/>
                <a:gd name="T15" fmla="*/ 68 h 158"/>
                <a:gd name="T16" fmla="*/ 12 w 158"/>
                <a:gd name="T17" fmla="*/ 72 h 158"/>
                <a:gd name="T18" fmla="*/ 11 w 158"/>
                <a:gd name="T19" fmla="*/ 74 h 158"/>
                <a:gd name="T20" fmla="*/ 11 w 158"/>
                <a:gd name="T21" fmla="*/ 75 h 158"/>
                <a:gd name="T22" fmla="*/ 11 w 158"/>
                <a:gd name="T23" fmla="*/ 76 h 158"/>
                <a:gd name="T24" fmla="*/ 11 w 158"/>
                <a:gd name="T25" fmla="*/ 78 h 158"/>
                <a:gd name="T26" fmla="*/ 13 w 158"/>
                <a:gd name="T27" fmla="*/ 79 h 158"/>
                <a:gd name="T28" fmla="*/ 14 w 158"/>
                <a:gd name="T29" fmla="*/ 79 h 158"/>
                <a:gd name="T30" fmla="*/ 15 w 158"/>
                <a:gd name="T31" fmla="*/ 79 h 158"/>
                <a:gd name="T32" fmla="*/ 16 w 158"/>
                <a:gd name="T33" fmla="*/ 79 h 158"/>
                <a:gd name="T34" fmla="*/ 24 w 158"/>
                <a:gd name="T35" fmla="*/ 74 h 158"/>
                <a:gd name="T36" fmla="*/ 31 w 158"/>
                <a:gd name="T37" fmla="*/ 69 h 158"/>
                <a:gd name="T38" fmla="*/ 38 w 158"/>
                <a:gd name="T39" fmla="*/ 63 h 158"/>
                <a:gd name="T40" fmla="*/ 44 w 158"/>
                <a:gd name="T41" fmla="*/ 57 h 158"/>
                <a:gd name="T42" fmla="*/ 49 w 158"/>
                <a:gd name="T43" fmla="*/ 50 h 158"/>
                <a:gd name="T44" fmla="*/ 51 w 158"/>
                <a:gd name="T45" fmla="*/ 42 h 158"/>
                <a:gd name="T46" fmla="*/ 52 w 158"/>
                <a:gd name="T47" fmla="*/ 34 h 158"/>
                <a:gd name="T48" fmla="*/ 50 w 158"/>
                <a:gd name="T49" fmla="*/ 24 h 158"/>
                <a:gd name="T50" fmla="*/ 46 w 158"/>
                <a:gd name="T51" fmla="*/ 18 h 158"/>
                <a:gd name="T52" fmla="*/ 39 w 158"/>
                <a:gd name="T53" fmla="*/ 11 h 158"/>
                <a:gd name="T54" fmla="*/ 32 w 158"/>
                <a:gd name="T55" fmla="*/ 7 h 158"/>
                <a:gd name="T56" fmla="*/ 23 w 158"/>
                <a:gd name="T57" fmla="*/ 3 h 158"/>
                <a:gd name="T58" fmla="*/ 15 w 158"/>
                <a:gd name="T59" fmla="*/ 1 h 158"/>
                <a:gd name="T60" fmla="*/ 8 w 158"/>
                <a:gd name="T61" fmla="*/ 0 h 158"/>
                <a:gd name="T62" fmla="*/ 2 w 158"/>
                <a:gd name="T63" fmla="*/ 0 h 158"/>
                <a:gd name="T64" fmla="*/ 0 w 158"/>
                <a:gd name="T65" fmla="*/ 2 h 158"/>
                <a:gd name="T66" fmla="*/ 6 w 158"/>
                <a:gd name="T67" fmla="*/ 5 h 158"/>
                <a:gd name="T68" fmla="*/ 12 w 158"/>
                <a:gd name="T69" fmla="*/ 6 h 158"/>
                <a:gd name="T70" fmla="*/ 18 w 158"/>
                <a:gd name="T71" fmla="*/ 9 h 158"/>
                <a:gd name="T72" fmla="*/ 25 w 158"/>
                <a:gd name="T73" fmla="*/ 10 h 158"/>
                <a:gd name="T74" fmla="*/ 31 w 158"/>
                <a:gd name="T75" fmla="*/ 13 h 158"/>
                <a:gd name="T76" fmla="*/ 36 w 158"/>
                <a:gd name="T77" fmla="*/ 17 h 158"/>
                <a:gd name="T78" fmla="*/ 40 w 158"/>
                <a:gd name="T79" fmla="*/ 20 h 158"/>
                <a:gd name="T80" fmla="*/ 44 w 158"/>
                <a:gd name="T81" fmla="*/ 26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18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41 w 399"/>
                <a:gd name="T1" fmla="*/ 31 h 331"/>
                <a:gd name="T2" fmla="*/ 22 w 399"/>
                <a:gd name="T3" fmla="*/ 51 h 331"/>
                <a:gd name="T4" fmla="*/ 7 w 399"/>
                <a:gd name="T5" fmla="*/ 73 h 331"/>
                <a:gd name="T6" fmla="*/ 0 w 399"/>
                <a:gd name="T7" fmla="*/ 100 h 331"/>
                <a:gd name="T8" fmla="*/ 1 w 399"/>
                <a:gd name="T9" fmla="*/ 117 h 331"/>
                <a:gd name="T10" fmla="*/ 4 w 399"/>
                <a:gd name="T11" fmla="*/ 124 h 331"/>
                <a:gd name="T12" fmla="*/ 8 w 399"/>
                <a:gd name="T13" fmla="*/ 131 h 331"/>
                <a:gd name="T14" fmla="*/ 13 w 399"/>
                <a:gd name="T15" fmla="*/ 136 h 331"/>
                <a:gd name="T16" fmla="*/ 23 w 399"/>
                <a:gd name="T17" fmla="*/ 142 h 331"/>
                <a:gd name="T18" fmla="*/ 36 w 399"/>
                <a:gd name="T19" fmla="*/ 149 h 331"/>
                <a:gd name="T20" fmla="*/ 49 w 399"/>
                <a:gd name="T21" fmla="*/ 154 h 331"/>
                <a:gd name="T22" fmla="*/ 63 w 399"/>
                <a:gd name="T23" fmla="*/ 158 h 331"/>
                <a:gd name="T24" fmla="*/ 77 w 399"/>
                <a:gd name="T25" fmla="*/ 161 h 331"/>
                <a:gd name="T26" fmla="*/ 91 w 399"/>
                <a:gd name="T27" fmla="*/ 163 h 331"/>
                <a:gd name="T28" fmla="*/ 105 w 399"/>
                <a:gd name="T29" fmla="*/ 164 h 331"/>
                <a:gd name="T30" fmla="*/ 119 w 399"/>
                <a:gd name="T31" fmla="*/ 165 h 331"/>
                <a:gd name="T32" fmla="*/ 129 w 399"/>
                <a:gd name="T33" fmla="*/ 166 h 331"/>
                <a:gd name="T34" fmla="*/ 132 w 399"/>
                <a:gd name="T35" fmla="*/ 163 h 331"/>
                <a:gd name="T36" fmla="*/ 133 w 399"/>
                <a:gd name="T37" fmla="*/ 158 h 331"/>
                <a:gd name="T38" fmla="*/ 130 w 399"/>
                <a:gd name="T39" fmla="*/ 155 h 331"/>
                <a:gd name="T40" fmla="*/ 121 w 399"/>
                <a:gd name="T41" fmla="*/ 152 h 331"/>
                <a:gd name="T42" fmla="*/ 109 w 399"/>
                <a:gd name="T43" fmla="*/ 150 h 331"/>
                <a:gd name="T44" fmla="*/ 96 w 399"/>
                <a:gd name="T45" fmla="*/ 148 h 331"/>
                <a:gd name="T46" fmla="*/ 83 w 399"/>
                <a:gd name="T47" fmla="*/ 146 h 331"/>
                <a:gd name="T48" fmla="*/ 70 w 399"/>
                <a:gd name="T49" fmla="*/ 143 h 331"/>
                <a:gd name="T50" fmla="*/ 57 w 399"/>
                <a:gd name="T51" fmla="*/ 140 h 331"/>
                <a:gd name="T52" fmla="*/ 45 w 399"/>
                <a:gd name="T53" fmla="*/ 136 h 331"/>
                <a:gd name="T54" fmla="*/ 33 w 399"/>
                <a:gd name="T55" fmla="*/ 131 h 331"/>
                <a:gd name="T56" fmla="*/ 23 w 399"/>
                <a:gd name="T57" fmla="*/ 124 h 331"/>
                <a:gd name="T58" fmla="*/ 16 w 399"/>
                <a:gd name="T59" fmla="*/ 114 h 331"/>
                <a:gd name="T60" fmla="*/ 14 w 399"/>
                <a:gd name="T61" fmla="*/ 102 h 331"/>
                <a:gd name="T62" fmla="*/ 16 w 399"/>
                <a:gd name="T63" fmla="*/ 88 h 331"/>
                <a:gd name="T64" fmla="*/ 21 w 399"/>
                <a:gd name="T65" fmla="*/ 75 h 331"/>
                <a:gd name="T66" fmla="*/ 29 w 399"/>
                <a:gd name="T67" fmla="*/ 61 h 331"/>
                <a:gd name="T68" fmla="*/ 39 w 399"/>
                <a:gd name="T69" fmla="*/ 49 h 331"/>
                <a:gd name="T70" fmla="*/ 51 w 399"/>
                <a:gd name="T71" fmla="*/ 37 h 331"/>
                <a:gd name="T72" fmla="*/ 63 w 399"/>
                <a:gd name="T73" fmla="*/ 26 h 331"/>
                <a:gd name="T74" fmla="*/ 81 w 399"/>
                <a:gd name="T75" fmla="*/ 17 h 331"/>
                <a:gd name="T76" fmla="*/ 98 w 399"/>
                <a:gd name="T77" fmla="*/ 9 h 331"/>
                <a:gd name="T78" fmla="*/ 109 w 399"/>
                <a:gd name="T79" fmla="*/ 3 h 331"/>
                <a:gd name="T80" fmla="*/ 106 w 399"/>
                <a:gd name="T81" fmla="*/ 0 h 331"/>
                <a:gd name="T82" fmla="*/ 91 w 399"/>
                <a:gd name="T83" fmla="*/ 2 h 331"/>
                <a:gd name="T84" fmla="*/ 74 w 399"/>
                <a:gd name="T85" fmla="*/ 8 h 331"/>
                <a:gd name="T86" fmla="*/ 58 w 399"/>
                <a:gd name="T87" fmla="*/ 17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19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96 w 350"/>
                <a:gd name="T1" fmla="*/ 34 h 221"/>
                <a:gd name="T2" fmla="*/ 101 w 350"/>
                <a:gd name="T3" fmla="*/ 40 h 221"/>
                <a:gd name="T4" fmla="*/ 105 w 350"/>
                <a:gd name="T5" fmla="*/ 47 h 221"/>
                <a:gd name="T6" fmla="*/ 106 w 350"/>
                <a:gd name="T7" fmla="*/ 54 h 221"/>
                <a:gd name="T8" fmla="*/ 106 w 350"/>
                <a:gd name="T9" fmla="*/ 62 h 221"/>
                <a:gd name="T10" fmla="*/ 105 w 350"/>
                <a:gd name="T11" fmla="*/ 69 h 221"/>
                <a:gd name="T12" fmla="*/ 103 w 350"/>
                <a:gd name="T13" fmla="*/ 74 h 221"/>
                <a:gd name="T14" fmla="*/ 100 w 350"/>
                <a:gd name="T15" fmla="*/ 80 h 221"/>
                <a:gd name="T16" fmla="*/ 97 w 350"/>
                <a:gd name="T17" fmla="*/ 84 h 221"/>
                <a:gd name="T18" fmla="*/ 92 w 350"/>
                <a:gd name="T19" fmla="*/ 89 h 221"/>
                <a:gd name="T20" fmla="*/ 88 w 350"/>
                <a:gd name="T21" fmla="*/ 93 h 221"/>
                <a:gd name="T22" fmla="*/ 84 w 350"/>
                <a:gd name="T23" fmla="*/ 98 h 221"/>
                <a:gd name="T24" fmla="*/ 80 w 350"/>
                <a:gd name="T25" fmla="*/ 102 h 221"/>
                <a:gd name="T26" fmla="*/ 79 w 350"/>
                <a:gd name="T27" fmla="*/ 104 h 221"/>
                <a:gd name="T28" fmla="*/ 79 w 350"/>
                <a:gd name="T29" fmla="*/ 106 h 221"/>
                <a:gd name="T30" fmla="*/ 79 w 350"/>
                <a:gd name="T31" fmla="*/ 107 h 221"/>
                <a:gd name="T32" fmla="*/ 80 w 350"/>
                <a:gd name="T33" fmla="*/ 109 h 221"/>
                <a:gd name="T34" fmla="*/ 81 w 350"/>
                <a:gd name="T35" fmla="*/ 110 h 221"/>
                <a:gd name="T36" fmla="*/ 83 w 350"/>
                <a:gd name="T37" fmla="*/ 110 h 221"/>
                <a:gd name="T38" fmla="*/ 84 w 350"/>
                <a:gd name="T39" fmla="*/ 110 h 221"/>
                <a:gd name="T40" fmla="*/ 86 w 350"/>
                <a:gd name="T41" fmla="*/ 109 h 221"/>
                <a:gd name="T42" fmla="*/ 95 w 350"/>
                <a:gd name="T43" fmla="*/ 102 h 221"/>
                <a:gd name="T44" fmla="*/ 103 w 350"/>
                <a:gd name="T45" fmla="*/ 93 h 221"/>
                <a:gd name="T46" fmla="*/ 110 w 350"/>
                <a:gd name="T47" fmla="*/ 84 h 221"/>
                <a:gd name="T48" fmla="*/ 114 w 350"/>
                <a:gd name="T49" fmla="*/ 73 h 221"/>
                <a:gd name="T50" fmla="*/ 116 w 350"/>
                <a:gd name="T51" fmla="*/ 62 h 221"/>
                <a:gd name="T52" fmla="*/ 115 w 350"/>
                <a:gd name="T53" fmla="*/ 50 h 221"/>
                <a:gd name="T54" fmla="*/ 111 w 350"/>
                <a:gd name="T55" fmla="*/ 40 h 221"/>
                <a:gd name="T56" fmla="*/ 103 w 350"/>
                <a:gd name="T57" fmla="*/ 30 h 221"/>
                <a:gd name="T58" fmla="*/ 98 w 350"/>
                <a:gd name="T59" fmla="*/ 25 h 221"/>
                <a:gd name="T60" fmla="*/ 91 w 350"/>
                <a:gd name="T61" fmla="*/ 21 h 221"/>
                <a:gd name="T62" fmla="*/ 84 w 350"/>
                <a:gd name="T63" fmla="*/ 17 h 221"/>
                <a:gd name="T64" fmla="*/ 76 w 350"/>
                <a:gd name="T65" fmla="*/ 13 h 221"/>
                <a:gd name="T66" fmla="*/ 67 w 350"/>
                <a:gd name="T67" fmla="*/ 10 h 221"/>
                <a:gd name="T68" fmla="*/ 59 w 350"/>
                <a:gd name="T69" fmla="*/ 7 h 221"/>
                <a:gd name="T70" fmla="*/ 50 w 350"/>
                <a:gd name="T71" fmla="*/ 5 h 221"/>
                <a:gd name="T72" fmla="*/ 42 w 350"/>
                <a:gd name="T73" fmla="*/ 3 h 221"/>
                <a:gd name="T74" fmla="*/ 34 w 350"/>
                <a:gd name="T75" fmla="*/ 2 h 221"/>
                <a:gd name="T76" fmla="*/ 27 w 350"/>
                <a:gd name="T77" fmla="*/ 1 h 221"/>
                <a:gd name="T78" fmla="*/ 20 w 350"/>
                <a:gd name="T79" fmla="*/ 0 h 221"/>
                <a:gd name="T80" fmla="*/ 14 w 350"/>
                <a:gd name="T81" fmla="*/ 0 h 221"/>
                <a:gd name="T82" fmla="*/ 9 w 350"/>
                <a:gd name="T83" fmla="*/ 0 h 221"/>
                <a:gd name="T84" fmla="*/ 4 w 350"/>
                <a:gd name="T85" fmla="*/ 0 h 221"/>
                <a:gd name="T86" fmla="*/ 1 w 350"/>
                <a:gd name="T87" fmla="*/ 1 h 221"/>
                <a:gd name="T88" fmla="*/ 0 w 350"/>
                <a:gd name="T89" fmla="*/ 2 h 221"/>
                <a:gd name="T90" fmla="*/ 5 w 350"/>
                <a:gd name="T91" fmla="*/ 3 h 221"/>
                <a:gd name="T92" fmla="*/ 10 w 350"/>
                <a:gd name="T93" fmla="*/ 3 h 221"/>
                <a:gd name="T94" fmla="*/ 16 w 350"/>
                <a:gd name="T95" fmla="*/ 4 h 221"/>
                <a:gd name="T96" fmla="*/ 21 w 350"/>
                <a:gd name="T97" fmla="*/ 5 h 221"/>
                <a:gd name="T98" fmla="*/ 27 w 350"/>
                <a:gd name="T99" fmla="*/ 7 h 221"/>
                <a:gd name="T100" fmla="*/ 34 w 350"/>
                <a:gd name="T101" fmla="*/ 8 h 221"/>
                <a:gd name="T102" fmla="*/ 40 w 350"/>
                <a:gd name="T103" fmla="*/ 9 h 221"/>
                <a:gd name="T104" fmla="*/ 47 w 350"/>
                <a:gd name="T105" fmla="*/ 11 h 221"/>
                <a:gd name="T106" fmla="*/ 53 w 350"/>
                <a:gd name="T107" fmla="*/ 13 h 221"/>
                <a:gd name="T108" fmla="*/ 60 w 350"/>
                <a:gd name="T109" fmla="*/ 15 h 221"/>
                <a:gd name="T110" fmla="*/ 66 w 350"/>
                <a:gd name="T111" fmla="*/ 17 h 221"/>
                <a:gd name="T112" fmla="*/ 73 w 350"/>
                <a:gd name="T113" fmla="*/ 19 h 221"/>
                <a:gd name="T114" fmla="*/ 79 w 350"/>
                <a:gd name="T115" fmla="*/ 22 h 221"/>
                <a:gd name="T116" fmla="*/ 85 w 350"/>
                <a:gd name="T117" fmla="*/ 26 h 221"/>
                <a:gd name="T118" fmla="*/ 91 w 350"/>
                <a:gd name="T119" fmla="*/ 30 h 221"/>
                <a:gd name="T120" fmla="*/ 96 w 350"/>
                <a:gd name="T121" fmla="*/ 34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20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58 h 208"/>
                <a:gd name="T2" fmla="*/ 0 w 142"/>
                <a:gd name="T3" fmla="*/ 66 h 208"/>
                <a:gd name="T4" fmla="*/ 2 w 142"/>
                <a:gd name="T5" fmla="*/ 74 h 208"/>
                <a:gd name="T6" fmla="*/ 5 w 142"/>
                <a:gd name="T7" fmla="*/ 82 h 208"/>
                <a:gd name="T8" fmla="*/ 10 w 142"/>
                <a:gd name="T9" fmla="*/ 88 h 208"/>
                <a:gd name="T10" fmla="*/ 16 w 142"/>
                <a:gd name="T11" fmla="*/ 94 h 208"/>
                <a:gd name="T12" fmla="*/ 23 w 142"/>
                <a:gd name="T13" fmla="*/ 99 h 208"/>
                <a:gd name="T14" fmla="*/ 31 w 142"/>
                <a:gd name="T15" fmla="*/ 102 h 208"/>
                <a:gd name="T16" fmla="*/ 39 w 142"/>
                <a:gd name="T17" fmla="*/ 104 h 208"/>
                <a:gd name="T18" fmla="*/ 41 w 142"/>
                <a:gd name="T19" fmla="*/ 105 h 208"/>
                <a:gd name="T20" fmla="*/ 44 w 142"/>
                <a:gd name="T21" fmla="*/ 104 h 208"/>
                <a:gd name="T22" fmla="*/ 46 w 142"/>
                <a:gd name="T23" fmla="*/ 102 h 208"/>
                <a:gd name="T24" fmla="*/ 47 w 142"/>
                <a:gd name="T25" fmla="*/ 100 h 208"/>
                <a:gd name="T26" fmla="*/ 47 w 142"/>
                <a:gd name="T27" fmla="*/ 98 h 208"/>
                <a:gd name="T28" fmla="*/ 46 w 142"/>
                <a:gd name="T29" fmla="*/ 95 h 208"/>
                <a:gd name="T30" fmla="*/ 45 w 142"/>
                <a:gd name="T31" fmla="*/ 93 h 208"/>
                <a:gd name="T32" fmla="*/ 42 w 142"/>
                <a:gd name="T33" fmla="*/ 92 h 208"/>
                <a:gd name="T34" fmla="*/ 34 w 142"/>
                <a:gd name="T35" fmla="*/ 89 h 208"/>
                <a:gd name="T36" fmla="*/ 27 w 142"/>
                <a:gd name="T37" fmla="*/ 85 h 208"/>
                <a:gd name="T38" fmla="*/ 21 w 142"/>
                <a:gd name="T39" fmla="*/ 80 h 208"/>
                <a:gd name="T40" fmla="*/ 17 w 142"/>
                <a:gd name="T41" fmla="*/ 74 h 208"/>
                <a:gd name="T42" fmla="*/ 14 w 142"/>
                <a:gd name="T43" fmla="*/ 66 h 208"/>
                <a:gd name="T44" fmla="*/ 12 w 142"/>
                <a:gd name="T45" fmla="*/ 58 h 208"/>
                <a:gd name="T46" fmla="*/ 12 w 142"/>
                <a:gd name="T47" fmla="*/ 49 h 208"/>
                <a:gd name="T48" fmla="*/ 15 w 142"/>
                <a:gd name="T49" fmla="*/ 40 h 208"/>
                <a:gd name="T50" fmla="*/ 18 w 142"/>
                <a:gd name="T51" fmla="*/ 33 h 208"/>
                <a:gd name="T52" fmla="*/ 22 w 142"/>
                <a:gd name="T53" fmla="*/ 27 h 208"/>
                <a:gd name="T54" fmla="*/ 26 w 142"/>
                <a:gd name="T55" fmla="*/ 22 h 208"/>
                <a:gd name="T56" fmla="*/ 31 w 142"/>
                <a:gd name="T57" fmla="*/ 17 h 208"/>
                <a:gd name="T58" fmla="*/ 35 w 142"/>
                <a:gd name="T59" fmla="*/ 12 h 208"/>
                <a:gd name="T60" fmla="*/ 40 w 142"/>
                <a:gd name="T61" fmla="*/ 8 h 208"/>
                <a:gd name="T62" fmla="*/ 45 w 142"/>
                <a:gd name="T63" fmla="*/ 4 h 208"/>
                <a:gd name="T64" fmla="*/ 48 w 142"/>
                <a:gd name="T65" fmla="*/ 1 h 208"/>
                <a:gd name="T66" fmla="*/ 45 w 142"/>
                <a:gd name="T67" fmla="*/ 0 h 208"/>
                <a:gd name="T68" fmla="*/ 39 w 142"/>
                <a:gd name="T69" fmla="*/ 3 h 208"/>
                <a:gd name="T70" fmla="*/ 32 w 142"/>
                <a:gd name="T71" fmla="*/ 8 h 208"/>
                <a:gd name="T72" fmla="*/ 23 w 142"/>
                <a:gd name="T73" fmla="*/ 16 h 208"/>
                <a:gd name="T74" fmla="*/ 16 w 142"/>
                <a:gd name="T75" fmla="*/ 25 h 208"/>
                <a:gd name="T76" fmla="*/ 8 w 142"/>
                <a:gd name="T77" fmla="*/ 35 h 208"/>
                <a:gd name="T78" fmla="*/ 3 w 142"/>
                <a:gd name="T79" fmla="*/ 46 h 208"/>
                <a:gd name="T80" fmla="*/ 0 w 142"/>
                <a:gd name="T81" fmla="*/ 58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21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85 w 304"/>
                <a:gd name="T1" fmla="*/ 54 h 272"/>
                <a:gd name="T2" fmla="*/ 90 w 304"/>
                <a:gd name="T3" fmla="*/ 63 h 272"/>
                <a:gd name="T4" fmla="*/ 92 w 304"/>
                <a:gd name="T5" fmla="*/ 72 h 272"/>
                <a:gd name="T6" fmla="*/ 91 w 304"/>
                <a:gd name="T7" fmla="*/ 82 h 272"/>
                <a:gd name="T8" fmla="*/ 86 w 304"/>
                <a:gd name="T9" fmla="*/ 91 h 272"/>
                <a:gd name="T10" fmla="*/ 77 w 304"/>
                <a:gd name="T11" fmla="*/ 100 h 272"/>
                <a:gd name="T12" fmla="*/ 68 w 304"/>
                <a:gd name="T13" fmla="*/ 107 h 272"/>
                <a:gd name="T14" fmla="*/ 59 w 304"/>
                <a:gd name="T15" fmla="*/ 116 h 272"/>
                <a:gd name="T16" fmla="*/ 53 w 304"/>
                <a:gd name="T17" fmla="*/ 122 h 272"/>
                <a:gd name="T18" fmla="*/ 51 w 304"/>
                <a:gd name="T19" fmla="*/ 126 h 272"/>
                <a:gd name="T20" fmla="*/ 50 w 304"/>
                <a:gd name="T21" fmla="*/ 130 h 272"/>
                <a:gd name="T22" fmla="*/ 50 w 304"/>
                <a:gd name="T23" fmla="*/ 134 h 272"/>
                <a:gd name="T24" fmla="*/ 53 w 304"/>
                <a:gd name="T25" fmla="*/ 136 h 272"/>
                <a:gd name="T26" fmla="*/ 57 w 304"/>
                <a:gd name="T27" fmla="*/ 136 h 272"/>
                <a:gd name="T28" fmla="*/ 63 w 304"/>
                <a:gd name="T29" fmla="*/ 129 h 272"/>
                <a:gd name="T30" fmla="*/ 74 w 304"/>
                <a:gd name="T31" fmla="*/ 118 h 272"/>
                <a:gd name="T32" fmla="*/ 85 w 304"/>
                <a:gd name="T33" fmla="*/ 107 h 272"/>
                <a:gd name="T34" fmla="*/ 95 w 304"/>
                <a:gd name="T35" fmla="*/ 96 h 272"/>
                <a:gd name="T36" fmla="*/ 101 w 304"/>
                <a:gd name="T37" fmla="*/ 82 h 272"/>
                <a:gd name="T38" fmla="*/ 100 w 304"/>
                <a:gd name="T39" fmla="*/ 67 h 272"/>
                <a:gd name="T40" fmla="*/ 93 w 304"/>
                <a:gd name="T41" fmla="*/ 53 h 272"/>
                <a:gd name="T42" fmla="*/ 83 w 304"/>
                <a:gd name="T43" fmla="*/ 41 h 272"/>
                <a:gd name="T44" fmla="*/ 73 w 304"/>
                <a:gd name="T45" fmla="*/ 33 h 272"/>
                <a:gd name="T46" fmla="*/ 62 w 304"/>
                <a:gd name="T47" fmla="*/ 26 h 272"/>
                <a:gd name="T48" fmla="*/ 52 w 304"/>
                <a:gd name="T49" fmla="*/ 19 h 272"/>
                <a:gd name="T50" fmla="*/ 41 w 304"/>
                <a:gd name="T51" fmla="*/ 12 h 272"/>
                <a:gd name="T52" fmla="*/ 30 w 304"/>
                <a:gd name="T53" fmla="*/ 7 h 272"/>
                <a:gd name="T54" fmla="*/ 19 w 304"/>
                <a:gd name="T55" fmla="*/ 3 h 272"/>
                <a:gd name="T56" fmla="*/ 10 w 304"/>
                <a:gd name="T57" fmla="*/ 1 h 272"/>
                <a:gd name="T58" fmla="*/ 3 w 304"/>
                <a:gd name="T59" fmla="*/ 1 h 272"/>
                <a:gd name="T60" fmla="*/ 3 w 304"/>
                <a:gd name="T61" fmla="*/ 2 h 272"/>
                <a:gd name="T62" fmla="*/ 12 w 304"/>
                <a:gd name="T63" fmla="*/ 6 h 272"/>
                <a:gd name="T64" fmla="*/ 21 w 304"/>
                <a:gd name="T65" fmla="*/ 10 h 272"/>
                <a:gd name="T66" fmla="*/ 32 w 304"/>
                <a:gd name="T67" fmla="*/ 16 h 272"/>
                <a:gd name="T68" fmla="*/ 44 w 304"/>
                <a:gd name="T69" fmla="*/ 22 h 272"/>
                <a:gd name="T70" fmla="*/ 55 w 304"/>
                <a:gd name="T71" fmla="*/ 30 h 272"/>
                <a:gd name="T72" fmla="*/ 67 w 304"/>
                <a:gd name="T73" fmla="*/ 38 h 272"/>
                <a:gd name="T74" fmla="*/ 77 w 304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22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13 w 103"/>
                <a:gd name="T1" fmla="*/ 6 h 164"/>
                <a:gd name="T2" fmla="*/ 12 w 103"/>
                <a:gd name="T3" fmla="*/ 3 h 164"/>
                <a:gd name="T4" fmla="*/ 11 w 103"/>
                <a:gd name="T5" fmla="*/ 1 h 164"/>
                <a:gd name="T6" fmla="*/ 8 w 103"/>
                <a:gd name="T7" fmla="*/ 1 h 164"/>
                <a:gd name="T8" fmla="*/ 6 w 103"/>
                <a:gd name="T9" fmla="*/ 0 h 164"/>
                <a:gd name="T10" fmla="*/ 3 w 103"/>
                <a:gd name="T11" fmla="*/ 1 h 164"/>
                <a:gd name="T12" fmla="*/ 2 w 103"/>
                <a:gd name="T13" fmla="*/ 3 h 164"/>
                <a:gd name="T14" fmla="*/ 0 w 103"/>
                <a:gd name="T15" fmla="*/ 5 h 164"/>
                <a:gd name="T16" fmla="*/ 0 w 103"/>
                <a:gd name="T17" fmla="*/ 7 h 164"/>
                <a:gd name="T18" fmla="*/ 3 w 103"/>
                <a:gd name="T19" fmla="*/ 19 h 164"/>
                <a:gd name="T20" fmla="*/ 6 w 103"/>
                <a:gd name="T21" fmla="*/ 31 h 164"/>
                <a:gd name="T22" fmla="*/ 11 w 103"/>
                <a:gd name="T23" fmla="*/ 44 h 164"/>
                <a:gd name="T24" fmla="*/ 17 w 103"/>
                <a:gd name="T25" fmla="*/ 56 h 164"/>
                <a:gd name="T26" fmla="*/ 22 w 103"/>
                <a:gd name="T27" fmla="*/ 67 h 164"/>
                <a:gd name="T28" fmla="*/ 28 w 103"/>
                <a:gd name="T29" fmla="*/ 75 h 164"/>
                <a:gd name="T30" fmla="*/ 32 w 103"/>
                <a:gd name="T31" fmla="*/ 81 h 164"/>
                <a:gd name="T32" fmla="*/ 34 w 103"/>
                <a:gd name="T33" fmla="*/ 82 h 164"/>
                <a:gd name="T34" fmla="*/ 33 w 103"/>
                <a:gd name="T35" fmla="*/ 77 h 164"/>
                <a:gd name="T36" fmla="*/ 31 w 103"/>
                <a:gd name="T37" fmla="*/ 70 h 164"/>
                <a:gd name="T38" fmla="*/ 28 w 103"/>
                <a:gd name="T39" fmla="*/ 60 h 164"/>
                <a:gd name="T40" fmla="*/ 24 w 103"/>
                <a:gd name="T41" fmla="*/ 50 h 164"/>
                <a:gd name="T42" fmla="*/ 21 w 103"/>
                <a:gd name="T43" fmla="*/ 39 h 164"/>
                <a:gd name="T44" fmla="*/ 18 w 103"/>
                <a:gd name="T45" fmla="*/ 27 h 164"/>
                <a:gd name="T46" fmla="*/ 15 w 103"/>
                <a:gd name="T47" fmla="*/ 17 h 164"/>
                <a:gd name="T48" fmla="*/ 13 w 103"/>
                <a:gd name="T49" fmla="*/ 6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23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9 w 54"/>
                <a:gd name="T1" fmla="*/ 5 h 82"/>
                <a:gd name="T2" fmla="*/ 9 w 54"/>
                <a:gd name="T3" fmla="*/ 3 h 82"/>
                <a:gd name="T4" fmla="*/ 7 w 54"/>
                <a:gd name="T5" fmla="*/ 1 h 82"/>
                <a:gd name="T6" fmla="*/ 6 w 54"/>
                <a:gd name="T7" fmla="*/ 0 h 82"/>
                <a:gd name="T8" fmla="*/ 4 w 54"/>
                <a:gd name="T9" fmla="*/ 0 h 82"/>
                <a:gd name="T10" fmla="*/ 3 w 54"/>
                <a:gd name="T11" fmla="*/ 1 h 82"/>
                <a:gd name="T12" fmla="*/ 1 w 54"/>
                <a:gd name="T13" fmla="*/ 2 h 82"/>
                <a:gd name="T14" fmla="*/ 0 w 54"/>
                <a:gd name="T15" fmla="*/ 3 h 82"/>
                <a:gd name="T16" fmla="*/ 0 w 54"/>
                <a:gd name="T17" fmla="*/ 5 h 82"/>
                <a:gd name="T18" fmla="*/ 0 w 54"/>
                <a:gd name="T19" fmla="*/ 11 h 82"/>
                <a:gd name="T20" fmla="*/ 2 w 54"/>
                <a:gd name="T21" fmla="*/ 17 h 82"/>
                <a:gd name="T22" fmla="*/ 3 w 54"/>
                <a:gd name="T23" fmla="*/ 23 h 82"/>
                <a:gd name="T24" fmla="*/ 6 w 54"/>
                <a:gd name="T25" fmla="*/ 29 h 82"/>
                <a:gd name="T26" fmla="*/ 9 w 54"/>
                <a:gd name="T27" fmla="*/ 35 h 82"/>
                <a:gd name="T28" fmla="*/ 12 w 54"/>
                <a:gd name="T29" fmla="*/ 39 h 82"/>
                <a:gd name="T30" fmla="*/ 15 w 54"/>
                <a:gd name="T31" fmla="*/ 41 h 82"/>
                <a:gd name="T32" fmla="*/ 18 w 54"/>
                <a:gd name="T33" fmla="*/ 42 h 82"/>
                <a:gd name="T34" fmla="*/ 18 w 54"/>
                <a:gd name="T35" fmla="*/ 34 h 82"/>
                <a:gd name="T36" fmla="*/ 16 w 54"/>
                <a:gd name="T37" fmla="*/ 24 h 82"/>
                <a:gd name="T38" fmla="*/ 13 w 54"/>
                <a:gd name="T39" fmla="*/ 14 h 82"/>
                <a:gd name="T40" fmla="*/ 9 w 54"/>
                <a:gd name="T41" fmla="*/ 5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24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8 w 46"/>
                <a:gd name="T1" fmla="*/ 3 h 47"/>
                <a:gd name="T2" fmla="*/ 8 w 46"/>
                <a:gd name="T3" fmla="*/ 4 h 47"/>
                <a:gd name="T4" fmla="*/ 8 w 46"/>
                <a:gd name="T5" fmla="*/ 4 h 47"/>
                <a:gd name="T6" fmla="*/ 8 w 46"/>
                <a:gd name="T7" fmla="*/ 4 h 47"/>
                <a:gd name="T8" fmla="*/ 8 w 46"/>
                <a:gd name="T9" fmla="*/ 4 h 47"/>
                <a:gd name="T10" fmla="*/ 8 w 46"/>
                <a:gd name="T11" fmla="*/ 2 h 47"/>
                <a:gd name="T12" fmla="*/ 7 w 46"/>
                <a:gd name="T13" fmla="*/ 1 h 47"/>
                <a:gd name="T14" fmla="*/ 5 w 46"/>
                <a:gd name="T15" fmla="*/ 0 h 47"/>
                <a:gd name="T16" fmla="*/ 3 w 46"/>
                <a:gd name="T17" fmla="*/ 0 h 47"/>
                <a:gd name="T18" fmla="*/ 1 w 46"/>
                <a:gd name="T19" fmla="*/ 1 h 47"/>
                <a:gd name="T20" fmla="*/ 0 w 46"/>
                <a:gd name="T21" fmla="*/ 2 h 47"/>
                <a:gd name="T22" fmla="*/ 0 w 46"/>
                <a:gd name="T23" fmla="*/ 4 h 47"/>
                <a:gd name="T24" fmla="*/ 0 w 46"/>
                <a:gd name="T25" fmla="*/ 5 h 47"/>
                <a:gd name="T26" fmla="*/ 0 w 46"/>
                <a:gd name="T27" fmla="*/ 8 h 47"/>
                <a:gd name="T28" fmla="*/ 1 w 46"/>
                <a:gd name="T29" fmla="*/ 11 h 47"/>
                <a:gd name="T30" fmla="*/ 3 w 46"/>
                <a:gd name="T31" fmla="*/ 14 h 47"/>
                <a:gd name="T32" fmla="*/ 6 w 46"/>
                <a:gd name="T33" fmla="*/ 17 h 47"/>
                <a:gd name="T34" fmla="*/ 8 w 46"/>
                <a:gd name="T35" fmla="*/ 20 h 47"/>
                <a:gd name="T36" fmla="*/ 11 w 46"/>
                <a:gd name="T37" fmla="*/ 22 h 47"/>
                <a:gd name="T38" fmla="*/ 14 w 46"/>
                <a:gd name="T39" fmla="*/ 24 h 47"/>
                <a:gd name="T40" fmla="*/ 16 w 46"/>
                <a:gd name="T41" fmla="*/ 24 h 47"/>
                <a:gd name="T42" fmla="*/ 16 w 46"/>
                <a:gd name="T43" fmla="*/ 19 h 47"/>
                <a:gd name="T44" fmla="*/ 14 w 46"/>
                <a:gd name="T45" fmla="*/ 13 h 47"/>
                <a:gd name="T46" fmla="*/ 10 w 46"/>
                <a:gd name="T47" fmla="*/ 7 h 47"/>
                <a:gd name="T48" fmla="*/ 8 w 46"/>
                <a:gd name="T49" fmla="*/ 3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25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17 w 63"/>
                <a:gd name="T1" fmla="*/ 12 h 31"/>
                <a:gd name="T2" fmla="*/ 19 w 63"/>
                <a:gd name="T3" fmla="*/ 11 h 31"/>
                <a:gd name="T4" fmla="*/ 21 w 63"/>
                <a:gd name="T5" fmla="*/ 9 h 31"/>
                <a:gd name="T6" fmla="*/ 21 w 63"/>
                <a:gd name="T7" fmla="*/ 7 h 31"/>
                <a:gd name="T8" fmla="*/ 21 w 63"/>
                <a:gd name="T9" fmla="*/ 5 h 31"/>
                <a:gd name="T10" fmla="*/ 20 w 63"/>
                <a:gd name="T11" fmla="*/ 3 h 31"/>
                <a:gd name="T12" fmla="*/ 19 w 63"/>
                <a:gd name="T13" fmla="*/ 1 h 31"/>
                <a:gd name="T14" fmla="*/ 17 w 63"/>
                <a:gd name="T15" fmla="*/ 0 h 31"/>
                <a:gd name="T16" fmla="*/ 14 w 63"/>
                <a:gd name="T17" fmla="*/ 0 h 31"/>
                <a:gd name="T18" fmla="*/ 13 w 63"/>
                <a:gd name="T19" fmla="*/ 0 h 31"/>
                <a:gd name="T20" fmla="*/ 11 w 63"/>
                <a:gd name="T21" fmla="*/ 1 h 31"/>
                <a:gd name="T22" fmla="*/ 9 w 63"/>
                <a:gd name="T23" fmla="*/ 2 h 31"/>
                <a:gd name="T24" fmla="*/ 5 w 63"/>
                <a:gd name="T25" fmla="*/ 4 h 31"/>
                <a:gd name="T26" fmla="*/ 2 w 63"/>
                <a:gd name="T27" fmla="*/ 7 h 31"/>
                <a:gd name="T28" fmla="*/ 1 w 63"/>
                <a:gd name="T29" fmla="*/ 10 h 31"/>
                <a:gd name="T30" fmla="*/ 0 w 63"/>
                <a:gd name="T31" fmla="*/ 13 h 31"/>
                <a:gd name="T32" fmla="*/ 0 w 63"/>
                <a:gd name="T33" fmla="*/ 14 h 31"/>
                <a:gd name="T34" fmla="*/ 1 w 63"/>
                <a:gd name="T35" fmla="*/ 15 h 31"/>
                <a:gd name="T36" fmla="*/ 3 w 63"/>
                <a:gd name="T37" fmla="*/ 16 h 31"/>
                <a:gd name="T38" fmla="*/ 5 w 63"/>
                <a:gd name="T39" fmla="*/ 16 h 31"/>
                <a:gd name="T40" fmla="*/ 7 w 63"/>
                <a:gd name="T41" fmla="*/ 16 h 31"/>
                <a:gd name="T42" fmla="*/ 10 w 63"/>
                <a:gd name="T43" fmla="*/ 15 h 31"/>
                <a:gd name="T44" fmla="*/ 12 w 63"/>
                <a:gd name="T45" fmla="*/ 14 h 31"/>
                <a:gd name="T46" fmla="*/ 14 w 63"/>
                <a:gd name="T47" fmla="*/ 13 h 31"/>
                <a:gd name="T48" fmla="*/ 17 w 63"/>
                <a:gd name="T49" fmla="*/ 12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26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30 w 245"/>
                <a:gd name="T1" fmla="*/ 15 h 206"/>
                <a:gd name="T2" fmla="*/ 24 w 245"/>
                <a:gd name="T3" fmla="*/ 20 h 206"/>
                <a:gd name="T4" fmla="*/ 19 w 245"/>
                <a:gd name="T5" fmla="*/ 25 h 206"/>
                <a:gd name="T6" fmla="*/ 13 w 245"/>
                <a:gd name="T7" fmla="*/ 31 h 206"/>
                <a:gd name="T8" fmla="*/ 9 w 245"/>
                <a:gd name="T9" fmla="*/ 37 h 206"/>
                <a:gd name="T10" fmla="*/ 6 w 245"/>
                <a:gd name="T11" fmla="*/ 44 h 206"/>
                <a:gd name="T12" fmla="*/ 3 w 245"/>
                <a:gd name="T13" fmla="*/ 50 h 206"/>
                <a:gd name="T14" fmla="*/ 1 w 245"/>
                <a:gd name="T15" fmla="*/ 56 h 206"/>
                <a:gd name="T16" fmla="*/ 0 w 245"/>
                <a:gd name="T17" fmla="*/ 63 h 206"/>
                <a:gd name="T18" fmla="*/ 1 w 245"/>
                <a:gd name="T19" fmla="*/ 75 h 206"/>
                <a:gd name="T20" fmla="*/ 5 w 245"/>
                <a:gd name="T21" fmla="*/ 83 h 206"/>
                <a:gd name="T22" fmla="*/ 11 w 245"/>
                <a:gd name="T23" fmla="*/ 91 h 206"/>
                <a:gd name="T24" fmla="*/ 18 w 245"/>
                <a:gd name="T25" fmla="*/ 96 h 206"/>
                <a:gd name="T26" fmla="*/ 26 w 245"/>
                <a:gd name="T27" fmla="*/ 100 h 206"/>
                <a:gd name="T28" fmla="*/ 36 w 245"/>
                <a:gd name="T29" fmla="*/ 103 h 206"/>
                <a:gd name="T30" fmla="*/ 45 w 245"/>
                <a:gd name="T31" fmla="*/ 103 h 206"/>
                <a:gd name="T32" fmla="*/ 54 w 245"/>
                <a:gd name="T33" fmla="*/ 102 h 206"/>
                <a:gd name="T34" fmla="*/ 56 w 245"/>
                <a:gd name="T35" fmla="*/ 102 h 206"/>
                <a:gd name="T36" fmla="*/ 58 w 245"/>
                <a:gd name="T37" fmla="*/ 101 h 206"/>
                <a:gd name="T38" fmla="*/ 60 w 245"/>
                <a:gd name="T39" fmla="*/ 99 h 206"/>
                <a:gd name="T40" fmla="*/ 60 w 245"/>
                <a:gd name="T41" fmla="*/ 97 h 206"/>
                <a:gd name="T42" fmla="*/ 60 w 245"/>
                <a:gd name="T43" fmla="*/ 96 h 206"/>
                <a:gd name="T44" fmla="*/ 58 w 245"/>
                <a:gd name="T45" fmla="*/ 96 h 206"/>
                <a:gd name="T46" fmla="*/ 56 w 245"/>
                <a:gd name="T47" fmla="*/ 95 h 206"/>
                <a:gd name="T48" fmla="*/ 54 w 245"/>
                <a:gd name="T49" fmla="*/ 95 h 206"/>
                <a:gd name="T50" fmla="*/ 51 w 245"/>
                <a:gd name="T51" fmla="*/ 95 h 206"/>
                <a:gd name="T52" fmla="*/ 48 w 245"/>
                <a:gd name="T53" fmla="*/ 95 h 206"/>
                <a:gd name="T54" fmla="*/ 46 w 245"/>
                <a:gd name="T55" fmla="*/ 95 h 206"/>
                <a:gd name="T56" fmla="*/ 45 w 245"/>
                <a:gd name="T57" fmla="*/ 95 h 206"/>
                <a:gd name="T58" fmla="*/ 40 w 245"/>
                <a:gd name="T59" fmla="*/ 95 h 206"/>
                <a:gd name="T60" fmla="*/ 35 w 245"/>
                <a:gd name="T61" fmla="*/ 94 h 206"/>
                <a:gd name="T62" fmla="*/ 31 w 245"/>
                <a:gd name="T63" fmla="*/ 94 h 206"/>
                <a:gd name="T64" fmla="*/ 26 w 245"/>
                <a:gd name="T65" fmla="*/ 92 h 206"/>
                <a:gd name="T66" fmla="*/ 21 w 245"/>
                <a:gd name="T67" fmla="*/ 91 h 206"/>
                <a:gd name="T68" fmla="*/ 16 w 245"/>
                <a:gd name="T69" fmla="*/ 87 h 206"/>
                <a:gd name="T70" fmla="*/ 12 w 245"/>
                <a:gd name="T71" fmla="*/ 83 h 206"/>
                <a:gd name="T72" fmla="*/ 7 w 245"/>
                <a:gd name="T73" fmla="*/ 76 h 206"/>
                <a:gd name="T74" fmla="*/ 6 w 245"/>
                <a:gd name="T75" fmla="*/ 68 h 206"/>
                <a:gd name="T76" fmla="*/ 7 w 245"/>
                <a:gd name="T77" fmla="*/ 61 h 206"/>
                <a:gd name="T78" fmla="*/ 9 w 245"/>
                <a:gd name="T79" fmla="*/ 54 h 206"/>
                <a:gd name="T80" fmla="*/ 12 w 245"/>
                <a:gd name="T81" fmla="*/ 48 h 206"/>
                <a:gd name="T82" fmla="*/ 16 w 245"/>
                <a:gd name="T83" fmla="*/ 42 h 206"/>
                <a:gd name="T84" fmla="*/ 20 w 245"/>
                <a:gd name="T85" fmla="*/ 36 h 206"/>
                <a:gd name="T86" fmla="*/ 26 w 245"/>
                <a:gd name="T87" fmla="*/ 30 h 206"/>
                <a:gd name="T88" fmla="*/ 32 w 245"/>
                <a:gd name="T89" fmla="*/ 26 h 206"/>
                <a:gd name="T90" fmla="*/ 38 w 245"/>
                <a:gd name="T91" fmla="*/ 21 h 206"/>
                <a:gd name="T92" fmla="*/ 45 w 245"/>
                <a:gd name="T93" fmla="*/ 17 h 206"/>
                <a:gd name="T94" fmla="*/ 52 w 245"/>
                <a:gd name="T95" fmla="*/ 13 h 206"/>
                <a:gd name="T96" fmla="*/ 58 w 245"/>
                <a:gd name="T97" fmla="*/ 11 h 206"/>
                <a:gd name="T98" fmla="*/ 65 w 245"/>
                <a:gd name="T99" fmla="*/ 8 h 206"/>
                <a:gd name="T100" fmla="*/ 70 w 245"/>
                <a:gd name="T101" fmla="*/ 6 h 206"/>
                <a:gd name="T102" fmla="*/ 76 w 245"/>
                <a:gd name="T103" fmla="*/ 4 h 206"/>
                <a:gd name="T104" fmla="*/ 81 w 245"/>
                <a:gd name="T105" fmla="*/ 3 h 206"/>
                <a:gd name="T106" fmla="*/ 78 w 245"/>
                <a:gd name="T107" fmla="*/ 1 h 206"/>
                <a:gd name="T108" fmla="*/ 72 w 245"/>
                <a:gd name="T109" fmla="*/ 0 h 206"/>
                <a:gd name="T110" fmla="*/ 66 w 245"/>
                <a:gd name="T111" fmla="*/ 1 h 206"/>
                <a:gd name="T112" fmla="*/ 59 w 245"/>
                <a:gd name="T113" fmla="*/ 3 h 206"/>
                <a:gd name="T114" fmla="*/ 51 w 245"/>
                <a:gd name="T115" fmla="*/ 5 h 206"/>
                <a:gd name="T116" fmla="*/ 43 w 245"/>
                <a:gd name="T117" fmla="*/ 8 h 206"/>
                <a:gd name="T118" fmla="*/ 36 w 245"/>
                <a:gd name="T119" fmla="*/ 12 h 206"/>
                <a:gd name="T120" fmla="*/ 30 w 245"/>
                <a:gd name="T121" fmla="*/ 15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27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45 w 159"/>
                <a:gd name="T1" fmla="*/ 26 h 160"/>
                <a:gd name="T2" fmla="*/ 46 w 159"/>
                <a:gd name="T3" fmla="*/ 35 h 160"/>
                <a:gd name="T4" fmla="*/ 45 w 159"/>
                <a:gd name="T5" fmla="*/ 42 h 160"/>
                <a:gd name="T6" fmla="*/ 42 w 159"/>
                <a:gd name="T7" fmla="*/ 48 h 160"/>
                <a:gd name="T8" fmla="*/ 37 w 159"/>
                <a:gd name="T9" fmla="*/ 53 h 160"/>
                <a:gd name="T10" fmla="*/ 31 w 159"/>
                <a:gd name="T11" fmla="*/ 58 h 160"/>
                <a:gd name="T12" fmla="*/ 25 w 159"/>
                <a:gd name="T13" fmla="*/ 63 h 160"/>
                <a:gd name="T14" fmla="*/ 18 w 159"/>
                <a:gd name="T15" fmla="*/ 68 h 160"/>
                <a:gd name="T16" fmla="*/ 12 w 159"/>
                <a:gd name="T17" fmla="*/ 73 h 160"/>
                <a:gd name="T18" fmla="*/ 11 w 159"/>
                <a:gd name="T19" fmla="*/ 75 h 160"/>
                <a:gd name="T20" fmla="*/ 11 w 159"/>
                <a:gd name="T21" fmla="*/ 76 h 160"/>
                <a:gd name="T22" fmla="*/ 11 w 159"/>
                <a:gd name="T23" fmla="*/ 77 h 160"/>
                <a:gd name="T24" fmla="*/ 12 w 159"/>
                <a:gd name="T25" fmla="*/ 79 h 160"/>
                <a:gd name="T26" fmla="*/ 13 w 159"/>
                <a:gd name="T27" fmla="*/ 80 h 160"/>
                <a:gd name="T28" fmla="*/ 14 w 159"/>
                <a:gd name="T29" fmla="*/ 80 h 160"/>
                <a:gd name="T30" fmla="*/ 16 w 159"/>
                <a:gd name="T31" fmla="*/ 80 h 160"/>
                <a:gd name="T32" fmla="*/ 17 w 159"/>
                <a:gd name="T33" fmla="*/ 80 h 160"/>
                <a:gd name="T34" fmla="*/ 24 w 159"/>
                <a:gd name="T35" fmla="*/ 75 h 160"/>
                <a:gd name="T36" fmla="*/ 32 w 159"/>
                <a:gd name="T37" fmla="*/ 70 h 160"/>
                <a:gd name="T38" fmla="*/ 38 w 159"/>
                <a:gd name="T39" fmla="*/ 64 h 160"/>
                <a:gd name="T40" fmla="*/ 45 w 159"/>
                <a:gd name="T41" fmla="*/ 57 h 160"/>
                <a:gd name="T42" fmla="*/ 49 w 159"/>
                <a:gd name="T43" fmla="*/ 50 h 160"/>
                <a:gd name="T44" fmla="*/ 52 w 159"/>
                <a:gd name="T45" fmla="*/ 42 h 160"/>
                <a:gd name="T46" fmla="*/ 53 w 159"/>
                <a:gd name="T47" fmla="*/ 34 h 160"/>
                <a:gd name="T48" fmla="*/ 51 w 159"/>
                <a:gd name="T49" fmla="*/ 25 h 160"/>
                <a:gd name="T50" fmla="*/ 47 w 159"/>
                <a:gd name="T51" fmla="*/ 18 h 160"/>
                <a:gd name="T52" fmla="*/ 41 w 159"/>
                <a:gd name="T53" fmla="*/ 12 h 160"/>
                <a:gd name="T54" fmla="*/ 33 w 159"/>
                <a:gd name="T55" fmla="*/ 7 h 160"/>
                <a:gd name="T56" fmla="*/ 25 w 159"/>
                <a:gd name="T57" fmla="*/ 3 h 160"/>
                <a:gd name="T58" fmla="*/ 17 w 159"/>
                <a:gd name="T59" fmla="*/ 1 h 160"/>
                <a:gd name="T60" fmla="*/ 10 w 159"/>
                <a:gd name="T61" fmla="*/ 0 h 160"/>
                <a:gd name="T62" fmla="*/ 4 w 159"/>
                <a:gd name="T63" fmla="*/ 1 h 160"/>
                <a:gd name="T64" fmla="*/ 0 w 159"/>
                <a:gd name="T65" fmla="*/ 3 h 160"/>
                <a:gd name="T66" fmla="*/ 7 w 159"/>
                <a:gd name="T67" fmla="*/ 5 h 160"/>
                <a:gd name="T68" fmla="*/ 14 w 159"/>
                <a:gd name="T69" fmla="*/ 6 h 160"/>
                <a:gd name="T70" fmla="*/ 20 w 159"/>
                <a:gd name="T71" fmla="*/ 7 h 160"/>
                <a:gd name="T72" fmla="*/ 26 w 159"/>
                <a:gd name="T73" fmla="*/ 10 h 160"/>
                <a:gd name="T74" fmla="*/ 32 w 159"/>
                <a:gd name="T75" fmla="*/ 12 h 160"/>
                <a:gd name="T76" fmla="*/ 37 w 159"/>
                <a:gd name="T77" fmla="*/ 15 h 160"/>
                <a:gd name="T78" fmla="*/ 42 w 159"/>
                <a:gd name="T79" fmla="*/ 20 h 160"/>
                <a:gd name="T80" fmla="*/ 45 w 159"/>
                <a:gd name="T81" fmla="*/ 26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28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42 w 399"/>
                <a:gd name="T1" fmla="*/ 31 h 332"/>
                <a:gd name="T2" fmla="*/ 22 w 399"/>
                <a:gd name="T3" fmla="*/ 50 h 332"/>
                <a:gd name="T4" fmla="*/ 7 w 399"/>
                <a:gd name="T5" fmla="*/ 74 h 332"/>
                <a:gd name="T6" fmla="*/ 0 w 399"/>
                <a:gd name="T7" fmla="*/ 100 h 332"/>
                <a:gd name="T8" fmla="*/ 1 w 399"/>
                <a:gd name="T9" fmla="*/ 117 h 332"/>
                <a:gd name="T10" fmla="*/ 4 w 399"/>
                <a:gd name="T11" fmla="*/ 124 h 332"/>
                <a:gd name="T12" fmla="*/ 9 w 399"/>
                <a:gd name="T13" fmla="*/ 131 h 332"/>
                <a:gd name="T14" fmla="*/ 14 w 399"/>
                <a:gd name="T15" fmla="*/ 137 h 332"/>
                <a:gd name="T16" fmla="*/ 23 w 399"/>
                <a:gd name="T17" fmla="*/ 143 h 332"/>
                <a:gd name="T18" fmla="*/ 36 w 399"/>
                <a:gd name="T19" fmla="*/ 149 h 332"/>
                <a:gd name="T20" fmla="*/ 49 w 399"/>
                <a:gd name="T21" fmla="*/ 154 h 332"/>
                <a:gd name="T22" fmla="*/ 63 w 399"/>
                <a:gd name="T23" fmla="*/ 158 h 332"/>
                <a:gd name="T24" fmla="*/ 77 w 399"/>
                <a:gd name="T25" fmla="*/ 161 h 332"/>
                <a:gd name="T26" fmla="*/ 91 w 399"/>
                <a:gd name="T27" fmla="*/ 163 h 332"/>
                <a:gd name="T28" fmla="*/ 105 w 399"/>
                <a:gd name="T29" fmla="*/ 165 h 332"/>
                <a:gd name="T30" fmla="*/ 119 w 399"/>
                <a:gd name="T31" fmla="*/ 166 h 332"/>
                <a:gd name="T32" fmla="*/ 129 w 399"/>
                <a:gd name="T33" fmla="*/ 166 h 332"/>
                <a:gd name="T34" fmla="*/ 132 w 399"/>
                <a:gd name="T35" fmla="*/ 163 h 332"/>
                <a:gd name="T36" fmla="*/ 133 w 399"/>
                <a:gd name="T37" fmla="*/ 158 h 332"/>
                <a:gd name="T38" fmla="*/ 130 w 399"/>
                <a:gd name="T39" fmla="*/ 155 h 332"/>
                <a:gd name="T40" fmla="*/ 121 w 399"/>
                <a:gd name="T41" fmla="*/ 154 h 332"/>
                <a:gd name="T42" fmla="*/ 108 w 399"/>
                <a:gd name="T43" fmla="*/ 154 h 332"/>
                <a:gd name="T44" fmla="*/ 95 w 399"/>
                <a:gd name="T45" fmla="*/ 153 h 332"/>
                <a:gd name="T46" fmla="*/ 82 w 399"/>
                <a:gd name="T47" fmla="*/ 151 h 332"/>
                <a:gd name="T48" fmla="*/ 69 w 399"/>
                <a:gd name="T49" fmla="*/ 148 h 332"/>
                <a:gd name="T50" fmla="*/ 56 w 399"/>
                <a:gd name="T51" fmla="*/ 145 h 332"/>
                <a:gd name="T52" fmla="*/ 44 w 399"/>
                <a:gd name="T53" fmla="*/ 141 h 332"/>
                <a:gd name="T54" fmla="*/ 31 w 399"/>
                <a:gd name="T55" fmla="*/ 135 h 332"/>
                <a:gd name="T56" fmla="*/ 21 w 399"/>
                <a:gd name="T57" fmla="*/ 128 h 332"/>
                <a:gd name="T58" fmla="*/ 15 w 399"/>
                <a:gd name="T59" fmla="*/ 118 h 332"/>
                <a:gd name="T60" fmla="*/ 13 w 399"/>
                <a:gd name="T61" fmla="*/ 105 h 332"/>
                <a:gd name="T62" fmla="*/ 15 w 399"/>
                <a:gd name="T63" fmla="*/ 86 h 332"/>
                <a:gd name="T64" fmla="*/ 21 w 399"/>
                <a:gd name="T65" fmla="*/ 73 h 332"/>
                <a:gd name="T66" fmla="*/ 28 w 399"/>
                <a:gd name="T67" fmla="*/ 60 h 332"/>
                <a:gd name="T68" fmla="*/ 37 w 399"/>
                <a:gd name="T69" fmla="*/ 49 h 332"/>
                <a:gd name="T70" fmla="*/ 47 w 399"/>
                <a:gd name="T71" fmla="*/ 39 h 332"/>
                <a:gd name="T72" fmla="*/ 60 w 399"/>
                <a:gd name="T73" fmla="*/ 28 h 332"/>
                <a:gd name="T74" fmla="*/ 74 w 399"/>
                <a:gd name="T75" fmla="*/ 19 h 332"/>
                <a:gd name="T76" fmla="*/ 90 w 399"/>
                <a:gd name="T77" fmla="*/ 10 h 332"/>
                <a:gd name="T78" fmla="*/ 104 w 399"/>
                <a:gd name="T79" fmla="*/ 3 h 332"/>
                <a:gd name="T80" fmla="*/ 105 w 399"/>
                <a:gd name="T81" fmla="*/ 0 h 332"/>
                <a:gd name="T82" fmla="*/ 91 w 399"/>
                <a:gd name="T83" fmla="*/ 3 h 332"/>
                <a:gd name="T84" fmla="*/ 74 w 399"/>
                <a:gd name="T85" fmla="*/ 9 h 332"/>
                <a:gd name="T86" fmla="*/ 59 w 399"/>
                <a:gd name="T87" fmla="*/ 18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29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97 w 348"/>
                <a:gd name="T1" fmla="*/ 34 h 222"/>
                <a:gd name="T2" fmla="*/ 102 w 348"/>
                <a:gd name="T3" fmla="*/ 40 h 222"/>
                <a:gd name="T4" fmla="*/ 105 w 348"/>
                <a:gd name="T5" fmla="*/ 47 h 222"/>
                <a:gd name="T6" fmla="*/ 107 w 348"/>
                <a:gd name="T7" fmla="*/ 55 h 222"/>
                <a:gd name="T8" fmla="*/ 107 w 348"/>
                <a:gd name="T9" fmla="*/ 62 h 222"/>
                <a:gd name="T10" fmla="*/ 106 w 348"/>
                <a:gd name="T11" fmla="*/ 69 h 222"/>
                <a:gd name="T12" fmla="*/ 104 w 348"/>
                <a:gd name="T13" fmla="*/ 74 h 222"/>
                <a:gd name="T14" fmla="*/ 101 w 348"/>
                <a:gd name="T15" fmla="*/ 80 h 222"/>
                <a:gd name="T16" fmla="*/ 97 w 348"/>
                <a:gd name="T17" fmla="*/ 84 h 222"/>
                <a:gd name="T18" fmla="*/ 93 w 348"/>
                <a:gd name="T19" fmla="*/ 89 h 222"/>
                <a:gd name="T20" fmla="*/ 88 w 348"/>
                <a:gd name="T21" fmla="*/ 93 h 222"/>
                <a:gd name="T22" fmla="*/ 84 w 348"/>
                <a:gd name="T23" fmla="*/ 98 h 222"/>
                <a:gd name="T24" fmla="*/ 80 w 348"/>
                <a:gd name="T25" fmla="*/ 103 h 222"/>
                <a:gd name="T26" fmla="*/ 79 w 348"/>
                <a:gd name="T27" fmla="*/ 104 h 222"/>
                <a:gd name="T28" fmla="*/ 78 w 348"/>
                <a:gd name="T29" fmla="*/ 106 h 222"/>
                <a:gd name="T30" fmla="*/ 79 w 348"/>
                <a:gd name="T31" fmla="*/ 107 h 222"/>
                <a:gd name="T32" fmla="*/ 80 w 348"/>
                <a:gd name="T33" fmla="*/ 109 h 222"/>
                <a:gd name="T34" fmla="*/ 81 w 348"/>
                <a:gd name="T35" fmla="*/ 110 h 222"/>
                <a:gd name="T36" fmla="*/ 83 w 348"/>
                <a:gd name="T37" fmla="*/ 110 h 222"/>
                <a:gd name="T38" fmla="*/ 85 w 348"/>
                <a:gd name="T39" fmla="*/ 110 h 222"/>
                <a:gd name="T40" fmla="*/ 86 w 348"/>
                <a:gd name="T41" fmla="*/ 109 h 222"/>
                <a:gd name="T42" fmla="*/ 96 w 348"/>
                <a:gd name="T43" fmla="*/ 102 h 222"/>
                <a:gd name="T44" fmla="*/ 103 w 348"/>
                <a:gd name="T45" fmla="*/ 93 h 222"/>
                <a:gd name="T46" fmla="*/ 110 w 348"/>
                <a:gd name="T47" fmla="*/ 83 h 222"/>
                <a:gd name="T48" fmla="*/ 115 w 348"/>
                <a:gd name="T49" fmla="*/ 73 h 222"/>
                <a:gd name="T50" fmla="*/ 116 w 348"/>
                <a:gd name="T51" fmla="*/ 61 h 222"/>
                <a:gd name="T52" fmla="*/ 115 w 348"/>
                <a:gd name="T53" fmla="*/ 51 h 222"/>
                <a:gd name="T54" fmla="*/ 111 w 348"/>
                <a:gd name="T55" fmla="*/ 40 h 222"/>
                <a:gd name="T56" fmla="*/ 103 w 348"/>
                <a:gd name="T57" fmla="*/ 31 h 222"/>
                <a:gd name="T58" fmla="*/ 98 w 348"/>
                <a:gd name="T59" fmla="*/ 26 h 222"/>
                <a:gd name="T60" fmla="*/ 91 w 348"/>
                <a:gd name="T61" fmla="*/ 21 h 222"/>
                <a:gd name="T62" fmla="*/ 83 w 348"/>
                <a:gd name="T63" fmla="*/ 17 h 222"/>
                <a:gd name="T64" fmla="*/ 75 w 348"/>
                <a:gd name="T65" fmla="*/ 13 h 222"/>
                <a:gd name="T66" fmla="*/ 67 w 348"/>
                <a:gd name="T67" fmla="*/ 10 h 222"/>
                <a:gd name="T68" fmla="*/ 59 w 348"/>
                <a:gd name="T69" fmla="*/ 8 h 222"/>
                <a:gd name="T70" fmla="*/ 50 w 348"/>
                <a:gd name="T71" fmla="*/ 5 h 222"/>
                <a:gd name="T72" fmla="*/ 42 w 348"/>
                <a:gd name="T73" fmla="*/ 3 h 222"/>
                <a:gd name="T74" fmla="*/ 34 w 348"/>
                <a:gd name="T75" fmla="*/ 2 h 222"/>
                <a:gd name="T76" fmla="*/ 26 w 348"/>
                <a:gd name="T77" fmla="*/ 1 h 222"/>
                <a:gd name="T78" fmla="*/ 19 w 348"/>
                <a:gd name="T79" fmla="*/ 0 h 222"/>
                <a:gd name="T80" fmla="*/ 13 w 348"/>
                <a:gd name="T81" fmla="*/ 0 h 222"/>
                <a:gd name="T82" fmla="*/ 8 w 348"/>
                <a:gd name="T83" fmla="*/ 0 h 222"/>
                <a:gd name="T84" fmla="*/ 4 w 348"/>
                <a:gd name="T85" fmla="*/ 0 h 222"/>
                <a:gd name="T86" fmla="*/ 1 w 348"/>
                <a:gd name="T87" fmla="*/ 1 h 222"/>
                <a:gd name="T88" fmla="*/ 0 w 348"/>
                <a:gd name="T89" fmla="*/ 2 h 222"/>
                <a:gd name="T90" fmla="*/ 5 w 348"/>
                <a:gd name="T91" fmla="*/ 3 h 222"/>
                <a:gd name="T92" fmla="*/ 10 w 348"/>
                <a:gd name="T93" fmla="*/ 4 h 222"/>
                <a:gd name="T94" fmla="*/ 15 w 348"/>
                <a:gd name="T95" fmla="*/ 5 h 222"/>
                <a:gd name="T96" fmla="*/ 21 w 348"/>
                <a:gd name="T97" fmla="*/ 6 h 222"/>
                <a:gd name="T98" fmla="*/ 28 w 348"/>
                <a:gd name="T99" fmla="*/ 7 h 222"/>
                <a:gd name="T100" fmla="*/ 34 w 348"/>
                <a:gd name="T101" fmla="*/ 8 h 222"/>
                <a:gd name="T102" fmla="*/ 40 w 348"/>
                <a:gd name="T103" fmla="*/ 9 h 222"/>
                <a:gd name="T104" fmla="*/ 47 w 348"/>
                <a:gd name="T105" fmla="*/ 11 h 222"/>
                <a:gd name="T106" fmla="*/ 53 w 348"/>
                <a:gd name="T107" fmla="*/ 13 h 222"/>
                <a:gd name="T108" fmla="*/ 60 w 348"/>
                <a:gd name="T109" fmla="*/ 15 h 222"/>
                <a:gd name="T110" fmla="*/ 67 w 348"/>
                <a:gd name="T111" fmla="*/ 17 h 222"/>
                <a:gd name="T112" fmla="*/ 73 w 348"/>
                <a:gd name="T113" fmla="*/ 20 h 222"/>
                <a:gd name="T114" fmla="*/ 79 w 348"/>
                <a:gd name="T115" fmla="*/ 23 h 222"/>
                <a:gd name="T116" fmla="*/ 86 w 348"/>
                <a:gd name="T117" fmla="*/ 26 h 222"/>
                <a:gd name="T118" fmla="*/ 91 w 348"/>
                <a:gd name="T119" fmla="*/ 30 h 222"/>
                <a:gd name="T120" fmla="*/ 97 w 348"/>
                <a:gd name="T121" fmla="*/ 34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30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56 h 207"/>
                <a:gd name="T2" fmla="*/ 0 w 142"/>
                <a:gd name="T3" fmla="*/ 65 h 207"/>
                <a:gd name="T4" fmla="*/ 2 w 142"/>
                <a:gd name="T5" fmla="*/ 73 h 207"/>
                <a:gd name="T6" fmla="*/ 5 w 142"/>
                <a:gd name="T7" fmla="*/ 80 h 207"/>
                <a:gd name="T8" fmla="*/ 10 w 142"/>
                <a:gd name="T9" fmla="*/ 87 h 207"/>
                <a:gd name="T10" fmla="*/ 16 w 142"/>
                <a:gd name="T11" fmla="*/ 92 h 207"/>
                <a:gd name="T12" fmla="*/ 23 w 142"/>
                <a:gd name="T13" fmla="*/ 97 h 207"/>
                <a:gd name="T14" fmla="*/ 31 w 142"/>
                <a:gd name="T15" fmla="*/ 101 h 207"/>
                <a:gd name="T16" fmla="*/ 39 w 142"/>
                <a:gd name="T17" fmla="*/ 103 h 207"/>
                <a:gd name="T18" fmla="*/ 41 w 142"/>
                <a:gd name="T19" fmla="*/ 103 h 207"/>
                <a:gd name="T20" fmla="*/ 44 w 142"/>
                <a:gd name="T21" fmla="*/ 102 h 207"/>
                <a:gd name="T22" fmla="*/ 46 w 142"/>
                <a:gd name="T23" fmla="*/ 101 h 207"/>
                <a:gd name="T24" fmla="*/ 47 w 142"/>
                <a:gd name="T25" fmla="*/ 99 h 207"/>
                <a:gd name="T26" fmla="*/ 47 w 142"/>
                <a:gd name="T27" fmla="*/ 96 h 207"/>
                <a:gd name="T28" fmla="*/ 46 w 142"/>
                <a:gd name="T29" fmla="*/ 94 h 207"/>
                <a:gd name="T30" fmla="*/ 45 w 142"/>
                <a:gd name="T31" fmla="*/ 92 h 207"/>
                <a:gd name="T32" fmla="*/ 42 w 142"/>
                <a:gd name="T33" fmla="*/ 91 h 207"/>
                <a:gd name="T34" fmla="*/ 34 w 142"/>
                <a:gd name="T35" fmla="*/ 88 h 207"/>
                <a:gd name="T36" fmla="*/ 27 w 142"/>
                <a:gd name="T37" fmla="*/ 84 h 207"/>
                <a:gd name="T38" fmla="*/ 21 w 142"/>
                <a:gd name="T39" fmla="*/ 78 h 207"/>
                <a:gd name="T40" fmla="*/ 17 w 142"/>
                <a:gd name="T41" fmla="*/ 72 h 207"/>
                <a:gd name="T42" fmla="*/ 14 w 142"/>
                <a:gd name="T43" fmla="*/ 65 h 207"/>
                <a:gd name="T44" fmla="*/ 13 w 142"/>
                <a:gd name="T45" fmla="*/ 57 h 207"/>
                <a:gd name="T46" fmla="*/ 13 w 142"/>
                <a:gd name="T47" fmla="*/ 48 h 207"/>
                <a:gd name="T48" fmla="*/ 15 w 142"/>
                <a:gd name="T49" fmla="*/ 39 h 207"/>
                <a:gd name="T50" fmla="*/ 18 w 142"/>
                <a:gd name="T51" fmla="*/ 32 h 207"/>
                <a:gd name="T52" fmla="*/ 24 w 142"/>
                <a:gd name="T53" fmla="*/ 26 h 207"/>
                <a:gd name="T54" fmla="*/ 29 w 142"/>
                <a:gd name="T55" fmla="*/ 20 h 207"/>
                <a:gd name="T56" fmla="*/ 36 w 142"/>
                <a:gd name="T57" fmla="*/ 14 h 207"/>
                <a:gd name="T58" fmla="*/ 41 w 142"/>
                <a:gd name="T59" fmla="*/ 10 h 207"/>
                <a:gd name="T60" fmla="*/ 46 w 142"/>
                <a:gd name="T61" fmla="*/ 5 h 207"/>
                <a:gd name="T62" fmla="*/ 48 w 142"/>
                <a:gd name="T63" fmla="*/ 2 h 207"/>
                <a:gd name="T64" fmla="*/ 48 w 142"/>
                <a:gd name="T65" fmla="*/ 0 h 207"/>
                <a:gd name="T66" fmla="*/ 43 w 142"/>
                <a:gd name="T67" fmla="*/ 2 h 207"/>
                <a:gd name="T68" fmla="*/ 36 w 142"/>
                <a:gd name="T69" fmla="*/ 5 h 207"/>
                <a:gd name="T70" fmla="*/ 28 w 142"/>
                <a:gd name="T71" fmla="*/ 11 h 207"/>
                <a:gd name="T72" fmla="*/ 21 w 142"/>
                <a:gd name="T73" fmla="*/ 18 h 207"/>
                <a:gd name="T74" fmla="*/ 13 w 142"/>
                <a:gd name="T75" fmla="*/ 26 h 207"/>
                <a:gd name="T76" fmla="*/ 7 w 142"/>
                <a:gd name="T77" fmla="*/ 36 h 207"/>
                <a:gd name="T78" fmla="*/ 3 w 142"/>
                <a:gd name="T79" fmla="*/ 46 h 207"/>
                <a:gd name="T80" fmla="*/ 0 w 142"/>
                <a:gd name="T81" fmla="*/ 56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31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85 w 303"/>
                <a:gd name="T1" fmla="*/ 54 h 272"/>
                <a:gd name="T2" fmla="*/ 90 w 303"/>
                <a:gd name="T3" fmla="*/ 63 h 272"/>
                <a:gd name="T4" fmla="*/ 93 w 303"/>
                <a:gd name="T5" fmla="*/ 71 h 272"/>
                <a:gd name="T6" fmla="*/ 91 w 303"/>
                <a:gd name="T7" fmla="*/ 81 h 272"/>
                <a:gd name="T8" fmla="*/ 85 w 303"/>
                <a:gd name="T9" fmla="*/ 91 h 272"/>
                <a:gd name="T10" fmla="*/ 77 w 303"/>
                <a:gd name="T11" fmla="*/ 99 h 272"/>
                <a:gd name="T12" fmla="*/ 68 w 303"/>
                <a:gd name="T13" fmla="*/ 107 h 272"/>
                <a:gd name="T14" fmla="*/ 58 w 303"/>
                <a:gd name="T15" fmla="*/ 115 h 272"/>
                <a:gd name="T16" fmla="*/ 53 w 303"/>
                <a:gd name="T17" fmla="*/ 121 h 272"/>
                <a:gd name="T18" fmla="*/ 51 w 303"/>
                <a:gd name="T19" fmla="*/ 125 h 272"/>
                <a:gd name="T20" fmla="*/ 49 w 303"/>
                <a:gd name="T21" fmla="*/ 129 h 272"/>
                <a:gd name="T22" fmla="*/ 50 w 303"/>
                <a:gd name="T23" fmla="*/ 133 h 272"/>
                <a:gd name="T24" fmla="*/ 54 w 303"/>
                <a:gd name="T25" fmla="*/ 135 h 272"/>
                <a:gd name="T26" fmla="*/ 57 w 303"/>
                <a:gd name="T27" fmla="*/ 135 h 272"/>
                <a:gd name="T28" fmla="*/ 63 w 303"/>
                <a:gd name="T29" fmla="*/ 127 h 272"/>
                <a:gd name="T30" fmla="*/ 74 w 303"/>
                <a:gd name="T31" fmla="*/ 117 h 272"/>
                <a:gd name="T32" fmla="*/ 85 w 303"/>
                <a:gd name="T33" fmla="*/ 107 h 272"/>
                <a:gd name="T34" fmla="*/ 95 w 303"/>
                <a:gd name="T35" fmla="*/ 95 h 272"/>
                <a:gd name="T36" fmla="*/ 100 w 303"/>
                <a:gd name="T37" fmla="*/ 81 h 272"/>
                <a:gd name="T38" fmla="*/ 100 w 303"/>
                <a:gd name="T39" fmla="*/ 66 h 272"/>
                <a:gd name="T40" fmla="*/ 94 w 303"/>
                <a:gd name="T41" fmla="*/ 52 h 272"/>
                <a:gd name="T42" fmla="*/ 84 w 303"/>
                <a:gd name="T43" fmla="*/ 41 h 272"/>
                <a:gd name="T44" fmla="*/ 72 w 303"/>
                <a:gd name="T45" fmla="*/ 33 h 272"/>
                <a:gd name="T46" fmla="*/ 62 w 303"/>
                <a:gd name="T47" fmla="*/ 27 h 272"/>
                <a:gd name="T48" fmla="*/ 50 w 303"/>
                <a:gd name="T49" fmla="*/ 20 h 272"/>
                <a:gd name="T50" fmla="*/ 38 w 303"/>
                <a:gd name="T51" fmla="*/ 13 h 272"/>
                <a:gd name="T52" fmla="*/ 27 w 303"/>
                <a:gd name="T53" fmla="*/ 8 h 272"/>
                <a:gd name="T54" fmla="*/ 16 w 303"/>
                <a:gd name="T55" fmla="*/ 3 h 272"/>
                <a:gd name="T56" fmla="*/ 8 w 303"/>
                <a:gd name="T57" fmla="*/ 0 h 272"/>
                <a:gd name="T58" fmla="*/ 2 w 303"/>
                <a:gd name="T59" fmla="*/ 0 h 272"/>
                <a:gd name="T60" fmla="*/ 4 w 303"/>
                <a:gd name="T61" fmla="*/ 3 h 272"/>
                <a:gd name="T62" fmla="*/ 14 w 303"/>
                <a:gd name="T63" fmla="*/ 8 h 272"/>
                <a:gd name="T64" fmla="*/ 25 w 303"/>
                <a:gd name="T65" fmla="*/ 13 h 272"/>
                <a:gd name="T66" fmla="*/ 35 w 303"/>
                <a:gd name="T67" fmla="*/ 19 h 272"/>
                <a:gd name="T68" fmla="*/ 46 w 303"/>
                <a:gd name="T69" fmla="*/ 25 h 272"/>
                <a:gd name="T70" fmla="*/ 57 w 303"/>
                <a:gd name="T71" fmla="*/ 31 h 272"/>
                <a:gd name="T72" fmla="*/ 68 w 303"/>
                <a:gd name="T73" fmla="*/ 39 h 272"/>
                <a:gd name="T74" fmla="*/ 77 w 303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75" name="Group 34"/>
          <p:cNvGrpSpPr>
            <a:grpSpLocks/>
          </p:cNvGrpSpPr>
          <p:nvPr/>
        </p:nvGrpSpPr>
        <p:grpSpPr bwMode="auto">
          <a:xfrm flipH="1">
            <a:off x="1327150" y="5016500"/>
            <a:ext cx="839788" cy="755650"/>
            <a:chOff x="1160" y="2192"/>
            <a:chExt cx="589" cy="440"/>
          </a:xfrm>
        </p:grpSpPr>
        <p:pic>
          <p:nvPicPr>
            <p:cNvPr id="11281" name="Picture 35" descr="31u_bnrz[1]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282" name="AutoShape 36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37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29 w 247"/>
                <a:gd name="T1" fmla="*/ 13 h 203"/>
                <a:gd name="T2" fmla="*/ 23 w 247"/>
                <a:gd name="T3" fmla="*/ 17 h 203"/>
                <a:gd name="T4" fmla="*/ 17 w 247"/>
                <a:gd name="T5" fmla="*/ 22 h 203"/>
                <a:gd name="T6" fmla="*/ 13 w 247"/>
                <a:gd name="T7" fmla="*/ 28 h 203"/>
                <a:gd name="T8" fmla="*/ 8 w 247"/>
                <a:gd name="T9" fmla="*/ 34 h 203"/>
                <a:gd name="T10" fmla="*/ 5 w 247"/>
                <a:gd name="T11" fmla="*/ 40 h 203"/>
                <a:gd name="T12" fmla="*/ 2 w 247"/>
                <a:gd name="T13" fmla="*/ 47 h 203"/>
                <a:gd name="T14" fmla="*/ 1 w 247"/>
                <a:gd name="T15" fmla="*/ 55 h 203"/>
                <a:gd name="T16" fmla="*/ 0 w 247"/>
                <a:gd name="T17" fmla="*/ 62 h 203"/>
                <a:gd name="T18" fmla="*/ 1 w 247"/>
                <a:gd name="T19" fmla="*/ 73 h 203"/>
                <a:gd name="T20" fmla="*/ 5 w 247"/>
                <a:gd name="T21" fmla="*/ 82 h 203"/>
                <a:gd name="T22" fmla="*/ 11 w 247"/>
                <a:gd name="T23" fmla="*/ 89 h 203"/>
                <a:gd name="T24" fmla="*/ 18 w 247"/>
                <a:gd name="T25" fmla="*/ 95 h 203"/>
                <a:gd name="T26" fmla="*/ 27 w 247"/>
                <a:gd name="T27" fmla="*/ 99 h 203"/>
                <a:gd name="T28" fmla="*/ 37 w 247"/>
                <a:gd name="T29" fmla="*/ 101 h 203"/>
                <a:gd name="T30" fmla="*/ 46 w 247"/>
                <a:gd name="T31" fmla="*/ 102 h 203"/>
                <a:gd name="T32" fmla="*/ 55 w 247"/>
                <a:gd name="T33" fmla="*/ 100 h 203"/>
                <a:gd name="T34" fmla="*/ 57 w 247"/>
                <a:gd name="T35" fmla="*/ 100 h 203"/>
                <a:gd name="T36" fmla="*/ 59 w 247"/>
                <a:gd name="T37" fmla="*/ 99 h 203"/>
                <a:gd name="T38" fmla="*/ 61 w 247"/>
                <a:gd name="T39" fmla="*/ 98 h 203"/>
                <a:gd name="T40" fmla="*/ 61 w 247"/>
                <a:gd name="T41" fmla="*/ 96 h 203"/>
                <a:gd name="T42" fmla="*/ 60 w 247"/>
                <a:gd name="T43" fmla="*/ 93 h 203"/>
                <a:gd name="T44" fmla="*/ 58 w 247"/>
                <a:gd name="T45" fmla="*/ 91 h 203"/>
                <a:gd name="T46" fmla="*/ 56 w 247"/>
                <a:gd name="T47" fmla="*/ 89 h 203"/>
                <a:gd name="T48" fmla="*/ 54 w 247"/>
                <a:gd name="T49" fmla="*/ 88 h 203"/>
                <a:gd name="T50" fmla="*/ 49 w 247"/>
                <a:gd name="T51" fmla="*/ 87 h 203"/>
                <a:gd name="T52" fmla="*/ 44 w 247"/>
                <a:gd name="T53" fmla="*/ 86 h 203"/>
                <a:gd name="T54" fmla="*/ 39 w 247"/>
                <a:gd name="T55" fmla="*/ 85 h 203"/>
                <a:gd name="T56" fmla="*/ 35 w 247"/>
                <a:gd name="T57" fmla="*/ 84 h 203"/>
                <a:gd name="T58" fmla="*/ 30 w 247"/>
                <a:gd name="T59" fmla="*/ 82 h 203"/>
                <a:gd name="T60" fmla="*/ 26 w 247"/>
                <a:gd name="T61" fmla="*/ 80 h 203"/>
                <a:gd name="T62" fmla="*/ 22 w 247"/>
                <a:gd name="T63" fmla="*/ 77 h 203"/>
                <a:gd name="T64" fmla="*/ 18 w 247"/>
                <a:gd name="T65" fmla="*/ 73 h 203"/>
                <a:gd name="T66" fmla="*/ 16 w 247"/>
                <a:gd name="T67" fmla="*/ 56 h 203"/>
                <a:gd name="T68" fmla="*/ 20 w 247"/>
                <a:gd name="T69" fmla="*/ 42 h 203"/>
                <a:gd name="T70" fmla="*/ 28 w 247"/>
                <a:gd name="T71" fmla="*/ 31 h 203"/>
                <a:gd name="T72" fmla="*/ 39 w 247"/>
                <a:gd name="T73" fmla="*/ 22 h 203"/>
                <a:gd name="T74" fmla="*/ 51 w 247"/>
                <a:gd name="T75" fmla="*/ 15 h 203"/>
                <a:gd name="T76" fmla="*/ 63 w 247"/>
                <a:gd name="T77" fmla="*/ 10 h 203"/>
                <a:gd name="T78" fmla="*/ 74 w 247"/>
                <a:gd name="T79" fmla="*/ 6 h 203"/>
                <a:gd name="T80" fmla="*/ 83 w 247"/>
                <a:gd name="T81" fmla="*/ 2 h 203"/>
                <a:gd name="T82" fmla="*/ 78 w 247"/>
                <a:gd name="T83" fmla="*/ 1 h 203"/>
                <a:gd name="T84" fmla="*/ 72 w 247"/>
                <a:gd name="T85" fmla="*/ 0 h 203"/>
                <a:gd name="T86" fmla="*/ 65 w 247"/>
                <a:gd name="T87" fmla="*/ 1 h 203"/>
                <a:gd name="T88" fmla="*/ 57 w 247"/>
                <a:gd name="T89" fmla="*/ 2 h 203"/>
                <a:gd name="T90" fmla="*/ 50 w 247"/>
                <a:gd name="T91" fmla="*/ 5 h 203"/>
                <a:gd name="T92" fmla="*/ 43 w 247"/>
                <a:gd name="T93" fmla="*/ 7 h 203"/>
                <a:gd name="T94" fmla="*/ 36 w 247"/>
                <a:gd name="T95" fmla="*/ 10 h 203"/>
                <a:gd name="T96" fmla="*/ 29 w 247"/>
                <a:gd name="T97" fmla="*/ 13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38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44 w 158"/>
                <a:gd name="T1" fmla="*/ 26 h 158"/>
                <a:gd name="T2" fmla="*/ 46 w 158"/>
                <a:gd name="T3" fmla="*/ 34 h 158"/>
                <a:gd name="T4" fmla="*/ 45 w 158"/>
                <a:gd name="T5" fmla="*/ 41 h 158"/>
                <a:gd name="T6" fmla="*/ 42 w 158"/>
                <a:gd name="T7" fmla="*/ 47 h 158"/>
                <a:gd name="T8" fmla="*/ 37 w 158"/>
                <a:gd name="T9" fmla="*/ 53 h 158"/>
                <a:gd name="T10" fmla="*/ 31 w 158"/>
                <a:gd name="T11" fmla="*/ 58 h 158"/>
                <a:gd name="T12" fmla="*/ 25 w 158"/>
                <a:gd name="T13" fmla="*/ 63 h 158"/>
                <a:gd name="T14" fmla="*/ 18 w 158"/>
                <a:gd name="T15" fmla="*/ 68 h 158"/>
                <a:gd name="T16" fmla="*/ 12 w 158"/>
                <a:gd name="T17" fmla="*/ 72 h 158"/>
                <a:gd name="T18" fmla="*/ 11 w 158"/>
                <a:gd name="T19" fmla="*/ 74 h 158"/>
                <a:gd name="T20" fmla="*/ 11 w 158"/>
                <a:gd name="T21" fmla="*/ 75 h 158"/>
                <a:gd name="T22" fmla="*/ 11 w 158"/>
                <a:gd name="T23" fmla="*/ 76 h 158"/>
                <a:gd name="T24" fmla="*/ 11 w 158"/>
                <a:gd name="T25" fmla="*/ 78 h 158"/>
                <a:gd name="T26" fmla="*/ 13 w 158"/>
                <a:gd name="T27" fmla="*/ 79 h 158"/>
                <a:gd name="T28" fmla="*/ 14 w 158"/>
                <a:gd name="T29" fmla="*/ 79 h 158"/>
                <a:gd name="T30" fmla="*/ 15 w 158"/>
                <a:gd name="T31" fmla="*/ 79 h 158"/>
                <a:gd name="T32" fmla="*/ 16 w 158"/>
                <a:gd name="T33" fmla="*/ 79 h 158"/>
                <a:gd name="T34" fmla="*/ 24 w 158"/>
                <a:gd name="T35" fmla="*/ 74 h 158"/>
                <a:gd name="T36" fmla="*/ 31 w 158"/>
                <a:gd name="T37" fmla="*/ 69 h 158"/>
                <a:gd name="T38" fmla="*/ 38 w 158"/>
                <a:gd name="T39" fmla="*/ 63 h 158"/>
                <a:gd name="T40" fmla="*/ 44 w 158"/>
                <a:gd name="T41" fmla="*/ 57 h 158"/>
                <a:gd name="T42" fmla="*/ 49 w 158"/>
                <a:gd name="T43" fmla="*/ 50 h 158"/>
                <a:gd name="T44" fmla="*/ 51 w 158"/>
                <a:gd name="T45" fmla="*/ 42 h 158"/>
                <a:gd name="T46" fmla="*/ 52 w 158"/>
                <a:gd name="T47" fmla="*/ 34 h 158"/>
                <a:gd name="T48" fmla="*/ 50 w 158"/>
                <a:gd name="T49" fmla="*/ 24 h 158"/>
                <a:gd name="T50" fmla="*/ 46 w 158"/>
                <a:gd name="T51" fmla="*/ 18 h 158"/>
                <a:gd name="T52" fmla="*/ 39 w 158"/>
                <a:gd name="T53" fmla="*/ 11 h 158"/>
                <a:gd name="T54" fmla="*/ 32 w 158"/>
                <a:gd name="T55" fmla="*/ 7 h 158"/>
                <a:gd name="T56" fmla="*/ 23 w 158"/>
                <a:gd name="T57" fmla="*/ 3 h 158"/>
                <a:gd name="T58" fmla="*/ 15 w 158"/>
                <a:gd name="T59" fmla="*/ 1 h 158"/>
                <a:gd name="T60" fmla="*/ 8 w 158"/>
                <a:gd name="T61" fmla="*/ 0 h 158"/>
                <a:gd name="T62" fmla="*/ 2 w 158"/>
                <a:gd name="T63" fmla="*/ 0 h 158"/>
                <a:gd name="T64" fmla="*/ 0 w 158"/>
                <a:gd name="T65" fmla="*/ 2 h 158"/>
                <a:gd name="T66" fmla="*/ 6 w 158"/>
                <a:gd name="T67" fmla="*/ 5 h 158"/>
                <a:gd name="T68" fmla="*/ 12 w 158"/>
                <a:gd name="T69" fmla="*/ 6 h 158"/>
                <a:gd name="T70" fmla="*/ 18 w 158"/>
                <a:gd name="T71" fmla="*/ 9 h 158"/>
                <a:gd name="T72" fmla="*/ 25 w 158"/>
                <a:gd name="T73" fmla="*/ 10 h 158"/>
                <a:gd name="T74" fmla="*/ 31 w 158"/>
                <a:gd name="T75" fmla="*/ 13 h 158"/>
                <a:gd name="T76" fmla="*/ 36 w 158"/>
                <a:gd name="T77" fmla="*/ 17 h 158"/>
                <a:gd name="T78" fmla="*/ 40 w 158"/>
                <a:gd name="T79" fmla="*/ 20 h 158"/>
                <a:gd name="T80" fmla="*/ 44 w 158"/>
                <a:gd name="T81" fmla="*/ 26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39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41 w 399"/>
                <a:gd name="T1" fmla="*/ 31 h 331"/>
                <a:gd name="T2" fmla="*/ 22 w 399"/>
                <a:gd name="T3" fmla="*/ 51 h 331"/>
                <a:gd name="T4" fmla="*/ 7 w 399"/>
                <a:gd name="T5" fmla="*/ 73 h 331"/>
                <a:gd name="T6" fmla="*/ 0 w 399"/>
                <a:gd name="T7" fmla="*/ 100 h 331"/>
                <a:gd name="T8" fmla="*/ 1 w 399"/>
                <a:gd name="T9" fmla="*/ 117 h 331"/>
                <a:gd name="T10" fmla="*/ 4 w 399"/>
                <a:gd name="T11" fmla="*/ 124 h 331"/>
                <a:gd name="T12" fmla="*/ 8 w 399"/>
                <a:gd name="T13" fmla="*/ 131 h 331"/>
                <a:gd name="T14" fmla="*/ 13 w 399"/>
                <a:gd name="T15" fmla="*/ 136 h 331"/>
                <a:gd name="T16" fmla="*/ 23 w 399"/>
                <a:gd name="T17" fmla="*/ 142 h 331"/>
                <a:gd name="T18" fmla="*/ 36 w 399"/>
                <a:gd name="T19" fmla="*/ 149 h 331"/>
                <a:gd name="T20" fmla="*/ 49 w 399"/>
                <a:gd name="T21" fmla="*/ 154 h 331"/>
                <a:gd name="T22" fmla="*/ 63 w 399"/>
                <a:gd name="T23" fmla="*/ 158 h 331"/>
                <a:gd name="T24" fmla="*/ 77 w 399"/>
                <a:gd name="T25" fmla="*/ 161 h 331"/>
                <a:gd name="T26" fmla="*/ 91 w 399"/>
                <a:gd name="T27" fmla="*/ 163 h 331"/>
                <a:gd name="T28" fmla="*/ 105 w 399"/>
                <a:gd name="T29" fmla="*/ 164 h 331"/>
                <a:gd name="T30" fmla="*/ 119 w 399"/>
                <a:gd name="T31" fmla="*/ 165 h 331"/>
                <a:gd name="T32" fmla="*/ 129 w 399"/>
                <a:gd name="T33" fmla="*/ 166 h 331"/>
                <a:gd name="T34" fmla="*/ 132 w 399"/>
                <a:gd name="T35" fmla="*/ 163 h 331"/>
                <a:gd name="T36" fmla="*/ 133 w 399"/>
                <a:gd name="T37" fmla="*/ 158 h 331"/>
                <a:gd name="T38" fmla="*/ 130 w 399"/>
                <a:gd name="T39" fmla="*/ 155 h 331"/>
                <a:gd name="T40" fmla="*/ 121 w 399"/>
                <a:gd name="T41" fmla="*/ 152 h 331"/>
                <a:gd name="T42" fmla="*/ 109 w 399"/>
                <a:gd name="T43" fmla="*/ 150 h 331"/>
                <a:gd name="T44" fmla="*/ 96 w 399"/>
                <a:gd name="T45" fmla="*/ 148 h 331"/>
                <a:gd name="T46" fmla="*/ 83 w 399"/>
                <a:gd name="T47" fmla="*/ 146 h 331"/>
                <a:gd name="T48" fmla="*/ 70 w 399"/>
                <a:gd name="T49" fmla="*/ 143 h 331"/>
                <a:gd name="T50" fmla="*/ 57 w 399"/>
                <a:gd name="T51" fmla="*/ 140 h 331"/>
                <a:gd name="T52" fmla="*/ 45 w 399"/>
                <a:gd name="T53" fmla="*/ 136 h 331"/>
                <a:gd name="T54" fmla="*/ 33 w 399"/>
                <a:gd name="T55" fmla="*/ 131 h 331"/>
                <a:gd name="T56" fmla="*/ 23 w 399"/>
                <a:gd name="T57" fmla="*/ 124 h 331"/>
                <a:gd name="T58" fmla="*/ 16 w 399"/>
                <a:gd name="T59" fmla="*/ 114 h 331"/>
                <a:gd name="T60" fmla="*/ 14 w 399"/>
                <a:gd name="T61" fmla="*/ 102 h 331"/>
                <a:gd name="T62" fmla="*/ 16 w 399"/>
                <a:gd name="T63" fmla="*/ 88 h 331"/>
                <a:gd name="T64" fmla="*/ 21 w 399"/>
                <a:gd name="T65" fmla="*/ 75 h 331"/>
                <a:gd name="T66" fmla="*/ 29 w 399"/>
                <a:gd name="T67" fmla="*/ 61 h 331"/>
                <a:gd name="T68" fmla="*/ 39 w 399"/>
                <a:gd name="T69" fmla="*/ 49 h 331"/>
                <a:gd name="T70" fmla="*/ 51 w 399"/>
                <a:gd name="T71" fmla="*/ 37 h 331"/>
                <a:gd name="T72" fmla="*/ 63 w 399"/>
                <a:gd name="T73" fmla="*/ 26 h 331"/>
                <a:gd name="T74" fmla="*/ 81 w 399"/>
                <a:gd name="T75" fmla="*/ 17 h 331"/>
                <a:gd name="T76" fmla="*/ 98 w 399"/>
                <a:gd name="T77" fmla="*/ 9 h 331"/>
                <a:gd name="T78" fmla="*/ 109 w 399"/>
                <a:gd name="T79" fmla="*/ 3 h 331"/>
                <a:gd name="T80" fmla="*/ 106 w 399"/>
                <a:gd name="T81" fmla="*/ 0 h 331"/>
                <a:gd name="T82" fmla="*/ 91 w 399"/>
                <a:gd name="T83" fmla="*/ 2 h 331"/>
                <a:gd name="T84" fmla="*/ 74 w 399"/>
                <a:gd name="T85" fmla="*/ 8 h 331"/>
                <a:gd name="T86" fmla="*/ 58 w 399"/>
                <a:gd name="T87" fmla="*/ 17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40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96 w 350"/>
                <a:gd name="T1" fmla="*/ 34 h 221"/>
                <a:gd name="T2" fmla="*/ 101 w 350"/>
                <a:gd name="T3" fmla="*/ 40 h 221"/>
                <a:gd name="T4" fmla="*/ 105 w 350"/>
                <a:gd name="T5" fmla="*/ 47 h 221"/>
                <a:gd name="T6" fmla="*/ 106 w 350"/>
                <a:gd name="T7" fmla="*/ 54 h 221"/>
                <a:gd name="T8" fmla="*/ 106 w 350"/>
                <a:gd name="T9" fmla="*/ 62 h 221"/>
                <a:gd name="T10" fmla="*/ 105 w 350"/>
                <a:gd name="T11" fmla="*/ 69 h 221"/>
                <a:gd name="T12" fmla="*/ 103 w 350"/>
                <a:gd name="T13" fmla="*/ 74 h 221"/>
                <a:gd name="T14" fmla="*/ 100 w 350"/>
                <a:gd name="T15" fmla="*/ 80 h 221"/>
                <a:gd name="T16" fmla="*/ 97 w 350"/>
                <a:gd name="T17" fmla="*/ 84 h 221"/>
                <a:gd name="T18" fmla="*/ 92 w 350"/>
                <a:gd name="T19" fmla="*/ 89 h 221"/>
                <a:gd name="T20" fmla="*/ 88 w 350"/>
                <a:gd name="T21" fmla="*/ 93 h 221"/>
                <a:gd name="T22" fmla="*/ 84 w 350"/>
                <a:gd name="T23" fmla="*/ 98 h 221"/>
                <a:gd name="T24" fmla="*/ 80 w 350"/>
                <a:gd name="T25" fmla="*/ 102 h 221"/>
                <a:gd name="T26" fmla="*/ 79 w 350"/>
                <a:gd name="T27" fmla="*/ 104 h 221"/>
                <a:gd name="T28" fmla="*/ 79 w 350"/>
                <a:gd name="T29" fmla="*/ 106 h 221"/>
                <a:gd name="T30" fmla="*/ 79 w 350"/>
                <a:gd name="T31" fmla="*/ 107 h 221"/>
                <a:gd name="T32" fmla="*/ 80 w 350"/>
                <a:gd name="T33" fmla="*/ 109 h 221"/>
                <a:gd name="T34" fmla="*/ 81 w 350"/>
                <a:gd name="T35" fmla="*/ 110 h 221"/>
                <a:gd name="T36" fmla="*/ 83 w 350"/>
                <a:gd name="T37" fmla="*/ 110 h 221"/>
                <a:gd name="T38" fmla="*/ 84 w 350"/>
                <a:gd name="T39" fmla="*/ 110 h 221"/>
                <a:gd name="T40" fmla="*/ 86 w 350"/>
                <a:gd name="T41" fmla="*/ 109 h 221"/>
                <a:gd name="T42" fmla="*/ 95 w 350"/>
                <a:gd name="T43" fmla="*/ 102 h 221"/>
                <a:gd name="T44" fmla="*/ 103 w 350"/>
                <a:gd name="T45" fmla="*/ 93 h 221"/>
                <a:gd name="T46" fmla="*/ 110 w 350"/>
                <a:gd name="T47" fmla="*/ 84 h 221"/>
                <a:gd name="T48" fmla="*/ 114 w 350"/>
                <a:gd name="T49" fmla="*/ 73 h 221"/>
                <a:gd name="T50" fmla="*/ 116 w 350"/>
                <a:gd name="T51" fmla="*/ 62 h 221"/>
                <a:gd name="T52" fmla="*/ 115 w 350"/>
                <a:gd name="T53" fmla="*/ 50 h 221"/>
                <a:gd name="T54" fmla="*/ 111 w 350"/>
                <a:gd name="T55" fmla="*/ 40 h 221"/>
                <a:gd name="T56" fmla="*/ 103 w 350"/>
                <a:gd name="T57" fmla="*/ 30 h 221"/>
                <a:gd name="T58" fmla="*/ 98 w 350"/>
                <a:gd name="T59" fmla="*/ 25 h 221"/>
                <a:gd name="T60" fmla="*/ 91 w 350"/>
                <a:gd name="T61" fmla="*/ 21 h 221"/>
                <a:gd name="T62" fmla="*/ 84 w 350"/>
                <a:gd name="T63" fmla="*/ 17 h 221"/>
                <a:gd name="T64" fmla="*/ 76 w 350"/>
                <a:gd name="T65" fmla="*/ 13 h 221"/>
                <a:gd name="T66" fmla="*/ 67 w 350"/>
                <a:gd name="T67" fmla="*/ 10 h 221"/>
                <a:gd name="T68" fmla="*/ 59 w 350"/>
                <a:gd name="T69" fmla="*/ 7 h 221"/>
                <a:gd name="T70" fmla="*/ 50 w 350"/>
                <a:gd name="T71" fmla="*/ 5 h 221"/>
                <a:gd name="T72" fmla="*/ 42 w 350"/>
                <a:gd name="T73" fmla="*/ 3 h 221"/>
                <a:gd name="T74" fmla="*/ 34 w 350"/>
                <a:gd name="T75" fmla="*/ 2 h 221"/>
                <a:gd name="T76" fmla="*/ 27 w 350"/>
                <a:gd name="T77" fmla="*/ 1 h 221"/>
                <a:gd name="T78" fmla="*/ 20 w 350"/>
                <a:gd name="T79" fmla="*/ 0 h 221"/>
                <a:gd name="T80" fmla="*/ 14 w 350"/>
                <a:gd name="T81" fmla="*/ 0 h 221"/>
                <a:gd name="T82" fmla="*/ 9 w 350"/>
                <a:gd name="T83" fmla="*/ 0 h 221"/>
                <a:gd name="T84" fmla="*/ 4 w 350"/>
                <a:gd name="T85" fmla="*/ 0 h 221"/>
                <a:gd name="T86" fmla="*/ 1 w 350"/>
                <a:gd name="T87" fmla="*/ 1 h 221"/>
                <a:gd name="T88" fmla="*/ 0 w 350"/>
                <a:gd name="T89" fmla="*/ 2 h 221"/>
                <a:gd name="T90" fmla="*/ 5 w 350"/>
                <a:gd name="T91" fmla="*/ 3 h 221"/>
                <a:gd name="T92" fmla="*/ 10 w 350"/>
                <a:gd name="T93" fmla="*/ 3 h 221"/>
                <a:gd name="T94" fmla="*/ 16 w 350"/>
                <a:gd name="T95" fmla="*/ 4 h 221"/>
                <a:gd name="T96" fmla="*/ 21 w 350"/>
                <a:gd name="T97" fmla="*/ 5 h 221"/>
                <a:gd name="T98" fmla="*/ 27 w 350"/>
                <a:gd name="T99" fmla="*/ 7 h 221"/>
                <a:gd name="T100" fmla="*/ 34 w 350"/>
                <a:gd name="T101" fmla="*/ 8 h 221"/>
                <a:gd name="T102" fmla="*/ 40 w 350"/>
                <a:gd name="T103" fmla="*/ 9 h 221"/>
                <a:gd name="T104" fmla="*/ 47 w 350"/>
                <a:gd name="T105" fmla="*/ 11 h 221"/>
                <a:gd name="T106" fmla="*/ 53 w 350"/>
                <a:gd name="T107" fmla="*/ 13 h 221"/>
                <a:gd name="T108" fmla="*/ 60 w 350"/>
                <a:gd name="T109" fmla="*/ 15 h 221"/>
                <a:gd name="T110" fmla="*/ 66 w 350"/>
                <a:gd name="T111" fmla="*/ 17 h 221"/>
                <a:gd name="T112" fmla="*/ 73 w 350"/>
                <a:gd name="T113" fmla="*/ 19 h 221"/>
                <a:gd name="T114" fmla="*/ 79 w 350"/>
                <a:gd name="T115" fmla="*/ 22 h 221"/>
                <a:gd name="T116" fmla="*/ 85 w 350"/>
                <a:gd name="T117" fmla="*/ 26 h 221"/>
                <a:gd name="T118" fmla="*/ 91 w 350"/>
                <a:gd name="T119" fmla="*/ 30 h 221"/>
                <a:gd name="T120" fmla="*/ 96 w 350"/>
                <a:gd name="T121" fmla="*/ 34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41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58 h 208"/>
                <a:gd name="T2" fmla="*/ 0 w 142"/>
                <a:gd name="T3" fmla="*/ 66 h 208"/>
                <a:gd name="T4" fmla="*/ 2 w 142"/>
                <a:gd name="T5" fmla="*/ 74 h 208"/>
                <a:gd name="T6" fmla="*/ 5 w 142"/>
                <a:gd name="T7" fmla="*/ 82 h 208"/>
                <a:gd name="T8" fmla="*/ 10 w 142"/>
                <a:gd name="T9" fmla="*/ 88 h 208"/>
                <a:gd name="T10" fmla="*/ 16 w 142"/>
                <a:gd name="T11" fmla="*/ 94 h 208"/>
                <a:gd name="T12" fmla="*/ 23 w 142"/>
                <a:gd name="T13" fmla="*/ 99 h 208"/>
                <a:gd name="T14" fmla="*/ 31 w 142"/>
                <a:gd name="T15" fmla="*/ 102 h 208"/>
                <a:gd name="T16" fmla="*/ 39 w 142"/>
                <a:gd name="T17" fmla="*/ 104 h 208"/>
                <a:gd name="T18" fmla="*/ 41 w 142"/>
                <a:gd name="T19" fmla="*/ 105 h 208"/>
                <a:gd name="T20" fmla="*/ 44 w 142"/>
                <a:gd name="T21" fmla="*/ 104 h 208"/>
                <a:gd name="T22" fmla="*/ 46 w 142"/>
                <a:gd name="T23" fmla="*/ 102 h 208"/>
                <a:gd name="T24" fmla="*/ 47 w 142"/>
                <a:gd name="T25" fmla="*/ 100 h 208"/>
                <a:gd name="T26" fmla="*/ 47 w 142"/>
                <a:gd name="T27" fmla="*/ 98 h 208"/>
                <a:gd name="T28" fmla="*/ 46 w 142"/>
                <a:gd name="T29" fmla="*/ 95 h 208"/>
                <a:gd name="T30" fmla="*/ 45 w 142"/>
                <a:gd name="T31" fmla="*/ 93 h 208"/>
                <a:gd name="T32" fmla="*/ 42 w 142"/>
                <a:gd name="T33" fmla="*/ 92 h 208"/>
                <a:gd name="T34" fmla="*/ 34 w 142"/>
                <a:gd name="T35" fmla="*/ 89 h 208"/>
                <a:gd name="T36" fmla="*/ 27 w 142"/>
                <a:gd name="T37" fmla="*/ 85 h 208"/>
                <a:gd name="T38" fmla="*/ 21 w 142"/>
                <a:gd name="T39" fmla="*/ 80 h 208"/>
                <a:gd name="T40" fmla="*/ 17 w 142"/>
                <a:gd name="T41" fmla="*/ 74 h 208"/>
                <a:gd name="T42" fmla="*/ 14 w 142"/>
                <a:gd name="T43" fmla="*/ 66 h 208"/>
                <a:gd name="T44" fmla="*/ 12 w 142"/>
                <a:gd name="T45" fmla="*/ 58 h 208"/>
                <a:gd name="T46" fmla="*/ 12 w 142"/>
                <a:gd name="T47" fmla="*/ 49 h 208"/>
                <a:gd name="T48" fmla="*/ 15 w 142"/>
                <a:gd name="T49" fmla="*/ 40 h 208"/>
                <a:gd name="T50" fmla="*/ 18 w 142"/>
                <a:gd name="T51" fmla="*/ 33 h 208"/>
                <a:gd name="T52" fmla="*/ 22 w 142"/>
                <a:gd name="T53" fmla="*/ 27 h 208"/>
                <a:gd name="T54" fmla="*/ 26 w 142"/>
                <a:gd name="T55" fmla="*/ 22 h 208"/>
                <a:gd name="T56" fmla="*/ 31 w 142"/>
                <a:gd name="T57" fmla="*/ 17 h 208"/>
                <a:gd name="T58" fmla="*/ 35 w 142"/>
                <a:gd name="T59" fmla="*/ 12 h 208"/>
                <a:gd name="T60" fmla="*/ 40 w 142"/>
                <a:gd name="T61" fmla="*/ 8 h 208"/>
                <a:gd name="T62" fmla="*/ 45 w 142"/>
                <a:gd name="T63" fmla="*/ 4 h 208"/>
                <a:gd name="T64" fmla="*/ 48 w 142"/>
                <a:gd name="T65" fmla="*/ 1 h 208"/>
                <a:gd name="T66" fmla="*/ 45 w 142"/>
                <a:gd name="T67" fmla="*/ 0 h 208"/>
                <a:gd name="T68" fmla="*/ 39 w 142"/>
                <a:gd name="T69" fmla="*/ 3 h 208"/>
                <a:gd name="T70" fmla="*/ 32 w 142"/>
                <a:gd name="T71" fmla="*/ 8 h 208"/>
                <a:gd name="T72" fmla="*/ 23 w 142"/>
                <a:gd name="T73" fmla="*/ 16 h 208"/>
                <a:gd name="T74" fmla="*/ 16 w 142"/>
                <a:gd name="T75" fmla="*/ 25 h 208"/>
                <a:gd name="T76" fmla="*/ 8 w 142"/>
                <a:gd name="T77" fmla="*/ 35 h 208"/>
                <a:gd name="T78" fmla="*/ 3 w 142"/>
                <a:gd name="T79" fmla="*/ 46 h 208"/>
                <a:gd name="T80" fmla="*/ 0 w 142"/>
                <a:gd name="T81" fmla="*/ 58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42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85 w 304"/>
                <a:gd name="T1" fmla="*/ 54 h 272"/>
                <a:gd name="T2" fmla="*/ 90 w 304"/>
                <a:gd name="T3" fmla="*/ 63 h 272"/>
                <a:gd name="T4" fmla="*/ 92 w 304"/>
                <a:gd name="T5" fmla="*/ 72 h 272"/>
                <a:gd name="T6" fmla="*/ 91 w 304"/>
                <a:gd name="T7" fmla="*/ 82 h 272"/>
                <a:gd name="T8" fmla="*/ 86 w 304"/>
                <a:gd name="T9" fmla="*/ 91 h 272"/>
                <a:gd name="T10" fmla="*/ 77 w 304"/>
                <a:gd name="T11" fmla="*/ 100 h 272"/>
                <a:gd name="T12" fmla="*/ 68 w 304"/>
                <a:gd name="T13" fmla="*/ 107 h 272"/>
                <a:gd name="T14" fmla="*/ 59 w 304"/>
                <a:gd name="T15" fmla="*/ 116 h 272"/>
                <a:gd name="T16" fmla="*/ 53 w 304"/>
                <a:gd name="T17" fmla="*/ 122 h 272"/>
                <a:gd name="T18" fmla="*/ 51 w 304"/>
                <a:gd name="T19" fmla="*/ 126 h 272"/>
                <a:gd name="T20" fmla="*/ 50 w 304"/>
                <a:gd name="T21" fmla="*/ 130 h 272"/>
                <a:gd name="T22" fmla="*/ 50 w 304"/>
                <a:gd name="T23" fmla="*/ 134 h 272"/>
                <a:gd name="T24" fmla="*/ 53 w 304"/>
                <a:gd name="T25" fmla="*/ 136 h 272"/>
                <a:gd name="T26" fmla="*/ 57 w 304"/>
                <a:gd name="T27" fmla="*/ 136 h 272"/>
                <a:gd name="T28" fmla="*/ 63 w 304"/>
                <a:gd name="T29" fmla="*/ 129 h 272"/>
                <a:gd name="T30" fmla="*/ 74 w 304"/>
                <a:gd name="T31" fmla="*/ 118 h 272"/>
                <a:gd name="T32" fmla="*/ 85 w 304"/>
                <a:gd name="T33" fmla="*/ 107 h 272"/>
                <a:gd name="T34" fmla="*/ 95 w 304"/>
                <a:gd name="T35" fmla="*/ 96 h 272"/>
                <a:gd name="T36" fmla="*/ 101 w 304"/>
                <a:gd name="T37" fmla="*/ 82 h 272"/>
                <a:gd name="T38" fmla="*/ 100 w 304"/>
                <a:gd name="T39" fmla="*/ 67 h 272"/>
                <a:gd name="T40" fmla="*/ 93 w 304"/>
                <a:gd name="T41" fmla="*/ 53 h 272"/>
                <a:gd name="T42" fmla="*/ 83 w 304"/>
                <a:gd name="T43" fmla="*/ 41 h 272"/>
                <a:gd name="T44" fmla="*/ 73 w 304"/>
                <a:gd name="T45" fmla="*/ 33 h 272"/>
                <a:gd name="T46" fmla="*/ 62 w 304"/>
                <a:gd name="T47" fmla="*/ 26 h 272"/>
                <a:gd name="T48" fmla="*/ 52 w 304"/>
                <a:gd name="T49" fmla="*/ 19 h 272"/>
                <a:gd name="T50" fmla="*/ 41 w 304"/>
                <a:gd name="T51" fmla="*/ 12 h 272"/>
                <a:gd name="T52" fmla="*/ 30 w 304"/>
                <a:gd name="T53" fmla="*/ 7 h 272"/>
                <a:gd name="T54" fmla="*/ 19 w 304"/>
                <a:gd name="T55" fmla="*/ 3 h 272"/>
                <a:gd name="T56" fmla="*/ 10 w 304"/>
                <a:gd name="T57" fmla="*/ 1 h 272"/>
                <a:gd name="T58" fmla="*/ 3 w 304"/>
                <a:gd name="T59" fmla="*/ 1 h 272"/>
                <a:gd name="T60" fmla="*/ 3 w 304"/>
                <a:gd name="T61" fmla="*/ 2 h 272"/>
                <a:gd name="T62" fmla="*/ 12 w 304"/>
                <a:gd name="T63" fmla="*/ 6 h 272"/>
                <a:gd name="T64" fmla="*/ 21 w 304"/>
                <a:gd name="T65" fmla="*/ 10 h 272"/>
                <a:gd name="T66" fmla="*/ 32 w 304"/>
                <a:gd name="T67" fmla="*/ 16 h 272"/>
                <a:gd name="T68" fmla="*/ 44 w 304"/>
                <a:gd name="T69" fmla="*/ 22 h 272"/>
                <a:gd name="T70" fmla="*/ 55 w 304"/>
                <a:gd name="T71" fmla="*/ 30 h 272"/>
                <a:gd name="T72" fmla="*/ 67 w 304"/>
                <a:gd name="T73" fmla="*/ 38 h 272"/>
                <a:gd name="T74" fmla="*/ 77 w 304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43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13 w 103"/>
                <a:gd name="T1" fmla="*/ 6 h 164"/>
                <a:gd name="T2" fmla="*/ 12 w 103"/>
                <a:gd name="T3" fmla="*/ 3 h 164"/>
                <a:gd name="T4" fmla="*/ 11 w 103"/>
                <a:gd name="T5" fmla="*/ 1 h 164"/>
                <a:gd name="T6" fmla="*/ 8 w 103"/>
                <a:gd name="T7" fmla="*/ 1 h 164"/>
                <a:gd name="T8" fmla="*/ 6 w 103"/>
                <a:gd name="T9" fmla="*/ 0 h 164"/>
                <a:gd name="T10" fmla="*/ 3 w 103"/>
                <a:gd name="T11" fmla="*/ 1 h 164"/>
                <a:gd name="T12" fmla="*/ 2 w 103"/>
                <a:gd name="T13" fmla="*/ 3 h 164"/>
                <a:gd name="T14" fmla="*/ 0 w 103"/>
                <a:gd name="T15" fmla="*/ 5 h 164"/>
                <a:gd name="T16" fmla="*/ 0 w 103"/>
                <a:gd name="T17" fmla="*/ 7 h 164"/>
                <a:gd name="T18" fmla="*/ 3 w 103"/>
                <a:gd name="T19" fmla="*/ 19 h 164"/>
                <a:gd name="T20" fmla="*/ 6 w 103"/>
                <a:gd name="T21" fmla="*/ 31 h 164"/>
                <a:gd name="T22" fmla="*/ 11 w 103"/>
                <a:gd name="T23" fmla="*/ 44 h 164"/>
                <a:gd name="T24" fmla="*/ 17 w 103"/>
                <a:gd name="T25" fmla="*/ 56 h 164"/>
                <a:gd name="T26" fmla="*/ 22 w 103"/>
                <a:gd name="T27" fmla="*/ 67 h 164"/>
                <a:gd name="T28" fmla="*/ 28 w 103"/>
                <a:gd name="T29" fmla="*/ 75 h 164"/>
                <a:gd name="T30" fmla="*/ 32 w 103"/>
                <a:gd name="T31" fmla="*/ 81 h 164"/>
                <a:gd name="T32" fmla="*/ 34 w 103"/>
                <a:gd name="T33" fmla="*/ 82 h 164"/>
                <a:gd name="T34" fmla="*/ 33 w 103"/>
                <a:gd name="T35" fmla="*/ 77 h 164"/>
                <a:gd name="T36" fmla="*/ 31 w 103"/>
                <a:gd name="T37" fmla="*/ 70 h 164"/>
                <a:gd name="T38" fmla="*/ 28 w 103"/>
                <a:gd name="T39" fmla="*/ 60 h 164"/>
                <a:gd name="T40" fmla="*/ 24 w 103"/>
                <a:gd name="T41" fmla="*/ 50 h 164"/>
                <a:gd name="T42" fmla="*/ 21 w 103"/>
                <a:gd name="T43" fmla="*/ 39 h 164"/>
                <a:gd name="T44" fmla="*/ 18 w 103"/>
                <a:gd name="T45" fmla="*/ 27 h 164"/>
                <a:gd name="T46" fmla="*/ 15 w 103"/>
                <a:gd name="T47" fmla="*/ 17 h 164"/>
                <a:gd name="T48" fmla="*/ 13 w 103"/>
                <a:gd name="T49" fmla="*/ 6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44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9 w 54"/>
                <a:gd name="T1" fmla="*/ 5 h 82"/>
                <a:gd name="T2" fmla="*/ 9 w 54"/>
                <a:gd name="T3" fmla="*/ 3 h 82"/>
                <a:gd name="T4" fmla="*/ 7 w 54"/>
                <a:gd name="T5" fmla="*/ 1 h 82"/>
                <a:gd name="T6" fmla="*/ 6 w 54"/>
                <a:gd name="T7" fmla="*/ 0 h 82"/>
                <a:gd name="T8" fmla="*/ 4 w 54"/>
                <a:gd name="T9" fmla="*/ 0 h 82"/>
                <a:gd name="T10" fmla="*/ 3 w 54"/>
                <a:gd name="T11" fmla="*/ 1 h 82"/>
                <a:gd name="T12" fmla="*/ 1 w 54"/>
                <a:gd name="T13" fmla="*/ 2 h 82"/>
                <a:gd name="T14" fmla="*/ 0 w 54"/>
                <a:gd name="T15" fmla="*/ 3 h 82"/>
                <a:gd name="T16" fmla="*/ 0 w 54"/>
                <a:gd name="T17" fmla="*/ 5 h 82"/>
                <a:gd name="T18" fmla="*/ 0 w 54"/>
                <a:gd name="T19" fmla="*/ 11 h 82"/>
                <a:gd name="T20" fmla="*/ 2 w 54"/>
                <a:gd name="T21" fmla="*/ 17 h 82"/>
                <a:gd name="T22" fmla="*/ 3 w 54"/>
                <a:gd name="T23" fmla="*/ 23 h 82"/>
                <a:gd name="T24" fmla="*/ 6 w 54"/>
                <a:gd name="T25" fmla="*/ 29 h 82"/>
                <a:gd name="T26" fmla="*/ 9 w 54"/>
                <a:gd name="T27" fmla="*/ 35 h 82"/>
                <a:gd name="T28" fmla="*/ 12 w 54"/>
                <a:gd name="T29" fmla="*/ 39 h 82"/>
                <a:gd name="T30" fmla="*/ 15 w 54"/>
                <a:gd name="T31" fmla="*/ 41 h 82"/>
                <a:gd name="T32" fmla="*/ 18 w 54"/>
                <a:gd name="T33" fmla="*/ 42 h 82"/>
                <a:gd name="T34" fmla="*/ 18 w 54"/>
                <a:gd name="T35" fmla="*/ 34 h 82"/>
                <a:gd name="T36" fmla="*/ 16 w 54"/>
                <a:gd name="T37" fmla="*/ 24 h 82"/>
                <a:gd name="T38" fmla="*/ 13 w 54"/>
                <a:gd name="T39" fmla="*/ 14 h 82"/>
                <a:gd name="T40" fmla="*/ 9 w 54"/>
                <a:gd name="T41" fmla="*/ 5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45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8 w 46"/>
                <a:gd name="T1" fmla="*/ 3 h 47"/>
                <a:gd name="T2" fmla="*/ 8 w 46"/>
                <a:gd name="T3" fmla="*/ 4 h 47"/>
                <a:gd name="T4" fmla="*/ 8 w 46"/>
                <a:gd name="T5" fmla="*/ 4 h 47"/>
                <a:gd name="T6" fmla="*/ 8 w 46"/>
                <a:gd name="T7" fmla="*/ 4 h 47"/>
                <a:gd name="T8" fmla="*/ 8 w 46"/>
                <a:gd name="T9" fmla="*/ 4 h 47"/>
                <a:gd name="T10" fmla="*/ 8 w 46"/>
                <a:gd name="T11" fmla="*/ 2 h 47"/>
                <a:gd name="T12" fmla="*/ 7 w 46"/>
                <a:gd name="T13" fmla="*/ 1 h 47"/>
                <a:gd name="T14" fmla="*/ 5 w 46"/>
                <a:gd name="T15" fmla="*/ 0 h 47"/>
                <a:gd name="T16" fmla="*/ 3 w 46"/>
                <a:gd name="T17" fmla="*/ 0 h 47"/>
                <a:gd name="T18" fmla="*/ 1 w 46"/>
                <a:gd name="T19" fmla="*/ 1 h 47"/>
                <a:gd name="T20" fmla="*/ 0 w 46"/>
                <a:gd name="T21" fmla="*/ 2 h 47"/>
                <a:gd name="T22" fmla="*/ 0 w 46"/>
                <a:gd name="T23" fmla="*/ 4 h 47"/>
                <a:gd name="T24" fmla="*/ 0 w 46"/>
                <a:gd name="T25" fmla="*/ 5 h 47"/>
                <a:gd name="T26" fmla="*/ 0 w 46"/>
                <a:gd name="T27" fmla="*/ 8 h 47"/>
                <a:gd name="T28" fmla="*/ 1 w 46"/>
                <a:gd name="T29" fmla="*/ 11 h 47"/>
                <a:gd name="T30" fmla="*/ 3 w 46"/>
                <a:gd name="T31" fmla="*/ 14 h 47"/>
                <a:gd name="T32" fmla="*/ 6 w 46"/>
                <a:gd name="T33" fmla="*/ 17 h 47"/>
                <a:gd name="T34" fmla="*/ 8 w 46"/>
                <a:gd name="T35" fmla="*/ 20 h 47"/>
                <a:gd name="T36" fmla="*/ 11 w 46"/>
                <a:gd name="T37" fmla="*/ 22 h 47"/>
                <a:gd name="T38" fmla="*/ 14 w 46"/>
                <a:gd name="T39" fmla="*/ 24 h 47"/>
                <a:gd name="T40" fmla="*/ 16 w 46"/>
                <a:gd name="T41" fmla="*/ 24 h 47"/>
                <a:gd name="T42" fmla="*/ 16 w 46"/>
                <a:gd name="T43" fmla="*/ 19 h 47"/>
                <a:gd name="T44" fmla="*/ 14 w 46"/>
                <a:gd name="T45" fmla="*/ 13 h 47"/>
                <a:gd name="T46" fmla="*/ 10 w 46"/>
                <a:gd name="T47" fmla="*/ 7 h 47"/>
                <a:gd name="T48" fmla="*/ 8 w 46"/>
                <a:gd name="T49" fmla="*/ 3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46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17 w 63"/>
                <a:gd name="T1" fmla="*/ 12 h 31"/>
                <a:gd name="T2" fmla="*/ 19 w 63"/>
                <a:gd name="T3" fmla="*/ 11 h 31"/>
                <a:gd name="T4" fmla="*/ 21 w 63"/>
                <a:gd name="T5" fmla="*/ 9 h 31"/>
                <a:gd name="T6" fmla="*/ 21 w 63"/>
                <a:gd name="T7" fmla="*/ 7 h 31"/>
                <a:gd name="T8" fmla="*/ 21 w 63"/>
                <a:gd name="T9" fmla="*/ 5 h 31"/>
                <a:gd name="T10" fmla="*/ 20 w 63"/>
                <a:gd name="T11" fmla="*/ 3 h 31"/>
                <a:gd name="T12" fmla="*/ 19 w 63"/>
                <a:gd name="T13" fmla="*/ 1 h 31"/>
                <a:gd name="T14" fmla="*/ 17 w 63"/>
                <a:gd name="T15" fmla="*/ 0 h 31"/>
                <a:gd name="T16" fmla="*/ 14 w 63"/>
                <a:gd name="T17" fmla="*/ 0 h 31"/>
                <a:gd name="T18" fmla="*/ 13 w 63"/>
                <a:gd name="T19" fmla="*/ 0 h 31"/>
                <a:gd name="T20" fmla="*/ 11 w 63"/>
                <a:gd name="T21" fmla="*/ 1 h 31"/>
                <a:gd name="T22" fmla="*/ 9 w 63"/>
                <a:gd name="T23" fmla="*/ 2 h 31"/>
                <a:gd name="T24" fmla="*/ 5 w 63"/>
                <a:gd name="T25" fmla="*/ 4 h 31"/>
                <a:gd name="T26" fmla="*/ 2 w 63"/>
                <a:gd name="T27" fmla="*/ 7 h 31"/>
                <a:gd name="T28" fmla="*/ 1 w 63"/>
                <a:gd name="T29" fmla="*/ 10 h 31"/>
                <a:gd name="T30" fmla="*/ 0 w 63"/>
                <a:gd name="T31" fmla="*/ 13 h 31"/>
                <a:gd name="T32" fmla="*/ 0 w 63"/>
                <a:gd name="T33" fmla="*/ 14 h 31"/>
                <a:gd name="T34" fmla="*/ 1 w 63"/>
                <a:gd name="T35" fmla="*/ 15 h 31"/>
                <a:gd name="T36" fmla="*/ 3 w 63"/>
                <a:gd name="T37" fmla="*/ 16 h 31"/>
                <a:gd name="T38" fmla="*/ 5 w 63"/>
                <a:gd name="T39" fmla="*/ 16 h 31"/>
                <a:gd name="T40" fmla="*/ 7 w 63"/>
                <a:gd name="T41" fmla="*/ 16 h 31"/>
                <a:gd name="T42" fmla="*/ 10 w 63"/>
                <a:gd name="T43" fmla="*/ 15 h 31"/>
                <a:gd name="T44" fmla="*/ 12 w 63"/>
                <a:gd name="T45" fmla="*/ 14 h 31"/>
                <a:gd name="T46" fmla="*/ 14 w 63"/>
                <a:gd name="T47" fmla="*/ 13 h 31"/>
                <a:gd name="T48" fmla="*/ 17 w 63"/>
                <a:gd name="T49" fmla="*/ 12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47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30 w 245"/>
                <a:gd name="T1" fmla="*/ 15 h 206"/>
                <a:gd name="T2" fmla="*/ 24 w 245"/>
                <a:gd name="T3" fmla="*/ 20 h 206"/>
                <a:gd name="T4" fmla="*/ 19 w 245"/>
                <a:gd name="T5" fmla="*/ 25 h 206"/>
                <a:gd name="T6" fmla="*/ 13 w 245"/>
                <a:gd name="T7" fmla="*/ 31 h 206"/>
                <a:gd name="T8" fmla="*/ 9 w 245"/>
                <a:gd name="T9" fmla="*/ 37 h 206"/>
                <a:gd name="T10" fmla="*/ 6 w 245"/>
                <a:gd name="T11" fmla="*/ 44 h 206"/>
                <a:gd name="T12" fmla="*/ 3 w 245"/>
                <a:gd name="T13" fmla="*/ 50 h 206"/>
                <a:gd name="T14" fmla="*/ 1 w 245"/>
                <a:gd name="T15" fmla="*/ 56 h 206"/>
                <a:gd name="T16" fmla="*/ 0 w 245"/>
                <a:gd name="T17" fmla="*/ 63 h 206"/>
                <a:gd name="T18" fmla="*/ 1 w 245"/>
                <a:gd name="T19" fmla="*/ 75 h 206"/>
                <a:gd name="T20" fmla="*/ 5 w 245"/>
                <a:gd name="T21" fmla="*/ 83 h 206"/>
                <a:gd name="T22" fmla="*/ 11 w 245"/>
                <a:gd name="T23" fmla="*/ 91 h 206"/>
                <a:gd name="T24" fmla="*/ 18 w 245"/>
                <a:gd name="T25" fmla="*/ 96 h 206"/>
                <a:gd name="T26" fmla="*/ 26 w 245"/>
                <a:gd name="T27" fmla="*/ 100 h 206"/>
                <a:gd name="T28" fmla="*/ 36 w 245"/>
                <a:gd name="T29" fmla="*/ 103 h 206"/>
                <a:gd name="T30" fmla="*/ 45 w 245"/>
                <a:gd name="T31" fmla="*/ 103 h 206"/>
                <a:gd name="T32" fmla="*/ 54 w 245"/>
                <a:gd name="T33" fmla="*/ 102 h 206"/>
                <a:gd name="T34" fmla="*/ 56 w 245"/>
                <a:gd name="T35" fmla="*/ 102 h 206"/>
                <a:gd name="T36" fmla="*/ 58 w 245"/>
                <a:gd name="T37" fmla="*/ 101 h 206"/>
                <a:gd name="T38" fmla="*/ 60 w 245"/>
                <a:gd name="T39" fmla="*/ 99 h 206"/>
                <a:gd name="T40" fmla="*/ 60 w 245"/>
                <a:gd name="T41" fmla="*/ 97 h 206"/>
                <a:gd name="T42" fmla="*/ 60 w 245"/>
                <a:gd name="T43" fmla="*/ 96 h 206"/>
                <a:gd name="T44" fmla="*/ 58 w 245"/>
                <a:gd name="T45" fmla="*/ 96 h 206"/>
                <a:gd name="T46" fmla="*/ 56 w 245"/>
                <a:gd name="T47" fmla="*/ 95 h 206"/>
                <a:gd name="T48" fmla="*/ 54 w 245"/>
                <a:gd name="T49" fmla="*/ 95 h 206"/>
                <a:gd name="T50" fmla="*/ 51 w 245"/>
                <a:gd name="T51" fmla="*/ 95 h 206"/>
                <a:gd name="T52" fmla="*/ 48 w 245"/>
                <a:gd name="T53" fmla="*/ 95 h 206"/>
                <a:gd name="T54" fmla="*/ 46 w 245"/>
                <a:gd name="T55" fmla="*/ 95 h 206"/>
                <a:gd name="T56" fmla="*/ 45 w 245"/>
                <a:gd name="T57" fmla="*/ 95 h 206"/>
                <a:gd name="T58" fmla="*/ 40 w 245"/>
                <a:gd name="T59" fmla="*/ 95 h 206"/>
                <a:gd name="T60" fmla="*/ 35 w 245"/>
                <a:gd name="T61" fmla="*/ 94 h 206"/>
                <a:gd name="T62" fmla="*/ 31 w 245"/>
                <a:gd name="T63" fmla="*/ 94 h 206"/>
                <a:gd name="T64" fmla="*/ 26 w 245"/>
                <a:gd name="T65" fmla="*/ 92 h 206"/>
                <a:gd name="T66" fmla="*/ 21 w 245"/>
                <a:gd name="T67" fmla="*/ 91 h 206"/>
                <a:gd name="T68" fmla="*/ 16 w 245"/>
                <a:gd name="T69" fmla="*/ 87 h 206"/>
                <a:gd name="T70" fmla="*/ 12 w 245"/>
                <a:gd name="T71" fmla="*/ 83 h 206"/>
                <a:gd name="T72" fmla="*/ 7 w 245"/>
                <a:gd name="T73" fmla="*/ 76 h 206"/>
                <a:gd name="T74" fmla="*/ 6 w 245"/>
                <a:gd name="T75" fmla="*/ 68 h 206"/>
                <a:gd name="T76" fmla="*/ 7 w 245"/>
                <a:gd name="T77" fmla="*/ 61 h 206"/>
                <a:gd name="T78" fmla="*/ 9 w 245"/>
                <a:gd name="T79" fmla="*/ 54 h 206"/>
                <a:gd name="T80" fmla="*/ 12 w 245"/>
                <a:gd name="T81" fmla="*/ 48 h 206"/>
                <a:gd name="T82" fmla="*/ 16 w 245"/>
                <a:gd name="T83" fmla="*/ 42 h 206"/>
                <a:gd name="T84" fmla="*/ 20 w 245"/>
                <a:gd name="T85" fmla="*/ 36 h 206"/>
                <a:gd name="T86" fmla="*/ 26 w 245"/>
                <a:gd name="T87" fmla="*/ 30 h 206"/>
                <a:gd name="T88" fmla="*/ 32 w 245"/>
                <a:gd name="T89" fmla="*/ 26 h 206"/>
                <a:gd name="T90" fmla="*/ 38 w 245"/>
                <a:gd name="T91" fmla="*/ 21 h 206"/>
                <a:gd name="T92" fmla="*/ 45 w 245"/>
                <a:gd name="T93" fmla="*/ 17 h 206"/>
                <a:gd name="T94" fmla="*/ 52 w 245"/>
                <a:gd name="T95" fmla="*/ 13 h 206"/>
                <a:gd name="T96" fmla="*/ 58 w 245"/>
                <a:gd name="T97" fmla="*/ 11 h 206"/>
                <a:gd name="T98" fmla="*/ 65 w 245"/>
                <a:gd name="T99" fmla="*/ 8 h 206"/>
                <a:gd name="T100" fmla="*/ 70 w 245"/>
                <a:gd name="T101" fmla="*/ 6 h 206"/>
                <a:gd name="T102" fmla="*/ 76 w 245"/>
                <a:gd name="T103" fmla="*/ 4 h 206"/>
                <a:gd name="T104" fmla="*/ 81 w 245"/>
                <a:gd name="T105" fmla="*/ 3 h 206"/>
                <a:gd name="T106" fmla="*/ 78 w 245"/>
                <a:gd name="T107" fmla="*/ 1 h 206"/>
                <a:gd name="T108" fmla="*/ 72 w 245"/>
                <a:gd name="T109" fmla="*/ 0 h 206"/>
                <a:gd name="T110" fmla="*/ 66 w 245"/>
                <a:gd name="T111" fmla="*/ 1 h 206"/>
                <a:gd name="T112" fmla="*/ 59 w 245"/>
                <a:gd name="T113" fmla="*/ 3 h 206"/>
                <a:gd name="T114" fmla="*/ 51 w 245"/>
                <a:gd name="T115" fmla="*/ 5 h 206"/>
                <a:gd name="T116" fmla="*/ 43 w 245"/>
                <a:gd name="T117" fmla="*/ 8 h 206"/>
                <a:gd name="T118" fmla="*/ 36 w 245"/>
                <a:gd name="T119" fmla="*/ 12 h 206"/>
                <a:gd name="T120" fmla="*/ 30 w 245"/>
                <a:gd name="T121" fmla="*/ 15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48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45 w 159"/>
                <a:gd name="T1" fmla="*/ 26 h 160"/>
                <a:gd name="T2" fmla="*/ 46 w 159"/>
                <a:gd name="T3" fmla="*/ 35 h 160"/>
                <a:gd name="T4" fmla="*/ 45 w 159"/>
                <a:gd name="T5" fmla="*/ 42 h 160"/>
                <a:gd name="T6" fmla="*/ 42 w 159"/>
                <a:gd name="T7" fmla="*/ 48 h 160"/>
                <a:gd name="T8" fmla="*/ 37 w 159"/>
                <a:gd name="T9" fmla="*/ 53 h 160"/>
                <a:gd name="T10" fmla="*/ 31 w 159"/>
                <a:gd name="T11" fmla="*/ 58 h 160"/>
                <a:gd name="T12" fmla="*/ 25 w 159"/>
                <a:gd name="T13" fmla="*/ 63 h 160"/>
                <a:gd name="T14" fmla="*/ 18 w 159"/>
                <a:gd name="T15" fmla="*/ 68 h 160"/>
                <a:gd name="T16" fmla="*/ 12 w 159"/>
                <a:gd name="T17" fmla="*/ 73 h 160"/>
                <a:gd name="T18" fmla="*/ 11 w 159"/>
                <a:gd name="T19" fmla="*/ 75 h 160"/>
                <a:gd name="T20" fmla="*/ 11 w 159"/>
                <a:gd name="T21" fmla="*/ 76 h 160"/>
                <a:gd name="T22" fmla="*/ 11 w 159"/>
                <a:gd name="T23" fmla="*/ 77 h 160"/>
                <a:gd name="T24" fmla="*/ 12 w 159"/>
                <a:gd name="T25" fmla="*/ 79 h 160"/>
                <a:gd name="T26" fmla="*/ 13 w 159"/>
                <a:gd name="T27" fmla="*/ 80 h 160"/>
                <a:gd name="T28" fmla="*/ 14 w 159"/>
                <a:gd name="T29" fmla="*/ 80 h 160"/>
                <a:gd name="T30" fmla="*/ 16 w 159"/>
                <a:gd name="T31" fmla="*/ 80 h 160"/>
                <a:gd name="T32" fmla="*/ 17 w 159"/>
                <a:gd name="T33" fmla="*/ 80 h 160"/>
                <a:gd name="T34" fmla="*/ 24 w 159"/>
                <a:gd name="T35" fmla="*/ 75 h 160"/>
                <a:gd name="T36" fmla="*/ 32 w 159"/>
                <a:gd name="T37" fmla="*/ 70 h 160"/>
                <a:gd name="T38" fmla="*/ 38 w 159"/>
                <a:gd name="T39" fmla="*/ 64 h 160"/>
                <a:gd name="T40" fmla="*/ 45 w 159"/>
                <a:gd name="T41" fmla="*/ 57 h 160"/>
                <a:gd name="T42" fmla="*/ 49 w 159"/>
                <a:gd name="T43" fmla="*/ 50 h 160"/>
                <a:gd name="T44" fmla="*/ 52 w 159"/>
                <a:gd name="T45" fmla="*/ 42 h 160"/>
                <a:gd name="T46" fmla="*/ 53 w 159"/>
                <a:gd name="T47" fmla="*/ 34 h 160"/>
                <a:gd name="T48" fmla="*/ 51 w 159"/>
                <a:gd name="T49" fmla="*/ 25 h 160"/>
                <a:gd name="T50" fmla="*/ 47 w 159"/>
                <a:gd name="T51" fmla="*/ 18 h 160"/>
                <a:gd name="T52" fmla="*/ 41 w 159"/>
                <a:gd name="T53" fmla="*/ 12 h 160"/>
                <a:gd name="T54" fmla="*/ 33 w 159"/>
                <a:gd name="T55" fmla="*/ 7 h 160"/>
                <a:gd name="T56" fmla="*/ 25 w 159"/>
                <a:gd name="T57" fmla="*/ 3 h 160"/>
                <a:gd name="T58" fmla="*/ 17 w 159"/>
                <a:gd name="T59" fmla="*/ 1 h 160"/>
                <a:gd name="T60" fmla="*/ 10 w 159"/>
                <a:gd name="T61" fmla="*/ 0 h 160"/>
                <a:gd name="T62" fmla="*/ 4 w 159"/>
                <a:gd name="T63" fmla="*/ 1 h 160"/>
                <a:gd name="T64" fmla="*/ 0 w 159"/>
                <a:gd name="T65" fmla="*/ 3 h 160"/>
                <a:gd name="T66" fmla="*/ 7 w 159"/>
                <a:gd name="T67" fmla="*/ 5 h 160"/>
                <a:gd name="T68" fmla="*/ 14 w 159"/>
                <a:gd name="T69" fmla="*/ 6 h 160"/>
                <a:gd name="T70" fmla="*/ 20 w 159"/>
                <a:gd name="T71" fmla="*/ 7 h 160"/>
                <a:gd name="T72" fmla="*/ 26 w 159"/>
                <a:gd name="T73" fmla="*/ 10 h 160"/>
                <a:gd name="T74" fmla="*/ 32 w 159"/>
                <a:gd name="T75" fmla="*/ 12 h 160"/>
                <a:gd name="T76" fmla="*/ 37 w 159"/>
                <a:gd name="T77" fmla="*/ 15 h 160"/>
                <a:gd name="T78" fmla="*/ 42 w 159"/>
                <a:gd name="T79" fmla="*/ 20 h 160"/>
                <a:gd name="T80" fmla="*/ 45 w 159"/>
                <a:gd name="T81" fmla="*/ 26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49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42 w 399"/>
                <a:gd name="T1" fmla="*/ 31 h 332"/>
                <a:gd name="T2" fmla="*/ 22 w 399"/>
                <a:gd name="T3" fmla="*/ 50 h 332"/>
                <a:gd name="T4" fmla="*/ 7 w 399"/>
                <a:gd name="T5" fmla="*/ 74 h 332"/>
                <a:gd name="T6" fmla="*/ 0 w 399"/>
                <a:gd name="T7" fmla="*/ 100 h 332"/>
                <a:gd name="T8" fmla="*/ 1 w 399"/>
                <a:gd name="T9" fmla="*/ 117 h 332"/>
                <a:gd name="T10" fmla="*/ 4 w 399"/>
                <a:gd name="T11" fmla="*/ 124 h 332"/>
                <a:gd name="T12" fmla="*/ 9 w 399"/>
                <a:gd name="T13" fmla="*/ 131 h 332"/>
                <a:gd name="T14" fmla="*/ 14 w 399"/>
                <a:gd name="T15" fmla="*/ 137 h 332"/>
                <a:gd name="T16" fmla="*/ 23 w 399"/>
                <a:gd name="T17" fmla="*/ 143 h 332"/>
                <a:gd name="T18" fmla="*/ 36 w 399"/>
                <a:gd name="T19" fmla="*/ 149 h 332"/>
                <a:gd name="T20" fmla="*/ 49 w 399"/>
                <a:gd name="T21" fmla="*/ 154 h 332"/>
                <a:gd name="T22" fmla="*/ 63 w 399"/>
                <a:gd name="T23" fmla="*/ 158 h 332"/>
                <a:gd name="T24" fmla="*/ 77 w 399"/>
                <a:gd name="T25" fmla="*/ 161 h 332"/>
                <a:gd name="T26" fmla="*/ 91 w 399"/>
                <a:gd name="T27" fmla="*/ 163 h 332"/>
                <a:gd name="T28" fmla="*/ 105 w 399"/>
                <a:gd name="T29" fmla="*/ 165 h 332"/>
                <a:gd name="T30" fmla="*/ 119 w 399"/>
                <a:gd name="T31" fmla="*/ 166 h 332"/>
                <a:gd name="T32" fmla="*/ 129 w 399"/>
                <a:gd name="T33" fmla="*/ 166 h 332"/>
                <a:gd name="T34" fmla="*/ 132 w 399"/>
                <a:gd name="T35" fmla="*/ 163 h 332"/>
                <a:gd name="T36" fmla="*/ 133 w 399"/>
                <a:gd name="T37" fmla="*/ 158 h 332"/>
                <a:gd name="T38" fmla="*/ 130 w 399"/>
                <a:gd name="T39" fmla="*/ 155 h 332"/>
                <a:gd name="T40" fmla="*/ 121 w 399"/>
                <a:gd name="T41" fmla="*/ 154 h 332"/>
                <a:gd name="T42" fmla="*/ 108 w 399"/>
                <a:gd name="T43" fmla="*/ 154 h 332"/>
                <a:gd name="T44" fmla="*/ 95 w 399"/>
                <a:gd name="T45" fmla="*/ 153 h 332"/>
                <a:gd name="T46" fmla="*/ 82 w 399"/>
                <a:gd name="T47" fmla="*/ 151 h 332"/>
                <a:gd name="T48" fmla="*/ 69 w 399"/>
                <a:gd name="T49" fmla="*/ 148 h 332"/>
                <a:gd name="T50" fmla="*/ 56 w 399"/>
                <a:gd name="T51" fmla="*/ 145 h 332"/>
                <a:gd name="T52" fmla="*/ 44 w 399"/>
                <a:gd name="T53" fmla="*/ 141 h 332"/>
                <a:gd name="T54" fmla="*/ 31 w 399"/>
                <a:gd name="T55" fmla="*/ 135 h 332"/>
                <a:gd name="T56" fmla="*/ 21 w 399"/>
                <a:gd name="T57" fmla="*/ 128 h 332"/>
                <a:gd name="T58" fmla="*/ 15 w 399"/>
                <a:gd name="T59" fmla="*/ 118 h 332"/>
                <a:gd name="T60" fmla="*/ 13 w 399"/>
                <a:gd name="T61" fmla="*/ 105 h 332"/>
                <a:gd name="T62" fmla="*/ 15 w 399"/>
                <a:gd name="T63" fmla="*/ 86 h 332"/>
                <a:gd name="T64" fmla="*/ 21 w 399"/>
                <a:gd name="T65" fmla="*/ 73 h 332"/>
                <a:gd name="T66" fmla="*/ 28 w 399"/>
                <a:gd name="T67" fmla="*/ 60 h 332"/>
                <a:gd name="T68" fmla="*/ 37 w 399"/>
                <a:gd name="T69" fmla="*/ 49 h 332"/>
                <a:gd name="T70" fmla="*/ 47 w 399"/>
                <a:gd name="T71" fmla="*/ 39 h 332"/>
                <a:gd name="T72" fmla="*/ 60 w 399"/>
                <a:gd name="T73" fmla="*/ 28 h 332"/>
                <a:gd name="T74" fmla="*/ 74 w 399"/>
                <a:gd name="T75" fmla="*/ 19 h 332"/>
                <a:gd name="T76" fmla="*/ 90 w 399"/>
                <a:gd name="T77" fmla="*/ 10 h 332"/>
                <a:gd name="T78" fmla="*/ 104 w 399"/>
                <a:gd name="T79" fmla="*/ 3 h 332"/>
                <a:gd name="T80" fmla="*/ 105 w 399"/>
                <a:gd name="T81" fmla="*/ 0 h 332"/>
                <a:gd name="T82" fmla="*/ 91 w 399"/>
                <a:gd name="T83" fmla="*/ 3 h 332"/>
                <a:gd name="T84" fmla="*/ 74 w 399"/>
                <a:gd name="T85" fmla="*/ 9 h 332"/>
                <a:gd name="T86" fmla="*/ 59 w 399"/>
                <a:gd name="T87" fmla="*/ 18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50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97 w 348"/>
                <a:gd name="T1" fmla="*/ 34 h 222"/>
                <a:gd name="T2" fmla="*/ 102 w 348"/>
                <a:gd name="T3" fmla="*/ 40 h 222"/>
                <a:gd name="T4" fmla="*/ 105 w 348"/>
                <a:gd name="T5" fmla="*/ 47 h 222"/>
                <a:gd name="T6" fmla="*/ 107 w 348"/>
                <a:gd name="T7" fmla="*/ 55 h 222"/>
                <a:gd name="T8" fmla="*/ 107 w 348"/>
                <a:gd name="T9" fmla="*/ 62 h 222"/>
                <a:gd name="T10" fmla="*/ 106 w 348"/>
                <a:gd name="T11" fmla="*/ 69 h 222"/>
                <a:gd name="T12" fmla="*/ 104 w 348"/>
                <a:gd name="T13" fmla="*/ 74 h 222"/>
                <a:gd name="T14" fmla="*/ 101 w 348"/>
                <a:gd name="T15" fmla="*/ 80 h 222"/>
                <a:gd name="T16" fmla="*/ 97 w 348"/>
                <a:gd name="T17" fmla="*/ 84 h 222"/>
                <a:gd name="T18" fmla="*/ 93 w 348"/>
                <a:gd name="T19" fmla="*/ 89 h 222"/>
                <a:gd name="T20" fmla="*/ 88 w 348"/>
                <a:gd name="T21" fmla="*/ 93 h 222"/>
                <a:gd name="T22" fmla="*/ 84 w 348"/>
                <a:gd name="T23" fmla="*/ 98 h 222"/>
                <a:gd name="T24" fmla="*/ 80 w 348"/>
                <a:gd name="T25" fmla="*/ 103 h 222"/>
                <a:gd name="T26" fmla="*/ 79 w 348"/>
                <a:gd name="T27" fmla="*/ 104 h 222"/>
                <a:gd name="T28" fmla="*/ 78 w 348"/>
                <a:gd name="T29" fmla="*/ 106 h 222"/>
                <a:gd name="T30" fmla="*/ 79 w 348"/>
                <a:gd name="T31" fmla="*/ 107 h 222"/>
                <a:gd name="T32" fmla="*/ 80 w 348"/>
                <a:gd name="T33" fmla="*/ 109 h 222"/>
                <a:gd name="T34" fmla="*/ 81 w 348"/>
                <a:gd name="T35" fmla="*/ 110 h 222"/>
                <a:gd name="T36" fmla="*/ 83 w 348"/>
                <a:gd name="T37" fmla="*/ 110 h 222"/>
                <a:gd name="T38" fmla="*/ 85 w 348"/>
                <a:gd name="T39" fmla="*/ 110 h 222"/>
                <a:gd name="T40" fmla="*/ 86 w 348"/>
                <a:gd name="T41" fmla="*/ 109 h 222"/>
                <a:gd name="T42" fmla="*/ 96 w 348"/>
                <a:gd name="T43" fmla="*/ 102 h 222"/>
                <a:gd name="T44" fmla="*/ 103 w 348"/>
                <a:gd name="T45" fmla="*/ 93 h 222"/>
                <a:gd name="T46" fmla="*/ 110 w 348"/>
                <a:gd name="T47" fmla="*/ 83 h 222"/>
                <a:gd name="T48" fmla="*/ 115 w 348"/>
                <a:gd name="T49" fmla="*/ 73 h 222"/>
                <a:gd name="T50" fmla="*/ 116 w 348"/>
                <a:gd name="T51" fmla="*/ 61 h 222"/>
                <a:gd name="T52" fmla="*/ 115 w 348"/>
                <a:gd name="T53" fmla="*/ 51 h 222"/>
                <a:gd name="T54" fmla="*/ 111 w 348"/>
                <a:gd name="T55" fmla="*/ 40 h 222"/>
                <a:gd name="T56" fmla="*/ 103 w 348"/>
                <a:gd name="T57" fmla="*/ 31 h 222"/>
                <a:gd name="T58" fmla="*/ 98 w 348"/>
                <a:gd name="T59" fmla="*/ 26 h 222"/>
                <a:gd name="T60" fmla="*/ 91 w 348"/>
                <a:gd name="T61" fmla="*/ 21 h 222"/>
                <a:gd name="T62" fmla="*/ 83 w 348"/>
                <a:gd name="T63" fmla="*/ 17 h 222"/>
                <a:gd name="T64" fmla="*/ 75 w 348"/>
                <a:gd name="T65" fmla="*/ 13 h 222"/>
                <a:gd name="T66" fmla="*/ 67 w 348"/>
                <a:gd name="T67" fmla="*/ 10 h 222"/>
                <a:gd name="T68" fmla="*/ 59 w 348"/>
                <a:gd name="T69" fmla="*/ 8 h 222"/>
                <a:gd name="T70" fmla="*/ 50 w 348"/>
                <a:gd name="T71" fmla="*/ 5 h 222"/>
                <a:gd name="T72" fmla="*/ 42 w 348"/>
                <a:gd name="T73" fmla="*/ 3 h 222"/>
                <a:gd name="T74" fmla="*/ 34 w 348"/>
                <a:gd name="T75" fmla="*/ 2 h 222"/>
                <a:gd name="T76" fmla="*/ 26 w 348"/>
                <a:gd name="T77" fmla="*/ 1 h 222"/>
                <a:gd name="T78" fmla="*/ 19 w 348"/>
                <a:gd name="T79" fmla="*/ 0 h 222"/>
                <a:gd name="T80" fmla="*/ 13 w 348"/>
                <a:gd name="T81" fmla="*/ 0 h 222"/>
                <a:gd name="T82" fmla="*/ 8 w 348"/>
                <a:gd name="T83" fmla="*/ 0 h 222"/>
                <a:gd name="T84" fmla="*/ 4 w 348"/>
                <a:gd name="T85" fmla="*/ 0 h 222"/>
                <a:gd name="T86" fmla="*/ 1 w 348"/>
                <a:gd name="T87" fmla="*/ 1 h 222"/>
                <a:gd name="T88" fmla="*/ 0 w 348"/>
                <a:gd name="T89" fmla="*/ 2 h 222"/>
                <a:gd name="T90" fmla="*/ 5 w 348"/>
                <a:gd name="T91" fmla="*/ 3 h 222"/>
                <a:gd name="T92" fmla="*/ 10 w 348"/>
                <a:gd name="T93" fmla="*/ 4 h 222"/>
                <a:gd name="T94" fmla="*/ 15 w 348"/>
                <a:gd name="T95" fmla="*/ 5 h 222"/>
                <a:gd name="T96" fmla="*/ 21 w 348"/>
                <a:gd name="T97" fmla="*/ 6 h 222"/>
                <a:gd name="T98" fmla="*/ 28 w 348"/>
                <a:gd name="T99" fmla="*/ 7 h 222"/>
                <a:gd name="T100" fmla="*/ 34 w 348"/>
                <a:gd name="T101" fmla="*/ 8 h 222"/>
                <a:gd name="T102" fmla="*/ 40 w 348"/>
                <a:gd name="T103" fmla="*/ 9 h 222"/>
                <a:gd name="T104" fmla="*/ 47 w 348"/>
                <a:gd name="T105" fmla="*/ 11 h 222"/>
                <a:gd name="T106" fmla="*/ 53 w 348"/>
                <a:gd name="T107" fmla="*/ 13 h 222"/>
                <a:gd name="T108" fmla="*/ 60 w 348"/>
                <a:gd name="T109" fmla="*/ 15 h 222"/>
                <a:gd name="T110" fmla="*/ 67 w 348"/>
                <a:gd name="T111" fmla="*/ 17 h 222"/>
                <a:gd name="T112" fmla="*/ 73 w 348"/>
                <a:gd name="T113" fmla="*/ 20 h 222"/>
                <a:gd name="T114" fmla="*/ 79 w 348"/>
                <a:gd name="T115" fmla="*/ 23 h 222"/>
                <a:gd name="T116" fmla="*/ 86 w 348"/>
                <a:gd name="T117" fmla="*/ 26 h 222"/>
                <a:gd name="T118" fmla="*/ 91 w 348"/>
                <a:gd name="T119" fmla="*/ 30 h 222"/>
                <a:gd name="T120" fmla="*/ 97 w 348"/>
                <a:gd name="T121" fmla="*/ 34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51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56 h 207"/>
                <a:gd name="T2" fmla="*/ 0 w 142"/>
                <a:gd name="T3" fmla="*/ 65 h 207"/>
                <a:gd name="T4" fmla="*/ 2 w 142"/>
                <a:gd name="T5" fmla="*/ 73 h 207"/>
                <a:gd name="T6" fmla="*/ 5 w 142"/>
                <a:gd name="T7" fmla="*/ 80 h 207"/>
                <a:gd name="T8" fmla="*/ 10 w 142"/>
                <a:gd name="T9" fmla="*/ 87 h 207"/>
                <a:gd name="T10" fmla="*/ 16 w 142"/>
                <a:gd name="T11" fmla="*/ 92 h 207"/>
                <a:gd name="T12" fmla="*/ 23 w 142"/>
                <a:gd name="T13" fmla="*/ 97 h 207"/>
                <a:gd name="T14" fmla="*/ 31 w 142"/>
                <a:gd name="T15" fmla="*/ 101 h 207"/>
                <a:gd name="T16" fmla="*/ 39 w 142"/>
                <a:gd name="T17" fmla="*/ 103 h 207"/>
                <a:gd name="T18" fmla="*/ 41 w 142"/>
                <a:gd name="T19" fmla="*/ 103 h 207"/>
                <a:gd name="T20" fmla="*/ 44 w 142"/>
                <a:gd name="T21" fmla="*/ 102 h 207"/>
                <a:gd name="T22" fmla="*/ 46 w 142"/>
                <a:gd name="T23" fmla="*/ 101 h 207"/>
                <a:gd name="T24" fmla="*/ 47 w 142"/>
                <a:gd name="T25" fmla="*/ 99 h 207"/>
                <a:gd name="T26" fmla="*/ 47 w 142"/>
                <a:gd name="T27" fmla="*/ 96 h 207"/>
                <a:gd name="T28" fmla="*/ 46 w 142"/>
                <a:gd name="T29" fmla="*/ 94 h 207"/>
                <a:gd name="T30" fmla="*/ 45 w 142"/>
                <a:gd name="T31" fmla="*/ 92 h 207"/>
                <a:gd name="T32" fmla="*/ 42 w 142"/>
                <a:gd name="T33" fmla="*/ 91 h 207"/>
                <a:gd name="T34" fmla="*/ 34 w 142"/>
                <a:gd name="T35" fmla="*/ 88 h 207"/>
                <a:gd name="T36" fmla="*/ 27 w 142"/>
                <a:gd name="T37" fmla="*/ 84 h 207"/>
                <a:gd name="T38" fmla="*/ 21 w 142"/>
                <a:gd name="T39" fmla="*/ 78 h 207"/>
                <a:gd name="T40" fmla="*/ 17 w 142"/>
                <a:gd name="T41" fmla="*/ 72 h 207"/>
                <a:gd name="T42" fmla="*/ 14 w 142"/>
                <a:gd name="T43" fmla="*/ 65 h 207"/>
                <a:gd name="T44" fmla="*/ 13 w 142"/>
                <a:gd name="T45" fmla="*/ 57 h 207"/>
                <a:gd name="T46" fmla="*/ 13 w 142"/>
                <a:gd name="T47" fmla="*/ 48 h 207"/>
                <a:gd name="T48" fmla="*/ 15 w 142"/>
                <a:gd name="T49" fmla="*/ 39 h 207"/>
                <a:gd name="T50" fmla="*/ 18 w 142"/>
                <a:gd name="T51" fmla="*/ 32 h 207"/>
                <a:gd name="T52" fmla="*/ 24 w 142"/>
                <a:gd name="T53" fmla="*/ 26 h 207"/>
                <a:gd name="T54" fmla="*/ 29 w 142"/>
                <a:gd name="T55" fmla="*/ 20 h 207"/>
                <a:gd name="T56" fmla="*/ 36 w 142"/>
                <a:gd name="T57" fmla="*/ 14 h 207"/>
                <a:gd name="T58" fmla="*/ 41 w 142"/>
                <a:gd name="T59" fmla="*/ 10 h 207"/>
                <a:gd name="T60" fmla="*/ 46 w 142"/>
                <a:gd name="T61" fmla="*/ 5 h 207"/>
                <a:gd name="T62" fmla="*/ 48 w 142"/>
                <a:gd name="T63" fmla="*/ 2 h 207"/>
                <a:gd name="T64" fmla="*/ 48 w 142"/>
                <a:gd name="T65" fmla="*/ 0 h 207"/>
                <a:gd name="T66" fmla="*/ 43 w 142"/>
                <a:gd name="T67" fmla="*/ 2 h 207"/>
                <a:gd name="T68" fmla="*/ 36 w 142"/>
                <a:gd name="T69" fmla="*/ 5 h 207"/>
                <a:gd name="T70" fmla="*/ 28 w 142"/>
                <a:gd name="T71" fmla="*/ 11 h 207"/>
                <a:gd name="T72" fmla="*/ 21 w 142"/>
                <a:gd name="T73" fmla="*/ 18 h 207"/>
                <a:gd name="T74" fmla="*/ 13 w 142"/>
                <a:gd name="T75" fmla="*/ 26 h 207"/>
                <a:gd name="T76" fmla="*/ 7 w 142"/>
                <a:gd name="T77" fmla="*/ 36 h 207"/>
                <a:gd name="T78" fmla="*/ 3 w 142"/>
                <a:gd name="T79" fmla="*/ 46 h 207"/>
                <a:gd name="T80" fmla="*/ 0 w 142"/>
                <a:gd name="T81" fmla="*/ 56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52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85 w 303"/>
                <a:gd name="T1" fmla="*/ 54 h 272"/>
                <a:gd name="T2" fmla="*/ 90 w 303"/>
                <a:gd name="T3" fmla="*/ 63 h 272"/>
                <a:gd name="T4" fmla="*/ 93 w 303"/>
                <a:gd name="T5" fmla="*/ 71 h 272"/>
                <a:gd name="T6" fmla="*/ 91 w 303"/>
                <a:gd name="T7" fmla="*/ 81 h 272"/>
                <a:gd name="T8" fmla="*/ 85 w 303"/>
                <a:gd name="T9" fmla="*/ 91 h 272"/>
                <a:gd name="T10" fmla="*/ 77 w 303"/>
                <a:gd name="T11" fmla="*/ 99 h 272"/>
                <a:gd name="T12" fmla="*/ 68 w 303"/>
                <a:gd name="T13" fmla="*/ 107 h 272"/>
                <a:gd name="T14" fmla="*/ 58 w 303"/>
                <a:gd name="T15" fmla="*/ 115 h 272"/>
                <a:gd name="T16" fmla="*/ 53 w 303"/>
                <a:gd name="T17" fmla="*/ 121 h 272"/>
                <a:gd name="T18" fmla="*/ 51 w 303"/>
                <a:gd name="T19" fmla="*/ 125 h 272"/>
                <a:gd name="T20" fmla="*/ 49 w 303"/>
                <a:gd name="T21" fmla="*/ 129 h 272"/>
                <a:gd name="T22" fmla="*/ 50 w 303"/>
                <a:gd name="T23" fmla="*/ 133 h 272"/>
                <a:gd name="T24" fmla="*/ 54 w 303"/>
                <a:gd name="T25" fmla="*/ 135 h 272"/>
                <a:gd name="T26" fmla="*/ 57 w 303"/>
                <a:gd name="T27" fmla="*/ 135 h 272"/>
                <a:gd name="T28" fmla="*/ 63 w 303"/>
                <a:gd name="T29" fmla="*/ 127 h 272"/>
                <a:gd name="T30" fmla="*/ 74 w 303"/>
                <a:gd name="T31" fmla="*/ 117 h 272"/>
                <a:gd name="T32" fmla="*/ 85 w 303"/>
                <a:gd name="T33" fmla="*/ 107 h 272"/>
                <a:gd name="T34" fmla="*/ 95 w 303"/>
                <a:gd name="T35" fmla="*/ 95 h 272"/>
                <a:gd name="T36" fmla="*/ 100 w 303"/>
                <a:gd name="T37" fmla="*/ 81 h 272"/>
                <a:gd name="T38" fmla="*/ 100 w 303"/>
                <a:gd name="T39" fmla="*/ 66 h 272"/>
                <a:gd name="T40" fmla="*/ 94 w 303"/>
                <a:gd name="T41" fmla="*/ 52 h 272"/>
                <a:gd name="T42" fmla="*/ 84 w 303"/>
                <a:gd name="T43" fmla="*/ 41 h 272"/>
                <a:gd name="T44" fmla="*/ 72 w 303"/>
                <a:gd name="T45" fmla="*/ 33 h 272"/>
                <a:gd name="T46" fmla="*/ 62 w 303"/>
                <a:gd name="T47" fmla="*/ 27 h 272"/>
                <a:gd name="T48" fmla="*/ 50 w 303"/>
                <a:gd name="T49" fmla="*/ 20 h 272"/>
                <a:gd name="T50" fmla="*/ 38 w 303"/>
                <a:gd name="T51" fmla="*/ 13 h 272"/>
                <a:gd name="T52" fmla="*/ 27 w 303"/>
                <a:gd name="T53" fmla="*/ 8 h 272"/>
                <a:gd name="T54" fmla="*/ 16 w 303"/>
                <a:gd name="T55" fmla="*/ 3 h 272"/>
                <a:gd name="T56" fmla="*/ 8 w 303"/>
                <a:gd name="T57" fmla="*/ 0 h 272"/>
                <a:gd name="T58" fmla="*/ 2 w 303"/>
                <a:gd name="T59" fmla="*/ 0 h 272"/>
                <a:gd name="T60" fmla="*/ 4 w 303"/>
                <a:gd name="T61" fmla="*/ 3 h 272"/>
                <a:gd name="T62" fmla="*/ 14 w 303"/>
                <a:gd name="T63" fmla="*/ 8 h 272"/>
                <a:gd name="T64" fmla="*/ 25 w 303"/>
                <a:gd name="T65" fmla="*/ 13 h 272"/>
                <a:gd name="T66" fmla="*/ 35 w 303"/>
                <a:gd name="T67" fmla="*/ 19 h 272"/>
                <a:gd name="T68" fmla="*/ 46 w 303"/>
                <a:gd name="T69" fmla="*/ 25 h 272"/>
                <a:gd name="T70" fmla="*/ 57 w 303"/>
                <a:gd name="T71" fmla="*/ 31 h 272"/>
                <a:gd name="T72" fmla="*/ 68 w 303"/>
                <a:gd name="T73" fmla="*/ 39 h 272"/>
                <a:gd name="T74" fmla="*/ 77 w 303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76" name="Line 53"/>
          <p:cNvSpPr>
            <a:spLocks noChangeShapeType="1"/>
          </p:cNvSpPr>
          <p:nvPr/>
        </p:nvSpPr>
        <p:spPr bwMode="auto">
          <a:xfrm>
            <a:off x="1787525" y="5580063"/>
            <a:ext cx="846138" cy="381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7" name="Line 54"/>
          <p:cNvSpPr>
            <a:spLocks noChangeShapeType="1"/>
          </p:cNvSpPr>
          <p:nvPr/>
        </p:nvSpPr>
        <p:spPr bwMode="auto">
          <a:xfrm flipH="1">
            <a:off x="3055938" y="5541963"/>
            <a:ext cx="806450" cy="762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8" name="Line 55"/>
          <p:cNvSpPr>
            <a:spLocks noChangeShapeType="1"/>
          </p:cNvSpPr>
          <p:nvPr/>
        </p:nvSpPr>
        <p:spPr bwMode="auto">
          <a:xfrm flipV="1">
            <a:off x="2978150" y="5618163"/>
            <a:ext cx="922338" cy="1539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9" name="Line 56"/>
          <p:cNvSpPr>
            <a:spLocks noChangeShapeType="1"/>
          </p:cNvSpPr>
          <p:nvPr/>
        </p:nvSpPr>
        <p:spPr bwMode="auto">
          <a:xfrm flipH="1">
            <a:off x="3017838" y="5694363"/>
            <a:ext cx="958850" cy="269875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0" name="Text Box 57"/>
          <p:cNvSpPr txBox="1">
            <a:spLocks noChangeArrowheads="1"/>
          </p:cNvSpPr>
          <p:nvPr/>
        </p:nvSpPr>
        <p:spPr bwMode="auto">
          <a:xfrm>
            <a:off x="4764088" y="4919663"/>
            <a:ext cx="4008437" cy="1044575"/>
          </a:xfrm>
          <a:prstGeom prst="rect">
            <a:avLst/>
          </a:prstGeom>
          <a:noFill/>
          <a:ln w="38100" algn="ctr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>
              <a:buFontTx/>
              <a:buChar char="•"/>
            </a:pPr>
            <a:r>
              <a:rPr lang="en-US"/>
              <a:t>Beacon frames from APs</a:t>
            </a:r>
          </a:p>
          <a:p>
            <a:pPr algn="l">
              <a:buFontTx/>
              <a:buChar char="•"/>
            </a:pPr>
            <a:r>
              <a:rPr lang="en-US"/>
              <a:t>Associate request from host</a:t>
            </a:r>
          </a:p>
          <a:p>
            <a:pPr algn="l">
              <a:buFontTx/>
              <a:buChar char="•"/>
            </a:pPr>
            <a:r>
              <a:rPr lang="en-US"/>
              <a:t>Association response from 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Slide Number Placeholder 3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fld id="{C1CDD628-723C-43A8-8976-6F16841C830A}" type="slidenum">
              <a:rPr lang="en-US" altLang="ko-KR" sz="1400">
                <a:latin typeface="Times New Roman" pitchFamily="18" charset="0"/>
                <a:ea typeface="Gulim" pitchFamily="34" charset="-127"/>
              </a:rPr>
              <a:pPr/>
              <a:t>20</a:t>
            </a:fld>
            <a:endParaRPr lang="en-US" altLang="ko-KR" sz="1400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717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031875" y="228600"/>
            <a:ext cx="8112125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mtClean="0">
                <a:solidFill>
                  <a:schemeClr val="accent1">
                    <a:satMod val="150000"/>
                  </a:schemeClr>
                </a:solidFill>
                <a:ea typeface="Gulim" pitchFamily="34" charset="-127"/>
              </a:rPr>
              <a:t>802.11: passive/active scanning</a:t>
            </a:r>
          </a:p>
        </p:txBody>
      </p:sp>
      <p:sp>
        <p:nvSpPr>
          <p:cNvPr id="12296" name="Oval 6"/>
          <p:cNvSpPr>
            <a:spLocks noChangeArrowheads="1"/>
          </p:cNvSpPr>
          <p:nvPr/>
        </p:nvSpPr>
        <p:spPr bwMode="auto">
          <a:xfrm>
            <a:off x="6580188" y="1455738"/>
            <a:ext cx="2335212" cy="2224087"/>
          </a:xfrm>
          <a:prstGeom prst="ellipse">
            <a:avLst/>
          </a:prstGeom>
          <a:solidFill>
            <a:srgbClr val="00CCFF">
              <a:alpha val="4901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600">
              <a:ea typeface="Gulim" pitchFamily="34" charset="-127"/>
            </a:endParaRPr>
          </a:p>
        </p:txBody>
      </p:sp>
      <p:sp>
        <p:nvSpPr>
          <p:cNvPr id="12297" name="Oval 7"/>
          <p:cNvSpPr>
            <a:spLocks noChangeArrowheads="1"/>
          </p:cNvSpPr>
          <p:nvPr/>
        </p:nvSpPr>
        <p:spPr bwMode="auto">
          <a:xfrm>
            <a:off x="4724400" y="1390650"/>
            <a:ext cx="2335213" cy="2224088"/>
          </a:xfrm>
          <a:prstGeom prst="ellipse">
            <a:avLst/>
          </a:prstGeom>
          <a:solidFill>
            <a:srgbClr val="00CCFF">
              <a:alpha val="4901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298" name="Text Box 8"/>
          <p:cNvSpPr txBox="1">
            <a:spLocks noChangeArrowheads="1"/>
          </p:cNvSpPr>
          <p:nvPr/>
        </p:nvSpPr>
        <p:spPr bwMode="auto">
          <a:xfrm>
            <a:off x="7920038" y="2325688"/>
            <a:ext cx="623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AP 2</a:t>
            </a:r>
          </a:p>
        </p:txBody>
      </p:sp>
      <p:sp>
        <p:nvSpPr>
          <p:cNvPr id="12299" name="Text Box 9"/>
          <p:cNvSpPr txBox="1">
            <a:spLocks noChangeArrowheads="1"/>
          </p:cNvSpPr>
          <p:nvPr/>
        </p:nvSpPr>
        <p:spPr bwMode="auto">
          <a:xfrm>
            <a:off x="6211888" y="2162175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300" name="Text Box 10"/>
          <p:cNvSpPr txBox="1">
            <a:spLocks noChangeArrowheads="1"/>
          </p:cNvSpPr>
          <p:nvPr/>
        </p:nvSpPr>
        <p:spPr bwMode="auto">
          <a:xfrm>
            <a:off x="5299075" y="2295525"/>
            <a:ext cx="592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AP 1</a:t>
            </a:r>
          </a:p>
        </p:txBody>
      </p:sp>
      <p:sp>
        <p:nvSpPr>
          <p:cNvPr id="12301" name="Text Box 11"/>
          <p:cNvSpPr txBox="1">
            <a:spLocks noChangeArrowheads="1"/>
          </p:cNvSpPr>
          <p:nvPr/>
        </p:nvSpPr>
        <p:spPr bwMode="auto">
          <a:xfrm>
            <a:off x="6577013" y="3178175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H1</a:t>
            </a:r>
          </a:p>
        </p:txBody>
      </p:sp>
      <p:sp>
        <p:nvSpPr>
          <p:cNvPr id="12302" name="Text Box 12"/>
          <p:cNvSpPr txBox="1">
            <a:spLocks noChangeArrowheads="1"/>
          </p:cNvSpPr>
          <p:nvPr/>
        </p:nvSpPr>
        <p:spPr bwMode="auto">
          <a:xfrm>
            <a:off x="8218488" y="2981325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303" name="Text Box 13"/>
          <p:cNvSpPr txBox="1">
            <a:spLocks noChangeArrowheads="1"/>
          </p:cNvSpPr>
          <p:nvPr/>
        </p:nvSpPr>
        <p:spPr bwMode="auto">
          <a:xfrm>
            <a:off x="7367588" y="1512888"/>
            <a:ext cx="7667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BBS 2</a:t>
            </a:r>
          </a:p>
        </p:txBody>
      </p:sp>
      <p:sp>
        <p:nvSpPr>
          <p:cNvPr id="12304" name="Text Box 14"/>
          <p:cNvSpPr txBox="1">
            <a:spLocks noChangeArrowheads="1"/>
          </p:cNvSpPr>
          <p:nvPr/>
        </p:nvSpPr>
        <p:spPr bwMode="auto">
          <a:xfrm>
            <a:off x="5551488" y="1462088"/>
            <a:ext cx="7350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BBS 1</a:t>
            </a:r>
          </a:p>
        </p:txBody>
      </p:sp>
      <p:grpSp>
        <p:nvGrpSpPr>
          <p:cNvPr id="12305" name="Group 15"/>
          <p:cNvGrpSpPr>
            <a:grpSpLocks/>
          </p:cNvGrpSpPr>
          <p:nvPr/>
        </p:nvGrpSpPr>
        <p:grpSpPr bwMode="auto">
          <a:xfrm>
            <a:off x="7426325" y="2011363"/>
            <a:ext cx="842963" cy="600075"/>
            <a:chOff x="1160" y="2192"/>
            <a:chExt cx="589" cy="440"/>
          </a:xfrm>
        </p:grpSpPr>
        <p:pic>
          <p:nvPicPr>
            <p:cNvPr id="12413" name="Picture 16" descr="31u_bnrz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414" name="AutoShape 17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5" name="Freeform 18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6" name="Freeform 19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7" name="Freeform 20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8" name="Freeform 21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9" name="Freeform 22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0" name="Freeform 23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1" name="Freeform 24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2" name="Freeform 25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3" name="Freeform 26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4" name="Freeform 27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5" name="Freeform 28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6" name="Freeform 29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7" name="Freeform 30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8" name="Freeform 31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29" name="Freeform 32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30" name="Freeform 33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6" name="Group 34"/>
          <p:cNvGrpSpPr>
            <a:grpSpLocks/>
          </p:cNvGrpSpPr>
          <p:nvPr/>
        </p:nvGrpSpPr>
        <p:grpSpPr bwMode="auto">
          <a:xfrm>
            <a:off x="5502275" y="2000250"/>
            <a:ext cx="844550" cy="600075"/>
            <a:chOff x="1160" y="2192"/>
            <a:chExt cx="589" cy="440"/>
          </a:xfrm>
        </p:grpSpPr>
        <p:pic>
          <p:nvPicPr>
            <p:cNvPr id="12395" name="Picture 35" descr="31u_bnrz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96" name="AutoShape 36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" name="Freeform 37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" name="Freeform 38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9" name="Freeform 39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0" name="Freeform 40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1" name="Freeform 41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2" name="Freeform 42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3" name="Freeform 43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4" name="Freeform 44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5" name="Freeform 45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6" name="Freeform 46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7" name="Freeform 47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8" name="Freeform 48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09" name="Freeform 49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0" name="Freeform 50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1" name="Freeform 51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12" name="Freeform 52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07" name="Group 53"/>
          <p:cNvGrpSpPr>
            <a:grpSpLocks/>
          </p:cNvGrpSpPr>
          <p:nvPr/>
        </p:nvGrpSpPr>
        <p:grpSpPr bwMode="auto">
          <a:xfrm>
            <a:off x="6442075" y="2627313"/>
            <a:ext cx="635000" cy="588962"/>
            <a:chOff x="2870" y="1518"/>
            <a:chExt cx="292" cy="320"/>
          </a:xfrm>
        </p:grpSpPr>
        <p:graphicFrame>
          <p:nvGraphicFramePr>
            <p:cNvPr id="12292" name="Object 4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2292" name="Clip" r:id="rId5" imgW="826829" imgH="840406" progId="MS_ClipArt_Gallery.2">
                <p:embed/>
              </p:oleObj>
            </a:graphicData>
          </a:graphic>
        </p:graphicFrame>
        <p:graphicFrame>
          <p:nvGraphicFramePr>
            <p:cNvPr id="12293" name="Object 5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2293" name="Clip" r:id="rId6" imgW="1268295" imgH="1199426" progId="MS_ClipArt_Gallery.2">
                <p:embed/>
              </p:oleObj>
            </a:graphicData>
          </a:graphic>
        </p:graphicFrame>
      </p:grpSp>
      <p:sp>
        <p:nvSpPr>
          <p:cNvPr id="12308" name="Freeform 56"/>
          <p:cNvSpPr>
            <a:spLocks/>
          </p:cNvSpPr>
          <p:nvPr/>
        </p:nvSpPr>
        <p:spPr bwMode="auto">
          <a:xfrm>
            <a:off x="6837363" y="2466975"/>
            <a:ext cx="869950" cy="225425"/>
          </a:xfrm>
          <a:custGeom>
            <a:avLst/>
            <a:gdLst>
              <a:gd name="T0" fmla="*/ 0 w 548"/>
              <a:gd name="T1" fmla="*/ 2147483647 h 142"/>
              <a:gd name="T2" fmla="*/ 0 w 548"/>
              <a:gd name="T3" fmla="*/ 0 h 142"/>
              <a:gd name="T4" fmla="*/ 2147483647 w 548"/>
              <a:gd name="T5" fmla="*/ 0 h 142"/>
              <a:gd name="T6" fmla="*/ 0 60000 65536"/>
              <a:gd name="T7" fmla="*/ 0 60000 65536"/>
              <a:gd name="T8" fmla="*/ 0 60000 65536"/>
              <a:gd name="T9" fmla="*/ 0 w 548"/>
              <a:gd name="T10" fmla="*/ 0 h 142"/>
              <a:gd name="T11" fmla="*/ 548 w 548"/>
              <a:gd name="T12" fmla="*/ 142 h 1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48" h="142">
                <a:moveTo>
                  <a:pt x="0" y="142"/>
                </a:moveTo>
                <a:lnTo>
                  <a:pt x="0" y="0"/>
                </a:lnTo>
                <a:lnTo>
                  <a:pt x="548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09" name="Line 57"/>
          <p:cNvSpPr>
            <a:spLocks noChangeShapeType="1"/>
          </p:cNvSpPr>
          <p:nvPr/>
        </p:nvSpPr>
        <p:spPr bwMode="auto">
          <a:xfrm flipH="1">
            <a:off x="6011863" y="2466975"/>
            <a:ext cx="82391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10" name="Line 58"/>
          <p:cNvSpPr>
            <a:spLocks noChangeShapeType="1"/>
          </p:cNvSpPr>
          <p:nvPr/>
        </p:nvSpPr>
        <p:spPr bwMode="auto">
          <a:xfrm>
            <a:off x="6073775" y="2543175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11" name="Line 59"/>
          <p:cNvSpPr>
            <a:spLocks noChangeShapeType="1"/>
          </p:cNvSpPr>
          <p:nvPr/>
        </p:nvSpPr>
        <p:spPr bwMode="auto">
          <a:xfrm flipH="1">
            <a:off x="6961188" y="2559050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12" name="Line 60"/>
          <p:cNvSpPr>
            <a:spLocks noChangeShapeType="1"/>
          </p:cNvSpPr>
          <p:nvPr/>
        </p:nvSpPr>
        <p:spPr bwMode="auto">
          <a:xfrm flipH="1">
            <a:off x="7159625" y="2890838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13" name="Line 61"/>
          <p:cNvSpPr>
            <a:spLocks noChangeShapeType="1"/>
          </p:cNvSpPr>
          <p:nvPr/>
        </p:nvSpPr>
        <p:spPr bwMode="auto">
          <a:xfrm flipV="1">
            <a:off x="7115175" y="2711450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2314" name="Group 62"/>
          <p:cNvGrpSpPr>
            <a:grpSpLocks/>
          </p:cNvGrpSpPr>
          <p:nvPr/>
        </p:nvGrpSpPr>
        <p:grpSpPr bwMode="auto">
          <a:xfrm>
            <a:off x="6686550" y="2295525"/>
            <a:ext cx="282575" cy="304800"/>
            <a:chOff x="1255" y="3461"/>
            <a:chExt cx="178" cy="192"/>
          </a:xfrm>
        </p:grpSpPr>
        <p:sp>
          <p:nvSpPr>
            <p:cNvPr id="12393" name="Oval 63"/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94" name="Text Box 64"/>
            <p:cNvSpPr txBox="1">
              <a:spLocks noChangeArrowheads="1"/>
            </p:cNvSpPr>
            <p:nvPr/>
          </p:nvSpPr>
          <p:spPr bwMode="auto">
            <a:xfrm>
              <a:off x="1255" y="346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1</a:t>
              </a:r>
            </a:p>
          </p:txBody>
        </p:sp>
      </p:grpSp>
      <p:grpSp>
        <p:nvGrpSpPr>
          <p:cNvPr id="12315" name="Group 65"/>
          <p:cNvGrpSpPr>
            <a:grpSpLocks/>
          </p:cNvGrpSpPr>
          <p:nvPr/>
        </p:nvGrpSpPr>
        <p:grpSpPr bwMode="auto">
          <a:xfrm>
            <a:off x="7258050" y="2492375"/>
            <a:ext cx="282575" cy="304800"/>
            <a:chOff x="1851" y="2490"/>
            <a:chExt cx="178" cy="192"/>
          </a:xfrm>
        </p:grpSpPr>
        <p:sp>
          <p:nvSpPr>
            <p:cNvPr id="12391" name="Oval 66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92" name="Text Box 67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2</a:t>
              </a:r>
            </a:p>
          </p:txBody>
        </p:sp>
      </p:grpSp>
      <p:grpSp>
        <p:nvGrpSpPr>
          <p:cNvPr id="12316" name="Group 68"/>
          <p:cNvGrpSpPr>
            <a:grpSpLocks/>
          </p:cNvGrpSpPr>
          <p:nvPr/>
        </p:nvGrpSpPr>
        <p:grpSpPr bwMode="auto">
          <a:xfrm>
            <a:off x="6180138" y="2509838"/>
            <a:ext cx="282575" cy="304800"/>
            <a:chOff x="1851" y="2490"/>
            <a:chExt cx="178" cy="192"/>
          </a:xfrm>
        </p:grpSpPr>
        <p:sp>
          <p:nvSpPr>
            <p:cNvPr id="12389" name="Oval 69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90" name="Text Box 70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2</a:t>
              </a:r>
            </a:p>
          </p:txBody>
        </p:sp>
      </p:grpSp>
      <p:grpSp>
        <p:nvGrpSpPr>
          <p:cNvPr id="12317" name="Group 71"/>
          <p:cNvGrpSpPr>
            <a:grpSpLocks/>
          </p:cNvGrpSpPr>
          <p:nvPr/>
        </p:nvGrpSpPr>
        <p:grpSpPr bwMode="auto">
          <a:xfrm>
            <a:off x="7200900" y="2735263"/>
            <a:ext cx="282575" cy="304800"/>
            <a:chOff x="1851" y="2490"/>
            <a:chExt cx="178" cy="192"/>
          </a:xfrm>
        </p:grpSpPr>
        <p:sp>
          <p:nvSpPr>
            <p:cNvPr id="12387" name="Oval 72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88" name="Text Box 73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3</a:t>
              </a:r>
            </a:p>
          </p:txBody>
        </p:sp>
      </p:grpSp>
      <p:grpSp>
        <p:nvGrpSpPr>
          <p:cNvPr id="12318" name="Group 74"/>
          <p:cNvGrpSpPr>
            <a:grpSpLocks/>
          </p:cNvGrpSpPr>
          <p:nvPr/>
        </p:nvGrpSpPr>
        <p:grpSpPr bwMode="auto">
          <a:xfrm>
            <a:off x="7489825" y="2827338"/>
            <a:ext cx="282575" cy="304800"/>
            <a:chOff x="1851" y="2490"/>
            <a:chExt cx="178" cy="192"/>
          </a:xfrm>
        </p:grpSpPr>
        <p:sp>
          <p:nvSpPr>
            <p:cNvPr id="12385" name="Oval 75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86" name="Text Box 76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4</a:t>
              </a:r>
            </a:p>
          </p:txBody>
        </p:sp>
      </p:grpSp>
      <p:sp>
        <p:nvSpPr>
          <p:cNvPr id="12319" name="Text Box 77"/>
          <p:cNvSpPr txBox="1">
            <a:spLocks noChangeArrowheads="1"/>
          </p:cNvSpPr>
          <p:nvPr/>
        </p:nvSpPr>
        <p:spPr bwMode="auto">
          <a:xfrm>
            <a:off x="4618038" y="3689350"/>
            <a:ext cx="39624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just"/>
            <a:r>
              <a:rPr lang="en-US" altLang="ko-KR" i="1" u="sng" dirty="0">
                <a:solidFill>
                  <a:srgbClr val="FF3300"/>
                </a:solidFill>
                <a:latin typeface="Arial" charset="0"/>
                <a:ea typeface="Gulim" pitchFamily="34" charset="-127"/>
              </a:rPr>
              <a:t>Active Scanning</a:t>
            </a:r>
            <a:r>
              <a:rPr lang="en-US" altLang="ko-KR" sz="1600" dirty="0">
                <a:latin typeface="Arial" charset="0"/>
                <a:ea typeface="Gulim" pitchFamily="34" charset="-127"/>
              </a:rPr>
              <a:t>: 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 smtClean="0">
                <a:latin typeface="Arial" charset="0"/>
                <a:ea typeface="Gulim" pitchFamily="34" charset="-127"/>
              </a:rPr>
              <a:t>Request </a:t>
            </a:r>
            <a:r>
              <a:rPr lang="en-US" altLang="ko-KR" dirty="0">
                <a:latin typeface="Arial" charset="0"/>
                <a:ea typeface="Gulim" pitchFamily="34" charset="-127"/>
              </a:rPr>
              <a:t>frame broadcast from H1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 smtClean="0">
                <a:latin typeface="Arial" charset="0"/>
                <a:ea typeface="Gulim" pitchFamily="34" charset="-127"/>
              </a:rPr>
              <a:t>Response </a:t>
            </a:r>
            <a:r>
              <a:rPr lang="en-US" altLang="ko-KR" dirty="0">
                <a:latin typeface="Arial" charset="0"/>
                <a:ea typeface="Gulim" pitchFamily="34" charset="-127"/>
              </a:rPr>
              <a:t>frame sent from APs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>
                <a:latin typeface="Arial" charset="0"/>
                <a:ea typeface="Gulim" pitchFamily="34" charset="-127"/>
              </a:rPr>
              <a:t>Association Request frame sent: H1 to selected AP 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>
                <a:latin typeface="Arial" charset="0"/>
                <a:ea typeface="Gulim" pitchFamily="34" charset="-127"/>
              </a:rPr>
              <a:t>Association Response frame sent: H1 to selected AP</a:t>
            </a:r>
          </a:p>
        </p:txBody>
      </p:sp>
      <p:sp>
        <p:nvSpPr>
          <p:cNvPr id="12320" name="Oval 80"/>
          <p:cNvSpPr>
            <a:spLocks noChangeArrowheads="1"/>
          </p:cNvSpPr>
          <p:nvPr/>
        </p:nvSpPr>
        <p:spPr bwMode="auto">
          <a:xfrm>
            <a:off x="2208213" y="1484313"/>
            <a:ext cx="2335212" cy="2224087"/>
          </a:xfrm>
          <a:prstGeom prst="ellipse">
            <a:avLst/>
          </a:prstGeom>
          <a:solidFill>
            <a:srgbClr val="00CCFF">
              <a:alpha val="4901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600">
              <a:ea typeface="Gulim" pitchFamily="34" charset="-127"/>
            </a:endParaRPr>
          </a:p>
        </p:txBody>
      </p:sp>
      <p:sp>
        <p:nvSpPr>
          <p:cNvPr id="12321" name="Oval 81"/>
          <p:cNvSpPr>
            <a:spLocks noChangeArrowheads="1"/>
          </p:cNvSpPr>
          <p:nvPr/>
        </p:nvSpPr>
        <p:spPr bwMode="auto">
          <a:xfrm>
            <a:off x="352425" y="1419225"/>
            <a:ext cx="2335213" cy="2224088"/>
          </a:xfrm>
          <a:prstGeom prst="ellipse">
            <a:avLst/>
          </a:prstGeom>
          <a:solidFill>
            <a:srgbClr val="00CCFF">
              <a:alpha val="49019"/>
            </a:srgb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322" name="Text Box 82"/>
          <p:cNvSpPr txBox="1">
            <a:spLocks noChangeArrowheads="1"/>
          </p:cNvSpPr>
          <p:nvPr/>
        </p:nvSpPr>
        <p:spPr bwMode="auto">
          <a:xfrm>
            <a:off x="3548063" y="2354263"/>
            <a:ext cx="62388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AP 2</a:t>
            </a:r>
          </a:p>
        </p:txBody>
      </p:sp>
      <p:sp>
        <p:nvSpPr>
          <p:cNvPr id="12323" name="Text Box 83"/>
          <p:cNvSpPr txBox="1">
            <a:spLocks noChangeArrowheads="1"/>
          </p:cNvSpPr>
          <p:nvPr/>
        </p:nvSpPr>
        <p:spPr bwMode="auto">
          <a:xfrm>
            <a:off x="1839913" y="2190750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324" name="Text Box 84"/>
          <p:cNvSpPr txBox="1">
            <a:spLocks noChangeArrowheads="1"/>
          </p:cNvSpPr>
          <p:nvPr/>
        </p:nvSpPr>
        <p:spPr bwMode="auto">
          <a:xfrm>
            <a:off x="927100" y="2324100"/>
            <a:ext cx="59213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AP 1</a:t>
            </a:r>
          </a:p>
        </p:txBody>
      </p:sp>
      <p:sp>
        <p:nvSpPr>
          <p:cNvPr id="12325" name="Text Box 85"/>
          <p:cNvSpPr txBox="1">
            <a:spLocks noChangeArrowheads="1"/>
          </p:cNvSpPr>
          <p:nvPr/>
        </p:nvSpPr>
        <p:spPr bwMode="auto">
          <a:xfrm>
            <a:off x="2205038" y="3206750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H1</a:t>
            </a:r>
          </a:p>
        </p:txBody>
      </p:sp>
      <p:sp>
        <p:nvSpPr>
          <p:cNvPr id="12326" name="Text Box 86"/>
          <p:cNvSpPr txBox="1">
            <a:spLocks noChangeArrowheads="1"/>
          </p:cNvSpPr>
          <p:nvPr/>
        </p:nvSpPr>
        <p:spPr bwMode="auto">
          <a:xfrm>
            <a:off x="3846513" y="3009900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ko-KR" altLang="ko-KR" sz="1600">
              <a:latin typeface="Arial" charset="0"/>
              <a:ea typeface="Gulim" pitchFamily="34" charset="-127"/>
            </a:endParaRPr>
          </a:p>
        </p:txBody>
      </p:sp>
      <p:sp>
        <p:nvSpPr>
          <p:cNvPr id="12327" name="Text Box 87"/>
          <p:cNvSpPr txBox="1">
            <a:spLocks noChangeArrowheads="1"/>
          </p:cNvSpPr>
          <p:nvPr/>
        </p:nvSpPr>
        <p:spPr bwMode="auto">
          <a:xfrm>
            <a:off x="2995613" y="1541463"/>
            <a:ext cx="76676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BBS 2</a:t>
            </a:r>
          </a:p>
        </p:txBody>
      </p:sp>
      <p:sp>
        <p:nvSpPr>
          <p:cNvPr id="12328" name="Text Box 88"/>
          <p:cNvSpPr txBox="1">
            <a:spLocks noChangeArrowheads="1"/>
          </p:cNvSpPr>
          <p:nvPr/>
        </p:nvSpPr>
        <p:spPr bwMode="auto">
          <a:xfrm>
            <a:off x="1179513" y="1490663"/>
            <a:ext cx="7350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600">
                <a:ea typeface="Gulim" pitchFamily="34" charset="-127"/>
              </a:rPr>
              <a:t>BBS 1</a:t>
            </a:r>
          </a:p>
        </p:txBody>
      </p:sp>
      <p:grpSp>
        <p:nvGrpSpPr>
          <p:cNvPr id="12329" name="Group 89"/>
          <p:cNvGrpSpPr>
            <a:grpSpLocks/>
          </p:cNvGrpSpPr>
          <p:nvPr/>
        </p:nvGrpSpPr>
        <p:grpSpPr bwMode="auto">
          <a:xfrm>
            <a:off x="3054350" y="2039938"/>
            <a:ext cx="842963" cy="600075"/>
            <a:chOff x="1160" y="2192"/>
            <a:chExt cx="589" cy="440"/>
          </a:xfrm>
        </p:grpSpPr>
        <p:pic>
          <p:nvPicPr>
            <p:cNvPr id="12367" name="Picture 90" descr="31u_bnrz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68" name="AutoShape 91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9" name="Freeform 92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0" name="Freeform 93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1" name="Freeform 94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2" name="Freeform 95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3" name="Freeform 96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4" name="Freeform 97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5" name="Freeform 98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6" name="Freeform 99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7" name="Freeform 100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8" name="Freeform 101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79" name="Freeform 102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0" name="Freeform 103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1" name="Freeform 104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2" name="Freeform 105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3" name="Freeform 106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84" name="Freeform 107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30" name="Group 108"/>
          <p:cNvGrpSpPr>
            <a:grpSpLocks/>
          </p:cNvGrpSpPr>
          <p:nvPr/>
        </p:nvGrpSpPr>
        <p:grpSpPr bwMode="auto">
          <a:xfrm>
            <a:off x="1130300" y="2028825"/>
            <a:ext cx="844550" cy="600075"/>
            <a:chOff x="1160" y="2192"/>
            <a:chExt cx="589" cy="440"/>
          </a:xfrm>
        </p:grpSpPr>
        <p:pic>
          <p:nvPicPr>
            <p:cNvPr id="12349" name="Picture 109" descr="31u_bnrz[1]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350" name="AutoShape 110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1" name="Freeform 111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0 w 247"/>
                <a:gd name="T1" fmla="*/ 1 h 203"/>
                <a:gd name="T2" fmla="*/ 0 w 247"/>
                <a:gd name="T3" fmla="*/ 1 h 203"/>
                <a:gd name="T4" fmla="*/ 0 w 247"/>
                <a:gd name="T5" fmla="*/ 1 h 203"/>
                <a:gd name="T6" fmla="*/ 0 w 247"/>
                <a:gd name="T7" fmla="*/ 1 h 203"/>
                <a:gd name="T8" fmla="*/ 0 w 247"/>
                <a:gd name="T9" fmla="*/ 1 h 203"/>
                <a:gd name="T10" fmla="*/ 0 w 247"/>
                <a:gd name="T11" fmla="*/ 1 h 203"/>
                <a:gd name="T12" fmla="*/ 0 w 247"/>
                <a:gd name="T13" fmla="*/ 1 h 203"/>
                <a:gd name="T14" fmla="*/ 0 w 247"/>
                <a:gd name="T15" fmla="*/ 1 h 203"/>
                <a:gd name="T16" fmla="*/ 0 w 247"/>
                <a:gd name="T17" fmla="*/ 1 h 203"/>
                <a:gd name="T18" fmla="*/ 0 w 247"/>
                <a:gd name="T19" fmla="*/ 1 h 203"/>
                <a:gd name="T20" fmla="*/ 0 w 247"/>
                <a:gd name="T21" fmla="*/ 1 h 203"/>
                <a:gd name="T22" fmla="*/ 0 w 247"/>
                <a:gd name="T23" fmla="*/ 1 h 203"/>
                <a:gd name="T24" fmla="*/ 0 w 247"/>
                <a:gd name="T25" fmla="*/ 1 h 203"/>
                <a:gd name="T26" fmla="*/ 0 w 247"/>
                <a:gd name="T27" fmla="*/ 1 h 203"/>
                <a:gd name="T28" fmla="*/ 0 w 247"/>
                <a:gd name="T29" fmla="*/ 1 h 203"/>
                <a:gd name="T30" fmla="*/ 0 w 247"/>
                <a:gd name="T31" fmla="*/ 1 h 203"/>
                <a:gd name="T32" fmla="*/ 0 w 247"/>
                <a:gd name="T33" fmla="*/ 1 h 203"/>
                <a:gd name="T34" fmla="*/ 0 w 247"/>
                <a:gd name="T35" fmla="*/ 1 h 203"/>
                <a:gd name="T36" fmla="*/ 0 w 247"/>
                <a:gd name="T37" fmla="*/ 1 h 203"/>
                <a:gd name="T38" fmla="*/ 0 w 247"/>
                <a:gd name="T39" fmla="*/ 1 h 203"/>
                <a:gd name="T40" fmla="*/ 0 w 247"/>
                <a:gd name="T41" fmla="*/ 1 h 203"/>
                <a:gd name="T42" fmla="*/ 0 w 247"/>
                <a:gd name="T43" fmla="*/ 1 h 203"/>
                <a:gd name="T44" fmla="*/ 0 w 247"/>
                <a:gd name="T45" fmla="*/ 1 h 203"/>
                <a:gd name="T46" fmla="*/ 0 w 247"/>
                <a:gd name="T47" fmla="*/ 1 h 203"/>
                <a:gd name="T48" fmla="*/ 0 w 247"/>
                <a:gd name="T49" fmla="*/ 1 h 203"/>
                <a:gd name="T50" fmla="*/ 0 w 247"/>
                <a:gd name="T51" fmla="*/ 1 h 203"/>
                <a:gd name="T52" fmla="*/ 0 w 247"/>
                <a:gd name="T53" fmla="*/ 1 h 203"/>
                <a:gd name="T54" fmla="*/ 0 w 247"/>
                <a:gd name="T55" fmla="*/ 1 h 203"/>
                <a:gd name="T56" fmla="*/ 0 w 247"/>
                <a:gd name="T57" fmla="*/ 1 h 203"/>
                <a:gd name="T58" fmla="*/ 0 w 247"/>
                <a:gd name="T59" fmla="*/ 1 h 203"/>
                <a:gd name="T60" fmla="*/ 0 w 247"/>
                <a:gd name="T61" fmla="*/ 1 h 203"/>
                <a:gd name="T62" fmla="*/ 0 w 247"/>
                <a:gd name="T63" fmla="*/ 1 h 203"/>
                <a:gd name="T64" fmla="*/ 0 w 247"/>
                <a:gd name="T65" fmla="*/ 1 h 203"/>
                <a:gd name="T66" fmla="*/ 0 w 247"/>
                <a:gd name="T67" fmla="*/ 1 h 203"/>
                <a:gd name="T68" fmla="*/ 0 w 247"/>
                <a:gd name="T69" fmla="*/ 1 h 203"/>
                <a:gd name="T70" fmla="*/ 0 w 247"/>
                <a:gd name="T71" fmla="*/ 1 h 203"/>
                <a:gd name="T72" fmla="*/ 0 w 247"/>
                <a:gd name="T73" fmla="*/ 1 h 203"/>
                <a:gd name="T74" fmla="*/ 0 w 247"/>
                <a:gd name="T75" fmla="*/ 1 h 203"/>
                <a:gd name="T76" fmla="*/ 0 w 247"/>
                <a:gd name="T77" fmla="*/ 1 h 203"/>
                <a:gd name="T78" fmla="*/ 0 w 247"/>
                <a:gd name="T79" fmla="*/ 1 h 203"/>
                <a:gd name="T80" fmla="*/ 0 w 247"/>
                <a:gd name="T81" fmla="*/ 1 h 203"/>
                <a:gd name="T82" fmla="*/ 0 w 247"/>
                <a:gd name="T83" fmla="*/ 1 h 203"/>
                <a:gd name="T84" fmla="*/ 0 w 247"/>
                <a:gd name="T85" fmla="*/ 0 h 203"/>
                <a:gd name="T86" fmla="*/ 0 w 247"/>
                <a:gd name="T87" fmla="*/ 1 h 203"/>
                <a:gd name="T88" fmla="*/ 0 w 247"/>
                <a:gd name="T89" fmla="*/ 1 h 203"/>
                <a:gd name="T90" fmla="*/ 0 w 247"/>
                <a:gd name="T91" fmla="*/ 1 h 203"/>
                <a:gd name="T92" fmla="*/ 0 w 247"/>
                <a:gd name="T93" fmla="*/ 1 h 203"/>
                <a:gd name="T94" fmla="*/ 0 w 247"/>
                <a:gd name="T95" fmla="*/ 1 h 203"/>
                <a:gd name="T96" fmla="*/ 0 w 247"/>
                <a:gd name="T97" fmla="*/ 1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2" name="Freeform 112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0 w 158"/>
                <a:gd name="T1" fmla="*/ 1 h 158"/>
                <a:gd name="T2" fmla="*/ 0 w 158"/>
                <a:gd name="T3" fmla="*/ 1 h 158"/>
                <a:gd name="T4" fmla="*/ 0 w 158"/>
                <a:gd name="T5" fmla="*/ 1 h 158"/>
                <a:gd name="T6" fmla="*/ 0 w 158"/>
                <a:gd name="T7" fmla="*/ 1 h 158"/>
                <a:gd name="T8" fmla="*/ 0 w 158"/>
                <a:gd name="T9" fmla="*/ 1 h 158"/>
                <a:gd name="T10" fmla="*/ 0 w 158"/>
                <a:gd name="T11" fmla="*/ 1 h 158"/>
                <a:gd name="T12" fmla="*/ 0 w 158"/>
                <a:gd name="T13" fmla="*/ 1 h 158"/>
                <a:gd name="T14" fmla="*/ 0 w 158"/>
                <a:gd name="T15" fmla="*/ 1 h 158"/>
                <a:gd name="T16" fmla="*/ 0 w 158"/>
                <a:gd name="T17" fmla="*/ 1 h 158"/>
                <a:gd name="T18" fmla="*/ 0 w 158"/>
                <a:gd name="T19" fmla="*/ 1 h 158"/>
                <a:gd name="T20" fmla="*/ 0 w 158"/>
                <a:gd name="T21" fmla="*/ 1 h 158"/>
                <a:gd name="T22" fmla="*/ 0 w 158"/>
                <a:gd name="T23" fmla="*/ 1 h 158"/>
                <a:gd name="T24" fmla="*/ 0 w 158"/>
                <a:gd name="T25" fmla="*/ 1 h 158"/>
                <a:gd name="T26" fmla="*/ 0 w 158"/>
                <a:gd name="T27" fmla="*/ 1 h 158"/>
                <a:gd name="T28" fmla="*/ 0 w 158"/>
                <a:gd name="T29" fmla="*/ 1 h 158"/>
                <a:gd name="T30" fmla="*/ 0 w 158"/>
                <a:gd name="T31" fmla="*/ 1 h 158"/>
                <a:gd name="T32" fmla="*/ 0 w 158"/>
                <a:gd name="T33" fmla="*/ 1 h 158"/>
                <a:gd name="T34" fmla="*/ 0 w 158"/>
                <a:gd name="T35" fmla="*/ 1 h 158"/>
                <a:gd name="T36" fmla="*/ 0 w 158"/>
                <a:gd name="T37" fmla="*/ 1 h 158"/>
                <a:gd name="T38" fmla="*/ 0 w 158"/>
                <a:gd name="T39" fmla="*/ 1 h 158"/>
                <a:gd name="T40" fmla="*/ 0 w 158"/>
                <a:gd name="T41" fmla="*/ 1 h 158"/>
                <a:gd name="T42" fmla="*/ 0 w 158"/>
                <a:gd name="T43" fmla="*/ 1 h 158"/>
                <a:gd name="T44" fmla="*/ 0 w 158"/>
                <a:gd name="T45" fmla="*/ 1 h 158"/>
                <a:gd name="T46" fmla="*/ 0 w 158"/>
                <a:gd name="T47" fmla="*/ 1 h 158"/>
                <a:gd name="T48" fmla="*/ 0 w 158"/>
                <a:gd name="T49" fmla="*/ 1 h 158"/>
                <a:gd name="T50" fmla="*/ 0 w 158"/>
                <a:gd name="T51" fmla="*/ 1 h 158"/>
                <a:gd name="T52" fmla="*/ 0 w 158"/>
                <a:gd name="T53" fmla="*/ 1 h 158"/>
                <a:gd name="T54" fmla="*/ 0 w 158"/>
                <a:gd name="T55" fmla="*/ 1 h 158"/>
                <a:gd name="T56" fmla="*/ 0 w 158"/>
                <a:gd name="T57" fmla="*/ 1 h 158"/>
                <a:gd name="T58" fmla="*/ 0 w 158"/>
                <a:gd name="T59" fmla="*/ 1 h 158"/>
                <a:gd name="T60" fmla="*/ 0 w 158"/>
                <a:gd name="T61" fmla="*/ 0 h 158"/>
                <a:gd name="T62" fmla="*/ 0 w 158"/>
                <a:gd name="T63" fmla="*/ 0 h 158"/>
                <a:gd name="T64" fmla="*/ 0 w 158"/>
                <a:gd name="T65" fmla="*/ 1 h 158"/>
                <a:gd name="T66" fmla="*/ 0 w 158"/>
                <a:gd name="T67" fmla="*/ 1 h 158"/>
                <a:gd name="T68" fmla="*/ 0 w 158"/>
                <a:gd name="T69" fmla="*/ 1 h 158"/>
                <a:gd name="T70" fmla="*/ 0 w 158"/>
                <a:gd name="T71" fmla="*/ 1 h 158"/>
                <a:gd name="T72" fmla="*/ 0 w 158"/>
                <a:gd name="T73" fmla="*/ 1 h 158"/>
                <a:gd name="T74" fmla="*/ 0 w 158"/>
                <a:gd name="T75" fmla="*/ 1 h 158"/>
                <a:gd name="T76" fmla="*/ 0 w 158"/>
                <a:gd name="T77" fmla="*/ 1 h 158"/>
                <a:gd name="T78" fmla="*/ 0 w 158"/>
                <a:gd name="T79" fmla="*/ 1 h 158"/>
                <a:gd name="T80" fmla="*/ 0 w 158"/>
                <a:gd name="T81" fmla="*/ 1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3" name="Freeform 113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0 w 399"/>
                <a:gd name="T1" fmla="*/ 1 h 331"/>
                <a:gd name="T2" fmla="*/ 0 w 399"/>
                <a:gd name="T3" fmla="*/ 1 h 331"/>
                <a:gd name="T4" fmla="*/ 0 w 399"/>
                <a:gd name="T5" fmla="*/ 1 h 331"/>
                <a:gd name="T6" fmla="*/ 0 w 399"/>
                <a:gd name="T7" fmla="*/ 1 h 331"/>
                <a:gd name="T8" fmla="*/ 0 w 399"/>
                <a:gd name="T9" fmla="*/ 1 h 331"/>
                <a:gd name="T10" fmla="*/ 0 w 399"/>
                <a:gd name="T11" fmla="*/ 1 h 331"/>
                <a:gd name="T12" fmla="*/ 0 w 399"/>
                <a:gd name="T13" fmla="*/ 1 h 331"/>
                <a:gd name="T14" fmla="*/ 0 w 399"/>
                <a:gd name="T15" fmla="*/ 1 h 331"/>
                <a:gd name="T16" fmla="*/ 0 w 399"/>
                <a:gd name="T17" fmla="*/ 1 h 331"/>
                <a:gd name="T18" fmla="*/ 0 w 399"/>
                <a:gd name="T19" fmla="*/ 1 h 331"/>
                <a:gd name="T20" fmla="*/ 0 w 399"/>
                <a:gd name="T21" fmla="*/ 1 h 331"/>
                <a:gd name="T22" fmla="*/ 0 w 399"/>
                <a:gd name="T23" fmla="*/ 1 h 331"/>
                <a:gd name="T24" fmla="*/ 0 w 399"/>
                <a:gd name="T25" fmla="*/ 1 h 331"/>
                <a:gd name="T26" fmla="*/ 0 w 399"/>
                <a:gd name="T27" fmla="*/ 1 h 331"/>
                <a:gd name="T28" fmla="*/ 0 w 399"/>
                <a:gd name="T29" fmla="*/ 1 h 331"/>
                <a:gd name="T30" fmla="*/ 0 w 399"/>
                <a:gd name="T31" fmla="*/ 1 h 331"/>
                <a:gd name="T32" fmla="*/ 0 w 399"/>
                <a:gd name="T33" fmla="*/ 1 h 331"/>
                <a:gd name="T34" fmla="*/ 0 w 399"/>
                <a:gd name="T35" fmla="*/ 1 h 331"/>
                <a:gd name="T36" fmla="*/ 0 w 399"/>
                <a:gd name="T37" fmla="*/ 1 h 331"/>
                <a:gd name="T38" fmla="*/ 0 w 399"/>
                <a:gd name="T39" fmla="*/ 1 h 331"/>
                <a:gd name="T40" fmla="*/ 0 w 399"/>
                <a:gd name="T41" fmla="*/ 1 h 331"/>
                <a:gd name="T42" fmla="*/ 0 w 399"/>
                <a:gd name="T43" fmla="*/ 1 h 331"/>
                <a:gd name="T44" fmla="*/ 0 w 399"/>
                <a:gd name="T45" fmla="*/ 1 h 331"/>
                <a:gd name="T46" fmla="*/ 0 w 399"/>
                <a:gd name="T47" fmla="*/ 1 h 331"/>
                <a:gd name="T48" fmla="*/ 0 w 399"/>
                <a:gd name="T49" fmla="*/ 1 h 331"/>
                <a:gd name="T50" fmla="*/ 0 w 399"/>
                <a:gd name="T51" fmla="*/ 1 h 331"/>
                <a:gd name="T52" fmla="*/ 0 w 399"/>
                <a:gd name="T53" fmla="*/ 1 h 331"/>
                <a:gd name="T54" fmla="*/ 0 w 399"/>
                <a:gd name="T55" fmla="*/ 1 h 331"/>
                <a:gd name="T56" fmla="*/ 0 w 399"/>
                <a:gd name="T57" fmla="*/ 1 h 331"/>
                <a:gd name="T58" fmla="*/ 0 w 399"/>
                <a:gd name="T59" fmla="*/ 1 h 331"/>
                <a:gd name="T60" fmla="*/ 0 w 399"/>
                <a:gd name="T61" fmla="*/ 1 h 331"/>
                <a:gd name="T62" fmla="*/ 0 w 399"/>
                <a:gd name="T63" fmla="*/ 1 h 331"/>
                <a:gd name="T64" fmla="*/ 0 w 399"/>
                <a:gd name="T65" fmla="*/ 1 h 331"/>
                <a:gd name="T66" fmla="*/ 0 w 399"/>
                <a:gd name="T67" fmla="*/ 1 h 331"/>
                <a:gd name="T68" fmla="*/ 0 w 399"/>
                <a:gd name="T69" fmla="*/ 1 h 331"/>
                <a:gd name="T70" fmla="*/ 0 w 399"/>
                <a:gd name="T71" fmla="*/ 1 h 331"/>
                <a:gd name="T72" fmla="*/ 0 w 399"/>
                <a:gd name="T73" fmla="*/ 1 h 331"/>
                <a:gd name="T74" fmla="*/ 0 w 399"/>
                <a:gd name="T75" fmla="*/ 1 h 331"/>
                <a:gd name="T76" fmla="*/ 0 w 399"/>
                <a:gd name="T77" fmla="*/ 1 h 331"/>
                <a:gd name="T78" fmla="*/ 0 w 399"/>
                <a:gd name="T79" fmla="*/ 1 h 331"/>
                <a:gd name="T80" fmla="*/ 0 w 399"/>
                <a:gd name="T81" fmla="*/ 0 h 331"/>
                <a:gd name="T82" fmla="*/ 0 w 399"/>
                <a:gd name="T83" fmla="*/ 1 h 331"/>
                <a:gd name="T84" fmla="*/ 0 w 399"/>
                <a:gd name="T85" fmla="*/ 1 h 331"/>
                <a:gd name="T86" fmla="*/ 0 w 399"/>
                <a:gd name="T87" fmla="*/ 1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4" name="Freeform 114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0 w 350"/>
                <a:gd name="T1" fmla="*/ 0 h 221"/>
                <a:gd name="T2" fmla="*/ 0 w 350"/>
                <a:gd name="T3" fmla="*/ 0 h 221"/>
                <a:gd name="T4" fmla="*/ 0 w 350"/>
                <a:gd name="T5" fmla="*/ 0 h 221"/>
                <a:gd name="T6" fmla="*/ 0 w 350"/>
                <a:gd name="T7" fmla="*/ 0 h 221"/>
                <a:gd name="T8" fmla="*/ 0 w 350"/>
                <a:gd name="T9" fmla="*/ 0 h 221"/>
                <a:gd name="T10" fmla="*/ 0 w 350"/>
                <a:gd name="T11" fmla="*/ 0 h 221"/>
                <a:gd name="T12" fmla="*/ 0 w 350"/>
                <a:gd name="T13" fmla="*/ 0 h 221"/>
                <a:gd name="T14" fmla="*/ 0 w 350"/>
                <a:gd name="T15" fmla="*/ 0 h 221"/>
                <a:gd name="T16" fmla="*/ 0 w 350"/>
                <a:gd name="T17" fmla="*/ 0 h 221"/>
                <a:gd name="T18" fmla="*/ 0 w 350"/>
                <a:gd name="T19" fmla="*/ 0 h 221"/>
                <a:gd name="T20" fmla="*/ 0 w 350"/>
                <a:gd name="T21" fmla="*/ 0 h 221"/>
                <a:gd name="T22" fmla="*/ 0 w 350"/>
                <a:gd name="T23" fmla="*/ 0 h 221"/>
                <a:gd name="T24" fmla="*/ 0 w 350"/>
                <a:gd name="T25" fmla="*/ 0 h 221"/>
                <a:gd name="T26" fmla="*/ 0 w 350"/>
                <a:gd name="T27" fmla="*/ 0 h 221"/>
                <a:gd name="T28" fmla="*/ 0 w 350"/>
                <a:gd name="T29" fmla="*/ 0 h 221"/>
                <a:gd name="T30" fmla="*/ 0 w 350"/>
                <a:gd name="T31" fmla="*/ 0 h 221"/>
                <a:gd name="T32" fmla="*/ 0 w 350"/>
                <a:gd name="T33" fmla="*/ 0 h 221"/>
                <a:gd name="T34" fmla="*/ 0 w 350"/>
                <a:gd name="T35" fmla="*/ 0 h 221"/>
                <a:gd name="T36" fmla="*/ 0 w 350"/>
                <a:gd name="T37" fmla="*/ 0 h 221"/>
                <a:gd name="T38" fmla="*/ 0 w 350"/>
                <a:gd name="T39" fmla="*/ 0 h 221"/>
                <a:gd name="T40" fmla="*/ 0 w 350"/>
                <a:gd name="T41" fmla="*/ 0 h 221"/>
                <a:gd name="T42" fmla="*/ 0 w 350"/>
                <a:gd name="T43" fmla="*/ 0 h 221"/>
                <a:gd name="T44" fmla="*/ 0 w 350"/>
                <a:gd name="T45" fmla="*/ 0 h 221"/>
                <a:gd name="T46" fmla="*/ 0 w 350"/>
                <a:gd name="T47" fmla="*/ 0 h 221"/>
                <a:gd name="T48" fmla="*/ 0 w 350"/>
                <a:gd name="T49" fmla="*/ 0 h 221"/>
                <a:gd name="T50" fmla="*/ 0 w 350"/>
                <a:gd name="T51" fmla="*/ 0 h 221"/>
                <a:gd name="T52" fmla="*/ 0 w 350"/>
                <a:gd name="T53" fmla="*/ 0 h 221"/>
                <a:gd name="T54" fmla="*/ 0 w 350"/>
                <a:gd name="T55" fmla="*/ 0 h 221"/>
                <a:gd name="T56" fmla="*/ 0 w 350"/>
                <a:gd name="T57" fmla="*/ 0 h 221"/>
                <a:gd name="T58" fmla="*/ 0 w 350"/>
                <a:gd name="T59" fmla="*/ 0 h 221"/>
                <a:gd name="T60" fmla="*/ 0 w 350"/>
                <a:gd name="T61" fmla="*/ 0 h 221"/>
                <a:gd name="T62" fmla="*/ 0 w 350"/>
                <a:gd name="T63" fmla="*/ 0 h 221"/>
                <a:gd name="T64" fmla="*/ 0 w 350"/>
                <a:gd name="T65" fmla="*/ 0 h 221"/>
                <a:gd name="T66" fmla="*/ 0 w 350"/>
                <a:gd name="T67" fmla="*/ 0 h 221"/>
                <a:gd name="T68" fmla="*/ 0 w 350"/>
                <a:gd name="T69" fmla="*/ 0 h 221"/>
                <a:gd name="T70" fmla="*/ 0 w 350"/>
                <a:gd name="T71" fmla="*/ 0 h 221"/>
                <a:gd name="T72" fmla="*/ 0 w 350"/>
                <a:gd name="T73" fmla="*/ 0 h 221"/>
                <a:gd name="T74" fmla="*/ 0 w 350"/>
                <a:gd name="T75" fmla="*/ 0 h 221"/>
                <a:gd name="T76" fmla="*/ 0 w 350"/>
                <a:gd name="T77" fmla="*/ 0 h 221"/>
                <a:gd name="T78" fmla="*/ 0 w 350"/>
                <a:gd name="T79" fmla="*/ 0 h 221"/>
                <a:gd name="T80" fmla="*/ 0 w 350"/>
                <a:gd name="T81" fmla="*/ 0 h 221"/>
                <a:gd name="T82" fmla="*/ 0 w 350"/>
                <a:gd name="T83" fmla="*/ 0 h 221"/>
                <a:gd name="T84" fmla="*/ 0 w 350"/>
                <a:gd name="T85" fmla="*/ 0 h 221"/>
                <a:gd name="T86" fmla="*/ 0 w 350"/>
                <a:gd name="T87" fmla="*/ 0 h 221"/>
                <a:gd name="T88" fmla="*/ 0 w 350"/>
                <a:gd name="T89" fmla="*/ 0 h 221"/>
                <a:gd name="T90" fmla="*/ 0 w 350"/>
                <a:gd name="T91" fmla="*/ 0 h 221"/>
                <a:gd name="T92" fmla="*/ 0 w 350"/>
                <a:gd name="T93" fmla="*/ 0 h 221"/>
                <a:gd name="T94" fmla="*/ 0 w 350"/>
                <a:gd name="T95" fmla="*/ 0 h 221"/>
                <a:gd name="T96" fmla="*/ 0 w 350"/>
                <a:gd name="T97" fmla="*/ 0 h 221"/>
                <a:gd name="T98" fmla="*/ 0 w 350"/>
                <a:gd name="T99" fmla="*/ 0 h 221"/>
                <a:gd name="T100" fmla="*/ 0 w 350"/>
                <a:gd name="T101" fmla="*/ 0 h 221"/>
                <a:gd name="T102" fmla="*/ 0 w 350"/>
                <a:gd name="T103" fmla="*/ 0 h 221"/>
                <a:gd name="T104" fmla="*/ 0 w 350"/>
                <a:gd name="T105" fmla="*/ 0 h 221"/>
                <a:gd name="T106" fmla="*/ 0 w 350"/>
                <a:gd name="T107" fmla="*/ 0 h 221"/>
                <a:gd name="T108" fmla="*/ 0 w 350"/>
                <a:gd name="T109" fmla="*/ 0 h 221"/>
                <a:gd name="T110" fmla="*/ 0 w 350"/>
                <a:gd name="T111" fmla="*/ 0 h 221"/>
                <a:gd name="T112" fmla="*/ 0 w 350"/>
                <a:gd name="T113" fmla="*/ 0 h 221"/>
                <a:gd name="T114" fmla="*/ 0 w 350"/>
                <a:gd name="T115" fmla="*/ 0 h 221"/>
                <a:gd name="T116" fmla="*/ 0 w 350"/>
                <a:gd name="T117" fmla="*/ 0 h 221"/>
                <a:gd name="T118" fmla="*/ 0 w 350"/>
                <a:gd name="T119" fmla="*/ 0 h 221"/>
                <a:gd name="T120" fmla="*/ 0 w 350"/>
                <a:gd name="T121" fmla="*/ 0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5" name="Freeform 115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1 h 208"/>
                <a:gd name="T2" fmla="*/ 0 w 142"/>
                <a:gd name="T3" fmla="*/ 1 h 208"/>
                <a:gd name="T4" fmla="*/ 0 w 142"/>
                <a:gd name="T5" fmla="*/ 1 h 208"/>
                <a:gd name="T6" fmla="*/ 0 w 142"/>
                <a:gd name="T7" fmla="*/ 1 h 208"/>
                <a:gd name="T8" fmla="*/ 0 w 142"/>
                <a:gd name="T9" fmla="*/ 1 h 208"/>
                <a:gd name="T10" fmla="*/ 0 w 142"/>
                <a:gd name="T11" fmla="*/ 1 h 208"/>
                <a:gd name="T12" fmla="*/ 0 w 142"/>
                <a:gd name="T13" fmla="*/ 1 h 208"/>
                <a:gd name="T14" fmla="*/ 0 w 142"/>
                <a:gd name="T15" fmla="*/ 1 h 208"/>
                <a:gd name="T16" fmla="*/ 0 w 142"/>
                <a:gd name="T17" fmla="*/ 1 h 208"/>
                <a:gd name="T18" fmla="*/ 0 w 142"/>
                <a:gd name="T19" fmla="*/ 1 h 208"/>
                <a:gd name="T20" fmla="*/ 0 w 142"/>
                <a:gd name="T21" fmla="*/ 1 h 208"/>
                <a:gd name="T22" fmla="*/ 0 w 142"/>
                <a:gd name="T23" fmla="*/ 1 h 208"/>
                <a:gd name="T24" fmla="*/ 0 w 142"/>
                <a:gd name="T25" fmla="*/ 1 h 208"/>
                <a:gd name="T26" fmla="*/ 0 w 142"/>
                <a:gd name="T27" fmla="*/ 1 h 208"/>
                <a:gd name="T28" fmla="*/ 0 w 142"/>
                <a:gd name="T29" fmla="*/ 1 h 208"/>
                <a:gd name="T30" fmla="*/ 0 w 142"/>
                <a:gd name="T31" fmla="*/ 1 h 208"/>
                <a:gd name="T32" fmla="*/ 0 w 142"/>
                <a:gd name="T33" fmla="*/ 1 h 208"/>
                <a:gd name="T34" fmla="*/ 0 w 142"/>
                <a:gd name="T35" fmla="*/ 1 h 208"/>
                <a:gd name="T36" fmla="*/ 0 w 142"/>
                <a:gd name="T37" fmla="*/ 1 h 208"/>
                <a:gd name="T38" fmla="*/ 0 w 142"/>
                <a:gd name="T39" fmla="*/ 1 h 208"/>
                <a:gd name="T40" fmla="*/ 0 w 142"/>
                <a:gd name="T41" fmla="*/ 1 h 208"/>
                <a:gd name="T42" fmla="*/ 0 w 142"/>
                <a:gd name="T43" fmla="*/ 1 h 208"/>
                <a:gd name="T44" fmla="*/ 0 w 142"/>
                <a:gd name="T45" fmla="*/ 1 h 208"/>
                <a:gd name="T46" fmla="*/ 0 w 142"/>
                <a:gd name="T47" fmla="*/ 1 h 208"/>
                <a:gd name="T48" fmla="*/ 0 w 142"/>
                <a:gd name="T49" fmla="*/ 1 h 208"/>
                <a:gd name="T50" fmla="*/ 0 w 142"/>
                <a:gd name="T51" fmla="*/ 1 h 208"/>
                <a:gd name="T52" fmla="*/ 0 w 142"/>
                <a:gd name="T53" fmla="*/ 1 h 208"/>
                <a:gd name="T54" fmla="*/ 0 w 142"/>
                <a:gd name="T55" fmla="*/ 1 h 208"/>
                <a:gd name="T56" fmla="*/ 0 w 142"/>
                <a:gd name="T57" fmla="*/ 1 h 208"/>
                <a:gd name="T58" fmla="*/ 0 w 142"/>
                <a:gd name="T59" fmla="*/ 1 h 208"/>
                <a:gd name="T60" fmla="*/ 0 w 142"/>
                <a:gd name="T61" fmla="*/ 1 h 208"/>
                <a:gd name="T62" fmla="*/ 0 w 142"/>
                <a:gd name="T63" fmla="*/ 1 h 208"/>
                <a:gd name="T64" fmla="*/ 0 w 142"/>
                <a:gd name="T65" fmla="*/ 1 h 208"/>
                <a:gd name="T66" fmla="*/ 0 w 142"/>
                <a:gd name="T67" fmla="*/ 0 h 208"/>
                <a:gd name="T68" fmla="*/ 0 w 142"/>
                <a:gd name="T69" fmla="*/ 1 h 208"/>
                <a:gd name="T70" fmla="*/ 0 w 142"/>
                <a:gd name="T71" fmla="*/ 1 h 208"/>
                <a:gd name="T72" fmla="*/ 0 w 142"/>
                <a:gd name="T73" fmla="*/ 1 h 208"/>
                <a:gd name="T74" fmla="*/ 0 w 142"/>
                <a:gd name="T75" fmla="*/ 1 h 208"/>
                <a:gd name="T76" fmla="*/ 0 w 142"/>
                <a:gd name="T77" fmla="*/ 1 h 208"/>
                <a:gd name="T78" fmla="*/ 0 w 142"/>
                <a:gd name="T79" fmla="*/ 1 h 208"/>
                <a:gd name="T80" fmla="*/ 0 w 142"/>
                <a:gd name="T81" fmla="*/ 1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6" name="Freeform 116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0 w 304"/>
                <a:gd name="T1" fmla="*/ 1 h 272"/>
                <a:gd name="T2" fmla="*/ 0 w 304"/>
                <a:gd name="T3" fmla="*/ 1 h 272"/>
                <a:gd name="T4" fmla="*/ 0 w 304"/>
                <a:gd name="T5" fmla="*/ 1 h 272"/>
                <a:gd name="T6" fmla="*/ 0 w 304"/>
                <a:gd name="T7" fmla="*/ 1 h 272"/>
                <a:gd name="T8" fmla="*/ 0 w 304"/>
                <a:gd name="T9" fmla="*/ 1 h 272"/>
                <a:gd name="T10" fmla="*/ 0 w 304"/>
                <a:gd name="T11" fmla="*/ 1 h 272"/>
                <a:gd name="T12" fmla="*/ 0 w 304"/>
                <a:gd name="T13" fmla="*/ 1 h 272"/>
                <a:gd name="T14" fmla="*/ 0 w 304"/>
                <a:gd name="T15" fmla="*/ 1 h 272"/>
                <a:gd name="T16" fmla="*/ 0 w 304"/>
                <a:gd name="T17" fmla="*/ 1 h 272"/>
                <a:gd name="T18" fmla="*/ 0 w 304"/>
                <a:gd name="T19" fmla="*/ 1 h 272"/>
                <a:gd name="T20" fmla="*/ 0 w 304"/>
                <a:gd name="T21" fmla="*/ 1 h 272"/>
                <a:gd name="T22" fmla="*/ 0 w 304"/>
                <a:gd name="T23" fmla="*/ 1 h 272"/>
                <a:gd name="T24" fmla="*/ 0 w 304"/>
                <a:gd name="T25" fmla="*/ 1 h 272"/>
                <a:gd name="T26" fmla="*/ 0 w 304"/>
                <a:gd name="T27" fmla="*/ 1 h 272"/>
                <a:gd name="T28" fmla="*/ 0 w 304"/>
                <a:gd name="T29" fmla="*/ 1 h 272"/>
                <a:gd name="T30" fmla="*/ 0 w 304"/>
                <a:gd name="T31" fmla="*/ 1 h 272"/>
                <a:gd name="T32" fmla="*/ 0 w 304"/>
                <a:gd name="T33" fmla="*/ 1 h 272"/>
                <a:gd name="T34" fmla="*/ 0 w 304"/>
                <a:gd name="T35" fmla="*/ 1 h 272"/>
                <a:gd name="T36" fmla="*/ 0 w 304"/>
                <a:gd name="T37" fmla="*/ 1 h 272"/>
                <a:gd name="T38" fmla="*/ 0 w 304"/>
                <a:gd name="T39" fmla="*/ 1 h 272"/>
                <a:gd name="T40" fmla="*/ 0 w 304"/>
                <a:gd name="T41" fmla="*/ 1 h 272"/>
                <a:gd name="T42" fmla="*/ 0 w 304"/>
                <a:gd name="T43" fmla="*/ 1 h 272"/>
                <a:gd name="T44" fmla="*/ 0 w 304"/>
                <a:gd name="T45" fmla="*/ 1 h 272"/>
                <a:gd name="T46" fmla="*/ 0 w 304"/>
                <a:gd name="T47" fmla="*/ 1 h 272"/>
                <a:gd name="T48" fmla="*/ 0 w 304"/>
                <a:gd name="T49" fmla="*/ 1 h 272"/>
                <a:gd name="T50" fmla="*/ 0 w 304"/>
                <a:gd name="T51" fmla="*/ 1 h 272"/>
                <a:gd name="T52" fmla="*/ 0 w 304"/>
                <a:gd name="T53" fmla="*/ 1 h 272"/>
                <a:gd name="T54" fmla="*/ 0 w 304"/>
                <a:gd name="T55" fmla="*/ 1 h 272"/>
                <a:gd name="T56" fmla="*/ 0 w 304"/>
                <a:gd name="T57" fmla="*/ 1 h 272"/>
                <a:gd name="T58" fmla="*/ 0 w 304"/>
                <a:gd name="T59" fmla="*/ 1 h 272"/>
                <a:gd name="T60" fmla="*/ 0 w 304"/>
                <a:gd name="T61" fmla="*/ 1 h 272"/>
                <a:gd name="T62" fmla="*/ 0 w 304"/>
                <a:gd name="T63" fmla="*/ 1 h 272"/>
                <a:gd name="T64" fmla="*/ 0 w 304"/>
                <a:gd name="T65" fmla="*/ 1 h 272"/>
                <a:gd name="T66" fmla="*/ 0 w 304"/>
                <a:gd name="T67" fmla="*/ 1 h 272"/>
                <a:gd name="T68" fmla="*/ 0 w 304"/>
                <a:gd name="T69" fmla="*/ 1 h 272"/>
                <a:gd name="T70" fmla="*/ 0 w 304"/>
                <a:gd name="T71" fmla="*/ 1 h 272"/>
                <a:gd name="T72" fmla="*/ 0 w 304"/>
                <a:gd name="T73" fmla="*/ 1 h 272"/>
                <a:gd name="T74" fmla="*/ 0 w 304"/>
                <a:gd name="T75" fmla="*/ 1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7" name="Freeform 117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0 w 103"/>
                <a:gd name="T1" fmla="*/ 1 h 164"/>
                <a:gd name="T2" fmla="*/ 0 w 103"/>
                <a:gd name="T3" fmla="*/ 1 h 164"/>
                <a:gd name="T4" fmla="*/ 0 w 103"/>
                <a:gd name="T5" fmla="*/ 1 h 164"/>
                <a:gd name="T6" fmla="*/ 0 w 103"/>
                <a:gd name="T7" fmla="*/ 1 h 164"/>
                <a:gd name="T8" fmla="*/ 0 w 103"/>
                <a:gd name="T9" fmla="*/ 0 h 164"/>
                <a:gd name="T10" fmla="*/ 0 w 103"/>
                <a:gd name="T11" fmla="*/ 1 h 164"/>
                <a:gd name="T12" fmla="*/ 0 w 103"/>
                <a:gd name="T13" fmla="*/ 1 h 164"/>
                <a:gd name="T14" fmla="*/ 0 w 103"/>
                <a:gd name="T15" fmla="*/ 1 h 164"/>
                <a:gd name="T16" fmla="*/ 0 w 103"/>
                <a:gd name="T17" fmla="*/ 1 h 164"/>
                <a:gd name="T18" fmla="*/ 0 w 103"/>
                <a:gd name="T19" fmla="*/ 1 h 164"/>
                <a:gd name="T20" fmla="*/ 0 w 103"/>
                <a:gd name="T21" fmla="*/ 1 h 164"/>
                <a:gd name="T22" fmla="*/ 0 w 103"/>
                <a:gd name="T23" fmla="*/ 1 h 164"/>
                <a:gd name="T24" fmla="*/ 0 w 103"/>
                <a:gd name="T25" fmla="*/ 1 h 164"/>
                <a:gd name="T26" fmla="*/ 0 w 103"/>
                <a:gd name="T27" fmla="*/ 1 h 164"/>
                <a:gd name="T28" fmla="*/ 0 w 103"/>
                <a:gd name="T29" fmla="*/ 1 h 164"/>
                <a:gd name="T30" fmla="*/ 0 w 103"/>
                <a:gd name="T31" fmla="*/ 1 h 164"/>
                <a:gd name="T32" fmla="*/ 0 w 103"/>
                <a:gd name="T33" fmla="*/ 1 h 164"/>
                <a:gd name="T34" fmla="*/ 0 w 103"/>
                <a:gd name="T35" fmla="*/ 1 h 164"/>
                <a:gd name="T36" fmla="*/ 0 w 103"/>
                <a:gd name="T37" fmla="*/ 1 h 164"/>
                <a:gd name="T38" fmla="*/ 0 w 103"/>
                <a:gd name="T39" fmla="*/ 1 h 164"/>
                <a:gd name="T40" fmla="*/ 0 w 103"/>
                <a:gd name="T41" fmla="*/ 1 h 164"/>
                <a:gd name="T42" fmla="*/ 0 w 103"/>
                <a:gd name="T43" fmla="*/ 1 h 164"/>
                <a:gd name="T44" fmla="*/ 0 w 103"/>
                <a:gd name="T45" fmla="*/ 1 h 164"/>
                <a:gd name="T46" fmla="*/ 0 w 103"/>
                <a:gd name="T47" fmla="*/ 1 h 164"/>
                <a:gd name="T48" fmla="*/ 0 w 103"/>
                <a:gd name="T49" fmla="*/ 1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8" name="Freeform 118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0 w 54"/>
                <a:gd name="T1" fmla="*/ 1 h 82"/>
                <a:gd name="T2" fmla="*/ 0 w 54"/>
                <a:gd name="T3" fmla="*/ 1 h 82"/>
                <a:gd name="T4" fmla="*/ 0 w 54"/>
                <a:gd name="T5" fmla="*/ 1 h 82"/>
                <a:gd name="T6" fmla="*/ 0 w 54"/>
                <a:gd name="T7" fmla="*/ 0 h 82"/>
                <a:gd name="T8" fmla="*/ 0 w 54"/>
                <a:gd name="T9" fmla="*/ 0 h 82"/>
                <a:gd name="T10" fmla="*/ 0 w 54"/>
                <a:gd name="T11" fmla="*/ 1 h 82"/>
                <a:gd name="T12" fmla="*/ 0 w 54"/>
                <a:gd name="T13" fmla="*/ 1 h 82"/>
                <a:gd name="T14" fmla="*/ 0 w 54"/>
                <a:gd name="T15" fmla="*/ 1 h 82"/>
                <a:gd name="T16" fmla="*/ 0 w 54"/>
                <a:gd name="T17" fmla="*/ 1 h 82"/>
                <a:gd name="T18" fmla="*/ 0 w 54"/>
                <a:gd name="T19" fmla="*/ 1 h 82"/>
                <a:gd name="T20" fmla="*/ 0 w 54"/>
                <a:gd name="T21" fmla="*/ 1 h 82"/>
                <a:gd name="T22" fmla="*/ 0 w 54"/>
                <a:gd name="T23" fmla="*/ 1 h 82"/>
                <a:gd name="T24" fmla="*/ 0 w 54"/>
                <a:gd name="T25" fmla="*/ 1 h 82"/>
                <a:gd name="T26" fmla="*/ 0 w 54"/>
                <a:gd name="T27" fmla="*/ 1 h 82"/>
                <a:gd name="T28" fmla="*/ 0 w 54"/>
                <a:gd name="T29" fmla="*/ 1 h 82"/>
                <a:gd name="T30" fmla="*/ 0 w 54"/>
                <a:gd name="T31" fmla="*/ 1 h 82"/>
                <a:gd name="T32" fmla="*/ 0 w 54"/>
                <a:gd name="T33" fmla="*/ 1 h 82"/>
                <a:gd name="T34" fmla="*/ 0 w 54"/>
                <a:gd name="T35" fmla="*/ 1 h 82"/>
                <a:gd name="T36" fmla="*/ 0 w 54"/>
                <a:gd name="T37" fmla="*/ 1 h 82"/>
                <a:gd name="T38" fmla="*/ 0 w 54"/>
                <a:gd name="T39" fmla="*/ 1 h 82"/>
                <a:gd name="T40" fmla="*/ 0 w 54"/>
                <a:gd name="T41" fmla="*/ 1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59" name="Freeform 119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0 w 46"/>
                <a:gd name="T1" fmla="*/ 1 h 47"/>
                <a:gd name="T2" fmla="*/ 0 w 46"/>
                <a:gd name="T3" fmla="*/ 1 h 47"/>
                <a:gd name="T4" fmla="*/ 0 w 46"/>
                <a:gd name="T5" fmla="*/ 1 h 47"/>
                <a:gd name="T6" fmla="*/ 0 w 46"/>
                <a:gd name="T7" fmla="*/ 1 h 47"/>
                <a:gd name="T8" fmla="*/ 0 w 46"/>
                <a:gd name="T9" fmla="*/ 1 h 47"/>
                <a:gd name="T10" fmla="*/ 0 w 46"/>
                <a:gd name="T11" fmla="*/ 1 h 47"/>
                <a:gd name="T12" fmla="*/ 0 w 46"/>
                <a:gd name="T13" fmla="*/ 1 h 47"/>
                <a:gd name="T14" fmla="*/ 0 w 46"/>
                <a:gd name="T15" fmla="*/ 0 h 47"/>
                <a:gd name="T16" fmla="*/ 0 w 46"/>
                <a:gd name="T17" fmla="*/ 0 h 47"/>
                <a:gd name="T18" fmla="*/ 0 w 46"/>
                <a:gd name="T19" fmla="*/ 1 h 47"/>
                <a:gd name="T20" fmla="*/ 0 w 46"/>
                <a:gd name="T21" fmla="*/ 1 h 47"/>
                <a:gd name="T22" fmla="*/ 0 w 46"/>
                <a:gd name="T23" fmla="*/ 1 h 47"/>
                <a:gd name="T24" fmla="*/ 0 w 46"/>
                <a:gd name="T25" fmla="*/ 1 h 47"/>
                <a:gd name="T26" fmla="*/ 0 w 46"/>
                <a:gd name="T27" fmla="*/ 1 h 47"/>
                <a:gd name="T28" fmla="*/ 0 w 46"/>
                <a:gd name="T29" fmla="*/ 1 h 47"/>
                <a:gd name="T30" fmla="*/ 0 w 46"/>
                <a:gd name="T31" fmla="*/ 1 h 47"/>
                <a:gd name="T32" fmla="*/ 0 w 46"/>
                <a:gd name="T33" fmla="*/ 1 h 47"/>
                <a:gd name="T34" fmla="*/ 0 w 46"/>
                <a:gd name="T35" fmla="*/ 1 h 47"/>
                <a:gd name="T36" fmla="*/ 0 w 46"/>
                <a:gd name="T37" fmla="*/ 1 h 47"/>
                <a:gd name="T38" fmla="*/ 0 w 46"/>
                <a:gd name="T39" fmla="*/ 1 h 47"/>
                <a:gd name="T40" fmla="*/ 0 w 46"/>
                <a:gd name="T41" fmla="*/ 1 h 47"/>
                <a:gd name="T42" fmla="*/ 0 w 46"/>
                <a:gd name="T43" fmla="*/ 1 h 47"/>
                <a:gd name="T44" fmla="*/ 0 w 46"/>
                <a:gd name="T45" fmla="*/ 1 h 47"/>
                <a:gd name="T46" fmla="*/ 0 w 46"/>
                <a:gd name="T47" fmla="*/ 1 h 47"/>
                <a:gd name="T48" fmla="*/ 0 w 46"/>
                <a:gd name="T49" fmla="*/ 1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0" name="Freeform 120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0 w 63"/>
                <a:gd name="T1" fmla="*/ 1 h 31"/>
                <a:gd name="T2" fmla="*/ 0 w 63"/>
                <a:gd name="T3" fmla="*/ 1 h 31"/>
                <a:gd name="T4" fmla="*/ 0 w 63"/>
                <a:gd name="T5" fmla="*/ 1 h 31"/>
                <a:gd name="T6" fmla="*/ 0 w 63"/>
                <a:gd name="T7" fmla="*/ 1 h 31"/>
                <a:gd name="T8" fmla="*/ 0 w 63"/>
                <a:gd name="T9" fmla="*/ 1 h 31"/>
                <a:gd name="T10" fmla="*/ 0 w 63"/>
                <a:gd name="T11" fmla="*/ 1 h 31"/>
                <a:gd name="T12" fmla="*/ 0 w 63"/>
                <a:gd name="T13" fmla="*/ 1 h 31"/>
                <a:gd name="T14" fmla="*/ 0 w 63"/>
                <a:gd name="T15" fmla="*/ 0 h 31"/>
                <a:gd name="T16" fmla="*/ 0 w 63"/>
                <a:gd name="T17" fmla="*/ 0 h 31"/>
                <a:gd name="T18" fmla="*/ 0 w 63"/>
                <a:gd name="T19" fmla="*/ 0 h 31"/>
                <a:gd name="T20" fmla="*/ 0 w 63"/>
                <a:gd name="T21" fmla="*/ 1 h 31"/>
                <a:gd name="T22" fmla="*/ 0 w 63"/>
                <a:gd name="T23" fmla="*/ 1 h 31"/>
                <a:gd name="T24" fmla="*/ 0 w 63"/>
                <a:gd name="T25" fmla="*/ 1 h 31"/>
                <a:gd name="T26" fmla="*/ 0 w 63"/>
                <a:gd name="T27" fmla="*/ 1 h 31"/>
                <a:gd name="T28" fmla="*/ 0 w 63"/>
                <a:gd name="T29" fmla="*/ 1 h 31"/>
                <a:gd name="T30" fmla="*/ 0 w 63"/>
                <a:gd name="T31" fmla="*/ 1 h 31"/>
                <a:gd name="T32" fmla="*/ 0 w 63"/>
                <a:gd name="T33" fmla="*/ 1 h 31"/>
                <a:gd name="T34" fmla="*/ 0 w 63"/>
                <a:gd name="T35" fmla="*/ 1 h 31"/>
                <a:gd name="T36" fmla="*/ 0 w 63"/>
                <a:gd name="T37" fmla="*/ 1 h 31"/>
                <a:gd name="T38" fmla="*/ 0 w 63"/>
                <a:gd name="T39" fmla="*/ 1 h 31"/>
                <a:gd name="T40" fmla="*/ 0 w 63"/>
                <a:gd name="T41" fmla="*/ 1 h 31"/>
                <a:gd name="T42" fmla="*/ 0 w 63"/>
                <a:gd name="T43" fmla="*/ 1 h 31"/>
                <a:gd name="T44" fmla="*/ 0 w 63"/>
                <a:gd name="T45" fmla="*/ 1 h 31"/>
                <a:gd name="T46" fmla="*/ 0 w 63"/>
                <a:gd name="T47" fmla="*/ 1 h 31"/>
                <a:gd name="T48" fmla="*/ 0 w 63"/>
                <a:gd name="T49" fmla="*/ 1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1" name="Freeform 121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0 w 245"/>
                <a:gd name="T1" fmla="*/ 1 h 206"/>
                <a:gd name="T2" fmla="*/ 0 w 245"/>
                <a:gd name="T3" fmla="*/ 1 h 206"/>
                <a:gd name="T4" fmla="*/ 0 w 245"/>
                <a:gd name="T5" fmla="*/ 1 h 206"/>
                <a:gd name="T6" fmla="*/ 0 w 245"/>
                <a:gd name="T7" fmla="*/ 1 h 206"/>
                <a:gd name="T8" fmla="*/ 0 w 245"/>
                <a:gd name="T9" fmla="*/ 1 h 206"/>
                <a:gd name="T10" fmla="*/ 0 w 245"/>
                <a:gd name="T11" fmla="*/ 1 h 206"/>
                <a:gd name="T12" fmla="*/ 0 w 245"/>
                <a:gd name="T13" fmla="*/ 1 h 206"/>
                <a:gd name="T14" fmla="*/ 0 w 245"/>
                <a:gd name="T15" fmla="*/ 1 h 206"/>
                <a:gd name="T16" fmla="*/ 0 w 245"/>
                <a:gd name="T17" fmla="*/ 1 h 206"/>
                <a:gd name="T18" fmla="*/ 0 w 245"/>
                <a:gd name="T19" fmla="*/ 1 h 206"/>
                <a:gd name="T20" fmla="*/ 0 w 245"/>
                <a:gd name="T21" fmla="*/ 1 h 206"/>
                <a:gd name="T22" fmla="*/ 0 w 245"/>
                <a:gd name="T23" fmla="*/ 1 h 206"/>
                <a:gd name="T24" fmla="*/ 0 w 245"/>
                <a:gd name="T25" fmla="*/ 1 h 206"/>
                <a:gd name="T26" fmla="*/ 0 w 245"/>
                <a:gd name="T27" fmla="*/ 1 h 206"/>
                <a:gd name="T28" fmla="*/ 0 w 245"/>
                <a:gd name="T29" fmla="*/ 1 h 206"/>
                <a:gd name="T30" fmla="*/ 0 w 245"/>
                <a:gd name="T31" fmla="*/ 1 h 206"/>
                <a:gd name="T32" fmla="*/ 0 w 245"/>
                <a:gd name="T33" fmla="*/ 1 h 206"/>
                <a:gd name="T34" fmla="*/ 0 w 245"/>
                <a:gd name="T35" fmla="*/ 1 h 206"/>
                <a:gd name="T36" fmla="*/ 0 w 245"/>
                <a:gd name="T37" fmla="*/ 1 h 206"/>
                <a:gd name="T38" fmla="*/ 0 w 245"/>
                <a:gd name="T39" fmla="*/ 1 h 206"/>
                <a:gd name="T40" fmla="*/ 0 w 245"/>
                <a:gd name="T41" fmla="*/ 1 h 206"/>
                <a:gd name="T42" fmla="*/ 0 w 245"/>
                <a:gd name="T43" fmla="*/ 1 h 206"/>
                <a:gd name="T44" fmla="*/ 0 w 245"/>
                <a:gd name="T45" fmla="*/ 1 h 206"/>
                <a:gd name="T46" fmla="*/ 0 w 245"/>
                <a:gd name="T47" fmla="*/ 1 h 206"/>
                <a:gd name="T48" fmla="*/ 0 w 245"/>
                <a:gd name="T49" fmla="*/ 1 h 206"/>
                <a:gd name="T50" fmla="*/ 0 w 245"/>
                <a:gd name="T51" fmla="*/ 1 h 206"/>
                <a:gd name="T52" fmla="*/ 0 w 245"/>
                <a:gd name="T53" fmla="*/ 1 h 206"/>
                <a:gd name="T54" fmla="*/ 0 w 245"/>
                <a:gd name="T55" fmla="*/ 1 h 206"/>
                <a:gd name="T56" fmla="*/ 0 w 245"/>
                <a:gd name="T57" fmla="*/ 1 h 206"/>
                <a:gd name="T58" fmla="*/ 0 w 245"/>
                <a:gd name="T59" fmla="*/ 1 h 206"/>
                <a:gd name="T60" fmla="*/ 0 w 245"/>
                <a:gd name="T61" fmla="*/ 1 h 206"/>
                <a:gd name="T62" fmla="*/ 0 w 245"/>
                <a:gd name="T63" fmla="*/ 1 h 206"/>
                <a:gd name="T64" fmla="*/ 0 w 245"/>
                <a:gd name="T65" fmla="*/ 1 h 206"/>
                <a:gd name="T66" fmla="*/ 0 w 245"/>
                <a:gd name="T67" fmla="*/ 1 h 206"/>
                <a:gd name="T68" fmla="*/ 0 w 245"/>
                <a:gd name="T69" fmla="*/ 1 h 206"/>
                <a:gd name="T70" fmla="*/ 0 w 245"/>
                <a:gd name="T71" fmla="*/ 1 h 206"/>
                <a:gd name="T72" fmla="*/ 0 w 245"/>
                <a:gd name="T73" fmla="*/ 1 h 206"/>
                <a:gd name="T74" fmla="*/ 0 w 245"/>
                <a:gd name="T75" fmla="*/ 1 h 206"/>
                <a:gd name="T76" fmla="*/ 0 w 245"/>
                <a:gd name="T77" fmla="*/ 1 h 206"/>
                <a:gd name="T78" fmla="*/ 0 w 245"/>
                <a:gd name="T79" fmla="*/ 1 h 206"/>
                <a:gd name="T80" fmla="*/ 0 w 245"/>
                <a:gd name="T81" fmla="*/ 1 h 206"/>
                <a:gd name="T82" fmla="*/ 0 w 245"/>
                <a:gd name="T83" fmla="*/ 1 h 206"/>
                <a:gd name="T84" fmla="*/ 0 w 245"/>
                <a:gd name="T85" fmla="*/ 1 h 206"/>
                <a:gd name="T86" fmla="*/ 0 w 245"/>
                <a:gd name="T87" fmla="*/ 1 h 206"/>
                <a:gd name="T88" fmla="*/ 0 w 245"/>
                <a:gd name="T89" fmla="*/ 1 h 206"/>
                <a:gd name="T90" fmla="*/ 0 w 245"/>
                <a:gd name="T91" fmla="*/ 1 h 206"/>
                <a:gd name="T92" fmla="*/ 0 w 245"/>
                <a:gd name="T93" fmla="*/ 1 h 206"/>
                <a:gd name="T94" fmla="*/ 0 w 245"/>
                <a:gd name="T95" fmla="*/ 1 h 206"/>
                <a:gd name="T96" fmla="*/ 0 w 245"/>
                <a:gd name="T97" fmla="*/ 1 h 206"/>
                <a:gd name="T98" fmla="*/ 0 w 245"/>
                <a:gd name="T99" fmla="*/ 1 h 206"/>
                <a:gd name="T100" fmla="*/ 0 w 245"/>
                <a:gd name="T101" fmla="*/ 1 h 206"/>
                <a:gd name="T102" fmla="*/ 0 w 245"/>
                <a:gd name="T103" fmla="*/ 1 h 206"/>
                <a:gd name="T104" fmla="*/ 0 w 245"/>
                <a:gd name="T105" fmla="*/ 1 h 206"/>
                <a:gd name="T106" fmla="*/ 0 w 245"/>
                <a:gd name="T107" fmla="*/ 1 h 206"/>
                <a:gd name="T108" fmla="*/ 0 w 245"/>
                <a:gd name="T109" fmla="*/ 0 h 206"/>
                <a:gd name="T110" fmla="*/ 0 w 245"/>
                <a:gd name="T111" fmla="*/ 1 h 206"/>
                <a:gd name="T112" fmla="*/ 0 w 245"/>
                <a:gd name="T113" fmla="*/ 1 h 206"/>
                <a:gd name="T114" fmla="*/ 0 w 245"/>
                <a:gd name="T115" fmla="*/ 1 h 206"/>
                <a:gd name="T116" fmla="*/ 0 w 245"/>
                <a:gd name="T117" fmla="*/ 1 h 206"/>
                <a:gd name="T118" fmla="*/ 0 w 245"/>
                <a:gd name="T119" fmla="*/ 1 h 206"/>
                <a:gd name="T120" fmla="*/ 0 w 245"/>
                <a:gd name="T121" fmla="*/ 1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2" name="Freeform 122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0 w 159"/>
                <a:gd name="T1" fmla="*/ 1 h 160"/>
                <a:gd name="T2" fmla="*/ 0 w 159"/>
                <a:gd name="T3" fmla="*/ 1 h 160"/>
                <a:gd name="T4" fmla="*/ 0 w 159"/>
                <a:gd name="T5" fmla="*/ 1 h 160"/>
                <a:gd name="T6" fmla="*/ 0 w 159"/>
                <a:gd name="T7" fmla="*/ 1 h 160"/>
                <a:gd name="T8" fmla="*/ 0 w 159"/>
                <a:gd name="T9" fmla="*/ 1 h 160"/>
                <a:gd name="T10" fmla="*/ 0 w 159"/>
                <a:gd name="T11" fmla="*/ 1 h 160"/>
                <a:gd name="T12" fmla="*/ 0 w 159"/>
                <a:gd name="T13" fmla="*/ 1 h 160"/>
                <a:gd name="T14" fmla="*/ 0 w 159"/>
                <a:gd name="T15" fmla="*/ 1 h 160"/>
                <a:gd name="T16" fmla="*/ 0 w 159"/>
                <a:gd name="T17" fmla="*/ 1 h 160"/>
                <a:gd name="T18" fmla="*/ 0 w 159"/>
                <a:gd name="T19" fmla="*/ 1 h 160"/>
                <a:gd name="T20" fmla="*/ 0 w 159"/>
                <a:gd name="T21" fmla="*/ 1 h 160"/>
                <a:gd name="T22" fmla="*/ 0 w 159"/>
                <a:gd name="T23" fmla="*/ 1 h 160"/>
                <a:gd name="T24" fmla="*/ 0 w 159"/>
                <a:gd name="T25" fmla="*/ 1 h 160"/>
                <a:gd name="T26" fmla="*/ 0 w 159"/>
                <a:gd name="T27" fmla="*/ 1 h 160"/>
                <a:gd name="T28" fmla="*/ 0 w 159"/>
                <a:gd name="T29" fmla="*/ 1 h 160"/>
                <a:gd name="T30" fmla="*/ 0 w 159"/>
                <a:gd name="T31" fmla="*/ 1 h 160"/>
                <a:gd name="T32" fmla="*/ 0 w 159"/>
                <a:gd name="T33" fmla="*/ 1 h 160"/>
                <a:gd name="T34" fmla="*/ 0 w 159"/>
                <a:gd name="T35" fmla="*/ 1 h 160"/>
                <a:gd name="T36" fmla="*/ 0 w 159"/>
                <a:gd name="T37" fmla="*/ 1 h 160"/>
                <a:gd name="T38" fmla="*/ 0 w 159"/>
                <a:gd name="T39" fmla="*/ 1 h 160"/>
                <a:gd name="T40" fmla="*/ 0 w 159"/>
                <a:gd name="T41" fmla="*/ 1 h 160"/>
                <a:gd name="T42" fmla="*/ 0 w 159"/>
                <a:gd name="T43" fmla="*/ 1 h 160"/>
                <a:gd name="T44" fmla="*/ 0 w 159"/>
                <a:gd name="T45" fmla="*/ 1 h 160"/>
                <a:gd name="T46" fmla="*/ 0 w 159"/>
                <a:gd name="T47" fmla="*/ 1 h 160"/>
                <a:gd name="T48" fmla="*/ 0 w 159"/>
                <a:gd name="T49" fmla="*/ 1 h 160"/>
                <a:gd name="T50" fmla="*/ 0 w 159"/>
                <a:gd name="T51" fmla="*/ 1 h 160"/>
                <a:gd name="T52" fmla="*/ 0 w 159"/>
                <a:gd name="T53" fmla="*/ 1 h 160"/>
                <a:gd name="T54" fmla="*/ 0 w 159"/>
                <a:gd name="T55" fmla="*/ 1 h 160"/>
                <a:gd name="T56" fmla="*/ 0 w 159"/>
                <a:gd name="T57" fmla="*/ 1 h 160"/>
                <a:gd name="T58" fmla="*/ 0 w 159"/>
                <a:gd name="T59" fmla="*/ 1 h 160"/>
                <a:gd name="T60" fmla="*/ 0 w 159"/>
                <a:gd name="T61" fmla="*/ 0 h 160"/>
                <a:gd name="T62" fmla="*/ 0 w 159"/>
                <a:gd name="T63" fmla="*/ 1 h 160"/>
                <a:gd name="T64" fmla="*/ 0 w 159"/>
                <a:gd name="T65" fmla="*/ 1 h 160"/>
                <a:gd name="T66" fmla="*/ 0 w 159"/>
                <a:gd name="T67" fmla="*/ 1 h 160"/>
                <a:gd name="T68" fmla="*/ 0 w 159"/>
                <a:gd name="T69" fmla="*/ 1 h 160"/>
                <a:gd name="T70" fmla="*/ 0 w 159"/>
                <a:gd name="T71" fmla="*/ 1 h 160"/>
                <a:gd name="T72" fmla="*/ 0 w 159"/>
                <a:gd name="T73" fmla="*/ 1 h 160"/>
                <a:gd name="T74" fmla="*/ 0 w 159"/>
                <a:gd name="T75" fmla="*/ 1 h 160"/>
                <a:gd name="T76" fmla="*/ 0 w 159"/>
                <a:gd name="T77" fmla="*/ 1 h 160"/>
                <a:gd name="T78" fmla="*/ 0 w 159"/>
                <a:gd name="T79" fmla="*/ 1 h 160"/>
                <a:gd name="T80" fmla="*/ 0 w 159"/>
                <a:gd name="T81" fmla="*/ 1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3" name="Freeform 123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0 w 399"/>
                <a:gd name="T1" fmla="*/ 1 h 332"/>
                <a:gd name="T2" fmla="*/ 0 w 399"/>
                <a:gd name="T3" fmla="*/ 1 h 332"/>
                <a:gd name="T4" fmla="*/ 0 w 399"/>
                <a:gd name="T5" fmla="*/ 1 h 332"/>
                <a:gd name="T6" fmla="*/ 0 w 399"/>
                <a:gd name="T7" fmla="*/ 1 h 332"/>
                <a:gd name="T8" fmla="*/ 0 w 399"/>
                <a:gd name="T9" fmla="*/ 1 h 332"/>
                <a:gd name="T10" fmla="*/ 0 w 399"/>
                <a:gd name="T11" fmla="*/ 1 h 332"/>
                <a:gd name="T12" fmla="*/ 0 w 399"/>
                <a:gd name="T13" fmla="*/ 1 h 332"/>
                <a:gd name="T14" fmla="*/ 0 w 399"/>
                <a:gd name="T15" fmla="*/ 1 h 332"/>
                <a:gd name="T16" fmla="*/ 0 w 399"/>
                <a:gd name="T17" fmla="*/ 1 h 332"/>
                <a:gd name="T18" fmla="*/ 0 w 399"/>
                <a:gd name="T19" fmla="*/ 1 h 332"/>
                <a:gd name="T20" fmla="*/ 0 w 399"/>
                <a:gd name="T21" fmla="*/ 1 h 332"/>
                <a:gd name="T22" fmla="*/ 0 w 399"/>
                <a:gd name="T23" fmla="*/ 1 h 332"/>
                <a:gd name="T24" fmla="*/ 0 w 399"/>
                <a:gd name="T25" fmla="*/ 1 h 332"/>
                <a:gd name="T26" fmla="*/ 0 w 399"/>
                <a:gd name="T27" fmla="*/ 1 h 332"/>
                <a:gd name="T28" fmla="*/ 0 w 399"/>
                <a:gd name="T29" fmla="*/ 1 h 332"/>
                <a:gd name="T30" fmla="*/ 0 w 399"/>
                <a:gd name="T31" fmla="*/ 1 h 332"/>
                <a:gd name="T32" fmla="*/ 0 w 399"/>
                <a:gd name="T33" fmla="*/ 1 h 332"/>
                <a:gd name="T34" fmla="*/ 0 w 399"/>
                <a:gd name="T35" fmla="*/ 1 h 332"/>
                <a:gd name="T36" fmla="*/ 0 w 399"/>
                <a:gd name="T37" fmla="*/ 1 h 332"/>
                <a:gd name="T38" fmla="*/ 0 w 399"/>
                <a:gd name="T39" fmla="*/ 1 h 332"/>
                <a:gd name="T40" fmla="*/ 0 w 399"/>
                <a:gd name="T41" fmla="*/ 1 h 332"/>
                <a:gd name="T42" fmla="*/ 0 w 399"/>
                <a:gd name="T43" fmla="*/ 1 h 332"/>
                <a:gd name="T44" fmla="*/ 0 w 399"/>
                <a:gd name="T45" fmla="*/ 1 h 332"/>
                <a:gd name="T46" fmla="*/ 0 w 399"/>
                <a:gd name="T47" fmla="*/ 1 h 332"/>
                <a:gd name="T48" fmla="*/ 0 w 399"/>
                <a:gd name="T49" fmla="*/ 1 h 332"/>
                <a:gd name="T50" fmla="*/ 0 w 399"/>
                <a:gd name="T51" fmla="*/ 1 h 332"/>
                <a:gd name="T52" fmla="*/ 0 w 399"/>
                <a:gd name="T53" fmla="*/ 1 h 332"/>
                <a:gd name="T54" fmla="*/ 0 w 399"/>
                <a:gd name="T55" fmla="*/ 1 h 332"/>
                <a:gd name="T56" fmla="*/ 0 w 399"/>
                <a:gd name="T57" fmla="*/ 1 h 332"/>
                <a:gd name="T58" fmla="*/ 0 w 399"/>
                <a:gd name="T59" fmla="*/ 1 h 332"/>
                <a:gd name="T60" fmla="*/ 0 w 399"/>
                <a:gd name="T61" fmla="*/ 1 h 332"/>
                <a:gd name="T62" fmla="*/ 0 w 399"/>
                <a:gd name="T63" fmla="*/ 1 h 332"/>
                <a:gd name="T64" fmla="*/ 0 w 399"/>
                <a:gd name="T65" fmla="*/ 1 h 332"/>
                <a:gd name="T66" fmla="*/ 0 w 399"/>
                <a:gd name="T67" fmla="*/ 1 h 332"/>
                <a:gd name="T68" fmla="*/ 0 w 399"/>
                <a:gd name="T69" fmla="*/ 1 h 332"/>
                <a:gd name="T70" fmla="*/ 0 w 399"/>
                <a:gd name="T71" fmla="*/ 1 h 332"/>
                <a:gd name="T72" fmla="*/ 0 w 399"/>
                <a:gd name="T73" fmla="*/ 1 h 332"/>
                <a:gd name="T74" fmla="*/ 0 w 399"/>
                <a:gd name="T75" fmla="*/ 1 h 332"/>
                <a:gd name="T76" fmla="*/ 0 w 399"/>
                <a:gd name="T77" fmla="*/ 1 h 332"/>
                <a:gd name="T78" fmla="*/ 0 w 399"/>
                <a:gd name="T79" fmla="*/ 1 h 332"/>
                <a:gd name="T80" fmla="*/ 0 w 399"/>
                <a:gd name="T81" fmla="*/ 0 h 332"/>
                <a:gd name="T82" fmla="*/ 0 w 399"/>
                <a:gd name="T83" fmla="*/ 1 h 332"/>
                <a:gd name="T84" fmla="*/ 0 w 399"/>
                <a:gd name="T85" fmla="*/ 1 h 332"/>
                <a:gd name="T86" fmla="*/ 0 w 399"/>
                <a:gd name="T87" fmla="*/ 1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4" name="Freeform 124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0 w 348"/>
                <a:gd name="T1" fmla="*/ 0 h 222"/>
                <a:gd name="T2" fmla="*/ 0 w 348"/>
                <a:gd name="T3" fmla="*/ 0 h 222"/>
                <a:gd name="T4" fmla="*/ 0 w 348"/>
                <a:gd name="T5" fmla="*/ 0 h 222"/>
                <a:gd name="T6" fmla="*/ 0 w 348"/>
                <a:gd name="T7" fmla="*/ 0 h 222"/>
                <a:gd name="T8" fmla="*/ 0 w 348"/>
                <a:gd name="T9" fmla="*/ 0 h 222"/>
                <a:gd name="T10" fmla="*/ 0 w 348"/>
                <a:gd name="T11" fmla="*/ 0 h 222"/>
                <a:gd name="T12" fmla="*/ 0 w 348"/>
                <a:gd name="T13" fmla="*/ 0 h 222"/>
                <a:gd name="T14" fmla="*/ 0 w 348"/>
                <a:gd name="T15" fmla="*/ 0 h 222"/>
                <a:gd name="T16" fmla="*/ 0 w 348"/>
                <a:gd name="T17" fmla="*/ 0 h 222"/>
                <a:gd name="T18" fmla="*/ 0 w 348"/>
                <a:gd name="T19" fmla="*/ 0 h 222"/>
                <a:gd name="T20" fmla="*/ 0 w 348"/>
                <a:gd name="T21" fmla="*/ 0 h 222"/>
                <a:gd name="T22" fmla="*/ 0 w 348"/>
                <a:gd name="T23" fmla="*/ 0 h 222"/>
                <a:gd name="T24" fmla="*/ 0 w 348"/>
                <a:gd name="T25" fmla="*/ 0 h 222"/>
                <a:gd name="T26" fmla="*/ 0 w 348"/>
                <a:gd name="T27" fmla="*/ 0 h 222"/>
                <a:gd name="T28" fmla="*/ 0 w 348"/>
                <a:gd name="T29" fmla="*/ 0 h 222"/>
                <a:gd name="T30" fmla="*/ 0 w 348"/>
                <a:gd name="T31" fmla="*/ 0 h 222"/>
                <a:gd name="T32" fmla="*/ 0 w 348"/>
                <a:gd name="T33" fmla="*/ 0 h 222"/>
                <a:gd name="T34" fmla="*/ 0 w 348"/>
                <a:gd name="T35" fmla="*/ 0 h 222"/>
                <a:gd name="T36" fmla="*/ 0 w 348"/>
                <a:gd name="T37" fmla="*/ 0 h 222"/>
                <a:gd name="T38" fmla="*/ 0 w 348"/>
                <a:gd name="T39" fmla="*/ 0 h 222"/>
                <a:gd name="T40" fmla="*/ 0 w 348"/>
                <a:gd name="T41" fmla="*/ 0 h 222"/>
                <a:gd name="T42" fmla="*/ 0 w 348"/>
                <a:gd name="T43" fmla="*/ 0 h 222"/>
                <a:gd name="T44" fmla="*/ 0 w 348"/>
                <a:gd name="T45" fmla="*/ 0 h 222"/>
                <a:gd name="T46" fmla="*/ 0 w 348"/>
                <a:gd name="T47" fmla="*/ 0 h 222"/>
                <a:gd name="T48" fmla="*/ 0 w 348"/>
                <a:gd name="T49" fmla="*/ 0 h 222"/>
                <a:gd name="T50" fmla="*/ 0 w 348"/>
                <a:gd name="T51" fmla="*/ 0 h 222"/>
                <a:gd name="T52" fmla="*/ 0 w 348"/>
                <a:gd name="T53" fmla="*/ 0 h 222"/>
                <a:gd name="T54" fmla="*/ 0 w 348"/>
                <a:gd name="T55" fmla="*/ 0 h 222"/>
                <a:gd name="T56" fmla="*/ 0 w 348"/>
                <a:gd name="T57" fmla="*/ 0 h 222"/>
                <a:gd name="T58" fmla="*/ 0 w 348"/>
                <a:gd name="T59" fmla="*/ 0 h 222"/>
                <a:gd name="T60" fmla="*/ 0 w 348"/>
                <a:gd name="T61" fmla="*/ 0 h 222"/>
                <a:gd name="T62" fmla="*/ 0 w 348"/>
                <a:gd name="T63" fmla="*/ 0 h 222"/>
                <a:gd name="T64" fmla="*/ 0 w 348"/>
                <a:gd name="T65" fmla="*/ 0 h 222"/>
                <a:gd name="T66" fmla="*/ 0 w 348"/>
                <a:gd name="T67" fmla="*/ 0 h 222"/>
                <a:gd name="T68" fmla="*/ 0 w 348"/>
                <a:gd name="T69" fmla="*/ 0 h 222"/>
                <a:gd name="T70" fmla="*/ 0 w 348"/>
                <a:gd name="T71" fmla="*/ 0 h 222"/>
                <a:gd name="T72" fmla="*/ 0 w 348"/>
                <a:gd name="T73" fmla="*/ 0 h 222"/>
                <a:gd name="T74" fmla="*/ 0 w 348"/>
                <a:gd name="T75" fmla="*/ 0 h 222"/>
                <a:gd name="T76" fmla="*/ 0 w 348"/>
                <a:gd name="T77" fmla="*/ 0 h 222"/>
                <a:gd name="T78" fmla="*/ 0 w 348"/>
                <a:gd name="T79" fmla="*/ 0 h 222"/>
                <a:gd name="T80" fmla="*/ 0 w 348"/>
                <a:gd name="T81" fmla="*/ 0 h 222"/>
                <a:gd name="T82" fmla="*/ 0 w 348"/>
                <a:gd name="T83" fmla="*/ 0 h 222"/>
                <a:gd name="T84" fmla="*/ 0 w 348"/>
                <a:gd name="T85" fmla="*/ 0 h 222"/>
                <a:gd name="T86" fmla="*/ 0 w 348"/>
                <a:gd name="T87" fmla="*/ 0 h 222"/>
                <a:gd name="T88" fmla="*/ 0 w 348"/>
                <a:gd name="T89" fmla="*/ 0 h 222"/>
                <a:gd name="T90" fmla="*/ 0 w 348"/>
                <a:gd name="T91" fmla="*/ 0 h 222"/>
                <a:gd name="T92" fmla="*/ 0 w 348"/>
                <a:gd name="T93" fmla="*/ 0 h 222"/>
                <a:gd name="T94" fmla="*/ 0 w 348"/>
                <a:gd name="T95" fmla="*/ 0 h 222"/>
                <a:gd name="T96" fmla="*/ 0 w 348"/>
                <a:gd name="T97" fmla="*/ 0 h 222"/>
                <a:gd name="T98" fmla="*/ 0 w 348"/>
                <a:gd name="T99" fmla="*/ 0 h 222"/>
                <a:gd name="T100" fmla="*/ 0 w 348"/>
                <a:gd name="T101" fmla="*/ 0 h 222"/>
                <a:gd name="T102" fmla="*/ 0 w 348"/>
                <a:gd name="T103" fmla="*/ 0 h 222"/>
                <a:gd name="T104" fmla="*/ 0 w 348"/>
                <a:gd name="T105" fmla="*/ 0 h 222"/>
                <a:gd name="T106" fmla="*/ 0 w 348"/>
                <a:gd name="T107" fmla="*/ 0 h 222"/>
                <a:gd name="T108" fmla="*/ 0 w 348"/>
                <a:gd name="T109" fmla="*/ 0 h 222"/>
                <a:gd name="T110" fmla="*/ 0 w 348"/>
                <a:gd name="T111" fmla="*/ 0 h 222"/>
                <a:gd name="T112" fmla="*/ 0 w 348"/>
                <a:gd name="T113" fmla="*/ 0 h 222"/>
                <a:gd name="T114" fmla="*/ 0 w 348"/>
                <a:gd name="T115" fmla="*/ 0 h 222"/>
                <a:gd name="T116" fmla="*/ 0 w 348"/>
                <a:gd name="T117" fmla="*/ 0 h 222"/>
                <a:gd name="T118" fmla="*/ 0 w 348"/>
                <a:gd name="T119" fmla="*/ 0 h 222"/>
                <a:gd name="T120" fmla="*/ 0 w 348"/>
                <a:gd name="T121" fmla="*/ 0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5" name="Freeform 125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0 h 207"/>
                <a:gd name="T2" fmla="*/ 0 w 142"/>
                <a:gd name="T3" fmla="*/ 0 h 207"/>
                <a:gd name="T4" fmla="*/ 0 w 142"/>
                <a:gd name="T5" fmla="*/ 0 h 207"/>
                <a:gd name="T6" fmla="*/ 0 w 142"/>
                <a:gd name="T7" fmla="*/ 0 h 207"/>
                <a:gd name="T8" fmla="*/ 0 w 142"/>
                <a:gd name="T9" fmla="*/ 0 h 207"/>
                <a:gd name="T10" fmla="*/ 0 w 142"/>
                <a:gd name="T11" fmla="*/ 0 h 207"/>
                <a:gd name="T12" fmla="*/ 0 w 142"/>
                <a:gd name="T13" fmla="*/ 0 h 207"/>
                <a:gd name="T14" fmla="*/ 0 w 142"/>
                <a:gd name="T15" fmla="*/ 0 h 207"/>
                <a:gd name="T16" fmla="*/ 0 w 142"/>
                <a:gd name="T17" fmla="*/ 0 h 207"/>
                <a:gd name="T18" fmla="*/ 0 w 142"/>
                <a:gd name="T19" fmla="*/ 0 h 207"/>
                <a:gd name="T20" fmla="*/ 0 w 142"/>
                <a:gd name="T21" fmla="*/ 0 h 207"/>
                <a:gd name="T22" fmla="*/ 0 w 142"/>
                <a:gd name="T23" fmla="*/ 0 h 207"/>
                <a:gd name="T24" fmla="*/ 0 w 142"/>
                <a:gd name="T25" fmla="*/ 0 h 207"/>
                <a:gd name="T26" fmla="*/ 0 w 142"/>
                <a:gd name="T27" fmla="*/ 0 h 207"/>
                <a:gd name="T28" fmla="*/ 0 w 142"/>
                <a:gd name="T29" fmla="*/ 0 h 207"/>
                <a:gd name="T30" fmla="*/ 0 w 142"/>
                <a:gd name="T31" fmla="*/ 0 h 207"/>
                <a:gd name="T32" fmla="*/ 0 w 142"/>
                <a:gd name="T33" fmla="*/ 0 h 207"/>
                <a:gd name="T34" fmla="*/ 0 w 142"/>
                <a:gd name="T35" fmla="*/ 0 h 207"/>
                <a:gd name="T36" fmla="*/ 0 w 142"/>
                <a:gd name="T37" fmla="*/ 0 h 207"/>
                <a:gd name="T38" fmla="*/ 0 w 142"/>
                <a:gd name="T39" fmla="*/ 0 h 207"/>
                <a:gd name="T40" fmla="*/ 0 w 142"/>
                <a:gd name="T41" fmla="*/ 0 h 207"/>
                <a:gd name="T42" fmla="*/ 0 w 142"/>
                <a:gd name="T43" fmla="*/ 0 h 207"/>
                <a:gd name="T44" fmla="*/ 0 w 142"/>
                <a:gd name="T45" fmla="*/ 0 h 207"/>
                <a:gd name="T46" fmla="*/ 0 w 142"/>
                <a:gd name="T47" fmla="*/ 0 h 207"/>
                <a:gd name="T48" fmla="*/ 0 w 142"/>
                <a:gd name="T49" fmla="*/ 0 h 207"/>
                <a:gd name="T50" fmla="*/ 0 w 142"/>
                <a:gd name="T51" fmla="*/ 0 h 207"/>
                <a:gd name="T52" fmla="*/ 0 w 142"/>
                <a:gd name="T53" fmla="*/ 0 h 207"/>
                <a:gd name="T54" fmla="*/ 0 w 142"/>
                <a:gd name="T55" fmla="*/ 0 h 207"/>
                <a:gd name="T56" fmla="*/ 0 w 142"/>
                <a:gd name="T57" fmla="*/ 0 h 207"/>
                <a:gd name="T58" fmla="*/ 0 w 142"/>
                <a:gd name="T59" fmla="*/ 0 h 207"/>
                <a:gd name="T60" fmla="*/ 0 w 142"/>
                <a:gd name="T61" fmla="*/ 0 h 207"/>
                <a:gd name="T62" fmla="*/ 0 w 142"/>
                <a:gd name="T63" fmla="*/ 0 h 207"/>
                <a:gd name="T64" fmla="*/ 0 w 142"/>
                <a:gd name="T65" fmla="*/ 0 h 207"/>
                <a:gd name="T66" fmla="*/ 0 w 142"/>
                <a:gd name="T67" fmla="*/ 0 h 207"/>
                <a:gd name="T68" fmla="*/ 0 w 142"/>
                <a:gd name="T69" fmla="*/ 0 h 207"/>
                <a:gd name="T70" fmla="*/ 0 w 142"/>
                <a:gd name="T71" fmla="*/ 0 h 207"/>
                <a:gd name="T72" fmla="*/ 0 w 142"/>
                <a:gd name="T73" fmla="*/ 0 h 207"/>
                <a:gd name="T74" fmla="*/ 0 w 142"/>
                <a:gd name="T75" fmla="*/ 0 h 207"/>
                <a:gd name="T76" fmla="*/ 0 w 142"/>
                <a:gd name="T77" fmla="*/ 0 h 207"/>
                <a:gd name="T78" fmla="*/ 0 w 142"/>
                <a:gd name="T79" fmla="*/ 0 h 207"/>
                <a:gd name="T80" fmla="*/ 0 w 142"/>
                <a:gd name="T81" fmla="*/ 0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66" name="Freeform 126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0 w 303"/>
                <a:gd name="T1" fmla="*/ 0 h 272"/>
                <a:gd name="T2" fmla="*/ 0 w 303"/>
                <a:gd name="T3" fmla="*/ 0 h 272"/>
                <a:gd name="T4" fmla="*/ 0 w 303"/>
                <a:gd name="T5" fmla="*/ 0 h 272"/>
                <a:gd name="T6" fmla="*/ 0 w 303"/>
                <a:gd name="T7" fmla="*/ 0 h 272"/>
                <a:gd name="T8" fmla="*/ 0 w 303"/>
                <a:gd name="T9" fmla="*/ 0 h 272"/>
                <a:gd name="T10" fmla="*/ 0 w 303"/>
                <a:gd name="T11" fmla="*/ 0 h 272"/>
                <a:gd name="T12" fmla="*/ 0 w 303"/>
                <a:gd name="T13" fmla="*/ 0 h 272"/>
                <a:gd name="T14" fmla="*/ 0 w 303"/>
                <a:gd name="T15" fmla="*/ 0 h 272"/>
                <a:gd name="T16" fmla="*/ 0 w 303"/>
                <a:gd name="T17" fmla="*/ 0 h 272"/>
                <a:gd name="T18" fmla="*/ 0 w 303"/>
                <a:gd name="T19" fmla="*/ 0 h 272"/>
                <a:gd name="T20" fmla="*/ 0 w 303"/>
                <a:gd name="T21" fmla="*/ 0 h 272"/>
                <a:gd name="T22" fmla="*/ 0 w 303"/>
                <a:gd name="T23" fmla="*/ 0 h 272"/>
                <a:gd name="T24" fmla="*/ 0 w 303"/>
                <a:gd name="T25" fmla="*/ 0 h 272"/>
                <a:gd name="T26" fmla="*/ 0 w 303"/>
                <a:gd name="T27" fmla="*/ 0 h 272"/>
                <a:gd name="T28" fmla="*/ 0 w 303"/>
                <a:gd name="T29" fmla="*/ 0 h 272"/>
                <a:gd name="T30" fmla="*/ 0 w 303"/>
                <a:gd name="T31" fmla="*/ 0 h 272"/>
                <a:gd name="T32" fmla="*/ 0 w 303"/>
                <a:gd name="T33" fmla="*/ 0 h 272"/>
                <a:gd name="T34" fmla="*/ 0 w 303"/>
                <a:gd name="T35" fmla="*/ 0 h 272"/>
                <a:gd name="T36" fmla="*/ 0 w 303"/>
                <a:gd name="T37" fmla="*/ 0 h 272"/>
                <a:gd name="T38" fmla="*/ 0 w 303"/>
                <a:gd name="T39" fmla="*/ 0 h 272"/>
                <a:gd name="T40" fmla="*/ 0 w 303"/>
                <a:gd name="T41" fmla="*/ 0 h 272"/>
                <a:gd name="T42" fmla="*/ 0 w 303"/>
                <a:gd name="T43" fmla="*/ 0 h 272"/>
                <a:gd name="T44" fmla="*/ 0 w 303"/>
                <a:gd name="T45" fmla="*/ 0 h 272"/>
                <a:gd name="T46" fmla="*/ 0 w 303"/>
                <a:gd name="T47" fmla="*/ 0 h 272"/>
                <a:gd name="T48" fmla="*/ 0 w 303"/>
                <a:gd name="T49" fmla="*/ 0 h 272"/>
                <a:gd name="T50" fmla="*/ 0 w 303"/>
                <a:gd name="T51" fmla="*/ 0 h 272"/>
                <a:gd name="T52" fmla="*/ 0 w 303"/>
                <a:gd name="T53" fmla="*/ 0 h 272"/>
                <a:gd name="T54" fmla="*/ 0 w 303"/>
                <a:gd name="T55" fmla="*/ 0 h 272"/>
                <a:gd name="T56" fmla="*/ 0 w 303"/>
                <a:gd name="T57" fmla="*/ 0 h 272"/>
                <a:gd name="T58" fmla="*/ 0 w 303"/>
                <a:gd name="T59" fmla="*/ 0 h 272"/>
                <a:gd name="T60" fmla="*/ 0 w 303"/>
                <a:gd name="T61" fmla="*/ 0 h 272"/>
                <a:gd name="T62" fmla="*/ 0 w 303"/>
                <a:gd name="T63" fmla="*/ 0 h 272"/>
                <a:gd name="T64" fmla="*/ 0 w 303"/>
                <a:gd name="T65" fmla="*/ 0 h 272"/>
                <a:gd name="T66" fmla="*/ 0 w 303"/>
                <a:gd name="T67" fmla="*/ 0 h 272"/>
                <a:gd name="T68" fmla="*/ 0 w 303"/>
                <a:gd name="T69" fmla="*/ 0 h 272"/>
                <a:gd name="T70" fmla="*/ 0 w 303"/>
                <a:gd name="T71" fmla="*/ 0 h 272"/>
                <a:gd name="T72" fmla="*/ 0 w 303"/>
                <a:gd name="T73" fmla="*/ 0 h 272"/>
                <a:gd name="T74" fmla="*/ 0 w 303"/>
                <a:gd name="T75" fmla="*/ 0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331" name="Group 127"/>
          <p:cNvGrpSpPr>
            <a:grpSpLocks/>
          </p:cNvGrpSpPr>
          <p:nvPr/>
        </p:nvGrpSpPr>
        <p:grpSpPr bwMode="auto">
          <a:xfrm>
            <a:off x="2070100" y="2655888"/>
            <a:ext cx="635000" cy="588962"/>
            <a:chOff x="2870" y="1518"/>
            <a:chExt cx="292" cy="320"/>
          </a:xfrm>
        </p:grpSpPr>
        <p:graphicFrame>
          <p:nvGraphicFramePr>
            <p:cNvPr id="12290" name="Object 2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2290" name="Clip" r:id="rId7" imgW="826829" imgH="840406" progId="MS_ClipArt_Gallery.2">
                <p:embed/>
              </p:oleObj>
            </a:graphicData>
          </a:graphic>
        </p:graphicFrame>
        <p:graphicFrame>
          <p:nvGraphicFramePr>
            <p:cNvPr id="12291" name="Object 3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2291" name="Clip" r:id="rId8" imgW="1268295" imgH="1199426" progId="MS_ClipArt_Gallery.2">
                <p:embed/>
              </p:oleObj>
            </a:graphicData>
          </a:graphic>
        </p:graphicFrame>
      </p:grpSp>
      <p:sp>
        <p:nvSpPr>
          <p:cNvPr id="12332" name="Line 130"/>
          <p:cNvSpPr>
            <a:spLocks noChangeShapeType="1"/>
          </p:cNvSpPr>
          <p:nvPr/>
        </p:nvSpPr>
        <p:spPr bwMode="auto">
          <a:xfrm>
            <a:off x="1701800" y="2571750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33" name="Line 131"/>
          <p:cNvSpPr>
            <a:spLocks noChangeShapeType="1"/>
          </p:cNvSpPr>
          <p:nvPr/>
        </p:nvSpPr>
        <p:spPr bwMode="auto">
          <a:xfrm flipH="1">
            <a:off x="2589213" y="2587625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34" name="Line 132"/>
          <p:cNvSpPr>
            <a:spLocks noChangeShapeType="1"/>
          </p:cNvSpPr>
          <p:nvPr/>
        </p:nvSpPr>
        <p:spPr bwMode="auto">
          <a:xfrm flipH="1">
            <a:off x="2787650" y="2919413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335" name="Line 133"/>
          <p:cNvSpPr>
            <a:spLocks noChangeShapeType="1"/>
          </p:cNvSpPr>
          <p:nvPr/>
        </p:nvSpPr>
        <p:spPr bwMode="auto">
          <a:xfrm flipV="1">
            <a:off x="2743200" y="2740025"/>
            <a:ext cx="644525" cy="225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2336" name="Group 134"/>
          <p:cNvGrpSpPr>
            <a:grpSpLocks/>
          </p:cNvGrpSpPr>
          <p:nvPr/>
        </p:nvGrpSpPr>
        <p:grpSpPr bwMode="auto">
          <a:xfrm>
            <a:off x="2898775" y="2489200"/>
            <a:ext cx="282575" cy="304800"/>
            <a:chOff x="1255" y="3461"/>
            <a:chExt cx="178" cy="192"/>
          </a:xfrm>
        </p:grpSpPr>
        <p:sp>
          <p:nvSpPr>
            <p:cNvPr id="12347" name="Oval 135"/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48" name="Text Box 136"/>
            <p:cNvSpPr txBox="1">
              <a:spLocks noChangeArrowheads="1"/>
            </p:cNvSpPr>
            <p:nvPr/>
          </p:nvSpPr>
          <p:spPr bwMode="auto">
            <a:xfrm>
              <a:off x="1255" y="346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1</a:t>
              </a:r>
            </a:p>
          </p:txBody>
        </p:sp>
      </p:grpSp>
      <p:grpSp>
        <p:nvGrpSpPr>
          <p:cNvPr id="12337" name="Group 137"/>
          <p:cNvGrpSpPr>
            <a:grpSpLocks/>
          </p:cNvGrpSpPr>
          <p:nvPr/>
        </p:nvGrpSpPr>
        <p:grpSpPr bwMode="auto">
          <a:xfrm>
            <a:off x="2811463" y="2746375"/>
            <a:ext cx="282575" cy="304800"/>
            <a:chOff x="1851" y="2490"/>
            <a:chExt cx="178" cy="192"/>
          </a:xfrm>
        </p:grpSpPr>
        <p:sp>
          <p:nvSpPr>
            <p:cNvPr id="12345" name="Oval 138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46" name="Text Box 139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2</a:t>
              </a:r>
            </a:p>
          </p:txBody>
        </p:sp>
      </p:grpSp>
      <p:grpSp>
        <p:nvGrpSpPr>
          <p:cNvPr id="12338" name="Group 140"/>
          <p:cNvGrpSpPr>
            <a:grpSpLocks/>
          </p:cNvGrpSpPr>
          <p:nvPr/>
        </p:nvGrpSpPr>
        <p:grpSpPr bwMode="auto">
          <a:xfrm>
            <a:off x="3097213" y="2852738"/>
            <a:ext cx="282575" cy="304800"/>
            <a:chOff x="1851" y="2490"/>
            <a:chExt cx="178" cy="192"/>
          </a:xfrm>
        </p:grpSpPr>
        <p:sp>
          <p:nvSpPr>
            <p:cNvPr id="12343" name="Oval 141"/>
            <p:cNvSpPr>
              <a:spLocks noChangeArrowheads="1"/>
            </p:cNvSpPr>
            <p:nvPr/>
          </p:nvSpPr>
          <p:spPr bwMode="auto">
            <a:xfrm>
              <a:off x="1861" y="251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44" name="Text Box 142"/>
            <p:cNvSpPr txBox="1">
              <a:spLocks noChangeArrowheads="1"/>
            </p:cNvSpPr>
            <p:nvPr/>
          </p:nvSpPr>
          <p:spPr bwMode="auto">
            <a:xfrm>
              <a:off x="1851" y="2490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3</a:t>
              </a:r>
            </a:p>
          </p:txBody>
        </p:sp>
      </p:grpSp>
      <p:grpSp>
        <p:nvGrpSpPr>
          <p:cNvPr id="12339" name="Group 143"/>
          <p:cNvGrpSpPr>
            <a:grpSpLocks/>
          </p:cNvGrpSpPr>
          <p:nvPr/>
        </p:nvGrpSpPr>
        <p:grpSpPr bwMode="auto">
          <a:xfrm>
            <a:off x="1731963" y="2462213"/>
            <a:ext cx="282575" cy="304800"/>
            <a:chOff x="1255" y="3461"/>
            <a:chExt cx="178" cy="192"/>
          </a:xfrm>
        </p:grpSpPr>
        <p:sp>
          <p:nvSpPr>
            <p:cNvPr id="12341" name="Oval 144"/>
            <p:cNvSpPr>
              <a:spLocks noChangeArrowheads="1"/>
            </p:cNvSpPr>
            <p:nvPr/>
          </p:nvSpPr>
          <p:spPr bwMode="auto">
            <a:xfrm>
              <a:off x="1274" y="3494"/>
              <a:ext cx="151" cy="13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12342" name="Text Box 145"/>
            <p:cNvSpPr txBox="1">
              <a:spLocks noChangeArrowheads="1"/>
            </p:cNvSpPr>
            <p:nvPr/>
          </p:nvSpPr>
          <p:spPr bwMode="auto">
            <a:xfrm>
              <a:off x="1255" y="3461"/>
              <a:ext cx="17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1</a:t>
              </a:r>
            </a:p>
          </p:txBody>
        </p:sp>
      </p:grpSp>
      <p:sp>
        <p:nvSpPr>
          <p:cNvPr id="12340" name="Text Box 146"/>
          <p:cNvSpPr txBox="1">
            <a:spLocks noChangeArrowheads="1"/>
          </p:cNvSpPr>
          <p:nvPr/>
        </p:nvSpPr>
        <p:spPr bwMode="auto">
          <a:xfrm>
            <a:off x="269875" y="4351338"/>
            <a:ext cx="418691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/>
            <a:r>
              <a:rPr lang="en-US" altLang="ko-KR" i="1" u="sng" dirty="0">
                <a:solidFill>
                  <a:srgbClr val="FF3300"/>
                </a:solidFill>
                <a:latin typeface="Arial" charset="0"/>
                <a:ea typeface="Gulim" pitchFamily="34" charset="-127"/>
              </a:rPr>
              <a:t>Passive Scanning:</a:t>
            </a:r>
            <a:r>
              <a:rPr lang="en-US" altLang="ko-KR" sz="1600" u="sng" dirty="0">
                <a:latin typeface="Arial" charset="0"/>
                <a:ea typeface="Gulim" pitchFamily="34" charset="-127"/>
              </a:rPr>
              <a:t> 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 smtClean="0">
                <a:latin typeface="Arial" charset="0"/>
                <a:ea typeface="Gulim" pitchFamily="34" charset="-127"/>
              </a:rPr>
              <a:t>Beacon </a:t>
            </a:r>
            <a:r>
              <a:rPr lang="en-US" altLang="ko-KR" dirty="0">
                <a:latin typeface="Arial" charset="0"/>
                <a:ea typeface="Gulim" pitchFamily="34" charset="-127"/>
              </a:rPr>
              <a:t>frames sent from APs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 smtClean="0">
                <a:latin typeface="Arial" charset="0"/>
                <a:ea typeface="Gulim" pitchFamily="34" charset="-127"/>
              </a:rPr>
              <a:t>Association </a:t>
            </a:r>
            <a:r>
              <a:rPr lang="en-US" altLang="ko-KR" dirty="0">
                <a:latin typeface="Arial" charset="0"/>
                <a:ea typeface="Gulim" pitchFamily="34" charset="-127"/>
              </a:rPr>
              <a:t>Request frame sent: H1 to selected AP </a:t>
            </a:r>
          </a:p>
          <a:p>
            <a:pPr marL="342900" indent="-342900" algn="just">
              <a:buFontTx/>
              <a:buAutoNum type="arabicParenBoth"/>
            </a:pPr>
            <a:r>
              <a:rPr lang="en-US" altLang="ko-KR" dirty="0" smtClean="0">
                <a:latin typeface="Arial" charset="0"/>
                <a:ea typeface="Gulim" pitchFamily="34" charset="-127"/>
              </a:rPr>
              <a:t>Association </a:t>
            </a:r>
            <a:r>
              <a:rPr lang="en-US" altLang="ko-KR" dirty="0">
                <a:latin typeface="Arial" charset="0"/>
                <a:ea typeface="Gulim" pitchFamily="34" charset="-127"/>
              </a:rPr>
              <a:t>Response frame sent: H1 to selected AP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A5AA3FB-7A97-4243-B2C1-42F4346E4D3C}" type="slidenum">
              <a:rPr lang="en-US" smtClean="0"/>
              <a:pPr>
                <a:defRPr/>
              </a:pPr>
              <a:t>21</a:t>
            </a:fld>
            <a:endParaRPr lang="en-US" smtClean="0"/>
          </a:p>
        </p:txBody>
      </p:sp>
      <p:sp>
        <p:nvSpPr>
          <p:cNvPr id="13321" name="Rectangle 94"/>
          <p:cNvSpPr>
            <a:spLocks noChangeArrowheads="1"/>
          </p:cNvSpPr>
          <p:nvPr/>
        </p:nvSpPr>
        <p:spPr bwMode="auto">
          <a:xfrm>
            <a:off x="8604250" y="6348413"/>
            <a:ext cx="269875" cy="230187"/>
          </a:xfrm>
          <a:prstGeom prst="rect">
            <a:avLst/>
          </a:prstGeom>
          <a:solidFill>
            <a:schemeClr val="bg1"/>
          </a:solidFill>
          <a:ln w="38100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2" name="Oval 2"/>
          <p:cNvSpPr>
            <a:spLocks noChangeArrowheads="1"/>
          </p:cNvSpPr>
          <p:nvPr/>
        </p:nvSpPr>
        <p:spPr bwMode="auto">
          <a:xfrm>
            <a:off x="6769100" y="4508500"/>
            <a:ext cx="2335213" cy="2224088"/>
          </a:xfrm>
          <a:prstGeom prst="ellipse">
            <a:avLst/>
          </a:prstGeom>
          <a:solidFill>
            <a:schemeClr val="accent1">
              <a:alpha val="49019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600" b="0">
              <a:latin typeface="Comic Sans MS" pitchFamily="66" charset="0"/>
            </a:endParaRPr>
          </a:p>
        </p:txBody>
      </p:sp>
      <p:sp>
        <p:nvSpPr>
          <p:cNvPr id="13323" name="Oval 3"/>
          <p:cNvSpPr>
            <a:spLocks noChangeArrowheads="1"/>
          </p:cNvSpPr>
          <p:nvPr/>
        </p:nvSpPr>
        <p:spPr bwMode="auto">
          <a:xfrm>
            <a:off x="4913313" y="4443413"/>
            <a:ext cx="2335212" cy="2224087"/>
          </a:xfrm>
          <a:prstGeom prst="ellipse">
            <a:avLst/>
          </a:prstGeom>
          <a:solidFill>
            <a:schemeClr val="accent1">
              <a:alpha val="49019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600" b="0">
              <a:latin typeface="Arial" charset="0"/>
            </a:endParaRPr>
          </a:p>
        </p:txBody>
      </p:sp>
      <p:grpSp>
        <p:nvGrpSpPr>
          <p:cNvPr id="13324" name="Group 4"/>
          <p:cNvGrpSpPr>
            <a:grpSpLocks/>
          </p:cNvGrpSpPr>
          <p:nvPr/>
        </p:nvGrpSpPr>
        <p:grpSpPr bwMode="auto">
          <a:xfrm>
            <a:off x="5119688" y="5621338"/>
            <a:ext cx="617537" cy="654050"/>
            <a:chOff x="2870" y="1518"/>
            <a:chExt cx="292" cy="320"/>
          </a:xfrm>
        </p:grpSpPr>
        <p:graphicFrame>
          <p:nvGraphicFramePr>
            <p:cNvPr id="13318" name="Object 5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3318" name="Clip" r:id="rId4" imgW="819000" imgH="847800" progId="MS_ClipArt_Gallery.2">
                <p:embed/>
              </p:oleObj>
            </a:graphicData>
          </a:graphic>
        </p:graphicFrame>
        <p:graphicFrame>
          <p:nvGraphicFramePr>
            <p:cNvPr id="13319" name="Object 6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3319" name="Clip" r:id="rId5" imgW="1266840" imgH="1200240" progId="MS_ClipArt_Gallery.2">
                <p:embed/>
              </p:oleObj>
            </a:graphicData>
          </a:graphic>
        </p:graphicFrame>
      </p:grpSp>
      <p:grpSp>
        <p:nvGrpSpPr>
          <p:cNvPr id="13325" name="Group 7"/>
          <p:cNvGrpSpPr>
            <a:grpSpLocks/>
          </p:cNvGrpSpPr>
          <p:nvPr/>
        </p:nvGrpSpPr>
        <p:grpSpPr bwMode="auto">
          <a:xfrm>
            <a:off x="8142288" y="4672013"/>
            <a:ext cx="619125" cy="654050"/>
            <a:chOff x="2870" y="1518"/>
            <a:chExt cx="292" cy="320"/>
          </a:xfrm>
        </p:grpSpPr>
        <p:graphicFrame>
          <p:nvGraphicFramePr>
            <p:cNvPr id="13316" name="Object 8"/>
            <p:cNvGraphicFramePr>
              <a:graphicFrameLocks noChangeAspect="1"/>
            </p:cNvGraphicFramePr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p:oleObj spid="_x0000_s13316" name="Clip" r:id="rId6" imgW="819000" imgH="847800" progId="MS_ClipArt_Gallery.2">
                <p:embed/>
              </p:oleObj>
            </a:graphicData>
          </a:graphic>
        </p:graphicFrame>
        <p:graphicFrame>
          <p:nvGraphicFramePr>
            <p:cNvPr id="13317" name="Object 9"/>
            <p:cNvGraphicFramePr>
              <a:graphicFrameLocks noChangeAspect="1"/>
            </p:cNvGraphicFramePr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p:oleObj spid="_x0000_s13317" name="Clip" r:id="rId7" imgW="1266840" imgH="1200240" progId="MS_ClipArt_Gallery.2">
                <p:embed/>
              </p:oleObj>
            </a:graphicData>
          </a:graphic>
        </p:graphicFrame>
      </p:grpSp>
      <p:sp>
        <p:nvSpPr>
          <p:cNvPr id="13326" name="Text Box 10"/>
          <p:cNvSpPr txBox="1">
            <a:spLocks noChangeArrowheads="1"/>
          </p:cNvSpPr>
          <p:nvPr/>
        </p:nvSpPr>
        <p:spPr bwMode="auto">
          <a:xfrm>
            <a:off x="6973888" y="3875088"/>
            <a:ext cx="85407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hub or </a:t>
            </a:r>
          </a:p>
          <a:p>
            <a:pPr algn="l"/>
            <a:r>
              <a:rPr lang="en-US" sz="1600" b="0">
                <a:latin typeface="Comic Sans MS" pitchFamily="66" charset="0"/>
              </a:rPr>
              <a:t>switch</a:t>
            </a:r>
          </a:p>
        </p:txBody>
      </p:sp>
      <p:sp>
        <p:nvSpPr>
          <p:cNvPr id="13327" name="Line 11"/>
          <p:cNvSpPr>
            <a:spLocks noChangeShapeType="1"/>
          </p:cNvSpPr>
          <p:nvPr/>
        </p:nvSpPr>
        <p:spPr bwMode="auto">
          <a:xfrm flipH="1">
            <a:off x="6149975" y="4640263"/>
            <a:ext cx="687388" cy="7842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8" name="Line 12"/>
          <p:cNvSpPr>
            <a:spLocks noChangeShapeType="1"/>
          </p:cNvSpPr>
          <p:nvPr/>
        </p:nvSpPr>
        <p:spPr bwMode="auto">
          <a:xfrm>
            <a:off x="7112000" y="4508500"/>
            <a:ext cx="869950" cy="1112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29" name="Line 13"/>
          <p:cNvSpPr>
            <a:spLocks noChangeShapeType="1"/>
          </p:cNvSpPr>
          <p:nvPr/>
        </p:nvSpPr>
        <p:spPr bwMode="auto">
          <a:xfrm flipV="1">
            <a:off x="6997700" y="3659188"/>
            <a:ext cx="14288" cy="773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3330" name="Text Box 14"/>
          <p:cNvSpPr txBox="1">
            <a:spLocks noChangeArrowheads="1"/>
          </p:cNvSpPr>
          <p:nvPr/>
        </p:nvSpPr>
        <p:spPr bwMode="auto">
          <a:xfrm>
            <a:off x="7718425" y="5651500"/>
            <a:ext cx="623888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AP 2</a:t>
            </a:r>
          </a:p>
        </p:txBody>
      </p:sp>
      <p:sp>
        <p:nvSpPr>
          <p:cNvPr id="13331" name="Text Box 15"/>
          <p:cNvSpPr txBox="1">
            <a:spLocks noChangeArrowheads="1"/>
          </p:cNvSpPr>
          <p:nvPr/>
        </p:nvSpPr>
        <p:spPr bwMode="auto">
          <a:xfrm>
            <a:off x="6400800" y="5214938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lang="en-US" sz="1600" b="0">
              <a:latin typeface="Arial" charset="0"/>
            </a:endParaRPr>
          </a:p>
        </p:txBody>
      </p:sp>
      <p:sp>
        <p:nvSpPr>
          <p:cNvPr id="13332" name="Text Box 16"/>
          <p:cNvSpPr txBox="1">
            <a:spLocks noChangeArrowheads="1"/>
          </p:cNvSpPr>
          <p:nvPr/>
        </p:nvSpPr>
        <p:spPr bwMode="auto">
          <a:xfrm>
            <a:off x="6218238" y="5183188"/>
            <a:ext cx="592137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AP 1</a:t>
            </a:r>
          </a:p>
        </p:txBody>
      </p:sp>
      <p:sp>
        <p:nvSpPr>
          <p:cNvPr id="13333" name="Text Box 17"/>
          <p:cNvSpPr txBox="1">
            <a:spLocks noChangeArrowheads="1"/>
          </p:cNvSpPr>
          <p:nvPr/>
        </p:nvSpPr>
        <p:spPr bwMode="auto">
          <a:xfrm>
            <a:off x="6345238" y="6186488"/>
            <a:ext cx="431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H1</a:t>
            </a:r>
          </a:p>
        </p:txBody>
      </p:sp>
      <p:sp>
        <p:nvSpPr>
          <p:cNvPr id="13334" name="Text Box 18"/>
          <p:cNvSpPr txBox="1">
            <a:spLocks noChangeArrowheads="1"/>
          </p:cNvSpPr>
          <p:nvPr/>
        </p:nvSpPr>
        <p:spPr bwMode="auto">
          <a:xfrm>
            <a:off x="8407400" y="6034088"/>
            <a:ext cx="18415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endParaRPr lang="en-US" sz="1600" b="0">
              <a:latin typeface="Arial" charset="0"/>
            </a:endParaRPr>
          </a:p>
        </p:txBody>
      </p:sp>
      <p:sp>
        <p:nvSpPr>
          <p:cNvPr id="13335" name="Text Box 19"/>
          <p:cNvSpPr txBox="1">
            <a:spLocks noChangeArrowheads="1"/>
          </p:cNvSpPr>
          <p:nvPr/>
        </p:nvSpPr>
        <p:spPr bwMode="auto">
          <a:xfrm>
            <a:off x="7991475" y="6199188"/>
            <a:ext cx="7667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BBS 2</a:t>
            </a:r>
          </a:p>
        </p:txBody>
      </p:sp>
      <p:sp>
        <p:nvSpPr>
          <p:cNvPr id="13336" name="Text Box 20"/>
          <p:cNvSpPr txBox="1">
            <a:spLocks noChangeArrowheads="1"/>
          </p:cNvSpPr>
          <p:nvPr/>
        </p:nvSpPr>
        <p:spPr bwMode="auto">
          <a:xfrm>
            <a:off x="5516563" y="4695825"/>
            <a:ext cx="7350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/>
            <a:r>
              <a:rPr lang="en-US" sz="1600" b="0">
                <a:latin typeface="Comic Sans MS" pitchFamily="66" charset="0"/>
              </a:rPr>
              <a:t>BBS 1</a:t>
            </a:r>
          </a:p>
        </p:txBody>
      </p:sp>
      <p:grpSp>
        <p:nvGrpSpPr>
          <p:cNvPr id="13337" name="Group 21"/>
          <p:cNvGrpSpPr>
            <a:grpSpLocks/>
          </p:cNvGrpSpPr>
          <p:nvPr/>
        </p:nvGrpSpPr>
        <p:grpSpPr bwMode="auto">
          <a:xfrm>
            <a:off x="6699250" y="4378325"/>
            <a:ext cx="412750" cy="284163"/>
            <a:chOff x="2016" y="960"/>
            <a:chExt cx="288" cy="209"/>
          </a:xfrm>
        </p:grpSpPr>
        <p:sp>
          <p:nvSpPr>
            <p:cNvPr id="13400" name="Line 22"/>
            <p:cNvSpPr>
              <a:spLocks noChangeShapeType="1"/>
            </p:cNvSpPr>
            <p:nvPr/>
          </p:nvSpPr>
          <p:spPr bwMode="auto">
            <a:xfrm>
              <a:off x="2304" y="96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3401" name="Rectangle 23"/>
            <p:cNvSpPr>
              <a:spLocks noChangeArrowheads="1"/>
            </p:cNvSpPr>
            <p:nvPr/>
          </p:nvSpPr>
          <p:spPr bwMode="auto">
            <a:xfrm>
              <a:off x="2016" y="1104"/>
              <a:ext cx="267" cy="65"/>
            </a:xfrm>
            <a:prstGeom prst="rect">
              <a:avLst/>
            </a:prstGeom>
            <a:solidFill>
              <a:schemeClr val="hlink"/>
            </a:solidFill>
            <a:ln w="9525">
              <a:miter lim="800000"/>
              <a:headEnd/>
              <a:tailEnd/>
            </a:ln>
            <a:scene3d>
              <a:camera prst="legacyObliqueTopRight"/>
              <a:lightRig rig="legacyFlat3" dir="l"/>
            </a:scene3d>
            <a:sp3d extrusionH="430200" prstMaterial="legacyMatte">
              <a:bevelT w="13500" h="13500" prst="angle"/>
              <a:bevelB w="13500" h="13500" prst="angle"/>
              <a:extrusionClr>
                <a:schemeClr val="hlink"/>
              </a:extrusionClr>
            </a:sp3d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grpSp>
          <p:nvGrpSpPr>
            <p:cNvPr id="13402" name="Group 24"/>
            <p:cNvGrpSpPr>
              <a:grpSpLocks/>
            </p:cNvGrpSpPr>
            <p:nvPr/>
          </p:nvGrpSpPr>
          <p:grpSpPr bwMode="auto">
            <a:xfrm>
              <a:off x="2160" y="1008"/>
              <a:ext cx="109" cy="91"/>
              <a:chOff x="576" y="3456"/>
              <a:chExt cx="288" cy="240"/>
            </a:xfrm>
          </p:grpSpPr>
          <p:sp>
            <p:nvSpPr>
              <p:cNvPr id="13403" name="Line 25"/>
              <p:cNvSpPr>
                <a:spLocks noChangeShapeType="1"/>
              </p:cNvSpPr>
              <p:nvPr/>
            </p:nvSpPr>
            <p:spPr bwMode="auto">
              <a:xfrm>
                <a:off x="624" y="3456"/>
                <a:ext cx="192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3404" name="Line 26"/>
              <p:cNvSpPr>
                <a:spLocks noChangeShapeType="1"/>
              </p:cNvSpPr>
              <p:nvPr/>
            </p:nvSpPr>
            <p:spPr bwMode="auto">
              <a:xfrm flipH="1">
                <a:off x="576" y="3456"/>
                <a:ext cx="288" cy="240"/>
              </a:xfrm>
              <a:prstGeom prst="line">
                <a:avLst/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grpSp>
        <p:nvGrpSpPr>
          <p:cNvPr id="13338" name="Group 27"/>
          <p:cNvGrpSpPr>
            <a:grpSpLocks/>
          </p:cNvGrpSpPr>
          <p:nvPr/>
        </p:nvGrpSpPr>
        <p:grpSpPr bwMode="auto">
          <a:xfrm>
            <a:off x="7615238" y="5064125"/>
            <a:ext cx="842962" cy="600075"/>
            <a:chOff x="1160" y="2192"/>
            <a:chExt cx="589" cy="440"/>
          </a:xfrm>
        </p:grpSpPr>
        <p:pic>
          <p:nvPicPr>
            <p:cNvPr id="13382" name="Picture 28" descr="31u_bnrz[1]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83" name="AutoShape 29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30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29 w 247"/>
                <a:gd name="T1" fmla="*/ 13 h 203"/>
                <a:gd name="T2" fmla="*/ 23 w 247"/>
                <a:gd name="T3" fmla="*/ 17 h 203"/>
                <a:gd name="T4" fmla="*/ 17 w 247"/>
                <a:gd name="T5" fmla="*/ 22 h 203"/>
                <a:gd name="T6" fmla="*/ 13 w 247"/>
                <a:gd name="T7" fmla="*/ 28 h 203"/>
                <a:gd name="T8" fmla="*/ 8 w 247"/>
                <a:gd name="T9" fmla="*/ 34 h 203"/>
                <a:gd name="T10" fmla="*/ 5 w 247"/>
                <a:gd name="T11" fmla="*/ 40 h 203"/>
                <a:gd name="T12" fmla="*/ 2 w 247"/>
                <a:gd name="T13" fmla="*/ 47 h 203"/>
                <a:gd name="T14" fmla="*/ 1 w 247"/>
                <a:gd name="T15" fmla="*/ 55 h 203"/>
                <a:gd name="T16" fmla="*/ 0 w 247"/>
                <a:gd name="T17" fmla="*/ 62 h 203"/>
                <a:gd name="T18" fmla="*/ 1 w 247"/>
                <a:gd name="T19" fmla="*/ 73 h 203"/>
                <a:gd name="T20" fmla="*/ 5 w 247"/>
                <a:gd name="T21" fmla="*/ 82 h 203"/>
                <a:gd name="T22" fmla="*/ 11 w 247"/>
                <a:gd name="T23" fmla="*/ 89 h 203"/>
                <a:gd name="T24" fmla="*/ 18 w 247"/>
                <a:gd name="T25" fmla="*/ 95 h 203"/>
                <a:gd name="T26" fmla="*/ 27 w 247"/>
                <a:gd name="T27" fmla="*/ 99 h 203"/>
                <a:gd name="T28" fmla="*/ 37 w 247"/>
                <a:gd name="T29" fmla="*/ 101 h 203"/>
                <a:gd name="T30" fmla="*/ 46 w 247"/>
                <a:gd name="T31" fmla="*/ 102 h 203"/>
                <a:gd name="T32" fmla="*/ 55 w 247"/>
                <a:gd name="T33" fmla="*/ 100 h 203"/>
                <a:gd name="T34" fmla="*/ 57 w 247"/>
                <a:gd name="T35" fmla="*/ 100 h 203"/>
                <a:gd name="T36" fmla="*/ 59 w 247"/>
                <a:gd name="T37" fmla="*/ 99 h 203"/>
                <a:gd name="T38" fmla="*/ 61 w 247"/>
                <a:gd name="T39" fmla="*/ 98 h 203"/>
                <a:gd name="T40" fmla="*/ 61 w 247"/>
                <a:gd name="T41" fmla="*/ 96 h 203"/>
                <a:gd name="T42" fmla="*/ 60 w 247"/>
                <a:gd name="T43" fmla="*/ 93 h 203"/>
                <a:gd name="T44" fmla="*/ 58 w 247"/>
                <a:gd name="T45" fmla="*/ 91 h 203"/>
                <a:gd name="T46" fmla="*/ 56 w 247"/>
                <a:gd name="T47" fmla="*/ 89 h 203"/>
                <a:gd name="T48" fmla="*/ 54 w 247"/>
                <a:gd name="T49" fmla="*/ 88 h 203"/>
                <a:gd name="T50" fmla="*/ 49 w 247"/>
                <a:gd name="T51" fmla="*/ 87 h 203"/>
                <a:gd name="T52" fmla="*/ 44 w 247"/>
                <a:gd name="T53" fmla="*/ 86 h 203"/>
                <a:gd name="T54" fmla="*/ 39 w 247"/>
                <a:gd name="T55" fmla="*/ 85 h 203"/>
                <a:gd name="T56" fmla="*/ 35 w 247"/>
                <a:gd name="T57" fmla="*/ 84 h 203"/>
                <a:gd name="T58" fmla="*/ 30 w 247"/>
                <a:gd name="T59" fmla="*/ 82 h 203"/>
                <a:gd name="T60" fmla="*/ 26 w 247"/>
                <a:gd name="T61" fmla="*/ 80 h 203"/>
                <a:gd name="T62" fmla="*/ 22 w 247"/>
                <a:gd name="T63" fmla="*/ 77 h 203"/>
                <a:gd name="T64" fmla="*/ 18 w 247"/>
                <a:gd name="T65" fmla="*/ 73 h 203"/>
                <a:gd name="T66" fmla="*/ 16 w 247"/>
                <a:gd name="T67" fmla="*/ 56 h 203"/>
                <a:gd name="T68" fmla="*/ 20 w 247"/>
                <a:gd name="T69" fmla="*/ 42 h 203"/>
                <a:gd name="T70" fmla="*/ 28 w 247"/>
                <a:gd name="T71" fmla="*/ 31 h 203"/>
                <a:gd name="T72" fmla="*/ 39 w 247"/>
                <a:gd name="T73" fmla="*/ 22 h 203"/>
                <a:gd name="T74" fmla="*/ 51 w 247"/>
                <a:gd name="T75" fmla="*/ 15 h 203"/>
                <a:gd name="T76" fmla="*/ 63 w 247"/>
                <a:gd name="T77" fmla="*/ 10 h 203"/>
                <a:gd name="T78" fmla="*/ 74 w 247"/>
                <a:gd name="T79" fmla="*/ 6 h 203"/>
                <a:gd name="T80" fmla="*/ 83 w 247"/>
                <a:gd name="T81" fmla="*/ 2 h 203"/>
                <a:gd name="T82" fmla="*/ 78 w 247"/>
                <a:gd name="T83" fmla="*/ 1 h 203"/>
                <a:gd name="T84" fmla="*/ 72 w 247"/>
                <a:gd name="T85" fmla="*/ 0 h 203"/>
                <a:gd name="T86" fmla="*/ 65 w 247"/>
                <a:gd name="T87" fmla="*/ 1 h 203"/>
                <a:gd name="T88" fmla="*/ 57 w 247"/>
                <a:gd name="T89" fmla="*/ 2 h 203"/>
                <a:gd name="T90" fmla="*/ 50 w 247"/>
                <a:gd name="T91" fmla="*/ 5 h 203"/>
                <a:gd name="T92" fmla="*/ 43 w 247"/>
                <a:gd name="T93" fmla="*/ 7 h 203"/>
                <a:gd name="T94" fmla="*/ 36 w 247"/>
                <a:gd name="T95" fmla="*/ 10 h 203"/>
                <a:gd name="T96" fmla="*/ 29 w 247"/>
                <a:gd name="T97" fmla="*/ 13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31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44 w 158"/>
                <a:gd name="T1" fmla="*/ 26 h 158"/>
                <a:gd name="T2" fmla="*/ 46 w 158"/>
                <a:gd name="T3" fmla="*/ 34 h 158"/>
                <a:gd name="T4" fmla="*/ 45 w 158"/>
                <a:gd name="T5" fmla="*/ 41 h 158"/>
                <a:gd name="T6" fmla="*/ 42 w 158"/>
                <a:gd name="T7" fmla="*/ 47 h 158"/>
                <a:gd name="T8" fmla="*/ 37 w 158"/>
                <a:gd name="T9" fmla="*/ 53 h 158"/>
                <a:gd name="T10" fmla="*/ 31 w 158"/>
                <a:gd name="T11" fmla="*/ 58 h 158"/>
                <a:gd name="T12" fmla="*/ 25 w 158"/>
                <a:gd name="T13" fmla="*/ 63 h 158"/>
                <a:gd name="T14" fmla="*/ 18 w 158"/>
                <a:gd name="T15" fmla="*/ 68 h 158"/>
                <a:gd name="T16" fmla="*/ 12 w 158"/>
                <a:gd name="T17" fmla="*/ 72 h 158"/>
                <a:gd name="T18" fmla="*/ 11 w 158"/>
                <a:gd name="T19" fmla="*/ 74 h 158"/>
                <a:gd name="T20" fmla="*/ 11 w 158"/>
                <a:gd name="T21" fmla="*/ 75 h 158"/>
                <a:gd name="T22" fmla="*/ 11 w 158"/>
                <a:gd name="T23" fmla="*/ 76 h 158"/>
                <a:gd name="T24" fmla="*/ 11 w 158"/>
                <a:gd name="T25" fmla="*/ 78 h 158"/>
                <a:gd name="T26" fmla="*/ 13 w 158"/>
                <a:gd name="T27" fmla="*/ 79 h 158"/>
                <a:gd name="T28" fmla="*/ 14 w 158"/>
                <a:gd name="T29" fmla="*/ 79 h 158"/>
                <a:gd name="T30" fmla="*/ 15 w 158"/>
                <a:gd name="T31" fmla="*/ 79 h 158"/>
                <a:gd name="T32" fmla="*/ 16 w 158"/>
                <a:gd name="T33" fmla="*/ 79 h 158"/>
                <a:gd name="T34" fmla="*/ 24 w 158"/>
                <a:gd name="T35" fmla="*/ 74 h 158"/>
                <a:gd name="T36" fmla="*/ 31 w 158"/>
                <a:gd name="T37" fmla="*/ 69 h 158"/>
                <a:gd name="T38" fmla="*/ 38 w 158"/>
                <a:gd name="T39" fmla="*/ 63 h 158"/>
                <a:gd name="T40" fmla="*/ 44 w 158"/>
                <a:gd name="T41" fmla="*/ 57 h 158"/>
                <a:gd name="T42" fmla="*/ 49 w 158"/>
                <a:gd name="T43" fmla="*/ 50 h 158"/>
                <a:gd name="T44" fmla="*/ 51 w 158"/>
                <a:gd name="T45" fmla="*/ 42 h 158"/>
                <a:gd name="T46" fmla="*/ 52 w 158"/>
                <a:gd name="T47" fmla="*/ 34 h 158"/>
                <a:gd name="T48" fmla="*/ 50 w 158"/>
                <a:gd name="T49" fmla="*/ 24 h 158"/>
                <a:gd name="T50" fmla="*/ 46 w 158"/>
                <a:gd name="T51" fmla="*/ 18 h 158"/>
                <a:gd name="T52" fmla="*/ 39 w 158"/>
                <a:gd name="T53" fmla="*/ 11 h 158"/>
                <a:gd name="T54" fmla="*/ 32 w 158"/>
                <a:gd name="T55" fmla="*/ 7 h 158"/>
                <a:gd name="T56" fmla="*/ 23 w 158"/>
                <a:gd name="T57" fmla="*/ 3 h 158"/>
                <a:gd name="T58" fmla="*/ 15 w 158"/>
                <a:gd name="T59" fmla="*/ 1 h 158"/>
                <a:gd name="T60" fmla="*/ 8 w 158"/>
                <a:gd name="T61" fmla="*/ 0 h 158"/>
                <a:gd name="T62" fmla="*/ 2 w 158"/>
                <a:gd name="T63" fmla="*/ 0 h 158"/>
                <a:gd name="T64" fmla="*/ 0 w 158"/>
                <a:gd name="T65" fmla="*/ 2 h 158"/>
                <a:gd name="T66" fmla="*/ 6 w 158"/>
                <a:gd name="T67" fmla="*/ 5 h 158"/>
                <a:gd name="T68" fmla="*/ 12 w 158"/>
                <a:gd name="T69" fmla="*/ 6 h 158"/>
                <a:gd name="T70" fmla="*/ 18 w 158"/>
                <a:gd name="T71" fmla="*/ 9 h 158"/>
                <a:gd name="T72" fmla="*/ 25 w 158"/>
                <a:gd name="T73" fmla="*/ 10 h 158"/>
                <a:gd name="T74" fmla="*/ 31 w 158"/>
                <a:gd name="T75" fmla="*/ 13 h 158"/>
                <a:gd name="T76" fmla="*/ 36 w 158"/>
                <a:gd name="T77" fmla="*/ 17 h 158"/>
                <a:gd name="T78" fmla="*/ 40 w 158"/>
                <a:gd name="T79" fmla="*/ 20 h 158"/>
                <a:gd name="T80" fmla="*/ 44 w 158"/>
                <a:gd name="T81" fmla="*/ 26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32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41 w 399"/>
                <a:gd name="T1" fmla="*/ 31 h 331"/>
                <a:gd name="T2" fmla="*/ 22 w 399"/>
                <a:gd name="T3" fmla="*/ 51 h 331"/>
                <a:gd name="T4" fmla="*/ 7 w 399"/>
                <a:gd name="T5" fmla="*/ 73 h 331"/>
                <a:gd name="T6" fmla="*/ 0 w 399"/>
                <a:gd name="T7" fmla="*/ 100 h 331"/>
                <a:gd name="T8" fmla="*/ 1 w 399"/>
                <a:gd name="T9" fmla="*/ 117 h 331"/>
                <a:gd name="T10" fmla="*/ 4 w 399"/>
                <a:gd name="T11" fmla="*/ 124 h 331"/>
                <a:gd name="T12" fmla="*/ 8 w 399"/>
                <a:gd name="T13" fmla="*/ 131 h 331"/>
                <a:gd name="T14" fmla="*/ 13 w 399"/>
                <a:gd name="T15" fmla="*/ 136 h 331"/>
                <a:gd name="T16" fmla="*/ 23 w 399"/>
                <a:gd name="T17" fmla="*/ 142 h 331"/>
                <a:gd name="T18" fmla="*/ 36 w 399"/>
                <a:gd name="T19" fmla="*/ 149 h 331"/>
                <a:gd name="T20" fmla="*/ 49 w 399"/>
                <a:gd name="T21" fmla="*/ 154 h 331"/>
                <a:gd name="T22" fmla="*/ 63 w 399"/>
                <a:gd name="T23" fmla="*/ 158 h 331"/>
                <a:gd name="T24" fmla="*/ 77 w 399"/>
                <a:gd name="T25" fmla="*/ 161 h 331"/>
                <a:gd name="T26" fmla="*/ 91 w 399"/>
                <a:gd name="T27" fmla="*/ 163 h 331"/>
                <a:gd name="T28" fmla="*/ 105 w 399"/>
                <a:gd name="T29" fmla="*/ 164 h 331"/>
                <a:gd name="T30" fmla="*/ 119 w 399"/>
                <a:gd name="T31" fmla="*/ 165 h 331"/>
                <a:gd name="T32" fmla="*/ 129 w 399"/>
                <a:gd name="T33" fmla="*/ 166 h 331"/>
                <a:gd name="T34" fmla="*/ 132 w 399"/>
                <a:gd name="T35" fmla="*/ 163 h 331"/>
                <a:gd name="T36" fmla="*/ 133 w 399"/>
                <a:gd name="T37" fmla="*/ 158 h 331"/>
                <a:gd name="T38" fmla="*/ 130 w 399"/>
                <a:gd name="T39" fmla="*/ 155 h 331"/>
                <a:gd name="T40" fmla="*/ 121 w 399"/>
                <a:gd name="T41" fmla="*/ 152 h 331"/>
                <a:gd name="T42" fmla="*/ 109 w 399"/>
                <a:gd name="T43" fmla="*/ 150 h 331"/>
                <a:gd name="T44" fmla="*/ 96 w 399"/>
                <a:gd name="T45" fmla="*/ 148 h 331"/>
                <a:gd name="T46" fmla="*/ 83 w 399"/>
                <a:gd name="T47" fmla="*/ 146 h 331"/>
                <a:gd name="T48" fmla="*/ 70 w 399"/>
                <a:gd name="T49" fmla="*/ 143 h 331"/>
                <a:gd name="T50" fmla="*/ 57 w 399"/>
                <a:gd name="T51" fmla="*/ 140 h 331"/>
                <a:gd name="T52" fmla="*/ 45 w 399"/>
                <a:gd name="T53" fmla="*/ 136 h 331"/>
                <a:gd name="T54" fmla="*/ 33 w 399"/>
                <a:gd name="T55" fmla="*/ 131 h 331"/>
                <a:gd name="T56" fmla="*/ 23 w 399"/>
                <a:gd name="T57" fmla="*/ 124 h 331"/>
                <a:gd name="T58" fmla="*/ 16 w 399"/>
                <a:gd name="T59" fmla="*/ 114 h 331"/>
                <a:gd name="T60" fmla="*/ 14 w 399"/>
                <a:gd name="T61" fmla="*/ 102 h 331"/>
                <a:gd name="T62" fmla="*/ 16 w 399"/>
                <a:gd name="T63" fmla="*/ 88 h 331"/>
                <a:gd name="T64" fmla="*/ 21 w 399"/>
                <a:gd name="T65" fmla="*/ 75 h 331"/>
                <a:gd name="T66" fmla="*/ 29 w 399"/>
                <a:gd name="T67" fmla="*/ 61 h 331"/>
                <a:gd name="T68" fmla="*/ 39 w 399"/>
                <a:gd name="T69" fmla="*/ 49 h 331"/>
                <a:gd name="T70" fmla="*/ 51 w 399"/>
                <a:gd name="T71" fmla="*/ 37 h 331"/>
                <a:gd name="T72" fmla="*/ 63 w 399"/>
                <a:gd name="T73" fmla="*/ 26 h 331"/>
                <a:gd name="T74" fmla="*/ 81 w 399"/>
                <a:gd name="T75" fmla="*/ 17 h 331"/>
                <a:gd name="T76" fmla="*/ 98 w 399"/>
                <a:gd name="T77" fmla="*/ 9 h 331"/>
                <a:gd name="T78" fmla="*/ 109 w 399"/>
                <a:gd name="T79" fmla="*/ 3 h 331"/>
                <a:gd name="T80" fmla="*/ 106 w 399"/>
                <a:gd name="T81" fmla="*/ 0 h 331"/>
                <a:gd name="T82" fmla="*/ 91 w 399"/>
                <a:gd name="T83" fmla="*/ 2 h 331"/>
                <a:gd name="T84" fmla="*/ 74 w 399"/>
                <a:gd name="T85" fmla="*/ 8 h 331"/>
                <a:gd name="T86" fmla="*/ 58 w 399"/>
                <a:gd name="T87" fmla="*/ 17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33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96 w 350"/>
                <a:gd name="T1" fmla="*/ 34 h 221"/>
                <a:gd name="T2" fmla="*/ 101 w 350"/>
                <a:gd name="T3" fmla="*/ 40 h 221"/>
                <a:gd name="T4" fmla="*/ 105 w 350"/>
                <a:gd name="T5" fmla="*/ 47 h 221"/>
                <a:gd name="T6" fmla="*/ 106 w 350"/>
                <a:gd name="T7" fmla="*/ 54 h 221"/>
                <a:gd name="T8" fmla="*/ 106 w 350"/>
                <a:gd name="T9" fmla="*/ 62 h 221"/>
                <a:gd name="T10" fmla="*/ 105 w 350"/>
                <a:gd name="T11" fmla="*/ 69 h 221"/>
                <a:gd name="T12" fmla="*/ 103 w 350"/>
                <a:gd name="T13" fmla="*/ 74 h 221"/>
                <a:gd name="T14" fmla="*/ 100 w 350"/>
                <a:gd name="T15" fmla="*/ 80 h 221"/>
                <a:gd name="T16" fmla="*/ 97 w 350"/>
                <a:gd name="T17" fmla="*/ 84 h 221"/>
                <a:gd name="T18" fmla="*/ 92 w 350"/>
                <a:gd name="T19" fmla="*/ 89 h 221"/>
                <a:gd name="T20" fmla="*/ 88 w 350"/>
                <a:gd name="T21" fmla="*/ 93 h 221"/>
                <a:gd name="T22" fmla="*/ 84 w 350"/>
                <a:gd name="T23" fmla="*/ 98 h 221"/>
                <a:gd name="T24" fmla="*/ 80 w 350"/>
                <a:gd name="T25" fmla="*/ 102 h 221"/>
                <a:gd name="T26" fmla="*/ 79 w 350"/>
                <a:gd name="T27" fmla="*/ 104 h 221"/>
                <a:gd name="T28" fmla="*/ 79 w 350"/>
                <a:gd name="T29" fmla="*/ 106 h 221"/>
                <a:gd name="T30" fmla="*/ 79 w 350"/>
                <a:gd name="T31" fmla="*/ 107 h 221"/>
                <a:gd name="T32" fmla="*/ 80 w 350"/>
                <a:gd name="T33" fmla="*/ 109 h 221"/>
                <a:gd name="T34" fmla="*/ 81 w 350"/>
                <a:gd name="T35" fmla="*/ 110 h 221"/>
                <a:gd name="T36" fmla="*/ 83 w 350"/>
                <a:gd name="T37" fmla="*/ 110 h 221"/>
                <a:gd name="T38" fmla="*/ 84 w 350"/>
                <a:gd name="T39" fmla="*/ 110 h 221"/>
                <a:gd name="T40" fmla="*/ 86 w 350"/>
                <a:gd name="T41" fmla="*/ 109 h 221"/>
                <a:gd name="T42" fmla="*/ 95 w 350"/>
                <a:gd name="T43" fmla="*/ 102 h 221"/>
                <a:gd name="T44" fmla="*/ 103 w 350"/>
                <a:gd name="T45" fmla="*/ 93 h 221"/>
                <a:gd name="T46" fmla="*/ 110 w 350"/>
                <a:gd name="T47" fmla="*/ 84 h 221"/>
                <a:gd name="T48" fmla="*/ 114 w 350"/>
                <a:gd name="T49" fmla="*/ 73 h 221"/>
                <a:gd name="T50" fmla="*/ 116 w 350"/>
                <a:gd name="T51" fmla="*/ 62 h 221"/>
                <a:gd name="T52" fmla="*/ 115 w 350"/>
                <a:gd name="T53" fmla="*/ 50 h 221"/>
                <a:gd name="T54" fmla="*/ 111 w 350"/>
                <a:gd name="T55" fmla="*/ 40 h 221"/>
                <a:gd name="T56" fmla="*/ 103 w 350"/>
                <a:gd name="T57" fmla="*/ 30 h 221"/>
                <a:gd name="T58" fmla="*/ 98 w 350"/>
                <a:gd name="T59" fmla="*/ 25 h 221"/>
                <a:gd name="T60" fmla="*/ 91 w 350"/>
                <a:gd name="T61" fmla="*/ 21 h 221"/>
                <a:gd name="T62" fmla="*/ 84 w 350"/>
                <a:gd name="T63" fmla="*/ 17 h 221"/>
                <a:gd name="T64" fmla="*/ 76 w 350"/>
                <a:gd name="T65" fmla="*/ 13 h 221"/>
                <a:gd name="T66" fmla="*/ 67 w 350"/>
                <a:gd name="T67" fmla="*/ 10 h 221"/>
                <a:gd name="T68" fmla="*/ 59 w 350"/>
                <a:gd name="T69" fmla="*/ 7 h 221"/>
                <a:gd name="T70" fmla="*/ 50 w 350"/>
                <a:gd name="T71" fmla="*/ 5 h 221"/>
                <a:gd name="T72" fmla="*/ 42 w 350"/>
                <a:gd name="T73" fmla="*/ 3 h 221"/>
                <a:gd name="T74" fmla="*/ 34 w 350"/>
                <a:gd name="T75" fmla="*/ 2 h 221"/>
                <a:gd name="T76" fmla="*/ 27 w 350"/>
                <a:gd name="T77" fmla="*/ 1 h 221"/>
                <a:gd name="T78" fmla="*/ 20 w 350"/>
                <a:gd name="T79" fmla="*/ 0 h 221"/>
                <a:gd name="T80" fmla="*/ 14 w 350"/>
                <a:gd name="T81" fmla="*/ 0 h 221"/>
                <a:gd name="T82" fmla="*/ 9 w 350"/>
                <a:gd name="T83" fmla="*/ 0 h 221"/>
                <a:gd name="T84" fmla="*/ 4 w 350"/>
                <a:gd name="T85" fmla="*/ 0 h 221"/>
                <a:gd name="T86" fmla="*/ 1 w 350"/>
                <a:gd name="T87" fmla="*/ 1 h 221"/>
                <a:gd name="T88" fmla="*/ 0 w 350"/>
                <a:gd name="T89" fmla="*/ 2 h 221"/>
                <a:gd name="T90" fmla="*/ 5 w 350"/>
                <a:gd name="T91" fmla="*/ 3 h 221"/>
                <a:gd name="T92" fmla="*/ 10 w 350"/>
                <a:gd name="T93" fmla="*/ 3 h 221"/>
                <a:gd name="T94" fmla="*/ 16 w 350"/>
                <a:gd name="T95" fmla="*/ 4 h 221"/>
                <a:gd name="T96" fmla="*/ 21 w 350"/>
                <a:gd name="T97" fmla="*/ 5 h 221"/>
                <a:gd name="T98" fmla="*/ 27 w 350"/>
                <a:gd name="T99" fmla="*/ 7 h 221"/>
                <a:gd name="T100" fmla="*/ 34 w 350"/>
                <a:gd name="T101" fmla="*/ 8 h 221"/>
                <a:gd name="T102" fmla="*/ 40 w 350"/>
                <a:gd name="T103" fmla="*/ 9 h 221"/>
                <a:gd name="T104" fmla="*/ 47 w 350"/>
                <a:gd name="T105" fmla="*/ 11 h 221"/>
                <a:gd name="T106" fmla="*/ 53 w 350"/>
                <a:gd name="T107" fmla="*/ 13 h 221"/>
                <a:gd name="T108" fmla="*/ 60 w 350"/>
                <a:gd name="T109" fmla="*/ 15 h 221"/>
                <a:gd name="T110" fmla="*/ 66 w 350"/>
                <a:gd name="T111" fmla="*/ 17 h 221"/>
                <a:gd name="T112" fmla="*/ 73 w 350"/>
                <a:gd name="T113" fmla="*/ 19 h 221"/>
                <a:gd name="T114" fmla="*/ 79 w 350"/>
                <a:gd name="T115" fmla="*/ 22 h 221"/>
                <a:gd name="T116" fmla="*/ 85 w 350"/>
                <a:gd name="T117" fmla="*/ 26 h 221"/>
                <a:gd name="T118" fmla="*/ 91 w 350"/>
                <a:gd name="T119" fmla="*/ 30 h 221"/>
                <a:gd name="T120" fmla="*/ 96 w 350"/>
                <a:gd name="T121" fmla="*/ 34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34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58 h 208"/>
                <a:gd name="T2" fmla="*/ 0 w 142"/>
                <a:gd name="T3" fmla="*/ 66 h 208"/>
                <a:gd name="T4" fmla="*/ 2 w 142"/>
                <a:gd name="T5" fmla="*/ 74 h 208"/>
                <a:gd name="T6" fmla="*/ 5 w 142"/>
                <a:gd name="T7" fmla="*/ 82 h 208"/>
                <a:gd name="T8" fmla="*/ 10 w 142"/>
                <a:gd name="T9" fmla="*/ 88 h 208"/>
                <a:gd name="T10" fmla="*/ 16 w 142"/>
                <a:gd name="T11" fmla="*/ 94 h 208"/>
                <a:gd name="T12" fmla="*/ 23 w 142"/>
                <a:gd name="T13" fmla="*/ 99 h 208"/>
                <a:gd name="T14" fmla="*/ 31 w 142"/>
                <a:gd name="T15" fmla="*/ 102 h 208"/>
                <a:gd name="T16" fmla="*/ 39 w 142"/>
                <a:gd name="T17" fmla="*/ 104 h 208"/>
                <a:gd name="T18" fmla="*/ 41 w 142"/>
                <a:gd name="T19" fmla="*/ 105 h 208"/>
                <a:gd name="T20" fmla="*/ 44 w 142"/>
                <a:gd name="T21" fmla="*/ 104 h 208"/>
                <a:gd name="T22" fmla="*/ 46 w 142"/>
                <a:gd name="T23" fmla="*/ 102 h 208"/>
                <a:gd name="T24" fmla="*/ 47 w 142"/>
                <a:gd name="T25" fmla="*/ 100 h 208"/>
                <a:gd name="T26" fmla="*/ 47 w 142"/>
                <a:gd name="T27" fmla="*/ 98 h 208"/>
                <a:gd name="T28" fmla="*/ 46 w 142"/>
                <a:gd name="T29" fmla="*/ 95 h 208"/>
                <a:gd name="T30" fmla="*/ 45 w 142"/>
                <a:gd name="T31" fmla="*/ 93 h 208"/>
                <a:gd name="T32" fmla="*/ 42 w 142"/>
                <a:gd name="T33" fmla="*/ 92 h 208"/>
                <a:gd name="T34" fmla="*/ 34 w 142"/>
                <a:gd name="T35" fmla="*/ 89 h 208"/>
                <a:gd name="T36" fmla="*/ 27 w 142"/>
                <a:gd name="T37" fmla="*/ 85 h 208"/>
                <a:gd name="T38" fmla="*/ 21 w 142"/>
                <a:gd name="T39" fmla="*/ 80 h 208"/>
                <a:gd name="T40" fmla="*/ 17 w 142"/>
                <a:gd name="T41" fmla="*/ 74 h 208"/>
                <a:gd name="T42" fmla="*/ 14 w 142"/>
                <a:gd name="T43" fmla="*/ 66 h 208"/>
                <a:gd name="T44" fmla="*/ 12 w 142"/>
                <a:gd name="T45" fmla="*/ 58 h 208"/>
                <a:gd name="T46" fmla="*/ 12 w 142"/>
                <a:gd name="T47" fmla="*/ 49 h 208"/>
                <a:gd name="T48" fmla="*/ 15 w 142"/>
                <a:gd name="T49" fmla="*/ 40 h 208"/>
                <a:gd name="T50" fmla="*/ 18 w 142"/>
                <a:gd name="T51" fmla="*/ 33 h 208"/>
                <a:gd name="T52" fmla="*/ 22 w 142"/>
                <a:gd name="T53" fmla="*/ 27 h 208"/>
                <a:gd name="T54" fmla="*/ 26 w 142"/>
                <a:gd name="T55" fmla="*/ 22 h 208"/>
                <a:gd name="T56" fmla="*/ 31 w 142"/>
                <a:gd name="T57" fmla="*/ 17 h 208"/>
                <a:gd name="T58" fmla="*/ 35 w 142"/>
                <a:gd name="T59" fmla="*/ 12 h 208"/>
                <a:gd name="T60" fmla="*/ 40 w 142"/>
                <a:gd name="T61" fmla="*/ 8 h 208"/>
                <a:gd name="T62" fmla="*/ 45 w 142"/>
                <a:gd name="T63" fmla="*/ 4 h 208"/>
                <a:gd name="T64" fmla="*/ 48 w 142"/>
                <a:gd name="T65" fmla="*/ 1 h 208"/>
                <a:gd name="T66" fmla="*/ 45 w 142"/>
                <a:gd name="T67" fmla="*/ 0 h 208"/>
                <a:gd name="T68" fmla="*/ 39 w 142"/>
                <a:gd name="T69" fmla="*/ 3 h 208"/>
                <a:gd name="T70" fmla="*/ 32 w 142"/>
                <a:gd name="T71" fmla="*/ 8 h 208"/>
                <a:gd name="T72" fmla="*/ 23 w 142"/>
                <a:gd name="T73" fmla="*/ 16 h 208"/>
                <a:gd name="T74" fmla="*/ 16 w 142"/>
                <a:gd name="T75" fmla="*/ 25 h 208"/>
                <a:gd name="T76" fmla="*/ 8 w 142"/>
                <a:gd name="T77" fmla="*/ 35 h 208"/>
                <a:gd name="T78" fmla="*/ 3 w 142"/>
                <a:gd name="T79" fmla="*/ 46 h 208"/>
                <a:gd name="T80" fmla="*/ 0 w 142"/>
                <a:gd name="T81" fmla="*/ 58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35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85 w 304"/>
                <a:gd name="T1" fmla="*/ 54 h 272"/>
                <a:gd name="T2" fmla="*/ 90 w 304"/>
                <a:gd name="T3" fmla="*/ 63 h 272"/>
                <a:gd name="T4" fmla="*/ 92 w 304"/>
                <a:gd name="T5" fmla="*/ 72 h 272"/>
                <a:gd name="T6" fmla="*/ 91 w 304"/>
                <a:gd name="T7" fmla="*/ 82 h 272"/>
                <a:gd name="T8" fmla="*/ 86 w 304"/>
                <a:gd name="T9" fmla="*/ 91 h 272"/>
                <a:gd name="T10" fmla="*/ 77 w 304"/>
                <a:gd name="T11" fmla="*/ 100 h 272"/>
                <a:gd name="T12" fmla="*/ 68 w 304"/>
                <a:gd name="T13" fmla="*/ 107 h 272"/>
                <a:gd name="T14" fmla="*/ 59 w 304"/>
                <a:gd name="T15" fmla="*/ 116 h 272"/>
                <a:gd name="T16" fmla="*/ 53 w 304"/>
                <a:gd name="T17" fmla="*/ 122 h 272"/>
                <a:gd name="T18" fmla="*/ 51 w 304"/>
                <a:gd name="T19" fmla="*/ 126 h 272"/>
                <a:gd name="T20" fmla="*/ 50 w 304"/>
                <a:gd name="T21" fmla="*/ 130 h 272"/>
                <a:gd name="T22" fmla="*/ 50 w 304"/>
                <a:gd name="T23" fmla="*/ 134 h 272"/>
                <a:gd name="T24" fmla="*/ 53 w 304"/>
                <a:gd name="T25" fmla="*/ 136 h 272"/>
                <a:gd name="T26" fmla="*/ 57 w 304"/>
                <a:gd name="T27" fmla="*/ 136 h 272"/>
                <a:gd name="T28" fmla="*/ 63 w 304"/>
                <a:gd name="T29" fmla="*/ 129 h 272"/>
                <a:gd name="T30" fmla="*/ 74 w 304"/>
                <a:gd name="T31" fmla="*/ 118 h 272"/>
                <a:gd name="T32" fmla="*/ 85 w 304"/>
                <a:gd name="T33" fmla="*/ 107 h 272"/>
                <a:gd name="T34" fmla="*/ 95 w 304"/>
                <a:gd name="T35" fmla="*/ 96 h 272"/>
                <a:gd name="T36" fmla="*/ 101 w 304"/>
                <a:gd name="T37" fmla="*/ 82 h 272"/>
                <a:gd name="T38" fmla="*/ 100 w 304"/>
                <a:gd name="T39" fmla="*/ 67 h 272"/>
                <a:gd name="T40" fmla="*/ 93 w 304"/>
                <a:gd name="T41" fmla="*/ 53 h 272"/>
                <a:gd name="T42" fmla="*/ 83 w 304"/>
                <a:gd name="T43" fmla="*/ 41 h 272"/>
                <a:gd name="T44" fmla="*/ 73 w 304"/>
                <a:gd name="T45" fmla="*/ 33 h 272"/>
                <a:gd name="T46" fmla="*/ 62 w 304"/>
                <a:gd name="T47" fmla="*/ 26 h 272"/>
                <a:gd name="T48" fmla="*/ 52 w 304"/>
                <a:gd name="T49" fmla="*/ 19 h 272"/>
                <a:gd name="T50" fmla="*/ 41 w 304"/>
                <a:gd name="T51" fmla="*/ 12 h 272"/>
                <a:gd name="T52" fmla="*/ 30 w 304"/>
                <a:gd name="T53" fmla="*/ 7 h 272"/>
                <a:gd name="T54" fmla="*/ 19 w 304"/>
                <a:gd name="T55" fmla="*/ 3 h 272"/>
                <a:gd name="T56" fmla="*/ 10 w 304"/>
                <a:gd name="T57" fmla="*/ 1 h 272"/>
                <a:gd name="T58" fmla="*/ 3 w 304"/>
                <a:gd name="T59" fmla="*/ 1 h 272"/>
                <a:gd name="T60" fmla="*/ 3 w 304"/>
                <a:gd name="T61" fmla="*/ 2 h 272"/>
                <a:gd name="T62" fmla="*/ 12 w 304"/>
                <a:gd name="T63" fmla="*/ 6 h 272"/>
                <a:gd name="T64" fmla="*/ 21 w 304"/>
                <a:gd name="T65" fmla="*/ 10 h 272"/>
                <a:gd name="T66" fmla="*/ 32 w 304"/>
                <a:gd name="T67" fmla="*/ 16 h 272"/>
                <a:gd name="T68" fmla="*/ 44 w 304"/>
                <a:gd name="T69" fmla="*/ 22 h 272"/>
                <a:gd name="T70" fmla="*/ 55 w 304"/>
                <a:gd name="T71" fmla="*/ 30 h 272"/>
                <a:gd name="T72" fmla="*/ 67 w 304"/>
                <a:gd name="T73" fmla="*/ 38 h 272"/>
                <a:gd name="T74" fmla="*/ 77 w 304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36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13 w 103"/>
                <a:gd name="T1" fmla="*/ 6 h 164"/>
                <a:gd name="T2" fmla="*/ 12 w 103"/>
                <a:gd name="T3" fmla="*/ 3 h 164"/>
                <a:gd name="T4" fmla="*/ 11 w 103"/>
                <a:gd name="T5" fmla="*/ 1 h 164"/>
                <a:gd name="T6" fmla="*/ 8 w 103"/>
                <a:gd name="T7" fmla="*/ 1 h 164"/>
                <a:gd name="T8" fmla="*/ 6 w 103"/>
                <a:gd name="T9" fmla="*/ 0 h 164"/>
                <a:gd name="T10" fmla="*/ 3 w 103"/>
                <a:gd name="T11" fmla="*/ 1 h 164"/>
                <a:gd name="T12" fmla="*/ 2 w 103"/>
                <a:gd name="T13" fmla="*/ 3 h 164"/>
                <a:gd name="T14" fmla="*/ 0 w 103"/>
                <a:gd name="T15" fmla="*/ 5 h 164"/>
                <a:gd name="T16" fmla="*/ 0 w 103"/>
                <a:gd name="T17" fmla="*/ 7 h 164"/>
                <a:gd name="T18" fmla="*/ 3 w 103"/>
                <a:gd name="T19" fmla="*/ 19 h 164"/>
                <a:gd name="T20" fmla="*/ 6 w 103"/>
                <a:gd name="T21" fmla="*/ 31 h 164"/>
                <a:gd name="T22" fmla="*/ 11 w 103"/>
                <a:gd name="T23" fmla="*/ 44 h 164"/>
                <a:gd name="T24" fmla="*/ 17 w 103"/>
                <a:gd name="T25" fmla="*/ 56 h 164"/>
                <a:gd name="T26" fmla="*/ 22 w 103"/>
                <a:gd name="T27" fmla="*/ 67 h 164"/>
                <a:gd name="T28" fmla="*/ 28 w 103"/>
                <a:gd name="T29" fmla="*/ 75 h 164"/>
                <a:gd name="T30" fmla="*/ 32 w 103"/>
                <a:gd name="T31" fmla="*/ 81 h 164"/>
                <a:gd name="T32" fmla="*/ 34 w 103"/>
                <a:gd name="T33" fmla="*/ 82 h 164"/>
                <a:gd name="T34" fmla="*/ 33 w 103"/>
                <a:gd name="T35" fmla="*/ 77 h 164"/>
                <a:gd name="T36" fmla="*/ 31 w 103"/>
                <a:gd name="T37" fmla="*/ 70 h 164"/>
                <a:gd name="T38" fmla="*/ 28 w 103"/>
                <a:gd name="T39" fmla="*/ 60 h 164"/>
                <a:gd name="T40" fmla="*/ 24 w 103"/>
                <a:gd name="T41" fmla="*/ 50 h 164"/>
                <a:gd name="T42" fmla="*/ 21 w 103"/>
                <a:gd name="T43" fmla="*/ 39 h 164"/>
                <a:gd name="T44" fmla="*/ 18 w 103"/>
                <a:gd name="T45" fmla="*/ 27 h 164"/>
                <a:gd name="T46" fmla="*/ 15 w 103"/>
                <a:gd name="T47" fmla="*/ 17 h 164"/>
                <a:gd name="T48" fmla="*/ 13 w 103"/>
                <a:gd name="T49" fmla="*/ 6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37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9 w 54"/>
                <a:gd name="T1" fmla="*/ 5 h 82"/>
                <a:gd name="T2" fmla="*/ 9 w 54"/>
                <a:gd name="T3" fmla="*/ 3 h 82"/>
                <a:gd name="T4" fmla="*/ 7 w 54"/>
                <a:gd name="T5" fmla="*/ 1 h 82"/>
                <a:gd name="T6" fmla="*/ 6 w 54"/>
                <a:gd name="T7" fmla="*/ 0 h 82"/>
                <a:gd name="T8" fmla="*/ 4 w 54"/>
                <a:gd name="T9" fmla="*/ 0 h 82"/>
                <a:gd name="T10" fmla="*/ 3 w 54"/>
                <a:gd name="T11" fmla="*/ 1 h 82"/>
                <a:gd name="T12" fmla="*/ 1 w 54"/>
                <a:gd name="T13" fmla="*/ 2 h 82"/>
                <a:gd name="T14" fmla="*/ 0 w 54"/>
                <a:gd name="T15" fmla="*/ 3 h 82"/>
                <a:gd name="T16" fmla="*/ 0 w 54"/>
                <a:gd name="T17" fmla="*/ 5 h 82"/>
                <a:gd name="T18" fmla="*/ 0 w 54"/>
                <a:gd name="T19" fmla="*/ 11 h 82"/>
                <a:gd name="T20" fmla="*/ 2 w 54"/>
                <a:gd name="T21" fmla="*/ 17 h 82"/>
                <a:gd name="T22" fmla="*/ 3 w 54"/>
                <a:gd name="T23" fmla="*/ 23 h 82"/>
                <a:gd name="T24" fmla="*/ 6 w 54"/>
                <a:gd name="T25" fmla="*/ 29 h 82"/>
                <a:gd name="T26" fmla="*/ 9 w 54"/>
                <a:gd name="T27" fmla="*/ 35 h 82"/>
                <a:gd name="T28" fmla="*/ 12 w 54"/>
                <a:gd name="T29" fmla="*/ 39 h 82"/>
                <a:gd name="T30" fmla="*/ 15 w 54"/>
                <a:gd name="T31" fmla="*/ 41 h 82"/>
                <a:gd name="T32" fmla="*/ 18 w 54"/>
                <a:gd name="T33" fmla="*/ 42 h 82"/>
                <a:gd name="T34" fmla="*/ 18 w 54"/>
                <a:gd name="T35" fmla="*/ 34 h 82"/>
                <a:gd name="T36" fmla="*/ 16 w 54"/>
                <a:gd name="T37" fmla="*/ 24 h 82"/>
                <a:gd name="T38" fmla="*/ 13 w 54"/>
                <a:gd name="T39" fmla="*/ 14 h 82"/>
                <a:gd name="T40" fmla="*/ 9 w 54"/>
                <a:gd name="T41" fmla="*/ 5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38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8 w 46"/>
                <a:gd name="T1" fmla="*/ 3 h 47"/>
                <a:gd name="T2" fmla="*/ 8 w 46"/>
                <a:gd name="T3" fmla="*/ 4 h 47"/>
                <a:gd name="T4" fmla="*/ 8 w 46"/>
                <a:gd name="T5" fmla="*/ 4 h 47"/>
                <a:gd name="T6" fmla="*/ 8 w 46"/>
                <a:gd name="T7" fmla="*/ 4 h 47"/>
                <a:gd name="T8" fmla="*/ 8 w 46"/>
                <a:gd name="T9" fmla="*/ 4 h 47"/>
                <a:gd name="T10" fmla="*/ 8 w 46"/>
                <a:gd name="T11" fmla="*/ 2 h 47"/>
                <a:gd name="T12" fmla="*/ 7 w 46"/>
                <a:gd name="T13" fmla="*/ 1 h 47"/>
                <a:gd name="T14" fmla="*/ 5 w 46"/>
                <a:gd name="T15" fmla="*/ 0 h 47"/>
                <a:gd name="T16" fmla="*/ 3 w 46"/>
                <a:gd name="T17" fmla="*/ 0 h 47"/>
                <a:gd name="T18" fmla="*/ 1 w 46"/>
                <a:gd name="T19" fmla="*/ 1 h 47"/>
                <a:gd name="T20" fmla="*/ 0 w 46"/>
                <a:gd name="T21" fmla="*/ 2 h 47"/>
                <a:gd name="T22" fmla="*/ 0 w 46"/>
                <a:gd name="T23" fmla="*/ 4 h 47"/>
                <a:gd name="T24" fmla="*/ 0 w 46"/>
                <a:gd name="T25" fmla="*/ 5 h 47"/>
                <a:gd name="T26" fmla="*/ 0 w 46"/>
                <a:gd name="T27" fmla="*/ 8 h 47"/>
                <a:gd name="T28" fmla="*/ 1 w 46"/>
                <a:gd name="T29" fmla="*/ 11 h 47"/>
                <a:gd name="T30" fmla="*/ 3 w 46"/>
                <a:gd name="T31" fmla="*/ 14 h 47"/>
                <a:gd name="T32" fmla="*/ 6 w 46"/>
                <a:gd name="T33" fmla="*/ 17 h 47"/>
                <a:gd name="T34" fmla="*/ 8 w 46"/>
                <a:gd name="T35" fmla="*/ 20 h 47"/>
                <a:gd name="T36" fmla="*/ 11 w 46"/>
                <a:gd name="T37" fmla="*/ 22 h 47"/>
                <a:gd name="T38" fmla="*/ 14 w 46"/>
                <a:gd name="T39" fmla="*/ 24 h 47"/>
                <a:gd name="T40" fmla="*/ 16 w 46"/>
                <a:gd name="T41" fmla="*/ 24 h 47"/>
                <a:gd name="T42" fmla="*/ 16 w 46"/>
                <a:gd name="T43" fmla="*/ 19 h 47"/>
                <a:gd name="T44" fmla="*/ 14 w 46"/>
                <a:gd name="T45" fmla="*/ 13 h 47"/>
                <a:gd name="T46" fmla="*/ 10 w 46"/>
                <a:gd name="T47" fmla="*/ 7 h 47"/>
                <a:gd name="T48" fmla="*/ 8 w 46"/>
                <a:gd name="T49" fmla="*/ 3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39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17 w 63"/>
                <a:gd name="T1" fmla="*/ 12 h 31"/>
                <a:gd name="T2" fmla="*/ 19 w 63"/>
                <a:gd name="T3" fmla="*/ 11 h 31"/>
                <a:gd name="T4" fmla="*/ 21 w 63"/>
                <a:gd name="T5" fmla="*/ 9 h 31"/>
                <a:gd name="T6" fmla="*/ 21 w 63"/>
                <a:gd name="T7" fmla="*/ 7 h 31"/>
                <a:gd name="T8" fmla="*/ 21 w 63"/>
                <a:gd name="T9" fmla="*/ 5 h 31"/>
                <a:gd name="T10" fmla="*/ 20 w 63"/>
                <a:gd name="T11" fmla="*/ 3 h 31"/>
                <a:gd name="T12" fmla="*/ 19 w 63"/>
                <a:gd name="T13" fmla="*/ 1 h 31"/>
                <a:gd name="T14" fmla="*/ 17 w 63"/>
                <a:gd name="T15" fmla="*/ 0 h 31"/>
                <a:gd name="T16" fmla="*/ 14 w 63"/>
                <a:gd name="T17" fmla="*/ 0 h 31"/>
                <a:gd name="T18" fmla="*/ 13 w 63"/>
                <a:gd name="T19" fmla="*/ 0 h 31"/>
                <a:gd name="T20" fmla="*/ 11 w 63"/>
                <a:gd name="T21" fmla="*/ 1 h 31"/>
                <a:gd name="T22" fmla="*/ 9 w 63"/>
                <a:gd name="T23" fmla="*/ 2 h 31"/>
                <a:gd name="T24" fmla="*/ 5 w 63"/>
                <a:gd name="T25" fmla="*/ 4 h 31"/>
                <a:gd name="T26" fmla="*/ 2 w 63"/>
                <a:gd name="T27" fmla="*/ 7 h 31"/>
                <a:gd name="T28" fmla="*/ 1 w 63"/>
                <a:gd name="T29" fmla="*/ 10 h 31"/>
                <a:gd name="T30" fmla="*/ 0 w 63"/>
                <a:gd name="T31" fmla="*/ 13 h 31"/>
                <a:gd name="T32" fmla="*/ 0 w 63"/>
                <a:gd name="T33" fmla="*/ 14 h 31"/>
                <a:gd name="T34" fmla="*/ 1 w 63"/>
                <a:gd name="T35" fmla="*/ 15 h 31"/>
                <a:gd name="T36" fmla="*/ 3 w 63"/>
                <a:gd name="T37" fmla="*/ 16 h 31"/>
                <a:gd name="T38" fmla="*/ 5 w 63"/>
                <a:gd name="T39" fmla="*/ 16 h 31"/>
                <a:gd name="T40" fmla="*/ 7 w 63"/>
                <a:gd name="T41" fmla="*/ 16 h 31"/>
                <a:gd name="T42" fmla="*/ 10 w 63"/>
                <a:gd name="T43" fmla="*/ 15 h 31"/>
                <a:gd name="T44" fmla="*/ 12 w 63"/>
                <a:gd name="T45" fmla="*/ 14 h 31"/>
                <a:gd name="T46" fmla="*/ 14 w 63"/>
                <a:gd name="T47" fmla="*/ 13 h 31"/>
                <a:gd name="T48" fmla="*/ 17 w 63"/>
                <a:gd name="T49" fmla="*/ 12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40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30 w 245"/>
                <a:gd name="T1" fmla="*/ 15 h 206"/>
                <a:gd name="T2" fmla="*/ 24 w 245"/>
                <a:gd name="T3" fmla="*/ 20 h 206"/>
                <a:gd name="T4" fmla="*/ 19 w 245"/>
                <a:gd name="T5" fmla="*/ 25 h 206"/>
                <a:gd name="T6" fmla="*/ 13 w 245"/>
                <a:gd name="T7" fmla="*/ 31 h 206"/>
                <a:gd name="T8" fmla="*/ 9 w 245"/>
                <a:gd name="T9" fmla="*/ 37 h 206"/>
                <a:gd name="T10" fmla="*/ 6 w 245"/>
                <a:gd name="T11" fmla="*/ 44 h 206"/>
                <a:gd name="T12" fmla="*/ 3 w 245"/>
                <a:gd name="T13" fmla="*/ 50 h 206"/>
                <a:gd name="T14" fmla="*/ 1 w 245"/>
                <a:gd name="T15" fmla="*/ 56 h 206"/>
                <a:gd name="T16" fmla="*/ 0 w 245"/>
                <a:gd name="T17" fmla="*/ 63 h 206"/>
                <a:gd name="T18" fmla="*/ 1 w 245"/>
                <a:gd name="T19" fmla="*/ 75 h 206"/>
                <a:gd name="T20" fmla="*/ 5 w 245"/>
                <a:gd name="T21" fmla="*/ 83 h 206"/>
                <a:gd name="T22" fmla="*/ 11 w 245"/>
                <a:gd name="T23" fmla="*/ 91 h 206"/>
                <a:gd name="T24" fmla="*/ 18 w 245"/>
                <a:gd name="T25" fmla="*/ 96 h 206"/>
                <a:gd name="T26" fmla="*/ 26 w 245"/>
                <a:gd name="T27" fmla="*/ 100 h 206"/>
                <a:gd name="T28" fmla="*/ 36 w 245"/>
                <a:gd name="T29" fmla="*/ 103 h 206"/>
                <a:gd name="T30" fmla="*/ 45 w 245"/>
                <a:gd name="T31" fmla="*/ 103 h 206"/>
                <a:gd name="T32" fmla="*/ 54 w 245"/>
                <a:gd name="T33" fmla="*/ 102 h 206"/>
                <a:gd name="T34" fmla="*/ 56 w 245"/>
                <a:gd name="T35" fmla="*/ 102 h 206"/>
                <a:gd name="T36" fmla="*/ 58 w 245"/>
                <a:gd name="T37" fmla="*/ 101 h 206"/>
                <a:gd name="T38" fmla="*/ 60 w 245"/>
                <a:gd name="T39" fmla="*/ 99 h 206"/>
                <a:gd name="T40" fmla="*/ 60 w 245"/>
                <a:gd name="T41" fmla="*/ 97 h 206"/>
                <a:gd name="T42" fmla="*/ 60 w 245"/>
                <a:gd name="T43" fmla="*/ 96 h 206"/>
                <a:gd name="T44" fmla="*/ 58 w 245"/>
                <a:gd name="T45" fmla="*/ 96 h 206"/>
                <a:gd name="T46" fmla="*/ 56 w 245"/>
                <a:gd name="T47" fmla="*/ 95 h 206"/>
                <a:gd name="T48" fmla="*/ 54 w 245"/>
                <a:gd name="T49" fmla="*/ 95 h 206"/>
                <a:gd name="T50" fmla="*/ 51 w 245"/>
                <a:gd name="T51" fmla="*/ 95 h 206"/>
                <a:gd name="T52" fmla="*/ 48 w 245"/>
                <a:gd name="T53" fmla="*/ 95 h 206"/>
                <a:gd name="T54" fmla="*/ 46 w 245"/>
                <a:gd name="T55" fmla="*/ 95 h 206"/>
                <a:gd name="T56" fmla="*/ 45 w 245"/>
                <a:gd name="T57" fmla="*/ 95 h 206"/>
                <a:gd name="T58" fmla="*/ 40 w 245"/>
                <a:gd name="T59" fmla="*/ 95 h 206"/>
                <a:gd name="T60" fmla="*/ 35 w 245"/>
                <a:gd name="T61" fmla="*/ 94 h 206"/>
                <a:gd name="T62" fmla="*/ 31 w 245"/>
                <a:gd name="T63" fmla="*/ 94 h 206"/>
                <a:gd name="T64" fmla="*/ 26 w 245"/>
                <a:gd name="T65" fmla="*/ 92 h 206"/>
                <a:gd name="T66" fmla="*/ 21 w 245"/>
                <a:gd name="T67" fmla="*/ 91 h 206"/>
                <a:gd name="T68" fmla="*/ 16 w 245"/>
                <a:gd name="T69" fmla="*/ 87 h 206"/>
                <a:gd name="T70" fmla="*/ 12 w 245"/>
                <a:gd name="T71" fmla="*/ 83 h 206"/>
                <a:gd name="T72" fmla="*/ 7 w 245"/>
                <a:gd name="T73" fmla="*/ 76 h 206"/>
                <a:gd name="T74" fmla="*/ 6 w 245"/>
                <a:gd name="T75" fmla="*/ 68 h 206"/>
                <a:gd name="T76" fmla="*/ 7 w 245"/>
                <a:gd name="T77" fmla="*/ 61 h 206"/>
                <a:gd name="T78" fmla="*/ 9 w 245"/>
                <a:gd name="T79" fmla="*/ 54 h 206"/>
                <a:gd name="T80" fmla="*/ 12 w 245"/>
                <a:gd name="T81" fmla="*/ 48 h 206"/>
                <a:gd name="T82" fmla="*/ 16 w 245"/>
                <a:gd name="T83" fmla="*/ 42 h 206"/>
                <a:gd name="T84" fmla="*/ 20 w 245"/>
                <a:gd name="T85" fmla="*/ 36 h 206"/>
                <a:gd name="T86" fmla="*/ 26 w 245"/>
                <a:gd name="T87" fmla="*/ 30 h 206"/>
                <a:gd name="T88" fmla="*/ 32 w 245"/>
                <a:gd name="T89" fmla="*/ 26 h 206"/>
                <a:gd name="T90" fmla="*/ 38 w 245"/>
                <a:gd name="T91" fmla="*/ 21 h 206"/>
                <a:gd name="T92" fmla="*/ 45 w 245"/>
                <a:gd name="T93" fmla="*/ 17 h 206"/>
                <a:gd name="T94" fmla="*/ 52 w 245"/>
                <a:gd name="T95" fmla="*/ 13 h 206"/>
                <a:gd name="T96" fmla="*/ 58 w 245"/>
                <a:gd name="T97" fmla="*/ 11 h 206"/>
                <a:gd name="T98" fmla="*/ 65 w 245"/>
                <a:gd name="T99" fmla="*/ 8 h 206"/>
                <a:gd name="T100" fmla="*/ 70 w 245"/>
                <a:gd name="T101" fmla="*/ 6 h 206"/>
                <a:gd name="T102" fmla="*/ 76 w 245"/>
                <a:gd name="T103" fmla="*/ 4 h 206"/>
                <a:gd name="T104" fmla="*/ 81 w 245"/>
                <a:gd name="T105" fmla="*/ 3 h 206"/>
                <a:gd name="T106" fmla="*/ 78 w 245"/>
                <a:gd name="T107" fmla="*/ 1 h 206"/>
                <a:gd name="T108" fmla="*/ 72 w 245"/>
                <a:gd name="T109" fmla="*/ 0 h 206"/>
                <a:gd name="T110" fmla="*/ 66 w 245"/>
                <a:gd name="T111" fmla="*/ 1 h 206"/>
                <a:gd name="T112" fmla="*/ 59 w 245"/>
                <a:gd name="T113" fmla="*/ 3 h 206"/>
                <a:gd name="T114" fmla="*/ 51 w 245"/>
                <a:gd name="T115" fmla="*/ 5 h 206"/>
                <a:gd name="T116" fmla="*/ 43 w 245"/>
                <a:gd name="T117" fmla="*/ 8 h 206"/>
                <a:gd name="T118" fmla="*/ 36 w 245"/>
                <a:gd name="T119" fmla="*/ 12 h 206"/>
                <a:gd name="T120" fmla="*/ 30 w 245"/>
                <a:gd name="T121" fmla="*/ 15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41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45 w 159"/>
                <a:gd name="T1" fmla="*/ 26 h 160"/>
                <a:gd name="T2" fmla="*/ 46 w 159"/>
                <a:gd name="T3" fmla="*/ 35 h 160"/>
                <a:gd name="T4" fmla="*/ 45 w 159"/>
                <a:gd name="T5" fmla="*/ 42 h 160"/>
                <a:gd name="T6" fmla="*/ 42 w 159"/>
                <a:gd name="T7" fmla="*/ 48 h 160"/>
                <a:gd name="T8" fmla="*/ 37 w 159"/>
                <a:gd name="T9" fmla="*/ 53 h 160"/>
                <a:gd name="T10" fmla="*/ 31 w 159"/>
                <a:gd name="T11" fmla="*/ 58 h 160"/>
                <a:gd name="T12" fmla="*/ 25 w 159"/>
                <a:gd name="T13" fmla="*/ 63 h 160"/>
                <a:gd name="T14" fmla="*/ 18 w 159"/>
                <a:gd name="T15" fmla="*/ 68 h 160"/>
                <a:gd name="T16" fmla="*/ 12 w 159"/>
                <a:gd name="T17" fmla="*/ 73 h 160"/>
                <a:gd name="T18" fmla="*/ 11 w 159"/>
                <a:gd name="T19" fmla="*/ 75 h 160"/>
                <a:gd name="T20" fmla="*/ 11 w 159"/>
                <a:gd name="T21" fmla="*/ 76 h 160"/>
                <a:gd name="T22" fmla="*/ 11 w 159"/>
                <a:gd name="T23" fmla="*/ 77 h 160"/>
                <a:gd name="T24" fmla="*/ 12 w 159"/>
                <a:gd name="T25" fmla="*/ 79 h 160"/>
                <a:gd name="T26" fmla="*/ 13 w 159"/>
                <a:gd name="T27" fmla="*/ 80 h 160"/>
                <a:gd name="T28" fmla="*/ 14 w 159"/>
                <a:gd name="T29" fmla="*/ 80 h 160"/>
                <a:gd name="T30" fmla="*/ 16 w 159"/>
                <a:gd name="T31" fmla="*/ 80 h 160"/>
                <a:gd name="T32" fmla="*/ 17 w 159"/>
                <a:gd name="T33" fmla="*/ 80 h 160"/>
                <a:gd name="T34" fmla="*/ 24 w 159"/>
                <a:gd name="T35" fmla="*/ 75 h 160"/>
                <a:gd name="T36" fmla="*/ 32 w 159"/>
                <a:gd name="T37" fmla="*/ 70 h 160"/>
                <a:gd name="T38" fmla="*/ 38 w 159"/>
                <a:gd name="T39" fmla="*/ 64 h 160"/>
                <a:gd name="T40" fmla="*/ 45 w 159"/>
                <a:gd name="T41" fmla="*/ 57 h 160"/>
                <a:gd name="T42" fmla="*/ 49 w 159"/>
                <a:gd name="T43" fmla="*/ 50 h 160"/>
                <a:gd name="T44" fmla="*/ 52 w 159"/>
                <a:gd name="T45" fmla="*/ 42 h 160"/>
                <a:gd name="T46" fmla="*/ 53 w 159"/>
                <a:gd name="T47" fmla="*/ 34 h 160"/>
                <a:gd name="T48" fmla="*/ 51 w 159"/>
                <a:gd name="T49" fmla="*/ 25 h 160"/>
                <a:gd name="T50" fmla="*/ 47 w 159"/>
                <a:gd name="T51" fmla="*/ 18 h 160"/>
                <a:gd name="T52" fmla="*/ 41 w 159"/>
                <a:gd name="T53" fmla="*/ 12 h 160"/>
                <a:gd name="T54" fmla="*/ 33 w 159"/>
                <a:gd name="T55" fmla="*/ 7 h 160"/>
                <a:gd name="T56" fmla="*/ 25 w 159"/>
                <a:gd name="T57" fmla="*/ 3 h 160"/>
                <a:gd name="T58" fmla="*/ 17 w 159"/>
                <a:gd name="T59" fmla="*/ 1 h 160"/>
                <a:gd name="T60" fmla="*/ 10 w 159"/>
                <a:gd name="T61" fmla="*/ 0 h 160"/>
                <a:gd name="T62" fmla="*/ 4 w 159"/>
                <a:gd name="T63" fmla="*/ 1 h 160"/>
                <a:gd name="T64" fmla="*/ 0 w 159"/>
                <a:gd name="T65" fmla="*/ 3 h 160"/>
                <a:gd name="T66" fmla="*/ 7 w 159"/>
                <a:gd name="T67" fmla="*/ 5 h 160"/>
                <a:gd name="T68" fmla="*/ 14 w 159"/>
                <a:gd name="T69" fmla="*/ 6 h 160"/>
                <a:gd name="T70" fmla="*/ 20 w 159"/>
                <a:gd name="T71" fmla="*/ 7 h 160"/>
                <a:gd name="T72" fmla="*/ 26 w 159"/>
                <a:gd name="T73" fmla="*/ 10 h 160"/>
                <a:gd name="T74" fmla="*/ 32 w 159"/>
                <a:gd name="T75" fmla="*/ 12 h 160"/>
                <a:gd name="T76" fmla="*/ 37 w 159"/>
                <a:gd name="T77" fmla="*/ 15 h 160"/>
                <a:gd name="T78" fmla="*/ 42 w 159"/>
                <a:gd name="T79" fmla="*/ 20 h 160"/>
                <a:gd name="T80" fmla="*/ 45 w 159"/>
                <a:gd name="T81" fmla="*/ 26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42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42 w 399"/>
                <a:gd name="T1" fmla="*/ 31 h 332"/>
                <a:gd name="T2" fmla="*/ 22 w 399"/>
                <a:gd name="T3" fmla="*/ 50 h 332"/>
                <a:gd name="T4" fmla="*/ 7 w 399"/>
                <a:gd name="T5" fmla="*/ 74 h 332"/>
                <a:gd name="T6" fmla="*/ 0 w 399"/>
                <a:gd name="T7" fmla="*/ 100 h 332"/>
                <a:gd name="T8" fmla="*/ 1 w 399"/>
                <a:gd name="T9" fmla="*/ 117 h 332"/>
                <a:gd name="T10" fmla="*/ 4 w 399"/>
                <a:gd name="T11" fmla="*/ 124 h 332"/>
                <a:gd name="T12" fmla="*/ 9 w 399"/>
                <a:gd name="T13" fmla="*/ 131 h 332"/>
                <a:gd name="T14" fmla="*/ 14 w 399"/>
                <a:gd name="T15" fmla="*/ 137 h 332"/>
                <a:gd name="T16" fmla="*/ 23 w 399"/>
                <a:gd name="T17" fmla="*/ 143 h 332"/>
                <a:gd name="T18" fmla="*/ 36 w 399"/>
                <a:gd name="T19" fmla="*/ 149 h 332"/>
                <a:gd name="T20" fmla="*/ 49 w 399"/>
                <a:gd name="T21" fmla="*/ 154 h 332"/>
                <a:gd name="T22" fmla="*/ 63 w 399"/>
                <a:gd name="T23" fmla="*/ 158 h 332"/>
                <a:gd name="T24" fmla="*/ 77 w 399"/>
                <a:gd name="T25" fmla="*/ 161 h 332"/>
                <a:gd name="T26" fmla="*/ 91 w 399"/>
                <a:gd name="T27" fmla="*/ 163 h 332"/>
                <a:gd name="T28" fmla="*/ 105 w 399"/>
                <a:gd name="T29" fmla="*/ 165 h 332"/>
                <a:gd name="T30" fmla="*/ 119 w 399"/>
                <a:gd name="T31" fmla="*/ 166 h 332"/>
                <a:gd name="T32" fmla="*/ 129 w 399"/>
                <a:gd name="T33" fmla="*/ 166 h 332"/>
                <a:gd name="T34" fmla="*/ 132 w 399"/>
                <a:gd name="T35" fmla="*/ 163 h 332"/>
                <a:gd name="T36" fmla="*/ 133 w 399"/>
                <a:gd name="T37" fmla="*/ 158 h 332"/>
                <a:gd name="T38" fmla="*/ 130 w 399"/>
                <a:gd name="T39" fmla="*/ 155 h 332"/>
                <a:gd name="T40" fmla="*/ 121 w 399"/>
                <a:gd name="T41" fmla="*/ 154 h 332"/>
                <a:gd name="T42" fmla="*/ 108 w 399"/>
                <a:gd name="T43" fmla="*/ 154 h 332"/>
                <a:gd name="T44" fmla="*/ 95 w 399"/>
                <a:gd name="T45" fmla="*/ 153 h 332"/>
                <a:gd name="T46" fmla="*/ 82 w 399"/>
                <a:gd name="T47" fmla="*/ 151 h 332"/>
                <a:gd name="T48" fmla="*/ 69 w 399"/>
                <a:gd name="T49" fmla="*/ 148 h 332"/>
                <a:gd name="T50" fmla="*/ 56 w 399"/>
                <a:gd name="T51" fmla="*/ 145 h 332"/>
                <a:gd name="T52" fmla="*/ 44 w 399"/>
                <a:gd name="T53" fmla="*/ 141 h 332"/>
                <a:gd name="T54" fmla="*/ 31 w 399"/>
                <a:gd name="T55" fmla="*/ 135 h 332"/>
                <a:gd name="T56" fmla="*/ 21 w 399"/>
                <a:gd name="T57" fmla="*/ 128 h 332"/>
                <a:gd name="T58" fmla="*/ 15 w 399"/>
                <a:gd name="T59" fmla="*/ 118 h 332"/>
                <a:gd name="T60" fmla="*/ 13 w 399"/>
                <a:gd name="T61" fmla="*/ 105 h 332"/>
                <a:gd name="T62" fmla="*/ 15 w 399"/>
                <a:gd name="T63" fmla="*/ 86 h 332"/>
                <a:gd name="T64" fmla="*/ 21 w 399"/>
                <a:gd name="T65" fmla="*/ 73 h 332"/>
                <a:gd name="T66" fmla="*/ 28 w 399"/>
                <a:gd name="T67" fmla="*/ 60 h 332"/>
                <a:gd name="T68" fmla="*/ 37 w 399"/>
                <a:gd name="T69" fmla="*/ 49 h 332"/>
                <a:gd name="T70" fmla="*/ 47 w 399"/>
                <a:gd name="T71" fmla="*/ 39 h 332"/>
                <a:gd name="T72" fmla="*/ 60 w 399"/>
                <a:gd name="T73" fmla="*/ 28 h 332"/>
                <a:gd name="T74" fmla="*/ 74 w 399"/>
                <a:gd name="T75" fmla="*/ 19 h 332"/>
                <a:gd name="T76" fmla="*/ 90 w 399"/>
                <a:gd name="T77" fmla="*/ 10 h 332"/>
                <a:gd name="T78" fmla="*/ 104 w 399"/>
                <a:gd name="T79" fmla="*/ 3 h 332"/>
                <a:gd name="T80" fmla="*/ 105 w 399"/>
                <a:gd name="T81" fmla="*/ 0 h 332"/>
                <a:gd name="T82" fmla="*/ 91 w 399"/>
                <a:gd name="T83" fmla="*/ 3 h 332"/>
                <a:gd name="T84" fmla="*/ 74 w 399"/>
                <a:gd name="T85" fmla="*/ 9 h 332"/>
                <a:gd name="T86" fmla="*/ 59 w 399"/>
                <a:gd name="T87" fmla="*/ 18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43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97 w 348"/>
                <a:gd name="T1" fmla="*/ 34 h 222"/>
                <a:gd name="T2" fmla="*/ 102 w 348"/>
                <a:gd name="T3" fmla="*/ 40 h 222"/>
                <a:gd name="T4" fmla="*/ 105 w 348"/>
                <a:gd name="T5" fmla="*/ 47 h 222"/>
                <a:gd name="T6" fmla="*/ 107 w 348"/>
                <a:gd name="T7" fmla="*/ 55 h 222"/>
                <a:gd name="T8" fmla="*/ 107 w 348"/>
                <a:gd name="T9" fmla="*/ 62 h 222"/>
                <a:gd name="T10" fmla="*/ 106 w 348"/>
                <a:gd name="T11" fmla="*/ 69 h 222"/>
                <a:gd name="T12" fmla="*/ 104 w 348"/>
                <a:gd name="T13" fmla="*/ 74 h 222"/>
                <a:gd name="T14" fmla="*/ 101 w 348"/>
                <a:gd name="T15" fmla="*/ 80 h 222"/>
                <a:gd name="T16" fmla="*/ 97 w 348"/>
                <a:gd name="T17" fmla="*/ 84 h 222"/>
                <a:gd name="T18" fmla="*/ 93 w 348"/>
                <a:gd name="T19" fmla="*/ 89 h 222"/>
                <a:gd name="T20" fmla="*/ 88 w 348"/>
                <a:gd name="T21" fmla="*/ 93 h 222"/>
                <a:gd name="T22" fmla="*/ 84 w 348"/>
                <a:gd name="T23" fmla="*/ 98 h 222"/>
                <a:gd name="T24" fmla="*/ 80 w 348"/>
                <a:gd name="T25" fmla="*/ 103 h 222"/>
                <a:gd name="T26" fmla="*/ 79 w 348"/>
                <a:gd name="T27" fmla="*/ 104 h 222"/>
                <a:gd name="T28" fmla="*/ 78 w 348"/>
                <a:gd name="T29" fmla="*/ 106 h 222"/>
                <a:gd name="T30" fmla="*/ 79 w 348"/>
                <a:gd name="T31" fmla="*/ 107 h 222"/>
                <a:gd name="T32" fmla="*/ 80 w 348"/>
                <a:gd name="T33" fmla="*/ 109 h 222"/>
                <a:gd name="T34" fmla="*/ 81 w 348"/>
                <a:gd name="T35" fmla="*/ 110 h 222"/>
                <a:gd name="T36" fmla="*/ 83 w 348"/>
                <a:gd name="T37" fmla="*/ 110 h 222"/>
                <a:gd name="T38" fmla="*/ 85 w 348"/>
                <a:gd name="T39" fmla="*/ 110 h 222"/>
                <a:gd name="T40" fmla="*/ 86 w 348"/>
                <a:gd name="T41" fmla="*/ 109 h 222"/>
                <a:gd name="T42" fmla="*/ 96 w 348"/>
                <a:gd name="T43" fmla="*/ 102 h 222"/>
                <a:gd name="T44" fmla="*/ 103 w 348"/>
                <a:gd name="T45" fmla="*/ 93 h 222"/>
                <a:gd name="T46" fmla="*/ 110 w 348"/>
                <a:gd name="T47" fmla="*/ 83 h 222"/>
                <a:gd name="T48" fmla="*/ 115 w 348"/>
                <a:gd name="T49" fmla="*/ 73 h 222"/>
                <a:gd name="T50" fmla="*/ 116 w 348"/>
                <a:gd name="T51" fmla="*/ 61 h 222"/>
                <a:gd name="T52" fmla="*/ 115 w 348"/>
                <a:gd name="T53" fmla="*/ 51 h 222"/>
                <a:gd name="T54" fmla="*/ 111 w 348"/>
                <a:gd name="T55" fmla="*/ 40 h 222"/>
                <a:gd name="T56" fmla="*/ 103 w 348"/>
                <a:gd name="T57" fmla="*/ 31 h 222"/>
                <a:gd name="T58" fmla="*/ 98 w 348"/>
                <a:gd name="T59" fmla="*/ 26 h 222"/>
                <a:gd name="T60" fmla="*/ 91 w 348"/>
                <a:gd name="T61" fmla="*/ 21 h 222"/>
                <a:gd name="T62" fmla="*/ 83 w 348"/>
                <a:gd name="T63" fmla="*/ 17 h 222"/>
                <a:gd name="T64" fmla="*/ 75 w 348"/>
                <a:gd name="T65" fmla="*/ 13 h 222"/>
                <a:gd name="T66" fmla="*/ 67 w 348"/>
                <a:gd name="T67" fmla="*/ 10 h 222"/>
                <a:gd name="T68" fmla="*/ 59 w 348"/>
                <a:gd name="T69" fmla="*/ 8 h 222"/>
                <a:gd name="T70" fmla="*/ 50 w 348"/>
                <a:gd name="T71" fmla="*/ 5 h 222"/>
                <a:gd name="T72" fmla="*/ 42 w 348"/>
                <a:gd name="T73" fmla="*/ 3 h 222"/>
                <a:gd name="T74" fmla="*/ 34 w 348"/>
                <a:gd name="T75" fmla="*/ 2 h 222"/>
                <a:gd name="T76" fmla="*/ 26 w 348"/>
                <a:gd name="T77" fmla="*/ 1 h 222"/>
                <a:gd name="T78" fmla="*/ 19 w 348"/>
                <a:gd name="T79" fmla="*/ 0 h 222"/>
                <a:gd name="T80" fmla="*/ 13 w 348"/>
                <a:gd name="T81" fmla="*/ 0 h 222"/>
                <a:gd name="T82" fmla="*/ 8 w 348"/>
                <a:gd name="T83" fmla="*/ 0 h 222"/>
                <a:gd name="T84" fmla="*/ 4 w 348"/>
                <a:gd name="T85" fmla="*/ 0 h 222"/>
                <a:gd name="T86" fmla="*/ 1 w 348"/>
                <a:gd name="T87" fmla="*/ 1 h 222"/>
                <a:gd name="T88" fmla="*/ 0 w 348"/>
                <a:gd name="T89" fmla="*/ 2 h 222"/>
                <a:gd name="T90" fmla="*/ 5 w 348"/>
                <a:gd name="T91" fmla="*/ 3 h 222"/>
                <a:gd name="T92" fmla="*/ 10 w 348"/>
                <a:gd name="T93" fmla="*/ 4 h 222"/>
                <a:gd name="T94" fmla="*/ 15 w 348"/>
                <a:gd name="T95" fmla="*/ 5 h 222"/>
                <a:gd name="T96" fmla="*/ 21 w 348"/>
                <a:gd name="T97" fmla="*/ 6 h 222"/>
                <a:gd name="T98" fmla="*/ 28 w 348"/>
                <a:gd name="T99" fmla="*/ 7 h 222"/>
                <a:gd name="T100" fmla="*/ 34 w 348"/>
                <a:gd name="T101" fmla="*/ 8 h 222"/>
                <a:gd name="T102" fmla="*/ 40 w 348"/>
                <a:gd name="T103" fmla="*/ 9 h 222"/>
                <a:gd name="T104" fmla="*/ 47 w 348"/>
                <a:gd name="T105" fmla="*/ 11 h 222"/>
                <a:gd name="T106" fmla="*/ 53 w 348"/>
                <a:gd name="T107" fmla="*/ 13 h 222"/>
                <a:gd name="T108" fmla="*/ 60 w 348"/>
                <a:gd name="T109" fmla="*/ 15 h 222"/>
                <a:gd name="T110" fmla="*/ 67 w 348"/>
                <a:gd name="T111" fmla="*/ 17 h 222"/>
                <a:gd name="T112" fmla="*/ 73 w 348"/>
                <a:gd name="T113" fmla="*/ 20 h 222"/>
                <a:gd name="T114" fmla="*/ 79 w 348"/>
                <a:gd name="T115" fmla="*/ 23 h 222"/>
                <a:gd name="T116" fmla="*/ 86 w 348"/>
                <a:gd name="T117" fmla="*/ 26 h 222"/>
                <a:gd name="T118" fmla="*/ 91 w 348"/>
                <a:gd name="T119" fmla="*/ 30 h 222"/>
                <a:gd name="T120" fmla="*/ 97 w 348"/>
                <a:gd name="T121" fmla="*/ 34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44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56 h 207"/>
                <a:gd name="T2" fmla="*/ 0 w 142"/>
                <a:gd name="T3" fmla="*/ 65 h 207"/>
                <a:gd name="T4" fmla="*/ 2 w 142"/>
                <a:gd name="T5" fmla="*/ 73 h 207"/>
                <a:gd name="T6" fmla="*/ 5 w 142"/>
                <a:gd name="T7" fmla="*/ 80 h 207"/>
                <a:gd name="T8" fmla="*/ 10 w 142"/>
                <a:gd name="T9" fmla="*/ 87 h 207"/>
                <a:gd name="T10" fmla="*/ 16 w 142"/>
                <a:gd name="T11" fmla="*/ 92 h 207"/>
                <a:gd name="T12" fmla="*/ 23 w 142"/>
                <a:gd name="T13" fmla="*/ 97 h 207"/>
                <a:gd name="T14" fmla="*/ 31 w 142"/>
                <a:gd name="T15" fmla="*/ 101 h 207"/>
                <a:gd name="T16" fmla="*/ 39 w 142"/>
                <a:gd name="T17" fmla="*/ 103 h 207"/>
                <a:gd name="T18" fmla="*/ 41 w 142"/>
                <a:gd name="T19" fmla="*/ 103 h 207"/>
                <a:gd name="T20" fmla="*/ 44 w 142"/>
                <a:gd name="T21" fmla="*/ 102 h 207"/>
                <a:gd name="T22" fmla="*/ 46 w 142"/>
                <a:gd name="T23" fmla="*/ 101 h 207"/>
                <a:gd name="T24" fmla="*/ 47 w 142"/>
                <a:gd name="T25" fmla="*/ 99 h 207"/>
                <a:gd name="T26" fmla="*/ 47 w 142"/>
                <a:gd name="T27" fmla="*/ 96 h 207"/>
                <a:gd name="T28" fmla="*/ 46 w 142"/>
                <a:gd name="T29" fmla="*/ 94 h 207"/>
                <a:gd name="T30" fmla="*/ 45 w 142"/>
                <a:gd name="T31" fmla="*/ 92 h 207"/>
                <a:gd name="T32" fmla="*/ 42 w 142"/>
                <a:gd name="T33" fmla="*/ 91 h 207"/>
                <a:gd name="T34" fmla="*/ 34 w 142"/>
                <a:gd name="T35" fmla="*/ 88 h 207"/>
                <a:gd name="T36" fmla="*/ 27 w 142"/>
                <a:gd name="T37" fmla="*/ 84 h 207"/>
                <a:gd name="T38" fmla="*/ 21 w 142"/>
                <a:gd name="T39" fmla="*/ 78 h 207"/>
                <a:gd name="T40" fmla="*/ 17 w 142"/>
                <a:gd name="T41" fmla="*/ 72 h 207"/>
                <a:gd name="T42" fmla="*/ 14 w 142"/>
                <a:gd name="T43" fmla="*/ 65 h 207"/>
                <a:gd name="T44" fmla="*/ 13 w 142"/>
                <a:gd name="T45" fmla="*/ 57 h 207"/>
                <a:gd name="T46" fmla="*/ 13 w 142"/>
                <a:gd name="T47" fmla="*/ 48 h 207"/>
                <a:gd name="T48" fmla="*/ 15 w 142"/>
                <a:gd name="T49" fmla="*/ 39 h 207"/>
                <a:gd name="T50" fmla="*/ 18 w 142"/>
                <a:gd name="T51" fmla="*/ 32 h 207"/>
                <a:gd name="T52" fmla="*/ 24 w 142"/>
                <a:gd name="T53" fmla="*/ 26 h 207"/>
                <a:gd name="T54" fmla="*/ 29 w 142"/>
                <a:gd name="T55" fmla="*/ 20 h 207"/>
                <a:gd name="T56" fmla="*/ 36 w 142"/>
                <a:gd name="T57" fmla="*/ 14 h 207"/>
                <a:gd name="T58" fmla="*/ 41 w 142"/>
                <a:gd name="T59" fmla="*/ 10 h 207"/>
                <a:gd name="T60" fmla="*/ 46 w 142"/>
                <a:gd name="T61" fmla="*/ 5 h 207"/>
                <a:gd name="T62" fmla="*/ 48 w 142"/>
                <a:gd name="T63" fmla="*/ 2 h 207"/>
                <a:gd name="T64" fmla="*/ 48 w 142"/>
                <a:gd name="T65" fmla="*/ 0 h 207"/>
                <a:gd name="T66" fmla="*/ 43 w 142"/>
                <a:gd name="T67" fmla="*/ 2 h 207"/>
                <a:gd name="T68" fmla="*/ 36 w 142"/>
                <a:gd name="T69" fmla="*/ 5 h 207"/>
                <a:gd name="T70" fmla="*/ 28 w 142"/>
                <a:gd name="T71" fmla="*/ 11 h 207"/>
                <a:gd name="T72" fmla="*/ 21 w 142"/>
                <a:gd name="T73" fmla="*/ 18 h 207"/>
                <a:gd name="T74" fmla="*/ 13 w 142"/>
                <a:gd name="T75" fmla="*/ 26 h 207"/>
                <a:gd name="T76" fmla="*/ 7 w 142"/>
                <a:gd name="T77" fmla="*/ 36 h 207"/>
                <a:gd name="T78" fmla="*/ 3 w 142"/>
                <a:gd name="T79" fmla="*/ 46 h 207"/>
                <a:gd name="T80" fmla="*/ 0 w 142"/>
                <a:gd name="T81" fmla="*/ 56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45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85 w 303"/>
                <a:gd name="T1" fmla="*/ 54 h 272"/>
                <a:gd name="T2" fmla="*/ 90 w 303"/>
                <a:gd name="T3" fmla="*/ 63 h 272"/>
                <a:gd name="T4" fmla="*/ 93 w 303"/>
                <a:gd name="T5" fmla="*/ 71 h 272"/>
                <a:gd name="T6" fmla="*/ 91 w 303"/>
                <a:gd name="T7" fmla="*/ 81 h 272"/>
                <a:gd name="T8" fmla="*/ 85 w 303"/>
                <a:gd name="T9" fmla="*/ 91 h 272"/>
                <a:gd name="T10" fmla="*/ 77 w 303"/>
                <a:gd name="T11" fmla="*/ 99 h 272"/>
                <a:gd name="T12" fmla="*/ 68 w 303"/>
                <a:gd name="T13" fmla="*/ 107 h 272"/>
                <a:gd name="T14" fmla="*/ 58 w 303"/>
                <a:gd name="T15" fmla="*/ 115 h 272"/>
                <a:gd name="T16" fmla="*/ 53 w 303"/>
                <a:gd name="T17" fmla="*/ 121 h 272"/>
                <a:gd name="T18" fmla="*/ 51 w 303"/>
                <a:gd name="T19" fmla="*/ 125 h 272"/>
                <a:gd name="T20" fmla="*/ 49 w 303"/>
                <a:gd name="T21" fmla="*/ 129 h 272"/>
                <a:gd name="T22" fmla="*/ 50 w 303"/>
                <a:gd name="T23" fmla="*/ 133 h 272"/>
                <a:gd name="T24" fmla="*/ 54 w 303"/>
                <a:gd name="T25" fmla="*/ 135 h 272"/>
                <a:gd name="T26" fmla="*/ 57 w 303"/>
                <a:gd name="T27" fmla="*/ 135 h 272"/>
                <a:gd name="T28" fmla="*/ 63 w 303"/>
                <a:gd name="T29" fmla="*/ 127 h 272"/>
                <a:gd name="T30" fmla="*/ 74 w 303"/>
                <a:gd name="T31" fmla="*/ 117 h 272"/>
                <a:gd name="T32" fmla="*/ 85 w 303"/>
                <a:gd name="T33" fmla="*/ 107 h 272"/>
                <a:gd name="T34" fmla="*/ 95 w 303"/>
                <a:gd name="T35" fmla="*/ 95 h 272"/>
                <a:gd name="T36" fmla="*/ 100 w 303"/>
                <a:gd name="T37" fmla="*/ 81 h 272"/>
                <a:gd name="T38" fmla="*/ 100 w 303"/>
                <a:gd name="T39" fmla="*/ 66 h 272"/>
                <a:gd name="T40" fmla="*/ 94 w 303"/>
                <a:gd name="T41" fmla="*/ 52 h 272"/>
                <a:gd name="T42" fmla="*/ 84 w 303"/>
                <a:gd name="T43" fmla="*/ 41 h 272"/>
                <a:gd name="T44" fmla="*/ 72 w 303"/>
                <a:gd name="T45" fmla="*/ 33 h 272"/>
                <a:gd name="T46" fmla="*/ 62 w 303"/>
                <a:gd name="T47" fmla="*/ 27 h 272"/>
                <a:gd name="T48" fmla="*/ 50 w 303"/>
                <a:gd name="T49" fmla="*/ 20 h 272"/>
                <a:gd name="T50" fmla="*/ 38 w 303"/>
                <a:gd name="T51" fmla="*/ 13 h 272"/>
                <a:gd name="T52" fmla="*/ 27 w 303"/>
                <a:gd name="T53" fmla="*/ 8 h 272"/>
                <a:gd name="T54" fmla="*/ 16 w 303"/>
                <a:gd name="T55" fmla="*/ 3 h 272"/>
                <a:gd name="T56" fmla="*/ 8 w 303"/>
                <a:gd name="T57" fmla="*/ 0 h 272"/>
                <a:gd name="T58" fmla="*/ 2 w 303"/>
                <a:gd name="T59" fmla="*/ 0 h 272"/>
                <a:gd name="T60" fmla="*/ 4 w 303"/>
                <a:gd name="T61" fmla="*/ 3 h 272"/>
                <a:gd name="T62" fmla="*/ 14 w 303"/>
                <a:gd name="T63" fmla="*/ 8 h 272"/>
                <a:gd name="T64" fmla="*/ 25 w 303"/>
                <a:gd name="T65" fmla="*/ 13 h 272"/>
                <a:gd name="T66" fmla="*/ 35 w 303"/>
                <a:gd name="T67" fmla="*/ 19 h 272"/>
                <a:gd name="T68" fmla="*/ 46 w 303"/>
                <a:gd name="T69" fmla="*/ 25 h 272"/>
                <a:gd name="T70" fmla="*/ 57 w 303"/>
                <a:gd name="T71" fmla="*/ 31 h 272"/>
                <a:gd name="T72" fmla="*/ 68 w 303"/>
                <a:gd name="T73" fmla="*/ 39 h 272"/>
                <a:gd name="T74" fmla="*/ 77 w 303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39" name="Group 46"/>
          <p:cNvGrpSpPr>
            <a:grpSpLocks/>
          </p:cNvGrpSpPr>
          <p:nvPr/>
        </p:nvGrpSpPr>
        <p:grpSpPr bwMode="auto">
          <a:xfrm>
            <a:off x="5691188" y="5053013"/>
            <a:ext cx="844550" cy="600075"/>
            <a:chOff x="1160" y="2192"/>
            <a:chExt cx="589" cy="440"/>
          </a:xfrm>
        </p:grpSpPr>
        <p:pic>
          <p:nvPicPr>
            <p:cNvPr id="13364" name="Picture 47" descr="31u_bnrz[1]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 rot="-5400000">
              <a:off x="1349" y="2458"/>
              <a:ext cx="212" cy="1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65" name="AutoShape 48"/>
            <p:cNvSpPr>
              <a:spLocks noChangeAspect="1" noChangeArrowheads="1" noTextEdit="1"/>
            </p:cNvSpPr>
            <p:nvPr/>
          </p:nvSpPr>
          <p:spPr bwMode="auto">
            <a:xfrm>
              <a:off x="1160" y="2192"/>
              <a:ext cx="589" cy="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49"/>
            <p:cNvSpPr>
              <a:spLocks/>
            </p:cNvSpPr>
            <p:nvPr/>
          </p:nvSpPr>
          <p:spPr bwMode="auto">
            <a:xfrm>
              <a:off x="1283" y="2231"/>
              <a:ext cx="83" cy="102"/>
            </a:xfrm>
            <a:custGeom>
              <a:avLst/>
              <a:gdLst>
                <a:gd name="T0" fmla="*/ 29 w 247"/>
                <a:gd name="T1" fmla="*/ 13 h 203"/>
                <a:gd name="T2" fmla="*/ 23 w 247"/>
                <a:gd name="T3" fmla="*/ 17 h 203"/>
                <a:gd name="T4" fmla="*/ 17 w 247"/>
                <a:gd name="T5" fmla="*/ 22 h 203"/>
                <a:gd name="T6" fmla="*/ 13 w 247"/>
                <a:gd name="T7" fmla="*/ 28 h 203"/>
                <a:gd name="T8" fmla="*/ 8 w 247"/>
                <a:gd name="T9" fmla="*/ 34 h 203"/>
                <a:gd name="T10" fmla="*/ 5 w 247"/>
                <a:gd name="T11" fmla="*/ 40 h 203"/>
                <a:gd name="T12" fmla="*/ 2 w 247"/>
                <a:gd name="T13" fmla="*/ 47 h 203"/>
                <a:gd name="T14" fmla="*/ 1 w 247"/>
                <a:gd name="T15" fmla="*/ 55 h 203"/>
                <a:gd name="T16" fmla="*/ 0 w 247"/>
                <a:gd name="T17" fmla="*/ 62 h 203"/>
                <a:gd name="T18" fmla="*/ 1 w 247"/>
                <a:gd name="T19" fmla="*/ 73 h 203"/>
                <a:gd name="T20" fmla="*/ 5 w 247"/>
                <a:gd name="T21" fmla="*/ 82 h 203"/>
                <a:gd name="T22" fmla="*/ 11 w 247"/>
                <a:gd name="T23" fmla="*/ 89 h 203"/>
                <a:gd name="T24" fmla="*/ 18 w 247"/>
                <a:gd name="T25" fmla="*/ 95 h 203"/>
                <a:gd name="T26" fmla="*/ 27 w 247"/>
                <a:gd name="T27" fmla="*/ 99 h 203"/>
                <a:gd name="T28" fmla="*/ 37 w 247"/>
                <a:gd name="T29" fmla="*/ 101 h 203"/>
                <a:gd name="T30" fmla="*/ 46 w 247"/>
                <a:gd name="T31" fmla="*/ 102 h 203"/>
                <a:gd name="T32" fmla="*/ 55 w 247"/>
                <a:gd name="T33" fmla="*/ 100 h 203"/>
                <a:gd name="T34" fmla="*/ 57 w 247"/>
                <a:gd name="T35" fmla="*/ 100 h 203"/>
                <a:gd name="T36" fmla="*/ 59 w 247"/>
                <a:gd name="T37" fmla="*/ 99 h 203"/>
                <a:gd name="T38" fmla="*/ 61 w 247"/>
                <a:gd name="T39" fmla="*/ 98 h 203"/>
                <a:gd name="T40" fmla="*/ 61 w 247"/>
                <a:gd name="T41" fmla="*/ 96 h 203"/>
                <a:gd name="T42" fmla="*/ 60 w 247"/>
                <a:gd name="T43" fmla="*/ 93 h 203"/>
                <a:gd name="T44" fmla="*/ 58 w 247"/>
                <a:gd name="T45" fmla="*/ 91 h 203"/>
                <a:gd name="T46" fmla="*/ 56 w 247"/>
                <a:gd name="T47" fmla="*/ 89 h 203"/>
                <a:gd name="T48" fmla="*/ 54 w 247"/>
                <a:gd name="T49" fmla="*/ 88 h 203"/>
                <a:gd name="T50" fmla="*/ 49 w 247"/>
                <a:gd name="T51" fmla="*/ 87 h 203"/>
                <a:gd name="T52" fmla="*/ 44 w 247"/>
                <a:gd name="T53" fmla="*/ 86 h 203"/>
                <a:gd name="T54" fmla="*/ 39 w 247"/>
                <a:gd name="T55" fmla="*/ 85 h 203"/>
                <a:gd name="T56" fmla="*/ 35 w 247"/>
                <a:gd name="T57" fmla="*/ 84 h 203"/>
                <a:gd name="T58" fmla="*/ 30 w 247"/>
                <a:gd name="T59" fmla="*/ 82 h 203"/>
                <a:gd name="T60" fmla="*/ 26 w 247"/>
                <a:gd name="T61" fmla="*/ 80 h 203"/>
                <a:gd name="T62" fmla="*/ 22 w 247"/>
                <a:gd name="T63" fmla="*/ 77 h 203"/>
                <a:gd name="T64" fmla="*/ 18 w 247"/>
                <a:gd name="T65" fmla="*/ 73 h 203"/>
                <a:gd name="T66" fmla="*/ 16 w 247"/>
                <a:gd name="T67" fmla="*/ 56 h 203"/>
                <a:gd name="T68" fmla="*/ 20 w 247"/>
                <a:gd name="T69" fmla="*/ 42 h 203"/>
                <a:gd name="T70" fmla="*/ 28 w 247"/>
                <a:gd name="T71" fmla="*/ 31 h 203"/>
                <a:gd name="T72" fmla="*/ 39 w 247"/>
                <a:gd name="T73" fmla="*/ 22 h 203"/>
                <a:gd name="T74" fmla="*/ 51 w 247"/>
                <a:gd name="T75" fmla="*/ 15 h 203"/>
                <a:gd name="T76" fmla="*/ 63 w 247"/>
                <a:gd name="T77" fmla="*/ 10 h 203"/>
                <a:gd name="T78" fmla="*/ 74 w 247"/>
                <a:gd name="T79" fmla="*/ 6 h 203"/>
                <a:gd name="T80" fmla="*/ 83 w 247"/>
                <a:gd name="T81" fmla="*/ 2 h 203"/>
                <a:gd name="T82" fmla="*/ 78 w 247"/>
                <a:gd name="T83" fmla="*/ 1 h 203"/>
                <a:gd name="T84" fmla="*/ 72 w 247"/>
                <a:gd name="T85" fmla="*/ 0 h 203"/>
                <a:gd name="T86" fmla="*/ 65 w 247"/>
                <a:gd name="T87" fmla="*/ 1 h 203"/>
                <a:gd name="T88" fmla="*/ 57 w 247"/>
                <a:gd name="T89" fmla="*/ 2 h 203"/>
                <a:gd name="T90" fmla="*/ 50 w 247"/>
                <a:gd name="T91" fmla="*/ 5 h 203"/>
                <a:gd name="T92" fmla="*/ 43 w 247"/>
                <a:gd name="T93" fmla="*/ 7 h 203"/>
                <a:gd name="T94" fmla="*/ 36 w 247"/>
                <a:gd name="T95" fmla="*/ 10 h 203"/>
                <a:gd name="T96" fmla="*/ 29 w 247"/>
                <a:gd name="T97" fmla="*/ 13 h 20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247"/>
                <a:gd name="T148" fmla="*/ 0 h 203"/>
                <a:gd name="T149" fmla="*/ 247 w 247"/>
                <a:gd name="T150" fmla="*/ 203 h 20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247" h="203">
                  <a:moveTo>
                    <a:pt x="87" y="26"/>
                  </a:moveTo>
                  <a:lnTo>
                    <a:pt x="68" y="34"/>
                  </a:lnTo>
                  <a:lnTo>
                    <a:pt x="52" y="44"/>
                  </a:lnTo>
                  <a:lnTo>
                    <a:pt x="38" y="55"/>
                  </a:lnTo>
                  <a:lnTo>
                    <a:pt x="25" y="67"/>
                  </a:lnTo>
                  <a:lnTo>
                    <a:pt x="14" y="80"/>
                  </a:lnTo>
                  <a:lnTo>
                    <a:pt x="7" y="94"/>
                  </a:lnTo>
                  <a:lnTo>
                    <a:pt x="3" y="109"/>
                  </a:lnTo>
                  <a:lnTo>
                    <a:pt x="0" y="124"/>
                  </a:lnTo>
                  <a:lnTo>
                    <a:pt x="3" y="145"/>
                  </a:lnTo>
                  <a:lnTo>
                    <a:pt x="14" y="163"/>
                  </a:lnTo>
                  <a:lnTo>
                    <a:pt x="32" y="178"/>
                  </a:lnTo>
                  <a:lnTo>
                    <a:pt x="55" y="189"/>
                  </a:lnTo>
                  <a:lnTo>
                    <a:pt x="81" y="198"/>
                  </a:lnTo>
                  <a:lnTo>
                    <a:pt x="109" y="202"/>
                  </a:lnTo>
                  <a:lnTo>
                    <a:pt x="138" y="203"/>
                  </a:lnTo>
                  <a:lnTo>
                    <a:pt x="165" y="200"/>
                  </a:lnTo>
                  <a:lnTo>
                    <a:pt x="171" y="200"/>
                  </a:lnTo>
                  <a:lnTo>
                    <a:pt x="177" y="198"/>
                  </a:lnTo>
                  <a:lnTo>
                    <a:pt x="181" y="195"/>
                  </a:lnTo>
                  <a:lnTo>
                    <a:pt x="183" y="191"/>
                  </a:lnTo>
                  <a:lnTo>
                    <a:pt x="180" y="186"/>
                  </a:lnTo>
                  <a:lnTo>
                    <a:pt x="174" y="182"/>
                  </a:lnTo>
                  <a:lnTo>
                    <a:pt x="167" y="178"/>
                  </a:lnTo>
                  <a:lnTo>
                    <a:pt x="160" y="176"/>
                  </a:lnTo>
                  <a:lnTo>
                    <a:pt x="145" y="173"/>
                  </a:lnTo>
                  <a:lnTo>
                    <a:pt x="131" y="171"/>
                  </a:lnTo>
                  <a:lnTo>
                    <a:pt x="116" y="169"/>
                  </a:lnTo>
                  <a:lnTo>
                    <a:pt x="103" y="167"/>
                  </a:lnTo>
                  <a:lnTo>
                    <a:pt x="90" y="164"/>
                  </a:lnTo>
                  <a:lnTo>
                    <a:pt x="77" y="160"/>
                  </a:lnTo>
                  <a:lnTo>
                    <a:pt x="65" y="154"/>
                  </a:lnTo>
                  <a:lnTo>
                    <a:pt x="54" y="146"/>
                  </a:lnTo>
                  <a:lnTo>
                    <a:pt x="49" y="112"/>
                  </a:lnTo>
                  <a:lnTo>
                    <a:pt x="61" y="84"/>
                  </a:lnTo>
                  <a:lnTo>
                    <a:pt x="84" y="62"/>
                  </a:lnTo>
                  <a:lnTo>
                    <a:pt x="116" y="44"/>
                  </a:lnTo>
                  <a:lnTo>
                    <a:pt x="151" y="30"/>
                  </a:lnTo>
                  <a:lnTo>
                    <a:pt x="187" y="19"/>
                  </a:lnTo>
                  <a:lnTo>
                    <a:pt x="220" y="11"/>
                  </a:lnTo>
                  <a:lnTo>
                    <a:pt x="247" y="4"/>
                  </a:lnTo>
                  <a:lnTo>
                    <a:pt x="231" y="1"/>
                  </a:lnTo>
                  <a:lnTo>
                    <a:pt x="213" y="0"/>
                  </a:lnTo>
                  <a:lnTo>
                    <a:pt x="193" y="2"/>
                  </a:lnTo>
                  <a:lnTo>
                    <a:pt x="171" y="4"/>
                  </a:lnTo>
                  <a:lnTo>
                    <a:pt x="149" y="9"/>
                  </a:lnTo>
                  <a:lnTo>
                    <a:pt x="128" y="14"/>
                  </a:lnTo>
                  <a:lnTo>
                    <a:pt x="106" y="20"/>
                  </a:lnTo>
                  <a:lnTo>
                    <a:pt x="87" y="26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0"/>
            <p:cNvSpPr>
              <a:spLocks/>
            </p:cNvSpPr>
            <p:nvPr/>
          </p:nvSpPr>
          <p:spPr bwMode="auto">
            <a:xfrm>
              <a:off x="1424" y="2230"/>
              <a:ext cx="52" cy="79"/>
            </a:xfrm>
            <a:custGeom>
              <a:avLst/>
              <a:gdLst>
                <a:gd name="T0" fmla="*/ 44 w 158"/>
                <a:gd name="T1" fmla="*/ 26 h 158"/>
                <a:gd name="T2" fmla="*/ 46 w 158"/>
                <a:gd name="T3" fmla="*/ 34 h 158"/>
                <a:gd name="T4" fmla="*/ 45 w 158"/>
                <a:gd name="T5" fmla="*/ 41 h 158"/>
                <a:gd name="T6" fmla="*/ 42 w 158"/>
                <a:gd name="T7" fmla="*/ 47 h 158"/>
                <a:gd name="T8" fmla="*/ 37 w 158"/>
                <a:gd name="T9" fmla="*/ 53 h 158"/>
                <a:gd name="T10" fmla="*/ 31 w 158"/>
                <a:gd name="T11" fmla="*/ 58 h 158"/>
                <a:gd name="T12" fmla="*/ 25 w 158"/>
                <a:gd name="T13" fmla="*/ 63 h 158"/>
                <a:gd name="T14" fmla="*/ 18 w 158"/>
                <a:gd name="T15" fmla="*/ 68 h 158"/>
                <a:gd name="T16" fmla="*/ 12 w 158"/>
                <a:gd name="T17" fmla="*/ 72 h 158"/>
                <a:gd name="T18" fmla="*/ 11 w 158"/>
                <a:gd name="T19" fmla="*/ 74 h 158"/>
                <a:gd name="T20" fmla="*/ 11 w 158"/>
                <a:gd name="T21" fmla="*/ 75 h 158"/>
                <a:gd name="T22" fmla="*/ 11 w 158"/>
                <a:gd name="T23" fmla="*/ 76 h 158"/>
                <a:gd name="T24" fmla="*/ 11 w 158"/>
                <a:gd name="T25" fmla="*/ 78 h 158"/>
                <a:gd name="T26" fmla="*/ 13 w 158"/>
                <a:gd name="T27" fmla="*/ 79 h 158"/>
                <a:gd name="T28" fmla="*/ 14 w 158"/>
                <a:gd name="T29" fmla="*/ 79 h 158"/>
                <a:gd name="T30" fmla="*/ 15 w 158"/>
                <a:gd name="T31" fmla="*/ 79 h 158"/>
                <a:gd name="T32" fmla="*/ 16 w 158"/>
                <a:gd name="T33" fmla="*/ 79 h 158"/>
                <a:gd name="T34" fmla="*/ 24 w 158"/>
                <a:gd name="T35" fmla="*/ 74 h 158"/>
                <a:gd name="T36" fmla="*/ 31 w 158"/>
                <a:gd name="T37" fmla="*/ 69 h 158"/>
                <a:gd name="T38" fmla="*/ 38 w 158"/>
                <a:gd name="T39" fmla="*/ 63 h 158"/>
                <a:gd name="T40" fmla="*/ 44 w 158"/>
                <a:gd name="T41" fmla="*/ 57 h 158"/>
                <a:gd name="T42" fmla="*/ 49 w 158"/>
                <a:gd name="T43" fmla="*/ 50 h 158"/>
                <a:gd name="T44" fmla="*/ 51 w 158"/>
                <a:gd name="T45" fmla="*/ 42 h 158"/>
                <a:gd name="T46" fmla="*/ 52 w 158"/>
                <a:gd name="T47" fmla="*/ 34 h 158"/>
                <a:gd name="T48" fmla="*/ 50 w 158"/>
                <a:gd name="T49" fmla="*/ 24 h 158"/>
                <a:gd name="T50" fmla="*/ 46 w 158"/>
                <a:gd name="T51" fmla="*/ 18 h 158"/>
                <a:gd name="T52" fmla="*/ 39 w 158"/>
                <a:gd name="T53" fmla="*/ 11 h 158"/>
                <a:gd name="T54" fmla="*/ 32 w 158"/>
                <a:gd name="T55" fmla="*/ 7 h 158"/>
                <a:gd name="T56" fmla="*/ 23 w 158"/>
                <a:gd name="T57" fmla="*/ 3 h 158"/>
                <a:gd name="T58" fmla="*/ 15 w 158"/>
                <a:gd name="T59" fmla="*/ 1 h 158"/>
                <a:gd name="T60" fmla="*/ 8 w 158"/>
                <a:gd name="T61" fmla="*/ 0 h 158"/>
                <a:gd name="T62" fmla="*/ 2 w 158"/>
                <a:gd name="T63" fmla="*/ 0 h 158"/>
                <a:gd name="T64" fmla="*/ 0 w 158"/>
                <a:gd name="T65" fmla="*/ 2 h 158"/>
                <a:gd name="T66" fmla="*/ 6 w 158"/>
                <a:gd name="T67" fmla="*/ 5 h 158"/>
                <a:gd name="T68" fmla="*/ 12 w 158"/>
                <a:gd name="T69" fmla="*/ 6 h 158"/>
                <a:gd name="T70" fmla="*/ 18 w 158"/>
                <a:gd name="T71" fmla="*/ 9 h 158"/>
                <a:gd name="T72" fmla="*/ 25 w 158"/>
                <a:gd name="T73" fmla="*/ 10 h 158"/>
                <a:gd name="T74" fmla="*/ 31 w 158"/>
                <a:gd name="T75" fmla="*/ 13 h 158"/>
                <a:gd name="T76" fmla="*/ 36 w 158"/>
                <a:gd name="T77" fmla="*/ 17 h 158"/>
                <a:gd name="T78" fmla="*/ 40 w 158"/>
                <a:gd name="T79" fmla="*/ 20 h 158"/>
                <a:gd name="T80" fmla="*/ 44 w 158"/>
                <a:gd name="T81" fmla="*/ 26 h 15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8"/>
                <a:gd name="T124" fmla="*/ 0 h 158"/>
                <a:gd name="T125" fmla="*/ 158 w 158"/>
                <a:gd name="T126" fmla="*/ 158 h 15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8" h="158">
                  <a:moveTo>
                    <a:pt x="133" y="52"/>
                  </a:moveTo>
                  <a:lnTo>
                    <a:pt x="139" y="68"/>
                  </a:lnTo>
                  <a:lnTo>
                    <a:pt x="137" y="83"/>
                  </a:lnTo>
                  <a:lnTo>
                    <a:pt x="127" y="95"/>
                  </a:lnTo>
                  <a:lnTo>
                    <a:pt x="113" y="106"/>
                  </a:lnTo>
                  <a:lnTo>
                    <a:pt x="95" y="116"/>
                  </a:lnTo>
                  <a:lnTo>
                    <a:pt x="75" y="126"/>
                  </a:lnTo>
                  <a:lnTo>
                    <a:pt x="55" y="135"/>
                  </a:lnTo>
                  <a:lnTo>
                    <a:pt x="37" y="144"/>
                  </a:lnTo>
                  <a:lnTo>
                    <a:pt x="34" y="147"/>
                  </a:lnTo>
                  <a:lnTo>
                    <a:pt x="33" y="149"/>
                  </a:lnTo>
                  <a:lnTo>
                    <a:pt x="33" y="152"/>
                  </a:lnTo>
                  <a:lnTo>
                    <a:pt x="34" y="155"/>
                  </a:lnTo>
                  <a:lnTo>
                    <a:pt x="39" y="157"/>
                  </a:lnTo>
                  <a:lnTo>
                    <a:pt x="43" y="158"/>
                  </a:lnTo>
                  <a:lnTo>
                    <a:pt x="46" y="158"/>
                  </a:lnTo>
                  <a:lnTo>
                    <a:pt x="50" y="157"/>
                  </a:lnTo>
                  <a:lnTo>
                    <a:pt x="74" y="148"/>
                  </a:lnTo>
                  <a:lnTo>
                    <a:pt x="95" y="138"/>
                  </a:lnTo>
                  <a:lnTo>
                    <a:pt x="116" y="127"/>
                  </a:lnTo>
                  <a:lnTo>
                    <a:pt x="135" y="114"/>
                  </a:lnTo>
                  <a:lnTo>
                    <a:pt x="148" y="100"/>
                  </a:lnTo>
                  <a:lnTo>
                    <a:pt x="156" y="84"/>
                  </a:lnTo>
                  <a:lnTo>
                    <a:pt x="158" y="67"/>
                  </a:lnTo>
                  <a:lnTo>
                    <a:pt x="152" y="49"/>
                  </a:lnTo>
                  <a:lnTo>
                    <a:pt x="139" y="35"/>
                  </a:lnTo>
                  <a:lnTo>
                    <a:pt x="120" y="23"/>
                  </a:lnTo>
                  <a:lnTo>
                    <a:pt x="97" y="14"/>
                  </a:lnTo>
                  <a:lnTo>
                    <a:pt x="71" y="7"/>
                  </a:lnTo>
                  <a:lnTo>
                    <a:pt x="45" y="2"/>
                  </a:lnTo>
                  <a:lnTo>
                    <a:pt x="23" y="0"/>
                  </a:lnTo>
                  <a:lnTo>
                    <a:pt x="7" y="0"/>
                  </a:lnTo>
                  <a:lnTo>
                    <a:pt x="0" y="4"/>
                  </a:lnTo>
                  <a:lnTo>
                    <a:pt x="17" y="9"/>
                  </a:lnTo>
                  <a:lnTo>
                    <a:pt x="36" y="13"/>
                  </a:lnTo>
                  <a:lnTo>
                    <a:pt x="56" y="17"/>
                  </a:lnTo>
                  <a:lnTo>
                    <a:pt x="75" y="21"/>
                  </a:lnTo>
                  <a:lnTo>
                    <a:pt x="94" y="26"/>
                  </a:lnTo>
                  <a:lnTo>
                    <a:pt x="110" y="33"/>
                  </a:lnTo>
                  <a:lnTo>
                    <a:pt x="123" y="41"/>
                  </a:lnTo>
                  <a:lnTo>
                    <a:pt x="133" y="5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1"/>
            <p:cNvSpPr>
              <a:spLocks/>
            </p:cNvSpPr>
            <p:nvPr/>
          </p:nvSpPr>
          <p:spPr bwMode="auto">
            <a:xfrm>
              <a:off x="1232" y="2211"/>
              <a:ext cx="133" cy="166"/>
            </a:xfrm>
            <a:custGeom>
              <a:avLst/>
              <a:gdLst>
                <a:gd name="T0" fmla="*/ 41 w 399"/>
                <a:gd name="T1" fmla="*/ 31 h 331"/>
                <a:gd name="T2" fmla="*/ 22 w 399"/>
                <a:gd name="T3" fmla="*/ 51 h 331"/>
                <a:gd name="T4" fmla="*/ 7 w 399"/>
                <a:gd name="T5" fmla="*/ 73 h 331"/>
                <a:gd name="T6" fmla="*/ 0 w 399"/>
                <a:gd name="T7" fmla="*/ 100 h 331"/>
                <a:gd name="T8" fmla="*/ 1 w 399"/>
                <a:gd name="T9" fmla="*/ 117 h 331"/>
                <a:gd name="T10" fmla="*/ 4 w 399"/>
                <a:gd name="T11" fmla="*/ 124 h 331"/>
                <a:gd name="T12" fmla="*/ 8 w 399"/>
                <a:gd name="T13" fmla="*/ 131 h 331"/>
                <a:gd name="T14" fmla="*/ 13 w 399"/>
                <a:gd name="T15" fmla="*/ 136 h 331"/>
                <a:gd name="T16" fmla="*/ 23 w 399"/>
                <a:gd name="T17" fmla="*/ 142 h 331"/>
                <a:gd name="T18" fmla="*/ 36 w 399"/>
                <a:gd name="T19" fmla="*/ 149 h 331"/>
                <a:gd name="T20" fmla="*/ 49 w 399"/>
                <a:gd name="T21" fmla="*/ 154 h 331"/>
                <a:gd name="T22" fmla="*/ 63 w 399"/>
                <a:gd name="T23" fmla="*/ 158 h 331"/>
                <a:gd name="T24" fmla="*/ 77 w 399"/>
                <a:gd name="T25" fmla="*/ 161 h 331"/>
                <a:gd name="T26" fmla="*/ 91 w 399"/>
                <a:gd name="T27" fmla="*/ 163 h 331"/>
                <a:gd name="T28" fmla="*/ 105 w 399"/>
                <a:gd name="T29" fmla="*/ 164 h 331"/>
                <a:gd name="T30" fmla="*/ 119 w 399"/>
                <a:gd name="T31" fmla="*/ 165 h 331"/>
                <a:gd name="T32" fmla="*/ 129 w 399"/>
                <a:gd name="T33" fmla="*/ 166 h 331"/>
                <a:gd name="T34" fmla="*/ 132 w 399"/>
                <a:gd name="T35" fmla="*/ 163 h 331"/>
                <a:gd name="T36" fmla="*/ 133 w 399"/>
                <a:gd name="T37" fmla="*/ 158 h 331"/>
                <a:gd name="T38" fmla="*/ 130 w 399"/>
                <a:gd name="T39" fmla="*/ 155 h 331"/>
                <a:gd name="T40" fmla="*/ 121 w 399"/>
                <a:gd name="T41" fmla="*/ 152 h 331"/>
                <a:gd name="T42" fmla="*/ 109 w 399"/>
                <a:gd name="T43" fmla="*/ 150 h 331"/>
                <a:gd name="T44" fmla="*/ 96 w 399"/>
                <a:gd name="T45" fmla="*/ 148 h 331"/>
                <a:gd name="T46" fmla="*/ 83 w 399"/>
                <a:gd name="T47" fmla="*/ 146 h 331"/>
                <a:gd name="T48" fmla="*/ 70 w 399"/>
                <a:gd name="T49" fmla="*/ 143 h 331"/>
                <a:gd name="T50" fmla="*/ 57 w 399"/>
                <a:gd name="T51" fmla="*/ 140 h 331"/>
                <a:gd name="T52" fmla="*/ 45 w 399"/>
                <a:gd name="T53" fmla="*/ 136 h 331"/>
                <a:gd name="T54" fmla="*/ 33 w 399"/>
                <a:gd name="T55" fmla="*/ 131 h 331"/>
                <a:gd name="T56" fmla="*/ 23 w 399"/>
                <a:gd name="T57" fmla="*/ 124 h 331"/>
                <a:gd name="T58" fmla="*/ 16 w 399"/>
                <a:gd name="T59" fmla="*/ 114 h 331"/>
                <a:gd name="T60" fmla="*/ 14 w 399"/>
                <a:gd name="T61" fmla="*/ 102 h 331"/>
                <a:gd name="T62" fmla="*/ 16 w 399"/>
                <a:gd name="T63" fmla="*/ 88 h 331"/>
                <a:gd name="T64" fmla="*/ 21 w 399"/>
                <a:gd name="T65" fmla="*/ 75 h 331"/>
                <a:gd name="T66" fmla="*/ 29 w 399"/>
                <a:gd name="T67" fmla="*/ 61 h 331"/>
                <a:gd name="T68" fmla="*/ 39 w 399"/>
                <a:gd name="T69" fmla="*/ 49 h 331"/>
                <a:gd name="T70" fmla="*/ 51 w 399"/>
                <a:gd name="T71" fmla="*/ 37 h 331"/>
                <a:gd name="T72" fmla="*/ 63 w 399"/>
                <a:gd name="T73" fmla="*/ 26 h 331"/>
                <a:gd name="T74" fmla="*/ 81 w 399"/>
                <a:gd name="T75" fmla="*/ 17 h 331"/>
                <a:gd name="T76" fmla="*/ 98 w 399"/>
                <a:gd name="T77" fmla="*/ 9 h 331"/>
                <a:gd name="T78" fmla="*/ 109 w 399"/>
                <a:gd name="T79" fmla="*/ 3 h 331"/>
                <a:gd name="T80" fmla="*/ 106 w 399"/>
                <a:gd name="T81" fmla="*/ 0 h 331"/>
                <a:gd name="T82" fmla="*/ 91 w 399"/>
                <a:gd name="T83" fmla="*/ 2 h 331"/>
                <a:gd name="T84" fmla="*/ 74 w 399"/>
                <a:gd name="T85" fmla="*/ 8 h 331"/>
                <a:gd name="T86" fmla="*/ 58 w 399"/>
                <a:gd name="T87" fmla="*/ 17 h 33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1"/>
                <a:gd name="T134" fmla="*/ 399 w 399"/>
                <a:gd name="T135" fmla="*/ 331 h 33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1">
                  <a:moveTo>
                    <a:pt x="155" y="44"/>
                  </a:moveTo>
                  <a:lnTo>
                    <a:pt x="124" y="62"/>
                  </a:lnTo>
                  <a:lnTo>
                    <a:pt x="94" y="80"/>
                  </a:lnTo>
                  <a:lnTo>
                    <a:pt x="66" y="101"/>
                  </a:lnTo>
                  <a:lnTo>
                    <a:pt x="42" y="123"/>
                  </a:lnTo>
                  <a:lnTo>
                    <a:pt x="21" y="146"/>
                  </a:lnTo>
                  <a:lnTo>
                    <a:pt x="7" y="171"/>
                  </a:lnTo>
                  <a:lnTo>
                    <a:pt x="0" y="199"/>
                  </a:lnTo>
                  <a:lnTo>
                    <a:pt x="1" y="227"/>
                  </a:lnTo>
                  <a:lnTo>
                    <a:pt x="4" y="234"/>
                  </a:lnTo>
                  <a:lnTo>
                    <a:pt x="7" y="242"/>
                  </a:lnTo>
                  <a:lnTo>
                    <a:pt x="11" y="248"/>
                  </a:lnTo>
                  <a:lnTo>
                    <a:pt x="17" y="255"/>
                  </a:lnTo>
                  <a:lnTo>
                    <a:pt x="24" y="261"/>
                  </a:lnTo>
                  <a:lnTo>
                    <a:pt x="33" y="267"/>
                  </a:lnTo>
                  <a:lnTo>
                    <a:pt x="40" y="272"/>
                  </a:lnTo>
                  <a:lnTo>
                    <a:pt x="50" y="276"/>
                  </a:lnTo>
                  <a:lnTo>
                    <a:pt x="69" y="284"/>
                  </a:lnTo>
                  <a:lnTo>
                    <a:pt x="88" y="291"/>
                  </a:lnTo>
                  <a:lnTo>
                    <a:pt x="107" y="297"/>
                  </a:lnTo>
                  <a:lnTo>
                    <a:pt x="127" y="302"/>
                  </a:lnTo>
                  <a:lnTo>
                    <a:pt x="148" y="307"/>
                  </a:lnTo>
                  <a:lnTo>
                    <a:pt x="168" y="311"/>
                  </a:lnTo>
                  <a:lnTo>
                    <a:pt x="188" y="315"/>
                  </a:lnTo>
                  <a:lnTo>
                    <a:pt x="209" y="318"/>
                  </a:lnTo>
                  <a:lnTo>
                    <a:pt x="230" y="321"/>
                  </a:lnTo>
                  <a:lnTo>
                    <a:pt x="251" y="323"/>
                  </a:lnTo>
                  <a:lnTo>
                    <a:pt x="272" y="325"/>
                  </a:lnTo>
                  <a:lnTo>
                    <a:pt x="294" y="327"/>
                  </a:lnTo>
                  <a:lnTo>
                    <a:pt x="315" y="328"/>
                  </a:lnTo>
                  <a:lnTo>
                    <a:pt x="336" y="329"/>
                  </a:lnTo>
                  <a:lnTo>
                    <a:pt x="358" y="330"/>
                  </a:lnTo>
                  <a:lnTo>
                    <a:pt x="378" y="331"/>
                  </a:lnTo>
                  <a:lnTo>
                    <a:pt x="386" y="331"/>
                  </a:lnTo>
                  <a:lnTo>
                    <a:pt x="391" y="329"/>
                  </a:lnTo>
                  <a:lnTo>
                    <a:pt x="396" y="325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3" y="307"/>
                  </a:lnTo>
                  <a:lnTo>
                    <a:pt x="364" y="304"/>
                  </a:lnTo>
                  <a:lnTo>
                    <a:pt x="345" y="302"/>
                  </a:lnTo>
                  <a:lnTo>
                    <a:pt x="326" y="299"/>
                  </a:lnTo>
                  <a:lnTo>
                    <a:pt x="306" y="297"/>
                  </a:lnTo>
                  <a:lnTo>
                    <a:pt x="287" y="295"/>
                  </a:lnTo>
                  <a:lnTo>
                    <a:pt x="268" y="293"/>
                  </a:lnTo>
                  <a:lnTo>
                    <a:pt x="248" y="291"/>
                  </a:lnTo>
                  <a:lnTo>
                    <a:pt x="229" y="288"/>
                  </a:lnTo>
                  <a:lnTo>
                    <a:pt x="210" y="286"/>
                  </a:lnTo>
                  <a:lnTo>
                    <a:pt x="191" y="283"/>
                  </a:lnTo>
                  <a:lnTo>
                    <a:pt x="172" y="279"/>
                  </a:lnTo>
                  <a:lnTo>
                    <a:pt x="153" y="276"/>
                  </a:lnTo>
                  <a:lnTo>
                    <a:pt x="136" y="271"/>
                  </a:lnTo>
                  <a:lnTo>
                    <a:pt x="117" y="266"/>
                  </a:lnTo>
                  <a:lnTo>
                    <a:pt x="100" y="261"/>
                  </a:lnTo>
                  <a:lnTo>
                    <a:pt x="82" y="254"/>
                  </a:lnTo>
                  <a:lnTo>
                    <a:pt x="68" y="247"/>
                  </a:lnTo>
                  <a:lnTo>
                    <a:pt x="56" y="238"/>
                  </a:lnTo>
                  <a:lnTo>
                    <a:pt x="48" y="228"/>
                  </a:lnTo>
                  <a:lnTo>
                    <a:pt x="43" y="216"/>
                  </a:lnTo>
                  <a:lnTo>
                    <a:pt x="42" y="204"/>
                  </a:lnTo>
                  <a:lnTo>
                    <a:pt x="43" y="189"/>
                  </a:lnTo>
                  <a:lnTo>
                    <a:pt x="48" y="175"/>
                  </a:lnTo>
                  <a:lnTo>
                    <a:pt x="53" y="164"/>
                  </a:lnTo>
                  <a:lnTo>
                    <a:pt x="64" y="149"/>
                  </a:lnTo>
                  <a:lnTo>
                    <a:pt x="75" y="134"/>
                  </a:lnTo>
                  <a:lnTo>
                    <a:pt x="88" y="121"/>
                  </a:lnTo>
                  <a:lnTo>
                    <a:pt x="103" y="109"/>
                  </a:lnTo>
                  <a:lnTo>
                    <a:pt x="117" y="97"/>
                  </a:lnTo>
                  <a:lnTo>
                    <a:pt x="133" y="85"/>
                  </a:lnTo>
                  <a:lnTo>
                    <a:pt x="152" y="73"/>
                  </a:lnTo>
                  <a:lnTo>
                    <a:pt x="171" y="61"/>
                  </a:lnTo>
                  <a:lnTo>
                    <a:pt x="190" y="51"/>
                  </a:lnTo>
                  <a:lnTo>
                    <a:pt x="214" y="42"/>
                  </a:lnTo>
                  <a:lnTo>
                    <a:pt x="242" y="33"/>
                  </a:lnTo>
                  <a:lnTo>
                    <a:pt x="270" y="25"/>
                  </a:lnTo>
                  <a:lnTo>
                    <a:pt x="294" y="18"/>
                  </a:lnTo>
                  <a:lnTo>
                    <a:pt x="315" y="12"/>
                  </a:lnTo>
                  <a:lnTo>
                    <a:pt x="328" y="6"/>
                  </a:lnTo>
                  <a:lnTo>
                    <a:pt x="332" y="2"/>
                  </a:lnTo>
                  <a:lnTo>
                    <a:pt x="317" y="0"/>
                  </a:lnTo>
                  <a:lnTo>
                    <a:pt x="297" y="1"/>
                  </a:lnTo>
                  <a:lnTo>
                    <a:pt x="274" y="4"/>
                  </a:lnTo>
                  <a:lnTo>
                    <a:pt x="249" y="9"/>
                  </a:lnTo>
                  <a:lnTo>
                    <a:pt x="223" y="16"/>
                  </a:lnTo>
                  <a:lnTo>
                    <a:pt x="198" y="24"/>
                  </a:lnTo>
                  <a:lnTo>
                    <a:pt x="175" y="33"/>
                  </a:lnTo>
                  <a:lnTo>
                    <a:pt x="155" y="4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2"/>
            <p:cNvSpPr>
              <a:spLocks/>
            </p:cNvSpPr>
            <p:nvPr/>
          </p:nvSpPr>
          <p:spPr bwMode="auto">
            <a:xfrm>
              <a:off x="1419" y="2206"/>
              <a:ext cx="116" cy="110"/>
            </a:xfrm>
            <a:custGeom>
              <a:avLst/>
              <a:gdLst>
                <a:gd name="T0" fmla="*/ 96 w 350"/>
                <a:gd name="T1" fmla="*/ 34 h 221"/>
                <a:gd name="T2" fmla="*/ 101 w 350"/>
                <a:gd name="T3" fmla="*/ 40 h 221"/>
                <a:gd name="T4" fmla="*/ 105 w 350"/>
                <a:gd name="T5" fmla="*/ 47 h 221"/>
                <a:gd name="T6" fmla="*/ 106 w 350"/>
                <a:gd name="T7" fmla="*/ 54 h 221"/>
                <a:gd name="T8" fmla="*/ 106 w 350"/>
                <a:gd name="T9" fmla="*/ 62 h 221"/>
                <a:gd name="T10" fmla="*/ 105 w 350"/>
                <a:gd name="T11" fmla="*/ 69 h 221"/>
                <a:gd name="T12" fmla="*/ 103 w 350"/>
                <a:gd name="T13" fmla="*/ 74 h 221"/>
                <a:gd name="T14" fmla="*/ 100 w 350"/>
                <a:gd name="T15" fmla="*/ 80 h 221"/>
                <a:gd name="T16" fmla="*/ 97 w 350"/>
                <a:gd name="T17" fmla="*/ 84 h 221"/>
                <a:gd name="T18" fmla="*/ 92 w 350"/>
                <a:gd name="T19" fmla="*/ 89 h 221"/>
                <a:gd name="T20" fmla="*/ 88 w 350"/>
                <a:gd name="T21" fmla="*/ 93 h 221"/>
                <a:gd name="T22" fmla="*/ 84 w 350"/>
                <a:gd name="T23" fmla="*/ 98 h 221"/>
                <a:gd name="T24" fmla="*/ 80 w 350"/>
                <a:gd name="T25" fmla="*/ 102 h 221"/>
                <a:gd name="T26" fmla="*/ 79 w 350"/>
                <a:gd name="T27" fmla="*/ 104 h 221"/>
                <a:gd name="T28" fmla="*/ 79 w 350"/>
                <a:gd name="T29" fmla="*/ 106 h 221"/>
                <a:gd name="T30" fmla="*/ 79 w 350"/>
                <a:gd name="T31" fmla="*/ 107 h 221"/>
                <a:gd name="T32" fmla="*/ 80 w 350"/>
                <a:gd name="T33" fmla="*/ 109 h 221"/>
                <a:gd name="T34" fmla="*/ 81 w 350"/>
                <a:gd name="T35" fmla="*/ 110 h 221"/>
                <a:gd name="T36" fmla="*/ 83 w 350"/>
                <a:gd name="T37" fmla="*/ 110 h 221"/>
                <a:gd name="T38" fmla="*/ 84 w 350"/>
                <a:gd name="T39" fmla="*/ 110 h 221"/>
                <a:gd name="T40" fmla="*/ 86 w 350"/>
                <a:gd name="T41" fmla="*/ 109 h 221"/>
                <a:gd name="T42" fmla="*/ 95 w 350"/>
                <a:gd name="T43" fmla="*/ 102 h 221"/>
                <a:gd name="T44" fmla="*/ 103 w 350"/>
                <a:gd name="T45" fmla="*/ 93 h 221"/>
                <a:gd name="T46" fmla="*/ 110 w 350"/>
                <a:gd name="T47" fmla="*/ 84 h 221"/>
                <a:gd name="T48" fmla="*/ 114 w 350"/>
                <a:gd name="T49" fmla="*/ 73 h 221"/>
                <a:gd name="T50" fmla="*/ 116 w 350"/>
                <a:gd name="T51" fmla="*/ 62 h 221"/>
                <a:gd name="T52" fmla="*/ 115 w 350"/>
                <a:gd name="T53" fmla="*/ 50 h 221"/>
                <a:gd name="T54" fmla="*/ 111 w 350"/>
                <a:gd name="T55" fmla="*/ 40 h 221"/>
                <a:gd name="T56" fmla="*/ 103 w 350"/>
                <a:gd name="T57" fmla="*/ 30 h 221"/>
                <a:gd name="T58" fmla="*/ 98 w 350"/>
                <a:gd name="T59" fmla="*/ 25 h 221"/>
                <a:gd name="T60" fmla="*/ 91 w 350"/>
                <a:gd name="T61" fmla="*/ 21 h 221"/>
                <a:gd name="T62" fmla="*/ 84 w 350"/>
                <a:gd name="T63" fmla="*/ 17 h 221"/>
                <a:gd name="T64" fmla="*/ 76 w 350"/>
                <a:gd name="T65" fmla="*/ 13 h 221"/>
                <a:gd name="T66" fmla="*/ 67 w 350"/>
                <a:gd name="T67" fmla="*/ 10 h 221"/>
                <a:gd name="T68" fmla="*/ 59 w 350"/>
                <a:gd name="T69" fmla="*/ 7 h 221"/>
                <a:gd name="T70" fmla="*/ 50 w 350"/>
                <a:gd name="T71" fmla="*/ 5 h 221"/>
                <a:gd name="T72" fmla="*/ 42 w 350"/>
                <a:gd name="T73" fmla="*/ 3 h 221"/>
                <a:gd name="T74" fmla="*/ 34 w 350"/>
                <a:gd name="T75" fmla="*/ 2 h 221"/>
                <a:gd name="T76" fmla="*/ 27 w 350"/>
                <a:gd name="T77" fmla="*/ 1 h 221"/>
                <a:gd name="T78" fmla="*/ 20 w 350"/>
                <a:gd name="T79" fmla="*/ 0 h 221"/>
                <a:gd name="T80" fmla="*/ 14 w 350"/>
                <a:gd name="T81" fmla="*/ 0 h 221"/>
                <a:gd name="T82" fmla="*/ 9 w 350"/>
                <a:gd name="T83" fmla="*/ 0 h 221"/>
                <a:gd name="T84" fmla="*/ 4 w 350"/>
                <a:gd name="T85" fmla="*/ 0 h 221"/>
                <a:gd name="T86" fmla="*/ 1 w 350"/>
                <a:gd name="T87" fmla="*/ 1 h 221"/>
                <a:gd name="T88" fmla="*/ 0 w 350"/>
                <a:gd name="T89" fmla="*/ 2 h 221"/>
                <a:gd name="T90" fmla="*/ 5 w 350"/>
                <a:gd name="T91" fmla="*/ 3 h 221"/>
                <a:gd name="T92" fmla="*/ 10 w 350"/>
                <a:gd name="T93" fmla="*/ 3 h 221"/>
                <a:gd name="T94" fmla="*/ 16 w 350"/>
                <a:gd name="T95" fmla="*/ 4 h 221"/>
                <a:gd name="T96" fmla="*/ 21 w 350"/>
                <a:gd name="T97" fmla="*/ 5 h 221"/>
                <a:gd name="T98" fmla="*/ 27 w 350"/>
                <a:gd name="T99" fmla="*/ 7 h 221"/>
                <a:gd name="T100" fmla="*/ 34 w 350"/>
                <a:gd name="T101" fmla="*/ 8 h 221"/>
                <a:gd name="T102" fmla="*/ 40 w 350"/>
                <a:gd name="T103" fmla="*/ 9 h 221"/>
                <a:gd name="T104" fmla="*/ 47 w 350"/>
                <a:gd name="T105" fmla="*/ 11 h 221"/>
                <a:gd name="T106" fmla="*/ 53 w 350"/>
                <a:gd name="T107" fmla="*/ 13 h 221"/>
                <a:gd name="T108" fmla="*/ 60 w 350"/>
                <a:gd name="T109" fmla="*/ 15 h 221"/>
                <a:gd name="T110" fmla="*/ 66 w 350"/>
                <a:gd name="T111" fmla="*/ 17 h 221"/>
                <a:gd name="T112" fmla="*/ 73 w 350"/>
                <a:gd name="T113" fmla="*/ 19 h 221"/>
                <a:gd name="T114" fmla="*/ 79 w 350"/>
                <a:gd name="T115" fmla="*/ 22 h 221"/>
                <a:gd name="T116" fmla="*/ 85 w 350"/>
                <a:gd name="T117" fmla="*/ 26 h 221"/>
                <a:gd name="T118" fmla="*/ 91 w 350"/>
                <a:gd name="T119" fmla="*/ 30 h 221"/>
                <a:gd name="T120" fmla="*/ 96 w 350"/>
                <a:gd name="T121" fmla="*/ 34 h 22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50"/>
                <a:gd name="T184" fmla="*/ 0 h 221"/>
                <a:gd name="T185" fmla="*/ 350 w 350"/>
                <a:gd name="T186" fmla="*/ 221 h 22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50" h="221">
                  <a:moveTo>
                    <a:pt x="290" y="68"/>
                  </a:moveTo>
                  <a:lnTo>
                    <a:pt x="306" y="80"/>
                  </a:lnTo>
                  <a:lnTo>
                    <a:pt x="316" y="94"/>
                  </a:lnTo>
                  <a:lnTo>
                    <a:pt x="321" y="109"/>
                  </a:lnTo>
                  <a:lnTo>
                    <a:pt x="321" y="125"/>
                  </a:lnTo>
                  <a:lnTo>
                    <a:pt x="318" y="138"/>
                  </a:lnTo>
                  <a:lnTo>
                    <a:pt x="312" y="149"/>
                  </a:lnTo>
                  <a:lnTo>
                    <a:pt x="302" y="160"/>
                  </a:lnTo>
                  <a:lnTo>
                    <a:pt x="292" y="169"/>
                  </a:lnTo>
                  <a:lnTo>
                    <a:pt x="279" y="179"/>
                  </a:lnTo>
                  <a:lnTo>
                    <a:pt x="266" y="187"/>
                  </a:lnTo>
                  <a:lnTo>
                    <a:pt x="253" y="196"/>
                  </a:lnTo>
                  <a:lnTo>
                    <a:pt x="240" y="205"/>
                  </a:lnTo>
                  <a:lnTo>
                    <a:pt x="237" y="209"/>
                  </a:lnTo>
                  <a:lnTo>
                    <a:pt x="237" y="212"/>
                  </a:lnTo>
                  <a:lnTo>
                    <a:pt x="237" y="215"/>
                  </a:lnTo>
                  <a:lnTo>
                    <a:pt x="240" y="218"/>
                  </a:lnTo>
                  <a:lnTo>
                    <a:pt x="244" y="220"/>
                  </a:lnTo>
                  <a:lnTo>
                    <a:pt x="250" y="221"/>
                  </a:lnTo>
                  <a:lnTo>
                    <a:pt x="254" y="220"/>
                  </a:lnTo>
                  <a:lnTo>
                    <a:pt x="258" y="218"/>
                  </a:lnTo>
                  <a:lnTo>
                    <a:pt x="287" y="204"/>
                  </a:lnTo>
                  <a:lnTo>
                    <a:pt x="312" y="187"/>
                  </a:lnTo>
                  <a:lnTo>
                    <a:pt x="331" y="168"/>
                  </a:lnTo>
                  <a:lnTo>
                    <a:pt x="344" y="146"/>
                  </a:lnTo>
                  <a:lnTo>
                    <a:pt x="350" y="124"/>
                  </a:lnTo>
                  <a:lnTo>
                    <a:pt x="347" y="101"/>
                  </a:lnTo>
                  <a:lnTo>
                    <a:pt x="335" y="80"/>
                  </a:lnTo>
                  <a:lnTo>
                    <a:pt x="312" y="61"/>
                  </a:lnTo>
                  <a:lnTo>
                    <a:pt x="295" y="50"/>
                  </a:lnTo>
                  <a:lnTo>
                    <a:pt x="274" y="42"/>
                  </a:lnTo>
                  <a:lnTo>
                    <a:pt x="253" y="34"/>
                  </a:lnTo>
                  <a:lnTo>
                    <a:pt x="228" y="27"/>
                  </a:lnTo>
                  <a:lnTo>
                    <a:pt x="203" y="20"/>
                  </a:lnTo>
                  <a:lnTo>
                    <a:pt x="179" y="15"/>
                  </a:lnTo>
                  <a:lnTo>
                    <a:pt x="152" y="11"/>
                  </a:lnTo>
                  <a:lnTo>
                    <a:pt x="128" y="7"/>
                  </a:lnTo>
                  <a:lnTo>
                    <a:pt x="103" y="4"/>
                  </a:lnTo>
                  <a:lnTo>
                    <a:pt x="81" y="2"/>
                  </a:lnTo>
                  <a:lnTo>
                    <a:pt x="60" y="0"/>
                  </a:lnTo>
                  <a:lnTo>
                    <a:pt x="42" y="0"/>
                  </a:lnTo>
                  <a:lnTo>
                    <a:pt x="26" y="0"/>
                  </a:lnTo>
                  <a:lnTo>
                    <a:pt x="13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15" y="6"/>
                  </a:lnTo>
                  <a:lnTo>
                    <a:pt x="29" y="7"/>
                  </a:lnTo>
                  <a:lnTo>
                    <a:pt x="47" y="9"/>
                  </a:lnTo>
                  <a:lnTo>
                    <a:pt x="64" y="11"/>
                  </a:lnTo>
                  <a:lnTo>
                    <a:pt x="81" y="14"/>
                  </a:lnTo>
                  <a:lnTo>
                    <a:pt x="102" y="16"/>
                  </a:lnTo>
                  <a:lnTo>
                    <a:pt x="121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4"/>
                  </a:lnTo>
                  <a:lnTo>
                    <a:pt x="219" y="39"/>
                  </a:lnTo>
                  <a:lnTo>
                    <a:pt x="238" y="45"/>
                  </a:lnTo>
                  <a:lnTo>
                    <a:pt x="257" y="53"/>
                  </a:lnTo>
                  <a:lnTo>
                    <a:pt x="274" y="60"/>
                  </a:lnTo>
                  <a:lnTo>
                    <a:pt x="290" y="68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53"/>
            <p:cNvSpPr>
              <a:spLocks/>
            </p:cNvSpPr>
            <p:nvPr/>
          </p:nvSpPr>
          <p:spPr bwMode="auto">
            <a:xfrm>
              <a:off x="1181" y="2256"/>
              <a:ext cx="48" cy="105"/>
            </a:xfrm>
            <a:custGeom>
              <a:avLst/>
              <a:gdLst>
                <a:gd name="T0" fmla="*/ 0 w 142"/>
                <a:gd name="T1" fmla="*/ 58 h 208"/>
                <a:gd name="T2" fmla="*/ 0 w 142"/>
                <a:gd name="T3" fmla="*/ 66 h 208"/>
                <a:gd name="T4" fmla="*/ 2 w 142"/>
                <a:gd name="T5" fmla="*/ 74 h 208"/>
                <a:gd name="T6" fmla="*/ 5 w 142"/>
                <a:gd name="T7" fmla="*/ 82 h 208"/>
                <a:gd name="T8" fmla="*/ 10 w 142"/>
                <a:gd name="T9" fmla="*/ 88 h 208"/>
                <a:gd name="T10" fmla="*/ 16 w 142"/>
                <a:gd name="T11" fmla="*/ 94 h 208"/>
                <a:gd name="T12" fmla="*/ 23 w 142"/>
                <a:gd name="T13" fmla="*/ 99 h 208"/>
                <a:gd name="T14" fmla="*/ 31 w 142"/>
                <a:gd name="T15" fmla="*/ 102 h 208"/>
                <a:gd name="T16" fmla="*/ 39 w 142"/>
                <a:gd name="T17" fmla="*/ 104 h 208"/>
                <a:gd name="T18" fmla="*/ 41 w 142"/>
                <a:gd name="T19" fmla="*/ 105 h 208"/>
                <a:gd name="T20" fmla="*/ 44 w 142"/>
                <a:gd name="T21" fmla="*/ 104 h 208"/>
                <a:gd name="T22" fmla="*/ 46 w 142"/>
                <a:gd name="T23" fmla="*/ 102 h 208"/>
                <a:gd name="T24" fmla="*/ 47 w 142"/>
                <a:gd name="T25" fmla="*/ 100 h 208"/>
                <a:gd name="T26" fmla="*/ 47 w 142"/>
                <a:gd name="T27" fmla="*/ 98 h 208"/>
                <a:gd name="T28" fmla="*/ 46 w 142"/>
                <a:gd name="T29" fmla="*/ 95 h 208"/>
                <a:gd name="T30" fmla="*/ 45 w 142"/>
                <a:gd name="T31" fmla="*/ 93 h 208"/>
                <a:gd name="T32" fmla="*/ 42 w 142"/>
                <a:gd name="T33" fmla="*/ 92 h 208"/>
                <a:gd name="T34" fmla="*/ 34 w 142"/>
                <a:gd name="T35" fmla="*/ 89 h 208"/>
                <a:gd name="T36" fmla="*/ 27 w 142"/>
                <a:gd name="T37" fmla="*/ 85 h 208"/>
                <a:gd name="T38" fmla="*/ 21 w 142"/>
                <a:gd name="T39" fmla="*/ 80 h 208"/>
                <a:gd name="T40" fmla="*/ 17 w 142"/>
                <a:gd name="T41" fmla="*/ 74 h 208"/>
                <a:gd name="T42" fmla="*/ 14 w 142"/>
                <a:gd name="T43" fmla="*/ 66 h 208"/>
                <a:gd name="T44" fmla="*/ 12 w 142"/>
                <a:gd name="T45" fmla="*/ 58 h 208"/>
                <a:gd name="T46" fmla="*/ 12 w 142"/>
                <a:gd name="T47" fmla="*/ 49 h 208"/>
                <a:gd name="T48" fmla="*/ 15 w 142"/>
                <a:gd name="T49" fmla="*/ 40 h 208"/>
                <a:gd name="T50" fmla="*/ 18 w 142"/>
                <a:gd name="T51" fmla="*/ 33 h 208"/>
                <a:gd name="T52" fmla="*/ 22 w 142"/>
                <a:gd name="T53" fmla="*/ 27 h 208"/>
                <a:gd name="T54" fmla="*/ 26 w 142"/>
                <a:gd name="T55" fmla="*/ 22 h 208"/>
                <a:gd name="T56" fmla="*/ 31 w 142"/>
                <a:gd name="T57" fmla="*/ 17 h 208"/>
                <a:gd name="T58" fmla="*/ 35 w 142"/>
                <a:gd name="T59" fmla="*/ 12 h 208"/>
                <a:gd name="T60" fmla="*/ 40 w 142"/>
                <a:gd name="T61" fmla="*/ 8 h 208"/>
                <a:gd name="T62" fmla="*/ 45 w 142"/>
                <a:gd name="T63" fmla="*/ 4 h 208"/>
                <a:gd name="T64" fmla="*/ 48 w 142"/>
                <a:gd name="T65" fmla="*/ 1 h 208"/>
                <a:gd name="T66" fmla="*/ 45 w 142"/>
                <a:gd name="T67" fmla="*/ 0 h 208"/>
                <a:gd name="T68" fmla="*/ 39 w 142"/>
                <a:gd name="T69" fmla="*/ 3 h 208"/>
                <a:gd name="T70" fmla="*/ 32 w 142"/>
                <a:gd name="T71" fmla="*/ 8 h 208"/>
                <a:gd name="T72" fmla="*/ 23 w 142"/>
                <a:gd name="T73" fmla="*/ 16 h 208"/>
                <a:gd name="T74" fmla="*/ 16 w 142"/>
                <a:gd name="T75" fmla="*/ 25 h 208"/>
                <a:gd name="T76" fmla="*/ 8 w 142"/>
                <a:gd name="T77" fmla="*/ 35 h 208"/>
                <a:gd name="T78" fmla="*/ 3 w 142"/>
                <a:gd name="T79" fmla="*/ 46 h 208"/>
                <a:gd name="T80" fmla="*/ 0 w 142"/>
                <a:gd name="T81" fmla="*/ 58 h 20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8"/>
                <a:gd name="T125" fmla="*/ 142 w 142"/>
                <a:gd name="T126" fmla="*/ 208 h 20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8">
                  <a:moveTo>
                    <a:pt x="0" y="114"/>
                  </a:moveTo>
                  <a:lnTo>
                    <a:pt x="0" y="131"/>
                  </a:lnTo>
                  <a:lnTo>
                    <a:pt x="6" y="147"/>
                  </a:lnTo>
                  <a:lnTo>
                    <a:pt x="16" y="162"/>
                  </a:lnTo>
                  <a:lnTo>
                    <a:pt x="30" y="175"/>
                  </a:lnTo>
                  <a:lnTo>
                    <a:pt x="48" y="186"/>
                  </a:lnTo>
                  <a:lnTo>
                    <a:pt x="68" y="196"/>
                  </a:lnTo>
                  <a:lnTo>
                    <a:pt x="91" y="203"/>
                  </a:lnTo>
                  <a:lnTo>
                    <a:pt x="114" y="207"/>
                  </a:lnTo>
                  <a:lnTo>
                    <a:pt x="122" y="208"/>
                  </a:lnTo>
                  <a:lnTo>
                    <a:pt x="129" y="206"/>
                  </a:lnTo>
                  <a:lnTo>
                    <a:pt x="135" y="203"/>
                  </a:lnTo>
                  <a:lnTo>
                    <a:pt x="138" y="199"/>
                  </a:lnTo>
                  <a:lnTo>
                    <a:pt x="138" y="194"/>
                  </a:lnTo>
                  <a:lnTo>
                    <a:pt x="136" y="189"/>
                  </a:lnTo>
                  <a:lnTo>
                    <a:pt x="132" y="185"/>
                  </a:lnTo>
                  <a:lnTo>
                    <a:pt x="125" y="183"/>
                  </a:lnTo>
                  <a:lnTo>
                    <a:pt x="101" y="177"/>
                  </a:lnTo>
                  <a:lnTo>
                    <a:pt x="80" y="169"/>
                  </a:lnTo>
                  <a:lnTo>
                    <a:pt x="62" y="158"/>
                  </a:lnTo>
                  <a:lnTo>
                    <a:pt x="49" y="146"/>
                  </a:lnTo>
                  <a:lnTo>
                    <a:pt x="40" y="131"/>
                  </a:lnTo>
                  <a:lnTo>
                    <a:pt x="36" y="115"/>
                  </a:lnTo>
                  <a:lnTo>
                    <a:pt x="36" y="97"/>
                  </a:lnTo>
                  <a:lnTo>
                    <a:pt x="43" y="79"/>
                  </a:lnTo>
                  <a:lnTo>
                    <a:pt x="52" y="66"/>
                  </a:lnTo>
                  <a:lnTo>
                    <a:pt x="64" y="54"/>
                  </a:lnTo>
                  <a:lnTo>
                    <a:pt x="77" y="43"/>
                  </a:lnTo>
                  <a:lnTo>
                    <a:pt x="91" y="33"/>
                  </a:lnTo>
                  <a:lnTo>
                    <a:pt x="104" y="24"/>
                  </a:lnTo>
                  <a:lnTo>
                    <a:pt x="119" y="16"/>
                  </a:lnTo>
                  <a:lnTo>
                    <a:pt x="132" y="8"/>
                  </a:lnTo>
                  <a:lnTo>
                    <a:pt x="142" y="1"/>
                  </a:lnTo>
                  <a:lnTo>
                    <a:pt x="132" y="0"/>
                  </a:lnTo>
                  <a:lnTo>
                    <a:pt x="116" y="5"/>
                  </a:lnTo>
                  <a:lnTo>
                    <a:pt x="94" y="16"/>
                  </a:lnTo>
                  <a:lnTo>
                    <a:pt x="69" y="31"/>
                  </a:lnTo>
                  <a:lnTo>
                    <a:pt x="46" y="50"/>
                  </a:lnTo>
                  <a:lnTo>
                    <a:pt x="24" y="70"/>
                  </a:lnTo>
                  <a:lnTo>
                    <a:pt x="9" y="92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54"/>
            <p:cNvSpPr>
              <a:spLocks/>
            </p:cNvSpPr>
            <p:nvPr/>
          </p:nvSpPr>
          <p:spPr bwMode="auto">
            <a:xfrm>
              <a:off x="1515" y="2198"/>
              <a:ext cx="101" cy="136"/>
            </a:xfrm>
            <a:custGeom>
              <a:avLst/>
              <a:gdLst>
                <a:gd name="T0" fmla="*/ 85 w 304"/>
                <a:gd name="T1" fmla="*/ 54 h 272"/>
                <a:gd name="T2" fmla="*/ 90 w 304"/>
                <a:gd name="T3" fmla="*/ 63 h 272"/>
                <a:gd name="T4" fmla="*/ 92 w 304"/>
                <a:gd name="T5" fmla="*/ 72 h 272"/>
                <a:gd name="T6" fmla="*/ 91 w 304"/>
                <a:gd name="T7" fmla="*/ 82 h 272"/>
                <a:gd name="T8" fmla="*/ 86 w 304"/>
                <a:gd name="T9" fmla="*/ 91 h 272"/>
                <a:gd name="T10" fmla="*/ 77 w 304"/>
                <a:gd name="T11" fmla="*/ 100 h 272"/>
                <a:gd name="T12" fmla="*/ 68 w 304"/>
                <a:gd name="T13" fmla="*/ 107 h 272"/>
                <a:gd name="T14" fmla="*/ 59 w 304"/>
                <a:gd name="T15" fmla="*/ 116 h 272"/>
                <a:gd name="T16" fmla="*/ 53 w 304"/>
                <a:gd name="T17" fmla="*/ 122 h 272"/>
                <a:gd name="T18" fmla="*/ 51 w 304"/>
                <a:gd name="T19" fmla="*/ 126 h 272"/>
                <a:gd name="T20" fmla="*/ 50 w 304"/>
                <a:gd name="T21" fmla="*/ 130 h 272"/>
                <a:gd name="T22" fmla="*/ 50 w 304"/>
                <a:gd name="T23" fmla="*/ 134 h 272"/>
                <a:gd name="T24" fmla="*/ 53 w 304"/>
                <a:gd name="T25" fmla="*/ 136 h 272"/>
                <a:gd name="T26" fmla="*/ 57 w 304"/>
                <a:gd name="T27" fmla="*/ 136 h 272"/>
                <a:gd name="T28" fmla="*/ 63 w 304"/>
                <a:gd name="T29" fmla="*/ 129 h 272"/>
                <a:gd name="T30" fmla="*/ 74 w 304"/>
                <a:gd name="T31" fmla="*/ 118 h 272"/>
                <a:gd name="T32" fmla="*/ 85 w 304"/>
                <a:gd name="T33" fmla="*/ 107 h 272"/>
                <a:gd name="T34" fmla="*/ 95 w 304"/>
                <a:gd name="T35" fmla="*/ 96 h 272"/>
                <a:gd name="T36" fmla="*/ 101 w 304"/>
                <a:gd name="T37" fmla="*/ 82 h 272"/>
                <a:gd name="T38" fmla="*/ 100 w 304"/>
                <a:gd name="T39" fmla="*/ 67 h 272"/>
                <a:gd name="T40" fmla="*/ 93 w 304"/>
                <a:gd name="T41" fmla="*/ 53 h 272"/>
                <a:gd name="T42" fmla="*/ 83 w 304"/>
                <a:gd name="T43" fmla="*/ 41 h 272"/>
                <a:gd name="T44" fmla="*/ 73 w 304"/>
                <a:gd name="T45" fmla="*/ 33 h 272"/>
                <a:gd name="T46" fmla="*/ 62 w 304"/>
                <a:gd name="T47" fmla="*/ 26 h 272"/>
                <a:gd name="T48" fmla="*/ 52 w 304"/>
                <a:gd name="T49" fmla="*/ 19 h 272"/>
                <a:gd name="T50" fmla="*/ 41 w 304"/>
                <a:gd name="T51" fmla="*/ 12 h 272"/>
                <a:gd name="T52" fmla="*/ 30 w 304"/>
                <a:gd name="T53" fmla="*/ 7 h 272"/>
                <a:gd name="T54" fmla="*/ 19 w 304"/>
                <a:gd name="T55" fmla="*/ 3 h 272"/>
                <a:gd name="T56" fmla="*/ 10 w 304"/>
                <a:gd name="T57" fmla="*/ 1 h 272"/>
                <a:gd name="T58" fmla="*/ 3 w 304"/>
                <a:gd name="T59" fmla="*/ 1 h 272"/>
                <a:gd name="T60" fmla="*/ 3 w 304"/>
                <a:gd name="T61" fmla="*/ 2 h 272"/>
                <a:gd name="T62" fmla="*/ 12 w 304"/>
                <a:gd name="T63" fmla="*/ 6 h 272"/>
                <a:gd name="T64" fmla="*/ 21 w 304"/>
                <a:gd name="T65" fmla="*/ 10 h 272"/>
                <a:gd name="T66" fmla="*/ 32 w 304"/>
                <a:gd name="T67" fmla="*/ 16 h 272"/>
                <a:gd name="T68" fmla="*/ 44 w 304"/>
                <a:gd name="T69" fmla="*/ 22 h 272"/>
                <a:gd name="T70" fmla="*/ 55 w 304"/>
                <a:gd name="T71" fmla="*/ 30 h 272"/>
                <a:gd name="T72" fmla="*/ 67 w 304"/>
                <a:gd name="T73" fmla="*/ 38 h 272"/>
                <a:gd name="T74" fmla="*/ 77 w 304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4"/>
                <a:gd name="T115" fmla="*/ 0 h 272"/>
                <a:gd name="T116" fmla="*/ 304 w 304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4" h="272">
                  <a:moveTo>
                    <a:pt x="246" y="102"/>
                  </a:moveTo>
                  <a:lnTo>
                    <a:pt x="257" y="109"/>
                  </a:lnTo>
                  <a:lnTo>
                    <a:pt x="265" y="117"/>
                  </a:lnTo>
                  <a:lnTo>
                    <a:pt x="271" y="126"/>
                  </a:lnTo>
                  <a:lnTo>
                    <a:pt x="277" y="135"/>
                  </a:lnTo>
                  <a:lnTo>
                    <a:pt x="278" y="144"/>
                  </a:lnTo>
                  <a:lnTo>
                    <a:pt x="278" y="154"/>
                  </a:lnTo>
                  <a:lnTo>
                    <a:pt x="274" y="164"/>
                  </a:lnTo>
                  <a:lnTo>
                    <a:pt x="268" y="173"/>
                  </a:lnTo>
                  <a:lnTo>
                    <a:pt x="258" y="183"/>
                  </a:lnTo>
                  <a:lnTo>
                    <a:pt x="246" y="192"/>
                  </a:lnTo>
                  <a:lnTo>
                    <a:pt x="233" y="200"/>
                  </a:lnTo>
                  <a:lnTo>
                    <a:pt x="219" y="208"/>
                  </a:lnTo>
                  <a:lnTo>
                    <a:pt x="206" y="215"/>
                  </a:lnTo>
                  <a:lnTo>
                    <a:pt x="191" y="224"/>
                  </a:lnTo>
                  <a:lnTo>
                    <a:pt x="177" y="232"/>
                  </a:lnTo>
                  <a:lnTo>
                    <a:pt x="164" y="241"/>
                  </a:lnTo>
                  <a:lnTo>
                    <a:pt x="159" y="244"/>
                  </a:lnTo>
                  <a:lnTo>
                    <a:pt x="157" y="248"/>
                  </a:lnTo>
                  <a:lnTo>
                    <a:pt x="154" y="252"/>
                  </a:lnTo>
                  <a:lnTo>
                    <a:pt x="151" y="256"/>
                  </a:lnTo>
                  <a:lnTo>
                    <a:pt x="149" y="260"/>
                  </a:lnTo>
                  <a:lnTo>
                    <a:pt x="149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7" y="272"/>
                  </a:lnTo>
                  <a:lnTo>
                    <a:pt x="172" y="271"/>
                  </a:lnTo>
                  <a:lnTo>
                    <a:pt x="177" y="268"/>
                  </a:lnTo>
                  <a:lnTo>
                    <a:pt x="191" y="257"/>
                  </a:lnTo>
                  <a:lnTo>
                    <a:pt x="207" y="246"/>
                  </a:lnTo>
                  <a:lnTo>
                    <a:pt x="223" y="236"/>
                  </a:lnTo>
                  <a:lnTo>
                    <a:pt x="241" y="226"/>
                  </a:lnTo>
                  <a:lnTo>
                    <a:pt x="257" y="215"/>
                  </a:lnTo>
                  <a:lnTo>
                    <a:pt x="271" y="204"/>
                  </a:lnTo>
                  <a:lnTo>
                    <a:pt x="286" y="192"/>
                  </a:lnTo>
                  <a:lnTo>
                    <a:pt x="296" y="179"/>
                  </a:lnTo>
                  <a:lnTo>
                    <a:pt x="303" y="164"/>
                  </a:lnTo>
                  <a:lnTo>
                    <a:pt x="304" y="149"/>
                  </a:lnTo>
                  <a:lnTo>
                    <a:pt x="300" y="134"/>
                  </a:lnTo>
                  <a:lnTo>
                    <a:pt x="293" y="120"/>
                  </a:lnTo>
                  <a:lnTo>
                    <a:pt x="281" y="106"/>
                  </a:lnTo>
                  <a:lnTo>
                    <a:pt x="267" y="94"/>
                  </a:lnTo>
                  <a:lnTo>
                    <a:pt x="249" y="83"/>
                  </a:lnTo>
                  <a:lnTo>
                    <a:pt x="232" y="73"/>
                  </a:lnTo>
                  <a:lnTo>
                    <a:pt x="219" y="65"/>
                  </a:lnTo>
                  <a:lnTo>
                    <a:pt x="204" y="59"/>
                  </a:lnTo>
                  <a:lnTo>
                    <a:pt x="188" y="52"/>
                  </a:lnTo>
                  <a:lnTo>
                    <a:pt x="172" y="45"/>
                  </a:lnTo>
                  <a:lnTo>
                    <a:pt x="157" y="38"/>
                  </a:lnTo>
                  <a:lnTo>
                    <a:pt x="139" y="31"/>
                  </a:lnTo>
                  <a:lnTo>
                    <a:pt x="122" y="25"/>
                  </a:lnTo>
                  <a:lnTo>
                    <a:pt x="106" y="19"/>
                  </a:lnTo>
                  <a:lnTo>
                    <a:pt x="90" y="14"/>
                  </a:lnTo>
                  <a:lnTo>
                    <a:pt x="74" y="9"/>
                  </a:lnTo>
                  <a:lnTo>
                    <a:pt x="58" y="6"/>
                  </a:lnTo>
                  <a:lnTo>
                    <a:pt x="43" y="3"/>
                  </a:lnTo>
                  <a:lnTo>
                    <a:pt x="30" y="1"/>
                  </a:lnTo>
                  <a:lnTo>
                    <a:pt x="19" y="0"/>
                  </a:lnTo>
                  <a:lnTo>
                    <a:pt x="9" y="1"/>
                  </a:lnTo>
                  <a:lnTo>
                    <a:pt x="0" y="3"/>
                  </a:lnTo>
                  <a:lnTo>
                    <a:pt x="10" y="5"/>
                  </a:lnTo>
                  <a:lnTo>
                    <a:pt x="22" y="8"/>
                  </a:lnTo>
                  <a:lnTo>
                    <a:pt x="35" y="12"/>
                  </a:lnTo>
                  <a:lnTo>
                    <a:pt x="48" y="16"/>
                  </a:lnTo>
                  <a:lnTo>
                    <a:pt x="64" y="21"/>
                  </a:lnTo>
                  <a:lnTo>
                    <a:pt x="80" y="26"/>
                  </a:lnTo>
                  <a:lnTo>
                    <a:pt x="97" y="32"/>
                  </a:lnTo>
                  <a:lnTo>
                    <a:pt x="114" y="38"/>
                  </a:lnTo>
                  <a:lnTo>
                    <a:pt x="132" y="45"/>
                  </a:lnTo>
                  <a:lnTo>
                    <a:pt x="149" y="52"/>
                  </a:lnTo>
                  <a:lnTo>
                    <a:pt x="167" y="60"/>
                  </a:lnTo>
                  <a:lnTo>
                    <a:pt x="184" y="69"/>
                  </a:lnTo>
                  <a:lnTo>
                    <a:pt x="201" y="77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C9E8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55"/>
            <p:cNvSpPr>
              <a:spLocks/>
            </p:cNvSpPr>
            <p:nvPr/>
          </p:nvSpPr>
          <p:spPr bwMode="auto">
            <a:xfrm>
              <a:off x="1403" y="2357"/>
              <a:ext cx="34" cy="82"/>
            </a:xfrm>
            <a:custGeom>
              <a:avLst/>
              <a:gdLst>
                <a:gd name="T0" fmla="*/ 13 w 103"/>
                <a:gd name="T1" fmla="*/ 6 h 164"/>
                <a:gd name="T2" fmla="*/ 12 w 103"/>
                <a:gd name="T3" fmla="*/ 3 h 164"/>
                <a:gd name="T4" fmla="*/ 11 w 103"/>
                <a:gd name="T5" fmla="*/ 1 h 164"/>
                <a:gd name="T6" fmla="*/ 8 w 103"/>
                <a:gd name="T7" fmla="*/ 1 h 164"/>
                <a:gd name="T8" fmla="*/ 6 w 103"/>
                <a:gd name="T9" fmla="*/ 0 h 164"/>
                <a:gd name="T10" fmla="*/ 3 w 103"/>
                <a:gd name="T11" fmla="*/ 1 h 164"/>
                <a:gd name="T12" fmla="*/ 2 w 103"/>
                <a:gd name="T13" fmla="*/ 3 h 164"/>
                <a:gd name="T14" fmla="*/ 0 w 103"/>
                <a:gd name="T15" fmla="*/ 5 h 164"/>
                <a:gd name="T16" fmla="*/ 0 w 103"/>
                <a:gd name="T17" fmla="*/ 7 h 164"/>
                <a:gd name="T18" fmla="*/ 3 w 103"/>
                <a:gd name="T19" fmla="*/ 19 h 164"/>
                <a:gd name="T20" fmla="*/ 6 w 103"/>
                <a:gd name="T21" fmla="*/ 31 h 164"/>
                <a:gd name="T22" fmla="*/ 11 w 103"/>
                <a:gd name="T23" fmla="*/ 44 h 164"/>
                <a:gd name="T24" fmla="*/ 17 w 103"/>
                <a:gd name="T25" fmla="*/ 56 h 164"/>
                <a:gd name="T26" fmla="*/ 22 w 103"/>
                <a:gd name="T27" fmla="*/ 67 h 164"/>
                <a:gd name="T28" fmla="*/ 28 w 103"/>
                <a:gd name="T29" fmla="*/ 75 h 164"/>
                <a:gd name="T30" fmla="*/ 32 w 103"/>
                <a:gd name="T31" fmla="*/ 81 h 164"/>
                <a:gd name="T32" fmla="*/ 34 w 103"/>
                <a:gd name="T33" fmla="*/ 82 h 164"/>
                <a:gd name="T34" fmla="*/ 33 w 103"/>
                <a:gd name="T35" fmla="*/ 77 h 164"/>
                <a:gd name="T36" fmla="*/ 31 w 103"/>
                <a:gd name="T37" fmla="*/ 70 h 164"/>
                <a:gd name="T38" fmla="*/ 28 w 103"/>
                <a:gd name="T39" fmla="*/ 60 h 164"/>
                <a:gd name="T40" fmla="*/ 24 w 103"/>
                <a:gd name="T41" fmla="*/ 50 h 164"/>
                <a:gd name="T42" fmla="*/ 21 w 103"/>
                <a:gd name="T43" fmla="*/ 39 h 164"/>
                <a:gd name="T44" fmla="*/ 18 w 103"/>
                <a:gd name="T45" fmla="*/ 27 h 164"/>
                <a:gd name="T46" fmla="*/ 15 w 103"/>
                <a:gd name="T47" fmla="*/ 17 h 164"/>
                <a:gd name="T48" fmla="*/ 13 w 103"/>
                <a:gd name="T49" fmla="*/ 6 h 16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03"/>
                <a:gd name="T76" fmla="*/ 0 h 164"/>
                <a:gd name="T77" fmla="*/ 103 w 103"/>
                <a:gd name="T78" fmla="*/ 164 h 164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03" h="164">
                  <a:moveTo>
                    <a:pt x="39" y="12"/>
                  </a:moveTo>
                  <a:lnTo>
                    <a:pt x="37" y="7"/>
                  </a:lnTo>
                  <a:lnTo>
                    <a:pt x="32" y="3"/>
                  </a:lnTo>
                  <a:lnTo>
                    <a:pt x="25" y="1"/>
                  </a:lnTo>
                  <a:lnTo>
                    <a:pt x="18" y="0"/>
                  </a:lnTo>
                  <a:lnTo>
                    <a:pt x="10" y="2"/>
                  </a:lnTo>
                  <a:lnTo>
                    <a:pt x="5" y="5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8" y="37"/>
                  </a:lnTo>
                  <a:lnTo>
                    <a:pt x="19" y="63"/>
                  </a:lnTo>
                  <a:lnTo>
                    <a:pt x="34" y="88"/>
                  </a:lnTo>
                  <a:lnTo>
                    <a:pt x="51" y="112"/>
                  </a:lnTo>
                  <a:lnTo>
                    <a:pt x="68" y="133"/>
                  </a:lnTo>
                  <a:lnTo>
                    <a:pt x="84" y="150"/>
                  </a:lnTo>
                  <a:lnTo>
                    <a:pt x="96" y="161"/>
                  </a:lnTo>
                  <a:lnTo>
                    <a:pt x="103" y="164"/>
                  </a:lnTo>
                  <a:lnTo>
                    <a:pt x="100" y="153"/>
                  </a:lnTo>
                  <a:lnTo>
                    <a:pt x="93" y="139"/>
                  </a:lnTo>
                  <a:lnTo>
                    <a:pt x="84" y="121"/>
                  </a:lnTo>
                  <a:lnTo>
                    <a:pt x="74" y="100"/>
                  </a:lnTo>
                  <a:lnTo>
                    <a:pt x="64" y="78"/>
                  </a:lnTo>
                  <a:lnTo>
                    <a:pt x="54" y="55"/>
                  </a:lnTo>
                  <a:lnTo>
                    <a:pt x="45" y="33"/>
                  </a:lnTo>
                  <a:lnTo>
                    <a:pt x="39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56"/>
            <p:cNvSpPr>
              <a:spLocks/>
            </p:cNvSpPr>
            <p:nvPr/>
          </p:nvSpPr>
          <p:spPr bwMode="auto">
            <a:xfrm>
              <a:off x="1388" y="2313"/>
              <a:ext cx="18" cy="42"/>
            </a:xfrm>
            <a:custGeom>
              <a:avLst/>
              <a:gdLst>
                <a:gd name="T0" fmla="*/ 9 w 54"/>
                <a:gd name="T1" fmla="*/ 5 h 82"/>
                <a:gd name="T2" fmla="*/ 9 w 54"/>
                <a:gd name="T3" fmla="*/ 3 h 82"/>
                <a:gd name="T4" fmla="*/ 7 w 54"/>
                <a:gd name="T5" fmla="*/ 1 h 82"/>
                <a:gd name="T6" fmla="*/ 6 w 54"/>
                <a:gd name="T7" fmla="*/ 0 h 82"/>
                <a:gd name="T8" fmla="*/ 4 w 54"/>
                <a:gd name="T9" fmla="*/ 0 h 82"/>
                <a:gd name="T10" fmla="*/ 3 w 54"/>
                <a:gd name="T11" fmla="*/ 1 h 82"/>
                <a:gd name="T12" fmla="*/ 1 w 54"/>
                <a:gd name="T13" fmla="*/ 2 h 82"/>
                <a:gd name="T14" fmla="*/ 0 w 54"/>
                <a:gd name="T15" fmla="*/ 3 h 82"/>
                <a:gd name="T16" fmla="*/ 0 w 54"/>
                <a:gd name="T17" fmla="*/ 5 h 82"/>
                <a:gd name="T18" fmla="*/ 0 w 54"/>
                <a:gd name="T19" fmla="*/ 11 h 82"/>
                <a:gd name="T20" fmla="*/ 2 w 54"/>
                <a:gd name="T21" fmla="*/ 17 h 82"/>
                <a:gd name="T22" fmla="*/ 3 w 54"/>
                <a:gd name="T23" fmla="*/ 23 h 82"/>
                <a:gd name="T24" fmla="*/ 6 w 54"/>
                <a:gd name="T25" fmla="*/ 29 h 82"/>
                <a:gd name="T26" fmla="*/ 9 w 54"/>
                <a:gd name="T27" fmla="*/ 35 h 82"/>
                <a:gd name="T28" fmla="*/ 12 w 54"/>
                <a:gd name="T29" fmla="*/ 39 h 82"/>
                <a:gd name="T30" fmla="*/ 15 w 54"/>
                <a:gd name="T31" fmla="*/ 41 h 82"/>
                <a:gd name="T32" fmla="*/ 18 w 54"/>
                <a:gd name="T33" fmla="*/ 42 h 82"/>
                <a:gd name="T34" fmla="*/ 18 w 54"/>
                <a:gd name="T35" fmla="*/ 34 h 82"/>
                <a:gd name="T36" fmla="*/ 16 w 54"/>
                <a:gd name="T37" fmla="*/ 24 h 82"/>
                <a:gd name="T38" fmla="*/ 13 w 54"/>
                <a:gd name="T39" fmla="*/ 14 h 82"/>
                <a:gd name="T40" fmla="*/ 9 w 54"/>
                <a:gd name="T41" fmla="*/ 5 h 8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54"/>
                <a:gd name="T64" fmla="*/ 0 h 82"/>
                <a:gd name="T65" fmla="*/ 54 w 54"/>
                <a:gd name="T66" fmla="*/ 82 h 82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54" h="82">
                  <a:moveTo>
                    <a:pt x="28" y="9"/>
                  </a:moveTo>
                  <a:lnTo>
                    <a:pt x="26" y="5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2" y="0"/>
                  </a:lnTo>
                  <a:lnTo>
                    <a:pt x="8" y="1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21"/>
                  </a:lnTo>
                  <a:lnTo>
                    <a:pt x="5" y="33"/>
                  </a:lnTo>
                  <a:lnTo>
                    <a:pt x="10" y="45"/>
                  </a:lnTo>
                  <a:lnTo>
                    <a:pt x="18" y="57"/>
                  </a:lnTo>
                  <a:lnTo>
                    <a:pt x="26" y="68"/>
                  </a:lnTo>
                  <a:lnTo>
                    <a:pt x="35" y="76"/>
                  </a:lnTo>
                  <a:lnTo>
                    <a:pt x="45" y="81"/>
                  </a:lnTo>
                  <a:lnTo>
                    <a:pt x="53" y="82"/>
                  </a:lnTo>
                  <a:lnTo>
                    <a:pt x="54" y="66"/>
                  </a:lnTo>
                  <a:lnTo>
                    <a:pt x="47" y="47"/>
                  </a:lnTo>
                  <a:lnTo>
                    <a:pt x="38" y="28"/>
                  </a:lnTo>
                  <a:lnTo>
                    <a:pt x="28" y="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57"/>
            <p:cNvSpPr>
              <a:spLocks/>
            </p:cNvSpPr>
            <p:nvPr/>
          </p:nvSpPr>
          <p:spPr bwMode="auto">
            <a:xfrm>
              <a:off x="1373" y="2283"/>
              <a:ext cx="16" cy="24"/>
            </a:xfrm>
            <a:custGeom>
              <a:avLst/>
              <a:gdLst>
                <a:gd name="T0" fmla="*/ 8 w 46"/>
                <a:gd name="T1" fmla="*/ 3 h 47"/>
                <a:gd name="T2" fmla="*/ 8 w 46"/>
                <a:gd name="T3" fmla="*/ 4 h 47"/>
                <a:gd name="T4" fmla="*/ 8 w 46"/>
                <a:gd name="T5" fmla="*/ 4 h 47"/>
                <a:gd name="T6" fmla="*/ 8 w 46"/>
                <a:gd name="T7" fmla="*/ 4 h 47"/>
                <a:gd name="T8" fmla="*/ 8 w 46"/>
                <a:gd name="T9" fmla="*/ 4 h 47"/>
                <a:gd name="T10" fmla="*/ 8 w 46"/>
                <a:gd name="T11" fmla="*/ 2 h 47"/>
                <a:gd name="T12" fmla="*/ 7 w 46"/>
                <a:gd name="T13" fmla="*/ 1 h 47"/>
                <a:gd name="T14" fmla="*/ 5 w 46"/>
                <a:gd name="T15" fmla="*/ 0 h 47"/>
                <a:gd name="T16" fmla="*/ 3 w 46"/>
                <a:gd name="T17" fmla="*/ 0 h 47"/>
                <a:gd name="T18" fmla="*/ 1 w 46"/>
                <a:gd name="T19" fmla="*/ 1 h 47"/>
                <a:gd name="T20" fmla="*/ 0 w 46"/>
                <a:gd name="T21" fmla="*/ 2 h 47"/>
                <a:gd name="T22" fmla="*/ 0 w 46"/>
                <a:gd name="T23" fmla="*/ 4 h 47"/>
                <a:gd name="T24" fmla="*/ 0 w 46"/>
                <a:gd name="T25" fmla="*/ 5 h 47"/>
                <a:gd name="T26" fmla="*/ 0 w 46"/>
                <a:gd name="T27" fmla="*/ 8 h 47"/>
                <a:gd name="T28" fmla="*/ 1 w 46"/>
                <a:gd name="T29" fmla="*/ 11 h 47"/>
                <a:gd name="T30" fmla="*/ 3 w 46"/>
                <a:gd name="T31" fmla="*/ 14 h 47"/>
                <a:gd name="T32" fmla="*/ 6 w 46"/>
                <a:gd name="T33" fmla="*/ 17 h 47"/>
                <a:gd name="T34" fmla="*/ 8 w 46"/>
                <a:gd name="T35" fmla="*/ 20 h 47"/>
                <a:gd name="T36" fmla="*/ 11 w 46"/>
                <a:gd name="T37" fmla="*/ 22 h 47"/>
                <a:gd name="T38" fmla="*/ 14 w 46"/>
                <a:gd name="T39" fmla="*/ 24 h 47"/>
                <a:gd name="T40" fmla="*/ 16 w 46"/>
                <a:gd name="T41" fmla="*/ 24 h 47"/>
                <a:gd name="T42" fmla="*/ 16 w 46"/>
                <a:gd name="T43" fmla="*/ 19 h 47"/>
                <a:gd name="T44" fmla="*/ 14 w 46"/>
                <a:gd name="T45" fmla="*/ 13 h 47"/>
                <a:gd name="T46" fmla="*/ 10 w 46"/>
                <a:gd name="T47" fmla="*/ 7 h 47"/>
                <a:gd name="T48" fmla="*/ 8 w 46"/>
                <a:gd name="T49" fmla="*/ 3 h 4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46"/>
                <a:gd name="T76" fmla="*/ 0 h 47"/>
                <a:gd name="T77" fmla="*/ 46 w 46"/>
                <a:gd name="T78" fmla="*/ 47 h 4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46" h="47">
                  <a:moveTo>
                    <a:pt x="24" y="6"/>
                  </a:moveTo>
                  <a:lnTo>
                    <a:pt x="24" y="7"/>
                  </a:lnTo>
                  <a:lnTo>
                    <a:pt x="23" y="4"/>
                  </a:lnTo>
                  <a:lnTo>
                    <a:pt x="19" y="1"/>
                  </a:lnTo>
                  <a:lnTo>
                    <a:pt x="14" y="0"/>
                  </a:lnTo>
                  <a:lnTo>
                    <a:pt x="8" y="0"/>
                  </a:lnTo>
                  <a:lnTo>
                    <a:pt x="4" y="1"/>
                  </a:lnTo>
                  <a:lnTo>
                    <a:pt x="1" y="4"/>
                  </a:lnTo>
                  <a:lnTo>
                    <a:pt x="0" y="7"/>
                  </a:lnTo>
                  <a:lnTo>
                    <a:pt x="0" y="10"/>
                  </a:lnTo>
                  <a:lnTo>
                    <a:pt x="1" y="15"/>
                  </a:lnTo>
                  <a:lnTo>
                    <a:pt x="4" y="21"/>
                  </a:lnTo>
                  <a:lnTo>
                    <a:pt x="10" y="28"/>
                  </a:lnTo>
                  <a:lnTo>
                    <a:pt x="17" y="34"/>
                  </a:lnTo>
                  <a:lnTo>
                    <a:pt x="24" y="40"/>
                  </a:lnTo>
                  <a:lnTo>
                    <a:pt x="33" y="44"/>
                  </a:lnTo>
                  <a:lnTo>
                    <a:pt x="40" y="47"/>
                  </a:lnTo>
                  <a:lnTo>
                    <a:pt x="46" y="47"/>
                  </a:lnTo>
                  <a:lnTo>
                    <a:pt x="45" y="37"/>
                  </a:lnTo>
                  <a:lnTo>
                    <a:pt x="39" y="25"/>
                  </a:lnTo>
                  <a:lnTo>
                    <a:pt x="30" y="14"/>
                  </a:lnTo>
                  <a:lnTo>
                    <a:pt x="24" y="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58"/>
            <p:cNvSpPr>
              <a:spLocks/>
            </p:cNvSpPr>
            <p:nvPr/>
          </p:nvSpPr>
          <p:spPr bwMode="auto">
            <a:xfrm>
              <a:off x="1360" y="2263"/>
              <a:ext cx="21" cy="16"/>
            </a:xfrm>
            <a:custGeom>
              <a:avLst/>
              <a:gdLst>
                <a:gd name="T0" fmla="*/ 17 w 63"/>
                <a:gd name="T1" fmla="*/ 12 h 31"/>
                <a:gd name="T2" fmla="*/ 19 w 63"/>
                <a:gd name="T3" fmla="*/ 11 h 31"/>
                <a:gd name="T4" fmla="*/ 21 w 63"/>
                <a:gd name="T5" fmla="*/ 9 h 31"/>
                <a:gd name="T6" fmla="*/ 21 w 63"/>
                <a:gd name="T7" fmla="*/ 7 h 31"/>
                <a:gd name="T8" fmla="*/ 21 w 63"/>
                <a:gd name="T9" fmla="*/ 5 h 31"/>
                <a:gd name="T10" fmla="*/ 20 w 63"/>
                <a:gd name="T11" fmla="*/ 3 h 31"/>
                <a:gd name="T12" fmla="*/ 19 w 63"/>
                <a:gd name="T13" fmla="*/ 1 h 31"/>
                <a:gd name="T14" fmla="*/ 17 w 63"/>
                <a:gd name="T15" fmla="*/ 0 h 31"/>
                <a:gd name="T16" fmla="*/ 14 w 63"/>
                <a:gd name="T17" fmla="*/ 0 h 31"/>
                <a:gd name="T18" fmla="*/ 13 w 63"/>
                <a:gd name="T19" fmla="*/ 0 h 31"/>
                <a:gd name="T20" fmla="*/ 11 w 63"/>
                <a:gd name="T21" fmla="*/ 1 h 31"/>
                <a:gd name="T22" fmla="*/ 9 w 63"/>
                <a:gd name="T23" fmla="*/ 2 h 31"/>
                <a:gd name="T24" fmla="*/ 5 w 63"/>
                <a:gd name="T25" fmla="*/ 4 h 31"/>
                <a:gd name="T26" fmla="*/ 2 w 63"/>
                <a:gd name="T27" fmla="*/ 7 h 31"/>
                <a:gd name="T28" fmla="*/ 1 w 63"/>
                <a:gd name="T29" fmla="*/ 10 h 31"/>
                <a:gd name="T30" fmla="*/ 0 w 63"/>
                <a:gd name="T31" fmla="*/ 13 h 31"/>
                <a:gd name="T32" fmla="*/ 0 w 63"/>
                <a:gd name="T33" fmla="*/ 14 h 31"/>
                <a:gd name="T34" fmla="*/ 1 w 63"/>
                <a:gd name="T35" fmla="*/ 15 h 31"/>
                <a:gd name="T36" fmla="*/ 3 w 63"/>
                <a:gd name="T37" fmla="*/ 16 h 31"/>
                <a:gd name="T38" fmla="*/ 5 w 63"/>
                <a:gd name="T39" fmla="*/ 16 h 31"/>
                <a:gd name="T40" fmla="*/ 7 w 63"/>
                <a:gd name="T41" fmla="*/ 16 h 31"/>
                <a:gd name="T42" fmla="*/ 10 w 63"/>
                <a:gd name="T43" fmla="*/ 15 h 31"/>
                <a:gd name="T44" fmla="*/ 12 w 63"/>
                <a:gd name="T45" fmla="*/ 14 h 31"/>
                <a:gd name="T46" fmla="*/ 14 w 63"/>
                <a:gd name="T47" fmla="*/ 13 h 31"/>
                <a:gd name="T48" fmla="*/ 17 w 63"/>
                <a:gd name="T49" fmla="*/ 12 h 3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3"/>
                <a:gd name="T76" fmla="*/ 0 h 31"/>
                <a:gd name="T77" fmla="*/ 63 w 63"/>
                <a:gd name="T78" fmla="*/ 31 h 3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3" h="31">
                  <a:moveTo>
                    <a:pt x="50" y="23"/>
                  </a:moveTo>
                  <a:lnTo>
                    <a:pt x="56" y="21"/>
                  </a:lnTo>
                  <a:lnTo>
                    <a:pt x="62" y="18"/>
                  </a:lnTo>
                  <a:lnTo>
                    <a:pt x="63" y="14"/>
                  </a:lnTo>
                  <a:lnTo>
                    <a:pt x="63" y="10"/>
                  </a:lnTo>
                  <a:lnTo>
                    <a:pt x="61" y="5"/>
                  </a:lnTo>
                  <a:lnTo>
                    <a:pt x="56" y="2"/>
                  </a:lnTo>
                  <a:lnTo>
                    <a:pt x="50" y="0"/>
                  </a:lnTo>
                  <a:lnTo>
                    <a:pt x="43" y="0"/>
                  </a:lnTo>
                  <a:lnTo>
                    <a:pt x="40" y="0"/>
                  </a:lnTo>
                  <a:lnTo>
                    <a:pt x="34" y="1"/>
                  </a:lnTo>
                  <a:lnTo>
                    <a:pt x="26" y="3"/>
                  </a:lnTo>
                  <a:lnTo>
                    <a:pt x="16" y="7"/>
                  </a:lnTo>
                  <a:lnTo>
                    <a:pt x="7" y="13"/>
                  </a:lnTo>
                  <a:lnTo>
                    <a:pt x="3" y="19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4" y="29"/>
                  </a:lnTo>
                  <a:lnTo>
                    <a:pt x="10" y="31"/>
                  </a:lnTo>
                  <a:lnTo>
                    <a:pt x="16" y="31"/>
                  </a:lnTo>
                  <a:lnTo>
                    <a:pt x="21" y="31"/>
                  </a:lnTo>
                  <a:lnTo>
                    <a:pt x="29" y="29"/>
                  </a:lnTo>
                  <a:lnTo>
                    <a:pt x="36" y="28"/>
                  </a:lnTo>
                  <a:lnTo>
                    <a:pt x="43" y="26"/>
                  </a:lnTo>
                  <a:lnTo>
                    <a:pt x="50" y="2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59"/>
            <p:cNvSpPr>
              <a:spLocks/>
            </p:cNvSpPr>
            <p:nvPr/>
          </p:nvSpPr>
          <p:spPr bwMode="auto">
            <a:xfrm>
              <a:off x="1261" y="2237"/>
              <a:ext cx="81" cy="103"/>
            </a:xfrm>
            <a:custGeom>
              <a:avLst/>
              <a:gdLst>
                <a:gd name="T0" fmla="*/ 30 w 245"/>
                <a:gd name="T1" fmla="*/ 15 h 206"/>
                <a:gd name="T2" fmla="*/ 24 w 245"/>
                <a:gd name="T3" fmla="*/ 20 h 206"/>
                <a:gd name="T4" fmla="*/ 19 w 245"/>
                <a:gd name="T5" fmla="*/ 25 h 206"/>
                <a:gd name="T6" fmla="*/ 13 w 245"/>
                <a:gd name="T7" fmla="*/ 31 h 206"/>
                <a:gd name="T8" fmla="*/ 9 w 245"/>
                <a:gd name="T9" fmla="*/ 37 h 206"/>
                <a:gd name="T10" fmla="*/ 6 w 245"/>
                <a:gd name="T11" fmla="*/ 44 h 206"/>
                <a:gd name="T12" fmla="*/ 3 w 245"/>
                <a:gd name="T13" fmla="*/ 50 h 206"/>
                <a:gd name="T14" fmla="*/ 1 w 245"/>
                <a:gd name="T15" fmla="*/ 56 h 206"/>
                <a:gd name="T16" fmla="*/ 0 w 245"/>
                <a:gd name="T17" fmla="*/ 63 h 206"/>
                <a:gd name="T18" fmla="*/ 1 w 245"/>
                <a:gd name="T19" fmla="*/ 75 h 206"/>
                <a:gd name="T20" fmla="*/ 5 w 245"/>
                <a:gd name="T21" fmla="*/ 83 h 206"/>
                <a:gd name="T22" fmla="*/ 11 w 245"/>
                <a:gd name="T23" fmla="*/ 91 h 206"/>
                <a:gd name="T24" fmla="*/ 18 w 245"/>
                <a:gd name="T25" fmla="*/ 96 h 206"/>
                <a:gd name="T26" fmla="*/ 26 w 245"/>
                <a:gd name="T27" fmla="*/ 100 h 206"/>
                <a:gd name="T28" fmla="*/ 36 w 245"/>
                <a:gd name="T29" fmla="*/ 103 h 206"/>
                <a:gd name="T30" fmla="*/ 45 w 245"/>
                <a:gd name="T31" fmla="*/ 103 h 206"/>
                <a:gd name="T32" fmla="*/ 54 w 245"/>
                <a:gd name="T33" fmla="*/ 102 h 206"/>
                <a:gd name="T34" fmla="*/ 56 w 245"/>
                <a:gd name="T35" fmla="*/ 102 h 206"/>
                <a:gd name="T36" fmla="*/ 58 w 245"/>
                <a:gd name="T37" fmla="*/ 101 h 206"/>
                <a:gd name="T38" fmla="*/ 60 w 245"/>
                <a:gd name="T39" fmla="*/ 99 h 206"/>
                <a:gd name="T40" fmla="*/ 60 w 245"/>
                <a:gd name="T41" fmla="*/ 97 h 206"/>
                <a:gd name="T42" fmla="*/ 60 w 245"/>
                <a:gd name="T43" fmla="*/ 96 h 206"/>
                <a:gd name="T44" fmla="*/ 58 w 245"/>
                <a:gd name="T45" fmla="*/ 96 h 206"/>
                <a:gd name="T46" fmla="*/ 56 w 245"/>
                <a:gd name="T47" fmla="*/ 95 h 206"/>
                <a:gd name="T48" fmla="*/ 54 w 245"/>
                <a:gd name="T49" fmla="*/ 95 h 206"/>
                <a:gd name="T50" fmla="*/ 51 w 245"/>
                <a:gd name="T51" fmla="*/ 95 h 206"/>
                <a:gd name="T52" fmla="*/ 48 w 245"/>
                <a:gd name="T53" fmla="*/ 95 h 206"/>
                <a:gd name="T54" fmla="*/ 46 w 245"/>
                <a:gd name="T55" fmla="*/ 95 h 206"/>
                <a:gd name="T56" fmla="*/ 45 w 245"/>
                <a:gd name="T57" fmla="*/ 95 h 206"/>
                <a:gd name="T58" fmla="*/ 40 w 245"/>
                <a:gd name="T59" fmla="*/ 95 h 206"/>
                <a:gd name="T60" fmla="*/ 35 w 245"/>
                <a:gd name="T61" fmla="*/ 94 h 206"/>
                <a:gd name="T62" fmla="*/ 31 w 245"/>
                <a:gd name="T63" fmla="*/ 94 h 206"/>
                <a:gd name="T64" fmla="*/ 26 w 245"/>
                <a:gd name="T65" fmla="*/ 92 h 206"/>
                <a:gd name="T66" fmla="*/ 21 w 245"/>
                <a:gd name="T67" fmla="*/ 91 h 206"/>
                <a:gd name="T68" fmla="*/ 16 w 245"/>
                <a:gd name="T69" fmla="*/ 87 h 206"/>
                <a:gd name="T70" fmla="*/ 12 w 245"/>
                <a:gd name="T71" fmla="*/ 83 h 206"/>
                <a:gd name="T72" fmla="*/ 7 w 245"/>
                <a:gd name="T73" fmla="*/ 76 h 206"/>
                <a:gd name="T74" fmla="*/ 6 w 245"/>
                <a:gd name="T75" fmla="*/ 68 h 206"/>
                <a:gd name="T76" fmla="*/ 7 w 245"/>
                <a:gd name="T77" fmla="*/ 61 h 206"/>
                <a:gd name="T78" fmla="*/ 9 w 245"/>
                <a:gd name="T79" fmla="*/ 54 h 206"/>
                <a:gd name="T80" fmla="*/ 12 w 245"/>
                <a:gd name="T81" fmla="*/ 48 h 206"/>
                <a:gd name="T82" fmla="*/ 16 w 245"/>
                <a:gd name="T83" fmla="*/ 42 h 206"/>
                <a:gd name="T84" fmla="*/ 20 w 245"/>
                <a:gd name="T85" fmla="*/ 36 h 206"/>
                <a:gd name="T86" fmla="*/ 26 w 245"/>
                <a:gd name="T87" fmla="*/ 30 h 206"/>
                <a:gd name="T88" fmla="*/ 32 w 245"/>
                <a:gd name="T89" fmla="*/ 26 h 206"/>
                <a:gd name="T90" fmla="*/ 38 w 245"/>
                <a:gd name="T91" fmla="*/ 21 h 206"/>
                <a:gd name="T92" fmla="*/ 45 w 245"/>
                <a:gd name="T93" fmla="*/ 17 h 206"/>
                <a:gd name="T94" fmla="*/ 52 w 245"/>
                <a:gd name="T95" fmla="*/ 13 h 206"/>
                <a:gd name="T96" fmla="*/ 58 w 245"/>
                <a:gd name="T97" fmla="*/ 11 h 206"/>
                <a:gd name="T98" fmla="*/ 65 w 245"/>
                <a:gd name="T99" fmla="*/ 8 h 206"/>
                <a:gd name="T100" fmla="*/ 70 w 245"/>
                <a:gd name="T101" fmla="*/ 6 h 206"/>
                <a:gd name="T102" fmla="*/ 76 w 245"/>
                <a:gd name="T103" fmla="*/ 4 h 206"/>
                <a:gd name="T104" fmla="*/ 81 w 245"/>
                <a:gd name="T105" fmla="*/ 3 h 206"/>
                <a:gd name="T106" fmla="*/ 78 w 245"/>
                <a:gd name="T107" fmla="*/ 1 h 206"/>
                <a:gd name="T108" fmla="*/ 72 w 245"/>
                <a:gd name="T109" fmla="*/ 0 h 206"/>
                <a:gd name="T110" fmla="*/ 66 w 245"/>
                <a:gd name="T111" fmla="*/ 1 h 206"/>
                <a:gd name="T112" fmla="*/ 59 w 245"/>
                <a:gd name="T113" fmla="*/ 3 h 206"/>
                <a:gd name="T114" fmla="*/ 51 w 245"/>
                <a:gd name="T115" fmla="*/ 5 h 206"/>
                <a:gd name="T116" fmla="*/ 43 w 245"/>
                <a:gd name="T117" fmla="*/ 8 h 206"/>
                <a:gd name="T118" fmla="*/ 36 w 245"/>
                <a:gd name="T119" fmla="*/ 12 h 206"/>
                <a:gd name="T120" fmla="*/ 30 w 245"/>
                <a:gd name="T121" fmla="*/ 15 h 20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245"/>
                <a:gd name="T184" fmla="*/ 0 h 206"/>
                <a:gd name="T185" fmla="*/ 245 w 245"/>
                <a:gd name="T186" fmla="*/ 206 h 20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245" h="206">
                  <a:moveTo>
                    <a:pt x="90" y="31"/>
                  </a:moveTo>
                  <a:lnTo>
                    <a:pt x="72" y="40"/>
                  </a:lnTo>
                  <a:lnTo>
                    <a:pt x="56" y="50"/>
                  </a:lnTo>
                  <a:lnTo>
                    <a:pt x="40" y="62"/>
                  </a:lnTo>
                  <a:lnTo>
                    <a:pt x="27" y="74"/>
                  </a:lnTo>
                  <a:lnTo>
                    <a:pt x="17" y="87"/>
                  </a:lnTo>
                  <a:lnTo>
                    <a:pt x="8" y="100"/>
                  </a:lnTo>
                  <a:lnTo>
                    <a:pt x="3" y="113"/>
                  </a:lnTo>
                  <a:lnTo>
                    <a:pt x="0" y="127"/>
                  </a:lnTo>
                  <a:lnTo>
                    <a:pt x="3" y="149"/>
                  </a:lnTo>
                  <a:lnTo>
                    <a:pt x="14" y="166"/>
                  </a:lnTo>
                  <a:lnTo>
                    <a:pt x="32" y="181"/>
                  </a:lnTo>
                  <a:lnTo>
                    <a:pt x="53" y="192"/>
                  </a:lnTo>
                  <a:lnTo>
                    <a:pt x="80" y="200"/>
                  </a:lnTo>
                  <a:lnTo>
                    <a:pt x="109" y="205"/>
                  </a:lnTo>
                  <a:lnTo>
                    <a:pt x="136" y="206"/>
                  </a:lnTo>
                  <a:lnTo>
                    <a:pt x="164" y="203"/>
                  </a:lnTo>
                  <a:lnTo>
                    <a:pt x="169" y="203"/>
                  </a:lnTo>
                  <a:lnTo>
                    <a:pt x="175" y="201"/>
                  </a:lnTo>
                  <a:lnTo>
                    <a:pt x="180" y="197"/>
                  </a:lnTo>
                  <a:lnTo>
                    <a:pt x="181" y="193"/>
                  </a:lnTo>
                  <a:lnTo>
                    <a:pt x="180" y="191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90"/>
                  </a:lnTo>
                  <a:lnTo>
                    <a:pt x="154" y="190"/>
                  </a:lnTo>
                  <a:lnTo>
                    <a:pt x="146" y="190"/>
                  </a:lnTo>
                  <a:lnTo>
                    <a:pt x="139" y="190"/>
                  </a:lnTo>
                  <a:lnTo>
                    <a:pt x="135" y="190"/>
                  </a:lnTo>
                  <a:lnTo>
                    <a:pt x="120" y="189"/>
                  </a:lnTo>
                  <a:lnTo>
                    <a:pt x="107" y="188"/>
                  </a:lnTo>
                  <a:lnTo>
                    <a:pt x="93" y="187"/>
                  </a:lnTo>
                  <a:lnTo>
                    <a:pt x="78" y="184"/>
                  </a:lnTo>
                  <a:lnTo>
                    <a:pt x="64" y="181"/>
                  </a:lnTo>
                  <a:lnTo>
                    <a:pt x="49" y="174"/>
                  </a:lnTo>
                  <a:lnTo>
                    <a:pt x="36" y="165"/>
                  </a:lnTo>
                  <a:lnTo>
                    <a:pt x="22" y="152"/>
                  </a:lnTo>
                  <a:lnTo>
                    <a:pt x="19" y="136"/>
                  </a:lnTo>
                  <a:lnTo>
                    <a:pt x="20" y="122"/>
                  </a:lnTo>
                  <a:lnTo>
                    <a:pt x="26" y="108"/>
                  </a:lnTo>
                  <a:lnTo>
                    <a:pt x="35" y="95"/>
                  </a:lnTo>
                  <a:lnTo>
                    <a:pt x="48" y="83"/>
                  </a:lnTo>
                  <a:lnTo>
                    <a:pt x="62" y="71"/>
                  </a:lnTo>
                  <a:lnTo>
                    <a:pt x="78" y="61"/>
                  </a:lnTo>
                  <a:lnTo>
                    <a:pt x="97" y="51"/>
                  </a:lnTo>
                  <a:lnTo>
                    <a:pt x="116" y="42"/>
                  </a:lnTo>
                  <a:lnTo>
                    <a:pt x="136" y="34"/>
                  </a:lnTo>
                  <a:lnTo>
                    <a:pt x="156" y="27"/>
                  </a:lnTo>
                  <a:lnTo>
                    <a:pt x="175" y="21"/>
                  </a:lnTo>
                  <a:lnTo>
                    <a:pt x="196" y="16"/>
                  </a:lnTo>
                  <a:lnTo>
                    <a:pt x="213" y="11"/>
                  </a:lnTo>
                  <a:lnTo>
                    <a:pt x="230" y="8"/>
                  </a:lnTo>
                  <a:lnTo>
                    <a:pt x="245" y="6"/>
                  </a:lnTo>
                  <a:lnTo>
                    <a:pt x="235" y="2"/>
                  </a:lnTo>
                  <a:lnTo>
                    <a:pt x="219" y="0"/>
                  </a:lnTo>
                  <a:lnTo>
                    <a:pt x="200" y="2"/>
                  </a:lnTo>
                  <a:lnTo>
                    <a:pt x="178" y="5"/>
                  </a:lnTo>
                  <a:lnTo>
                    <a:pt x="154" y="10"/>
                  </a:lnTo>
                  <a:lnTo>
                    <a:pt x="130" y="16"/>
                  </a:lnTo>
                  <a:lnTo>
                    <a:pt x="109" y="24"/>
                  </a:lnTo>
                  <a:lnTo>
                    <a:pt x="90" y="3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0"/>
            <p:cNvSpPr>
              <a:spLocks/>
            </p:cNvSpPr>
            <p:nvPr/>
          </p:nvSpPr>
          <p:spPr bwMode="auto">
            <a:xfrm>
              <a:off x="1401" y="2236"/>
              <a:ext cx="53" cy="80"/>
            </a:xfrm>
            <a:custGeom>
              <a:avLst/>
              <a:gdLst>
                <a:gd name="T0" fmla="*/ 45 w 159"/>
                <a:gd name="T1" fmla="*/ 26 h 160"/>
                <a:gd name="T2" fmla="*/ 46 w 159"/>
                <a:gd name="T3" fmla="*/ 35 h 160"/>
                <a:gd name="T4" fmla="*/ 45 w 159"/>
                <a:gd name="T5" fmla="*/ 42 h 160"/>
                <a:gd name="T6" fmla="*/ 42 w 159"/>
                <a:gd name="T7" fmla="*/ 48 h 160"/>
                <a:gd name="T8" fmla="*/ 37 w 159"/>
                <a:gd name="T9" fmla="*/ 53 h 160"/>
                <a:gd name="T10" fmla="*/ 31 w 159"/>
                <a:gd name="T11" fmla="*/ 58 h 160"/>
                <a:gd name="T12" fmla="*/ 25 w 159"/>
                <a:gd name="T13" fmla="*/ 63 h 160"/>
                <a:gd name="T14" fmla="*/ 18 w 159"/>
                <a:gd name="T15" fmla="*/ 68 h 160"/>
                <a:gd name="T16" fmla="*/ 12 w 159"/>
                <a:gd name="T17" fmla="*/ 73 h 160"/>
                <a:gd name="T18" fmla="*/ 11 w 159"/>
                <a:gd name="T19" fmla="*/ 75 h 160"/>
                <a:gd name="T20" fmla="*/ 11 w 159"/>
                <a:gd name="T21" fmla="*/ 76 h 160"/>
                <a:gd name="T22" fmla="*/ 11 w 159"/>
                <a:gd name="T23" fmla="*/ 77 h 160"/>
                <a:gd name="T24" fmla="*/ 12 w 159"/>
                <a:gd name="T25" fmla="*/ 79 h 160"/>
                <a:gd name="T26" fmla="*/ 13 w 159"/>
                <a:gd name="T27" fmla="*/ 80 h 160"/>
                <a:gd name="T28" fmla="*/ 14 w 159"/>
                <a:gd name="T29" fmla="*/ 80 h 160"/>
                <a:gd name="T30" fmla="*/ 16 w 159"/>
                <a:gd name="T31" fmla="*/ 80 h 160"/>
                <a:gd name="T32" fmla="*/ 17 w 159"/>
                <a:gd name="T33" fmla="*/ 80 h 160"/>
                <a:gd name="T34" fmla="*/ 24 w 159"/>
                <a:gd name="T35" fmla="*/ 75 h 160"/>
                <a:gd name="T36" fmla="*/ 32 w 159"/>
                <a:gd name="T37" fmla="*/ 70 h 160"/>
                <a:gd name="T38" fmla="*/ 38 w 159"/>
                <a:gd name="T39" fmla="*/ 64 h 160"/>
                <a:gd name="T40" fmla="*/ 45 w 159"/>
                <a:gd name="T41" fmla="*/ 57 h 160"/>
                <a:gd name="T42" fmla="*/ 49 w 159"/>
                <a:gd name="T43" fmla="*/ 50 h 160"/>
                <a:gd name="T44" fmla="*/ 52 w 159"/>
                <a:gd name="T45" fmla="*/ 42 h 160"/>
                <a:gd name="T46" fmla="*/ 53 w 159"/>
                <a:gd name="T47" fmla="*/ 34 h 160"/>
                <a:gd name="T48" fmla="*/ 51 w 159"/>
                <a:gd name="T49" fmla="*/ 25 h 160"/>
                <a:gd name="T50" fmla="*/ 47 w 159"/>
                <a:gd name="T51" fmla="*/ 18 h 160"/>
                <a:gd name="T52" fmla="*/ 41 w 159"/>
                <a:gd name="T53" fmla="*/ 12 h 160"/>
                <a:gd name="T54" fmla="*/ 33 w 159"/>
                <a:gd name="T55" fmla="*/ 7 h 160"/>
                <a:gd name="T56" fmla="*/ 25 w 159"/>
                <a:gd name="T57" fmla="*/ 3 h 160"/>
                <a:gd name="T58" fmla="*/ 17 w 159"/>
                <a:gd name="T59" fmla="*/ 1 h 160"/>
                <a:gd name="T60" fmla="*/ 10 w 159"/>
                <a:gd name="T61" fmla="*/ 0 h 160"/>
                <a:gd name="T62" fmla="*/ 4 w 159"/>
                <a:gd name="T63" fmla="*/ 1 h 160"/>
                <a:gd name="T64" fmla="*/ 0 w 159"/>
                <a:gd name="T65" fmla="*/ 3 h 160"/>
                <a:gd name="T66" fmla="*/ 7 w 159"/>
                <a:gd name="T67" fmla="*/ 5 h 160"/>
                <a:gd name="T68" fmla="*/ 14 w 159"/>
                <a:gd name="T69" fmla="*/ 6 h 160"/>
                <a:gd name="T70" fmla="*/ 20 w 159"/>
                <a:gd name="T71" fmla="*/ 7 h 160"/>
                <a:gd name="T72" fmla="*/ 26 w 159"/>
                <a:gd name="T73" fmla="*/ 10 h 160"/>
                <a:gd name="T74" fmla="*/ 32 w 159"/>
                <a:gd name="T75" fmla="*/ 12 h 160"/>
                <a:gd name="T76" fmla="*/ 37 w 159"/>
                <a:gd name="T77" fmla="*/ 15 h 160"/>
                <a:gd name="T78" fmla="*/ 42 w 159"/>
                <a:gd name="T79" fmla="*/ 20 h 160"/>
                <a:gd name="T80" fmla="*/ 45 w 159"/>
                <a:gd name="T81" fmla="*/ 26 h 16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59"/>
                <a:gd name="T124" fmla="*/ 0 h 160"/>
                <a:gd name="T125" fmla="*/ 159 w 159"/>
                <a:gd name="T126" fmla="*/ 160 h 16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59" h="160">
                  <a:moveTo>
                    <a:pt x="134" y="53"/>
                  </a:moveTo>
                  <a:lnTo>
                    <a:pt x="138" y="70"/>
                  </a:lnTo>
                  <a:lnTo>
                    <a:pt x="135" y="84"/>
                  </a:lnTo>
                  <a:lnTo>
                    <a:pt x="125" y="96"/>
                  </a:lnTo>
                  <a:lnTo>
                    <a:pt x="111" y="107"/>
                  </a:lnTo>
                  <a:lnTo>
                    <a:pt x="93" y="117"/>
                  </a:lnTo>
                  <a:lnTo>
                    <a:pt x="74" y="126"/>
                  </a:lnTo>
                  <a:lnTo>
                    <a:pt x="54" y="136"/>
                  </a:lnTo>
                  <a:lnTo>
                    <a:pt x="37" y="146"/>
                  </a:lnTo>
                  <a:lnTo>
                    <a:pt x="34" y="149"/>
                  </a:lnTo>
                  <a:lnTo>
                    <a:pt x="32" y="151"/>
                  </a:lnTo>
                  <a:lnTo>
                    <a:pt x="32" y="154"/>
                  </a:lnTo>
                  <a:lnTo>
                    <a:pt x="35" y="157"/>
                  </a:lnTo>
                  <a:lnTo>
                    <a:pt x="38" y="159"/>
                  </a:lnTo>
                  <a:lnTo>
                    <a:pt x="43" y="160"/>
                  </a:lnTo>
                  <a:lnTo>
                    <a:pt x="47" y="160"/>
                  </a:lnTo>
                  <a:lnTo>
                    <a:pt x="51" y="159"/>
                  </a:lnTo>
                  <a:lnTo>
                    <a:pt x="73" y="150"/>
                  </a:lnTo>
                  <a:lnTo>
                    <a:pt x="95" y="139"/>
                  </a:lnTo>
                  <a:lnTo>
                    <a:pt x="115" y="128"/>
                  </a:lnTo>
                  <a:lnTo>
                    <a:pt x="134" y="115"/>
                  </a:lnTo>
                  <a:lnTo>
                    <a:pt x="147" y="101"/>
                  </a:lnTo>
                  <a:lnTo>
                    <a:pt x="156" y="85"/>
                  </a:lnTo>
                  <a:lnTo>
                    <a:pt x="159" y="68"/>
                  </a:lnTo>
                  <a:lnTo>
                    <a:pt x="153" y="50"/>
                  </a:lnTo>
                  <a:lnTo>
                    <a:pt x="140" y="36"/>
                  </a:lnTo>
                  <a:lnTo>
                    <a:pt x="122" y="24"/>
                  </a:lnTo>
                  <a:lnTo>
                    <a:pt x="99" y="14"/>
                  </a:lnTo>
                  <a:lnTo>
                    <a:pt x="76" y="7"/>
                  </a:lnTo>
                  <a:lnTo>
                    <a:pt x="51" y="2"/>
                  </a:lnTo>
                  <a:lnTo>
                    <a:pt x="29" y="0"/>
                  </a:lnTo>
                  <a:lnTo>
                    <a:pt x="12" y="1"/>
                  </a:lnTo>
                  <a:lnTo>
                    <a:pt x="0" y="5"/>
                  </a:lnTo>
                  <a:lnTo>
                    <a:pt x="21" y="9"/>
                  </a:lnTo>
                  <a:lnTo>
                    <a:pt x="41" y="12"/>
                  </a:lnTo>
                  <a:lnTo>
                    <a:pt x="60" y="15"/>
                  </a:lnTo>
                  <a:lnTo>
                    <a:pt x="79" y="19"/>
                  </a:lnTo>
                  <a:lnTo>
                    <a:pt x="96" y="24"/>
                  </a:lnTo>
                  <a:lnTo>
                    <a:pt x="112" y="31"/>
                  </a:lnTo>
                  <a:lnTo>
                    <a:pt x="125" y="40"/>
                  </a:lnTo>
                  <a:lnTo>
                    <a:pt x="134" y="5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1"/>
            <p:cNvSpPr>
              <a:spLocks/>
            </p:cNvSpPr>
            <p:nvPr/>
          </p:nvSpPr>
          <p:spPr bwMode="auto">
            <a:xfrm>
              <a:off x="1208" y="2218"/>
              <a:ext cx="133" cy="166"/>
            </a:xfrm>
            <a:custGeom>
              <a:avLst/>
              <a:gdLst>
                <a:gd name="T0" fmla="*/ 42 w 399"/>
                <a:gd name="T1" fmla="*/ 31 h 332"/>
                <a:gd name="T2" fmla="*/ 22 w 399"/>
                <a:gd name="T3" fmla="*/ 50 h 332"/>
                <a:gd name="T4" fmla="*/ 7 w 399"/>
                <a:gd name="T5" fmla="*/ 74 h 332"/>
                <a:gd name="T6" fmla="*/ 0 w 399"/>
                <a:gd name="T7" fmla="*/ 100 h 332"/>
                <a:gd name="T8" fmla="*/ 1 w 399"/>
                <a:gd name="T9" fmla="*/ 117 h 332"/>
                <a:gd name="T10" fmla="*/ 4 w 399"/>
                <a:gd name="T11" fmla="*/ 124 h 332"/>
                <a:gd name="T12" fmla="*/ 9 w 399"/>
                <a:gd name="T13" fmla="*/ 131 h 332"/>
                <a:gd name="T14" fmla="*/ 14 w 399"/>
                <a:gd name="T15" fmla="*/ 137 h 332"/>
                <a:gd name="T16" fmla="*/ 23 w 399"/>
                <a:gd name="T17" fmla="*/ 143 h 332"/>
                <a:gd name="T18" fmla="*/ 36 w 399"/>
                <a:gd name="T19" fmla="*/ 149 h 332"/>
                <a:gd name="T20" fmla="*/ 49 w 399"/>
                <a:gd name="T21" fmla="*/ 154 h 332"/>
                <a:gd name="T22" fmla="*/ 63 w 399"/>
                <a:gd name="T23" fmla="*/ 158 h 332"/>
                <a:gd name="T24" fmla="*/ 77 w 399"/>
                <a:gd name="T25" fmla="*/ 161 h 332"/>
                <a:gd name="T26" fmla="*/ 91 w 399"/>
                <a:gd name="T27" fmla="*/ 163 h 332"/>
                <a:gd name="T28" fmla="*/ 105 w 399"/>
                <a:gd name="T29" fmla="*/ 165 h 332"/>
                <a:gd name="T30" fmla="*/ 119 w 399"/>
                <a:gd name="T31" fmla="*/ 166 h 332"/>
                <a:gd name="T32" fmla="*/ 129 w 399"/>
                <a:gd name="T33" fmla="*/ 166 h 332"/>
                <a:gd name="T34" fmla="*/ 132 w 399"/>
                <a:gd name="T35" fmla="*/ 163 h 332"/>
                <a:gd name="T36" fmla="*/ 133 w 399"/>
                <a:gd name="T37" fmla="*/ 158 h 332"/>
                <a:gd name="T38" fmla="*/ 130 w 399"/>
                <a:gd name="T39" fmla="*/ 155 h 332"/>
                <a:gd name="T40" fmla="*/ 121 w 399"/>
                <a:gd name="T41" fmla="*/ 154 h 332"/>
                <a:gd name="T42" fmla="*/ 108 w 399"/>
                <a:gd name="T43" fmla="*/ 154 h 332"/>
                <a:gd name="T44" fmla="*/ 95 w 399"/>
                <a:gd name="T45" fmla="*/ 153 h 332"/>
                <a:gd name="T46" fmla="*/ 82 w 399"/>
                <a:gd name="T47" fmla="*/ 151 h 332"/>
                <a:gd name="T48" fmla="*/ 69 w 399"/>
                <a:gd name="T49" fmla="*/ 148 h 332"/>
                <a:gd name="T50" fmla="*/ 56 w 399"/>
                <a:gd name="T51" fmla="*/ 145 h 332"/>
                <a:gd name="T52" fmla="*/ 44 w 399"/>
                <a:gd name="T53" fmla="*/ 141 h 332"/>
                <a:gd name="T54" fmla="*/ 31 w 399"/>
                <a:gd name="T55" fmla="*/ 135 h 332"/>
                <a:gd name="T56" fmla="*/ 21 w 399"/>
                <a:gd name="T57" fmla="*/ 128 h 332"/>
                <a:gd name="T58" fmla="*/ 15 w 399"/>
                <a:gd name="T59" fmla="*/ 118 h 332"/>
                <a:gd name="T60" fmla="*/ 13 w 399"/>
                <a:gd name="T61" fmla="*/ 105 h 332"/>
                <a:gd name="T62" fmla="*/ 15 w 399"/>
                <a:gd name="T63" fmla="*/ 86 h 332"/>
                <a:gd name="T64" fmla="*/ 21 w 399"/>
                <a:gd name="T65" fmla="*/ 73 h 332"/>
                <a:gd name="T66" fmla="*/ 28 w 399"/>
                <a:gd name="T67" fmla="*/ 60 h 332"/>
                <a:gd name="T68" fmla="*/ 37 w 399"/>
                <a:gd name="T69" fmla="*/ 49 h 332"/>
                <a:gd name="T70" fmla="*/ 47 w 399"/>
                <a:gd name="T71" fmla="*/ 39 h 332"/>
                <a:gd name="T72" fmla="*/ 60 w 399"/>
                <a:gd name="T73" fmla="*/ 28 h 332"/>
                <a:gd name="T74" fmla="*/ 74 w 399"/>
                <a:gd name="T75" fmla="*/ 19 h 332"/>
                <a:gd name="T76" fmla="*/ 90 w 399"/>
                <a:gd name="T77" fmla="*/ 10 h 332"/>
                <a:gd name="T78" fmla="*/ 104 w 399"/>
                <a:gd name="T79" fmla="*/ 3 h 332"/>
                <a:gd name="T80" fmla="*/ 105 w 399"/>
                <a:gd name="T81" fmla="*/ 0 h 332"/>
                <a:gd name="T82" fmla="*/ 91 w 399"/>
                <a:gd name="T83" fmla="*/ 3 h 332"/>
                <a:gd name="T84" fmla="*/ 74 w 399"/>
                <a:gd name="T85" fmla="*/ 9 h 332"/>
                <a:gd name="T86" fmla="*/ 59 w 399"/>
                <a:gd name="T87" fmla="*/ 18 h 33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399"/>
                <a:gd name="T133" fmla="*/ 0 h 332"/>
                <a:gd name="T134" fmla="*/ 399 w 399"/>
                <a:gd name="T135" fmla="*/ 332 h 33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399" h="332">
                  <a:moveTo>
                    <a:pt x="155" y="45"/>
                  </a:moveTo>
                  <a:lnTo>
                    <a:pt x="125" y="62"/>
                  </a:lnTo>
                  <a:lnTo>
                    <a:pt x="94" y="81"/>
                  </a:lnTo>
                  <a:lnTo>
                    <a:pt x="67" y="101"/>
                  </a:lnTo>
                  <a:lnTo>
                    <a:pt x="42" y="123"/>
                  </a:lnTo>
                  <a:lnTo>
                    <a:pt x="22" y="147"/>
                  </a:lnTo>
                  <a:lnTo>
                    <a:pt x="7" y="172"/>
                  </a:lnTo>
                  <a:lnTo>
                    <a:pt x="0" y="200"/>
                  </a:lnTo>
                  <a:lnTo>
                    <a:pt x="2" y="228"/>
                  </a:lnTo>
                  <a:lnTo>
                    <a:pt x="4" y="235"/>
                  </a:lnTo>
                  <a:lnTo>
                    <a:pt x="9" y="243"/>
                  </a:lnTo>
                  <a:lnTo>
                    <a:pt x="13" y="249"/>
                  </a:lnTo>
                  <a:lnTo>
                    <a:pt x="19" y="256"/>
                  </a:lnTo>
                  <a:lnTo>
                    <a:pt x="26" y="262"/>
                  </a:lnTo>
                  <a:lnTo>
                    <a:pt x="33" y="268"/>
                  </a:lnTo>
                  <a:lnTo>
                    <a:pt x="42" y="273"/>
                  </a:lnTo>
                  <a:lnTo>
                    <a:pt x="51" y="277"/>
                  </a:lnTo>
                  <a:lnTo>
                    <a:pt x="70" y="285"/>
                  </a:lnTo>
                  <a:lnTo>
                    <a:pt x="89" y="292"/>
                  </a:lnTo>
                  <a:lnTo>
                    <a:pt x="107" y="298"/>
                  </a:lnTo>
                  <a:lnTo>
                    <a:pt x="128" y="303"/>
                  </a:lnTo>
                  <a:lnTo>
                    <a:pt x="148" y="308"/>
                  </a:lnTo>
                  <a:lnTo>
                    <a:pt x="168" y="312"/>
                  </a:lnTo>
                  <a:lnTo>
                    <a:pt x="189" y="316"/>
                  </a:lnTo>
                  <a:lnTo>
                    <a:pt x="209" y="319"/>
                  </a:lnTo>
                  <a:lnTo>
                    <a:pt x="231" y="322"/>
                  </a:lnTo>
                  <a:lnTo>
                    <a:pt x="253" y="324"/>
                  </a:lnTo>
                  <a:lnTo>
                    <a:pt x="273" y="326"/>
                  </a:lnTo>
                  <a:lnTo>
                    <a:pt x="295" y="328"/>
                  </a:lnTo>
                  <a:lnTo>
                    <a:pt x="316" y="329"/>
                  </a:lnTo>
                  <a:lnTo>
                    <a:pt x="338" y="330"/>
                  </a:lnTo>
                  <a:lnTo>
                    <a:pt x="358" y="331"/>
                  </a:lnTo>
                  <a:lnTo>
                    <a:pt x="380" y="332"/>
                  </a:lnTo>
                  <a:lnTo>
                    <a:pt x="386" y="332"/>
                  </a:lnTo>
                  <a:lnTo>
                    <a:pt x="392" y="329"/>
                  </a:lnTo>
                  <a:lnTo>
                    <a:pt x="396" y="326"/>
                  </a:lnTo>
                  <a:lnTo>
                    <a:pt x="399" y="321"/>
                  </a:lnTo>
                  <a:lnTo>
                    <a:pt x="399" y="316"/>
                  </a:lnTo>
                  <a:lnTo>
                    <a:pt x="396" y="312"/>
                  </a:lnTo>
                  <a:lnTo>
                    <a:pt x="390" y="309"/>
                  </a:lnTo>
                  <a:lnTo>
                    <a:pt x="385" y="308"/>
                  </a:lnTo>
                  <a:lnTo>
                    <a:pt x="364" y="308"/>
                  </a:lnTo>
                  <a:lnTo>
                    <a:pt x="345" y="308"/>
                  </a:lnTo>
                  <a:lnTo>
                    <a:pt x="325" y="307"/>
                  </a:lnTo>
                  <a:lnTo>
                    <a:pt x="306" y="306"/>
                  </a:lnTo>
                  <a:lnTo>
                    <a:pt x="286" y="305"/>
                  </a:lnTo>
                  <a:lnTo>
                    <a:pt x="266" y="303"/>
                  </a:lnTo>
                  <a:lnTo>
                    <a:pt x="247" y="301"/>
                  </a:lnTo>
                  <a:lnTo>
                    <a:pt x="226" y="299"/>
                  </a:lnTo>
                  <a:lnTo>
                    <a:pt x="208" y="296"/>
                  </a:lnTo>
                  <a:lnTo>
                    <a:pt x="187" y="293"/>
                  </a:lnTo>
                  <a:lnTo>
                    <a:pt x="168" y="289"/>
                  </a:lnTo>
                  <a:lnTo>
                    <a:pt x="150" y="285"/>
                  </a:lnTo>
                  <a:lnTo>
                    <a:pt x="131" y="281"/>
                  </a:lnTo>
                  <a:lnTo>
                    <a:pt x="113" y="275"/>
                  </a:lnTo>
                  <a:lnTo>
                    <a:pt x="94" y="269"/>
                  </a:lnTo>
                  <a:lnTo>
                    <a:pt x="77" y="263"/>
                  </a:lnTo>
                  <a:lnTo>
                    <a:pt x="62" y="256"/>
                  </a:lnTo>
                  <a:lnTo>
                    <a:pt x="51" y="246"/>
                  </a:lnTo>
                  <a:lnTo>
                    <a:pt x="44" y="236"/>
                  </a:lnTo>
                  <a:lnTo>
                    <a:pt x="38" y="224"/>
                  </a:lnTo>
                  <a:lnTo>
                    <a:pt x="38" y="210"/>
                  </a:lnTo>
                  <a:lnTo>
                    <a:pt x="41" y="192"/>
                  </a:lnTo>
                  <a:lnTo>
                    <a:pt x="46" y="173"/>
                  </a:lnTo>
                  <a:lnTo>
                    <a:pt x="52" y="160"/>
                  </a:lnTo>
                  <a:lnTo>
                    <a:pt x="62" y="145"/>
                  </a:lnTo>
                  <a:lnTo>
                    <a:pt x="74" y="132"/>
                  </a:lnTo>
                  <a:lnTo>
                    <a:pt x="84" y="120"/>
                  </a:lnTo>
                  <a:lnTo>
                    <a:pt x="97" y="109"/>
                  </a:lnTo>
                  <a:lnTo>
                    <a:pt x="110" y="98"/>
                  </a:lnTo>
                  <a:lnTo>
                    <a:pt x="125" y="88"/>
                  </a:lnTo>
                  <a:lnTo>
                    <a:pt x="141" y="78"/>
                  </a:lnTo>
                  <a:lnTo>
                    <a:pt x="160" y="67"/>
                  </a:lnTo>
                  <a:lnTo>
                    <a:pt x="179" y="57"/>
                  </a:lnTo>
                  <a:lnTo>
                    <a:pt x="200" y="47"/>
                  </a:lnTo>
                  <a:lnTo>
                    <a:pt x="223" y="37"/>
                  </a:lnTo>
                  <a:lnTo>
                    <a:pt x="248" y="28"/>
                  </a:lnTo>
                  <a:lnTo>
                    <a:pt x="271" y="19"/>
                  </a:lnTo>
                  <a:lnTo>
                    <a:pt x="293" y="12"/>
                  </a:lnTo>
                  <a:lnTo>
                    <a:pt x="313" y="6"/>
                  </a:lnTo>
                  <a:lnTo>
                    <a:pt x="331" y="1"/>
                  </a:lnTo>
                  <a:lnTo>
                    <a:pt x="315" y="0"/>
                  </a:lnTo>
                  <a:lnTo>
                    <a:pt x="295" y="1"/>
                  </a:lnTo>
                  <a:lnTo>
                    <a:pt x="273" y="5"/>
                  </a:lnTo>
                  <a:lnTo>
                    <a:pt x="248" y="10"/>
                  </a:lnTo>
                  <a:lnTo>
                    <a:pt x="223" y="17"/>
                  </a:lnTo>
                  <a:lnTo>
                    <a:pt x="199" y="25"/>
                  </a:lnTo>
                  <a:lnTo>
                    <a:pt x="176" y="35"/>
                  </a:lnTo>
                  <a:lnTo>
                    <a:pt x="155" y="4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2"/>
            <p:cNvSpPr>
              <a:spLocks/>
            </p:cNvSpPr>
            <p:nvPr/>
          </p:nvSpPr>
          <p:spPr bwMode="auto">
            <a:xfrm>
              <a:off x="1396" y="2213"/>
              <a:ext cx="116" cy="110"/>
            </a:xfrm>
            <a:custGeom>
              <a:avLst/>
              <a:gdLst>
                <a:gd name="T0" fmla="*/ 97 w 348"/>
                <a:gd name="T1" fmla="*/ 34 h 222"/>
                <a:gd name="T2" fmla="*/ 102 w 348"/>
                <a:gd name="T3" fmla="*/ 40 h 222"/>
                <a:gd name="T4" fmla="*/ 105 w 348"/>
                <a:gd name="T5" fmla="*/ 47 h 222"/>
                <a:gd name="T6" fmla="*/ 107 w 348"/>
                <a:gd name="T7" fmla="*/ 55 h 222"/>
                <a:gd name="T8" fmla="*/ 107 w 348"/>
                <a:gd name="T9" fmla="*/ 62 h 222"/>
                <a:gd name="T10" fmla="*/ 106 w 348"/>
                <a:gd name="T11" fmla="*/ 69 h 222"/>
                <a:gd name="T12" fmla="*/ 104 w 348"/>
                <a:gd name="T13" fmla="*/ 74 h 222"/>
                <a:gd name="T14" fmla="*/ 101 w 348"/>
                <a:gd name="T15" fmla="*/ 80 h 222"/>
                <a:gd name="T16" fmla="*/ 97 w 348"/>
                <a:gd name="T17" fmla="*/ 84 h 222"/>
                <a:gd name="T18" fmla="*/ 93 w 348"/>
                <a:gd name="T19" fmla="*/ 89 h 222"/>
                <a:gd name="T20" fmla="*/ 88 w 348"/>
                <a:gd name="T21" fmla="*/ 93 h 222"/>
                <a:gd name="T22" fmla="*/ 84 w 348"/>
                <a:gd name="T23" fmla="*/ 98 h 222"/>
                <a:gd name="T24" fmla="*/ 80 w 348"/>
                <a:gd name="T25" fmla="*/ 103 h 222"/>
                <a:gd name="T26" fmla="*/ 79 w 348"/>
                <a:gd name="T27" fmla="*/ 104 h 222"/>
                <a:gd name="T28" fmla="*/ 78 w 348"/>
                <a:gd name="T29" fmla="*/ 106 h 222"/>
                <a:gd name="T30" fmla="*/ 79 w 348"/>
                <a:gd name="T31" fmla="*/ 107 h 222"/>
                <a:gd name="T32" fmla="*/ 80 w 348"/>
                <a:gd name="T33" fmla="*/ 109 h 222"/>
                <a:gd name="T34" fmla="*/ 81 w 348"/>
                <a:gd name="T35" fmla="*/ 110 h 222"/>
                <a:gd name="T36" fmla="*/ 83 w 348"/>
                <a:gd name="T37" fmla="*/ 110 h 222"/>
                <a:gd name="T38" fmla="*/ 85 w 348"/>
                <a:gd name="T39" fmla="*/ 110 h 222"/>
                <a:gd name="T40" fmla="*/ 86 w 348"/>
                <a:gd name="T41" fmla="*/ 109 h 222"/>
                <a:gd name="T42" fmla="*/ 96 w 348"/>
                <a:gd name="T43" fmla="*/ 102 h 222"/>
                <a:gd name="T44" fmla="*/ 103 w 348"/>
                <a:gd name="T45" fmla="*/ 93 h 222"/>
                <a:gd name="T46" fmla="*/ 110 w 348"/>
                <a:gd name="T47" fmla="*/ 83 h 222"/>
                <a:gd name="T48" fmla="*/ 115 w 348"/>
                <a:gd name="T49" fmla="*/ 73 h 222"/>
                <a:gd name="T50" fmla="*/ 116 w 348"/>
                <a:gd name="T51" fmla="*/ 61 h 222"/>
                <a:gd name="T52" fmla="*/ 115 w 348"/>
                <a:gd name="T53" fmla="*/ 51 h 222"/>
                <a:gd name="T54" fmla="*/ 111 w 348"/>
                <a:gd name="T55" fmla="*/ 40 h 222"/>
                <a:gd name="T56" fmla="*/ 103 w 348"/>
                <a:gd name="T57" fmla="*/ 31 h 222"/>
                <a:gd name="T58" fmla="*/ 98 w 348"/>
                <a:gd name="T59" fmla="*/ 26 h 222"/>
                <a:gd name="T60" fmla="*/ 91 w 348"/>
                <a:gd name="T61" fmla="*/ 21 h 222"/>
                <a:gd name="T62" fmla="*/ 83 w 348"/>
                <a:gd name="T63" fmla="*/ 17 h 222"/>
                <a:gd name="T64" fmla="*/ 75 w 348"/>
                <a:gd name="T65" fmla="*/ 13 h 222"/>
                <a:gd name="T66" fmla="*/ 67 w 348"/>
                <a:gd name="T67" fmla="*/ 10 h 222"/>
                <a:gd name="T68" fmla="*/ 59 w 348"/>
                <a:gd name="T69" fmla="*/ 8 h 222"/>
                <a:gd name="T70" fmla="*/ 50 w 348"/>
                <a:gd name="T71" fmla="*/ 5 h 222"/>
                <a:gd name="T72" fmla="*/ 42 w 348"/>
                <a:gd name="T73" fmla="*/ 3 h 222"/>
                <a:gd name="T74" fmla="*/ 34 w 348"/>
                <a:gd name="T75" fmla="*/ 2 h 222"/>
                <a:gd name="T76" fmla="*/ 26 w 348"/>
                <a:gd name="T77" fmla="*/ 1 h 222"/>
                <a:gd name="T78" fmla="*/ 19 w 348"/>
                <a:gd name="T79" fmla="*/ 0 h 222"/>
                <a:gd name="T80" fmla="*/ 13 w 348"/>
                <a:gd name="T81" fmla="*/ 0 h 222"/>
                <a:gd name="T82" fmla="*/ 8 w 348"/>
                <a:gd name="T83" fmla="*/ 0 h 222"/>
                <a:gd name="T84" fmla="*/ 4 w 348"/>
                <a:gd name="T85" fmla="*/ 0 h 222"/>
                <a:gd name="T86" fmla="*/ 1 w 348"/>
                <a:gd name="T87" fmla="*/ 1 h 222"/>
                <a:gd name="T88" fmla="*/ 0 w 348"/>
                <a:gd name="T89" fmla="*/ 2 h 222"/>
                <a:gd name="T90" fmla="*/ 5 w 348"/>
                <a:gd name="T91" fmla="*/ 3 h 222"/>
                <a:gd name="T92" fmla="*/ 10 w 348"/>
                <a:gd name="T93" fmla="*/ 4 h 222"/>
                <a:gd name="T94" fmla="*/ 15 w 348"/>
                <a:gd name="T95" fmla="*/ 5 h 222"/>
                <a:gd name="T96" fmla="*/ 21 w 348"/>
                <a:gd name="T97" fmla="*/ 6 h 222"/>
                <a:gd name="T98" fmla="*/ 28 w 348"/>
                <a:gd name="T99" fmla="*/ 7 h 222"/>
                <a:gd name="T100" fmla="*/ 34 w 348"/>
                <a:gd name="T101" fmla="*/ 8 h 222"/>
                <a:gd name="T102" fmla="*/ 40 w 348"/>
                <a:gd name="T103" fmla="*/ 9 h 222"/>
                <a:gd name="T104" fmla="*/ 47 w 348"/>
                <a:gd name="T105" fmla="*/ 11 h 222"/>
                <a:gd name="T106" fmla="*/ 53 w 348"/>
                <a:gd name="T107" fmla="*/ 13 h 222"/>
                <a:gd name="T108" fmla="*/ 60 w 348"/>
                <a:gd name="T109" fmla="*/ 15 h 222"/>
                <a:gd name="T110" fmla="*/ 67 w 348"/>
                <a:gd name="T111" fmla="*/ 17 h 222"/>
                <a:gd name="T112" fmla="*/ 73 w 348"/>
                <a:gd name="T113" fmla="*/ 20 h 222"/>
                <a:gd name="T114" fmla="*/ 79 w 348"/>
                <a:gd name="T115" fmla="*/ 23 h 222"/>
                <a:gd name="T116" fmla="*/ 86 w 348"/>
                <a:gd name="T117" fmla="*/ 26 h 222"/>
                <a:gd name="T118" fmla="*/ 91 w 348"/>
                <a:gd name="T119" fmla="*/ 30 h 222"/>
                <a:gd name="T120" fmla="*/ 97 w 348"/>
                <a:gd name="T121" fmla="*/ 34 h 22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348"/>
                <a:gd name="T184" fmla="*/ 0 h 222"/>
                <a:gd name="T185" fmla="*/ 348 w 348"/>
                <a:gd name="T186" fmla="*/ 222 h 22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348" h="222">
                  <a:moveTo>
                    <a:pt x="290" y="69"/>
                  </a:moveTo>
                  <a:lnTo>
                    <a:pt x="306" y="81"/>
                  </a:lnTo>
                  <a:lnTo>
                    <a:pt x="315" y="95"/>
                  </a:lnTo>
                  <a:lnTo>
                    <a:pt x="321" y="110"/>
                  </a:lnTo>
                  <a:lnTo>
                    <a:pt x="321" y="126"/>
                  </a:lnTo>
                  <a:lnTo>
                    <a:pt x="318" y="139"/>
                  </a:lnTo>
                  <a:lnTo>
                    <a:pt x="312" y="150"/>
                  </a:lnTo>
                  <a:lnTo>
                    <a:pt x="302" y="161"/>
                  </a:lnTo>
                  <a:lnTo>
                    <a:pt x="292" y="170"/>
                  </a:lnTo>
                  <a:lnTo>
                    <a:pt x="279" y="180"/>
                  </a:lnTo>
                  <a:lnTo>
                    <a:pt x="265" y="188"/>
                  </a:lnTo>
                  <a:lnTo>
                    <a:pt x="252" y="198"/>
                  </a:lnTo>
                  <a:lnTo>
                    <a:pt x="239" y="207"/>
                  </a:lnTo>
                  <a:lnTo>
                    <a:pt x="236" y="210"/>
                  </a:lnTo>
                  <a:lnTo>
                    <a:pt x="235" y="213"/>
                  </a:lnTo>
                  <a:lnTo>
                    <a:pt x="236" y="216"/>
                  </a:lnTo>
                  <a:lnTo>
                    <a:pt x="239" y="219"/>
                  </a:lnTo>
                  <a:lnTo>
                    <a:pt x="244" y="221"/>
                  </a:lnTo>
                  <a:lnTo>
                    <a:pt x="248" y="222"/>
                  </a:lnTo>
                  <a:lnTo>
                    <a:pt x="254" y="221"/>
                  </a:lnTo>
                  <a:lnTo>
                    <a:pt x="258" y="219"/>
                  </a:lnTo>
                  <a:lnTo>
                    <a:pt x="287" y="206"/>
                  </a:lnTo>
                  <a:lnTo>
                    <a:pt x="310" y="188"/>
                  </a:lnTo>
                  <a:lnTo>
                    <a:pt x="331" y="168"/>
                  </a:lnTo>
                  <a:lnTo>
                    <a:pt x="344" y="147"/>
                  </a:lnTo>
                  <a:lnTo>
                    <a:pt x="348" y="124"/>
                  </a:lnTo>
                  <a:lnTo>
                    <a:pt x="345" y="102"/>
                  </a:lnTo>
                  <a:lnTo>
                    <a:pt x="334" y="81"/>
                  </a:lnTo>
                  <a:lnTo>
                    <a:pt x="310" y="62"/>
                  </a:lnTo>
                  <a:lnTo>
                    <a:pt x="293" y="52"/>
                  </a:lnTo>
                  <a:lnTo>
                    <a:pt x="273" y="43"/>
                  </a:lnTo>
                  <a:lnTo>
                    <a:pt x="249" y="34"/>
                  </a:lnTo>
                  <a:lnTo>
                    <a:pt x="226" y="27"/>
                  </a:lnTo>
                  <a:lnTo>
                    <a:pt x="202" y="21"/>
                  </a:lnTo>
                  <a:lnTo>
                    <a:pt x="176" y="16"/>
                  </a:lnTo>
                  <a:lnTo>
                    <a:pt x="151" y="11"/>
                  </a:lnTo>
                  <a:lnTo>
                    <a:pt x="125" y="7"/>
                  </a:lnTo>
                  <a:lnTo>
                    <a:pt x="102" y="4"/>
                  </a:lnTo>
                  <a:lnTo>
                    <a:pt x="78" y="2"/>
                  </a:lnTo>
                  <a:lnTo>
                    <a:pt x="58" y="0"/>
                  </a:lnTo>
                  <a:lnTo>
                    <a:pt x="39" y="0"/>
                  </a:lnTo>
                  <a:lnTo>
                    <a:pt x="23" y="0"/>
                  </a:lnTo>
                  <a:lnTo>
                    <a:pt x="12" y="1"/>
                  </a:lnTo>
                  <a:lnTo>
                    <a:pt x="4" y="3"/>
                  </a:lnTo>
                  <a:lnTo>
                    <a:pt x="0" y="5"/>
                  </a:lnTo>
                  <a:lnTo>
                    <a:pt x="14" y="7"/>
                  </a:lnTo>
                  <a:lnTo>
                    <a:pt x="30" y="8"/>
                  </a:lnTo>
                  <a:lnTo>
                    <a:pt x="46" y="10"/>
                  </a:lnTo>
                  <a:lnTo>
                    <a:pt x="64" y="12"/>
                  </a:lnTo>
                  <a:lnTo>
                    <a:pt x="83" y="14"/>
                  </a:lnTo>
                  <a:lnTo>
                    <a:pt x="102" y="16"/>
                  </a:lnTo>
                  <a:lnTo>
                    <a:pt x="120" y="19"/>
                  </a:lnTo>
                  <a:lnTo>
                    <a:pt x="141" y="22"/>
                  </a:lnTo>
                  <a:lnTo>
                    <a:pt x="160" y="26"/>
                  </a:lnTo>
                  <a:lnTo>
                    <a:pt x="180" y="30"/>
                  </a:lnTo>
                  <a:lnTo>
                    <a:pt x="200" y="35"/>
                  </a:lnTo>
                  <a:lnTo>
                    <a:pt x="219" y="41"/>
                  </a:lnTo>
                  <a:lnTo>
                    <a:pt x="238" y="47"/>
                  </a:lnTo>
                  <a:lnTo>
                    <a:pt x="257" y="53"/>
                  </a:lnTo>
                  <a:lnTo>
                    <a:pt x="274" y="61"/>
                  </a:lnTo>
                  <a:lnTo>
                    <a:pt x="290" y="6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63"/>
            <p:cNvSpPr>
              <a:spLocks/>
            </p:cNvSpPr>
            <p:nvPr/>
          </p:nvSpPr>
          <p:spPr bwMode="auto">
            <a:xfrm>
              <a:off x="1162" y="2273"/>
              <a:ext cx="48" cy="103"/>
            </a:xfrm>
            <a:custGeom>
              <a:avLst/>
              <a:gdLst>
                <a:gd name="T0" fmla="*/ 0 w 142"/>
                <a:gd name="T1" fmla="*/ 56 h 207"/>
                <a:gd name="T2" fmla="*/ 0 w 142"/>
                <a:gd name="T3" fmla="*/ 65 h 207"/>
                <a:gd name="T4" fmla="*/ 2 w 142"/>
                <a:gd name="T5" fmla="*/ 73 h 207"/>
                <a:gd name="T6" fmla="*/ 5 w 142"/>
                <a:gd name="T7" fmla="*/ 80 h 207"/>
                <a:gd name="T8" fmla="*/ 10 w 142"/>
                <a:gd name="T9" fmla="*/ 87 h 207"/>
                <a:gd name="T10" fmla="*/ 16 w 142"/>
                <a:gd name="T11" fmla="*/ 92 h 207"/>
                <a:gd name="T12" fmla="*/ 23 w 142"/>
                <a:gd name="T13" fmla="*/ 97 h 207"/>
                <a:gd name="T14" fmla="*/ 31 w 142"/>
                <a:gd name="T15" fmla="*/ 101 h 207"/>
                <a:gd name="T16" fmla="*/ 39 w 142"/>
                <a:gd name="T17" fmla="*/ 103 h 207"/>
                <a:gd name="T18" fmla="*/ 41 w 142"/>
                <a:gd name="T19" fmla="*/ 103 h 207"/>
                <a:gd name="T20" fmla="*/ 44 w 142"/>
                <a:gd name="T21" fmla="*/ 102 h 207"/>
                <a:gd name="T22" fmla="*/ 46 w 142"/>
                <a:gd name="T23" fmla="*/ 101 h 207"/>
                <a:gd name="T24" fmla="*/ 47 w 142"/>
                <a:gd name="T25" fmla="*/ 99 h 207"/>
                <a:gd name="T26" fmla="*/ 47 w 142"/>
                <a:gd name="T27" fmla="*/ 96 h 207"/>
                <a:gd name="T28" fmla="*/ 46 w 142"/>
                <a:gd name="T29" fmla="*/ 94 h 207"/>
                <a:gd name="T30" fmla="*/ 45 w 142"/>
                <a:gd name="T31" fmla="*/ 92 h 207"/>
                <a:gd name="T32" fmla="*/ 42 w 142"/>
                <a:gd name="T33" fmla="*/ 91 h 207"/>
                <a:gd name="T34" fmla="*/ 34 w 142"/>
                <a:gd name="T35" fmla="*/ 88 h 207"/>
                <a:gd name="T36" fmla="*/ 27 w 142"/>
                <a:gd name="T37" fmla="*/ 84 h 207"/>
                <a:gd name="T38" fmla="*/ 21 w 142"/>
                <a:gd name="T39" fmla="*/ 78 h 207"/>
                <a:gd name="T40" fmla="*/ 17 w 142"/>
                <a:gd name="T41" fmla="*/ 72 h 207"/>
                <a:gd name="T42" fmla="*/ 14 w 142"/>
                <a:gd name="T43" fmla="*/ 65 h 207"/>
                <a:gd name="T44" fmla="*/ 13 w 142"/>
                <a:gd name="T45" fmla="*/ 57 h 207"/>
                <a:gd name="T46" fmla="*/ 13 w 142"/>
                <a:gd name="T47" fmla="*/ 48 h 207"/>
                <a:gd name="T48" fmla="*/ 15 w 142"/>
                <a:gd name="T49" fmla="*/ 39 h 207"/>
                <a:gd name="T50" fmla="*/ 18 w 142"/>
                <a:gd name="T51" fmla="*/ 32 h 207"/>
                <a:gd name="T52" fmla="*/ 24 w 142"/>
                <a:gd name="T53" fmla="*/ 26 h 207"/>
                <a:gd name="T54" fmla="*/ 29 w 142"/>
                <a:gd name="T55" fmla="*/ 20 h 207"/>
                <a:gd name="T56" fmla="*/ 36 w 142"/>
                <a:gd name="T57" fmla="*/ 14 h 207"/>
                <a:gd name="T58" fmla="*/ 41 w 142"/>
                <a:gd name="T59" fmla="*/ 10 h 207"/>
                <a:gd name="T60" fmla="*/ 46 w 142"/>
                <a:gd name="T61" fmla="*/ 5 h 207"/>
                <a:gd name="T62" fmla="*/ 48 w 142"/>
                <a:gd name="T63" fmla="*/ 2 h 207"/>
                <a:gd name="T64" fmla="*/ 48 w 142"/>
                <a:gd name="T65" fmla="*/ 0 h 207"/>
                <a:gd name="T66" fmla="*/ 43 w 142"/>
                <a:gd name="T67" fmla="*/ 2 h 207"/>
                <a:gd name="T68" fmla="*/ 36 w 142"/>
                <a:gd name="T69" fmla="*/ 5 h 207"/>
                <a:gd name="T70" fmla="*/ 28 w 142"/>
                <a:gd name="T71" fmla="*/ 11 h 207"/>
                <a:gd name="T72" fmla="*/ 21 w 142"/>
                <a:gd name="T73" fmla="*/ 18 h 207"/>
                <a:gd name="T74" fmla="*/ 13 w 142"/>
                <a:gd name="T75" fmla="*/ 26 h 207"/>
                <a:gd name="T76" fmla="*/ 7 w 142"/>
                <a:gd name="T77" fmla="*/ 36 h 207"/>
                <a:gd name="T78" fmla="*/ 3 w 142"/>
                <a:gd name="T79" fmla="*/ 46 h 207"/>
                <a:gd name="T80" fmla="*/ 0 w 142"/>
                <a:gd name="T81" fmla="*/ 56 h 207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142"/>
                <a:gd name="T124" fmla="*/ 0 h 207"/>
                <a:gd name="T125" fmla="*/ 142 w 142"/>
                <a:gd name="T126" fmla="*/ 207 h 207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142" h="207">
                  <a:moveTo>
                    <a:pt x="0" y="113"/>
                  </a:moveTo>
                  <a:lnTo>
                    <a:pt x="0" y="130"/>
                  </a:lnTo>
                  <a:lnTo>
                    <a:pt x="6" y="146"/>
                  </a:lnTo>
                  <a:lnTo>
                    <a:pt x="16" y="161"/>
                  </a:lnTo>
                  <a:lnTo>
                    <a:pt x="31" y="174"/>
                  </a:lnTo>
                  <a:lnTo>
                    <a:pt x="48" y="185"/>
                  </a:lnTo>
                  <a:lnTo>
                    <a:pt x="68" y="195"/>
                  </a:lnTo>
                  <a:lnTo>
                    <a:pt x="92" y="202"/>
                  </a:lnTo>
                  <a:lnTo>
                    <a:pt x="115" y="206"/>
                  </a:lnTo>
                  <a:lnTo>
                    <a:pt x="122" y="207"/>
                  </a:lnTo>
                  <a:lnTo>
                    <a:pt x="129" y="205"/>
                  </a:lnTo>
                  <a:lnTo>
                    <a:pt x="135" y="202"/>
                  </a:lnTo>
                  <a:lnTo>
                    <a:pt x="138" y="198"/>
                  </a:lnTo>
                  <a:lnTo>
                    <a:pt x="138" y="193"/>
                  </a:lnTo>
                  <a:lnTo>
                    <a:pt x="137" y="188"/>
                  </a:lnTo>
                  <a:lnTo>
                    <a:pt x="132" y="184"/>
                  </a:lnTo>
                  <a:lnTo>
                    <a:pt x="125" y="182"/>
                  </a:lnTo>
                  <a:lnTo>
                    <a:pt x="102" y="176"/>
                  </a:lnTo>
                  <a:lnTo>
                    <a:pt x="80" y="168"/>
                  </a:lnTo>
                  <a:lnTo>
                    <a:pt x="63" y="157"/>
                  </a:lnTo>
                  <a:lnTo>
                    <a:pt x="50" y="145"/>
                  </a:lnTo>
                  <a:lnTo>
                    <a:pt x="41" y="130"/>
                  </a:lnTo>
                  <a:lnTo>
                    <a:pt x="37" y="114"/>
                  </a:lnTo>
                  <a:lnTo>
                    <a:pt x="37" y="97"/>
                  </a:lnTo>
                  <a:lnTo>
                    <a:pt x="44" y="79"/>
                  </a:lnTo>
                  <a:lnTo>
                    <a:pt x="54" y="65"/>
                  </a:lnTo>
                  <a:lnTo>
                    <a:pt x="70" y="52"/>
                  </a:lnTo>
                  <a:lnTo>
                    <a:pt x="87" y="40"/>
                  </a:lnTo>
                  <a:lnTo>
                    <a:pt x="106" y="29"/>
                  </a:lnTo>
                  <a:lnTo>
                    <a:pt x="122" y="20"/>
                  </a:lnTo>
                  <a:lnTo>
                    <a:pt x="135" y="11"/>
                  </a:lnTo>
                  <a:lnTo>
                    <a:pt x="142" y="5"/>
                  </a:lnTo>
                  <a:lnTo>
                    <a:pt x="142" y="0"/>
                  </a:lnTo>
                  <a:lnTo>
                    <a:pt x="126" y="4"/>
                  </a:lnTo>
                  <a:lnTo>
                    <a:pt x="106" y="11"/>
                  </a:lnTo>
                  <a:lnTo>
                    <a:pt x="84" y="23"/>
                  </a:lnTo>
                  <a:lnTo>
                    <a:pt x="61" y="37"/>
                  </a:lnTo>
                  <a:lnTo>
                    <a:pt x="39" y="53"/>
                  </a:lnTo>
                  <a:lnTo>
                    <a:pt x="22" y="72"/>
                  </a:lnTo>
                  <a:lnTo>
                    <a:pt x="8" y="93"/>
                  </a:lnTo>
                  <a:lnTo>
                    <a:pt x="0" y="11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64"/>
            <p:cNvSpPr>
              <a:spLocks/>
            </p:cNvSpPr>
            <p:nvPr/>
          </p:nvSpPr>
          <p:spPr bwMode="auto">
            <a:xfrm>
              <a:off x="1492" y="2206"/>
              <a:ext cx="101" cy="135"/>
            </a:xfrm>
            <a:custGeom>
              <a:avLst/>
              <a:gdLst>
                <a:gd name="T0" fmla="*/ 85 w 303"/>
                <a:gd name="T1" fmla="*/ 54 h 272"/>
                <a:gd name="T2" fmla="*/ 90 w 303"/>
                <a:gd name="T3" fmla="*/ 63 h 272"/>
                <a:gd name="T4" fmla="*/ 93 w 303"/>
                <a:gd name="T5" fmla="*/ 71 h 272"/>
                <a:gd name="T6" fmla="*/ 91 w 303"/>
                <a:gd name="T7" fmla="*/ 81 h 272"/>
                <a:gd name="T8" fmla="*/ 85 w 303"/>
                <a:gd name="T9" fmla="*/ 91 h 272"/>
                <a:gd name="T10" fmla="*/ 77 w 303"/>
                <a:gd name="T11" fmla="*/ 99 h 272"/>
                <a:gd name="T12" fmla="*/ 68 w 303"/>
                <a:gd name="T13" fmla="*/ 107 h 272"/>
                <a:gd name="T14" fmla="*/ 58 w 303"/>
                <a:gd name="T15" fmla="*/ 115 h 272"/>
                <a:gd name="T16" fmla="*/ 53 w 303"/>
                <a:gd name="T17" fmla="*/ 121 h 272"/>
                <a:gd name="T18" fmla="*/ 51 w 303"/>
                <a:gd name="T19" fmla="*/ 125 h 272"/>
                <a:gd name="T20" fmla="*/ 49 w 303"/>
                <a:gd name="T21" fmla="*/ 129 h 272"/>
                <a:gd name="T22" fmla="*/ 50 w 303"/>
                <a:gd name="T23" fmla="*/ 133 h 272"/>
                <a:gd name="T24" fmla="*/ 54 w 303"/>
                <a:gd name="T25" fmla="*/ 135 h 272"/>
                <a:gd name="T26" fmla="*/ 57 w 303"/>
                <a:gd name="T27" fmla="*/ 135 h 272"/>
                <a:gd name="T28" fmla="*/ 63 w 303"/>
                <a:gd name="T29" fmla="*/ 127 h 272"/>
                <a:gd name="T30" fmla="*/ 74 w 303"/>
                <a:gd name="T31" fmla="*/ 117 h 272"/>
                <a:gd name="T32" fmla="*/ 85 w 303"/>
                <a:gd name="T33" fmla="*/ 107 h 272"/>
                <a:gd name="T34" fmla="*/ 95 w 303"/>
                <a:gd name="T35" fmla="*/ 95 h 272"/>
                <a:gd name="T36" fmla="*/ 100 w 303"/>
                <a:gd name="T37" fmla="*/ 81 h 272"/>
                <a:gd name="T38" fmla="*/ 100 w 303"/>
                <a:gd name="T39" fmla="*/ 66 h 272"/>
                <a:gd name="T40" fmla="*/ 94 w 303"/>
                <a:gd name="T41" fmla="*/ 52 h 272"/>
                <a:gd name="T42" fmla="*/ 84 w 303"/>
                <a:gd name="T43" fmla="*/ 41 h 272"/>
                <a:gd name="T44" fmla="*/ 72 w 303"/>
                <a:gd name="T45" fmla="*/ 33 h 272"/>
                <a:gd name="T46" fmla="*/ 62 w 303"/>
                <a:gd name="T47" fmla="*/ 27 h 272"/>
                <a:gd name="T48" fmla="*/ 50 w 303"/>
                <a:gd name="T49" fmla="*/ 20 h 272"/>
                <a:gd name="T50" fmla="*/ 38 w 303"/>
                <a:gd name="T51" fmla="*/ 13 h 272"/>
                <a:gd name="T52" fmla="*/ 27 w 303"/>
                <a:gd name="T53" fmla="*/ 8 h 272"/>
                <a:gd name="T54" fmla="*/ 16 w 303"/>
                <a:gd name="T55" fmla="*/ 3 h 272"/>
                <a:gd name="T56" fmla="*/ 8 w 303"/>
                <a:gd name="T57" fmla="*/ 0 h 272"/>
                <a:gd name="T58" fmla="*/ 2 w 303"/>
                <a:gd name="T59" fmla="*/ 0 h 272"/>
                <a:gd name="T60" fmla="*/ 4 w 303"/>
                <a:gd name="T61" fmla="*/ 3 h 272"/>
                <a:gd name="T62" fmla="*/ 14 w 303"/>
                <a:gd name="T63" fmla="*/ 8 h 272"/>
                <a:gd name="T64" fmla="*/ 25 w 303"/>
                <a:gd name="T65" fmla="*/ 13 h 272"/>
                <a:gd name="T66" fmla="*/ 35 w 303"/>
                <a:gd name="T67" fmla="*/ 19 h 272"/>
                <a:gd name="T68" fmla="*/ 46 w 303"/>
                <a:gd name="T69" fmla="*/ 25 h 272"/>
                <a:gd name="T70" fmla="*/ 57 w 303"/>
                <a:gd name="T71" fmla="*/ 31 h 272"/>
                <a:gd name="T72" fmla="*/ 68 w 303"/>
                <a:gd name="T73" fmla="*/ 39 h 272"/>
                <a:gd name="T74" fmla="*/ 77 w 303"/>
                <a:gd name="T75" fmla="*/ 46 h 27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303"/>
                <a:gd name="T115" fmla="*/ 0 h 272"/>
                <a:gd name="T116" fmla="*/ 303 w 303"/>
                <a:gd name="T117" fmla="*/ 272 h 272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303" h="272">
                  <a:moveTo>
                    <a:pt x="246" y="102"/>
                  </a:moveTo>
                  <a:lnTo>
                    <a:pt x="256" y="109"/>
                  </a:lnTo>
                  <a:lnTo>
                    <a:pt x="264" y="117"/>
                  </a:lnTo>
                  <a:lnTo>
                    <a:pt x="271" y="126"/>
                  </a:lnTo>
                  <a:lnTo>
                    <a:pt x="275" y="135"/>
                  </a:lnTo>
                  <a:lnTo>
                    <a:pt x="278" y="144"/>
                  </a:lnTo>
                  <a:lnTo>
                    <a:pt x="277" y="154"/>
                  </a:lnTo>
                  <a:lnTo>
                    <a:pt x="274" y="164"/>
                  </a:lnTo>
                  <a:lnTo>
                    <a:pt x="267" y="173"/>
                  </a:lnTo>
                  <a:lnTo>
                    <a:pt x="256" y="183"/>
                  </a:lnTo>
                  <a:lnTo>
                    <a:pt x="245" y="192"/>
                  </a:lnTo>
                  <a:lnTo>
                    <a:pt x="232" y="200"/>
                  </a:lnTo>
                  <a:lnTo>
                    <a:pt x="219" y="209"/>
                  </a:lnTo>
                  <a:lnTo>
                    <a:pt x="204" y="216"/>
                  </a:lnTo>
                  <a:lnTo>
                    <a:pt x="190" y="224"/>
                  </a:lnTo>
                  <a:lnTo>
                    <a:pt x="175" y="232"/>
                  </a:lnTo>
                  <a:lnTo>
                    <a:pt x="162" y="241"/>
                  </a:lnTo>
                  <a:lnTo>
                    <a:pt x="158" y="244"/>
                  </a:lnTo>
                  <a:lnTo>
                    <a:pt x="155" y="248"/>
                  </a:lnTo>
                  <a:lnTo>
                    <a:pt x="152" y="252"/>
                  </a:lnTo>
                  <a:lnTo>
                    <a:pt x="149" y="256"/>
                  </a:lnTo>
                  <a:lnTo>
                    <a:pt x="148" y="260"/>
                  </a:lnTo>
                  <a:lnTo>
                    <a:pt x="148" y="264"/>
                  </a:lnTo>
                  <a:lnTo>
                    <a:pt x="151" y="268"/>
                  </a:lnTo>
                  <a:lnTo>
                    <a:pt x="155" y="271"/>
                  </a:lnTo>
                  <a:lnTo>
                    <a:pt x="161" y="272"/>
                  </a:lnTo>
                  <a:lnTo>
                    <a:pt x="166" y="272"/>
                  </a:lnTo>
                  <a:lnTo>
                    <a:pt x="171" y="271"/>
                  </a:lnTo>
                  <a:lnTo>
                    <a:pt x="175" y="268"/>
                  </a:lnTo>
                  <a:lnTo>
                    <a:pt x="190" y="256"/>
                  </a:lnTo>
                  <a:lnTo>
                    <a:pt x="206" y="246"/>
                  </a:lnTo>
                  <a:lnTo>
                    <a:pt x="222" y="236"/>
                  </a:lnTo>
                  <a:lnTo>
                    <a:pt x="239" y="226"/>
                  </a:lnTo>
                  <a:lnTo>
                    <a:pt x="255" y="216"/>
                  </a:lnTo>
                  <a:lnTo>
                    <a:pt x="271" y="204"/>
                  </a:lnTo>
                  <a:lnTo>
                    <a:pt x="284" y="192"/>
                  </a:lnTo>
                  <a:lnTo>
                    <a:pt x="294" y="179"/>
                  </a:lnTo>
                  <a:lnTo>
                    <a:pt x="301" y="163"/>
                  </a:lnTo>
                  <a:lnTo>
                    <a:pt x="303" y="148"/>
                  </a:lnTo>
                  <a:lnTo>
                    <a:pt x="300" y="133"/>
                  </a:lnTo>
                  <a:lnTo>
                    <a:pt x="293" y="118"/>
                  </a:lnTo>
                  <a:lnTo>
                    <a:pt x="281" y="105"/>
                  </a:lnTo>
                  <a:lnTo>
                    <a:pt x="268" y="92"/>
                  </a:lnTo>
                  <a:lnTo>
                    <a:pt x="251" y="82"/>
                  </a:lnTo>
                  <a:lnTo>
                    <a:pt x="232" y="73"/>
                  </a:lnTo>
                  <a:lnTo>
                    <a:pt x="217" y="67"/>
                  </a:lnTo>
                  <a:lnTo>
                    <a:pt x="201" y="61"/>
                  </a:lnTo>
                  <a:lnTo>
                    <a:pt x="185" y="54"/>
                  </a:lnTo>
                  <a:lnTo>
                    <a:pt x="168" y="47"/>
                  </a:lnTo>
                  <a:lnTo>
                    <a:pt x="151" y="40"/>
                  </a:lnTo>
                  <a:lnTo>
                    <a:pt x="132" y="34"/>
                  </a:lnTo>
                  <a:lnTo>
                    <a:pt x="114" y="27"/>
                  </a:lnTo>
                  <a:lnTo>
                    <a:pt x="97" y="21"/>
                  </a:lnTo>
                  <a:lnTo>
                    <a:pt x="81" y="16"/>
                  </a:lnTo>
                  <a:lnTo>
                    <a:pt x="65" y="11"/>
                  </a:lnTo>
                  <a:lnTo>
                    <a:pt x="49" y="7"/>
                  </a:lnTo>
                  <a:lnTo>
                    <a:pt x="36" y="4"/>
                  </a:lnTo>
                  <a:lnTo>
                    <a:pt x="24" y="1"/>
                  </a:lnTo>
                  <a:lnTo>
                    <a:pt x="14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13" y="7"/>
                  </a:lnTo>
                  <a:lnTo>
                    <a:pt x="27" y="12"/>
                  </a:lnTo>
                  <a:lnTo>
                    <a:pt x="43" y="17"/>
                  </a:lnTo>
                  <a:lnTo>
                    <a:pt x="58" y="22"/>
                  </a:lnTo>
                  <a:lnTo>
                    <a:pt x="74" y="27"/>
                  </a:lnTo>
                  <a:lnTo>
                    <a:pt x="90" y="32"/>
                  </a:lnTo>
                  <a:lnTo>
                    <a:pt x="106" y="38"/>
                  </a:lnTo>
                  <a:lnTo>
                    <a:pt x="122" y="44"/>
                  </a:lnTo>
                  <a:lnTo>
                    <a:pt x="139" y="50"/>
                  </a:lnTo>
                  <a:lnTo>
                    <a:pt x="155" y="57"/>
                  </a:lnTo>
                  <a:lnTo>
                    <a:pt x="171" y="63"/>
                  </a:lnTo>
                  <a:lnTo>
                    <a:pt x="187" y="70"/>
                  </a:lnTo>
                  <a:lnTo>
                    <a:pt x="203" y="78"/>
                  </a:lnTo>
                  <a:lnTo>
                    <a:pt x="217" y="85"/>
                  </a:lnTo>
                  <a:lnTo>
                    <a:pt x="232" y="93"/>
                  </a:lnTo>
                  <a:lnTo>
                    <a:pt x="246" y="10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0" name="Group 65"/>
          <p:cNvGrpSpPr>
            <a:grpSpLocks/>
          </p:cNvGrpSpPr>
          <p:nvPr/>
        </p:nvGrpSpPr>
        <p:grpSpPr bwMode="auto">
          <a:xfrm>
            <a:off x="6230938" y="5619750"/>
            <a:ext cx="1325562" cy="588963"/>
            <a:chOff x="1697" y="583"/>
            <a:chExt cx="726" cy="368"/>
          </a:xfrm>
        </p:grpSpPr>
        <p:grpSp>
          <p:nvGrpSpPr>
            <p:cNvPr id="13359" name="Group 66"/>
            <p:cNvGrpSpPr>
              <a:grpSpLocks/>
            </p:cNvGrpSpPr>
            <p:nvPr/>
          </p:nvGrpSpPr>
          <p:grpSpPr bwMode="auto">
            <a:xfrm>
              <a:off x="1809" y="583"/>
              <a:ext cx="348" cy="368"/>
              <a:chOff x="2870" y="1518"/>
              <a:chExt cx="292" cy="320"/>
            </a:xfrm>
          </p:grpSpPr>
          <p:graphicFrame>
            <p:nvGraphicFramePr>
              <p:cNvPr id="13314" name="Object 67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13314" name="Clip" r:id="rId9" imgW="819000" imgH="847800" progId="MS_ClipArt_Gallery.2">
                  <p:embed/>
                </p:oleObj>
              </a:graphicData>
            </a:graphic>
          </p:graphicFrame>
          <p:graphicFrame>
            <p:nvGraphicFramePr>
              <p:cNvPr id="13315" name="Object 68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13315" name="Clip" r:id="rId10" imgW="1266840" imgH="1200240" progId="MS_ClipArt_Gallery.2">
                  <p:embed/>
                </p:oleObj>
              </a:graphicData>
            </a:graphic>
          </p:graphicFrame>
        </p:grpSp>
        <p:sp>
          <p:nvSpPr>
            <p:cNvPr id="13360" name="Line 69"/>
            <p:cNvSpPr>
              <a:spLocks noChangeShapeType="1"/>
            </p:cNvSpPr>
            <p:nvPr/>
          </p:nvSpPr>
          <p:spPr bwMode="auto">
            <a:xfrm>
              <a:off x="2158" y="793"/>
              <a:ext cx="2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Line 70"/>
            <p:cNvSpPr>
              <a:spLocks noChangeShapeType="1"/>
            </p:cNvSpPr>
            <p:nvPr/>
          </p:nvSpPr>
          <p:spPr bwMode="auto">
            <a:xfrm flipH="1">
              <a:off x="1734" y="715"/>
              <a:ext cx="16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Line 71"/>
            <p:cNvSpPr>
              <a:spLocks noChangeShapeType="1"/>
            </p:cNvSpPr>
            <p:nvPr/>
          </p:nvSpPr>
          <p:spPr bwMode="auto">
            <a:xfrm flipH="1">
              <a:off x="1747" y="776"/>
              <a:ext cx="16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Line 72"/>
            <p:cNvSpPr>
              <a:spLocks noChangeShapeType="1"/>
            </p:cNvSpPr>
            <p:nvPr/>
          </p:nvSpPr>
          <p:spPr bwMode="auto">
            <a:xfrm flipH="1">
              <a:off x="1697" y="830"/>
              <a:ext cx="166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41" name="Group 74"/>
          <p:cNvGrpSpPr>
            <a:grpSpLocks/>
          </p:cNvGrpSpPr>
          <p:nvPr/>
        </p:nvGrpSpPr>
        <p:grpSpPr bwMode="auto">
          <a:xfrm>
            <a:off x="6670675" y="3151188"/>
            <a:ext cx="876300" cy="525462"/>
            <a:chOff x="2960" y="1439"/>
            <a:chExt cx="552" cy="331"/>
          </a:xfrm>
        </p:grpSpPr>
        <p:grpSp>
          <p:nvGrpSpPr>
            <p:cNvPr id="13344" name="Group 75"/>
            <p:cNvGrpSpPr>
              <a:grpSpLocks/>
            </p:cNvGrpSpPr>
            <p:nvPr/>
          </p:nvGrpSpPr>
          <p:grpSpPr bwMode="auto">
            <a:xfrm>
              <a:off x="3024" y="1623"/>
              <a:ext cx="315" cy="147"/>
              <a:chOff x="3600" y="219"/>
              <a:chExt cx="360" cy="175"/>
            </a:xfrm>
          </p:grpSpPr>
          <p:sp>
            <p:nvSpPr>
              <p:cNvPr id="13346" name="Oval 76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47" name="Line 77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48" name="Line 7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349" name="Rectangle 79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 sz="2400" b="0">
                  <a:latin typeface="Times New Roman" pitchFamily="18" charset="0"/>
                </a:endParaRPr>
              </a:p>
            </p:txBody>
          </p:sp>
          <p:sp>
            <p:nvSpPr>
              <p:cNvPr id="13350" name="Oval 8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3351" name="Group 81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3356" name="Line 8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57" name="Line 8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58" name="Line 8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3352" name="Group 85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3353" name="Line 8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54" name="Line 8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355" name="Line 8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3345" name="Text Box 89"/>
            <p:cNvSpPr txBox="1">
              <a:spLocks noChangeArrowheads="1"/>
            </p:cNvSpPr>
            <p:nvPr/>
          </p:nvSpPr>
          <p:spPr bwMode="auto">
            <a:xfrm>
              <a:off x="2960" y="1439"/>
              <a:ext cx="55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/>
              <a:r>
                <a:rPr lang="en-US" sz="1800" b="0">
                  <a:latin typeface="Comic Sans MS" pitchFamily="66" charset="0"/>
                </a:rPr>
                <a:t>router</a:t>
              </a:r>
            </a:p>
          </p:txBody>
        </p:sp>
      </p:grpSp>
      <p:sp>
        <p:nvSpPr>
          <p:cNvPr id="13342" name="Rectangle 9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Mobility Within the Same Subnet</a:t>
            </a:r>
          </a:p>
        </p:txBody>
      </p:sp>
      <p:sp>
        <p:nvSpPr>
          <p:cNvPr id="13343" name="Rectangle 9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H1 remains in same IP subnet</a:t>
            </a:r>
          </a:p>
          <a:p>
            <a:pPr lvl="1"/>
            <a:r>
              <a:rPr lang="en-US" smtClean="0"/>
              <a:t>IP address of the host can remain same</a:t>
            </a:r>
          </a:p>
          <a:p>
            <a:pPr lvl="1"/>
            <a:r>
              <a:rPr lang="en-US" smtClean="0"/>
              <a:t>Ongoing data transfers can continue uninterrupted</a:t>
            </a:r>
          </a:p>
          <a:p>
            <a:r>
              <a:rPr lang="en-US" smtClean="0"/>
              <a:t>H1 recognizes the need to change</a:t>
            </a:r>
          </a:p>
          <a:p>
            <a:pPr lvl="1"/>
            <a:r>
              <a:rPr lang="en-US" smtClean="0"/>
              <a:t>H1 detects a weakening signal</a:t>
            </a:r>
          </a:p>
          <a:p>
            <a:pPr lvl="1"/>
            <a:r>
              <a:rPr lang="en-US" smtClean="0"/>
              <a:t>Starts scanning for stronger one</a:t>
            </a:r>
          </a:p>
          <a:p>
            <a:r>
              <a:rPr lang="en-US" smtClean="0"/>
              <a:t>Changes APs with same SSID</a:t>
            </a:r>
          </a:p>
          <a:p>
            <a:pPr lvl="1"/>
            <a:r>
              <a:rPr lang="en-US" smtClean="0"/>
              <a:t>H1 disassociates from one</a:t>
            </a:r>
          </a:p>
          <a:p>
            <a:pPr lvl="1"/>
            <a:r>
              <a:rPr lang="en-US" smtClean="0"/>
              <a:t>And associates with other </a:t>
            </a:r>
          </a:p>
          <a:p>
            <a:r>
              <a:rPr lang="en-US" smtClean="0"/>
              <a:t>Switch learns new location</a:t>
            </a:r>
          </a:p>
          <a:p>
            <a:pPr lvl="1"/>
            <a:r>
              <a:rPr lang="en-US" smtClean="0"/>
              <a:t>Self-learning mechanism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BDF99A3-F88B-4E26-842C-133AFD76E07B}" type="slidenum">
              <a:rPr lang="en-US" smtClean="0"/>
              <a:pPr>
                <a:defRPr/>
              </a:pPr>
              <a:t>22</a:t>
            </a:fld>
            <a:endParaRPr lang="en-US" smtClean="0"/>
          </a:p>
        </p:txBody>
      </p:sp>
      <p:sp>
        <p:nvSpPr>
          <p:cNvPr id="143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CSMA: Carrier Sense, Multiple Access</a:t>
            </a:r>
          </a:p>
        </p:txBody>
      </p:sp>
      <p:sp>
        <p:nvSpPr>
          <p:cNvPr id="143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Multiple access: channel is shared medium</a:t>
            </a:r>
          </a:p>
          <a:p>
            <a:pPr lvl="1"/>
            <a:r>
              <a:rPr lang="en-US" smtClean="0"/>
              <a:t>Station: wireless host or access point</a:t>
            </a:r>
          </a:p>
          <a:p>
            <a:pPr lvl="1"/>
            <a:r>
              <a:rPr lang="en-US" smtClean="0"/>
              <a:t>Multiple stations may want to transmit at same time</a:t>
            </a:r>
          </a:p>
          <a:p>
            <a:r>
              <a:rPr lang="en-US" smtClean="0"/>
              <a:t>Carrier sense: sense channel before sending</a:t>
            </a:r>
          </a:p>
          <a:p>
            <a:pPr lvl="1"/>
            <a:r>
              <a:rPr lang="en-US" smtClean="0"/>
              <a:t>Station doesn’t send when channel is busy</a:t>
            </a:r>
          </a:p>
          <a:p>
            <a:pPr lvl="1"/>
            <a:r>
              <a:rPr lang="en-US" smtClean="0"/>
              <a:t>To prevent collisions with ongoing transfers</a:t>
            </a:r>
          </a:p>
          <a:p>
            <a:pPr lvl="1"/>
            <a:r>
              <a:rPr lang="en-US" smtClean="0"/>
              <a:t>But, detecting ongoing transfers isn’t always possible</a:t>
            </a:r>
          </a:p>
        </p:txBody>
      </p:sp>
      <p:grpSp>
        <p:nvGrpSpPr>
          <p:cNvPr id="14353" name="Group 25"/>
          <p:cNvGrpSpPr>
            <a:grpSpLocks/>
          </p:cNvGrpSpPr>
          <p:nvPr/>
        </p:nvGrpSpPr>
        <p:grpSpPr bwMode="auto">
          <a:xfrm>
            <a:off x="1395413" y="4619625"/>
            <a:ext cx="6056312" cy="2006600"/>
            <a:chOff x="440" y="1326"/>
            <a:chExt cx="5164" cy="1464"/>
          </a:xfrm>
        </p:grpSpPr>
        <p:grpSp>
          <p:nvGrpSpPr>
            <p:cNvPr id="14354" name="Group 26"/>
            <p:cNvGrpSpPr>
              <a:grpSpLocks/>
            </p:cNvGrpSpPr>
            <p:nvPr/>
          </p:nvGrpSpPr>
          <p:grpSpPr bwMode="auto">
            <a:xfrm>
              <a:off x="440" y="1520"/>
              <a:ext cx="2086" cy="1018"/>
              <a:chOff x="759" y="2008"/>
              <a:chExt cx="2086" cy="1018"/>
            </a:xfrm>
          </p:grpSpPr>
          <p:grpSp>
            <p:nvGrpSpPr>
              <p:cNvPr id="14373" name="Group 27"/>
              <p:cNvGrpSpPr>
                <a:grpSpLocks/>
              </p:cNvGrpSpPr>
              <p:nvPr/>
            </p:nvGrpSpPr>
            <p:grpSpPr bwMode="auto">
              <a:xfrm>
                <a:off x="1529" y="2018"/>
                <a:ext cx="535" cy="466"/>
                <a:chOff x="2870" y="1518"/>
                <a:chExt cx="292" cy="320"/>
              </a:xfrm>
            </p:grpSpPr>
            <p:graphicFrame>
              <p:nvGraphicFramePr>
                <p:cNvPr id="14348" name="Object 28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14348" name="Clip" r:id="rId4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14349" name="Object 29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14349" name="Clip" r:id="rId5" imgW="1266840" imgH="1200240" progId="MS_ClipArt_Gallery.2">
                    <p:embed/>
                  </p:oleObj>
                </a:graphicData>
              </a:graphic>
            </p:graphicFrame>
          </p:grpSp>
          <p:sp>
            <p:nvSpPr>
              <p:cNvPr id="14374" name="Freeform 30"/>
              <p:cNvSpPr>
                <a:spLocks/>
              </p:cNvSpPr>
              <p:nvPr/>
            </p:nvSpPr>
            <p:spPr bwMode="auto">
              <a:xfrm>
                <a:off x="759" y="2008"/>
                <a:ext cx="1273" cy="684"/>
              </a:xfrm>
              <a:custGeom>
                <a:avLst/>
                <a:gdLst>
                  <a:gd name="T0" fmla="*/ 9 w 1273"/>
                  <a:gd name="T1" fmla="*/ 675 h 684"/>
                  <a:gd name="T2" fmla="*/ 316 w 1273"/>
                  <a:gd name="T3" fmla="*/ 0 h 684"/>
                  <a:gd name="T4" fmla="*/ 461 w 1273"/>
                  <a:gd name="T5" fmla="*/ 228 h 684"/>
                  <a:gd name="T6" fmla="*/ 510 w 1273"/>
                  <a:gd name="T7" fmla="*/ 119 h 684"/>
                  <a:gd name="T8" fmla="*/ 631 w 1273"/>
                  <a:gd name="T9" fmla="*/ 467 h 684"/>
                  <a:gd name="T10" fmla="*/ 667 w 1273"/>
                  <a:gd name="T11" fmla="*/ 391 h 684"/>
                  <a:gd name="T12" fmla="*/ 739 w 1273"/>
                  <a:gd name="T13" fmla="*/ 464 h 684"/>
                  <a:gd name="T14" fmla="*/ 1058 w 1273"/>
                  <a:gd name="T15" fmla="*/ 57 h 684"/>
                  <a:gd name="T16" fmla="*/ 1273 w 1273"/>
                  <a:gd name="T17" fmla="*/ 684 h 684"/>
                  <a:gd name="T18" fmla="*/ 0 w 1273"/>
                  <a:gd name="T19" fmla="*/ 674 h 68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73"/>
                  <a:gd name="T31" fmla="*/ 0 h 684"/>
                  <a:gd name="T32" fmla="*/ 1273 w 1273"/>
                  <a:gd name="T33" fmla="*/ 684 h 684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73" h="684">
                    <a:moveTo>
                      <a:pt x="9" y="675"/>
                    </a:moveTo>
                    <a:lnTo>
                      <a:pt x="316" y="0"/>
                    </a:lnTo>
                    <a:lnTo>
                      <a:pt x="461" y="228"/>
                    </a:lnTo>
                    <a:lnTo>
                      <a:pt x="510" y="119"/>
                    </a:lnTo>
                    <a:lnTo>
                      <a:pt x="631" y="467"/>
                    </a:lnTo>
                    <a:lnTo>
                      <a:pt x="667" y="391"/>
                    </a:lnTo>
                    <a:lnTo>
                      <a:pt x="739" y="464"/>
                    </a:lnTo>
                    <a:lnTo>
                      <a:pt x="1058" y="57"/>
                    </a:lnTo>
                    <a:lnTo>
                      <a:pt x="1273" y="684"/>
                    </a:lnTo>
                    <a:lnTo>
                      <a:pt x="0" y="674"/>
                    </a:lnTo>
                  </a:path>
                </a:pathLst>
              </a:custGeom>
              <a:gradFill rotWithShape="1">
                <a:gsLst>
                  <a:gs pos="0">
                    <a:srgbClr val="FFFFFF"/>
                  </a:gs>
                  <a:gs pos="100000">
                    <a:srgbClr val="00CC66"/>
                  </a:gs>
                </a:gsLst>
                <a:lin ang="5400000" scaled="1"/>
              </a:gradFill>
              <a:ln w="9525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14375" name="Group 31"/>
              <p:cNvGrpSpPr>
                <a:grpSpLocks/>
              </p:cNvGrpSpPr>
              <p:nvPr/>
            </p:nvGrpSpPr>
            <p:grpSpPr bwMode="auto">
              <a:xfrm>
                <a:off x="1053" y="2587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4346" name="Object 32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14346" name="Clip" r:id="rId6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14347" name="Object 33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14347" name="Clip" r:id="rId7" imgW="1266840" imgH="1200240" progId="MS_ClipArt_Gallery.2">
                    <p:embed/>
                  </p:oleObj>
                </a:graphicData>
              </a:graphic>
            </p:graphicFrame>
          </p:grpSp>
          <p:grpSp>
            <p:nvGrpSpPr>
              <p:cNvPr id="14376" name="Group 34"/>
              <p:cNvGrpSpPr>
                <a:grpSpLocks/>
              </p:cNvGrpSpPr>
              <p:nvPr/>
            </p:nvGrpSpPr>
            <p:grpSpPr bwMode="auto">
              <a:xfrm>
                <a:off x="2124" y="2391"/>
                <a:ext cx="482" cy="439"/>
                <a:chOff x="2870" y="1518"/>
                <a:chExt cx="292" cy="320"/>
              </a:xfrm>
            </p:grpSpPr>
            <p:graphicFrame>
              <p:nvGraphicFramePr>
                <p:cNvPr id="14344" name="Object 35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14344" name="Clip" r:id="rId8" imgW="819000" imgH="847800" progId="MS_ClipArt_Gallery.2">
                    <p:embed/>
                  </p:oleObj>
                </a:graphicData>
              </a:graphic>
            </p:graphicFrame>
            <p:graphicFrame>
              <p:nvGraphicFramePr>
                <p:cNvPr id="14345" name="Object 36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14345" name="Clip" r:id="rId9" imgW="1266840" imgH="1200240" progId="MS_ClipArt_Gallery.2">
                    <p:embed/>
                  </p:oleObj>
                </a:graphicData>
              </a:graphic>
            </p:graphicFrame>
          </p:grpSp>
          <p:sp>
            <p:nvSpPr>
              <p:cNvPr id="14377" name="Line 37"/>
              <p:cNvSpPr>
                <a:spLocks noChangeShapeType="1"/>
              </p:cNvSpPr>
              <p:nvPr/>
            </p:nvSpPr>
            <p:spPr bwMode="auto">
              <a:xfrm flipV="1">
                <a:off x="1561" y="2773"/>
                <a:ext cx="629" cy="107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78" name="Line 38"/>
              <p:cNvSpPr>
                <a:spLocks noChangeShapeType="1"/>
              </p:cNvSpPr>
              <p:nvPr/>
            </p:nvSpPr>
            <p:spPr bwMode="auto">
              <a:xfrm>
                <a:off x="1985" y="2471"/>
                <a:ext cx="257" cy="203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79" name="Text Box 39"/>
              <p:cNvSpPr txBox="1">
                <a:spLocks noChangeArrowheads="1"/>
              </p:cNvSpPr>
              <p:nvPr/>
            </p:nvSpPr>
            <p:spPr bwMode="auto">
              <a:xfrm>
                <a:off x="1005" y="2705"/>
                <a:ext cx="300" cy="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latin typeface="Comic Sans MS" pitchFamily="66" charset="0"/>
                  </a:rPr>
                  <a:t>A</a:t>
                </a:r>
              </a:p>
            </p:txBody>
          </p:sp>
          <p:sp>
            <p:nvSpPr>
              <p:cNvPr id="14380" name="Text Box 40"/>
              <p:cNvSpPr txBox="1">
                <a:spLocks noChangeArrowheads="1"/>
              </p:cNvSpPr>
              <p:nvPr/>
            </p:nvSpPr>
            <p:spPr bwMode="auto">
              <a:xfrm>
                <a:off x="2565" y="2562"/>
                <a:ext cx="280" cy="2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latin typeface="Comic Sans MS" pitchFamily="66" charset="0"/>
                  </a:rPr>
                  <a:t>B</a:t>
                </a:r>
              </a:p>
            </p:txBody>
          </p:sp>
          <p:sp>
            <p:nvSpPr>
              <p:cNvPr id="14381" name="Text Box 41"/>
              <p:cNvSpPr txBox="1">
                <a:spLocks noChangeArrowheads="1"/>
              </p:cNvSpPr>
              <p:nvPr/>
            </p:nvSpPr>
            <p:spPr bwMode="auto">
              <a:xfrm>
                <a:off x="2014" y="2118"/>
                <a:ext cx="274" cy="2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latin typeface="Comic Sans MS" pitchFamily="66" charset="0"/>
                  </a:rPr>
                  <a:t>C</a:t>
                </a:r>
              </a:p>
            </p:txBody>
          </p:sp>
        </p:grpSp>
        <p:grpSp>
          <p:nvGrpSpPr>
            <p:cNvPr id="14355" name="Group 42"/>
            <p:cNvGrpSpPr>
              <a:grpSpLocks/>
            </p:cNvGrpSpPr>
            <p:nvPr/>
          </p:nvGrpSpPr>
          <p:grpSpPr bwMode="auto">
            <a:xfrm>
              <a:off x="3114" y="1326"/>
              <a:ext cx="2490" cy="1464"/>
              <a:chOff x="3264" y="1698"/>
              <a:chExt cx="2490" cy="1464"/>
            </a:xfrm>
          </p:grpSpPr>
          <p:grpSp>
            <p:nvGrpSpPr>
              <p:cNvPr id="14356" name="Group 43"/>
              <p:cNvGrpSpPr>
                <a:grpSpLocks/>
              </p:cNvGrpSpPr>
              <p:nvPr/>
            </p:nvGrpSpPr>
            <p:grpSpPr bwMode="auto">
              <a:xfrm>
                <a:off x="3264" y="1698"/>
                <a:ext cx="2221" cy="455"/>
                <a:chOff x="3256" y="1911"/>
                <a:chExt cx="2221" cy="455"/>
              </a:xfrm>
            </p:grpSpPr>
            <p:grpSp>
              <p:nvGrpSpPr>
                <p:cNvPr id="14367" name="Group 44"/>
                <p:cNvGrpSpPr>
                  <a:grpSpLocks/>
                </p:cNvGrpSpPr>
                <p:nvPr/>
              </p:nvGrpSpPr>
              <p:grpSpPr bwMode="auto">
                <a:xfrm>
                  <a:off x="3303" y="1911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14342" name="Object 45"/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p:oleObj spid="_x0000_s14342" name="Clip" r:id="rId10" imgW="819000" imgH="847800" progId="MS_ClipArt_Gallery.2">
                      <p:embed/>
                    </p:oleObj>
                  </a:graphicData>
                </a:graphic>
              </p:graphicFrame>
              <p:graphicFrame>
                <p:nvGraphicFramePr>
                  <p:cNvPr id="14343" name="Object 46"/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p:oleObj spid="_x0000_s14343" name="Clip" r:id="rId11" imgW="1266840" imgH="1200240" progId="MS_ClipArt_Gallery.2">
                      <p:embed/>
                    </p:oleObj>
                  </a:graphicData>
                </a:graphic>
              </p:graphicFrame>
            </p:grpSp>
            <p:grpSp>
              <p:nvGrpSpPr>
                <p:cNvPr id="14368" name="Group 47"/>
                <p:cNvGrpSpPr>
                  <a:grpSpLocks/>
                </p:cNvGrpSpPr>
                <p:nvPr/>
              </p:nvGrpSpPr>
              <p:grpSpPr bwMode="auto">
                <a:xfrm>
                  <a:off x="4037" y="1919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14340" name="Object 48"/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p:oleObj spid="_x0000_s14340" name="Clip" r:id="rId12" imgW="819000" imgH="847800" progId="MS_ClipArt_Gallery.2">
                      <p:embed/>
                    </p:oleObj>
                  </a:graphicData>
                </a:graphic>
              </p:graphicFrame>
              <p:graphicFrame>
                <p:nvGraphicFramePr>
                  <p:cNvPr id="14341" name="Object 49"/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p:oleObj spid="_x0000_s14341" name="Clip" r:id="rId13" imgW="1266840" imgH="1200240" progId="MS_ClipArt_Gallery.2">
                      <p:embed/>
                    </p:oleObj>
                  </a:graphicData>
                </a:graphic>
              </p:graphicFrame>
            </p:grpSp>
            <p:sp>
              <p:nvSpPr>
                <p:cNvPr id="14369" name="Text Box 50"/>
                <p:cNvSpPr txBox="1">
                  <a:spLocks noChangeArrowheads="1"/>
                </p:cNvSpPr>
                <p:nvPr/>
              </p:nvSpPr>
              <p:spPr bwMode="auto">
                <a:xfrm>
                  <a:off x="3256" y="2030"/>
                  <a:ext cx="299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1800" b="0">
                      <a:solidFill>
                        <a:srgbClr val="FF0000"/>
                      </a:solidFill>
                      <a:latin typeface="Comic Sans MS" pitchFamily="66" charset="0"/>
                    </a:rPr>
                    <a:t>A</a:t>
                  </a:r>
                </a:p>
              </p:txBody>
            </p:sp>
            <p:sp>
              <p:nvSpPr>
                <p:cNvPr id="14370" name="Text Box 51"/>
                <p:cNvSpPr txBox="1">
                  <a:spLocks noChangeArrowheads="1"/>
                </p:cNvSpPr>
                <p:nvPr/>
              </p:nvSpPr>
              <p:spPr bwMode="auto">
                <a:xfrm>
                  <a:off x="4459" y="2027"/>
                  <a:ext cx="207" cy="2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l" eaLnBrk="0" hangingPunct="0"/>
                  <a:r>
                    <a:rPr lang="en-US" sz="1800" b="0">
                      <a:latin typeface="Comic Sans MS" pitchFamily="66" charset="0"/>
                    </a:rPr>
                    <a:t>B</a:t>
                  </a:r>
                </a:p>
              </p:txBody>
            </p:sp>
            <p:sp>
              <p:nvSpPr>
                <p:cNvPr id="14371" name="Text Box 52"/>
                <p:cNvSpPr txBox="1">
                  <a:spLocks noChangeArrowheads="1"/>
                </p:cNvSpPr>
                <p:nvPr/>
              </p:nvSpPr>
              <p:spPr bwMode="auto">
                <a:xfrm>
                  <a:off x="5203" y="2053"/>
                  <a:ext cx="274" cy="26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r>
                    <a:rPr lang="en-US" sz="1800" b="0">
                      <a:latin typeface="Comic Sans MS" pitchFamily="66" charset="0"/>
                    </a:rPr>
                    <a:t>C</a:t>
                  </a:r>
                </a:p>
              </p:txBody>
            </p:sp>
            <p:grpSp>
              <p:nvGrpSpPr>
                <p:cNvPr id="14372" name="Group 53"/>
                <p:cNvGrpSpPr>
                  <a:grpSpLocks/>
                </p:cNvGrpSpPr>
                <p:nvPr/>
              </p:nvGrpSpPr>
              <p:grpSpPr bwMode="auto">
                <a:xfrm>
                  <a:off x="4726" y="1927"/>
                  <a:ext cx="482" cy="439"/>
                  <a:chOff x="2870" y="1518"/>
                  <a:chExt cx="292" cy="320"/>
                </a:xfrm>
              </p:grpSpPr>
              <p:graphicFrame>
                <p:nvGraphicFramePr>
                  <p:cNvPr id="14338" name="Object 54"/>
                  <p:cNvGraphicFramePr>
                    <a:graphicFrameLocks noChangeAspect="1"/>
                  </p:cNvGraphicFramePr>
                  <p:nvPr/>
                </p:nvGraphicFramePr>
                <p:xfrm>
                  <a:off x="2870" y="1518"/>
                  <a:ext cx="272" cy="282"/>
                </p:xfrm>
                <a:graphic>
                  <a:graphicData uri="http://schemas.openxmlformats.org/presentationml/2006/ole">
                    <p:oleObj spid="_x0000_s14338" name="Clip" r:id="rId14" imgW="819000" imgH="847800" progId="MS_ClipArt_Gallery.2">
                      <p:embed/>
                    </p:oleObj>
                  </a:graphicData>
                </a:graphic>
              </p:graphicFrame>
              <p:graphicFrame>
                <p:nvGraphicFramePr>
                  <p:cNvPr id="14339" name="Object 55"/>
                  <p:cNvGraphicFramePr>
                    <a:graphicFrameLocks noChangeAspect="1"/>
                  </p:cNvGraphicFramePr>
                  <p:nvPr/>
                </p:nvGraphicFramePr>
                <p:xfrm>
                  <a:off x="2913" y="1602"/>
                  <a:ext cx="249" cy="236"/>
                </p:xfrm>
                <a:graphic>
                  <a:graphicData uri="http://schemas.openxmlformats.org/presentationml/2006/ole">
                    <p:oleObj spid="_x0000_s14339" name="Clip" r:id="rId15" imgW="1266840" imgH="1200240" progId="MS_ClipArt_Gallery.2">
                      <p:embed/>
                    </p:oleObj>
                  </a:graphicData>
                </a:graphic>
              </p:graphicFrame>
            </p:grpSp>
          </p:grpSp>
          <p:sp>
            <p:nvSpPr>
              <p:cNvPr id="14357" name="Text Box 56"/>
              <p:cNvSpPr txBox="1">
                <a:spLocks noChangeArrowheads="1"/>
              </p:cNvSpPr>
              <p:nvPr/>
            </p:nvSpPr>
            <p:spPr bwMode="auto">
              <a:xfrm>
                <a:off x="3310" y="2339"/>
                <a:ext cx="809" cy="37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400" b="0">
                    <a:solidFill>
                      <a:srgbClr val="FF0000"/>
                    </a:solidFill>
                    <a:latin typeface="Comic Sans MS" pitchFamily="66" charset="0"/>
                  </a:rPr>
                  <a:t>A’s signal</a:t>
                </a:r>
              </a:p>
              <a:p>
                <a:pPr algn="l" eaLnBrk="0" hangingPunct="0"/>
                <a:r>
                  <a:rPr lang="en-US" sz="1400" b="0">
                    <a:solidFill>
                      <a:srgbClr val="FF0000"/>
                    </a:solidFill>
                    <a:latin typeface="Comic Sans MS" pitchFamily="66" charset="0"/>
                  </a:rPr>
                  <a:t>strength</a:t>
                </a:r>
              </a:p>
            </p:txBody>
          </p:sp>
          <p:sp>
            <p:nvSpPr>
              <p:cNvPr id="14358" name="Line 57"/>
              <p:cNvSpPr>
                <a:spLocks noChangeShapeType="1"/>
              </p:cNvSpPr>
              <p:nvPr/>
            </p:nvSpPr>
            <p:spPr bwMode="auto">
              <a:xfrm>
                <a:off x="3349" y="2985"/>
                <a:ext cx="205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59" name="Line 58"/>
              <p:cNvSpPr>
                <a:spLocks noChangeShapeType="1"/>
              </p:cNvSpPr>
              <p:nvPr/>
            </p:nvSpPr>
            <p:spPr bwMode="auto">
              <a:xfrm>
                <a:off x="3315" y="2242"/>
                <a:ext cx="0" cy="71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60" name="Freeform 59"/>
              <p:cNvSpPr>
                <a:spLocks/>
              </p:cNvSpPr>
              <p:nvPr/>
            </p:nvSpPr>
            <p:spPr bwMode="auto">
              <a:xfrm>
                <a:off x="3367" y="2277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61" name="Text Box 60"/>
              <p:cNvSpPr txBox="1">
                <a:spLocks noChangeArrowheads="1"/>
              </p:cNvSpPr>
              <p:nvPr/>
            </p:nvSpPr>
            <p:spPr bwMode="auto">
              <a:xfrm>
                <a:off x="4159" y="2962"/>
                <a:ext cx="493" cy="2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200" b="0">
                    <a:latin typeface="Comic Sans MS" pitchFamily="66" charset="0"/>
                  </a:rPr>
                  <a:t>space</a:t>
                </a:r>
              </a:p>
            </p:txBody>
          </p:sp>
          <p:sp>
            <p:nvSpPr>
              <p:cNvPr id="14362" name="Freeform 61"/>
              <p:cNvSpPr>
                <a:spLocks/>
              </p:cNvSpPr>
              <p:nvPr/>
            </p:nvSpPr>
            <p:spPr bwMode="auto">
              <a:xfrm flipH="1">
                <a:off x="3427" y="2258"/>
                <a:ext cx="1887" cy="681"/>
              </a:xfrm>
              <a:custGeom>
                <a:avLst/>
                <a:gdLst>
                  <a:gd name="T0" fmla="*/ 0 w 1887"/>
                  <a:gd name="T1" fmla="*/ 0 h 681"/>
                  <a:gd name="T2" fmla="*/ 966 w 1887"/>
                  <a:gd name="T3" fmla="*/ 151 h 681"/>
                  <a:gd name="T4" fmla="*/ 1373 w 1887"/>
                  <a:gd name="T5" fmla="*/ 594 h 681"/>
                  <a:gd name="T6" fmla="*/ 1887 w 1887"/>
                  <a:gd name="T7" fmla="*/ 673 h 6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87"/>
                  <a:gd name="T13" fmla="*/ 0 h 681"/>
                  <a:gd name="T14" fmla="*/ 1887 w 1887"/>
                  <a:gd name="T15" fmla="*/ 681 h 6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87" h="681">
                    <a:moveTo>
                      <a:pt x="0" y="0"/>
                    </a:moveTo>
                    <a:cubicBezTo>
                      <a:pt x="161" y="25"/>
                      <a:pt x="737" y="52"/>
                      <a:pt x="966" y="151"/>
                    </a:cubicBezTo>
                    <a:cubicBezTo>
                      <a:pt x="1195" y="250"/>
                      <a:pt x="1220" y="507"/>
                      <a:pt x="1373" y="594"/>
                    </a:cubicBezTo>
                    <a:cubicBezTo>
                      <a:pt x="1526" y="681"/>
                      <a:pt x="1780" y="657"/>
                      <a:pt x="1887" y="673"/>
                    </a:cubicBezTo>
                  </a:path>
                </a:pathLst>
              </a:custGeom>
              <a:noFill/>
              <a:ln w="38100" cap="flat" cmpd="sng">
                <a:solidFill>
                  <a:schemeClr val="accent2"/>
                </a:solidFill>
                <a:prstDash val="solid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63" name="Text Box 62"/>
              <p:cNvSpPr txBox="1">
                <a:spLocks noChangeArrowheads="1"/>
              </p:cNvSpPr>
              <p:nvPr/>
            </p:nvSpPr>
            <p:spPr bwMode="auto">
              <a:xfrm>
                <a:off x="4964" y="2293"/>
                <a:ext cx="790" cy="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400" b="0">
                    <a:solidFill>
                      <a:schemeClr val="accent2"/>
                    </a:solidFill>
                    <a:latin typeface="Comic Sans MS" pitchFamily="66" charset="0"/>
                  </a:rPr>
                  <a:t>C’s signal</a:t>
                </a:r>
              </a:p>
              <a:p>
                <a:pPr algn="l" eaLnBrk="0" hangingPunct="0"/>
                <a:r>
                  <a:rPr lang="en-US" sz="1400" b="0">
                    <a:solidFill>
                      <a:schemeClr val="accent2"/>
                    </a:solidFill>
                    <a:latin typeface="Comic Sans MS" pitchFamily="66" charset="0"/>
                  </a:rPr>
                  <a:t>strength</a:t>
                </a:r>
              </a:p>
            </p:txBody>
          </p:sp>
          <p:sp>
            <p:nvSpPr>
              <p:cNvPr id="14364" name="Line 63"/>
              <p:cNvSpPr>
                <a:spLocks noChangeShapeType="1"/>
              </p:cNvSpPr>
              <p:nvPr/>
            </p:nvSpPr>
            <p:spPr bwMode="auto">
              <a:xfrm flipH="1">
                <a:off x="3554" y="2171"/>
                <a:ext cx="17" cy="79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65" name="Line 64"/>
              <p:cNvSpPr>
                <a:spLocks noChangeShapeType="1"/>
              </p:cNvSpPr>
              <p:nvPr/>
            </p:nvSpPr>
            <p:spPr bwMode="auto">
              <a:xfrm>
                <a:off x="4323" y="2214"/>
                <a:ext cx="0" cy="76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14366" name="Line 65"/>
              <p:cNvSpPr>
                <a:spLocks noChangeShapeType="1"/>
              </p:cNvSpPr>
              <p:nvPr/>
            </p:nvSpPr>
            <p:spPr bwMode="auto">
              <a:xfrm>
                <a:off x="5004" y="2204"/>
                <a:ext cx="0" cy="7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B2FBAE-541A-4F5D-A741-D09B6FB6A2CB}" type="slidenum">
              <a:rPr lang="en-US" smtClean="0"/>
              <a:pPr>
                <a:defRPr/>
              </a:pPr>
              <a:t>23</a:t>
            </a:fld>
            <a:endParaRPr lang="en-US" smtClean="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CA: Collision Avoidance, Not Detection 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Collision detection in wired Ethernet</a:t>
            </a:r>
          </a:p>
          <a:p>
            <a:pPr lvl="1"/>
            <a:r>
              <a:rPr lang="en-US" dirty="0" smtClean="0"/>
              <a:t>Station listens while transmitting</a:t>
            </a:r>
          </a:p>
          <a:p>
            <a:pPr lvl="1"/>
            <a:r>
              <a:rPr lang="en-US" dirty="0" smtClean="0"/>
              <a:t>Detects collision with other transmission</a:t>
            </a:r>
          </a:p>
          <a:p>
            <a:pPr lvl="1"/>
            <a:r>
              <a:rPr lang="en-US" dirty="0" smtClean="0"/>
              <a:t>Aborts transmission and tries sending again</a:t>
            </a:r>
          </a:p>
          <a:p>
            <a:r>
              <a:rPr lang="en-US" dirty="0" smtClean="0"/>
              <a:t>Problem #1: cannot detect all collisions</a:t>
            </a:r>
          </a:p>
          <a:p>
            <a:pPr lvl="1"/>
            <a:r>
              <a:rPr lang="en-US" dirty="0" smtClean="0"/>
              <a:t>Hidden terminal problem</a:t>
            </a:r>
          </a:p>
          <a:p>
            <a:r>
              <a:rPr lang="en-US" dirty="0" smtClean="0"/>
              <a:t>Problem </a:t>
            </a:r>
            <a:r>
              <a:rPr lang="en-US" dirty="0" smtClean="0"/>
              <a:t>#2: listening while sending</a:t>
            </a:r>
          </a:p>
          <a:p>
            <a:pPr lvl="1"/>
            <a:r>
              <a:rPr lang="en-US" dirty="0" smtClean="0"/>
              <a:t>Strength of received signal is much smaller/higher</a:t>
            </a:r>
          </a:p>
          <a:p>
            <a:pPr lvl="1">
              <a:buFont typeface="Helvetica" pitchFamily="34" charset="0"/>
              <a:buNone/>
            </a:pPr>
            <a:r>
              <a:rPr lang="en-US" dirty="0" smtClean="0"/>
              <a:t>-- Exposed Terminal Problem</a:t>
            </a:r>
          </a:p>
          <a:p>
            <a:r>
              <a:rPr lang="en-US" dirty="0" smtClean="0"/>
              <a:t>So, 802.11 does </a:t>
            </a:r>
            <a:r>
              <a:rPr lang="en-US" i="1" dirty="0" smtClean="0"/>
              <a:t>not</a:t>
            </a:r>
            <a:r>
              <a:rPr lang="en-US" dirty="0" smtClean="0"/>
              <a:t> do collision detection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45FFFBA-9E0D-4A23-BA47-4A94E6D3A8A2}" type="slidenum">
              <a:rPr lang="en-US" smtClean="0"/>
              <a:pPr>
                <a:defRPr/>
              </a:pPr>
              <a:t>24</a:t>
            </a:fld>
            <a:endParaRPr lang="en-US" smtClean="0"/>
          </a:p>
        </p:txBody>
      </p:sp>
      <p:sp>
        <p:nvSpPr>
          <p:cNvPr id="34819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Medium Access Control in 802.11</a:t>
            </a:r>
          </a:p>
        </p:txBody>
      </p:sp>
      <p:sp>
        <p:nvSpPr>
          <p:cNvPr id="19343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Collision avoidance, not detection</a:t>
            </a:r>
          </a:p>
          <a:p>
            <a:pPr lvl="1"/>
            <a:r>
              <a:rPr lang="en-US" smtClean="0"/>
              <a:t>Once a station starts transmitting, </a:t>
            </a:r>
          </a:p>
          <a:p>
            <a:pPr lvl="1"/>
            <a:r>
              <a:rPr lang="en-US" smtClean="0"/>
              <a:t>Need More aggressive collision-avoidance techniques</a:t>
            </a:r>
          </a:p>
          <a:p>
            <a:pPr lvl="1"/>
            <a:r>
              <a:rPr lang="en-US" smtClean="0"/>
              <a:t>E.g., waiting a little after sensing an idle channel</a:t>
            </a:r>
          </a:p>
          <a:p>
            <a:pPr lvl="1"/>
            <a:r>
              <a:rPr lang="en-US" smtClean="0"/>
              <a:t>To reduce likelihood two stations transmit at once</a:t>
            </a:r>
          </a:p>
          <a:p>
            <a:r>
              <a:rPr lang="en-US" smtClean="0"/>
              <a:t>Link-layer acknowledgment and retransmission</a:t>
            </a:r>
          </a:p>
          <a:p>
            <a:pPr lvl="1"/>
            <a:r>
              <a:rPr lang="en-US" smtClean="0"/>
              <a:t>CRC to detect errors</a:t>
            </a:r>
          </a:p>
          <a:p>
            <a:pPr lvl="1"/>
            <a:r>
              <a:rPr lang="en-US" smtClean="0"/>
              <a:t>Receiving station sends an acknowledgment</a:t>
            </a:r>
          </a:p>
          <a:p>
            <a:pPr lvl="1"/>
            <a:r>
              <a:rPr lang="en-US" smtClean="0"/>
              <a:t>Sending station retransmits if no ACK is received</a:t>
            </a:r>
          </a:p>
          <a:p>
            <a:pPr lvl="1"/>
            <a:r>
              <a:rPr lang="en-US" smtClean="0"/>
              <a:t>Giving up after a few failed transmissions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434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434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55638" y="212725"/>
            <a:ext cx="7696200" cy="1143000"/>
          </a:xfrm>
        </p:spPr>
        <p:txBody>
          <a:bodyPr/>
          <a:lstStyle/>
          <a:p>
            <a:pPr eaLnBrk="1" hangingPunct="1"/>
            <a:r>
              <a:rPr lang="en-US" altLang="ko-KR" smtClean="0">
                <a:latin typeface="Monotype Corsiva" pitchFamily="66" charset="0"/>
                <a:ea typeface="Gulim" pitchFamily="34" charset="-127"/>
              </a:rPr>
              <a:t>Medium Access  Control Protocol Issues 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385763" y="1431925"/>
            <a:ext cx="8491537" cy="5181600"/>
          </a:xfrm>
        </p:spPr>
        <p:txBody>
          <a:bodyPr/>
          <a:lstStyle/>
          <a:p>
            <a:pPr marL="438150" indent="-319088" eaLnBrk="1" hangingPunct="1">
              <a:lnSpc>
                <a:spcPct val="90000"/>
              </a:lnSpc>
              <a:buFont typeface="Wingdings 2" pitchFamily="18" charset="2"/>
              <a:buChar char="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Many issues need to be addressed in order to design an efficient MAC protocol</a:t>
            </a:r>
          </a:p>
          <a:p>
            <a:pPr marL="438150" indent="-319088" eaLnBrk="1" hangingPunct="1">
              <a:lnSpc>
                <a:spcPct val="90000"/>
              </a:lnSpc>
              <a:buFont typeface="Wingdings 2" pitchFamily="18" charset="2"/>
              <a:buChar char=""/>
            </a:pPr>
            <a:r>
              <a:rPr lang="en-US" altLang="ko-KR" b="1" smtClean="0">
                <a:latin typeface="Times New Roman" pitchFamily="18" charset="0"/>
                <a:ea typeface="Gulim" pitchFamily="34" charset="-127"/>
              </a:rPr>
              <a:t>Hidden Terminal Problem</a:t>
            </a:r>
          </a:p>
          <a:p>
            <a:pPr marL="438150" indent="-319088" eaLnBrk="1" hangingPunct="1">
              <a:lnSpc>
                <a:spcPct val="90000"/>
              </a:lnSpc>
              <a:buFont typeface="Wingdings 2" pitchFamily="18" charset="2"/>
              <a:buChar char=""/>
            </a:pPr>
            <a:endParaRPr lang="en-US" altLang="ko-KR" smtClean="0">
              <a:solidFill>
                <a:srgbClr val="000099"/>
              </a:solidFill>
              <a:latin typeface="Times New Roman" pitchFamily="18" charset="0"/>
              <a:ea typeface="Gulim" pitchFamily="34" charset="-127"/>
            </a:endParaRPr>
          </a:p>
          <a:p>
            <a:pPr marL="438150" indent="-319088" eaLnBrk="1" hangingPunct="1">
              <a:lnSpc>
                <a:spcPct val="90000"/>
              </a:lnSpc>
              <a:buFont typeface="Wingdings 2" pitchFamily="18" charset="2"/>
              <a:buChar char=""/>
            </a:pPr>
            <a:endParaRPr lang="en-US" altLang="ko-KR" smtClean="0">
              <a:solidFill>
                <a:srgbClr val="000099"/>
              </a:solidFill>
              <a:latin typeface="Times New Roman" pitchFamily="18" charset="0"/>
              <a:ea typeface="Gulim" pitchFamily="34" charset="-127"/>
            </a:endParaRPr>
          </a:p>
          <a:p>
            <a:pPr marL="730250" lvl="1" indent="-273050" eaLnBrk="1" hangingPunct="1">
              <a:lnSpc>
                <a:spcPct val="90000"/>
              </a:lnSpc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Station A can hear B but not C, and station C can hear station B but not A</a:t>
            </a:r>
          </a:p>
          <a:p>
            <a:pPr marL="730250" lvl="1" indent="-273050" eaLnBrk="1" hangingPunct="1">
              <a:lnSpc>
                <a:spcPct val="90000"/>
              </a:lnSpc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First, assume A is sending to B</a:t>
            </a:r>
          </a:p>
          <a:p>
            <a:pPr marL="730250" lvl="1" indent="-273050" eaLnBrk="1" hangingPunct="1">
              <a:lnSpc>
                <a:spcPct val="90000"/>
              </a:lnSpc>
              <a:spcBef>
                <a:spcPct val="0"/>
              </a:spcBef>
              <a:buSzPct val="60000"/>
              <a:buFont typeface="Wingdings" pitchFamily="2" charset="2"/>
              <a:buChar char="p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When C is ready to transmit, it does not detect carrier and thus commences transmission; this produces a collision at B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133600" y="2971800"/>
            <a:ext cx="4876800" cy="609600"/>
            <a:chOff x="1200" y="2064"/>
            <a:chExt cx="3072" cy="384"/>
          </a:xfrm>
        </p:grpSpPr>
        <p:sp>
          <p:nvSpPr>
            <p:cNvPr id="35845" name="Oval 5"/>
            <p:cNvSpPr>
              <a:spLocks noChangeArrowheads="1"/>
            </p:cNvSpPr>
            <p:nvPr/>
          </p:nvSpPr>
          <p:spPr bwMode="auto">
            <a:xfrm>
              <a:off x="1200" y="2064"/>
              <a:ext cx="384" cy="38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ko-KR">
                  <a:solidFill>
                    <a:srgbClr val="000099"/>
                  </a:solidFill>
                  <a:ea typeface="Gulim" pitchFamily="34" charset="-127"/>
                </a:rPr>
                <a:t>A</a:t>
              </a:r>
            </a:p>
          </p:txBody>
        </p:sp>
        <p:sp>
          <p:nvSpPr>
            <p:cNvPr id="35846" name="Oval 6"/>
            <p:cNvSpPr>
              <a:spLocks noChangeArrowheads="1"/>
            </p:cNvSpPr>
            <p:nvPr/>
          </p:nvSpPr>
          <p:spPr bwMode="auto">
            <a:xfrm>
              <a:off x="2592" y="2064"/>
              <a:ext cx="384" cy="38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ko-KR">
                  <a:solidFill>
                    <a:srgbClr val="000099"/>
                  </a:solidFill>
                  <a:ea typeface="Gulim" pitchFamily="34" charset="-127"/>
                </a:rPr>
                <a:t>B</a:t>
              </a:r>
            </a:p>
          </p:txBody>
        </p:sp>
        <p:sp>
          <p:nvSpPr>
            <p:cNvPr id="35847" name="Oval 7"/>
            <p:cNvSpPr>
              <a:spLocks noChangeArrowheads="1"/>
            </p:cNvSpPr>
            <p:nvPr/>
          </p:nvSpPr>
          <p:spPr bwMode="auto">
            <a:xfrm>
              <a:off x="3888" y="2064"/>
              <a:ext cx="384" cy="384"/>
            </a:xfrm>
            <a:prstGeom prst="ellipse">
              <a:avLst/>
            </a:prstGeom>
            <a:solidFill>
              <a:srgbClr val="FFFF66"/>
            </a:solidFill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r>
                <a:rPr lang="en-US" altLang="ko-KR">
                  <a:solidFill>
                    <a:srgbClr val="000099"/>
                  </a:solidFill>
                  <a:ea typeface="Gulim" pitchFamily="34" charset="-127"/>
                </a:rPr>
                <a:t>C</a:t>
              </a:r>
            </a:p>
          </p:txBody>
        </p:sp>
        <p:sp>
          <p:nvSpPr>
            <p:cNvPr id="35848" name="Line 8"/>
            <p:cNvSpPr>
              <a:spLocks noChangeShapeType="1"/>
            </p:cNvSpPr>
            <p:nvPr/>
          </p:nvSpPr>
          <p:spPr bwMode="auto">
            <a:xfrm>
              <a:off x="1584" y="2256"/>
              <a:ext cx="1008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849" name="Line 9"/>
            <p:cNvSpPr>
              <a:spLocks noChangeShapeType="1"/>
            </p:cNvSpPr>
            <p:nvPr/>
          </p:nvSpPr>
          <p:spPr bwMode="auto">
            <a:xfrm>
              <a:off x="2976" y="2256"/>
              <a:ext cx="912" cy="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8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085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085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85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85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786188" y="1371600"/>
            <a:ext cx="4900612" cy="2438400"/>
            <a:chOff x="3392" y="1520"/>
            <a:chExt cx="2128" cy="711"/>
          </a:xfrm>
        </p:grpSpPr>
        <p:grpSp>
          <p:nvGrpSpPr>
            <p:cNvPr id="36879" name="Group 3"/>
            <p:cNvGrpSpPr>
              <a:grpSpLocks/>
            </p:cNvGrpSpPr>
            <p:nvPr/>
          </p:nvGrpSpPr>
          <p:grpSpPr bwMode="auto">
            <a:xfrm>
              <a:off x="3504" y="1632"/>
              <a:ext cx="2016" cy="480"/>
              <a:chOff x="2208" y="1632"/>
              <a:chExt cx="2016" cy="480"/>
            </a:xfrm>
          </p:grpSpPr>
          <p:sp>
            <p:nvSpPr>
              <p:cNvPr id="36881" name="Oval 4"/>
              <p:cNvSpPr>
                <a:spLocks noChangeArrowheads="1"/>
              </p:cNvSpPr>
              <p:nvPr/>
            </p:nvSpPr>
            <p:spPr bwMode="auto">
              <a:xfrm>
                <a:off x="2592" y="1728"/>
                <a:ext cx="1248" cy="288"/>
              </a:xfrm>
              <a:prstGeom prst="ellips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sp>
            <p:nvSpPr>
              <p:cNvPr id="36882" name="Oval 5"/>
              <p:cNvSpPr>
                <a:spLocks noChangeArrowheads="1"/>
              </p:cNvSpPr>
              <p:nvPr/>
            </p:nvSpPr>
            <p:spPr bwMode="auto">
              <a:xfrm>
                <a:off x="2352" y="1680"/>
                <a:ext cx="1728" cy="384"/>
              </a:xfrm>
              <a:prstGeom prst="ellipse">
                <a:avLst/>
              </a:prstGeom>
              <a:noFill/>
              <a:ln w="28575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sp>
            <p:nvSpPr>
              <p:cNvPr id="36883" name="Oval 6"/>
              <p:cNvSpPr>
                <a:spLocks noChangeArrowheads="1"/>
              </p:cNvSpPr>
              <p:nvPr/>
            </p:nvSpPr>
            <p:spPr bwMode="auto">
              <a:xfrm>
                <a:off x="2208" y="1632"/>
                <a:ext cx="2016" cy="48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sp>
            <p:nvSpPr>
              <p:cNvPr id="36884" name="Oval 7"/>
              <p:cNvSpPr>
                <a:spLocks noChangeArrowheads="1"/>
              </p:cNvSpPr>
              <p:nvPr/>
            </p:nvSpPr>
            <p:spPr bwMode="auto">
              <a:xfrm>
                <a:off x="2784" y="1776"/>
                <a:ext cx="864" cy="192"/>
              </a:xfrm>
              <a:prstGeom prst="ellipse">
                <a:avLst/>
              </a:prstGeom>
              <a:noFill/>
              <a:ln w="571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sp>
            <p:nvSpPr>
              <p:cNvPr id="36885" name="Oval 8"/>
              <p:cNvSpPr>
                <a:spLocks noChangeArrowheads="1"/>
              </p:cNvSpPr>
              <p:nvPr/>
            </p:nvSpPr>
            <p:spPr bwMode="auto">
              <a:xfrm>
                <a:off x="3004" y="1824"/>
                <a:ext cx="424" cy="96"/>
              </a:xfrm>
              <a:prstGeom prst="ellipse">
                <a:avLst/>
              </a:prstGeom>
              <a:noFill/>
              <a:ln w="762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</p:grpSp>
        <p:sp>
          <p:nvSpPr>
            <p:cNvPr id="36880" name="AutoShape 9"/>
            <p:cNvSpPr>
              <a:spLocks noChangeArrowheads="1"/>
            </p:cNvSpPr>
            <p:nvPr/>
          </p:nvSpPr>
          <p:spPr bwMode="auto">
            <a:xfrm>
              <a:off x="3392" y="1520"/>
              <a:ext cx="699" cy="711"/>
            </a:xfrm>
            <a:prstGeom prst="irregularSeal1">
              <a:avLst/>
            </a:prstGeom>
            <a:solidFill>
              <a:schemeClr val="bg1">
                <a:alpha val="50195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</p:grpSp>
      <p:sp>
        <p:nvSpPr>
          <p:cNvPr id="36867" name="Rectangle 1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239000" cy="11430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990000"/>
                </a:solidFill>
                <a:latin typeface="Monotype Corsiva" pitchFamily="66" charset="0"/>
                <a:ea typeface="Gulim" pitchFamily="34" charset="-127"/>
              </a:rPr>
              <a:t>Hidden Terminal Problem</a:t>
            </a:r>
          </a:p>
        </p:txBody>
      </p:sp>
      <p:sp>
        <p:nvSpPr>
          <p:cNvPr id="109578" name="Rectangle 10"/>
          <p:cNvSpPr>
            <a:spLocks noGrp="1"/>
          </p:cNvSpPr>
          <p:nvPr>
            <p:ph idx="1"/>
          </p:nvPr>
        </p:nvSpPr>
        <p:spPr>
          <a:xfrm>
            <a:off x="304800" y="3962400"/>
            <a:ext cx="8534400" cy="2713038"/>
          </a:xfrm>
        </p:spPr>
        <p:txBody>
          <a:bodyPr/>
          <a:lstStyle/>
          <a:p>
            <a:pPr eaLnBrk="1" hangingPunct="1"/>
            <a:r>
              <a:rPr lang="en-US" altLang="ko-KR" b="1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Hidden terminals</a:t>
            </a:r>
          </a:p>
          <a:p>
            <a:pPr marL="819150" lvl="1" eaLnBrk="1" hangingPunct="1">
              <a:buClr>
                <a:srgbClr val="000099"/>
              </a:buClr>
              <a:buSzPct val="65000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A sends to B, C cannot detect A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’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s transmission</a:t>
            </a:r>
          </a:p>
          <a:p>
            <a:pPr marL="819150" lvl="1" eaLnBrk="1" hangingPunct="1">
              <a:buClr>
                <a:srgbClr val="000099"/>
              </a:buClr>
              <a:buSzPct val="65000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 wants to send to B, C senses a 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“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free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”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 medium (CS fails)</a:t>
            </a:r>
          </a:p>
          <a:p>
            <a:pPr marL="819150" lvl="1" eaLnBrk="1" hangingPunct="1">
              <a:buClr>
                <a:srgbClr val="000099"/>
              </a:buClr>
              <a:buSzPct val="65000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Collision at B, A cannot detect the collision (CD fails)</a:t>
            </a:r>
          </a:p>
          <a:p>
            <a:pPr marL="819150" lvl="1" eaLnBrk="1" hangingPunct="1">
              <a:buClr>
                <a:srgbClr val="000099"/>
              </a:buClr>
              <a:buSzPct val="65000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A is 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“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hidden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”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 for C</a:t>
            </a:r>
          </a:p>
        </p:txBody>
      </p:sp>
      <p:sp>
        <p:nvSpPr>
          <p:cNvPr id="36869" name="Text Box 12"/>
          <p:cNvSpPr txBox="1">
            <a:spLocks noChangeArrowheads="1"/>
          </p:cNvSpPr>
          <p:nvPr/>
        </p:nvSpPr>
        <p:spPr bwMode="auto">
          <a:xfrm>
            <a:off x="7543800" y="62484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de-DE" altLang="ko-KR" sz="1400">
              <a:latin typeface="Arial" charset="0"/>
              <a:ea typeface="Gulim" pitchFamily="34" charset="-127"/>
            </a:endParaRPr>
          </a:p>
        </p:txBody>
      </p:sp>
      <p:sp>
        <p:nvSpPr>
          <p:cNvPr id="36870" name="Text Box 13"/>
          <p:cNvSpPr txBox="1">
            <a:spLocks noChangeArrowheads="1"/>
          </p:cNvSpPr>
          <p:nvPr/>
        </p:nvSpPr>
        <p:spPr bwMode="auto">
          <a:xfrm>
            <a:off x="4665663" y="2125663"/>
            <a:ext cx="3492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B</a:t>
            </a:r>
          </a:p>
        </p:txBody>
      </p: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914400" y="1600200"/>
            <a:ext cx="4645025" cy="1646238"/>
            <a:chOff x="2208" y="1632"/>
            <a:chExt cx="2016" cy="480"/>
          </a:xfrm>
        </p:grpSpPr>
        <p:sp>
          <p:nvSpPr>
            <p:cNvPr id="36874" name="Oval 15"/>
            <p:cNvSpPr>
              <a:spLocks noChangeArrowheads="1"/>
            </p:cNvSpPr>
            <p:nvPr/>
          </p:nvSpPr>
          <p:spPr bwMode="auto">
            <a:xfrm>
              <a:off x="2592" y="1728"/>
              <a:ext cx="1248" cy="288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6875" name="Oval 16"/>
            <p:cNvSpPr>
              <a:spLocks noChangeArrowheads="1"/>
            </p:cNvSpPr>
            <p:nvPr/>
          </p:nvSpPr>
          <p:spPr bwMode="auto">
            <a:xfrm>
              <a:off x="2352" y="1680"/>
              <a:ext cx="1728" cy="384"/>
            </a:xfrm>
            <a:prstGeom prst="ellipse">
              <a:avLst/>
            </a:prstGeom>
            <a:noFill/>
            <a:ln w="2857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6876" name="Oval 17"/>
            <p:cNvSpPr>
              <a:spLocks noChangeArrowheads="1"/>
            </p:cNvSpPr>
            <p:nvPr/>
          </p:nvSpPr>
          <p:spPr bwMode="auto">
            <a:xfrm>
              <a:off x="2208" y="1632"/>
              <a:ext cx="2016" cy="480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6877" name="Oval 18"/>
            <p:cNvSpPr>
              <a:spLocks noChangeArrowheads="1"/>
            </p:cNvSpPr>
            <p:nvPr/>
          </p:nvSpPr>
          <p:spPr bwMode="auto">
            <a:xfrm>
              <a:off x="2784" y="1776"/>
              <a:ext cx="864" cy="192"/>
            </a:xfrm>
            <a:prstGeom prst="ellips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6878" name="Oval 19"/>
            <p:cNvSpPr>
              <a:spLocks noChangeArrowheads="1"/>
            </p:cNvSpPr>
            <p:nvPr/>
          </p:nvSpPr>
          <p:spPr bwMode="auto">
            <a:xfrm>
              <a:off x="3004" y="1824"/>
              <a:ext cx="424" cy="96"/>
            </a:xfrm>
            <a:prstGeom prst="ellipse">
              <a:avLst/>
            </a:prstGeom>
            <a:noFill/>
            <a:ln w="762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</p:grpSp>
      <p:sp>
        <p:nvSpPr>
          <p:cNvPr id="36872" name="Text Box 20"/>
          <p:cNvSpPr txBox="1">
            <a:spLocks noChangeArrowheads="1"/>
          </p:cNvSpPr>
          <p:nvPr/>
        </p:nvSpPr>
        <p:spPr bwMode="auto">
          <a:xfrm>
            <a:off x="6096000" y="22860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C</a:t>
            </a:r>
          </a:p>
        </p:txBody>
      </p:sp>
      <p:sp>
        <p:nvSpPr>
          <p:cNvPr id="36873" name="Text Box 21"/>
          <p:cNvSpPr txBox="1">
            <a:spLocks noChangeArrowheads="1"/>
          </p:cNvSpPr>
          <p:nvPr/>
        </p:nvSpPr>
        <p:spPr bwMode="auto">
          <a:xfrm>
            <a:off x="3048000" y="22098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" dur="500"/>
                                        <p:tgtEl>
                                          <p:spTgt spid="109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09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9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9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/>
          </p:cNvSpPr>
          <p:nvPr>
            <p:ph type="title"/>
          </p:nvPr>
        </p:nvSpPr>
        <p:spPr>
          <a:xfrm>
            <a:off x="642938" y="285750"/>
            <a:ext cx="7315200" cy="11430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990000"/>
                </a:solidFill>
                <a:latin typeface="Monotype Corsiva" pitchFamily="66" charset="0"/>
                <a:ea typeface="Gulim" pitchFamily="34" charset="-127"/>
              </a:rPr>
              <a:t>Exposed Terminal Problem</a:t>
            </a:r>
          </a:p>
        </p:txBody>
      </p:sp>
      <p:sp>
        <p:nvSpPr>
          <p:cNvPr id="111618" name="Rectangle 2"/>
          <p:cNvSpPr>
            <a:spLocks noGrp="1"/>
          </p:cNvSpPr>
          <p:nvPr>
            <p:ph idx="1"/>
          </p:nvPr>
        </p:nvSpPr>
        <p:spPr>
          <a:xfrm>
            <a:off x="0" y="3276600"/>
            <a:ext cx="8915400" cy="3048000"/>
          </a:xfrm>
        </p:spPr>
        <p:txBody>
          <a:bodyPr/>
          <a:lstStyle/>
          <a:p>
            <a:pPr marL="438150" indent="-319088" eaLnBrk="1" hangingPunct="1">
              <a:spcBef>
                <a:spcPct val="0"/>
              </a:spcBef>
              <a:buFont typeface="Wingdings 2" pitchFamily="18" charset="2"/>
              <a:buChar char=""/>
            </a:pPr>
            <a:r>
              <a:rPr lang="en-US" altLang="ko-KR" b="1" smtClean="0">
                <a:solidFill>
                  <a:srgbClr val="990000"/>
                </a:solidFill>
                <a:latin typeface="Times New Roman" pitchFamily="18" charset="0"/>
                <a:ea typeface="Gulim" pitchFamily="34" charset="-127"/>
              </a:rPr>
              <a:t>Exposed terminals</a:t>
            </a:r>
          </a:p>
          <a:p>
            <a:pPr marL="819150" lvl="1" indent="-273050" eaLnBrk="1" hangingPunct="1">
              <a:buClr>
                <a:srgbClr val="000099"/>
              </a:buClr>
              <a:buSzPct val="60000"/>
              <a:buFont typeface="Wingdings" pitchFamily="2" charset="2"/>
              <a:buChar char="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B sends to A, C wants to send to D</a:t>
            </a:r>
          </a:p>
          <a:p>
            <a:pPr marL="819150" lvl="1" indent="-273050" eaLnBrk="1" hangingPunct="1">
              <a:buClr>
                <a:srgbClr val="000099"/>
              </a:buClr>
              <a:buSzPct val="60000"/>
              <a:buFont typeface="Wingdings" pitchFamily="2" charset="2"/>
              <a:buChar char="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 senses carrier, finds medium in use and has to wait</a:t>
            </a:r>
          </a:p>
          <a:p>
            <a:pPr marL="819150" lvl="1" indent="-273050" eaLnBrk="1" hangingPunct="1">
              <a:buClr>
                <a:srgbClr val="000099"/>
              </a:buClr>
              <a:buSzPct val="60000"/>
              <a:buFont typeface="Wingdings" pitchFamily="2" charset="2"/>
              <a:buChar char="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A is outside the radio range of C, therefore waiting is not necessary</a:t>
            </a:r>
          </a:p>
          <a:p>
            <a:pPr marL="819150" lvl="1" indent="-273050" eaLnBrk="1" hangingPunct="1">
              <a:buClr>
                <a:srgbClr val="000099"/>
              </a:buClr>
              <a:buSzPct val="60000"/>
              <a:buFont typeface="Wingdings" pitchFamily="2" charset="2"/>
              <a:buChar char="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 is 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“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exposed</a:t>
            </a:r>
            <a:r>
              <a:rPr lang="en-US" altLang="ko-KR" smtClean="0">
                <a:solidFill>
                  <a:srgbClr val="000099"/>
                </a:solidFill>
                <a:ea typeface="Gulim" pitchFamily="34" charset="-127"/>
              </a:rPr>
              <a:t>”</a:t>
            </a: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 to B</a:t>
            </a:r>
            <a:endParaRPr lang="en-US" altLang="ko-KR" smtClean="0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7543800" y="62484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de-DE" altLang="ko-KR" sz="1400">
              <a:latin typeface="Arial" charset="0"/>
              <a:ea typeface="Gulim" pitchFamily="34" charset="-127"/>
            </a:endParaRP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3805238" y="1600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B</a:t>
            </a:r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2586038" y="1600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A</a:t>
            </a:r>
          </a:p>
        </p:txBody>
      </p:sp>
      <p:grpSp>
        <p:nvGrpSpPr>
          <p:cNvPr id="37895" name="Group 7"/>
          <p:cNvGrpSpPr>
            <a:grpSpLocks/>
          </p:cNvGrpSpPr>
          <p:nvPr/>
        </p:nvGrpSpPr>
        <p:grpSpPr bwMode="auto">
          <a:xfrm>
            <a:off x="2209800" y="2057400"/>
            <a:ext cx="3200400" cy="762000"/>
            <a:chOff x="2208" y="1632"/>
            <a:chExt cx="2016" cy="480"/>
          </a:xfrm>
        </p:grpSpPr>
        <p:sp>
          <p:nvSpPr>
            <p:cNvPr id="37900" name="Oval 8"/>
            <p:cNvSpPr>
              <a:spLocks noChangeArrowheads="1"/>
            </p:cNvSpPr>
            <p:nvPr/>
          </p:nvSpPr>
          <p:spPr bwMode="auto">
            <a:xfrm>
              <a:off x="2592" y="1728"/>
              <a:ext cx="1248" cy="288"/>
            </a:xfrm>
            <a:prstGeom prst="ellipse">
              <a:avLst/>
            </a:prstGeom>
            <a:noFill/>
            <a:ln w="38100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7901" name="Oval 9"/>
            <p:cNvSpPr>
              <a:spLocks noChangeArrowheads="1"/>
            </p:cNvSpPr>
            <p:nvPr/>
          </p:nvSpPr>
          <p:spPr bwMode="auto">
            <a:xfrm>
              <a:off x="2352" y="1680"/>
              <a:ext cx="1728" cy="384"/>
            </a:xfrm>
            <a:prstGeom prst="ellipse">
              <a:avLst/>
            </a:prstGeom>
            <a:noFill/>
            <a:ln w="28575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7902" name="Oval 10"/>
            <p:cNvSpPr>
              <a:spLocks noChangeArrowheads="1"/>
            </p:cNvSpPr>
            <p:nvPr/>
          </p:nvSpPr>
          <p:spPr bwMode="auto">
            <a:xfrm>
              <a:off x="2208" y="1632"/>
              <a:ext cx="2016" cy="480"/>
            </a:xfrm>
            <a:prstGeom prst="ellipse">
              <a:avLst/>
            </a:prstGeom>
            <a:noFill/>
            <a:ln w="19050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7903" name="Oval 11"/>
            <p:cNvSpPr>
              <a:spLocks noChangeArrowheads="1"/>
            </p:cNvSpPr>
            <p:nvPr/>
          </p:nvSpPr>
          <p:spPr bwMode="auto">
            <a:xfrm>
              <a:off x="2784" y="1776"/>
              <a:ext cx="864" cy="192"/>
            </a:xfrm>
            <a:prstGeom prst="ellipse">
              <a:avLst/>
            </a:prstGeom>
            <a:noFill/>
            <a:ln w="57150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7904" name="Oval 12"/>
            <p:cNvSpPr>
              <a:spLocks noChangeArrowheads="1"/>
            </p:cNvSpPr>
            <p:nvPr/>
          </p:nvSpPr>
          <p:spPr bwMode="auto">
            <a:xfrm>
              <a:off x="3004" y="1824"/>
              <a:ext cx="424" cy="96"/>
            </a:xfrm>
            <a:prstGeom prst="ellipse">
              <a:avLst/>
            </a:prstGeom>
            <a:noFill/>
            <a:ln w="76200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</p:grpSp>
      <p:sp>
        <p:nvSpPr>
          <p:cNvPr id="37896" name="Text Box 13"/>
          <p:cNvSpPr txBox="1">
            <a:spLocks noChangeArrowheads="1"/>
          </p:cNvSpPr>
          <p:nvPr/>
        </p:nvSpPr>
        <p:spPr bwMode="auto">
          <a:xfrm>
            <a:off x="4953000" y="1600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C</a:t>
            </a:r>
          </a:p>
        </p:txBody>
      </p:sp>
      <p:sp>
        <p:nvSpPr>
          <p:cNvPr id="37897" name="Text Box 14"/>
          <p:cNvSpPr txBox="1">
            <a:spLocks noChangeArrowheads="1"/>
          </p:cNvSpPr>
          <p:nvPr/>
        </p:nvSpPr>
        <p:spPr bwMode="auto">
          <a:xfrm>
            <a:off x="6083300" y="1600200"/>
            <a:ext cx="3492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de-DE" altLang="ko-KR">
                <a:solidFill>
                  <a:srgbClr val="000099"/>
                </a:solidFill>
                <a:latin typeface="Arial" charset="0"/>
                <a:ea typeface="Gulim" pitchFamily="34" charset="-127"/>
              </a:rPr>
              <a:t>D</a:t>
            </a:r>
          </a:p>
        </p:txBody>
      </p:sp>
      <p:sp>
        <p:nvSpPr>
          <p:cNvPr id="37898" name="Line 15"/>
          <p:cNvSpPr>
            <a:spLocks noChangeShapeType="1"/>
          </p:cNvSpPr>
          <p:nvPr/>
        </p:nvSpPr>
        <p:spPr bwMode="auto">
          <a:xfrm flipH="1">
            <a:off x="2971800" y="1820863"/>
            <a:ext cx="762000" cy="0"/>
          </a:xfrm>
          <a:prstGeom prst="line">
            <a:avLst/>
          </a:prstGeom>
          <a:noFill/>
          <a:ln w="25400">
            <a:solidFill>
              <a:srgbClr val="000099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899" name="Line 16"/>
          <p:cNvSpPr>
            <a:spLocks noChangeShapeType="1"/>
          </p:cNvSpPr>
          <p:nvPr/>
        </p:nvSpPr>
        <p:spPr bwMode="auto">
          <a:xfrm>
            <a:off x="5410200" y="1676400"/>
            <a:ext cx="0" cy="1627188"/>
          </a:xfrm>
          <a:prstGeom prst="line">
            <a:avLst/>
          </a:prstGeom>
          <a:noFill/>
          <a:ln w="19050">
            <a:solidFill>
              <a:srgbClr val="000099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16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16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16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16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>
          <a:xfrm>
            <a:off x="269875" y="317500"/>
            <a:ext cx="7632700" cy="730250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/>
          <a:lstStyle/>
          <a:p>
            <a:pPr eaLnBrk="1" hangingPunct="1">
              <a:lnSpc>
                <a:spcPct val="85000"/>
              </a:lnSpc>
            </a:pPr>
            <a:r>
              <a:rPr lang="en-US" altLang="ko-KR" sz="3200" smtClean="0">
                <a:solidFill>
                  <a:srgbClr val="990000"/>
                </a:solidFill>
                <a:latin typeface="Monotype Corsiva" pitchFamily="66" charset="0"/>
                <a:ea typeface="Gulim" pitchFamily="34" charset="-127"/>
              </a:rPr>
              <a:t>Multiple Access with Collision Avoidance (MACA)</a:t>
            </a:r>
          </a:p>
        </p:txBody>
      </p:sp>
      <p:sp>
        <p:nvSpPr>
          <p:cNvPr id="112643" name="Rectangle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5125" indent="-255588" eaLnBrk="1" hangingPunct="1">
              <a:lnSpc>
                <a:spcPct val="70000"/>
              </a:lnSpc>
              <a:buClr>
                <a:srgbClr val="000099"/>
              </a:buClr>
              <a:buFont typeface="Georgia" pitchFamily="18" charset="0"/>
              <a:buChar char="•"/>
            </a:pPr>
            <a:endParaRPr lang="en-US" altLang="ko-KR" smtClean="0">
              <a:solidFill>
                <a:srgbClr val="000099"/>
              </a:solidFill>
              <a:latin typeface="Times New Roman" pitchFamily="18" charset="0"/>
              <a:ea typeface="Gulim" pitchFamily="34" charset="-127"/>
              <a:cs typeface="Times New Roman" pitchFamily="18" charset="0"/>
            </a:endParaRPr>
          </a:p>
          <a:p>
            <a:pPr marL="365125" indent="-255588" eaLnBrk="1" hangingPunct="1">
              <a:lnSpc>
                <a:spcPct val="70000"/>
              </a:lnSpc>
              <a:buClr>
                <a:srgbClr val="000099"/>
              </a:buClr>
              <a:buFont typeface="Georgia" pitchFamily="18" charset="0"/>
              <a:buChar char="•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MACA uses signaling packets for collision avoidance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endParaRPr lang="en-US" altLang="ko-KR" sz="2800" smtClean="0">
              <a:solidFill>
                <a:srgbClr val="000099"/>
              </a:solidFill>
              <a:latin typeface="Times New Roman" pitchFamily="18" charset="0"/>
              <a:ea typeface="Gulim" pitchFamily="34" charset="-127"/>
              <a:cs typeface="Times New Roman" pitchFamily="18" charset="0"/>
            </a:endParaRP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r>
              <a:rPr lang="en-US" altLang="ko-KR" sz="2800" b="1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RTS (request to send) 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Helvetica" pitchFamily="34" charset="0"/>
              <a:buNone/>
            </a:pPr>
            <a:r>
              <a:rPr lang="en-US" altLang="ko-KR" sz="28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	-Sender request the right to send from a receiver with a short RTS packet before it sends a data packet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endParaRPr lang="en-US" altLang="ko-KR" sz="2800" b="1" smtClean="0">
              <a:solidFill>
                <a:srgbClr val="000099"/>
              </a:solidFill>
              <a:latin typeface="Times New Roman" pitchFamily="18" charset="0"/>
              <a:ea typeface="Gulim" pitchFamily="34" charset="-127"/>
              <a:cs typeface="Times New Roman" pitchFamily="18" charset="0"/>
            </a:endParaRP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r>
              <a:rPr lang="en-US" altLang="ko-KR" sz="2800" b="1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CTS (clear to send) </a:t>
            </a:r>
          </a:p>
          <a:p>
            <a:pPr marL="922338" lvl="2" indent="-219075" eaLnBrk="1" hangingPunct="1">
              <a:lnSpc>
                <a:spcPct val="70000"/>
              </a:lnSpc>
              <a:buClr>
                <a:srgbClr val="000099"/>
              </a:buClr>
              <a:buSzPct val="60000"/>
              <a:buFont typeface="Wingdings" pitchFamily="2" charset="2"/>
              <a:buNone/>
            </a:pPr>
            <a:r>
              <a:rPr lang="en-US" altLang="ko-KR" sz="28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-Receiver grants the right to send as soon as it is ready to receive</a:t>
            </a:r>
          </a:p>
          <a:p>
            <a:pPr marL="365125" indent="-255588" eaLnBrk="1" hangingPunct="1">
              <a:lnSpc>
                <a:spcPct val="70000"/>
              </a:lnSpc>
              <a:buClr>
                <a:srgbClr val="000099"/>
              </a:buClr>
              <a:buFont typeface="Georgia" pitchFamily="18" charset="0"/>
              <a:buChar char="•"/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Signaling packets contain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r>
              <a:rPr lang="en-US" altLang="ko-KR" sz="28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Sender address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r>
              <a:rPr lang="en-US" altLang="ko-KR" sz="28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Receiver address</a:t>
            </a:r>
          </a:p>
          <a:p>
            <a:pPr marL="657225" lvl="1" indent="-246063" eaLnBrk="1" hangingPunct="1">
              <a:lnSpc>
                <a:spcPct val="70000"/>
              </a:lnSpc>
              <a:buSzPct val="60000"/>
              <a:buFont typeface="Wingdings" pitchFamily="2" charset="2"/>
              <a:buChar char="p"/>
            </a:pPr>
            <a:r>
              <a:rPr lang="en-US" altLang="ko-KR" sz="28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  <a:cs typeface="Times New Roman" pitchFamily="18" charset="0"/>
              </a:rPr>
              <a:t>Duration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2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2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2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/>
          </p:cNvSpPr>
          <p:nvPr>
            <p:ph type="title"/>
          </p:nvPr>
        </p:nvSpPr>
        <p:spPr>
          <a:xfrm>
            <a:off x="1219200" y="274638"/>
            <a:ext cx="7467600" cy="1143000"/>
          </a:xfrm>
        </p:spPr>
        <p:txBody>
          <a:bodyPr/>
          <a:lstStyle/>
          <a:p>
            <a:pPr eaLnBrk="1" hangingPunct="1"/>
            <a:r>
              <a:rPr lang="en-US" altLang="ko-KR" smtClean="0">
                <a:solidFill>
                  <a:srgbClr val="990000"/>
                </a:solidFill>
                <a:latin typeface="Monotype Corsiva" pitchFamily="66" charset="0"/>
                <a:ea typeface="Gulim" pitchFamily="34" charset="-127"/>
              </a:rPr>
              <a:t>MACA Solutions</a:t>
            </a:r>
          </a:p>
        </p:txBody>
      </p:sp>
      <p:sp>
        <p:nvSpPr>
          <p:cNvPr id="113666" name="Rectangle 2"/>
          <p:cNvSpPr>
            <a:spLocks noGrp="1"/>
          </p:cNvSpPr>
          <p:nvPr>
            <p:ph idx="1"/>
          </p:nvPr>
        </p:nvSpPr>
        <p:spPr>
          <a:xfrm>
            <a:off x="228600" y="1371600"/>
            <a:ext cx="8229600" cy="45259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24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MACA avoids the problem of hidden terminals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en-US" altLang="ko-KR" sz="20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A and C want to send to B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en-US" altLang="ko-KR" sz="20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A sends RTS first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en-US" altLang="ko-KR" sz="20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 waits after receiving </a:t>
            </a:r>
            <a:br>
              <a:rPr lang="en-US" altLang="ko-KR" sz="20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</a:br>
            <a:r>
              <a:rPr lang="en-US" altLang="ko-KR" sz="20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CTS from B</a:t>
            </a:r>
          </a:p>
          <a:p>
            <a:pPr eaLnBrk="1" hangingPunct="1">
              <a:lnSpc>
                <a:spcPct val="90000"/>
              </a:lnSpc>
            </a:pPr>
            <a:endParaRPr lang="en-US" altLang="ko-KR" sz="2000" smtClean="0">
              <a:solidFill>
                <a:srgbClr val="000099"/>
              </a:solidFill>
              <a:latin typeface="Times New Roman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endParaRPr lang="en-US" altLang="ko-KR" smtClean="0">
              <a:solidFill>
                <a:srgbClr val="000099"/>
              </a:solidFill>
              <a:latin typeface="Times New Roman" pitchFamily="18" charset="0"/>
              <a:ea typeface="Gulim" pitchFamily="34" charset="-127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2400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MACA avoids the problem of exposed terminals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B wants to send to A, C to another terminal</a:t>
            </a:r>
          </a:p>
          <a:p>
            <a:pPr marL="819150" lvl="1" eaLnBrk="1" hangingPunct="1">
              <a:lnSpc>
                <a:spcPct val="90000"/>
              </a:lnSpc>
            </a:pP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Now C does not have </a:t>
            </a:r>
            <a:b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</a:b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to wait, as it cannot </a:t>
            </a:r>
            <a:b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</a:br>
            <a:r>
              <a:rPr lang="en-US" altLang="ko-KR" smtClean="0">
                <a:solidFill>
                  <a:srgbClr val="000099"/>
                </a:solidFill>
                <a:latin typeface="Times New Roman" pitchFamily="18" charset="0"/>
                <a:ea typeface="Gulim" pitchFamily="34" charset="-127"/>
              </a:rPr>
              <a:t>receive CTS from A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410200" y="3124200"/>
            <a:ext cx="1905000" cy="374650"/>
            <a:chOff x="3408" y="1968"/>
            <a:chExt cx="1200" cy="236"/>
          </a:xfrm>
        </p:grpSpPr>
        <p:sp>
          <p:nvSpPr>
            <p:cNvPr id="39966" name="Line 5"/>
            <p:cNvSpPr>
              <a:spLocks noChangeShapeType="1"/>
            </p:cNvSpPr>
            <p:nvPr/>
          </p:nvSpPr>
          <p:spPr bwMode="auto">
            <a:xfrm flipV="1">
              <a:off x="4128" y="1968"/>
              <a:ext cx="48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9967" name="Group 6"/>
            <p:cNvGrpSpPr>
              <a:grpSpLocks/>
            </p:cNvGrpSpPr>
            <p:nvPr/>
          </p:nvGrpSpPr>
          <p:grpSpPr bwMode="auto">
            <a:xfrm>
              <a:off x="3408" y="1968"/>
              <a:ext cx="1056" cy="236"/>
              <a:chOff x="3408" y="1968"/>
              <a:chExt cx="1056" cy="236"/>
            </a:xfrm>
          </p:grpSpPr>
          <p:sp>
            <p:nvSpPr>
              <p:cNvPr id="39968" name="Text Box 7"/>
              <p:cNvSpPr txBox="1">
                <a:spLocks noChangeArrowheads="1"/>
              </p:cNvSpPr>
              <p:nvPr/>
            </p:nvSpPr>
            <p:spPr bwMode="auto">
              <a:xfrm>
                <a:off x="4080" y="1968"/>
                <a:ext cx="38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de-DE" altLang="ko-KR" sz="1600">
                    <a:solidFill>
                      <a:srgbClr val="000099"/>
                    </a:solidFill>
                    <a:latin typeface="Arial" charset="0"/>
                    <a:ea typeface="Gulim" pitchFamily="34" charset="-127"/>
                  </a:rPr>
                  <a:t>CTS</a:t>
                </a:r>
              </a:p>
            </p:txBody>
          </p:sp>
          <p:sp>
            <p:nvSpPr>
              <p:cNvPr id="39969" name="Line 8"/>
              <p:cNvSpPr>
                <a:spLocks noChangeShapeType="1"/>
              </p:cNvSpPr>
              <p:nvPr/>
            </p:nvSpPr>
            <p:spPr bwMode="auto">
              <a:xfrm>
                <a:off x="3408" y="1968"/>
                <a:ext cx="528" cy="0"/>
              </a:xfrm>
              <a:prstGeom prst="line">
                <a:avLst/>
              </a:prstGeom>
              <a:noFill/>
              <a:ln w="19050">
                <a:solidFill>
                  <a:srgbClr val="000099"/>
                </a:solidFill>
                <a:round/>
                <a:headEnd type="triangle" w="med" len="med"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9970" name="Text Box 9"/>
              <p:cNvSpPr txBox="1">
                <a:spLocks noChangeArrowheads="1"/>
              </p:cNvSpPr>
              <p:nvPr/>
            </p:nvSpPr>
            <p:spPr bwMode="auto">
              <a:xfrm>
                <a:off x="3408" y="1992"/>
                <a:ext cx="384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r>
                  <a:rPr lang="de-DE" altLang="ko-KR" sz="1600">
                    <a:solidFill>
                      <a:srgbClr val="000099"/>
                    </a:solidFill>
                    <a:latin typeface="Arial" charset="0"/>
                    <a:ea typeface="Gulim" pitchFamily="34" charset="-127"/>
                  </a:rPr>
                  <a:t>CTS</a:t>
                </a:r>
              </a:p>
            </p:txBody>
          </p:sp>
        </p:grpSp>
      </p:grpSp>
      <p:sp>
        <p:nvSpPr>
          <p:cNvPr id="39941" name="Text Box 10"/>
          <p:cNvSpPr txBox="1">
            <a:spLocks noChangeArrowheads="1"/>
          </p:cNvSpPr>
          <p:nvPr/>
        </p:nvSpPr>
        <p:spPr bwMode="auto">
          <a:xfrm>
            <a:off x="7543800" y="6248400"/>
            <a:ext cx="1841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endParaRPr lang="de-DE" altLang="ko-KR" sz="1400">
              <a:latin typeface="Arial" charset="0"/>
              <a:ea typeface="Gulim" pitchFamily="34" charset="-127"/>
            </a:endParaRPr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4038600" y="5226050"/>
            <a:ext cx="4953000" cy="1250950"/>
            <a:chOff x="2544" y="3292"/>
            <a:chExt cx="3120" cy="788"/>
          </a:xfrm>
        </p:grpSpPr>
        <p:sp>
          <p:nvSpPr>
            <p:cNvPr id="39954" name="Oval 12"/>
            <p:cNvSpPr>
              <a:spLocks noChangeArrowheads="1"/>
            </p:cNvSpPr>
            <p:nvPr/>
          </p:nvSpPr>
          <p:spPr bwMode="auto">
            <a:xfrm>
              <a:off x="3264" y="3292"/>
              <a:ext cx="1728" cy="288"/>
            </a:xfrm>
            <a:prstGeom prst="ellipse">
              <a:avLst/>
            </a:prstGeom>
            <a:noFill/>
            <a:ln w="38100">
              <a:solidFill>
                <a:srgbClr val="FF0D0D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9955" name="Oval 13"/>
            <p:cNvSpPr>
              <a:spLocks noChangeArrowheads="1"/>
            </p:cNvSpPr>
            <p:nvPr/>
          </p:nvSpPr>
          <p:spPr bwMode="auto">
            <a:xfrm>
              <a:off x="2544" y="3292"/>
              <a:ext cx="1728" cy="288"/>
            </a:xfrm>
            <a:prstGeom prst="ellips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9956" name="Text Box 14"/>
            <p:cNvSpPr txBox="1">
              <a:spLocks noChangeArrowheads="1"/>
            </p:cNvSpPr>
            <p:nvPr/>
          </p:nvSpPr>
          <p:spPr bwMode="auto">
            <a:xfrm>
              <a:off x="3255" y="3724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A</a:t>
              </a:r>
            </a:p>
          </p:txBody>
        </p:sp>
        <p:sp>
          <p:nvSpPr>
            <p:cNvPr id="39957" name="Text Box 15"/>
            <p:cNvSpPr txBox="1">
              <a:spLocks noChangeArrowheads="1"/>
            </p:cNvSpPr>
            <p:nvPr/>
          </p:nvSpPr>
          <p:spPr bwMode="auto">
            <a:xfrm>
              <a:off x="3975" y="3715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B</a:t>
              </a:r>
            </a:p>
          </p:txBody>
        </p:sp>
        <p:sp>
          <p:nvSpPr>
            <p:cNvPr id="39958" name="Oval 16"/>
            <p:cNvSpPr>
              <a:spLocks noChangeArrowheads="1"/>
            </p:cNvSpPr>
            <p:nvPr/>
          </p:nvSpPr>
          <p:spPr bwMode="auto">
            <a:xfrm>
              <a:off x="3936" y="3292"/>
              <a:ext cx="1728" cy="288"/>
            </a:xfrm>
            <a:prstGeom prst="ellips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ko-KR" altLang="ko-KR">
                <a:ea typeface="Gulim" pitchFamily="34" charset="-127"/>
              </a:endParaRPr>
            </a:p>
          </p:txBody>
        </p:sp>
        <p:sp>
          <p:nvSpPr>
            <p:cNvPr id="39959" name="Text Box 17"/>
            <p:cNvSpPr txBox="1">
              <a:spLocks noChangeArrowheads="1"/>
            </p:cNvSpPr>
            <p:nvPr/>
          </p:nvSpPr>
          <p:spPr bwMode="auto">
            <a:xfrm>
              <a:off x="4647" y="3733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C</a:t>
              </a:r>
            </a:p>
          </p:txBody>
        </p:sp>
        <p:sp>
          <p:nvSpPr>
            <p:cNvPr id="39960" name="Line 18"/>
            <p:cNvSpPr>
              <a:spLocks noChangeShapeType="1"/>
            </p:cNvSpPr>
            <p:nvPr/>
          </p:nvSpPr>
          <p:spPr bwMode="auto">
            <a:xfrm>
              <a:off x="3456" y="3772"/>
              <a:ext cx="528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 type="triangle" w="med" len="med"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Text Box 19"/>
            <p:cNvSpPr txBox="1">
              <a:spLocks noChangeArrowheads="1"/>
            </p:cNvSpPr>
            <p:nvPr/>
          </p:nvSpPr>
          <p:spPr bwMode="auto">
            <a:xfrm>
              <a:off x="3552" y="3580"/>
              <a:ext cx="3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 sz="1600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RTS</a:t>
              </a:r>
            </a:p>
          </p:txBody>
        </p:sp>
        <p:sp>
          <p:nvSpPr>
            <p:cNvPr id="39962" name="Line 20"/>
            <p:cNvSpPr>
              <a:spLocks noChangeShapeType="1"/>
            </p:cNvSpPr>
            <p:nvPr/>
          </p:nvSpPr>
          <p:spPr bwMode="auto">
            <a:xfrm flipV="1">
              <a:off x="4176" y="3772"/>
              <a:ext cx="480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21"/>
            <p:cNvSpPr>
              <a:spLocks noChangeShapeType="1"/>
            </p:cNvSpPr>
            <p:nvPr/>
          </p:nvSpPr>
          <p:spPr bwMode="auto">
            <a:xfrm>
              <a:off x="3456" y="3868"/>
              <a:ext cx="528" cy="0"/>
            </a:xfrm>
            <a:prstGeom prst="line">
              <a:avLst/>
            </a:prstGeom>
            <a:noFill/>
            <a:ln w="19050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Text Box 22"/>
            <p:cNvSpPr txBox="1">
              <a:spLocks noChangeArrowheads="1"/>
            </p:cNvSpPr>
            <p:nvPr/>
          </p:nvSpPr>
          <p:spPr bwMode="auto">
            <a:xfrm>
              <a:off x="3552" y="3868"/>
              <a:ext cx="3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 sz="1600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CTS</a:t>
              </a:r>
            </a:p>
          </p:txBody>
        </p:sp>
        <p:sp>
          <p:nvSpPr>
            <p:cNvPr id="39965" name="Text Box 23"/>
            <p:cNvSpPr txBox="1">
              <a:spLocks noChangeArrowheads="1"/>
            </p:cNvSpPr>
            <p:nvPr/>
          </p:nvSpPr>
          <p:spPr bwMode="auto">
            <a:xfrm>
              <a:off x="4224" y="3580"/>
              <a:ext cx="371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 sz="1600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RTS</a:t>
              </a:r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962400" y="2209800"/>
            <a:ext cx="4953000" cy="1066800"/>
            <a:chOff x="2496" y="1392"/>
            <a:chExt cx="3120" cy="672"/>
          </a:xfrm>
        </p:grpSpPr>
        <p:sp>
          <p:nvSpPr>
            <p:cNvPr id="39944" name="Text Box 25"/>
            <p:cNvSpPr txBox="1">
              <a:spLocks noChangeArrowheads="1"/>
            </p:cNvSpPr>
            <p:nvPr/>
          </p:nvSpPr>
          <p:spPr bwMode="auto">
            <a:xfrm>
              <a:off x="3927" y="1824"/>
              <a:ext cx="220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de-DE" altLang="ko-KR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B</a:t>
              </a:r>
            </a:p>
          </p:txBody>
        </p:sp>
        <p:sp>
          <p:nvSpPr>
            <p:cNvPr id="39945" name="Text Box 26"/>
            <p:cNvSpPr txBox="1">
              <a:spLocks noChangeArrowheads="1"/>
            </p:cNvSpPr>
            <p:nvPr/>
          </p:nvSpPr>
          <p:spPr bwMode="auto">
            <a:xfrm>
              <a:off x="4656" y="1833"/>
              <a:ext cx="16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de-DE" altLang="ko-KR">
                  <a:solidFill>
                    <a:srgbClr val="000099"/>
                  </a:solidFill>
                  <a:latin typeface="Arial" charset="0"/>
                  <a:ea typeface="Gulim" pitchFamily="34" charset="-127"/>
                </a:rPr>
                <a:t>C</a:t>
              </a:r>
            </a:p>
          </p:txBody>
        </p:sp>
        <p:grpSp>
          <p:nvGrpSpPr>
            <p:cNvPr id="39946" name="Group 27"/>
            <p:cNvGrpSpPr>
              <a:grpSpLocks/>
            </p:cNvGrpSpPr>
            <p:nvPr/>
          </p:nvGrpSpPr>
          <p:grpSpPr bwMode="auto">
            <a:xfrm>
              <a:off x="2496" y="1392"/>
              <a:ext cx="3120" cy="663"/>
              <a:chOff x="2496" y="1392"/>
              <a:chExt cx="3120" cy="663"/>
            </a:xfrm>
          </p:grpSpPr>
          <p:sp>
            <p:nvSpPr>
              <p:cNvPr id="39947" name="Oval 28"/>
              <p:cNvSpPr>
                <a:spLocks noChangeArrowheads="1"/>
              </p:cNvSpPr>
              <p:nvPr/>
            </p:nvSpPr>
            <p:spPr bwMode="auto">
              <a:xfrm>
                <a:off x="3216" y="1392"/>
                <a:ext cx="1728" cy="288"/>
              </a:xfrm>
              <a:prstGeom prst="ellips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sp>
            <p:nvSpPr>
              <p:cNvPr id="39948" name="Oval 29"/>
              <p:cNvSpPr>
                <a:spLocks noChangeArrowheads="1"/>
              </p:cNvSpPr>
              <p:nvPr/>
            </p:nvSpPr>
            <p:spPr bwMode="auto">
              <a:xfrm>
                <a:off x="3888" y="1392"/>
                <a:ext cx="1728" cy="288"/>
              </a:xfrm>
              <a:prstGeom prst="ellipse">
                <a:avLst/>
              </a:prstGeom>
              <a:noFill/>
              <a:ln w="38100">
                <a:solidFill>
                  <a:srgbClr val="0000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ko-KR">
                  <a:ea typeface="Gulim" pitchFamily="34" charset="-127"/>
                </a:endParaRPr>
              </a:p>
            </p:txBody>
          </p:sp>
          <p:grpSp>
            <p:nvGrpSpPr>
              <p:cNvPr id="39949" name="Group 30"/>
              <p:cNvGrpSpPr>
                <a:grpSpLocks/>
              </p:cNvGrpSpPr>
              <p:nvPr/>
            </p:nvGrpSpPr>
            <p:grpSpPr bwMode="auto">
              <a:xfrm>
                <a:off x="2496" y="1392"/>
                <a:ext cx="1728" cy="663"/>
                <a:chOff x="2496" y="1392"/>
                <a:chExt cx="1728" cy="663"/>
              </a:xfrm>
            </p:grpSpPr>
            <p:sp>
              <p:nvSpPr>
                <p:cNvPr id="39950" name="Oval 31"/>
                <p:cNvSpPr>
                  <a:spLocks noChangeArrowheads="1"/>
                </p:cNvSpPr>
                <p:nvPr/>
              </p:nvSpPr>
              <p:spPr bwMode="auto">
                <a:xfrm>
                  <a:off x="2496" y="1392"/>
                  <a:ext cx="1728" cy="288"/>
                </a:xfrm>
                <a:prstGeom prst="ellipse">
                  <a:avLst/>
                </a:prstGeom>
                <a:noFill/>
                <a:ln w="38100">
                  <a:solidFill>
                    <a:srgbClr val="0000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ko-KR">
                    <a:ea typeface="Gulim" pitchFamily="34" charset="-127"/>
                  </a:endParaRPr>
                </a:p>
              </p:txBody>
            </p:sp>
            <p:sp>
              <p:nvSpPr>
                <p:cNvPr id="3995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3207" y="1824"/>
                  <a:ext cx="220" cy="231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r>
                    <a:rPr lang="de-DE" altLang="ko-KR">
                      <a:solidFill>
                        <a:srgbClr val="000099"/>
                      </a:solidFill>
                      <a:latin typeface="Arial" charset="0"/>
                      <a:ea typeface="Gulim" pitchFamily="34" charset="-127"/>
                    </a:rPr>
                    <a:t>A</a:t>
                  </a:r>
                </a:p>
              </p:txBody>
            </p:sp>
            <p:sp>
              <p:nvSpPr>
                <p:cNvPr id="39952" name="Line 33"/>
                <p:cNvSpPr>
                  <a:spLocks noChangeShapeType="1"/>
                </p:cNvSpPr>
                <p:nvPr/>
              </p:nvSpPr>
              <p:spPr bwMode="auto">
                <a:xfrm>
                  <a:off x="3408" y="1872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rgbClr val="000099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95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456" y="1682"/>
                  <a:ext cx="371" cy="21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anchor="ctr">
                  <a:spAutoFit/>
                </a:bodyPr>
                <a:lstStyle/>
                <a:p>
                  <a:r>
                    <a:rPr lang="de-DE" altLang="ko-KR" sz="1600">
                      <a:solidFill>
                        <a:srgbClr val="000099"/>
                      </a:solidFill>
                      <a:latin typeface="Arial" charset="0"/>
                      <a:ea typeface="Gulim" pitchFamily="34" charset="-127"/>
                    </a:rPr>
                    <a:t>RTS</a:t>
                  </a: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36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36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1136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1136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136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1136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136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>
          <a:xfrm>
            <a:off x="0" y="155575"/>
            <a:ext cx="9144000" cy="1252538"/>
          </a:xfrm>
        </p:spPr>
        <p:txBody>
          <a:bodyPr/>
          <a:lstStyle/>
          <a:p>
            <a:r>
              <a:rPr lang="en-US" smtClean="0"/>
              <a:t>Evolution of Wireless Communication</a:t>
            </a:r>
          </a:p>
        </p:txBody>
      </p:sp>
      <p:sp>
        <p:nvSpPr>
          <p:cNvPr id="4096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640013" y="6477000"/>
            <a:ext cx="55086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6: Wireless and Mobile Networks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04200" y="6477000"/>
            <a:ext cx="733425" cy="274638"/>
          </a:xfrm>
        </p:spPr>
        <p:txBody>
          <a:bodyPr/>
          <a:lstStyle/>
          <a:p>
            <a:pPr>
              <a:defRPr/>
            </a:pPr>
            <a:r>
              <a:rPr lang="en-US" altLang="ko-KR" smtClean="0"/>
              <a:t>6-</a:t>
            </a:r>
            <a:fld id="{32669C32-1E77-415C-AA2B-DA5C2F713D2F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pic>
        <p:nvPicPr>
          <p:cNvPr id="40965" name="Picture 4" descr="Image result for WIFI 802.11 to 3g 4g and 5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563688"/>
            <a:ext cx="8702675" cy="48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8334375" cy="1143000"/>
          </a:xfrm>
        </p:spPr>
        <p:txBody>
          <a:bodyPr/>
          <a:lstStyle/>
          <a:p>
            <a:pPr algn="r" eaLnBrk="1" hangingPunct="1"/>
            <a:r>
              <a:rPr lang="en-US" altLang="ko-KR" sz="3200" smtClean="0">
                <a:solidFill>
                  <a:srgbClr val="3333CC"/>
                </a:solidFill>
                <a:ea typeface="Gulim" pitchFamily="34" charset="-127"/>
              </a:rPr>
              <a:t>Characteristics of selected wireless link  standards</a:t>
            </a:r>
          </a:p>
        </p:txBody>
      </p:sp>
      <p:sp>
        <p:nvSpPr>
          <p:cNvPr id="4198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640013" y="6477000"/>
            <a:ext cx="55086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 altLang="ko-KR">
                <a:latin typeface="Arial" charset="0"/>
                <a:ea typeface="Gulim" pitchFamily="34" charset="-127"/>
              </a:rPr>
              <a:t>6: Wireless and Mobile Networks</a:t>
            </a:r>
          </a:p>
        </p:txBody>
      </p:sp>
      <p:sp>
        <p:nvSpPr>
          <p:cNvPr id="13315" name="Slide Number Placeholder 4"/>
          <p:cNvSpPr>
            <a:spLocks noGrp="1"/>
          </p:cNvSpPr>
          <p:nvPr>
            <p:ph type="sldNum" sz="quarter" idx="10"/>
          </p:nvPr>
        </p:nvSpPr>
        <p:spPr>
          <a:xfrm>
            <a:off x="8204200" y="6477000"/>
            <a:ext cx="733425" cy="274638"/>
          </a:xfrm>
        </p:spPr>
        <p:txBody>
          <a:bodyPr/>
          <a:lstStyle/>
          <a:p>
            <a:pPr>
              <a:defRPr/>
            </a:pPr>
            <a:r>
              <a:rPr lang="en-US" altLang="ko-KR"/>
              <a:t>6-</a:t>
            </a:r>
            <a:fld id="{D901C123-DC6A-45C1-8B1D-681FDAC62F8E}" type="slidenum">
              <a:rPr lang="en-US" altLang="ko-KR"/>
              <a:pPr>
                <a:defRPr/>
              </a:pPr>
              <a:t>31</a:t>
            </a:fld>
            <a:endParaRPr lang="en-US" altLang="ko-KR"/>
          </a:p>
        </p:txBody>
      </p:sp>
      <p:sp>
        <p:nvSpPr>
          <p:cNvPr id="41989" name="Rectangle 3"/>
          <p:cNvSpPr>
            <a:spLocks noChangeArrowheads="1"/>
          </p:cNvSpPr>
          <p:nvPr/>
        </p:nvSpPr>
        <p:spPr bwMode="auto">
          <a:xfrm>
            <a:off x="673100" y="2908300"/>
            <a:ext cx="2209800" cy="228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384 Kbps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673100" y="3213100"/>
            <a:ext cx="2209800" cy="228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56 Kbps</a:t>
            </a:r>
          </a:p>
        </p:txBody>
      </p:sp>
      <p:sp>
        <p:nvSpPr>
          <p:cNvPr id="11271" name="Rectangle 5"/>
          <p:cNvSpPr>
            <a:spLocks noChangeArrowheads="1"/>
          </p:cNvSpPr>
          <p:nvPr/>
        </p:nvSpPr>
        <p:spPr bwMode="auto">
          <a:xfrm>
            <a:off x="5549900" y="1231900"/>
            <a:ext cx="1371600" cy="2590800"/>
          </a:xfrm>
          <a:prstGeom prst="rect">
            <a:avLst/>
          </a:prstGeom>
          <a:solidFill>
            <a:srgbClr val="C0C0C0">
              <a:alpha val="52940"/>
            </a:srgbClr>
          </a:solidFill>
          <a:ln w="9525">
            <a:noFill/>
            <a:miter lim="800000"/>
            <a:headEnd/>
            <a:tailEnd/>
          </a:ln>
          <a:effectLst>
            <a:outerShdw sy="-100000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ko-KR">
              <a:ea typeface="Gulim" pitchFamily="34" charset="-127"/>
              <a:cs typeface="Arial" pitchFamily="34" charset="0"/>
            </a:endParaRPr>
          </a:p>
        </p:txBody>
      </p:sp>
      <p:sp>
        <p:nvSpPr>
          <p:cNvPr id="11272" name="Rectangle 6"/>
          <p:cNvSpPr>
            <a:spLocks noChangeArrowheads="1"/>
          </p:cNvSpPr>
          <p:nvPr/>
        </p:nvSpPr>
        <p:spPr bwMode="auto">
          <a:xfrm>
            <a:off x="4178300" y="1231900"/>
            <a:ext cx="1371600" cy="2590800"/>
          </a:xfrm>
          <a:prstGeom prst="rect">
            <a:avLst/>
          </a:prstGeom>
          <a:solidFill>
            <a:srgbClr val="CC99FF">
              <a:alpha val="52940"/>
            </a:srgbClr>
          </a:solidFill>
          <a:ln w="9525">
            <a:noFill/>
            <a:miter lim="800000"/>
            <a:headEnd/>
            <a:tailEnd/>
          </a:ln>
          <a:effectLst>
            <a:outerShdw sy="-100000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ko-KR">
              <a:ea typeface="Gulim" pitchFamily="34" charset="-127"/>
              <a:cs typeface="Arial" pitchFamily="34" charset="0"/>
            </a:endParaRPr>
          </a:p>
        </p:txBody>
      </p:sp>
      <p:sp>
        <p:nvSpPr>
          <p:cNvPr id="11273" name="Rectangle 7"/>
          <p:cNvSpPr>
            <a:spLocks noChangeArrowheads="1"/>
          </p:cNvSpPr>
          <p:nvPr/>
        </p:nvSpPr>
        <p:spPr bwMode="auto">
          <a:xfrm>
            <a:off x="2806700" y="1231900"/>
            <a:ext cx="1371600" cy="2590800"/>
          </a:xfrm>
          <a:prstGeom prst="rect">
            <a:avLst/>
          </a:prstGeom>
          <a:solidFill>
            <a:srgbClr val="BFBFEF">
              <a:alpha val="76862"/>
            </a:srgbClr>
          </a:solidFill>
          <a:ln w="9525">
            <a:noFill/>
            <a:miter lim="800000"/>
            <a:headEnd/>
            <a:tailEnd/>
          </a:ln>
          <a:effectLst>
            <a:outerShdw sy="-100000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ko-KR">
              <a:ea typeface="Gulim" pitchFamily="34" charset="-127"/>
              <a:cs typeface="Arial" pitchFamily="34" charset="0"/>
            </a:endParaRPr>
          </a:p>
        </p:txBody>
      </p:sp>
      <p:sp>
        <p:nvSpPr>
          <p:cNvPr id="11274" name="Rectangle 8"/>
          <p:cNvSpPr>
            <a:spLocks noChangeArrowheads="1"/>
          </p:cNvSpPr>
          <p:nvPr/>
        </p:nvSpPr>
        <p:spPr bwMode="auto">
          <a:xfrm>
            <a:off x="1587500" y="1231900"/>
            <a:ext cx="1219200" cy="2590800"/>
          </a:xfrm>
          <a:prstGeom prst="rect">
            <a:avLst/>
          </a:prstGeom>
          <a:solidFill>
            <a:srgbClr val="CCFFCC">
              <a:alpha val="72940"/>
            </a:srgbClr>
          </a:solidFill>
          <a:ln w="9525">
            <a:noFill/>
            <a:miter lim="800000"/>
            <a:headEnd/>
            <a:tailEnd/>
          </a:ln>
          <a:effectLst>
            <a:outerShdw sy="-100000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ko-KR" altLang="ko-KR">
              <a:ea typeface="Gulim" pitchFamily="34" charset="-127"/>
              <a:cs typeface="Arial" pitchFamily="34" charset="0"/>
            </a:endParaRPr>
          </a:p>
        </p:txBody>
      </p:sp>
      <p:sp>
        <p:nvSpPr>
          <p:cNvPr id="41995" name="Rectangle 9"/>
          <p:cNvSpPr>
            <a:spLocks noChangeArrowheads="1"/>
          </p:cNvSpPr>
          <p:nvPr/>
        </p:nvSpPr>
        <p:spPr bwMode="auto">
          <a:xfrm>
            <a:off x="673100" y="1308100"/>
            <a:ext cx="2209800" cy="228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54 Mbps</a:t>
            </a:r>
          </a:p>
        </p:txBody>
      </p:sp>
      <p:sp>
        <p:nvSpPr>
          <p:cNvPr id="41996" name="Rectangle 10"/>
          <p:cNvSpPr>
            <a:spLocks noChangeArrowheads="1"/>
          </p:cNvSpPr>
          <p:nvPr/>
        </p:nvSpPr>
        <p:spPr bwMode="auto">
          <a:xfrm>
            <a:off x="673100" y="1612900"/>
            <a:ext cx="2209800" cy="228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5-11 Mbps</a:t>
            </a:r>
          </a:p>
        </p:txBody>
      </p:sp>
      <p:sp>
        <p:nvSpPr>
          <p:cNvPr id="41997" name="Rectangle 11"/>
          <p:cNvSpPr>
            <a:spLocks noChangeArrowheads="1"/>
          </p:cNvSpPr>
          <p:nvPr/>
        </p:nvSpPr>
        <p:spPr bwMode="auto">
          <a:xfrm>
            <a:off x="673100" y="1917700"/>
            <a:ext cx="914400" cy="228600"/>
          </a:xfrm>
          <a:prstGeom prst="rect">
            <a:avLst/>
          </a:prstGeom>
          <a:solidFill>
            <a:srgbClr val="FFFF99"/>
          </a:solidFill>
          <a:ln w="9525">
            <a:noFill/>
            <a:miter lim="800000"/>
            <a:headEnd/>
            <a:tailEnd/>
          </a:ln>
          <a:effectLst>
            <a:prstShdw prst="shdw11">
              <a:schemeClr val="bg2">
                <a:alpha val="50000"/>
              </a:schemeClr>
            </a:prstShdw>
          </a:effectLst>
        </p:spPr>
        <p:txBody>
          <a:bodyPr wrap="none" anchor="ctr"/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1 Mbps</a:t>
            </a:r>
          </a:p>
        </p:txBody>
      </p:sp>
      <p:sp>
        <p:nvSpPr>
          <p:cNvPr id="41998" name="Line 12"/>
          <p:cNvSpPr>
            <a:spLocks noChangeShapeType="1"/>
          </p:cNvSpPr>
          <p:nvPr/>
        </p:nvSpPr>
        <p:spPr bwMode="auto">
          <a:xfrm flipV="1">
            <a:off x="1587500" y="241300"/>
            <a:ext cx="0" cy="396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1999" name="Rectangle 13"/>
          <p:cNvSpPr>
            <a:spLocks noChangeArrowheads="1"/>
          </p:cNvSpPr>
          <p:nvPr/>
        </p:nvSpPr>
        <p:spPr bwMode="auto">
          <a:xfrm>
            <a:off x="1587500" y="2070100"/>
            <a:ext cx="685800" cy="250825"/>
          </a:xfrm>
          <a:prstGeom prst="rect">
            <a:avLst/>
          </a:prstGeom>
          <a:solidFill>
            <a:srgbClr val="FFFF00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227000" prstMaterial="legacyMatte">
            <a:bevelT w="13500" h="13500" prst="angle"/>
            <a:bevelB w="13500" h="13500" prst="angle"/>
            <a:extrusionClr>
              <a:srgbClr val="FFFF00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 sz="1200">
                <a:latin typeface="Arial" charset="0"/>
                <a:ea typeface="Gulim" pitchFamily="34" charset="-127"/>
              </a:rPr>
              <a:t>802.15</a:t>
            </a:r>
          </a:p>
        </p:txBody>
      </p:sp>
      <p:sp>
        <p:nvSpPr>
          <p:cNvPr id="42000" name="Rectangle 14"/>
          <p:cNvSpPr>
            <a:spLocks noChangeArrowheads="1"/>
          </p:cNvSpPr>
          <p:nvPr/>
        </p:nvSpPr>
        <p:spPr bwMode="auto">
          <a:xfrm>
            <a:off x="1576388" y="1689100"/>
            <a:ext cx="1611312" cy="152400"/>
          </a:xfrm>
          <a:prstGeom prst="rect">
            <a:avLst/>
          </a:prstGeom>
          <a:solidFill>
            <a:srgbClr val="FFFF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802.11b</a:t>
            </a:r>
          </a:p>
        </p:txBody>
      </p:sp>
      <p:sp>
        <p:nvSpPr>
          <p:cNvPr id="42001" name="Rectangle 15"/>
          <p:cNvSpPr>
            <a:spLocks noChangeArrowheads="1"/>
          </p:cNvSpPr>
          <p:nvPr/>
        </p:nvSpPr>
        <p:spPr bwMode="auto">
          <a:xfrm>
            <a:off x="1587500" y="1384300"/>
            <a:ext cx="1371600" cy="182563"/>
          </a:xfrm>
          <a:prstGeom prst="rect">
            <a:avLst/>
          </a:prstGeom>
          <a:solidFill>
            <a:srgbClr val="FFFF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802.11{a,g}</a:t>
            </a:r>
          </a:p>
        </p:txBody>
      </p:sp>
      <p:sp>
        <p:nvSpPr>
          <p:cNvPr id="42002" name="Rectangle 16"/>
          <p:cNvSpPr>
            <a:spLocks noChangeArrowheads="1"/>
          </p:cNvSpPr>
          <p:nvPr/>
        </p:nvSpPr>
        <p:spPr bwMode="auto">
          <a:xfrm>
            <a:off x="2501900" y="3213100"/>
            <a:ext cx="4038600" cy="228600"/>
          </a:xfrm>
          <a:prstGeom prst="rect">
            <a:avLst/>
          </a:prstGeom>
          <a:solidFill>
            <a:srgbClr val="CC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CC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IS-95 CDMA, GSM</a:t>
            </a:r>
          </a:p>
        </p:txBody>
      </p:sp>
      <p:sp>
        <p:nvSpPr>
          <p:cNvPr id="42003" name="Rectangle 17"/>
          <p:cNvSpPr>
            <a:spLocks noChangeArrowheads="1"/>
          </p:cNvSpPr>
          <p:nvPr/>
        </p:nvSpPr>
        <p:spPr bwMode="auto">
          <a:xfrm>
            <a:off x="2501900" y="2908300"/>
            <a:ext cx="3810000" cy="228600"/>
          </a:xfrm>
          <a:prstGeom prst="rect">
            <a:avLst/>
          </a:prstGeom>
          <a:solidFill>
            <a:srgbClr val="CCFFCC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CCFFCC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UMTS/WCDMA, CDMA2000</a:t>
            </a:r>
          </a:p>
        </p:txBody>
      </p:sp>
      <p:sp>
        <p:nvSpPr>
          <p:cNvPr id="42004" name="Rectangle 18"/>
          <p:cNvSpPr>
            <a:spLocks noChangeArrowheads="1"/>
          </p:cNvSpPr>
          <p:nvPr/>
        </p:nvSpPr>
        <p:spPr bwMode="auto">
          <a:xfrm>
            <a:off x="5245100" y="1612900"/>
            <a:ext cx="990600" cy="228600"/>
          </a:xfrm>
          <a:prstGeom prst="rect">
            <a:avLst/>
          </a:prstGeom>
          <a:solidFill>
            <a:srgbClr val="FFFF99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FFFF99"/>
            </a:extrusionClr>
          </a:sp3d>
        </p:spPr>
        <p:txBody>
          <a:bodyPr wrap="none" anchor="ctr">
            <a:flatTx/>
          </a:bodyPr>
          <a:lstStyle/>
          <a:p>
            <a:r>
              <a:rPr lang="en-US" altLang="ko-KR">
                <a:latin typeface="Arial" charset="0"/>
                <a:ea typeface="Gulim" pitchFamily="34" charset="-127"/>
              </a:rPr>
              <a:t> </a:t>
            </a:r>
            <a:r>
              <a:rPr lang="en-US" altLang="ko-KR" sz="1200">
                <a:latin typeface="Arial" charset="0"/>
                <a:ea typeface="Gulim" pitchFamily="34" charset="-127"/>
              </a:rPr>
              <a:t>.11 p-to-p link</a:t>
            </a:r>
          </a:p>
        </p:txBody>
      </p:sp>
      <p:sp>
        <p:nvSpPr>
          <p:cNvPr id="42005" name="Text Box 19"/>
          <p:cNvSpPr txBox="1">
            <a:spLocks noChangeArrowheads="1"/>
          </p:cNvSpPr>
          <p:nvPr/>
        </p:nvSpPr>
        <p:spPr bwMode="auto">
          <a:xfrm>
            <a:off x="7073900" y="3060700"/>
            <a:ext cx="4206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2G</a:t>
            </a:r>
          </a:p>
        </p:txBody>
      </p:sp>
      <p:sp>
        <p:nvSpPr>
          <p:cNvPr id="42006" name="Line 20"/>
          <p:cNvSpPr>
            <a:spLocks noChangeShapeType="1"/>
          </p:cNvSpPr>
          <p:nvPr/>
        </p:nvSpPr>
        <p:spPr bwMode="auto">
          <a:xfrm flipH="1">
            <a:off x="6769100" y="32131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2007" name="Text Box 21"/>
          <p:cNvSpPr txBox="1">
            <a:spLocks noChangeArrowheads="1"/>
          </p:cNvSpPr>
          <p:nvPr/>
        </p:nvSpPr>
        <p:spPr bwMode="auto">
          <a:xfrm>
            <a:off x="7073900" y="2755900"/>
            <a:ext cx="42068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ko-KR" sz="1400">
                <a:latin typeface="Arial" charset="0"/>
                <a:ea typeface="Gulim" pitchFamily="34" charset="-127"/>
              </a:rPr>
              <a:t>3G</a:t>
            </a:r>
          </a:p>
        </p:txBody>
      </p:sp>
      <p:sp>
        <p:nvSpPr>
          <p:cNvPr id="42008" name="Line 22"/>
          <p:cNvSpPr>
            <a:spLocks noChangeShapeType="1"/>
          </p:cNvSpPr>
          <p:nvPr/>
        </p:nvSpPr>
        <p:spPr bwMode="auto">
          <a:xfrm flipH="1">
            <a:off x="6769100" y="29083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42009" name="Group 23"/>
          <p:cNvGrpSpPr>
            <a:grpSpLocks/>
          </p:cNvGrpSpPr>
          <p:nvPr/>
        </p:nvGrpSpPr>
        <p:grpSpPr bwMode="auto">
          <a:xfrm>
            <a:off x="901700" y="3822700"/>
            <a:ext cx="7162800" cy="1125538"/>
            <a:chOff x="480" y="3072"/>
            <a:chExt cx="4512" cy="709"/>
          </a:xfrm>
        </p:grpSpPr>
        <p:sp>
          <p:nvSpPr>
            <p:cNvPr id="42012" name="Line 24"/>
            <p:cNvSpPr>
              <a:spLocks noChangeShapeType="1"/>
            </p:cNvSpPr>
            <p:nvPr/>
          </p:nvSpPr>
          <p:spPr bwMode="auto">
            <a:xfrm>
              <a:off x="480" y="3072"/>
              <a:ext cx="45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013" name="Text Box 25"/>
            <p:cNvSpPr txBox="1">
              <a:spLocks noChangeArrowheads="1"/>
            </p:cNvSpPr>
            <p:nvPr/>
          </p:nvSpPr>
          <p:spPr bwMode="auto">
            <a:xfrm>
              <a:off x="1036" y="3082"/>
              <a:ext cx="515" cy="5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Indoor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r>
                <a:rPr lang="en-US" altLang="ko-KR" sz="1200">
                  <a:latin typeface="Arial" charset="0"/>
                  <a:ea typeface="Gulim" pitchFamily="34" charset="-127"/>
                </a:rPr>
                <a:t>10 – 30m</a:t>
              </a:r>
            </a:p>
          </p:txBody>
        </p:sp>
        <p:sp>
          <p:nvSpPr>
            <p:cNvPr id="42014" name="Text Box 26"/>
            <p:cNvSpPr txBox="1">
              <a:spLocks noChangeArrowheads="1"/>
            </p:cNvSpPr>
            <p:nvPr/>
          </p:nvSpPr>
          <p:spPr bwMode="auto">
            <a:xfrm>
              <a:off x="1830" y="3072"/>
              <a:ext cx="568" cy="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Outdoor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r>
                <a:rPr lang="en-US" altLang="ko-KR" sz="1200">
                  <a:latin typeface="Arial" charset="0"/>
                  <a:ea typeface="Gulim" pitchFamily="34" charset="-127"/>
                </a:rPr>
                <a:t>50 – 200m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</p:txBody>
        </p:sp>
        <p:sp>
          <p:nvSpPr>
            <p:cNvPr id="42015" name="Text Box 27"/>
            <p:cNvSpPr txBox="1">
              <a:spLocks noChangeArrowheads="1"/>
            </p:cNvSpPr>
            <p:nvPr/>
          </p:nvSpPr>
          <p:spPr bwMode="auto">
            <a:xfrm>
              <a:off x="2673" y="3072"/>
              <a:ext cx="659" cy="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Mid range</a:t>
              </a:r>
            </a:p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outdoor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r>
                <a:rPr lang="en-US" altLang="ko-KR" sz="1200">
                  <a:latin typeface="Arial" charset="0"/>
                  <a:ea typeface="Gulim" pitchFamily="34" charset="-127"/>
                </a:rPr>
                <a:t>200m – 4Km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</p:txBody>
        </p:sp>
        <p:sp>
          <p:nvSpPr>
            <p:cNvPr id="42016" name="Text Box 28"/>
            <p:cNvSpPr txBox="1">
              <a:spLocks noChangeArrowheads="1"/>
            </p:cNvSpPr>
            <p:nvPr/>
          </p:nvSpPr>
          <p:spPr bwMode="auto">
            <a:xfrm>
              <a:off x="3544" y="3072"/>
              <a:ext cx="680" cy="7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Long range</a:t>
              </a:r>
            </a:p>
            <a:p>
              <a:r>
                <a:rPr lang="en-US" altLang="ko-KR" sz="1400">
                  <a:latin typeface="Arial" charset="0"/>
                  <a:ea typeface="Gulim" pitchFamily="34" charset="-127"/>
                </a:rPr>
                <a:t>outdoor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  <a:p>
              <a:r>
                <a:rPr lang="en-US" altLang="ko-KR" sz="1200">
                  <a:latin typeface="Arial" charset="0"/>
                  <a:ea typeface="Gulim" pitchFamily="34" charset="-127"/>
                </a:rPr>
                <a:t>5Km – 20Km</a:t>
              </a:r>
            </a:p>
            <a:p>
              <a:endParaRPr lang="en-US" altLang="ko-KR" sz="1400">
                <a:latin typeface="Arial" charset="0"/>
                <a:ea typeface="Gulim" pitchFamily="34" charset="-127"/>
              </a:endParaRPr>
            </a:p>
          </p:txBody>
        </p:sp>
      </p:grpSp>
      <p:sp>
        <p:nvSpPr>
          <p:cNvPr id="42010" name="Rectangle 29"/>
          <p:cNvSpPr>
            <a:spLocks noChangeArrowheads="1"/>
          </p:cNvSpPr>
          <p:nvPr/>
        </p:nvSpPr>
        <p:spPr bwMode="auto">
          <a:xfrm>
            <a:off x="203200" y="952500"/>
            <a:ext cx="304800" cy="2362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ko-KR" altLang="ko-KR">
              <a:ea typeface="Gulim" pitchFamily="34" charset="-127"/>
            </a:endParaRPr>
          </a:p>
        </p:txBody>
      </p:sp>
      <p:pic>
        <p:nvPicPr>
          <p:cNvPr id="42011" name="Picture 6" descr="H:\wireless\temp3.ep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68275"/>
            <a:ext cx="9144000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mtClean="0">
                <a:solidFill>
                  <a:schemeClr val="accent1">
                    <a:satMod val="150000"/>
                  </a:schemeClr>
                </a:solidFill>
                <a:ea typeface="Gulim" pitchFamily="34" charset="-127"/>
              </a:rPr>
              <a:t>Why Ad Hoc Networks ?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23863" y="1600200"/>
            <a:ext cx="8720137" cy="4800600"/>
          </a:xfrm>
        </p:spPr>
        <p:txBody>
          <a:bodyPr/>
          <a:lstStyle/>
          <a:p>
            <a:pPr eaLnBrk="1" hangingPunct="1"/>
            <a:r>
              <a:rPr lang="en-US" altLang="ko-KR" sz="2400" smtClean="0">
                <a:ea typeface="Gulim" pitchFamily="34" charset="-127"/>
              </a:rPr>
              <a:t>Setting up of fixed access points and backbone infrastructure is not always viable</a:t>
            </a:r>
          </a:p>
          <a:p>
            <a:pPr lvl="1" eaLnBrk="1" hangingPunct="1"/>
            <a:r>
              <a:rPr lang="en-US" altLang="ko-KR" sz="2000" smtClean="0">
                <a:ea typeface="Gulim" pitchFamily="34" charset="-127"/>
              </a:rPr>
              <a:t>Infrastructure may not be present in a disaster area or war zone</a:t>
            </a:r>
          </a:p>
          <a:p>
            <a:pPr lvl="1" eaLnBrk="1" hangingPunct="1"/>
            <a:r>
              <a:rPr lang="en-US" altLang="ko-KR" sz="2000" smtClean="0">
                <a:ea typeface="Gulim" pitchFamily="34" charset="-127"/>
              </a:rPr>
              <a:t>Infrastructure may not be practical for short-range radios; Bluetooth (range ~ 10m)</a:t>
            </a:r>
          </a:p>
          <a:p>
            <a:pPr eaLnBrk="1" hangingPunct="1"/>
            <a:endParaRPr lang="en-US" altLang="ko-KR" sz="2400" smtClean="0">
              <a:ea typeface="Gulim" pitchFamily="34" charset="-127"/>
            </a:endParaRPr>
          </a:p>
          <a:p>
            <a:pPr eaLnBrk="1" hangingPunct="1"/>
            <a:r>
              <a:rPr lang="en-US" altLang="ko-KR" sz="2400" smtClean="0">
                <a:ea typeface="Gulim" pitchFamily="34" charset="-127"/>
              </a:rPr>
              <a:t>Ad hoc networks:</a:t>
            </a:r>
          </a:p>
          <a:p>
            <a:pPr lvl="1" eaLnBrk="1" hangingPunct="1"/>
            <a:r>
              <a:rPr lang="en-US" altLang="ko-KR" sz="2000" smtClean="0">
                <a:ea typeface="Gulim" pitchFamily="34" charset="-127"/>
              </a:rPr>
              <a:t>Do not need backbone infrastructure support</a:t>
            </a:r>
          </a:p>
          <a:p>
            <a:pPr lvl="1" eaLnBrk="1" hangingPunct="1"/>
            <a:r>
              <a:rPr lang="en-US" altLang="ko-KR" sz="2000" smtClean="0">
                <a:ea typeface="Gulim" pitchFamily="34" charset="-127"/>
              </a:rPr>
              <a:t>Are easy to deploy</a:t>
            </a:r>
          </a:p>
          <a:p>
            <a:pPr lvl="1" eaLnBrk="1" hangingPunct="1"/>
            <a:r>
              <a:rPr lang="en-US" altLang="ko-KR" sz="2000" smtClean="0">
                <a:ea typeface="Gulim" pitchFamily="34" charset="-127"/>
              </a:rPr>
              <a:t>Useful when infrastructure is absent, destroyed or impractical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74625"/>
            <a:ext cx="9144000" cy="95091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3200" smtClean="0">
                <a:solidFill>
                  <a:schemeClr val="accent1">
                    <a:satMod val="150000"/>
                  </a:schemeClr>
                </a:solidFill>
                <a:ea typeface="Gulim" pitchFamily="34" charset="-127"/>
              </a:rPr>
              <a:t>Comparisons between Cellular and Ad Hoc Wireless Networks (I)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228600" indent="-228600" eaLnBrk="1" hangingPunct="1"/>
            <a:endParaRPr lang="en-US" altLang="ko-KR" sz="2000" smtClean="0">
              <a:ea typeface="Gulim" pitchFamily="34" charset="-127"/>
            </a:endParaRPr>
          </a:p>
          <a:p>
            <a:pPr marL="228600" indent="-228600" eaLnBrk="1" hangingPunct="1"/>
            <a:endParaRPr lang="en-US" altLang="ko-KR" sz="2000" smtClean="0">
              <a:ea typeface="Gulim" pitchFamily="34" charset="-127"/>
            </a:endParaRPr>
          </a:p>
        </p:txBody>
      </p:sp>
      <p:graphicFrame>
        <p:nvGraphicFramePr>
          <p:cNvPr id="1737884" name="Group 156"/>
          <p:cNvGraphicFramePr>
            <a:graphicFrameLocks noGrp="1"/>
          </p:cNvGraphicFramePr>
          <p:nvPr>
            <p:ph sz="half" idx="2"/>
          </p:nvPr>
        </p:nvGraphicFramePr>
        <p:xfrm>
          <a:off x="385763" y="1201738"/>
          <a:ext cx="8449560" cy="4394366"/>
        </p:xfrm>
        <a:graphic>
          <a:graphicData uri="http://schemas.openxmlformats.org/drawingml/2006/table">
            <a:tbl>
              <a:tblPr/>
              <a:tblGrid>
                <a:gridCol w="4136571"/>
                <a:gridCol w="4312989"/>
              </a:tblGrid>
              <a:tr h="472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Cellular Networks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Ad Hoc Wireless Networks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Fixed infrastructure-based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Infrastructureless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2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Guaranteed bandwidth (designed for voice traffic)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Shared radio channel (more suitable for best-effort data traffic)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Centralized routing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Distributed routing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2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Circuit-switched (evolved toward packet switching)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Packet-switched (evolving toward emulation of circuit switching)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3529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Seamless connectivity (low call drops during handoffs)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Frequent path breaks due to mobility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7212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High cost and time of deployment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Gulim" pitchFamily="34" charset="-127"/>
                        </a:rPr>
                        <a:t>Quick and cost-effective deployment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386" name="Slide Number Placeholder 3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BF4884-13DC-4867-A9C7-6A7E875ACE75}" type="slidenum">
              <a:rPr lang="en-US" altLang="ko-KR" smtClean="0"/>
              <a:pPr>
                <a:defRPr/>
              </a:pPr>
              <a:t>33</a:t>
            </a:fld>
            <a:endParaRPr lang="en-US" altLang="ko-KR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47663" y="5641975"/>
          <a:ext cx="8525910" cy="1216792"/>
        </p:xfrm>
        <a:graphic>
          <a:graphicData uri="http://schemas.openxmlformats.org/drawingml/2006/table">
            <a:tbl>
              <a:tblPr/>
              <a:tblGrid>
                <a:gridCol w="4134581"/>
                <a:gridCol w="4391329"/>
              </a:tblGrid>
              <a:tr h="12167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Application domains include mainly civilian and commercial sectors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Application domains include battlefields, emergency search and rescue operations, and collaborative computing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ko-KR" sz="2800" smtClean="0">
                <a:solidFill>
                  <a:schemeClr val="accent1">
                    <a:satMod val="150000"/>
                  </a:schemeClr>
                </a:solidFill>
                <a:ea typeface="Gulim" pitchFamily="34" charset="-127"/>
              </a:rPr>
              <a:t>Comparisons between Cellular and Ad Hoc Wireless Networks (II)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marL="228600" indent="-228600" eaLnBrk="1" hangingPunct="1"/>
            <a:endParaRPr lang="en-US" altLang="ko-KR" sz="2000" smtClean="0">
              <a:ea typeface="Gulim" pitchFamily="34" charset="-127"/>
            </a:endParaRPr>
          </a:p>
          <a:p>
            <a:pPr marL="228600" indent="-228600" eaLnBrk="1" hangingPunct="1"/>
            <a:endParaRPr lang="en-US" altLang="ko-KR" sz="2000" smtClean="0">
              <a:ea typeface="Gulim" pitchFamily="34" charset="-127"/>
            </a:endParaRPr>
          </a:p>
        </p:txBody>
      </p:sp>
      <p:graphicFrame>
        <p:nvGraphicFramePr>
          <p:cNvPr id="1745054" name="Group 158"/>
          <p:cNvGraphicFramePr>
            <a:graphicFrameLocks noGrp="1"/>
          </p:cNvGraphicFramePr>
          <p:nvPr>
            <p:ph sz="half" idx="2"/>
          </p:nvPr>
        </p:nvGraphicFramePr>
        <p:xfrm>
          <a:off x="501650" y="1431925"/>
          <a:ext cx="8140733" cy="4724400"/>
        </p:xfrm>
        <a:graphic>
          <a:graphicData uri="http://schemas.openxmlformats.org/drawingml/2006/table">
            <a:tbl>
              <a:tblPr/>
              <a:tblGrid>
                <a:gridCol w="3947792"/>
                <a:gridCol w="4192941"/>
              </a:tblGrid>
              <a:tr h="3562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Cellular Networks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Ad Hoc Wireless Networks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High cost of network maintenance (backup power source, staffing, etc.)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Self-organization and maintenance properties are built into the network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04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Mobile hosts are of relatively low complexity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Mobile hosts require more intelligence (should have a transceiver as well as routing/switching capability)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83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Major goals of routing and call admission are to maximize the call acceptance ratio and minimize the call drop ratio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Main aim of routing is to find paths with minimum overhead and also quick reconfiguration of broken paths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783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Widely deployed and currently in the fourth generation of evolution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Several issues are to be addressed for successful commercial deployment even though widespread use exists in defense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410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4FB776-0A9D-4002-B906-7EDA59F54C26}" type="slidenum">
              <a:rPr lang="en-US" altLang="ko-KR" smtClean="0"/>
              <a:pPr>
                <a:defRPr/>
              </a:pPr>
              <a:t>34</a:t>
            </a:fld>
            <a:endParaRPr lang="en-US" altLang="ko-KR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0B35B14-FA5A-40B7-96BE-C32978E10C3F}" type="slidenum">
              <a:rPr lang="en-US" smtClean="0"/>
              <a:pPr>
                <a:defRPr/>
              </a:pPr>
              <a:t>35</a:t>
            </a:fld>
            <a:endParaRPr lang="en-US" smtClean="0"/>
          </a:p>
        </p:txBody>
      </p:sp>
      <p:sp>
        <p:nvSpPr>
          <p:cNvPr id="4608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Host Mobility</a:t>
            </a:r>
          </a:p>
        </p:txBody>
      </p:sp>
      <p:sp>
        <p:nvSpPr>
          <p:cNvPr id="4608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04BBD6-B6C2-4BCC-A9FA-ABC7AAEB6108}" type="slidenum">
              <a:rPr lang="en-US" smtClean="0"/>
              <a:pPr>
                <a:defRPr/>
              </a:pPr>
              <a:t>36</a:t>
            </a:fld>
            <a:endParaRPr lang="en-US" smtClean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Varying Degrees of User Mobility</a:t>
            </a:r>
          </a:p>
        </p:txBody>
      </p:sp>
      <p:sp>
        <p:nvSpPr>
          <p:cNvPr id="194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Moves only within same access network</a:t>
            </a:r>
          </a:p>
          <a:p>
            <a:pPr lvl="1"/>
            <a:r>
              <a:rPr lang="en-US" smtClean="0"/>
              <a:t>Single access point: mobility is irrelevant</a:t>
            </a:r>
          </a:p>
          <a:p>
            <a:pPr lvl="1"/>
            <a:r>
              <a:rPr lang="en-US" smtClean="0"/>
              <a:t>Multiple access points: only link-link layer changes</a:t>
            </a:r>
          </a:p>
          <a:p>
            <a:pPr lvl="1"/>
            <a:r>
              <a:rPr lang="en-US" smtClean="0"/>
              <a:t>Either way, users is not mobile at the network layer</a:t>
            </a:r>
          </a:p>
          <a:p>
            <a:r>
              <a:rPr lang="en-US" smtClean="0"/>
              <a:t>Shuts down between changes access networks</a:t>
            </a:r>
          </a:p>
          <a:p>
            <a:pPr lvl="1"/>
            <a:r>
              <a:rPr lang="en-US" smtClean="0"/>
              <a:t>Host gets new IP address at the new access network</a:t>
            </a:r>
          </a:p>
          <a:p>
            <a:pPr lvl="1"/>
            <a:r>
              <a:rPr lang="en-US" smtClean="0"/>
              <a:t>No need to support any ongoing transfers</a:t>
            </a:r>
          </a:p>
          <a:p>
            <a:pPr lvl="1"/>
            <a:r>
              <a:rPr lang="en-US" smtClean="0"/>
              <a:t>Applications have become good at supporting this</a:t>
            </a:r>
          </a:p>
          <a:p>
            <a:r>
              <a:rPr lang="en-US" smtClean="0"/>
              <a:t>Maintains connections while changing networks</a:t>
            </a:r>
          </a:p>
          <a:p>
            <a:pPr lvl="1"/>
            <a:r>
              <a:rPr lang="en-US" smtClean="0"/>
              <a:t>Surfing the ‘net while driving in a car or flying a plane</a:t>
            </a:r>
          </a:p>
          <a:p>
            <a:pPr lvl="1"/>
            <a:r>
              <a:rPr lang="en-US" smtClean="0"/>
              <a:t>Need to ensure traffic continues to reach the host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2531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DF5BE9C-0FCF-431E-A9C4-5733E6B81F72}" type="slidenum">
              <a:rPr lang="en-US" smtClean="0"/>
              <a:pPr>
                <a:defRPr/>
              </a:pPr>
              <a:t>37</a:t>
            </a:fld>
            <a:endParaRPr lang="en-US" smtClean="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Maintaining Ongoing Transfers 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750888"/>
          </a:xfrm>
        </p:spPr>
        <p:txBody>
          <a:bodyPr/>
          <a:lstStyle/>
          <a:p>
            <a:r>
              <a:rPr lang="en-US" sz="3200" smtClean="0"/>
              <a:t>Seamless transmission to a mobile host</a:t>
            </a:r>
          </a:p>
        </p:txBody>
      </p:sp>
      <p:sp>
        <p:nvSpPr>
          <p:cNvPr id="1948676" name="Cloud"/>
          <p:cNvSpPr>
            <a:spLocks noChangeAspect="1" noEditPoints="1" noChangeArrowheads="1"/>
          </p:cNvSpPr>
          <p:nvPr/>
        </p:nvSpPr>
        <p:spPr bwMode="auto">
          <a:xfrm>
            <a:off x="2266950" y="2609850"/>
            <a:ext cx="4176713" cy="2798763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pic>
        <p:nvPicPr>
          <p:cNvPr id="48134" name="Picture 5" descr="j028575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9450" y="1935163"/>
            <a:ext cx="1824038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8135" name="Line 6"/>
          <p:cNvSpPr>
            <a:spLocks noChangeShapeType="1"/>
          </p:cNvSpPr>
          <p:nvPr/>
        </p:nvSpPr>
        <p:spPr bwMode="auto">
          <a:xfrm flipH="1">
            <a:off x="6300788" y="2894013"/>
            <a:ext cx="1306512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948679" name="Picture 7" descr="j02129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5878513" y="5505450"/>
            <a:ext cx="1830387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8680" name="Line 8"/>
          <p:cNvSpPr>
            <a:spLocks noChangeShapeType="1"/>
          </p:cNvSpPr>
          <p:nvPr/>
        </p:nvSpPr>
        <p:spPr bwMode="auto">
          <a:xfrm>
            <a:off x="3151188" y="6232525"/>
            <a:ext cx="2457450" cy="3175"/>
          </a:xfrm>
          <a:prstGeom prst="line">
            <a:avLst/>
          </a:prstGeom>
          <a:noFill/>
          <a:ln w="38100">
            <a:solidFill>
              <a:schemeClr val="tx1"/>
            </a:solidFill>
            <a:prstDash val="dash"/>
            <a:round/>
            <a:headEnd/>
            <a:tailEnd type="arrow" w="med" len="med"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8138" name="Group 9"/>
          <p:cNvGrpSpPr>
            <a:grpSpLocks/>
          </p:cNvGrpSpPr>
          <p:nvPr/>
        </p:nvGrpSpPr>
        <p:grpSpPr bwMode="auto">
          <a:xfrm>
            <a:off x="2574925" y="4776788"/>
            <a:ext cx="473075" cy="365125"/>
            <a:chOff x="3120" y="2880"/>
            <a:chExt cx="144" cy="96"/>
          </a:xfrm>
        </p:grpSpPr>
        <p:sp>
          <p:nvSpPr>
            <p:cNvPr id="48170" name="Oval 10"/>
            <p:cNvSpPr>
              <a:spLocks noChangeArrowheads="1"/>
            </p:cNvSpPr>
            <p:nvPr/>
          </p:nvSpPr>
          <p:spPr bwMode="auto">
            <a:xfrm>
              <a:off x="3120" y="292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1" name="Rectangle 11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2" name="Rectangle 12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3" name="Oval 13"/>
            <p:cNvSpPr>
              <a:spLocks noChangeArrowheads="1"/>
            </p:cNvSpPr>
            <p:nvPr/>
          </p:nvSpPr>
          <p:spPr bwMode="auto">
            <a:xfrm>
              <a:off x="3120" y="288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74" name="Group 14"/>
            <p:cNvGrpSpPr>
              <a:grpSpLocks/>
            </p:cNvGrpSpPr>
            <p:nvPr/>
          </p:nvGrpSpPr>
          <p:grpSpPr bwMode="auto">
            <a:xfrm>
              <a:off x="3141" y="2886"/>
              <a:ext cx="100" cy="43"/>
              <a:chOff x="6839" y="9479"/>
              <a:chExt cx="253" cy="119"/>
            </a:xfrm>
          </p:grpSpPr>
          <p:grpSp>
            <p:nvGrpSpPr>
              <p:cNvPr id="48177" name="Group 15"/>
              <p:cNvGrpSpPr>
                <a:grpSpLocks/>
              </p:cNvGrpSpPr>
              <p:nvPr/>
            </p:nvGrpSpPr>
            <p:grpSpPr bwMode="auto">
              <a:xfrm>
                <a:off x="6839" y="9479"/>
                <a:ext cx="251" cy="116"/>
                <a:chOff x="6839" y="9479"/>
                <a:chExt cx="251" cy="116"/>
              </a:xfrm>
            </p:grpSpPr>
            <p:sp>
              <p:nvSpPr>
                <p:cNvPr id="48187" name="Freeform 16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8" name="Freeform 17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9" name="Freeform 18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90" name="Freeform 19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91" name="Freeform 20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92" name="Freeform 21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93" name="Freeform 22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94" name="Freeform 23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8178" name="Group 24"/>
              <p:cNvGrpSpPr>
                <a:grpSpLocks/>
              </p:cNvGrpSpPr>
              <p:nvPr/>
            </p:nvGrpSpPr>
            <p:grpSpPr bwMode="auto">
              <a:xfrm>
                <a:off x="6842" y="9482"/>
                <a:ext cx="250" cy="116"/>
                <a:chOff x="6842" y="9482"/>
                <a:chExt cx="250" cy="116"/>
              </a:xfrm>
            </p:grpSpPr>
            <p:sp>
              <p:nvSpPr>
                <p:cNvPr id="48179" name="Freeform 25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0" name="Freeform 26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1" name="Freeform 27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2" name="Freeform 28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3" name="Freeform 29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4" name="Freeform 30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5" name="Freeform 31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86" name="Freeform 32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8175" name="Line 33"/>
            <p:cNvSpPr>
              <a:spLocks noChangeShapeType="1"/>
            </p:cNvSpPr>
            <p:nvPr/>
          </p:nvSpPr>
          <p:spPr bwMode="auto">
            <a:xfrm>
              <a:off x="3120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76" name="Line 34"/>
            <p:cNvSpPr>
              <a:spLocks noChangeShapeType="1"/>
            </p:cNvSpPr>
            <p:nvPr/>
          </p:nvSpPr>
          <p:spPr bwMode="auto">
            <a:xfrm>
              <a:off x="3264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8139" name="Group 35"/>
          <p:cNvGrpSpPr>
            <a:grpSpLocks/>
          </p:cNvGrpSpPr>
          <p:nvPr/>
        </p:nvGrpSpPr>
        <p:grpSpPr bwMode="auto">
          <a:xfrm>
            <a:off x="5416550" y="4814888"/>
            <a:ext cx="473075" cy="365125"/>
            <a:chOff x="3120" y="2880"/>
            <a:chExt cx="144" cy="96"/>
          </a:xfrm>
        </p:grpSpPr>
        <p:sp>
          <p:nvSpPr>
            <p:cNvPr id="48145" name="Oval 36"/>
            <p:cNvSpPr>
              <a:spLocks noChangeArrowheads="1"/>
            </p:cNvSpPr>
            <p:nvPr/>
          </p:nvSpPr>
          <p:spPr bwMode="auto">
            <a:xfrm>
              <a:off x="3120" y="292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6" name="Rectangle 37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7" name="Rectangle 38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48" name="Oval 39"/>
            <p:cNvSpPr>
              <a:spLocks noChangeArrowheads="1"/>
            </p:cNvSpPr>
            <p:nvPr/>
          </p:nvSpPr>
          <p:spPr bwMode="auto">
            <a:xfrm>
              <a:off x="3120" y="288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48149" name="Group 40"/>
            <p:cNvGrpSpPr>
              <a:grpSpLocks/>
            </p:cNvGrpSpPr>
            <p:nvPr/>
          </p:nvGrpSpPr>
          <p:grpSpPr bwMode="auto">
            <a:xfrm>
              <a:off x="3141" y="2886"/>
              <a:ext cx="100" cy="43"/>
              <a:chOff x="6839" y="9479"/>
              <a:chExt cx="253" cy="119"/>
            </a:xfrm>
          </p:grpSpPr>
          <p:grpSp>
            <p:nvGrpSpPr>
              <p:cNvPr id="48152" name="Group 41"/>
              <p:cNvGrpSpPr>
                <a:grpSpLocks/>
              </p:cNvGrpSpPr>
              <p:nvPr/>
            </p:nvGrpSpPr>
            <p:grpSpPr bwMode="auto">
              <a:xfrm>
                <a:off x="6839" y="9479"/>
                <a:ext cx="251" cy="116"/>
                <a:chOff x="6839" y="9479"/>
                <a:chExt cx="251" cy="116"/>
              </a:xfrm>
            </p:grpSpPr>
            <p:sp>
              <p:nvSpPr>
                <p:cNvPr id="48162" name="Freeform 42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3" name="Freeform 43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4" name="Freeform 44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5" name="Freeform 45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6" name="Freeform 46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7" name="Freeform 47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8" name="Freeform 48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9" name="Freeform 49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48153" name="Group 50"/>
              <p:cNvGrpSpPr>
                <a:grpSpLocks/>
              </p:cNvGrpSpPr>
              <p:nvPr/>
            </p:nvGrpSpPr>
            <p:grpSpPr bwMode="auto">
              <a:xfrm>
                <a:off x="6842" y="9482"/>
                <a:ext cx="250" cy="116"/>
                <a:chOff x="6842" y="9482"/>
                <a:chExt cx="250" cy="116"/>
              </a:xfrm>
            </p:grpSpPr>
            <p:sp>
              <p:nvSpPr>
                <p:cNvPr id="48154" name="Freeform 51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55" name="Freeform 52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56" name="Freeform 53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57" name="Freeform 54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58" name="Freeform 55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59" name="Freeform 56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0" name="Freeform 57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161" name="Freeform 58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48150" name="Line 59"/>
            <p:cNvSpPr>
              <a:spLocks noChangeShapeType="1"/>
            </p:cNvSpPr>
            <p:nvPr/>
          </p:nvSpPr>
          <p:spPr bwMode="auto">
            <a:xfrm>
              <a:off x="3120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151" name="Line 60"/>
            <p:cNvSpPr>
              <a:spLocks noChangeShapeType="1"/>
            </p:cNvSpPr>
            <p:nvPr/>
          </p:nvSpPr>
          <p:spPr bwMode="auto">
            <a:xfrm>
              <a:off x="3264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140" name="Text Box 61"/>
          <p:cNvSpPr txBox="1">
            <a:spLocks noChangeArrowheads="1"/>
          </p:cNvSpPr>
          <p:nvPr/>
        </p:nvSpPr>
        <p:spPr bwMode="auto">
          <a:xfrm>
            <a:off x="2152650" y="4849813"/>
            <a:ext cx="36830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48141" name="Text Box 62"/>
          <p:cNvSpPr txBox="1">
            <a:spLocks noChangeArrowheads="1"/>
          </p:cNvSpPr>
          <p:nvPr/>
        </p:nvSpPr>
        <p:spPr bwMode="auto">
          <a:xfrm>
            <a:off x="5954713" y="4811713"/>
            <a:ext cx="36830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948735" name="Freeform 63"/>
          <p:cNvSpPr>
            <a:spLocks/>
          </p:cNvSpPr>
          <p:nvPr/>
        </p:nvSpPr>
        <p:spPr bwMode="auto">
          <a:xfrm>
            <a:off x="5372100" y="3275013"/>
            <a:ext cx="966788" cy="1536700"/>
          </a:xfrm>
          <a:custGeom>
            <a:avLst/>
            <a:gdLst>
              <a:gd name="T0" fmla="*/ 966788 w 609"/>
              <a:gd name="T1" fmla="*/ 0 h 968"/>
              <a:gd name="T2" fmla="*/ 122238 w 609"/>
              <a:gd name="T3" fmla="*/ 576263 h 968"/>
              <a:gd name="T4" fmla="*/ 236538 w 609"/>
              <a:gd name="T5" fmla="*/ 1536700 h 968"/>
              <a:gd name="T6" fmla="*/ 0 60000 65536"/>
              <a:gd name="T7" fmla="*/ 0 60000 65536"/>
              <a:gd name="T8" fmla="*/ 0 60000 65536"/>
              <a:gd name="T9" fmla="*/ 0 w 609"/>
              <a:gd name="T10" fmla="*/ 0 h 968"/>
              <a:gd name="T11" fmla="*/ 609 w 609"/>
              <a:gd name="T12" fmla="*/ 968 h 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9" h="968">
                <a:moveTo>
                  <a:pt x="609" y="0"/>
                </a:moveTo>
                <a:cubicBezTo>
                  <a:pt x="381" y="101"/>
                  <a:pt x="154" y="202"/>
                  <a:pt x="77" y="363"/>
                </a:cubicBezTo>
                <a:cubicBezTo>
                  <a:pt x="0" y="524"/>
                  <a:pt x="74" y="746"/>
                  <a:pt x="149" y="968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8736" name="Freeform 64"/>
          <p:cNvSpPr>
            <a:spLocks/>
          </p:cNvSpPr>
          <p:nvPr/>
        </p:nvSpPr>
        <p:spPr bwMode="auto">
          <a:xfrm>
            <a:off x="2882900" y="3255963"/>
            <a:ext cx="3417888" cy="1517650"/>
          </a:xfrm>
          <a:custGeom>
            <a:avLst/>
            <a:gdLst>
              <a:gd name="T0" fmla="*/ 3417888 w 2153"/>
              <a:gd name="T1" fmla="*/ 19050 h 956"/>
              <a:gd name="T2" fmla="*/ 844550 w 2153"/>
              <a:gd name="T3" fmla="*/ 249238 h 956"/>
              <a:gd name="T4" fmla="*/ 0 w 2153"/>
              <a:gd name="T5" fmla="*/ 1517650 h 956"/>
              <a:gd name="T6" fmla="*/ 0 60000 65536"/>
              <a:gd name="T7" fmla="*/ 0 60000 65536"/>
              <a:gd name="T8" fmla="*/ 0 60000 65536"/>
              <a:gd name="T9" fmla="*/ 0 w 2153"/>
              <a:gd name="T10" fmla="*/ 0 h 956"/>
              <a:gd name="T11" fmla="*/ 2153 w 2153"/>
              <a:gd name="T12" fmla="*/ 956 h 9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3" h="956">
                <a:moveTo>
                  <a:pt x="2153" y="12"/>
                </a:moveTo>
                <a:cubicBezTo>
                  <a:pt x="1522" y="6"/>
                  <a:pt x="891" y="0"/>
                  <a:pt x="532" y="157"/>
                </a:cubicBezTo>
                <a:cubicBezTo>
                  <a:pt x="173" y="314"/>
                  <a:pt x="86" y="635"/>
                  <a:pt x="0" y="95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1948737" name="Picture 65" descr="j021295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1154113" y="5505450"/>
            <a:ext cx="1830387" cy="114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680" grpId="0" animBg="1"/>
      <p:bldP spid="1948735" grpId="0" animBg="1"/>
      <p:bldP spid="19487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EA0137-C16F-4757-BEFB-95469FBCE724}" type="slidenum">
              <a:rPr lang="en-US" smtClean="0"/>
              <a:pPr>
                <a:defRPr/>
              </a:pPr>
              <a:t>38</a:t>
            </a:fld>
            <a:endParaRPr lang="en-US" smtClean="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E.g., Keeping Track of Mobile Friends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smtClean="0"/>
              <a:t>Sending a letter to a friend who moves often</a:t>
            </a:r>
          </a:p>
          <a:p>
            <a:pPr lvl="1"/>
            <a:r>
              <a:rPr lang="en-US" sz="2800" smtClean="0"/>
              <a:t>How do you know where to reach him?</a:t>
            </a:r>
          </a:p>
          <a:p>
            <a:r>
              <a:rPr lang="en-US" sz="3200" smtClean="0"/>
              <a:t>Option #1: have him update you</a:t>
            </a:r>
          </a:p>
          <a:p>
            <a:pPr lvl="1"/>
            <a:r>
              <a:rPr lang="en-US" sz="2800" smtClean="0"/>
              <a:t>Friend contacts you on each move</a:t>
            </a:r>
          </a:p>
          <a:p>
            <a:pPr lvl="1"/>
            <a:r>
              <a:rPr lang="en-US" sz="2800" smtClean="0"/>
              <a:t>So you can mail him directly</a:t>
            </a:r>
          </a:p>
          <a:p>
            <a:r>
              <a:rPr lang="en-US" sz="3200" smtClean="0"/>
              <a:t>Option #2: ask his parents when needed</a:t>
            </a:r>
          </a:p>
          <a:p>
            <a:pPr lvl="1"/>
            <a:r>
              <a:rPr lang="en-US" sz="2800" smtClean="0"/>
              <a:t>Parents serve as “permanent address”</a:t>
            </a:r>
          </a:p>
          <a:p>
            <a:pPr lvl="1"/>
            <a:r>
              <a:rPr lang="en-US" sz="2800" smtClean="0"/>
              <a:t>They can forward your letter to him</a:t>
            </a:r>
          </a:p>
          <a:p>
            <a:pPr lvl="1"/>
            <a:r>
              <a:rPr lang="en-US" sz="2800" smtClean="0"/>
              <a:t>Or, they can update you</a:t>
            </a:r>
          </a:p>
        </p:txBody>
      </p:sp>
      <p:pic>
        <p:nvPicPr>
          <p:cNvPr id="49157" name="Picture 5" descr="air-travel-727379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69138" y="5049838"/>
            <a:ext cx="2074862" cy="1820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8A289B-44A9-4709-AF44-2E55696F4505}" type="slidenum">
              <a:rPr lang="en-US" smtClean="0"/>
              <a:pPr>
                <a:defRPr/>
              </a:pPr>
              <a:t>39</a:t>
            </a:fld>
            <a:endParaRPr lang="en-US" smtClean="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Letting Routing Protocol Handle It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458200" cy="5359400"/>
          </a:xfrm>
        </p:spPr>
        <p:txBody>
          <a:bodyPr/>
          <a:lstStyle/>
          <a:p>
            <a:r>
              <a:rPr lang="en-US" smtClean="0"/>
              <a:t>Mobile node has a single, persistent address</a:t>
            </a:r>
          </a:p>
          <a:p>
            <a:r>
              <a:rPr lang="en-US" smtClean="0"/>
              <a:t>Address injected into routing protocol (e.g., OSPF)</a:t>
            </a:r>
          </a:p>
        </p:txBody>
      </p:sp>
      <p:sp>
        <p:nvSpPr>
          <p:cNvPr id="1950724" name="Cloud"/>
          <p:cNvSpPr>
            <a:spLocks noChangeAspect="1" noEditPoints="1" noChangeArrowheads="1"/>
          </p:cNvSpPr>
          <p:nvPr/>
        </p:nvSpPr>
        <p:spPr bwMode="auto">
          <a:xfrm>
            <a:off x="2266950" y="3135313"/>
            <a:ext cx="4176713" cy="2798762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grpSp>
        <p:nvGrpSpPr>
          <p:cNvPr id="50182" name="Group 5"/>
          <p:cNvGrpSpPr>
            <a:grpSpLocks/>
          </p:cNvGrpSpPr>
          <p:nvPr/>
        </p:nvGrpSpPr>
        <p:grpSpPr bwMode="auto">
          <a:xfrm>
            <a:off x="2574925" y="5302250"/>
            <a:ext cx="473075" cy="365125"/>
            <a:chOff x="3120" y="2880"/>
            <a:chExt cx="144" cy="96"/>
          </a:xfrm>
        </p:grpSpPr>
        <p:sp>
          <p:nvSpPr>
            <p:cNvPr id="50218" name="Oval 6"/>
            <p:cNvSpPr>
              <a:spLocks noChangeArrowheads="1"/>
            </p:cNvSpPr>
            <p:nvPr/>
          </p:nvSpPr>
          <p:spPr bwMode="auto">
            <a:xfrm>
              <a:off x="3120" y="292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19" name="Rectangle 7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20" name="Rectangle 8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21" name="Oval 9"/>
            <p:cNvSpPr>
              <a:spLocks noChangeArrowheads="1"/>
            </p:cNvSpPr>
            <p:nvPr/>
          </p:nvSpPr>
          <p:spPr bwMode="auto">
            <a:xfrm>
              <a:off x="3120" y="288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222" name="Group 10"/>
            <p:cNvGrpSpPr>
              <a:grpSpLocks/>
            </p:cNvGrpSpPr>
            <p:nvPr/>
          </p:nvGrpSpPr>
          <p:grpSpPr bwMode="auto">
            <a:xfrm>
              <a:off x="3141" y="2886"/>
              <a:ext cx="100" cy="43"/>
              <a:chOff x="6839" y="9479"/>
              <a:chExt cx="253" cy="119"/>
            </a:xfrm>
          </p:grpSpPr>
          <p:grpSp>
            <p:nvGrpSpPr>
              <p:cNvPr id="50225" name="Group 11"/>
              <p:cNvGrpSpPr>
                <a:grpSpLocks/>
              </p:cNvGrpSpPr>
              <p:nvPr/>
            </p:nvGrpSpPr>
            <p:grpSpPr bwMode="auto">
              <a:xfrm>
                <a:off x="6839" y="9479"/>
                <a:ext cx="251" cy="116"/>
                <a:chOff x="6839" y="9479"/>
                <a:chExt cx="251" cy="116"/>
              </a:xfrm>
            </p:grpSpPr>
            <p:sp>
              <p:nvSpPr>
                <p:cNvPr id="50235" name="Freeform 12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6" name="Freeform 13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7" name="Freeform 14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8" name="Freeform 15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9" name="Freeform 16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40" name="Freeform 17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41" name="Freeform 18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42" name="Freeform 19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0226" name="Group 20"/>
              <p:cNvGrpSpPr>
                <a:grpSpLocks/>
              </p:cNvGrpSpPr>
              <p:nvPr/>
            </p:nvGrpSpPr>
            <p:grpSpPr bwMode="auto">
              <a:xfrm>
                <a:off x="6842" y="9482"/>
                <a:ext cx="250" cy="116"/>
                <a:chOff x="6842" y="9482"/>
                <a:chExt cx="250" cy="116"/>
              </a:xfrm>
            </p:grpSpPr>
            <p:sp>
              <p:nvSpPr>
                <p:cNvPr id="50227" name="Freeform 21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28" name="Freeform 22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29" name="Freeform 23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0" name="Freeform 24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1" name="Freeform 25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2" name="Freeform 26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3" name="Freeform 27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34" name="Freeform 28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0223" name="Line 29"/>
            <p:cNvSpPr>
              <a:spLocks noChangeShapeType="1"/>
            </p:cNvSpPr>
            <p:nvPr/>
          </p:nvSpPr>
          <p:spPr bwMode="auto">
            <a:xfrm>
              <a:off x="3120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224" name="Line 30"/>
            <p:cNvSpPr>
              <a:spLocks noChangeShapeType="1"/>
            </p:cNvSpPr>
            <p:nvPr/>
          </p:nvSpPr>
          <p:spPr bwMode="auto">
            <a:xfrm>
              <a:off x="3264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183" name="Group 31"/>
          <p:cNvGrpSpPr>
            <a:grpSpLocks/>
          </p:cNvGrpSpPr>
          <p:nvPr/>
        </p:nvGrpSpPr>
        <p:grpSpPr bwMode="auto">
          <a:xfrm>
            <a:off x="5416550" y="5340350"/>
            <a:ext cx="473075" cy="365125"/>
            <a:chOff x="3120" y="2880"/>
            <a:chExt cx="144" cy="96"/>
          </a:xfrm>
        </p:grpSpPr>
        <p:sp>
          <p:nvSpPr>
            <p:cNvPr id="50193" name="Oval 32"/>
            <p:cNvSpPr>
              <a:spLocks noChangeArrowheads="1"/>
            </p:cNvSpPr>
            <p:nvPr/>
          </p:nvSpPr>
          <p:spPr bwMode="auto">
            <a:xfrm>
              <a:off x="3120" y="292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94" name="Rectangle 33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0078AA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95" name="Rectangle 34"/>
            <p:cNvSpPr>
              <a:spLocks noChangeArrowheads="1"/>
            </p:cNvSpPr>
            <p:nvPr/>
          </p:nvSpPr>
          <p:spPr bwMode="auto">
            <a:xfrm>
              <a:off x="3120" y="2909"/>
              <a:ext cx="144" cy="39"/>
            </a:xfrm>
            <a:prstGeom prst="rect">
              <a:avLst/>
            </a:prstGeom>
            <a:solidFill>
              <a:srgbClr val="FF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96" name="Oval 35"/>
            <p:cNvSpPr>
              <a:spLocks noChangeArrowheads="1"/>
            </p:cNvSpPr>
            <p:nvPr/>
          </p:nvSpPr>
          <p:spPr bwMode="auto">
            <a:xfrm>
              <a:off x="3120" y="2880"/>
              <a:ext cx="144" cy="56"/>
            </a:xfrm>
            <a:prstGeom prst="ellipse">
              <a:avLst/>
            </a:prstGeom>
            <a:solidFill>
              <a:srgbClr val="FF0000"/>
            </a:solidFill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197" name="Group 36"/>
            <p:cNvGrpSpPr>
              <a:grpSpLocks/>
            </p:cNvGrpSpPr>
            <p:nvPr/>
          </p:nvGrpSpPr>
          <p:grpSpPr bwMode="auto">
            <a:xfrm>
              <a:off x="3141" y="2886"/>
              <a:ext cx="100" cy="43"/>
              <a:chOff x="6839" y="9479"/>
              <a:chExt cx="253" cy="119"/>
            </a:xfrm>
          </p:grpSpPr>
          <p:grpSp>
            <p:nvGrpSpPr>
              <p:cNvPr id="50200" name="Group 37"/>
              <p:cNvGrpSpPr>
                <a:grpSpLocks/>
              </p:cNvGrpSpPr>
              <p:nvPr/>
            </p:nvGrpSpPr>
            <p:grpSpPr bwMode="auto">
              <a:xfrm>
                <a:off x="6839" y="9479"/>
                <a:ext cx="251" cy="116"/>
                <a:chOff x="6839" y="9479"/>
                <a:chExt cx="251" cy="116"/>
              </a:xfrm>
            </p:grpSpPr>
            <p:sp>
              <p:nvSpPr>
                <p:cNvPr id="50210" name="Freeform 38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1" name="Freeform 39"/>
                <p:cNvSpPr>
                  <a:spLocks/>
                </p:cNvSpPr>
                <p:nvPr/>
              </p:nvSpPr>
              <p:spPr bwMode="auto">
                <a:xfrm>
                  <a:off x="6970" y="9482"/>
                  <a:ext cx="120" cy="49"/>
                </a:xfrm>
                <a:custGeom>
                  <a:avLst/>
                  <a:gdLst>
                    <a:gd name="T0" fmla="*/ 0 w 479"/>
                    <a:gd name="T1" fmla="*/ 38 h 148"/>
                    <a:gd name="T2" fmla="*/ 27 w 479"/>
                    <a:gd name="T3" fmla="*/ 49 h 148"/>
                    <a:gd name="T4" fmla="*/ 91 w 479"/>
                    <a:gd name="T5" fmla="*/ 17 h 148"/>
                    <a:gd name="T6" fmla="*/ 120 w 479"/>
                    <a:gd name="T7" fmla="*/ 27 h 148"/>
                    <a:gd name="T8" fmla="*/ 104 w 479"/>
                    <a:gd name="T9" fmla="*/ 0 h 148"/>
                    <a:gd name="T10" fmla="*/ 29 w 479"/>
                    <a:gd name="T11" fmla="*/ 0 h 148"/>
                    <a:gd name="T12" fmla="*/ 60 w 479"/>
                    <a:gd name="T13" fmla="*/ 8 h 148"/>
                    <a:gd name="T14" fmla="*/ 0 w 479"/>
                    <a:gd name="T15" fmla="*/ 38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115"/>
                      </a:moveTo>
                      <a:lnTo>
                        <a:pt x="106" y="148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2" name="Freeform 40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3" name="Freeform 41"/>
                <p:cNvSpPr>
                  <a:spLocks/>
                </p:cNvSpPr>
                <p:nvPr/>
              </p:nvSpPr>
              <p:spPr bwMode="auto">
                <a:xfrm>
                  <a:off x="6839" y="9540"/>
                  <a:ext cx="120" cy="52"/>
                </a:xfrm>
                <a:custGeom>
                  <a:avLst/>
                  <a:gdLst>
                    <a:gd name="T0" fmla="*/ 120 w 480"/>
                    <a:gd name="T1" fmla="*/ 11 h 158"/>
                    <a:gd name="T2" fmla="*/ 93 w 480"/>
                    <a:gd name="T3" fmla="*/ 0 h 158"/>
                    <a:gd name="T4" fmla="*/ 31 w 480"/>
                    <a:gd name="T5" fmla="*/ 33 h 158"/>
                    <a:gd name="T6" fmla="*/ 0 w 480"/>
                    <a:gd name="T7" fmla="*/ 22 h 158"/>
                    <a:gd name="T8" fmla="*/ 15 w 480"/>
                    <a:gd name="T9" fmla="*/ 52 h 158"/>
                    <a:gd name="T10" fmla="*/ 93 w 480"/>
                    <a:gd name="T11" fmla="*/ 52 h 158"/>
                    <a:gd name="T12" fmla="*/ 60 w 480"/>
                    <a:gd name="T13" fmla="*/ 41 h 158"/>
                    <a:gd name="T14" fmla="*/ 120 w 480"/>
                    <a:gd name="T15" fmla="*/ 11 h 15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8"/>
                    <a:gd name="T26" fmla="*/ 480 w 480"/>
                    <a:gd name="T27" fmla="*/ 158 h 15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8">
                      <a:moveTo>
                        <a:pt x="480" y="34"/>
                      </a:moveTo>
                      <a:lnTo>
                        <a:pt x="373" y="0"/>
                      </a:lnTo>
                      <a:lnTo>
                        <a:pt x="125" y="100"/>
                      </a:lnTo>
                      <a:lnTo>
                        <a:pt x="0" y="67"/>
                      </a:lnTo>
                      <a:lnTo>
                        <a:pt x="62" y="158"/>
                      </a:lnTo>
                      <a:lnTo>
                        <a:pt x="373" y="158"/>
                      </a:lnTo>
                      <a:lnTo>
                        <a:pt x="240" y="125"/>
                      </a:lnTo>
                      <a:lnTo>
                        <a:pt x="48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4" name="Freeform 42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5" name="Freeform 43"/>
                <p:cNvSpPr>
                  <a:spLocks/>
                </p:cNvSpPr>
                <p:nvPr/>
              </p:nvSpPr>
              <p:spPr bwMode="auto">
                <a:xfrm>
                  <a:off x="6846" y="9479"/>
                  <a:ext cx="120" cy="50"/>
                </a:xfrm>
                <a:custGeom>
                  <a:avLst/>
                  <a:gdLst>
                    <a:gd name="T0" fmla="*/ 0 w 479"/>
                    <a:gd name="T1" fmla="*/ 11 h 149"/>
                    <a:gd name="T2" fmla="*/ 27 w 479"/>
                    <a:gd name="T3" fmla="*/ 0 h 149"/>
                    <a:gd name="T4" fmla="*/ 91 w 479"/>
                    <a:gd name="T5" fmla="*/ 31 h 149"/>
                    <a:gd name="T6" fmla="*/ 120 w 479"/>
                    <a:gd name="T7" fmla="*/ 22 h 149"/>
                    <a:gd name="T8" fmla="*/ 105 w 479"/>
                    <a:gd name="T9" fmla="*/ 50 h 149"/>
                    <a:gd name="T10" fmla="*/ 29 w 479"/>
                    <a:gd name="T11" fmla="*/ 50 h 149"/>
                    <a:gd name="T12" fmla="*/ 60 w 479"/>
                    <a:gd name="T13" fmla="*/ 42 h 149"/>
                    <a:gd name="T14" fmla="*/ 0 w 479"/>
                    <a:gd name="T15" fmla="*/ 11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34"/>
                      </a:moveTo>
                      <a:lnTo>
                        <a:pt x="107" y="0"/>
                      </a:lnTo>
                      <a:lnTo>
                        <a:pt x="364" y="91"/>
                      </a:lnTo>
                      <a:lnTo>
                        <a:pt x="479" y="67"/>
                      </a:lnTo>
                      <a:lnTo>
                        <a:pt x="418" y="149"/>
                      </a:lnTo>
                      <a:lnTo>
                        <a:pt x="115" y="149"/>
                      </a:lnTo>
                      <a:lnTo>
                        <a:pt x="240" y="124"/>
                      </a:lnTo>
                      <a:lnTo>
                        <a:pt x="0" y="3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6" name="Freeform 44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17" name="Freeform 45"/>
                <p:cNvSpPr>
                  <a:spLocks/>
                </p:cNvSpPr>
                <p:nvPr/>
              </p:nvSpPr>
              <p:spPr bwMode="auto">
                <a:xfrm>
                  <a:off x="6966" y="9545"/>
                  <a:ext cx="119" cy="50"/>
                </a:xfrm>
                <a:custGeom>
                  <a:avLst/>
                  <a:gdLst>
                    <a:gd name="T0" fmla="*/ 119 w 478"/>
                    <a:gd name="T1" fmla="*/ 39 h 148"/>
                    <a:gd name="T2" fmla="*/ 93 w 478"/>
                    <a:gd name="T3" fmla="*/ 50 h 148"/>
                    <a:gd name="T4" fmla="*/ 31 w 478"/>
                    <a:gd name="T5" fmla="*/ 17 h 148"/>
                    <a:gd name="T6" fmla="*/ 0 w 478"/>
                    <a:gd name="T7" fmla="*/ 28 h 148"/>
                    <a:gd name="T8" fmla="*/ 15 w 478"/>
                    <a:gd name="T9" fmla="*/ 0 h 148"/>
                    <a:gd name="T10" fmla="*/ 93 w 478"/>
                    <a:gd name="T11" fmla="*/ 0 h 148"/>
                    <a:gd name="T12" fmla="*/ 59 w 478"/>
                    <a:gd name="T13" fmla="*/ 8 h 148"/>
                    <a:gd name="T14" fmla="*/ 119 w 478"/>
                    <a:gd name="T15" fmla="*/ 39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8"/>
                    <a:gd name="T26" fmla="*/ 478 w 478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8">
                      <a:moveTo>
                        <a:pt x="478" y="116"/>
                      </a:moveTo>
                      <a:lnTo>
                        <a:pt x="372" y="148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0201" name="Group 46"/>
              <p:cNvGrpSpPr>
                <a:grpSpLocks/>
              </p:cNvGrpSpPr>
              <p:nvPr/>
            </p:nvGrpSpPr>
            <p:grpSpPr bwMode="auto">
              <a:xfrm>
                <a:off x="6842" y="9482"/>
                <a:ext cx="250" cy="116"/>
                <a:chOff x="6842" y="9482"/>
                <a:chExt cx="250" cy="116"/>
              </a:xfrm>
            </p:grpSpPr>
            <p:sp>
              <p:nvSpPr>
                <p:cNvPr id="50202" name="Freeform 47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3" name="Freeform 48"/>
                <p:cNvSpPr>
                  <a:spLocks/>
                </p:cNvSpPr>
                <p:nvPr/>
              </p:nvSpPr>
              <p:spPr bwMode="auto">
                <a:xfrm>
                  <a:off x="6972" y="9485"/>
                  <a:ext cx="120" cy="49"/>
                </a:xfrm>
                <a:custGeom>
                  <a:avLst/>
                  <a:gdLst>
                    <a:gd name="T0" fmla="*/ 0 w 479"/>
                    <a:gd name="T1" fmla="*/ 38 h 149"/>
                    <a:gd name="T2" fmla="*/ 27 w 479"/>
                    <a:gd name="T3" fmla="*/ 49 h 149"/>
                    <a:gd name="T4" fmla="*/ 91 w 479"/>
                    <a:gd name="T5" fmla="*/ 16 h 149"/>
                    <a:gd name="T6" fmla="*/ 120 w 479"/>
                    <a:gd name="T7" fmla="*/ 27 h 149"/>
                    <a:gd name="T8" fmla="*/ 104 w 479"/>
                    <a:gd name="T9" fmla="*/ 0 h 149"/>
                    <a:gd name="T10" fmla="*/ 29 w 479"/>
                    <a:gd name="T11" fmla="*/ 0 h 149"/>
                    <a:gd name="T12" fmla="*/ 60 w 479"/>
                    <a:gd name="T13" fmla="*/ 8 h 149"/>
                    <a:gd name="T14" fmla="*/ 0 w 479"/>
                    <a:gd name="T15" fmla="*/ 38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9"/>
                    <a:gd name="T26" fmla="*/ 479 w 479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9">
                      <a:moveTo>
                        <a:pt x="0" y="115"/>
                      </a:moveTo>
                      <a:lnTo>
                        <a:pt x="106" y="149"/>
                      </a:lnTo>
                      <a:lnTo>
                        <a:pt x="364" y="50"/>
                      </a:lnTo>
                      <a:lnTo>
                        <a:pt x="479" y="82"/>
                      </a:lnTo>
                      <a:lnTo>
                        <a:pt x="417" y="0"/>
                      </a:lnTo>
                      <a:lnTo>
                        <a:pt x="115" y="0"/>
                      </a:lnTo>
                      <a:lnTo>
                        <a:pt x="239" y="25"/>
                      </a:lnTo>
                      <a:lnTo>
                        <a:pt x="0" y="11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4" name="Freeform 49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5" name="Freeform 50"/>
                <p:cNvSpPr>
                  <a:spLocks/>
                </p:cNvSpPr>
                <p:nvPr/>
              </p:nvSpPr>
              <p:spPr bwMode="auto">
                <a:xfrm>
                  <a:off x="6842" y="9543"/>
                  <a:ext cx="120" cy="52"/>
                </a:xfrm>
                <a:custGeom>
                  <a:avLst/>
                  <a:gdLst>
                    <a:gd name="T0" fmla="*/ 120 w 480"/>
                    <a:gd name="T1" fmla="*/ 11 h 156"/>
                    <a:gd name="T2" fmla="*/ 93 w 480"/>
                    <a:gd name="T3" fmla="*/ 0 h 156"/>
                    <a:gd name="T4" fmla="*/ 31 w 480"/>
                    <a:gd name="T5" fmla="*/ 33 h 156"/>
                    <a:gd name="T6" fmla="*/ 0 w 480"/>
                    <a:gd name="T7" fmla="*/ 22 h 156"/>
                    <a:gd name="T8" fmla="*/ 15 w 480"/>
                    <a:gd name="T9" fmla="*/ 52 h 156"/>
                    <a:gd name="T10" fmla="*/ 93 w 480"/>
                    <a:gd name="T11" fmla="*/ 52 h 156"/>
                    <a:gd name="T12" fmla="*/ 60 w 480"/>
                    <a:gd name="T13" fmla="*/ 41 h 156"/>
                    <a:gd name="T14" fmla="*/ 120 w 480"/>
                    <a:gd name="T15" fmla="*/ 11 h 15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80"/>
                    <a:gd name="T25" fmla="*/ 0 h 156"/>
                    <a:gd name="T26" fmla="*/ 480 w 480"/>
                    <a:gd name="T27" fmla="*/ 156 h 15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80" h="156">
                      <a:moveTo>
                        <a:pt x="480" y="33"/>
                      </a:moveTo>
                      <a:lnTo>
                        <a:pt x="373" y="0"/>
                      </a:lnTo>
                      <a:lnTo>
                        <a:pt x="125" y="99"/>
                      </a:lnTo>
                      <a:lnTo>
                        <a:pt x="0" y="66"/>
                      </a:lnTo>
                      <a:lnTo>
                        <a:pt x="62" y="156"/>
                      </a:lnTo>
                      <a:lnTo>
                        <a:pt x="373" y="156"/>
                      </a:lnTo>
                      <a:lnTo>
                        <a:pt x="240" y="124"/>
                      </a:lnTo>
                      <a:lnTo>
                        <a:pt x="48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6" name="Freeform 51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7" name="Freeform 52"/>
                <p:cNvSpPr>
                  <a:spLocks/>
                </p:cNvSpPr>
                <p:nvPr/>
              </p:nvSpPr>
              <p:spPr bwMode="auto">
                <a:xfrm>
                  <a:off x="6848" y="9482"/>
                  <a:ext cx="120" cy="49"/>
                </a:xfrm>
                <a:custGeom>
                  <a:avLst/>
                  <a:gdLst>
                    <a:gd name="T0" fmla="*/ 0 w 479"/>
                    <a:gd name="T1" fmla="*/ 11 h 148"/>
                    <a:gd name="T2" fmla="*/ 27 w 479"/>
                    <a:gd name="T3" fmla="*/ 0 h 148"/>
                    <a:gd name="T4" fmla="*/ 91 w 479"/>
                    <a:gd name="T5" fmla="*/ 30 h 148"/>
                    <a:gd name="T6" fmla="*/ 120 w 479"/>
                    <a:gd name="T7" fmla="*/ 22 h 148"/>
                    <a:gd name="T8" fmla="*/ 104 w 479"/>
                    <a:gd name="T9" fmla="*/ 49 h 148"/>
                    <a:gd name="T10" fmla="*/ 29 w 479"/>
                    <a:gd name="T11" fmla="*/ 49 h 148"/>
                    <a:gd name="T12" fmla="*/ 60 w 479"/>
                    <a:gd name="T13" fmla="*/ 41 h 148"/>
                    <a:gd name="T14" fmla="*/ 0 w 479"/>
                    <a:gd name="T15" fmla="*/ 11 h 1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9"/>
                    <a:gd name="T25" fmla="*/ 0 h 148"/>
                    <a:gd name="T26" fmla="*/ 479 w 479"/>
                    <a:gd name="T27" fmla="*/ 148 h 14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9" h="148">
                      <a:moveTo>
                        <a:pt x="0" y="33"/>
                      </a:moveTo>
                      <a:lnTo>
                        <a:pt x="106" y="0"/>
                      </a:lnTo>
                      <a:lnTo>
                        <a:pt x="364" y="90"/>
                      </a:lnTo>
                      <a:lnTo>
                        <a:pt x="479" y="66"/>
                      </a:lnTo>
                      <a:lnTo>
                        <a:pt x="417" y="148"/>
                      </a:lnTo>
                      <a:lnTo>
                        <a:pt x="115" y="148"/>
                      </a:lnTo>
                      <a:lnTo>
                        <a:pt x="240" y="123"/>
                      </a:lnTo>
                      <a:lnTo>
                        <a:pt x="0" y="3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8" name="Freeform 53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209" name="Freeform 54"/>
                <p:cNvSpPr>
                  <a:spLocks/>
                </p:cNvSpPr>
                <p:nvPr/>
              </p:nvSpPr>
              <p:spPr bwMode="auto">
                <a:xfrm>
                  <a:off x="6968" y="9548"/>
                  <a:ext cx="120" cy="50"/>
                </a:xfrm>
                <a:custGeom>
                  <a:avLst/>
                  <a:gdLst>
                    <a:gd name="T0" fmla="*/ 120 w 478"/>
                    <a:gd name="T1" fmla="*/ 39 h 149"/>
                    <a:gd name="T2" fmla="*/ 93 w 478"/>
                    <a:gd name="T3" fmla="*/ 50 h 149"/>
                    <a:gd name="T4" fmla="*/ 31 w 478"/>
                    <a:gd name="T5" fmla="*/ 17 h 149"/>
                    <a:gd name="T6" fmla="*/ 0 w 478"/>
                    <a:gd name="T7" fmla="*/ 28 h 149"/>
                    <a:gd name="T8" fmla="*/ 15 w 478"/>
                    <a:gd name="T9" fmla="*/ 0 h 149"/>
                    <a:gd name="T10" fmla="*/ 93 w 478"/>
                    <a:gd name="T11" fmla="*/ 0 h 149"/>
                    <a:gd name="T12" fmla="*/ 60 w 478"/>
                    <a:gd name="T13" fmla="*/ 8 h 149"/>
                    <a:gd name="T14" fmla="*/ 120 w 478"/>
                    <a:gd name="T15" fmla="*/ 39 h 14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78"/>
                    <a:gd name="T25" fmla="*/ 0 h 149"/>
                    <a:gd name="T26" fmla="*/ 478 w 478"/>
                    <a:gd name="T27" fmla="*/ 149 h 149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78" h="149">
                      <a:moveTo>
                        <a:pt x="478" y="117"/>
                      </a:moveTo>
                      <a:lnTo>
                        <a:pt x="372" y="149"/>
                      </a:lnTo>
                      <a:lnTo>
                        <a:pt x="123" y="50"/>
                      </a:lnTo>
                      <a:lnTo>
                        <a:pt x="0" y="83"/>
                      </a:lnTo>
                      <a:lnTo>
                        <a:pt x="61" y="0"/>
                      </a:lnTo>
                      <a:lnTo>
                        <a:pt x="372" y="0"/>
                      </a:lnTo>
                      <a:lnTo>
                        <a:pt x="238" y="25"/>
                      </a:lnTo>
                      <a:lnTo>
                        <a:pt x="478" y="1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50198" name="Line 55"/>
            <p:cNvSpPr>
              <a:spLocks noChangeShapeType="1"/>
            </p:cNvSpPr>
            <p:nvPr/>
          </p:nvSpPr>
          <p:spPr bwMode="auto">
            <a:xfrm>
              <a:off x="3120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199" name="Line 56"/>
            <p:cNvSpPr>
              <a:spLocks noChangeShapeType="1"/>
            </p:cNvSpPr>
            <p:nvPr/>
          </p:nvSpPr>
          <p:spPr bwMode="auto">
            <a:xfrm>
              <a:off x="3264" y="2908"/>
              <a:ext cx="0" cy="39"/>
            </a:xfrm>
            <a:prstGeom prst="line">
              <a:avLst/>
            </a:prstGeom>
            <a:noFill/>
            <a:ln w="1270">
              <a:solidFill>
                <a:srgbClr val="AAE6FF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0184" name="Text Box 57"/>
          <p:cNvSpPr txBox="1">
            <a:spLocks noChangeArrowheads="1"/>
          </p:cNvSpPr>
          <p:nvPr/>
        </p:nvSpPr>
        <p:spPr bwMode="auto">
          <a:xfrm>
            <a:off x="5954713" y="5337175"/>
            <a:ext cx="36830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B</a:t>
            </a:r>
          </a:p>
        </p:txBody>
      </p:sp>
      <p:sp>
        <p:nvSpPr>
          <p:cNvPr id="1950778" name="Freeform 58"/>
          <p:cNvSpPr>
            <a:spLocks/>
          </p:cNvSpPr>
          <p:nvPr/>
        </p:nvSpPr>
        <p:spPr bwMode="auto">
          <a:xfrm>
            <a:off x="2882900" y="3781425"/>
            <a:ext cx="3417888" cy="1517650"/>
          </a:xfrm>
          <a:custGeom>
            <a:avLst/>
            <a:gdLst>
              <a:gd name="T0" fmla="*/ 3417888 w 2153"/>
              <a:gd name="T1" fmla="*/ 19050 h 956"/>
              <a:gd name="T2" fmla="*/ 844550 w 2153"/>
              <a:gd name="T3" fmla="*/ 249238 h 956"/>
              <a:gd name="T4" fmla="*/ 0 w 2153"/>
              <a:gd name="T5" fmla="*/ 1517650 h 956"/>
              <a:gd name="T6" fmla="*/ 0 60000 65536"/>
              <a:gd name="T7" fmla="*/ 0 60000 65536"/>
              <a:gd name="T8" fmla="*/ 0 60000 65536"/>
              <a:gd name="T9" fmla="*/ 0 w 2153"/>
              <a:gd name="T10" fmla="*/ 0 h 956"/>
              <a:gd name="T11" fmla="*/ 2153 w 2153"/>
              <a:gd name="T12" fmla="*/ 956 h 9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53" h="956">
                <a:moveTo>
                  <a:pt x="2153" y="12"/>
                </a:moveTo>
                <a:cubicBezTo>
                  <a:pt x="1522" y="6"/>
                  <a:pt x="891" y="0"/>
                  <a:pt x="532" y="157"/>
                </a:cubicBezTo>
                <a:cubicBezTo>
                  <a:pt x="173" y="314"/>
                  <a:pt x="86" y="635"/>
                  <a:pt x="0" y="956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6" name="Text Box 59"/>
          <p:cNvSpPr txBox="1">
            <a:spLocks noChangeArrowheads="1"/>
          </p:cNvSpPr>
          <p:nvPr/>
        </p:nvSpPr>
        <p:spPr bwMode="auto">
          <a:xfrm>
            <a:off x="1631950" y="5719763"/>
            <a:ext cx="17351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12.34.45.0/24</a:t>
            </a:r>
          </a:p>
        </p:txBody>
      </p:sp>
      <p:sp>
        <p:nvSpPr>
          <p:cNvPr id="1950780" name="Freeform 60"/>
          <p:cNvSpPr>
            <a:spLocks/>
          </p:cNvSpPr>
          <p:nvPr/>
        </p:nvSpPr>
        <p:spPr bwMode="auto">
          <a:xfrm>
            <a:off x="5372100" y="3798888"/>
            <a:ext cx="966788" cy="1536700"/>
          </a:xfrm>
          <a:custGeom>
            <a:avLst/>
            <a:gdLst>
              <a:gd name="T0" fmla="*/ 966788 w 609"/>
              <a:gd name="T1" fmla="*/ 0 h 968"/>
              <a:gd name="T2" fmla="*/ 122238 w 609"/>
              <a:gd name="T3" fmla="*/ 576263 h 968"/>
              <a:gd name="T4" fmla="*/ 236538 w 609"/>
              <a:gd name="T5" fmla="*/ 1536700 h 968"/>
              <a:gd name="T6" fmla="*/ 0 60000 65536"/>
              <a:gd name="T7" fmla="*/ 0 60000 65536"/>
              <a:gd name="T8" fmla="*/ 0 60000 65536"/>
              <a:gd name="T9" fmla="*/ 0 w 609"/>
              <a:gd name="T10" fmla="*/ 0 h 968"/>
              <a:gd name="T11" fmla="*/ 609 w 609"/>
              <a:gd name="T12" fmla="*/ 968 h 9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9" h="968">
                <a:moveTo>
                  <a:pt x="609" y="0"/>
                </a:moveTo>
                <a:cubicBezTo>
                  <a:pt x="381" y="101"/>
                  <a:pt x="154" y="202"/>
                  <a:pt x="77" y="363"/>
                </a:cubicBezTo>
                <a:cubicBezTo>
                  <a:pt x="0" y="524"/>
                  <a:pt x="74" y="746"/>
                  <a:pt x="149" y="968"/>
                </a:cubicBezTo>
              </a:path>
            </a:pathLst>
          </a:custGeom>
          <a:noFill/>
          <a:ln w="38100" cap="flat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88" name="Text Box 61"/>
          <p:cNvSpPr txBox="1">
            <a:spLocks noChangeArrowheads="1"/>
          </p:cNvSpPr>
          <p:nvPr/>
        </p:nvSpPr>
        <p:spPr bwMode="auto">
          <a:xfrm>
            <a:off x="2074863" y="5259388"/>
            <a:ext cx="36830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1950782" name="Text Box 62"/>
          <p:cNvSpPr txBox="1">
            <a:spLocks noChangeArrowheads="1"/>
          </p:cNvSpPr>
          <p:nvPr/>
        </p:nvSpPr>
        <p:spPr bwMode="auto">
          <a:xfrm>
            <a:off x="5127625" y="5719763"/>
            <a:ext cx="1735138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12.34.45.7/32</a:t>
            </a:r>
          </a:p>
        </p:txBody>
      </p:sp>
      <p:pic>
        <p:nvPicPr>
          <p:cNvPr id="50190" name="Picture 66" descr="j028575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29450" y="2486025"/>
            <a:ext cx="1824038" cy="112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0191" name="Line 67"/>
          <p:cNvSpPr>
            <a:spLocks noChangeShapeType="1"/>
          </p:cNvSpPr>
          <p:nvPr/>
        </p:nvSpPr>
        <p:spPr bwMode="auto">
          <a:xfrm flipH="1">
            <a:off x="6300788" y="3444875"/>
            <a:ext cx="1306512" cy="422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0192" name="Text Box 71"/>
          <p:cNvSpPr txBox="1">
            <a:spLocks noChangeArrowheads="1"/>
          </p:cNvSpPr>
          <p:nvPr/>
        </p:nvSpPr>
        <p:spPr bwMode="auto">
          <a:xfrm>
            <a:off x="423863" y="6296025"/>
            <a:ext cx="480060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Mobile host with IP address 12.34.45.7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0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0778" grpId="0" animBg="1"/>
      <p:bldP spid="1950780" grpId="0" animBg="1"/>
      <p:bldP spid="195078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C37D294-8CAE-4B1A-A05A-6D976AD4F29F}" type="slidenum">
              <a:rPr lang="en-US" smtClean="0"/>
              <a:pPr>
                <a:defRPr/>
              </a:pPr>
              <a:t>40</a:t>
            </a:fld>
            <a:endParaRPr lang="en-US" smtClean="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Example: Boeing Connexion Service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Boeing Connexion service</a:t>
            </a:r>
          </a:p>
          <a:p>
            <a:pPr lvl="1"/>
            <a:r>
              <a:rPr lang="en-US" smtClean="0"/>
              <a:t>Mobile Internet access provider</a:t>
            </a:r>
          </a:p>
          <a:p>
            <a:pPr lvl="1"/>
            <a:r>
              <a:rPr lang="en-US" smtClean="0"/>
              <a:t>WiFi “hot spot” at 35,000 feet moving 600 mph</a:t>
            </a:r>
          </a:p>
          <a:p>
            <a:pPr lvl="1">
              <a:buFont typeface="Helvetica" pitchFamily="34" charset="0"/>
              <a:buNone/>
            </a:pPr>
            <a:endParaRPr lang="en-US" smtClean="0">
              <a:sym typeface="Wingdings" pitchFamily="2" charset="2"/>
            </a:endParaRPr>
          </a:p>
          <a:p>
            <a:r>
              <a:rPr lang="en-US" smtClean="0">
                <a:sym typeface="Wingdings" pitchFamily="2" charset="2"/>
              </a:rPr>
              <a:t>Communication technology</a:t>
            </a:r>
          </a:p>
          <a:p>
            <a:pPr lvl="1"/>
            <a:r>
              <a:rPr lang="en-US" smtClean="0">
                <a:sym typeface="Wingdings" pitchFamily="2" charset="2"/>
              </a:rPr>
              <a:t>Antenna on the plane to leased satellite transponders</a:t>
            </a:r>
          </a:p>
          <a:p>
            <a:pPr lvl="1"/>
            <a:r>
              <a:rPr lang="en-US" smtClean="0">
                <a:sym typeface="Wingdings" pitchFamily="2" charset="2"/>
              </a:rPr>
              <a:t>Ground stations serve as Internet gateways</a:t>
            </a:r>
          </a:p>
          <a:p>
            <a:r>
              <a:rPr lang="en-US" smtClean="0">
                <a:sym typeface="Wingdings" pitchFamily="2" charset="2"/>
              </a:rPr>
              <a:t>Using BGP for mobility</a:t>
            </a:r>
          </a:p>
          <a:p>
            <a:pPr lvl="1"/>
            <a:r>
              <a:rPr lang="en-US" smtClean="0">
                <a:sym typeface="Wingdings" pitchFamily="2" charset="2"/>
              </a:rPr>
              <a:t>IP address block per airplane</a:t>
            </a:r>
          </a:p>
          <a:p>
            <a:pPr lvl="1"/>
            <a:r>
              <a:rPr lang="en-US" smtClean="0">
                <a:sym typeface="Wingdings" pitchFamily="2" charset="2"/>
              </a:rPr>
              <a:t>Ground station advertises into BGP</a:t>
            </a:r>
          </a:p>
        </p:txBody>
      </p:sp>
      <p:pic>
        <p:nvPicPr>
          <p:cNvPr id="51205" name="Picture 5" descr="j029323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5050" y="1163638"/>
            <a:ext cx="1565275" cy="115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449ADCB-67A9-43C9-9EC0-52EADE8D314A}" type="slidenum">
              <a:rPr lang="en-US" smtClean="0"/>
              <a:pPr>
                <a:defRPr/>
              </a:pPr>
              <a:t>41</a:t>
            </a:fld>
            <a:endParaRPr lang="en-US" smtClean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Example: Boeing Connexion Service</a:t>
            </a:r>
          </a:p>
        </p:txBody>
      </p:sp>
      <p:sp>
        <p:nvSpPr>
          <p:cNvPr id="1954820" name="Cloud"/>
          <p:cNvSpPr>
            <a:spLocks noChangeAspect="1" noEditPoints="1" noChangeArrowheads="1"/>
          </p:cNvSpPr>
          <p:nvPr/>
        </p:nvSpPr>
        <p:spPr bwMode="auto">
          <a:xfrm>
            <a:off x="1039813" y="4354513"/>
            <a:ext cx="7104062" cy="1838325"/>
          </a:xfrm>
          <a:custGeom>
            <a:avLst/>
            <a:gdLst>
              <a:gd name="T0" fmla="*/ 67 w 21600"/>
              <a:gd name="T1" fmla="*/ 10800 h 21600"/>
              <a:gd name="T2" fmla="*/ 10800 w 21600"/>
              <a:gd name="T3" fmla="*/ 21577 h 21600"/>
              <a:gd name="T4" fmla="*/ 21582 w 21600"/>
              <a:gd name="T5" fmla="*/ 10800 h 21600"/>
              <a:gd name="T6" fmla="*/ 10800 w 21600"/>
              <a:gd name="T7" fmla="*/ 1235 h 21600"/>
              <a:gd name="T8" fmla="*/ 2977 w 21600"/>
              <a:gd name="T9" fmla="*/ 3262 h 21600"/>
              <a:gd name="T10" fmla="*/ 17087 w 21600"/>
              <a:gd name="T11" fmla="*/ 17337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2229" name="Text Box 6"/>
          <p:cNvSpPr txBox="1">
            <a:spLocks noChangeArrowheads="1"/>
          </p:cNvSpPr>
          <p:nvPr/>
        </p:nvSpPr>
        <p:spPr bwMode="auto">
          <a:xfrm>
            <a:off x="3727450" y="4970463"/>
            <a:ext cx="1490663" cy="519112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800"/>
              <a:t>Internet</a:t>
            </a:r>
          </a:p>
        </p:txBody>
      </p:sp>
      <p:pic>
        <p:nvPicPr>
          <p:cNvPr id="52230" name="Picture 8" descr="urlpicturelarge_id_1069167511889_NNO_new_l,2">
            <a:hlinkClick r:id="rId3"/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75525" y="4311650"/>
            <a:ext cx="8763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1" name="Picture 10" descr="urlpicturelarge_id_1069167511889_NNO_new_l,2">
            <a:hlinkClick r:id="rId3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30313" y="4235450"/>
            <a:ext cx="876300" cy="81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2" name="Picture 13" descr="New%2520Skies%2520Satellite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190750" y="1700213"/>
            <a:ext cx="1152525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3" name="Picture 14" descr="New%2520Skies%2520Satellite">
            <a:hlinkClick r:id="rId6"/>
          </p:cNvPr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451725" y="1585913"/>
            <a:ext cx="1152525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2234" name="Picture 16" descr="airplane6">
            <a:hlinkClick r:id="rId8"/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610100" y="2122488"/>
            <a:ext cx="2035175" cy="111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35" name="Line 17"/>
          <p:cNvSpPr>
            <a:spLocks noChangeShapeType="1"/>
          </p:cNvSpPr>
          <p:nvPr/>
        </p:nvSpPr>
        <p:spPr bwMode="auto">
          <a:xfrm flipH="1">
            <a:off x="1730375" y="2738438"/>
            <a:ext cx="1112838" cy="1497012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6" name="Line 19"/>
          <p:cNvSpPr>
            <a:spLocks noChangeShapeType="1"/>
          </p:cNvSpPr>
          <p:nvPr/>
        </p:nvSpPr>
        <p:spPr bwMode="auto">
          <a:xfrm flipH="1">
            <a:off x="7913688" y="2622550"/>
            <a:ext cx="76200" cy="1689100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2237" name="Text Box 20"/>
          <p:cNvSpPr txBox="1">
            <a:spLocks noChangeArrowheads="1"/>
          </p:cNvSpPr>
          <p:nvPr/>
        </p:nvSpPr>
        <p:spPr bwMode="auto">
          <a:xfrm>
            <a:off x="4918075" y="3313113"/>
            <a:ext cx="1593850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12.78.3.0/24</a:t>
            </a:r>
          </a:p>
        </p:txBody>
      </p:sp>
      <p:sp>
        <p:nvSpPr>
          <p:cNvPr id="1954837" name="Freeform 21"/>
          <p:cNvSpPr>
            <a:spLocks/>
          </p:cNvSpPr>
          <p:nvPr/>
        </p:nvSpPr>
        <p:spPr bwMode="auto">
          <a:xfrm>
            <a:off x="5454650" y="1552575"/>
            <a:ext cx="1997075" cy="1185863"/>
          </a:xfrm>
          <a:custGeom>
            <a:avLst/>
            <a:gdLst>
              <a:gd name="T0" fmla="*/ 0 w 1258"/>
              <a:gd name="T1" fmla="*/ 1185863 h 747"/>
              <a:gd name="T2" fmla="*/ 654050 w 1258"/>
              <a:gd name="T3" fmla="*/ 109538 h 747"/>
              <a:gd name="T4" fmla="*/ 1997075 w 1258"/>
              <a:gd name="T5" fmla="*/ 531813 h 747"/>
              <a:gd name="T6" fmla="*/ 0 60000 65536"/>
              <a:gd name="T7" fmla="*/ 0 60000 65536"/>
              <a:gd name="T8" fmla="*/ 0 60000 65536"/>
              <a:gd name="T9" fmla="*/ 0 w 1258"/>
              <a:gd name="T10" fmla="*/ 0 h 747"/>
              <a:gd name="T11" fmla="*/ 1258 w 1258"/>
              <a:gd name="T12" fmla="*/ 747 h 7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8" h="747">
                <a:moveTo>
                  <a:pt x="0" y="747"/>
                </a:moveTo>
                <a:cubicBezTo>
                  <a:pt x="101" y="442"/>
                  <a:pt x="202" y="138"/>
                  <a:pt x="412" y="69"/>
                </a:cubicBezTo>
                <a:cubicBezTo>
                  <a:pt x="622" y="0"/>
                  <a:pt x="940" y="167"/>
                  <a:pt x="1258" y="335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dash"/>
            <a:round/>
            <a:headEnd type="none" w="med" len="med"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4838" name="Freeform 22"/>
          <p:cNvSpPr>
            <a:spLocks/>
          </p:cNvSpPr>
          <p:nvPr/>
        </p:nvSpPr>
        <p:spPr bwMode="auto">
          <a:xfrm>
            <a:off x="3343275" y="1489075"/>
            <a:ext cx="2111375" cy="1249363"/>
          </a:xfrm>
          <a:custGeom>
            <a:avLst/>
            <a:gdLst>
              <a:gd name="T0" fmla="*/ 2111375 w 1887"/>
              <a:gd name="T1" fmla="*/ 1249363 h 787"/>
              <a:gd name="T2" fmla="*/ 894006 w 1887"/>
              <a:gd name="T3" fmla="*/ 134938 h 787"/>
              <a:gd name="T4" fmla="*/ 0 w 1887"/>
              <a:gd name="T5" fmla="*/ 441325 h 787"/>
              <a:gd name="T6" fmla="*/ 0 60000 65536"/>
              <a:gd name="T7" fmla="*/ 0 60000 65536"/>
              <a:gd name="T8" fmla="*/ 0 60000 65536"/>
              <a:gd name="T9" fmla="*/ 0 w 1887"/>
              <a:gd name="T10" fmla="*/ 0 h 787"/>
              <a:gd name="T11" fmla="*/ 1887 w 1887"/>
              <a:gd name="T12" fmla="*/ 787 h 7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87" h="787">
                <a:moveTo>
                  <a:pt x="1887" y="787"/>
                </a:moveTo>
                <a:cubicBezTo>
                  <a:pt x="1500" y="478"/>
                  <a:pt x="1113" y="170"/>
                  <a:pt x="799" y="85"/>
                </a:cubicBezTo>
                <a:cubicBezTo>
                  <a:pt x="485" y="0"/>
                  <a:pt x="242" y="139"/>
                  <a:pt x="0" y="27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52240" name="Picture 23" descr="j028575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259638" y="5926138"/>
            <a:ext cx="1171575" cy="719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241" name="Line 24"/>
          <p:cNvSpPr>
            <a:spLocks noChangeShapeType="1"/>
          </p:cNvSpPr>
          <p:nvPr/>
        </p:nvSpPr>
        <p:spPr bwMode="auto">
          <a:xfrm flipH="1" flipV="1">
            <a:off x="6607175" y="5926138"/>
            <a:ext cx="768350" cy="38258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 type="arrow" w="lg" len="lg"/>
            <a:tailEnd type="none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4842" name="Freeform 26"/>
          <p:cNvSpPr>
            <a:spLocks/>
          </p:cNvSpPr>
          <p:nvPr/>
        </p:nvSpPr>
        <p:spPr bwMode="auto">
          <a:xfrm>
            <a:off x="6376988" y="4811713"/>
            <a:ext cx="998537" cy="1036637"/>
          </a:xfrm>
          <a:custGeom>
            <a:avLst/>
            <a:gdLst>
              <a:gd name="T0" fmla="*/ 998537 w 726"/>
              <a:gd name="T1" fmla="*/ 0 h 726"/>
              <a:gd name="T2" fmla="*/ 100404 w 726"/>
              <a:gd name="T3" fmla="*/ 241311 h 726"/>
              <a:gd name="T4" fmla="*/ 400240 w 726"/>
              <a:gd name="T5" fmla="*/ 1036637 h 726"/>
              <a:gd name="T6" fmla="*/ 0 60000 65536"/>
              <a:gd name="T7" fmla="*/ 0 60000 65536"/>
              <a:gd name="T8" fmla="*/ 0 60000 65536"/>
              <a:gd name="T9" fmla="*/ 0 w 726"/>
              <a:gd name="T10" fmla="*/ 0 h 726"/>
              <a:gd name="T11" fmla="*/ 726 w 726"/>
              <a:gd name="T12" fmla="*/ 726 h 72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6" h="726">
                <a:moveTo>
                  <a:pt x="726" y="0"/>
                </a:moveTo>
                <a:cubicBezTo>
                  <a:pt x="436" y="24"/>
                  <a:pt x="146" y="48"/>
                  <a:pt x="73" y="169"/>
                </a:cubicBezTo>
                <a:cubicBezTo>
                  <a:pt x="0" y="290"/>
                  <a:pt x="145" y="508"/>
                  <a:pt x="291" y="726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dash"/>
            <a:round/>
            <a:headEnd type="none" w="med" len="med"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4846" name="Freeform 30"/>
          <p:cNvSpPr>
            <a:spLocks/>
          </p:cNvSpPr>
          <p:nvPr/>
        </p:nvSpPr>
        <p:spPr bwMode="auto">
          <a:xfrm>
            <a:off x="1679575" y="5041900"/>
            <a:ext cx="4965700" cy="884238"/>
          </a:xfrm>
          <a:custGeom>
            <a:avLst/>
            <a:gdLst>
              <a:gd name="T0" fmla="*/ 12700 w 3128"/>
              <a:gd name="T1" fmla="*/ 0 h 557"/>
              <a:gd name="T2" fmla="*/ 665162 w 3128"/>
              <a:gd name="T3" fmla="*/ 538163 h 557"/>
              <a:gd name="T4" fmla="*/ 4006850 w 3128"/>
              <a:gd name="T5" fmla="*/ 346075 h 557"/>
              <a:gd name="T6" fmla="*/ 4965700 w 3128"/>
              <a:gd name="T7" fmla="*/ 884238 h 557"/>
              <a:gd name="T8" fmla="*/ 0 60000 65536"/>
              <a:gd name="T9" fmla="*/ 0 60000 65536"/>
              <a:gd name="T10" fmla="*/ 0 60000 65536"/>
              <a:gd name="T11" fmla="*/ 0 60000 65536"/>
              <a:gd name="T12" fmla="*/ 0 w 3128"/>
              <a:gd name="T13" fmla="*/ 0 h 557"/>
              <a:gd name="T14" fmla="*/ 3128 w 3128"/>
              <a:gd name="T15" fmla="*/ 557 h 55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128" h="557">
                <a:moveTo>
                  <a:pt x="8" y="0"/>
                </a:moveTo>
                <a:cubicBezTo>
                  <a:pt x="4" y="151"/>
                  <a:pt x="0" y="303"/>
                  <a:pt x="419" y="339"/>
                </a:cubicBezTo>
                <a:cubicBezTo>
                  <a:pt x="838" y="375"/>
                  <a:pt x="2073" y="182"/>
                  <a:pt x="2524" y="218"/>
                </a:cubicBezTo>
                <a:cubicBezTo>
                  <a:pt x="2975" y="254"/>
                  <a:pt x="3051" y="405"/>
                  <a:pt x="3128" y="557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olid"/>
            <a:round/>
            <a:headEnd type="none" w="med" len="med"/>
            <a:tailEnd type="arrow" w="lg" len="lg"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4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4837" grpId="0" animBg="1"/>
      <p:bldP spid="1954838" grpId="0" animBg="1"/>
      <p:bldP spid="1954842" grpId="0" animBg="1"/>
      <p:bldP spid="195484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89DA653-80D0-4A83-8AD4-1216C6012717}" type="slidenum">
              <a:rPr lang="en-US" smtClean="0"/>
              <a:pPr>
                <a:defRPr/>
              </a:pPr>
              <a:t>42</a:t>
            </a:fld>
            <a:endParaRPr lang="en-US" smtClean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Summary: Letting Routing Handle It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smtClean="0"/>
              <a:t>Advantages</a:t>
            </a:r>
          </a:p>
          <a:p>
            <a:pPr lvl="1"/>
            <a:r>
              <a:rPr lang="en-US" sz="2800" smtClean="0"/>
              <a:t>No changes to the end host</a:t>
            </a:r>
          </a:p>
          <a:p>
            <a:pPr lvl="1"/>
            <a:r>
              <a:rPr lang="en-US" sz="2800" smtClean="0"/>
              <a:t>Traffic follows an efficient path to new location</a:t>
            </a:r>
          </a:p>
          <a:p>
            <a:r>
              <a:rPr lang="en-US" sz="3200" smtClean="0"/>
              <a:t>Disadvantages</a:t>
            </a:r>
          </a:p>
          <a:p>
            <a:pPr lvl="1"/>
            <a:r>
              <a:rPr lang="en-US" sz="2800" smtClean="0"/>
              <a:t>Does not scale to large number of mobile hosts</a:t>
            </a:r>
          </a:p>
          <a:p>
            <a:pPr lvl="2"/>
            <a:r>
              <a:rPr lang="en-US" sz="2400" smtClean="0"/>
              <a:t>Large number of routing-protocol messages</a:t>
            </a:r>
          </a:p>
          <a:p>
            <a:pPr lvl="2"/>
            <a:r>
              <a:rPr lang="en-US" sz="2400" smtClean="0"/>
              <a:t>Larger routing tables to store smaller address blocks</a:t>
            </a:r>
          </a:p>
          <a:p>
            <a:pPr lvl="2"/>
            <a:endParaRPr lang="en-US" sz="2400" smtClean="0"/>
          </a:p>
          <a:p>
            <a:r>
              <a:rPr lang="en-US" sz="3200" smtClean="0"/>
              <a:t>Alternative</a:t>
            </a:r>
          </a:p>
          <a:p>
            <a:pPr lvl="1"/>
            <a:r>
              <a:rPr lang="en-US" sz="2800" smtClean="0"/>
              <a:t>Mobile IP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C41E8D5-9DE8-43AA-8245-92386CD7308A}" type="slidenum">
              <a:rPr lang="en-US" smtClean="0"/>
              <a:pPr>
                <a:defRPr/>
              </a:pPr>
              <a:t>43</a:t>
            </a:fld>
            <a:endParaRPr lang="en-US" smtClean="0"/>
          </a:p>
        </p:txBody>
      </p:sp>
      <p:sp>
        <p:nvSpPr>
          <p:cNvPr id="15364" name="Freeform 2"/>
          <p:cNvSpPr>
            <a:spLocks/>
          </p:cNvSpPr>
          <p:nvPr/>
        </p:nvSpPr>
        <p:spPr bwMode="auto">
          <a:xfrm>
            <a:off x="1612900" y="2616200"/>
            <a:ext cx="1866900" cy="1589088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8 h 1191"/>
              <a:gd name="T8" fmla="*/ 156039 w 1340"/>
              <a:gd name="T9" fmla="*/ 1160795 h 1191"/>
              <a:gd name="T10" fmla="*/ 749546 w 1340"/>
              <a:gd name="T11" fmla="*/ 1168800 h 1191"/>
              <a:gd name="T12" fmla="*/ 891654 w 1340"/>
              <a:gd name="T13" fmla="*/ 1505030 h 1191"/>
              <a:gd name="T14" fmla="*/ 1719220 w 1340"/>
              <a:gd name="T15" fmla="*/ 1465003 h 1191"/>
              <a:gd name="T16" fmla="*/ 1777735 w 1340"/>
              <a:gd name="T17" fmla="*/ 760521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5365" name="Group 3"/>
          <p:cNvGrpSpPr>
            <a:grpSpLocks/>
          </p:cNvGrpSpPr>
          <p:nvPr/>
        </p:nvGrpSpPr>
        <p:grpSpPr bwMode="auto">
          <a:xfrm>
            <a:off x="2668588" y="3609975"/>
            <a:ext cx="501650" cy="233363"/>
            <a:chOff x="3600" y="219"/>
            <a:chExt cx="360" cy="175"/>
          </a:xfrm>
        </p:grpSpPr>
        <p:sp>
          <p:nvSpPr>
            <p:cNvPr id="15454" name="Oval 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5" name="Line 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6" name="Line 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457" name="Rectangle 7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5458" name="Oval 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5459" name="Group 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5464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5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6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5460" name="Group 1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5461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2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463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5366" name="Group 17"/>
          <p:cNvGrpSpPr>
            <a:grpSpLocks/>
          </p:cNvGrpSpPr>
          <p:nvPr/>
        </p:nvGrpSpPr>
        <p:grpSpPr bwMode="auto">
          <a:xfrm>
            <a:off x="1771650" y="3263900"/>
            <a:ext cx="1333500" cy="342900"/>
            <a:chOff x="8025" y="5070"/>
            <a:chExt cx="2100" cy="540"/>
          </a:xfrm>
        </p:grpSpPr>
        <p:sp>
          <p:nvSpPr>
            <p:cNvPr id="15451" name="Line 18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Line 19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Line 20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367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Home Network and Home Agent</a:t>
            </a:r>
          </a:p>
        </p:txBody>
      </p:sp>
      <p:sp>
        <p:nvSpPr>
          <p:cNvPr id="1956886" name="Text Box 22"/>
          <p:cNvSpPr txBox="1">
            <a:spLocks noChangeArrowheads="1"/>
          </p:cNvSpPr>
          <p:nvPr/>
        </p:nvSpPr>
        <p:spPr bwMode="auto">
          <a:xfrm>
            <a:off x="593725" y="1350963"/>
            <a:ext cx="33496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Home network</a:t>
            </a:r>
            <a:r>
              <a:rPr lang="en-US" b="0" i="1">
                <a:solidFill>
                  <a:srgbClr val="FF0000"/>
                </a:solidFill>
                <a:latin typeface="Comic Sans MS" pitchFamily="66" charset="0"/>
              </a:rPr>
              <a:t>:</a:t>
            </a:r>
            <a:r>
              <a:rPr lang="en-US" b="0">
                <a:latin typeface="Comic Sans MS" pitchFamily="66" charset="0"/>
              </a:rPr>
              <a:t> permanent “home” of mobile</a:t>
            </a:r>
          </a:p>
          <a:p>
            <a:pPr algn="l" eaLnBrk="0" hangingPunct="0"/>
            <a:r>
              <a:rPr lang="en-US" sz="1600" b="0">
                <a:latin typeface="Comic Sans MS" pitchFamily="66" charset="0"/>
              </a:rPr>
              <a:t>(e.g., 128.119.40/24)</a:t>
            </a:r>
          </a:p>
        </p:txBody>
      </p:sp>
      <p:sp>
        <p:nvSpPr>
          <p:cNvPr id="1956887" name="Text Box 23"/>
          <p:cNvSpPr txBox="1">
            <a:spLocks noChangeArrowheads="1"/>
          </p:cNvSpPr>
          <p:nvPr/>
        </p:nvSpPr>
        <p:spPr bwMode="auto">
          <a:xfrm>
            <a:off x="423863" y="4235450"/>
            <a:ext cx="2905125" cy="155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Permanent address:</a:t>
            </a:r>
            <a:r>
              <a:rPr lang="en-US" b="0">
                <a:latin typeface="Comic Sans MS" pitchFamily="66" charset="0"/>
              </a:rPr>
              <a:t> address in home network, </a:t>
            </a:r>
            <a:r>
              <a:rPr lang="en-US" b="0" i="1">
                <a:latin typeface="Comic Sans MS" pitchFamily="66" charset="0"/>
              </a:rPr>
              <a:t>can always</a:t>
            </a:r>
            <a:r>
              <a:rPr lang="en-US" b="0">
                <a:latin typeface="Comic Sans MS" pitchFamily="66" charset="0"/>
              </a:rPr>
              <a:t> be used to reach mobile</a:t>
            </a:r>
          </a:p>
          <a:p>
            <a:pPr algn="l" eaLnBrk="0" hangingPunct="0"/>
            <a:r>
              <a:rPr lang="en-US" sz="1600" b="0">
                <a:latin typeface="Comic Sans MS" pitchFamily="66" charset="0"/>
              </a:rPr>
              <a:t>e.g., 128.119.40.186</a:t>
            </a:r>
          </a:p>
        </p:txBody>
      </p:sp>
      <p:sp>
        <p:nvSpPr>
          <p:cNvPr id="1956888" name="Text Box 24"/>
          <p:cNvSpPr txBox="1">
            <a:spLocks noChangeArrowheads="1"/>
          </p:cNvSpPr>
          <p:nvPr/>
        </p:nvSpPr>
        <p:spPr bwMode="auto">
          <a:xfrm>
            <a:off x="4232275" y="1423988"/>
            <a:ext cx="3914775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Home agent</a:t>
            </a:r>
            <a:r>
              <a:rPr lang="en-US" b="0" i="1">
                <a:solidFill>
                  <a:srgbClr val="FF0000"/>
                </a:solidFill>
                <a:latin typeface="Comic Sans MS" pitchFamily="66" charset="0"/>
              </a:rPr>
              <a:t>: </a:t>
            </a:r>
            <a:r>
              <a:rPr lang="en-US" b="0">
                <a:latin typeface="Comic Sans MS" pitchFamily="66" charset="0"/>
              </a:rPr>
              <a:t>entity that will perform mobility functions on behalf of mobile, when mobile is remote</a:t>
            </a:r>
          </a:p>
        </p:txBody>
      </p:sp>
      <p:grpSp>
        <p:nvGrpSpPr>
          <p:cNvPr id="15371" name="Group 25"/>
          <p:cNvGrpSpPr>
            <a:grpSpLocks/>
          </p:cNvGrpSpPr>
          <p:nvPr/>
        </p:nvGrpSpPr>
        <p:grpSpPr bwMode="auto">
          <a:xfrm>
            <a:off x="1520825" y="2822575"/>
            <a:ext cx="914400" cy="590550"/>
            <a:chOff x="10665" y="3225"/>
            <a:chExt cx="1440" cy="930"/>
          </a:xfrm>
        </p:grpSpPr>
        <p:sp>
          <p:nvSpPr>
            <p:cNvPr id="15381" name="Oval 26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382" name="Group 27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15383" name="Freeform 28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99 w 788"/>
                  <a:gd name="T1" fmla="*/ 0 h 1138"/>
                  <a:gd name="T2" fmla="*/ 88 w 788"/>
                  <a:gd name="T3" fmla="*/ 0 h 1138"/>
                  <a:gd name="T4" fmla="*/ 73 w 788"/>
                  <a:gd name="T5" fmla="*/ 1 h 1138"/>
                  <a:gd name="T6" fmla="*/ 56 w 788"/>
                  <a:gd name="T7" fmla="*/ 4 h 1138"/>
                  <a:gd name="T8" fmla="*/ 39 w 788"/>
                  <a:gd name="T9" fmla="*/ 8 h 1138"/>
                  <a:gd name="T10" fmla="*/ 22 w 788"/>
                  <a:gd name="T11" fmla="*/ 15 h 1138"/>
                  <a:gd name="T12" fmla="*/ 10 w 788"/>
                  <a:gd name="T13" fmla="*/ 24 h 1138"/>
                  <a:gd name="T14" fmla="*/ 2 w 788"/>
                  <a:gd name="T15" fmla="*/ 36 h 1138"/>
                  <a:gd name="T16" fmla="*/ 0 w 788"/>
                  <a:gd name="T17" fmla="*/ 46 h 1138"/>
                  <a:gd name="T18" fmla="*/ 1 w 788"/>
                  <a:gd name="T19" fmla="*/ 51 h 1138"/>
                  <a:gd name="T20" fmla="*/ 4 w 788"/>
                  <a:gd name="T21" fmla="*/ 66 h 1138"/>
                  <a:gd name="T22" fmla="*/ 13 w 788"/>
                  <a:gd name="T23" fmla="*/ 97 h 1138"/>
                  <a:gd name="T24" fmla="*/ 25 w 788"/>
                  <a:gd name="T25" fmla="*/ 137 h 1138"/>
                  <a:gd name="T26" fmla="*/ 41 w 788"/>
                  <a:gd name="T27" fmla="*/ 181 h 1138"/>
                  <a:gd name="T28" fmla="*/ 59 w 788"/>
                  <a:gd name="T29" fmla="*/ 228 h 1138"/>
                  <a:gd name="T30" fmla="*/ 78 w 788"/>
                  <a:gd name="T31" fmla="*/ 274 h 1138"/>
                  <a:gd name="T32" fmla="*/ 98 w 788"/>
                  <a:gd name="T33" fmla="*/ 317 h 1138"/>
                  <a:gd name="T34" fmla="*/ 117 w 788"/>
                  <a:gd name="T35" fmla="*/ 352 h 1138"/>
                  <a:gd name="T36" fmla="*/ 130 w 788"/>
                  <a:gd name="T37" fmla="*/ 370 h 1138"/>
                  <a:gd name="T38" fmla="*/ 136 w 788"/>
                  <a:gd name="T39" fmla="*/ 377 h 1138"/>
                  <a:gd name="T40" fmla="*/ 146 w 788"/>
                  <a:gd name="T41" fmla="*/ 377 h 1138"/>
                  <a:gd name="T42" fmla="*/ 163 w 788"/>
                  <a:gd name="T43" fmla="*/ 371 h 1138"/>
                  <a:gd name="T44" fmla="*/ 183 w 788"/>
                  <a:gd name="T45" fmla="*/ 363 h 1138"/>
                  <a:gd name="T46" fmla="*/ 203 w 788"/>
                  <a:gd name="T47" fmla="*/ 355 h 1138"/>
                  <a:gd name="T48" fmla="*/ 223 w 788"/>
                  <a:gd name="T49" fmla="*/ 346 h 1138"/>
                  <a:gd name="T50" fmla="*/ 241 w 788"/>
                  <a:gd name="T51" fmla="*/ 338 h 1138"/>
                  <a:gd name="T52" fmla="*/ 254 w 788"/>
                  <a:gd name="T53" fmla="*/ 330 h 1138"/>
                  <a:gd name="T54" fmla="*/ 262 w 788"/>
                  <a:gd name="T55" fmla="*/ 323 h 1138"/>
                  <a:gd name="T56" fmla="*/ 252 w 788"/>
                  <a:gd name="T57" fmla="*/ 306 h 1138"/>
                  <a:gd name="T58" fmla="*/ 229 w 788"/>
                  <a:gd name="T59" fmla="*/ 271 h 1138"/>
                  <a:gd name="T60" fmla="*/ 204 w 788"/>
                  <a:gd name="T61" fmla="*/ 231 h 1138"/>
                  <a:gd name="T62" fmla="*/ 179 w 788"/>
                  <a:gd name="T63" fmla="*/ 187 h 1138"/>
                  <a:gd name="T64" fmla="*/ 156 w 788"/>
                  <a:gd name="T65" fmla="*/ 141 h 1138"/>
                  <a:gd name="T66" fmla="*/ 135 w 788"/>
                  <a:gd name="T67" fmla="*/ 96 h 1138"/>
                  <a:gd name="T68" fmla="*/ 117 w 788"/>
                  <a:gd name="T69" fmla="*/ 54 h 1138"/>
                  <a:gd name="T70" fmla="*/ 106 w 788"/>
                  <a:gd name="T71" fmla="*/ 16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88"/>
                  <a:gd name="T109" fmla="*/ 0 h 1138"/>
                  <a:gd name="T110" fmla="*/ 788 w 788"/>
                  <a:gd name="T111" fmla="*/ 1138 h 113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4" name="Freeform 29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16 w 425"/>
                  <a:gd name="T1" fmla="*/ 0 h 936"/>
                  <a:gd name="T2" fmla="*/ 16 w 425"/>
                  <a:gd name="T3" fmla="*/ 1 h 936"/>
                  <a:gd name="T4" fmla="*/ 16 w 425"/>
                  <a:gd name="T5" fmla="*/ 2 h 936"/>
                  <a:gd name="T6" fmla="*/ 16 w 425"/>
                  <a:gd name="T7" fmla="*/ 4 h 936"/>
                  <a:gd name="T8" fmla="*/ 15 w 425"/>
                  <a:gd name="T9" fmla="*/ 6 h 936"/>
                  <a:gd name="T10" fmla="*/ 13 w 425"/>
                  <a:gd name="T11" fmla="*/ 12 h 936"/>
                  <a:gd name="T12" fmla="*/ 11 w 425"/>
                  <a:gd name="T13" fmla="*/ 18 h 936"/>
                  <a:gd name="T14" fmla="*/ 7 w 425"/>
                  <a:gd name="T15" fmla="*/ 27 h 936"/>
                  <a:gd name="T16" fmla="*/ 2 w 425"/>
                  <a:gd name="T17" fmla="*/ 39 h 936"/>
                  <a:gd name="T18" fmla="*/ 0 w 425"/>
                  <a:gd name="T19" fmla="*/ 47 h 936"/>
                  <a:gd name="T20" fmla="*/ 0 w 425"/>
                  <a:gd name="T21" fmla="*/ 59 h 936"/>
                  <a:gd name="T22" fmla="*/ 1 w 425"/>
                  <a:gd name="T23" fmla="*/ 73 h 936"/>
                  <a:gd name="T24" fmla="*/ 4 w 425"/>
                  <a:gd name="T25" fmla="*/ 90 h 936"/>
                  <a:gd name="T26" fmla="*/ 9 w 425"/>
                  <a:gd name="T27" fmla="*/ 108 h 936"/>
                  <a:gd name="T28" fmla="*/ 14 w 425"/>
                  <a:gd name="T29" fmla="*/ 129 h 936"/>
                  <a:gd name="T30" fmla="*/ 19 w 425"/>
                  <a:gd name="T31" fmla="*/ 149 h 936"/>
                  <a:gd name="T32" fmla="*/ 26 w 425"/>
                  <a:gd name="T33" fmla="*/ 170 h 936"/>
                  <a:gd name="T34" fmla="*/ 33 w 425"/>
                  <a:gd name="T35" fmla="*/ 190 h 936"/>
                  <a:gd name="T36" fmla="*/ 40 w 425"/>
                  <a:gd name="T37" fmla="*/ 209 h 936"/>
                  <a:gd name="T38" fmla="*/ 46 w 425"/>
                  <a:gd name="T39" fmla="*/ 228 h 936"/>
                  <a:gd name="T40" fmla="*/ 52 w 425"/>
                  <a:gd name="T41" fmla="*/ 244 h 936"/>
                  <a:gd name="T42" fmla="*/ 58 w 425"/>
                  <a:gd name="T43" fmla="*/ 258 h 936"/>
                  <a:gd name="T44" fmla="*/ 63 w 425"/>
                  <a:gd name="T45" fmla="*/ 269 h 936"/>
                  <a:gd name="T46" fmla="*/ 67 w 425"/>
                  <a:gd name="T47" fmla="*/ 277 h 936"/>
                  <a:gd name="T48" fmla="*/ 70 w 425"/>
                  <a:gd name="T49" fmla="*/ 281 h 936"/>
                  <a:gd name="T50" fmla="*/ 75 w 425"/>
                  <a:gd name="T51" fmla="*/ 284 h 936"/>
                  <a:gd name="T52" fmla="*/ 80 w 425"/>
                  <a:gd name="T53" fmla="*/ 287 h 936"/>
                  <a:gd name="T54" fmla="*/ 86 w 425"/>
                  <a:gd name="T55" fmla="*/ 291 h 936"/>
                  <a:gd name="T56" fmla="*/ 94 w 425"/>
                  <a:gd name="T57" fmla="*/ 294 h 936"/>
                  <a:gd name="T58" fmla="*/ 104 w 425"/>
                  <a:gd name="T59" fmla="*/ 299 h 936"/>
                  <a:gd name="T60" fmla="*/ 114 w 425"/>
                  <a:gd name="T61" fmla="*/ 302 h 936"/>
                  <a:gd name="T62" fmla="*/ 127 w 425"/>
                  <a:gd name="T63" fmla="*/ 307 h 936"/>
                  <a:gd name="T64" fmla="*/ 142 w 425"/>
                  <a:gd name="T65" fmla="*/ 312 h 936"/>
                  <a:gd name="T66" fmla="*/ 132 w 425"/>
                  <a:gd name="T67" fmla="*/ 298 h 936"/>
                  <a:gd name="T68" fmla="*/ 123 w 425"/>
                  <a:gd name="T69" fmla="*/ 281 h 936"/>
                  <a:gd name="T70" fmla="*/ 113 w 425"/>
                  <a:gd name="T71" fmla="*/ 262 h 936"/>
                  <a:gd name="T72" fmla="*/ 103 w 425"/>
                  <a:gd name="T73" fmla="*/ 242 h 936"/>
                  <a:gd name="T74" fmla="*/ 93 w 425"/>
                  <a:gd name="T75" fmla="*/ 220 h 936"/>
                  <a:gd name="T76" fmla="*/ 83 w 425"/>
                  <a:gd name="T77" fmla="*/ 197 h 936"/>
                  <a:gd name="T78" fmla="*/ 74 w 425"/>
                  <a:gd name="T79" fmla="*/ 174 h 936"/>
                  <a:gd name="T80" fmla="*/ 65 w 425"/>
                  <a:gd name="T81" fmla="*/ 150 h 936"/>
                  <a:gd name="T82" fmla="*/ 56 w 425"/>
                  <a:gd name="T83" fmla="*/ 127 h 936"/>
                  <a:gd name="T84" fmla="*/ 48 w 425"/>
                  <a:gd name="T85" fmla="*/ 104 h 936"/>
                  <a:gd name="T86" fmla="*/ 40 w 425"/>
                  <a:gd name="T87" fmla="*/ 83 h 936"/>
                  <a:gd name="T88" fmla="*/ 34 w 425"/>
                  <a:gd name="T89" fmla="*/ 62 h 936"/>
                  <a:gd name="T90" fmla="*/ 28 w 425"/>
                  <a:gd name="T91" fmla="*/ 43 h 936"/>
                  <a:gd name="T92" fmla="*/ 23 w 425"/>
                  <a:gd name="T93" fmla="*/ 26 h 936"/>
                  <a:gd name="T94" fmla="*/ 19 w 425"/>
                  <a:gd name="T95" fmla="*/ 12 h 936"/>
                  <a:gd name="T96" fmla="*/ 16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5"/>
                  <a:gd name="T148" fmla="*/ 0 h 936"/>
                  <a:gd name="T149" fmla="*/ 425 w 425"/>
                  <a:gd name="T150" fmla="*/ 936 h 9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5" name="Freeform 30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9 w 192"/>
                  <a:gd name="T1" fmla="*/ 4 h 208"/>
                  <a:gd name="T2" fmla="*/ 4 w 192"/>
                  <a:gd name="T3" fmla="*/ 8 h 208"/>
                  <a:gd name="T4" fmla="*/ 1 w 192"/>
                  <a:gd name="T5" fmla="*/ 14 h 208"/>
                  <a:gd name="T6" fmla="*/ 0 w 192"/>
                  <a:gd name="T7" fmla="*/ 22 h 208"/>
                  <a:gd name="T8" fmla="*/ 0 w 192"/>
                  <a:gd name="T9" fmla="*/ 31 h 208"/>
                  <a:gd name="T10" fmla="*/ 1 w 192"/>
                  <a:gd name="T11" fmla="*/ 40 h 208"/>
                  <a:gd name="T12" fmla="*/ 3 w 192"/>
                  <a:gd name="T13" fmla="*/ 49 h 208"/>
                  <a:gd name="T14" fmla="*/ 7 w 192"/>
                  <a:gd name="T15" fmla="*/ 57 h 208"/>
                  <a:gd name="T16" fmla="*/ 12 w 192"/>
                  <a:gd name="T17" fmla="*/ 63 h 208"/>
                  <a:gd name="T18" fmla="*/ 17 w 192"/>
                  <a:gd name="T19" fmla="*/ 67 h 208"/>
                  <a:gd name="T20" fmla="*/ 23 w 192"/>
                  <a:gd name="T21" fmla="*/ 68 h 208"/>
                  <a:gd name="T22" fmla="*/ 30 w 192"/>
                  <a:gd name="T23" fmla="*/ 69 h 208"/>
                  <a:gd name="T24" fmla="*/ 37 w 192"/>
                  <a:gd name="T25" fmla="*/ 68 h 208"/>
                  <a:gd name="T26" fmla="*/ 43 w 192"/>
                  <a:gd name="T27" fmla="*/ 65 h 208"/>
                  <a:gd name="T28" fmla="*/ 49 w 192"/>
                  <a:gd name="T29" fmla="*/ 62 h 208"/>
                  <a:gd name="T30" fmla="*/ 54 w 192"/>
                  <a:gd name="T31" fmla="*/ 58 h 208"/>
                  <a:gd name="T32" fmla="*/ 58 w 192"/>
                  <a:gd name="T33" fmla="*/ 54 h 208"/>
                  <a:gd name="T34" fmla="*/ 63 w 192"/>
                  <a:gd name="T35" fmla="*/ 43 h 208"/>
                  <a:gd name="T36" fmla="*/ 64 w 192"/>
                  <a:gd name="T37" fmla="*/ 30 h 208"/>
                  <a:gd name="T38" fmla="*/ 62 w 192"/>
                  <a:gd name="T39" fmla="*/ 17 h 208"/>
                  <a:gd name="T40" fmla="*/ 55 w 192"/>
                  <a:gd name="T41" fmla="*/ 9 h 208"/>
                  <a:gd name="T42" fmla="*/ 51 w 192"/>
                  <a:gd name="T43" fmla="*/ 7 h 208"/>
                  <a:gd name="T44" fmla="*/ 46 w 192"/>
                  <a:gd name="T45" fmla="*/ 5 h 208"/>
                  <a:gd name="T46" fmla="*/ 41 w 192"/>
                  <a:gd name="T47" fmla="*/ 3 h 208"/>
                  <a:gd name="T48" fmla="*/ 35 w 192"/>
                  <a:gd name="T49" fmla="*/ 1 h 208"/>
                  <a:gd name="T50" fmla="*/ 28 w 192"/>
                  <a:gd name="T51" fmla="*/ 0 h 208"/>
                  <a:gd name="T52" fmla="*/ 22 w 192"/>
                  <a:gd name="T53" fmla="*/ 0 h 208"/>
                  <a:gd name="T54" fmla="*/ 16 w 192"/>
                  <a:gd name="T55" fmla="*/ 1 h 208"/>
                  <a:gd name="T56" fmla="*/ 9 w 192"/>
                  <a:gd name="T57" fmla="*/ 4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92"/>
                  <a:gd name="T88" fmla="*/ 0 h 208"/>
                  <a:gd name="T89" fmla="*/ 192 w 192"/>
                  <a:gd name="T90" fmla="*/ 208 h 20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6" name="Freeform 31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11 w 247"/>
                  <a:gd name="T1" fmla="*/ 10 h 251"/>
                  <a:gd name="T2" fmla="*/ 7 w 247"/>
                  <a:gd name="T3" fmla="*/ 15 h 251"/>
                  <a:gd name="T4" fmla="*/ 4 w 247"/>
                  <a:gd name="T5" fmla="*/ 20 h 251"/>
                  <a:gd name="T6" fmla="*/ 2 w 247"/>
                  <a:gd name="T7" fmla="*/ 26 h 251"/>
                  <a:gd name="T8" fmla="*/ 0 w 247"/>
                  <a:gd name="T9" fmla="*/ 32 h 251"/>
                  <a:gd name="T10" fmla="*/ 0 w 247"/>
                  <a:gd name="T11" fmla="*/ 39 h 251"/>
                  <a:gd name="T12" fmla="*/ 2 w 247"/>
                  <a:gd name="T13" fmla="*/ 45 h 251"/>
                  <a:gd name="T14" fmla="*/ 4 w 247"/>
                  <a:gd name="T15" fmla="*/ 51 h 251"/>
                  <a:gd name="T16" fmla="*/ 8 w 247"/>
                  <a:gd name="T17" fmla="*/ 57 h 251"/>
                  <a:gd name="T18" fmla="*/ 14 w 247"/>
                  <a:gd name="T19" fmla="*/ 63 h 251"/>
                  <a:gd name="T20" fmla="*/ 19 w 247"/>
                  <a:gd name="T21" fmla="*/ 68 h 251"/>
                  <a:gd name="T22" fmla="*/ 26 w 247"/>
                  <a:gd name="T23" fmla="*/ 74 h 251"/>
                  <a:gd name="T24" fmla="*/ 32 w 247"/>
                  <a:gd name="T25" fmla="*/ 78 h 251"/>
                  <a:gd name="T26" fmla="*/ 38 w 247"/>
                  <a:gd name="T27" fmla="*/ 82 h 251"/>
                  <a:gd name="T28" fmla="*/ 44 w 247"/>
                  <a:gd name="T29" fmla="*/ 84 h 251"/>
                  <a:gd name="T30" fmla="*/ 49 w 247"/>
                  <a:gd name="T31" fmla="*/ 84 h 251"/>
                  <a:gd name="T32" fmla="*/ 55 w 247"/>
                  <a:gd name="T33" fmla="*/ 82 h 251"/>
                  <a:gd name="T34" fmla="*/ 60 w 247"/>
                  <a:gd name="T35" fmla="*/ 79 h 251"/>
                  <a:gd name="T36" fmla="*/ 65 w 247"/>
                  <a:gd name="T37" fmla="*/ 76 h 251"/>
                  <a:gd name="T38" fmla="*/ 69 w 247"/>
                  <a:gd name="T39" fmla="*/ 74 h 251"/>
                  <a:gd name="T40" fmla="*/ 74 w 247"/>
                  <a:gd name="T41" fmla="*/ 71 h 251"/>
                  <a:gd name="T42" fmla="*/ 77 w 247"/>
                  <a:gd name="T43" fmla="*/ 68 h 251"/>
                  <a:gd name="T44" fmla="*/ 80 w 247"/>
                  <a:gd name="T45" fmla="*/ 64 h 251"/>
                  <a:gd name="T46" fmla="*/ 82 w 247"/>
                  <a:gd name="T47" fmla="*/ 60 h 251"/>
                  <a:gd name="T48" fmla="*/ 82 w 247"/>
                  <a:gd name="T49" fmla="*/ 54 h 251"/>
                  <a:gd name="T50" fmla="*/ 81 w 247"/>
                  <a:gd name="T51" fmla="*/ 48 h 251"/>
                  <a:gd name="T52" fmla="*/ 79 w 247"/>
                  <a:gd name="T53" fmla="*/ 40 h 251"/>
                  <a:gd name="T54" fmla="*/ 76 w 247"/>
                  <a:gd name="T55" fmla="*/ 32 h 251"/>
                  <a:gd name="T56" fmla="*/ 71 w 247"/>
                  <a:gd name="T57" fmla="*/ 24 h 251"/>
                  <a:gd name="T58" fmla="*/ 66 w 247"/>
                  <a:gd name="T59" fmla="*/ 17 h 251"/>
                  <a:gd name="T60" fmla="*/ 61 w 247"/>
                  <a:gd name="T61" fmla="*/ 10 h 251"/>
                  <a:gd name="T62" fmla="*/ 55 w 247"/>
                  <a:gd name="T63" fmla="*/ 5 h 251"/>
                  <a:gd name="T64" fmla="*/ 49 w 247"/>
                  <a:gd name="T65" fmla="*/ 2 h 251"/>
                  <a:gd name="T66" fmla="*/ 43 w 247"/>
                  <a:gd name="T67" fmla="*/ 1 h 251"/>
                  <a:gd name="T68" fmla="*/ 37 w 247"/>
                  <a:gd name="T69" fmla="*/ 0 h 251"/>
                  <a:gd name="T70" fmla="*/ 31 w 247"/>
                  <a:gd name="T71" fmla="*/ 0 h 251"/>
                  <a:gd name="T72" fmla="*/ 27 w 247"/>
                  <a:gd name="T73" fmla="*/ 1 h 251"/>
                  <a:gd name="T74" fmla="*/ 22 w 247"/>
                  <a:gd name="T75" fmla="*/ 2 h 251"/>
                  <a:gd name="T76" fmla="*/ 17 w 247"/>
                  <a:gd name="T77" fmla="*/ 4 h 251"/>
                  <a:gd name="T78" fmla="*/ 14 w 247"/>
                  <a:gd name="T79" fmla="*/ 7 h 251"/>
                  <a:gd name="T80" fmla="*/ 11 w 247"/>
                  <a:gd name="T81" fmla="*/ 1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47"/>
                  <a:gd name="T124" fmla="*/ 0 h 251"/>
                  <a:gd name="T125" fmla="*/ 247 w 247"/>
                  <a:gd name="T126" fmla="*/ 251 h 25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7" name="Freeform 32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38 w 226"/>
                  <a:gd name="T1" fmla="*/ 1 h 240"/>
                  <a:gd name="T2" fmla="*/ 31 w 226"/>
                  <a:gd name="T3" fmla="*/ 0 h 240"/>
                  <a:gd name="T4" fmla="*/ 22 w 226"/>
                  <a:gd name="T5" fmla="*/ 1 h 240"/>
                  <a:gd name="T6" fmla="*/ 14 w 226"/>
                  <a:gd name="T7" fmla="*/ 4 h 240"/>
                  <a:gd name="T8" fmla="*/ 5 w 226"/>
                  <a:gd name="T9" fmla="*/ 12 h 240"/>
                  <a:gd name="T10" fmla="*/ 0 w 226"/>
                  <a:gd name="T11" fmla="*/ 26 h 240"/>
                  <a:gd name="T12" fmla="*/ 1 w 226"/>
                  <a:gd name="T13" fmla="*/ 41 h 240"/>
                  <a:gd name="T14" fmla="*/ 5 w 226"/>
                  <a:gd name="T15" fmla="*/ 56 h 240"/>
                  <a:gd name="T16" fmla="*/ 11 w 226"/>
                  <a:gd name="T17" fmla="*/ 67 h 240"/>
                  <a:gd name="T18" fmla="*/ 19 w 226"/>
                  <a:gd name="T19" fmla="*/ 74 h 240"/>
                  <a:gd name="T20" fmla="*/ 28 w 226"/>
                  <a:gd name="T21" fmla="*/ 79 h 240"/>
                  <a:gd name="T22" fmla="*/ 38 w 226"/>
                  <a:gd name="T23" fmla="*/ 80 h 240"/>
                  <a:gd name="T24" fmla="*/ 50 w 226"/>
                  <a:gd name="T25" fmla="*/ 76 h 240"/>
                  <a:gd name="T26" fmla="*/ 63 w 226"/>
                  <a:gd name="T27" fmla="*/ 68 h 240"/>
                  <a:gd name="T28" fmla="*/ 72 w 226"/>
                  <a:gd name="T29" fmla="*/ 57 h 240"/>
                  <a:gd name="T30" fmla="*/ 75 w 226"/>
                  <a:gd name="T31" fmla="*/ 44 h 240"/>
                  <a:gd name="T32" fmla="*/ 74 w 226"/>
                  <a:gd name="T33" fmla="*/ 35 h 240"/>
                  <a:gd name="T34" fmla="*/ 71 w 226"/>
                  <a:gd name="T35" fmla="*/ 32 h 240"/>
                  <a:gd name="T36" fmla="*/ 67 w 226"/>
                  <a:gd name="T37" fmla="*/ 32 h 240"/>
                  <a:gd name="T38" fmla="*/ 64 w 226"/>
                  <a:gd name="T39" fmla="*/ 35 h 240"/>
                  <a:gd name="T40" fmla="*/ 63 w 226"/>
                  <a:gd name="T41" fmla="*/ 42 h 240"/>
                  <a:gd name="T42" fmla="*/ 60 w 226"/>
                  <a:gd name="T43" fmla="*/ 53 h 240"/>
                  <a:gd name="T44" fmla="*/ 54 w 226"/>
                  <a:gd name="T45" fmla="*/ 61 h 240"/>
                  <a:gd name="T46" fmla="*/ 43 w 226"/>
                  <a:gd name="T47" fmla="*/ 66 h 240"/>
                  <a:gd name="T48" fmla="*/ 30 w 226"/>
                  <a:gd name="T49" fmla="*/ 66 h 240"/>
                  <a:gd name="T50" fmla="*/ 20 w 226"/>
                  <a:gd name="T51" fmla="*/ 59 h 240"/>
                  <a:gd name="T52" fmla="*/ 15 w 226"/>
                  <a:gd name="T53" fmla="*/ 48 h 240"/>
                  <a:gd name="T54" fmla="*/ 11 w 226"/>
                  <a:gd name="T55" fmla="*/ 35 h 240"/>
                  <a:gd name="T56" fmla="*/ 11 w 226"/>
                  <a:gd name="T57" fmla="*/ 25 h 240"/>
                  <a:gd name="T58" fmla="*/ 14 w 226"/>
                  <a:gd name="T59" fmla="*/ 19 h 240"/>
                  <a:gd name="T60" fmla="*/ 18 w 226"/>
                  <a:gd name="T61" fmla="*/ 13 h 240"/>
                  <a:gd name="T62" fmla="*/ 25 w 226"/>
                  <a:gd name="T63" fmla="*/ 9 h 240"/>
                  <a:gd name="T64" fmla="*/ 29 w 226"/>
                  <a:gd name="T65" fmla="*/ 8 h 240"/>
                  <a:gd name="T66" fmla="*/ 35 w 226"/>
                  <a:gd name="T67" fmla="*/ 8 h 240"/>
                  <a:gd name="T68" fmla="*/ 42 w 226"/>
                  <a:gd name="T69" fmla="*/ 8 h 240"/>
                  <a:gd name="T70" fmla="*/ 43 w 226"/>
                  <a:gd name="T71" fmla="*/ 4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6"/>
                  <a:gd name="T109" fmla="*/ 0 h 240"/>
                  <a:gd name="T110" fmla="*/ 226 w 226"/>
                  <a:gd name="T111" fmla="*/ 240 h 24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8" name="Freeform 33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20 w 279"/>
                  <a:gd name="T1" fmla="*/ 3 h 270"/>
                  <a:gd name="T2" fmla="*/ 11 w 279"/>
                  <a:gd name="T3" fmla="*/ 9 h 270"/>
                  <a:gd name="T4" fmla="*/ 5 w 279"/>
                  <a:gd name="T5" fmla="*/ 17 h 270"/>
                  <a:gd name="T6" fmla="*/ 1 w 279"/>
                  <a:gd name="T7" fmla="*/ 27 h 270"/>
                  <a:gd name="T8" fmla="*/ 0 w 279"/>
                  <a:gd name="T9" fmla="*/ 37 h 270"/>
                  <a:gd name="T10" fmla="*/ 2 w 279"/>
                  <a:gd name="T11" fmla="*/ 48 h 270"/>
                  <a:gd name="T12" fmla="*/ 6 w 279"/>
                  <a:gd name="T13" fmla="*/ 58 h 270"/>
                  <a:gd name="T14" fmla="*/ 12 w 279"/>
                  <a:gd name="T15" fmla="*/ 68 h 270"/>
                  <a:gd name="T16" fmla="*/ 22 w 279"/>
                  <a:gd name="T17" fmla="*/ 77 h 270"/>
                  <a:gd name="T18" fmla="*/ 34 w 279"/>
                  <a:gd name="T19" fmla="*/ 86 h 270"/>
                  <a:gd name="T20" fmla="*/ 47 w 279"/>
                  <a:gd name="T21" fmla="*/ 90 h 270"/>
                  <a:gd name="T22" fmla="*/ 62 w 279"/>
                  <a:gd name="T23" fmla="*/ 88 h 270"/>
                  <a:gd name="T24" fmla="*/ 73 w 279"/>
                  <a:gd name="T25" fmla="*/ 80 h 270"/>
                  <a:gd name="T26" fmla="*/ 81 w 279"/>
                  <a:gd name="T27" fmla="*/ 72 h 270"/>
                  <a:gd name="T28" fmla="*/ 88 w 279"/>
                  <a:gd name="T29" fmla="*/ 63 h 270"/>
                  <a:gd name="T30" fmla="*/ 92 w 279"/>
                  <a:gd name="T31" fmla="*/ 53 h 270"/>
                  <a:gd name="T32" fmla="*/ 93 w 279"/>
                  <a:gd name="T33" fmla="*/ 44 h 270"/>
                  <a:gd name="T34" fmla="*/ 91 w 279"/>
                  <a:gd name="T35" fmla="*/ 40 h 270"/>
                  <a:gd name="T36" fmla="*/ 86 w 279"/>
                  <a:gd name="T37" fmla="*/ 39 h 270"/>
                  <a:gd name="T38" fmla="*/ 82 w 279"/>
                  <a:gd name="T39" fmla="*/ 41 h 270"/>
                  <a:gd name="T40" fmla="*/ 80 w 279"/>
                  <a:gd name="T41" fmla="*/ 44 h 270"/>
                  <a:gd name="T42" fmla="*/ 78 w 279"/>
                  <a:gd name="T43" fmla="*/ 50 h 270"/>
                  <a:gd name="T44" fmla="*/ 73 w 279"/>
                  <a:gd name="T45" fmla="*/ 59 h 270"/>
                  <a:gd name="T46" fmla="*/ 66 w 279"/>
                  <a:gd name="T47" fmla="*/ 67 h 270"/>
                  <a:gd name="T48" fmla="*/ 51 w 279"/>
                  <a:gd name="T49" fmla="*/ 70 h 270"/>
                  <a:gd name="T50" fmla="*/ 33 w 279"/>
                  <a:gd name="T51" fmla="*/ 66 h 270"/>
                  <a:gd name="T52" fmla="*/ 20 w 279"/>
                  <a:gd name="T53" fmla="*/ 54 h 270"/>
                  <a:gd name="T54" fmla="*/ 13 w 279"/>
                  <a:gd name="T55" fmla="*/ 38 h 270"/>
                  <a:gd name="T56" fmla="*/ 15 w 279"/>
                  <a:gd name="T57" fmla="*/ 24 h 270"/>
                  <a:gd name="T58" fmla="*/ 20 w 279"/>
                  <a:gd name="T59" fmla="*/ 17 h 270"/>
                  <a:gd name="T60" fmla="*/ 27 w 279"/>
                  <a:gd name="T61" fmla="*/ 10 h 270"/>
                  <a:gd name="T62" fmla="*/ 34 w 279"/>
                  <a:gd name="T63" fmla="*/ 5 h 270"/>
                  <a:gd name="T64" fmla="*/ 36 w 279"/>
                  <a:gd name="T65" fmla="*/ 1 h 270"/>
                  <a:gd name="T66" fmla="*/ 29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79"/>
                  <a:gd name="T103" fmla="*/ 0 h 270"/>
                  <a:gd name="T104" fmla="*/ 279 w 279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89" name="Freeform 34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2 w 72"/>
                  <a:gd name="T1" fmla="*/ 22 h 75"/>
                  <a:gd name="T2" fmla="*/ 5 w 72"/>
                  <a:gd name="T3" fmla="*/ 24 h 75"/>
                  <a:gd name="T4" fmla="*/ 8 w 72"/>
                  <a:gd name="T5" fmla="*/ 25 h 75"/>
                  <a:gd name="T6" fmla="*/ 11 w 72"/>
                  <a:gd name="T7" fmla="*/ 25 h 75"/>
                  <a:gd name="T8" fmla="*/ 12 w 72"/>
                  <a:gd name="T9" fmla="*/ 24 h 75"/>
                  <a:gd name="T10" fmla="*/ 13 w 72"/>
                  <a:gd name="T11" fmla="*/ 24 h 75"/>
                  <a:gd name="T12" fmla="*/ 16 w 72"/>
                  <a:gd name="T13" fmla="*/ 24 h 75"/>
                  <a:gd name="T14" fmla="*/ 19 w 72"/>
                  <a:gd name="T15" fmla="*/ 22 h 75"/>
                  <a:gd name="T16" fmla="*/ 21 w 72"/>
                  <a:gd name="T17" fmla="*/ 20 h 75"/>
                  <a:gd name="T18" fmla="*/ 23 w 72"/>
                  <a:gd name="T19" fmla="*/ 19 h 75"/>
                  <a:gd name="T20" fmla="*/ 24 w 72"/>
                  <a:gd name="T21" fmla="*/ 17 h 75"/>
                  <a:gd name="T22" fmla="*/ 24 w 72"/>
                  <a:gd name="T23" fmla="*/ 16 h 75"/>
                  <a:gd name="T24" fmla="*/ 23 w 72"/>
                  <a:gd name="T25" fmla="*/ 15 h 75"/>
                  <a:gd name="T26" fmla="*/ 22 w 72"/>
                  <a:gd name="T27" fmla="*/ 13 h 75"/>
                  <a:gd name="T28" fmla="*/ 21 w 72"/>
                  <a:gd name="T29" fmla="*/ 13 h 75"/>
                  <a:gd name="T30" fmla="*/ 20 w 72"/>
                  <a:gd name="T31" fmla="*/ 13 h 75"/>
                  <a:gd name="T32" fmla="*/ 18 w 72"/>
                  <a:gd name="T33" fmla="*/ 13 h 75"/>
                  <a:gd name="T34" fmla="*/ 16 w 72"/>
                  <a:gd name="T35" fmla="*/ 14 h 75"/>
                  <a:gd name="T36" fmla="*/ 13 w 72"/>
                  <a:gd name="T37" fmla="*/ 15 h 75"/>
                  <a:gd name="T38" fmla="*/ 11 w 72"/>
                  <a:gd name="T39" fmla="*/ 17 h 75"/>
                  <a:gd name="T40" fmla="*/ 10 w 72"/>
                  <a:gd name="T41" fmla="*/ 17 h 75"/>
                  <a:gd name="T42" fmla="*/ 9 w 72"/>
                  <a:gd name="T43" fmla="*/ 14 h 75"/>
                  <a:gd name="T44" fmla="*/ 7 w 72"/>
                  <a:gd name="T45" fmla="*/ 8 h 75"/>
                  <a:gd name="T46" fmla="*/ 4 w 72"/>
                  <a:gd name="T47" fmla="*/ 2 h 75"/>
                  <a:gd name="T48" fmla="*/ 0 w 72"/>
                  <a:gd name="T49" fmla="*/ 0 h 75"/>
                  <a:gd name="T50" fmla="*/ 0 w 72"/>
                  <a:gd name="T51" fmla="*/ 6 h 75"/>
                  <a:gd name="T52" fmla="*/ 1 w 72"/>
                  <a:gd name="T53" fmla="*/ 13 h 75"/>
                  <a:gd name="T54" fmla="*/ 2 w 72"/>
                  <a:gd name="T55" fmla="*/ 19 h 75"/>
                  <a:gd name="T56" fmla="*/ 2 w 72"/>
                  <a:gd name="T57" fmla="*/ 22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2"/>
                  <a:gd name="T88" fmla="*/ 0 h 75"/>
                  <a:gd name="T89" fmla="*/ 72 w 72"/>
                  <a:gd name="T90" fmla="*/ 75 h 7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0" name="Freeform 35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5 w 70"/>
                  <a:gd name="T1" fmla="*/ 18 h 59"/>
                  <a:gd name="T2" fmla="*/ 5 w 70"/>
                  <a:gd name="T3" fmla="*/ 19 h 59"/>
                  <a:gd name="T4" fmla="*/ 7 w 70"/>
                  <a:gd name="T5" fmla="*/ 19 h 59"/>
                  <a:gd name="T6" fmla="*/ 8 w 70"/>
                  <a:gd name="T7" fmla="*/ 20 h 59"/>
                  <a:gd name="T8" fmla="*/ 9 w 70"/>
                  <a:gd name="T9" fmla="*/ 20 h 59"/>
                  <a:gd name="T10" fmla="*/ 12 w 70"/>
                  <a:gd name="T11" fmla="*/ 20 h 59"/>
                  <a:gd name="T12" fmla="*/ 15 w 70"/>
                  <a:gd name="T13" fmla="*/ 19 h 59"/>
                  <a:gd name="T14" fmla="*/ 18 w 70"/>
                  <a:gd name="T15" fmla="*/ 19 h 59"/>
                  <a:gd name="T16" fmla="*/ 21 w 70"/>
                  <a:gd name="T17" fmla="*/ 17 h 59"/>
                  <a:gd name="T18" fmla="*/ 22 w 70"/>
                  <a:gd name="T19" fmla="*/ 16 h 59"/>
                  <a:gd name="T20" fmla="*/ 23 w 70"/>
                  <a:gd name="T21" fmla="*/ 15 h 59"/>
                  <a:gd name="T22" fmla="*/ 23 w 70"/>
                  <a:gd name="T23" fmla="*/ 14 h 59"/>
                  <a:gd name="T24" fmla="*/ 23 w 70"/>
                  <a:gd name="T25" fmla="*/ 13 h 59"/>
                  <a:gd name="T26" fmla="*/ 18 w 70"/>
                  <a:gd name="T27" fmla="*/ 11 h 59"/>
                  <a:gd name="T28" fmla="*/ 14 w 70"/>
                  <a:gd name="T29" fmla="*/ 11 h 59"/>
                  <a:gd name="T30" fmla="*/ 11 w 70"/>
                  <a:gd name="T31" fmla="*/ 13 h 59"/>
                  <a:gd name="T32" fmla="*/ 9 w 70"/>
                  <a:gd name="T33" fmla="*/ 14 h 59"/>
                  <a:gd name="T34" fmla="*/ 7 w 70"/>
                  <a:gd name="T35" fmla="*/ 10 h 59"/>
                  <a:gd name="T36" fmla="*/ 5 w 70"/>
                  <a:gd name="T37" fmla="*/ 5 h 59"/>
                  <a:gd name="T38" fmla="*/ 3 w 70"/>
                  <a:gd name="T39" fmla="*/ 1 h 59"/>
                  <a:gd name="T40" fmla="*/ 1 w 70"/>
                  <a:gd name="T41" fmla="*/ 0 h 59"/>
                  <a:gd name="T42" fmla="*/ 0 w 70"/>
                  <a:gd name="T43" fmla="*/ 6 h 59"/>
                  <a:gd name="T44" fmla="*/ 1 w 70"/>
                  <a:gd name="T45" fmla="*/ 12 h 59"/>
                  <a:gd name="T46" fmla="*/ 4 w 70"/>
                  <a:gd name="T47" fmla="*/ 17 h 59"/>
                  <a:gd name="T48" fmla="*/ 5 w 70"/>
                  <a:gd name="T49" fmla="*/ 18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0"/>
                  <a:gd name="T76" fmla="*/ 0 h 59"/>
                  <a:gd name="T77" fmla="*/ 70 w 70"/>
                  <a:gd name="T78" fmla="*/ 59 h 5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1" name="Freeform 36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1 w 65"/>
                  <a:gd name="T1" fmla="*/ 15 h 60"/>
                  <a:gd name="T2" fmla="*/ 3 w 65"/>
                  <a:gd name="T3" fmla="*/ 19 h 60"/>
                  <a:gd name="T4" fmla="*/ 7 w 65"/>
                  <a:gd name="T5" fmla="*/ 20 h 60"/>
                  <a:gd name="T6" fmla="*/ 10 w 65"/>
                  <a:gd name="T7" fmla="*/ 20 h 60"/>
                  <a:gd name="T8" fmla="*/ 12 w 65"/>
                  <a:gd name="T9" fmla="*/ 20 h 60"/>
                  <a:gd name="T10" fmla="*/ 15 w 65"/>
                  <a:gd name="T11" fmla="*/ 19 h 60"/>
                  <a:gd name="T12" fmla="*/ 18 w 65"/>
                  <a:gd name="T13" fmla="*/ 17 h 60"/>
                  <a:gd name="T14" fmla="*/ 21 w 65"/>
                  <a:gd name="T15" fmla="*/ 15 h 60"/>
                  <a:gd name="T16" fmla="*/ 22 w 65"/>
                  <a:gd name="T17" fmla="*/ 13 h 60"/>
                  <a:gd name="T18" fmla="*/ 21 w 65"/>
                  <a:gd name="T19" fmla="*/ 12 h 60"/>
                  <a:gd name="T20" fmla="*/ 20 w 65"/>
                  <a:gd name="T21" fmla="*/ 11 h 60"/>
                  <a:gd name="T22" fmla="*/ 19 w 65"/>
                  <a:gd name="T23" fmla="*/ 11 h 60"/>
                  <a:gd name="T24" fmla="*/ 17 w 65"/>
                  <a:gd name="T25" fmla="*/ 11 h 60"/>
                  <a:gd name="T26" fmla="*/ 9 w 65"/>
                  <a:gd name="T27" fmla="*/ 12 h 60"/>
                  <a:gd name="T28" fmla="*/ 8 w 65"/>
                  <a:gd name="T29" fmla="*/ 10 h 60"/>
                  <a:gd name="T30" fmla="*/ 6 w 65"/>
                  <a:gd name="T31" fmla="*/ 5 h 60"/>
                  <a:gd name="T32" fmla="*/ 3 w 65"/>
                  <a:gd name="T33" fmla="*/ 1 h 60"/>
                  <a:gd name="T34" fmla="*/ 0 w 65"/>
                  <a:gd name="T35" fmla="*/ 0 h 60"/>
                  <a:gd name="T36" fmla="*/ 0 w 65"/>
                  <a:gd name="T37" fmla="*/ 5 h 60"/>
                  <a:gd name="T38" fmla="*/ 1 w 65"/>
                  <a:gd name="T39" fmla="*/ 10 h 60"/>
                  <a:gd name="T40" fmla="*/ 1 w 65"/>
                  <a:gd name="T41" fmla="*/ 14 h 60"/>
                  <a:gd name="T42" fmla="*/ 1 w 65"/>
                  <a:gd name="T43" fmla="*/ 15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5"/>
                  <a:gd name="T67" fmla="*/ 0 h 60"/>
                  <a:gd name="T68" fmla="*/ 65 w 65"/>
                  <a:gd name="T69" fmla="*/ 60 h 6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2" name="Freeform 37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3 w 69"/>
                  <a:gd name="T1" fmla="*/ 16 h 47"/>
                  <a:gd name="T2" fmla="*/ 4 w 69"/>
                  <a:gd name="T3" fmla="*/ 16 h 47"/>
                  <a:gd name="T4" fmla="*/ 5 w 69"/>
                  <a:gd name="T5" fmla="*/ 16 h 47"/>
                  <a:gd name="T6" fmla="*/ 7 w 69"/>
                  <a:gd name="T7" fmla="*/ 16 h 47"/>
                  <a:gd name="T8" fmla="*/ 8 w 69"/>
                  <a:gd name="T9" fmla="*/ 16 h 47"/>
                  <a:gd name="T10" fmla="*/ 10 w 69"/>
                  <a:gd name="T11" fmla="*/ 16 h 47"/>
                  <a:gd name="T12" fmla="*/ 13 w 69"/>
                  <a:gd name="T13" fmla="*/ 15 h 47"/>
                  <a:gd name="T14" fmla="*/ 16 w 69"/>
                  <a:gd name="T15" fmla="*/ 14 h 47"/>
                  <a:gd name="T16" fmla="*/ 19 w 69"/>
                  <a:gd name="T17" fmla="*/ 13 h 47"/>
                  <a:gd name="T18" fmla="*/ 21 w 69"/>
                  <a:gd name="T19" fmla="*/ 12 h 47"/>
                  <a:gd name="T20" fmla="*/ 22 w 69"/>
                  <a:gd name="T21" fmla="*/ 10 h 47"/>
                  <a:gd name="T22" fmla="*/ 23 w 69"/>
                  <a:gd name="T23" fmla="*/ 9 h 47"/>
                  <a:gd name="T24" fmla="*/ 22 w 69"/>
                  <a:gd name="T25" fmla="*/ 7 h 47"/>
                  <a:gd name="T26" fmla="*/ 21 w 69"/>
                  <a:gd name="T27" fmla="*/ 6 h 47"/>
                  <a:gd name="T28" fmla="*/ 19 w 69"/>
                  <a:gd name="T29" fmla="*/ 6 h 47"/>
                  <a:gd name="T30" fmla="*/ 16 w 69"/>
                  <a:gd name="T31" fmla="*/ 6 h 47"/>
                  <a:gd name="T32" fmla="*/ 13 w 69"/>
                  <a:gd name="T33" fmla="*/ 6 h 47"/>
                  <a:gd name="T34" fmla="*/ 11 w 69"/>
                  <a:gd name="T35" fmla="*/ 7 h 47"/>
                  <a:gd name="T36" fmla="*/ 9 w 69"/>
                  <a:gd name="T37" fmla="*/ 8 h 47"/>
                  <a:gd name="T38" fmla="*/ 7 w 69"/>
                  <a:gd name="T39" fmla="*/ 9 h 47"/>
                  <a:gd name="T40" fmla="*/ 7 w 69"/>
                  <a:gd name="T41" fmla="*/ 9 h 47"/>
                  <a:gd name="T42" fmla="*/ 6 w 69"/>
                  <a:gd name="T43" fmla="*/ 7 h 47"/>
                  <a:gd name="T44" fmla="*/ 5 w 69"/>
                  <a:gd name="T45" fmla="*/ 5 h 47"/>
                  <a:gd name="T46" fmla="*/ 4 w 69"/>
                  <a:gd name="T47" fmla="*/ 2 h 47"/>
                  <a:gd name="T48" fmla="*/ 3 w 69"/>
                  <a:gd name="T49" fmla="*/ 1 h 47"/>
                  <a:gd name="T50" fmla="*/ 2 w 69"/>
                  <a:gd name="T51" fmla="*/ 0 h 47"/>
                  <a:gd name="T52" fmla="*/ 2 w 69"/>
                  <a:gd name="T53" fmla="*/ 0 h 47"/>
                  <a:gd name="T54" fmla="*/ 1 w 69"/>
                  <a:gd name="T55" fmla="*/ 0 h 47"/>
                  <a:gd name="T56" fmla="*/ 0 w 69"/>
                  <a:gd name="T57" fmla="*/ 1 h 47"/>
                  <a:gd name="T58" fmla="*/ 0 w 69"/>
                  <a:gd name="T59" fmla="*/ 4 h 47"/>
                  <a:gd name="T60" fmla="*/ 1 w 69"/>
                  <a:gd name="T61" fmla="*/ 9 h 47"/>
                  <a:gd name="T62" fmla="*/ 2 w 69"/>
                  <a:gd name="T63" fmla="*/ 14 h 47"/>
                  <a:gd name="T64" fmla="*/ 3 w 69"/>
                  <a:gd name="T65" fmla="*/ 16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47"/>
                  <a:gd name="T101" fmla="*/ 69 w 69"/>
                  <a:gd name="T102" fmla="*/ 47 h 4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3" name="Freeform 38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4 w 60"/>
                  <a:gd name="T1" fmla="*/ 18 h 58"/>
                  <a:gd name="T2" fmla="*/ 7 w 60"/>
                  <a:gd name="T3" fmla="*/ 19 h 58"/>
                  <a:gd name="T4" fmla="*/ 11 w 60"/>
                  <a:gd name="T5" fmla="*/ 20 h 58"/>
                  <a:gd name="T6" fmla="*/ 15 w 60"/>
                  <a:gd name="T7" fmla="*/ 19 h 58"/>
                  <a:gd name="T8" fmla="*/ 18 w 60"/>
                  <a:gd name="T9" fmla="*/ 17 h 58"/>
                  <a:gd name="T10" fmla="*/ 19 w 60"/>
                  <a:gd name="T11" fmla="*/ 17 h 58"/>
                  <a:gd name="T12" fmla="*/ 20 w 60"/>
                  <a:gd name="T13" fmla="*/ 16 h 58"/>
                  <a:gd name="T14" fmla="*/ 20 w 60"/>
                  <a:gd name="T15" fmla="*/ 14 h 58"/>
                  <a:gd name="T16" fmla="*/ 20 w 60"/>
                  <a:gd name="T17" fmla="*/ 13 h 58"/>
                  <a:gd name="T18" fmla="*/ 19 w 60"/>
                  <a:gd name="T19" fmla="*/ 12 h 58"/>
                  <a:gd name="T20" fmla="*/ 18 w 60"/>
                  <a:gd name="T21" fmla="*/ 11 h 58"/>
                  <a:gd name="T22" fmla="*/ 16 w 60"/>
                  <a:gd name="T23" fmla="*/ 11 h 58"/>
                  <a:gd name="T24" fmla="*/ 15 w 60"/>
                  <a:gd name="T25" fmla="*/ 11 h 58"/>
                  <a:gd name="T26" fmla="*/ 12 w 60"/>
                  <a:gd name="T27" fmla="*/ 12 h 58"/>
                  <a:gd name="T28" fmla="*/ 9 w 60"/>
                  <a:gd name="T29" fmla="*/ 12 h 58"/>
                  <a:gd name="T30" fmla="*/ 7 w 60"/>
                  <a:gd name="T31" fmla="*/ 12 h 58"/>
                  <a:gd name="T32" fmla="*/ 6 w 60"/>
                  <a:gd name="T33" fmla="*/ 12 h 58"/>
                  <a:gd name="T34" fmla="*/ 6 w 60"/>
                  <a:gd name="T35" fmla="*/ 10 h 58"/>
                  <a:gd name="T36" fmla="*/ 6 w 60"/>
                  <a:gd name="T37" fmla="*/ 6 h 58"/>
                  <a:gd name="T38" fmla="*/ 5 w 60"/>
                  <a:gd name="T39" fmla="*/ 1 h 58"/>
                  <a:gd name="T40" fmla="*/ 2 w 60"/>
                  <a:gd name="T41" fmla="*/ 0 h 58"/>
                  <a:gd name="T42" fmla="*/ 0 w 60"/>
                  <a:gd name="T43" fmla="*/ 4 h 58"/>
                  <a:gd name="T44" fmla="*/ 0 w 60"/>
                  <a:gd name="T45" fmla="*/ 9 h 58"/>
                  <a:gd name="T46" fmla="*/ 1 w 60"/>
                  <a:gd name="T47" fmla="*/ 14 h 58"/>
                  <a:gd name="T48" fmla="*/ 4 w 60"/>
                  <a:gd name="T49" fmla="*/ 18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0"/>
                  <a:gd name="T76" fmla="*/ 0 h 58"/>
                  <a:gd name="T77" fmla="*/ 60 w 60"/>
                  <a:gd name="T78" fmla="*/ 58 h 5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4" name="Freeform 39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6 w 59"/>
                  <a:gd name="T1" fmla="*/ 17 h 55"/>
                  <a:gd name="T2" fmla="*/ 11 w 59"/>
                  <a:gd name="T3" fmla="*/ 18 h 55"/>
                  <a:gd name="T4" fmla="*/ 15 w 59"/>
                  <a:gd name="T5" fmla="*/ 18 h 55"/>
                  <a:gd name="T6" fmla="*/ 18 w 59"/>
                  <a:gd name="T7" fmla="*/ 15 h 55"/>
                  <a:gd name="T8" fmla="*/ 20 w 59"/>
                  <a:gd name="T9" fmla="*/ 11 h 55"/>
                  <a:gd name="T10" fmla="*/ 19 w 59"/>
                  <a:gd name="T11" fmla="*/ 10 h 55"/>
                  <a:gd name="T12" fmla="*/ 18 w 59"/>
                  <a:gd name="T13" fmla="*/ 9 h 55"/>
                  <a:gd name="T14" fmla="*/ 17 w 59"/>
                  <a:gd name="T15" fmla="*/ 9 h 55"/>
                  <a:gd name="T16" fmla="*/ 15 w 59"/>
                  <a:gd name="T17" fmla="*/ 9 h 55"/>
                  <a:gd name="T18" fmla="*/ 14 w 59"/>
                  <a:gd name="T19" fmla="*/ 10 h 55"/>
                  <a:gd name="T20" fmla="*/ 13 w 59"/>
                  <a:gd name="T21" fmla="*/ 11 h 55"/>
                  <a:gd name="T22" fmla="*/ 12 w 59"/>
                  <a:gd name="T23" fmla="*/ 12 h 55"/>
                  <a:gd name="T24" fmla="*/ 11 w 59"/>
                  <a:gd name="T25" fmla="*/ 13 h 55"/>
                  <a:gd name="T26" fmla="*/ 9 w 59"/>
                  <a:gd name="T27" fmla="*/ 10 h 55"/>
                  <a:gd name="T28" fmla="*/ 7 w 59"/>
                  <a:gd name="T29" fmla="*/ 6 h 55"/>
                  <a:gd name="T30" fmla="*/ 3 w 59"/>
                  <a:gd name="T31" fmla="*/ 2 h 55"/>
                  <a:gd name="T32" fmla="*/ 0 w 59"/>
                  <a:gd name="T33" fmla="*/ 0 h 55"/>
                  <a:gd name="T34" fmla="*/ 1 w 59"/>
                  <a:gd name="T35" fmla="*/ 6 h 55"/>
                  <a:gd name="T36" fmla="*/ 3 w 59"/>
                  <a:gd name="T37" fmla="*/ 11 h 55"/>
                  <a:gd name="T38" fmla="*/ 5 w 59"/>
                  <a:gd name="T39" fmla="*/ 15 h 55"/>
                  <a:gd name="T40" fmla="*/ 6 w 59"/>
                  <a:gd name="T41" fmla="*/ 17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9"/>
                  <a:gd name="T64" fmla="*/ 0 h 55"/>
                  <a:gd name="T65" fmla="*/ 59 w 59"/>
                  <a:gd name="T66" fmla="*/ 55 h 5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5" name="Freeform 40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11 w 82"/>
                  <a:gd name="T1" fmla="*/ 25 h 76"/>
                  <a:gd name="T2" fmla="*/ 13 w 82"/>
                  <a:gd name="T3" fmla="*/ 25 h 76"/>
                  <a:gd name="T4" fmla="*/ 14 w 82"/>
                  <a:gd name="T5" fmla="*/ 25 h 76"/>
                  <a:gd name="T6" fmla="*/ 16 w 82"/>
                  <a:gd name="T7" fmla="*/ 25 h 76"/>
                  <a:gd name="T8" fmla="*/ 19 w 82"/>
                  <a:gd name="T9" fmla="*/ 25 h 76"/>
                  <a:gd name="T10" fmla="*/ 20 w 82"/>
                  <a:gd name="T11" fmla="*/ 24 h 76"/>
                  <a:gd name="T12" fmla="*/ 22 w 82"/>
                  <a:gd name="T13" fmla="*/ 22 h 76"/>
                  <a:gd name="T14" fmla="*/ 24 w 82"/>
                  <a:gd name="T15" fmla="*/ 21 h 76"/>
                  <a:gd name="T16" fmla="*/ 25 w 82"/>
                  <a:gd name="T17" fmla="*/ 19 h 76"/>
                  <a:gd name="T18" fmla="*/ 26 w 82"/>
                  <a:gd name="T19" fmla="*/ 18 h 76"/>
                  <a:gd name="T20" fmla="*/ 27 w 82"/>
                  <a:gd name="T21" fmla="*/ 17 h 76"/>
                  <a:gd name="T22" fmla="*/ 27 w 82"/>
                  <a:gd name="T23" fmla="*/ 15 h 76"/>
                  <a:gd name="T24" fmla="*/ 26 w 82"/>
                  <a:gd name="T25" fmla="*/ 14 h 76"/>
                  <a:gd name="T26" fmla="*/ 23 w 82"/>
                  <a:gd name="T27" fmla="*/ 13 h 76"/>
                  <a:gd name="T28" fmla="*/ 21 w 82"/>
                  <a:gd name="T29" fmla="*/ 12 h 76"/>
                  <a:gd name="T30" fmla="*/ 18 w 82"/>
                  <a:gd name="T31" fmla="*/ 13 h 76"/>
                  <a:gd name="T32" fmla="*/ 15 w 82"/>
                  <a:gd name="T33" fmla="*/ 13 h 76"/>
                  <a:gd name="T34" fmla="*/ 13 w 82"/>
                  <a:gd name="T35" fmla="*/ 14 h 76"/>
                  <a:gd name="T36" fmla="*/ 12 w 82"/>
                  <a:gd name="T37" fmla="*/ 16 h 76"/>
                  <a:gd name="T38" fmla="*/ 11 w 82"/>
                  <a:gd name="T39" fmla="*/ 16 h 76"/>
                  <a:gd name="T40" fmla="*/ 10 w 82"/>
                  <a:gd name="T41" fmla="*/ 17 h 76"/>
                  <a:gd name="T42" fmla="*/ 10 w 82"/>
                  <a:gd name="T43" fmla="*/ 14 h 76"/>
                  <a:gd name="T44" fmla="*/ 8 w 82"/>
                  <a:gd name="T45" fmla="*/ 8 h 76"/>
                  <a:gd name="T46" fmla="*/ 5 w 82"/>
                  <a:gd name="T47" fmla="*/ 2 h 76"/>
                  <a:gd name="T48" fmla="*/ 1 w 82"/>
                  <a:gd name="T49" fmla="*/ 0 h 76"/>
                  <a:gd name="T50" fmla="*/ 0 w 82"/>
                  <a:gd name="T51" fmla="*/ 6 h 76"/>
                  <a:gd name="T52" fmla="*/ 0 w 82"/>
                  <a:gd name="T53" fmla="*/ 10 h 76"/>
                  <a:gd name="T54" fmla="*/ 1 w 82"/>
                  <a:gd name="T55" fmla="*/ 14 h 76"/>
                  <a:gd name="T56" fmla="*/ 4 w 82"/>
                  <a:gd name="T57" fmla="*/ 18 h 76"/>
                  <a:gd name="T58" fmla="*/ 6 w 82"/>
                  <a:gd name="T59" fmla="*/ 21 h 76"/>
                  <a:gd name="T60" fmla="*/ 8 w 82"/>
                  <a:gd name="T61" fmla="*/ 23 h 76"/>
                  <a:gd name="T62" fmla="*/ 10 w 82"/>
                  <a:gd name="T63" fmla="*/ 24 h 76"/>
                  <a:gd name="T64" fmla="*/ 11 w 82"/>
                  <a:gd name="T65" fmla="*/ 25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2"/>
                  <a:gd name="T100" fmla="*/ 0 h 76"/>
                  <a:gd name="T101" fmla="*/ 82 w 82"/>
                  <a:gd name="T102" fmla="*/ 76 h 7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6" name="Freeform 41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4 w 75"/>
                  <a:gd name="T1" fmla="*/ 18 h 66"/>
                  <a:gd name="T2" fmla="*/ 5 w 75"/>
                  <a:gd name="T3" fmla="*/ 19 h 66"/>
                  <a:gd name="T4" fmla="*/ 6 w 75"/>
                  <a:gd name="T5" fmla="*/ 20 h 66"/>
                  <a:gd name="T6" fmla="*/ 8 w 75"/>
                  <a:gd name="T7" fmla="*/ 21 h 66"/>
                  <a:gd name="T8" fmla="*/ 9 w 75"/>
                  <a:gd name="T9" fmla="*/ 21 h 66"/>
                  <a:gd name="T10" fmla="*/ 11 w 75"/>
                  <a:gd name="T11" fmla="*/ 22 h 66"/>
                  <a:gd name="T12" fmla="*/ 13 w 75"/>
                  <a:gd name="T13" fmla="*/ 22 h 66"/>
                  <a:gd name="T14" fmla="*/ 16 w 75"/>
                  <a:gd name="T15" fmla="*/ 22 h 66"/>
                  <a:gd name="T16" fmla="*/ 19 w 75"/>
                  <a:gd name="T17" fmla="*/ 22 h 66"/>
                  <a:gd name="T18" fmla="*/ 22 w 75"/>
                  <a:gd name="T19" fmla="*/ 21 h 66"/>
                  <a:gd name="T20" fmla="*/ 24 w 75"/>
                  <a:gd name="T21" fmla="*/ 20 h 66"/>
                  <a:gd name="T22" fmla="*/ 25 w 75"/>
                  <a:gd name="T23" fmla="*/ 18 h 66"/>
                  <a:gd name="T24" fmla="*/ 25 w 75"/>
                  <a:gd name="T25" fmla="*/ 15 h 66"/>
                  <a:gd name="T26" fmla="*/ 24 w 75"/>
                  <a:gd name="T27" fmla="*/ 13 h 66"/>
                  <a:gd name="T28" fmla="*/ 22 w 75"/>
                  <a:gd name="T29" fmla="*/ 12 h 66"/>
                  <a:gd name="T30" fmla="*/ 20 w 75"/>
                  <a:gd name="T31" fmla="*/ 11 h 66"/>
                  <a:gd name="T32" fmla="*/ 17 w 75"/>
                  <a:gd name="T33" fmla="*/ 11 h 66"/>
                  <a:gd name="T34" fmla="*/ 14 w 75"/>
                  <a:gd name="T35" fmla="*/ 12 h 66"/>
                  <a:gd name="T36" fmla="*/ 11 w 75"/>
                  <a:gd name="T37" fmla="*/ 12 h 66"/>
                  <a:gd name="T38" fmla="*/ 9 w 75"/>
                  <a:gd name="T39" fmla="*/ 13 h 66"/>
                  <a:gd name="T40" fmla="*/ 9 w 75"/>
                  <a:gd name="T41" fmla="*/ 13 h 66"/>
                  <a:gd name="T42" fmla="*/ 8 w 75"/>
                  <a:gd name="T43" fmla="*/ 11 h 66"/>
                  <a:gd name="T44" fmla="*/ 6 w 75"/>
                  <a:gd name="T45" fmla="*/ 5 h 66"/>
                  <a:gd name="T46" fmla="*/ 3 w 75"/>
                  <a:gd name="T47" fmla="*/ 1 h 66"/>
                  <a:gd name="T48" fmla="*/ 0 w 75"/>
                  <a:gd name="T49" fmla="*/ 0 h 66"/>
                  <a:gd name="T50" fmla="*/ 0 w 75"/>
                  <a:gd name="T51" fmla="*/ 7 h 66"/>
                  <a:gd name="T52" fmla="*/ 2 w 75"/>
                  <a:gd name="T53" fmla="*/ 13 h 66"/>
                  <a:gd name="T54" fmla="*/ 3 w 75"/>
                  <a:gd name="T55" fmla="*/ 16 h 66"/>
                  <a:gd name="T56" fmla="*/ 4 w 75"/>
                  <a:gd name="T57" fmla="*/ 18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6"/>
                  <a:gd name="T89" fmla="*/ 75 w 75"/>
                  <a:gd name="T90" fmla="*/ 66 h 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7" name="Freeform 42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1 w 75"/>
                  <a:gd name="T1" fmla="*/ 14 h 63"/>
                  <a:gd name="T2" fmla="*/ 1 w 75"/>
                  <a:gd name="T3" fmla="*/ 15 h 63"/>
                  <a:gd name="T4" fmla="*/ 3 w 75"/>
                  <a:gd name="T5" fmla="*/ 17 h 63"/>
                  <a:gd name="T6" fmla="*/ 5 w 75"/>
                  <a:gd name="T7" fmla="*/ 19 h 63"/>
                  <a:gd name="T8" fmla="*/ 5 w 75"/>
                  <a:gd name="T9" fmla="*/ 19 h 63"/>
                  <a:gd name="T10" fmla="*/ 8 w 75"/>
                  <a:gd name="T11" fmla="*/ 20 h 63"/>
                  <a:gd name="T12" fmla="*/ 11 w 75"/>
                  <a:gd name="T13" fmla="*/ 21 h 63"/>
                  <a:gd name="T14" fmla="*/ 14 w 75"/>
                  <a:gd name="T15" fmla="*/ 21 h 63"/>
                  <a:gd name="T16" fmla="*/ 18 w 75"/>
                  <a:gd name="T17" fmla="*/ 20 h 63"/>
                  <a:gd name="T18" fmla="*/ 21 w 75"/>
                  <a:gd name="T19" fmla="*/ 19 h 63"/>
                  <a:gd name="T20" fmla="*/ 24 w 75"/>
                  <a:gd name="T21" fmla="*/ 18 h 63"/>
                  <a:gd name="T22" fmla="*/ 25 w 75"/>
                  <a:gd name="T23" fmla="*/ 16 h 63"/>
                  <a:gd name="T24" fmla="*/ 24 w 75"/>
                  <a:gd name="T25" fmla="*/ 13 h 63"/>
                  <a:gd name="T26" fmla="*/ 22 w 75"/>
                  <a:gd name="T27" fmla="*/ 11 h 63"/>
                  <a:gd name="T28" fmla="*/ 20 w 75"/>
                  <a:gd name="T29" fmla="*/ 10 h 63"/>
                  <a:gd name="T30" fmla="*/ 18 w 75"/>
                  <a:gd name="T31" fmla="*/ 9 h 63"/>
                  <a:gd name="T32" fmla="*/ 15 w 75"/>
                  <a:gd name="T33" fmla="*/ 10 h 63"/>
                  <a:gd name="T34" fmla="*/ 12 w 75"/>
                  <a:gd name="T35" fmla="*/ 10 h 63"/>
                  <a:gd name="T36" fmla="*/ 10 w 75"/>
                  <a:gd name="T37" fmla="*/ 11 h 63"/>
                  <a:gd name="T38" fmla="*/ 9 w 75"/>
                  <a:gd name="T39" fmla="*/ 12 h 63"/>
                  <a:gd name="T40" fmla="*/ 8 w 75"/>
                  <a:gd name="T41" fmla="*/ 12 h 63"/>
                  <a:gd name="T42" fmla="*/ 8 w 75"/>
                  <a:gd name="T43" fmla="*/ 10 h 63"/>
                  <a:gd name="T44" fmla="*/ 6 w 75"/>
                  <a:gd name="T45" fmla="*/ 5 h 63"/>
                  <a:gd name="T46" fmla="*/ 3 w 75"/>
                  <a:gd name="T47" fmla="*/ 1 h 63"/>
                  <a:gd name="T48" fmla="*/ 0 w 75"/>
                  <a:gd name="T49" fmla="*/ 0 h 63"/>
                  <a:gd name="T50" fmla="*/ 0 w 75"/>
                  <a:gd name="T51" fmla="*/ 5 h 63"/>
                  <a:gd name="T52" fmla="*/ 0 w 75"/>
                  <a:gd name="T53" fmla="*/ 9 h 63"/>
                  <a:gd name="T54" fmla="*/ 1 w 75"/>
                  <a:gd name="T55" fmla="*/ 13 h 63"/>
                  <a:gd name="T56" fmla="*/ 1 w 75"/>
                  <a:gd name="T57" fmla="*/ 14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3"/>
                  <a:gd name="T89" fmla="*/ 75 w 75"/>
                  <a:gd name="T90" fmla="*/ 63 h 6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8" name="Freeform 43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29 w 250"/>
                  <a:gd name="T1" fmla="*/ 12 h 290"/>
                  <a:gd name="T2" fmla="*/ 23 w 250"/>
                  <a:gd name="T3" fmla="*/ 16 h 290"/>
                  <a:gd name="T4" fmla="*/ 18 w 250"/>
                  <a:gd name="T5" fmla="*/ 21 h 290"/>
                  <a:gd name="T6" fmla="*/ 13 w 250"/>
                  <a:gd name="T7" fmla="*/ 26 h 290"/>
                  <a:gd name="T8" fmla="*/ 8 w 250"/>
                  <a:gd name="T9" fmla="*/ 32 h 290"/>
                  <a:gd name="T10" fmla="*/ 5 w 250"/>
                  <a:gd name="T11" fmla="*/ 38 h 290"/>
                  <a:gd name="T12" fmla="*/ 3 w 250"/>
                  <a:gd name="T13" fmla="*/ 45 h 290"/>
                  <a:gd name="T14" fmla="*/ 1 w 250"/>
                  <a:gd name="T15" fmla="*/ 53 h 290"/>
                  <a:gd name="T16" fmla="*/ 0 w 250"/>
                  <a:gd name="T17" fmla="*/ 60 h 290"/>
                  <a:gd name="T18" fmla="*/ 1 w 250"/>
                  <a:gd name="T19" fmla="*/ 70 h 290"/>
                  <a:gd name="T20" fmla="*/ 5 w 250"/>
                  <a:gd name="T21" fmla="*/ 78 h 290"/>
                  <a:gd name="T22" fmla="*/ 11 w 250"/>
                  <a:gd name="T23" fmla="*/ 85 h 290"/>
                  <a:gd name="T24" fmla="*/ 19 w 250"/>
                  <a:gd name="T25" fmla="*/ 90 h 290"/>
                  <a:gd name="T26" fmla="*/ 28 w 250"/>
                  <a:gd name="T27" fmla="*/ 95 h 290"/>
                  <a:gd name="T28" fmla="*/ 37 w 250"/>
                  <a:gd name="T29" fmla="*/ 97 h 290"/>
                  <a:gd name="T30" fmla="*/ 46 w 250"/>
                  <a:gd name="T31" fmla="*/ 97 h 290"/>
                  <a:gd name="T32" fmla="*/ 56 w 250"/>
                  <a:gd name="T33" fmla="*/ 96 h 290"/>
                  <a:gd name="T34" fmla="*/ 58 w 250"/>
                  <a:gd name="T35" fmla="*/ 96 h 290"/>
                  <a:gd name="T36" fmla="*/ 59 w 250"/>
                  <a:gd name="T37" fmla="*/ 95 h 290"/>
                  <a:gd name="T38" fmla="*/ 61 w 250"/>
                  <a:gd name="T39" fmla="*/ 93 h 290"/>
                  <a:gd name="T40" fmla="*/ 61 w 250"/>
                  <a:gd name="T41" fmla="*/ 91 h 290"/>
                  <a:gd name="T42" fmla="*/ 60 w 250"/>
                  <a:gd name="T43" fmla="*/ 89 h 290"/>
                  <a:gd name="T44" fmla="*/ 58 w 250"/>
                  <a:gd name="T45" fmla="*/ 87 h 290"/>
                  <a:gd name="T46" fmla="*/ 56 w 250"/>
                  <a:gd name="T47" fmla="*/ 85 h 290"/>
                  <a:gd name="T48" fmla="*/ 54 w 250"/>
                  <a:gd name="T49" fmla="*/ 84 h 290"/>
                  <a:gd name="T50" fmla="*/ 49 w 250"/>
                  <a:gd name="T51" fmla="*/ 83 h 290"/>
                  <a:gd name="T52" fmla="*/ 44 w 250"/>
                  <a:gd name="T53" fmla="*/ 82 h 290"/>
                  <a:gd name="T54" fmla="*/ 39 w 250"/>
                  <a:gd name="T55" fmla="*/ 81 h 290"/>
                  <a:gd name="T56" fmla="*/ 35 w 250"/>
                  <a:gd name="T57" fmla="*/ 80 h 290"/>
                  <a:gd name="T58" fmla="*/ 30 w 250"/>
                  <a:gd name="T59" fmla="*/ 78 h 290"/>
                  <a:gd name="T60" fmla="*/ 26 w 250"/>
                  <a:gd name="T61" fmla="*/ 77 h 290"/>
                  <a:gd name="T62" fmla="*/ 22 w 250"/>
                  <a:gd name="T63" fmla="*/ 74 h 290"/>
                  <a:gd name="T64" fmla="*/ 18 w 250"/>
                  <a:gd name="T65" fmla="*/ 70 h 290"/>
                  <a:gd name="T66" fmla="*/ 17 w 250"/>
                  <a:gd name="T67" fmla="*/ 54 h 290"/>
                  <a:gd name="T68" fmla="*/ 21 w 250"/>
                  <a:gd name="T69" fmla="*/ 40 h 290"/>
                  <a:gd name="T70" fmla="*/ 28 w 250"/>
                  <a:gd name="T71" fmla="*/ 30 h 290"/>
                  <a:gd name="T72" fmla="*/ 39 w 250"/>
                  <a:gd name="T73" fmla="*/ 21 h 290"/>
                  <a:gd name="T74" fmla="*/ 51 w 250"/>
                  <a:gd name="T75" fmla="*/ 14 h 290"/>
                  <a:gd name="T76" fmla="*/ 63 w 250"/>
                  <a:gd name="T77" fmla="*/ 9 h 290"/>
                  <a:gd name="T78" fmla="*/ 74 w 250"/>
                  <a:gd name="T79" fmla="*/ 5 h 290"/>
                  <a:gd name="T80" fmla="*/ 83 w 250"/>
                  <a:gd name="T81" fmla="*/ 2 h 290"/>
                  <a:gd name="T82" fmla="*/ 78 w 250"/>
                  <a:gd name="T83" fmla="*/ 1 h 290"/>
                  <a:gd name="T84" fmla="*/ 72 w 250"/>
                  <a:gd name="T85" fmla="*/ 0 h 290"/>
                  <a:gd name="T86" fmla="*/ 65 w 250"/>
                  <a:gd name="T87" fmla="*/ 1 h 290"/>
                  <a:gd name="T88" fmla="*/ 58 w 250"/>
                  <a:gd name="T89" fmla="*/ 2 h 290"/>
                  <a:gd name="T90" fmla="*/ 50 w 250"/>
                  <a:gd name="T91" fmla="*/ 4 h 290"/>
                  <a:gd name="T92" fmla="*/ 43 w 250"/>
                  <a:gd name="T93" fmla="*/ 7 h 290"/>
                  <a:gd name="T94" fmla="*/ 36 w 250"/>
                  <a:gd name="T95" fmla="*/ 10 h 290"/>
                  <a:gd name="T96" fmla="*/ 29 w 250"/>
                  <a:gd name="T97" fmla="*/ 12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50"/>
                  <a:gd name="T148" fmla="*/ 0 h 290"/>
                  <a:gd name="T149" fmla="*/ 250 w 250"/>
                  <a:gd name="T150" fmla="*/ 290 h 29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99" name="Freeform 44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45 w 160"/>
                  <a:gd name="T1" fmla="*/ 24 h 225"/>
                  <a:gd name="T2" fmla="*/ 47 w 160"/>
                  <a:gd name="T3" fmla="*/ 32 h 225"/>
                  <a:gd name="T4" fmla="*/ 46 w 160"/>
                  <a:gd name="T5" fmla="*/ 39 h 225"/>
                  <a:gd name="T6" fmla="*/ 43 w 160"/>
                  <a:gd name="T7" fmla="*/ 45 h 225"/>
                  <a:gd name="T8" fmla="*/ 38 w 160"/>
                  <a:gd name="T9" fmla="*/ 50 h 225"/>
                  <a:gd name="T10" fmla="*/ 32 w 160"/>
                  <a:gd name="T11" fmla="*/ 55 h 225"/>
                  <a:gd name="T12" fmla="*/ 25 w 160"/>
                  <a:gd name="T13" fmla="*/ 60 h 225"/>
                  <a:gd name="T14" fmla="*/ 19 w 160"/>
                  <a:gd name="T15" fmla="*/ 64 h 225"/>
                  <a:gd name="T16" fmla="*/ 13 w 160"/>
                  <a:gd name="T17" fmla="*/ 68 h 225"/>
                  <a:gd name="T18" fmla="*/ 12 w 160"/>
                  <a:gd name="T19" fmla="*/ 70 h 225"/>
                  <a:gd name="T20" fmla="*/ 11 w 160"/>
                  <a:gd name="T21" fmla="*/ 71 h 225"/>
                  <a:gd name="T22" fmla="*/ 11 w 160"/>
                  <a:gd name="T23" fmla="*/ 72 h 225"/>
                  <a:gd name="T24" fmla="*/ 12 w 160"/>
                  <a:gd name="T25" fmla="*/ 74 h 225"/>
                  <a:gd name="T26" fmla="*/ 13 w 160"/>
                  <a:gd name="T27" fmla="*/ 75 h 225"/>
                  <a:gd name="T28" fmla="*/ 15 w 160"/>
                  <a:gd name="T29" fmla="*/ 75 h 225"/>
                  <a:gd name="T30" fmla="*/ 16 w 160"/>
                  <a:gd name="T31" fmla="*/ 75 h 225"/>
                  <a:gd name="T32" fmla="*/ 17 w 160"/>
                  <a:gd name="T33" fmla="*/ 75 h 225"/>
                  <a:gd name="T34" fmla="*/ 25 w 160"/>
                  <a:gd name="T35" fmla="*/ 70 h 225"/>
                  <a:gd name="T36" fmla="*/ 32 w 160"/>
                  <a:gd name="T37" fmla="*/ 66 h 225"/>
                  <a:gd name="T38" fmla="*/ 39 w 160"/>
                  <a:gd name="T39" fmla="*/ 60 h 225"/>
                  <a:gd name="T40" fmla="*/ 45 w 160"/>
                  <a:gd name="T41" fmla="*/ 54 h 225"/>
                  <a:gd name="T42" fmla="*/ 50 w 160"/>
                  <a:gd name="T43" fmla="*/ 47 h 225"/>
                  <a:gd name="T44" fmla="*/ 53 w 160"/>
                  <a:gd name="T45" fmla="*/ 40 h 225"/>
                  <a:gd name="T46" fmla="*/ 53 w 160"/>
                  <a:gd name="T47" fmla="*/ 32 h 225"/>
                  <a:gd name="T48" fmla="*/ 51 w 160"/>
                  <a:gd name="T49" fmla="*/ 23 h 225"/>
                  <a:gd name="T50" fmla="*/ 47 w 160"/>
                  <a:gd name="T51" fmla="*/ 16 h 225"/>
                  <a:gd name="T52" fmla="*/ 40 w 160"/>
                  <a:gd name="T53" fmla="*/ 10 h 225"/>
                  <a:gd name="T54" fmla="*/ 32 w 160"/>
                  <a:gd name="T55" fmla="*/ 6 h 225"/>
                  <a:gd name="T56" fmla="*/ 24 w 160"/>
                  <a:gd name="T57" fmla="*/ 3 h 225"/>
                  <a:gd name="T58" fmla="*/ 15 w 160"/>
                  <a:gd name="T59" fmla="*/ 1 h 225"/>
                  <a:gd name="T60" fmla="*/ 8 w 160"/>
                  <a:gd name="T61" fmla="*/ 0 h 225"/>
                  <a:gd name="T62" fmla="*/ 2 w 160"/>
                  <a:gd name="T63" fmla="*/ 0 h 225"/>
                  <a:gd name="T64" fmla="*/ 0 w 160"/>
                  <a:gd name="T65" fmla="*/ 1 h 225"/>
                  <a:gd name="T66" fmla="*/ 6 w 160"/>
                  <a:gd name="T67" fmla="*/ 4 h 225"/>
                  <a:gd name="T68" fmla="*/ 12 w 160"/>
                  <a:gd name="T69" fmla="*/ 6 h 225"/>
                  <a:gd name="T70" fmla="*/ 19 w 160"/>
                  <a:gd name="T71" fmla="*/ 8 h 225"/>
                  <a:gd name="T72" fmla="*/ 25 w 160"/>
                  <a:gd name="T73" fmla="*/ 10 h 225"/>
                  <a:gd name="T74" fmla="*/ 31 w 160"/>
                  <a:gd name="T75" fmla="*/ 12 h 225"/>
                  <a:gd name="T76" fmla="*/ 37 w 160"/>
                  <a:gd name="T77" fmla="*/ 15 h 225"/>
                  <a:gd name="T78" fmla="*/ 41 w 160"/>
                  <a:gd name="T79" fmla="*/ 19 h 225"/>
                  <a:gd name="T80" fmla="*/ 45 w 160"/>
                  <a:gd name="T81" fmla="*/ 24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0"/>
                  <a:gd name="T124" fmla="*/ 0 h 225"/>
                  <a:gd name="T125" fmla="*/ 160 w 160"/>
                  <a:gd name="T126" fmla="*/ 225 h 22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0" name="Freeform 45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42 w 404"/>
                  <a:gd name="T1" fmla="*/ 29 h 472"/>
                  <a:gd name="T2" fmla="*/ 23 w 404"/>
                  <a:gd name="T3" fmla="*/ 48 h 472"/>
                  <a:gd name="T4" fmla="*/ 7 w 404"/>
                  <a:gd name="T5" fmla="*/ 70 h 472"/>
                  <a:gd name="T6" fmla="*/ 0 w 404"/>
                  <a:gd name="T7" fmla="*/ 95 h 472"/>
                  <a:gd name="T8" fmla="*/ 2 w 404"/>
                  <a:gd name="T9" fmla="*/ 111 h 472"/>
                  <a:gd name="T10" fmla="*/ 4 w 404"/>
                  <a:gd name="T11" fmla="*/ 118 h 472"/>
                  <a:gd name="T12" fmla="*/ 8 w 404"/>
                  <a:gd name="T13" fmla="*/ 125 h 472"/>
                  <a:gd name="T14" fmla="*/ 14 w 404"/>
                  <a:gd name="T15" fmla="*/ 130 h 472"/>
                  <a:gd name="T16" fmla="*/ 24 w 404"/>
                  <a:gd name="T17" fmla="*/ 136 h 472"/>
                  <a:gd name="T18" fmla="*/ 36 w 404"/>
                  <a:gd name="T19" fmla="*/ 142 h 472"/>
                  <a:gd name="T20" fmla="*/ 50 w 404"/>
                  <a:gd name="T21" fmla="*/ 147 h 472"/>
                  <a:gd name="T22" fmla="*/ 64 w 404"/>
                  <a:gd name="T23" fmla="*/ 150 h 472"/>
                  <a:gd name="T24" fmla="*/ 78 w 404"/>
                  <a:gd name="T25" fmla="*/ 153 h 472"/>
                  <a:gd name="T26" fmla="*/ 92 w 404"/>
                  <a:gd name="T27" fmla="*/ 155 h 472"/>
                  <a:gd name="T28" fmla="*/ 107 w 404"/>
                  <a:gd name="T29" fmla="*/ 157 h 472"/>
                  <a:gd name="T30" fmla="*/ 121 w 404"/>
                  <a:gd name="T31" fmla="*/ 158 h 472"/>
                  <a:gd name="T32" fmla="*/ 131 w 404"/>
                  <a:gd name="T33" fmla="*/ 158 h 472"/>
                  <a:gd name="T34" fmla="*/ 134 w 404"/>
                  <a:gd name="T35" fmla="*/ 155 h 472"/>
                  <a:gd name="T36" fmla="*/ 135 w 404"/>
                  <a:gd name="T37" fmla="*/ 151 h 472"/>
                  <a:gd name="T38" fmla="*/ 132 w 404"/>
                  <a:gd name="T39" fmla="*/ 148 h 472"/>
                  <a:gd name="T40" fmla="*/ 123 w 404"/>
                  <a:gd name="T41" fmla="*/ 145 h 472"/>
                  <a:gd name="T42" fmla="*/ 111 w 404"/>
                  <a:gd name="T43" fmla="*/ 143 h 472"/>
                  <a:gd name="T44" fmla="*/ 97 w 404"/>
                  <a:gd name="T45" fmla="*/ 141 h 472"/>
                  <a:gd name="T46" fmla="*/ 84 w 404"/>
                  <a:gd name="T47" fmla="*/ 139 h 472"/>
                  <a:gd name="T48" fmla="*/ 71 w 404"/>
                  <a:gd name="T49" fmla="*/ 137 h 472"/>
                  <a:gd name="T50" fmla="*/ 58 w 404"/>
                  <a:gd name="T51" fmla="*/ 133 h 472"/>
                  <a:gd name="T52" fmla="*/ 46 w 404"/>
                  <a:gd name="T53" fmla="*/ 129 h 472"/>
                  <a:gd name="T54" fmla="*/ 34 w 404"/>
                  <a:gd name="T55" fmla="*/ 125 h 472"/>
                  <a:gd name="T56" fmla="*/ 23 w 404"/>
                  <a:gd name="T57" fmla="*/ 118 h 472"/>
                  <a:gd name="T58" fmla="*/ 16 w 404"/>
                  <a:gd name="T59" fmla="*/ 108 h 472"/>
                  <a:gd name="T60" fmla="*/ 14 w 404"/>
                  <a:gd name="T61" fmla="*/ 97 h 472"/>
                  <a:gd name="T62" fmla="*/ 16 w 404"/>
                  <a:gd name="T63" fmla="*/ 84 h 472"/>
                  <a:gd name="T64" fmla="*/ 22 w 404"/>
                  <a:gd name="T65" fmla="*/ 71 h 472"/>
                  <a:gd name="T66" fmla="*/ 30 w 404"/>
                  <a:gd name="T67" fmla="*/ 58 h 472"/>
                  <a:gd name="T68" fmla="*/ 40 w 404"/>
                  <a:gd name="T69" fmla="*/ 46 h 472"/>
                  <a:gd name="T70" fmla="*/ 51 w 404"/>
                  <a:gd name="T71" fmla="*/ 34 h 472"/>
                  <a:gd name="T72" fmla="*/ 64 w 404"/>
                  <a:gd name="T73" fmla="*/ 24 h 472"/>
                  <a:gd name="T74" fmla="*/ 82 w 404"/>
                  <a:gd name="T75" fmla="*/ 16 h 472"/>
                  <a:gd name="T76" fmla="*/ 100 w 404"/>
                  <a:gd name="T77" fmla="*/ 8 h 472"/>
                  <a:gd name="T78" fmla="*/ 111 w 404"/>
                  <a:gd name="T79" fmla="*/ 3 h 472"/>
                  <a:gd name="T80" fmla="*/ 108 w 404"/>
                  <a:gd name="T81" fmla="*/ 0 h 472"/>
                  <a:gd name="T82" fmla="*/ 93 w 404"/>
                  <a:gd name="T83" fmla="*/ 2 h 472"/>
                  <a:gd name="T84" fmla="*/ 76 w 404"/>
                  <a:gd name="T85" fmla="*/ 8 h 472"/>
                  <a:gd name="T86" fmla="*/ 59 w 404"/>
                  <a:gd name="T87" fmla="*/ 16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04"/>
                  <a:gd name="T133" fmla="*/ 0 h 472"/>
                  <a:gd name="T134" fmla="*/ 404 w 404"/>
                  <a:gd name="T135" fmla="*/ 472 h 4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1" name="Freeform 46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98 w 354"/>
                  <a:gd name="T1" fmla="*/ 32 h 315"/>
                  <a:gd name="T2" fmla="*/ 103 w 354"/>
                  <a:gd name="T3" fmla="*/ 38 h 315"/>
                  <a:gd name="T4" fmla="*/ 107 w 354"/>
                  <a:gd name="T5" fmla="*/ 44 h 315"/>
                  <a:gd name="T6" fmla="*/ 108 w 354"/>
                  <a:gd name="T7" fmla="*/ 52 h 315"/>
                  <a:gd name="T8" fmla="*/ 108 w 354"/>
                  <a:gd name="T9" fmla="*/ 59 h 315"/>
                  <a:gd name="T10" fmla="*/ 107 w 354"/>
                  <a:gd name="T11" fmla="*/ 66 h 315"/>
                  <a:gd name="T12" fmla="*/ 105 w 354"/>
                  <a:gd name="T13" fmla="*/ 71 h 315"/>
                  <a:gd name="T14" fmla="*/ 102 w 354"/>
                  <a:gd name="T15" fmla="*/ 76 h 315"/>
                  <a:gd name="T16" fmla="*/ 98 w 354"/>
                  <a:gd name="T17" fmla="*/ 80 h 315"/>
                  <a:gd name="T18" fmla="*/ 94 w 354"/>
                  <a:gd name="T19" fmla="*/ 85 h 315"/>
                  <a:gd name="T20" fmla="*/ 90 w 354"/>
                  <a:gd name="T21" fmla="*/ 89 h 315"/>
                  <a:gd name="T22" fmla="*/ 85 w 354"/>
                  <a:gd name="T23" fmla="*/ 93 h 315"/>
                  <a:gd name="T24" fmla="*/ 81 w 354"/>
                  <a:gd name="T25" fmla="*/ 98 h 315"/>
                  <a:gd name="T26" fmla="*/ 80 w 354"/>
                  <a:gd name="T27" fmla="*/ 99 h 315"/>
                  <a:gd name="T28" fmla="*/ 80 w 354"/>
                  <a:gd name="T29" fmla="*/ 101 h 315"/>
                  <a:gd name="T30" fmla="*/ 80 w 354"/>
                  <a:gd name="T31" fmla="*/ 102 h 315"/>
                  <a:gd name="T32" fmla="*/ 81 w 354"/>
                  <a:gd name="T33" fmla="*/ 103 h 315"/>
                  <a:gd name="T34" fmla="*/ 82 w 354"/>
                  <a:gd name="T35" fmla="*/ 104 h 315"/>
                  <a:gd name="T36" fmla="*/ 84 w 354"/>
                  <a:gd name="T37" fmla="*/ 105 h 315"/>
                  <a:gd name="T38" fmla="*/ 86 w 354"/>
                  <a:gd name="T39" fmla="*/ 104 h 315"/>
                  <a:gd name="T40" fmla="*/ 87 w 354"/>
                  <a:gd name="T41" fmla="*/ 103 h 315"/>
                  <a:gd name="T42" fmla="*/ 97 w 354"/>
                  <a:gd name="T43" fmla="*/ 97 h 315"/>
                  <a:gd name="T44" fmla="*/ 105 w 354"/>
                  <a:gd name="T45" fmla="*/ 89 h 315"/>
                  <a:gd name="T46" fmla="*/ 112 w 354"/>
                  <a:gd name="T47" fmla="*/ 80 h 315"/>
                  <a:gd name="T48" fmla="*/ 116 w 354"/>
                  <a:gd name="T49" fmla="*/ 69 h 315"/>
                  <a:gd name="T50" fmla="*/ 118 w 354"/>
                  <a:gd name="T51" fmla="*/ 59 h 315"/>
                  <a:gd name="T52" fmla="*/ 117 w 354"/>
                  <a:gd name="T53" fmla="*/ 48 h 315"/>
                  <a:gd name="T54" fmla="*/ 113 w 354"/>
                  <a:gd name="T55" fmla="*/ 38 h 315"/>
                  <a:gd name="T56" fmla="*/ 105 w 354"/>
                  <a:gd name="T57" fmla="*/ 29 h 315"/>
                  <a:gd name="T58" fmla="*/ 99 w 354"/>
                  <a:gd name="T59" fmla="*/ 24 h 315"/>
                  <a:gd name="T60" fmla="*/ 93 w 354"/>
                  <a:gd name="T61" fmla="*/ 20 h 315"/>
                  <a:gd name="T62" fmla="*/ 85 w 354"/>
                  <a:gd name="T63" fmla="*/ 16 h 315"/>
                  <a:gd name="T64" fmla="*/ 77 w 354"/>
                  <a:gd name="T65" fmla="*/ 13 h 315"/>
                  <a:gd name="T66" fmla="*/ 69 w 354"/>
                  <a:gd name="T67" fmla="*/ 10 h 315"/>
                  <a:gd name="T68" fmla="*/ 60 w 354"/>
                  <a:gd name="T69" fmla="*/ 7 h 315"/>
                  <a:gd name="T70" fmla="*/ 52 w 354"/>
                  <a:gd name="T71" fmla="*/ 5 h 315"/>
                  <a:gd name="T72" fmla="*/ 43 w 354"/>
                  <a:gd name="T73" fmla="*/ 3 h 315"/>
                  <a:gd name="T74" fmla="*/ 35 w 354"/>
                  <a:gd name="T75" fmla="*/ 2 h 315"/>
                  <a:gd name="T76" fmla="*/ 28 w 354"/>
                  <a:gd name="T77" fmla="*/ 1 h 315"/>
                  <a:gd name="T78" fmla="*/ 20 w 354"/>
                  <a:gd name="T79" fmla="*/ 0 h 315"/>
                  <a:gd name="T80" fmla="*/ 14 w 354"/>
                  <a:gd name="T81" fmla="*/ 0 h 315"/>
                  <a:gd name="T82" fmla="*/ 9 w 354"/>
                  <a:gd name="T83" fmla="*/ 0 h 315"/>
                  <a:gd name="T84" fmla="*/ 5 w 354"/>
                  <a:gd name="T85" fmla="*/ 0 h 315"/>
                  <a:gd name="T86" fmla="*/ 2 w 354"/>
                  <a:gd name="T87" fmla="*/ 1 h 315"/>
                  <a:gd name="T88" fmla="*/ 0 w 354"/>
                  <a:gd name="T89" fmla="*/ 2 h 315"/>
                  <a:gd name="T90" fmla="*/ 5 w 354"/>
                  <a:gd name="T91" fmla="*/ 3 h 315"/>
                  <a:gd name="T92" fmla="*/ 10 w 354"/>
                  <a:gd name="T93" fmla="*/ 3 h 315"/>
                  <a:gd name="T94" fmla="*/ 16 w 354"/>
                  <a:gd name="T95" fmla="*/ 4 h 315"/>
                  <a:gd name="T96" fmla="*/ 22 w 354"/>
                  <a:gd name="T97" fmla="*/ 5 h 315"/>
                  <a:gd name="T98" fmla="*/ 28 w 354"/>
                  <a:gd name="T99" fmla="*/ 7 h 315"/>
                  <a:gd name="T100" fmla="*/ 34 w 354"/>
                  <a:gd name="T101" fmla="*/ 8 h 315"/>
                  <a:gd name="T102" fmla="*/ 41 w 354"/>
                  <a:gd name="T103" fmla="*/ 9 h 315"/>
                  <a:gd name="T104" fmla="*/ 48 w 354"/>
                  <a:gd name="T105" fmla="*/ 10 h 315"/>
                  <a:gd name="T106" fmla="*/ 54 w 354"/>
                  <a:gd name="T107" fmla="*/ 12 h 315"/>
                  <a:gd name="T108" fmla="*/ 61 w 354"/>
                  <a:gd name="T109" fmla="*/ 14 h 315"/>
                  <a:gd name="T110" fmla="*/ 68 w 354"/>
                  <a:gd name="T111" fmla="*/ 16 h 315"/>
                  <a:gd name="T112" fmla="*/ 74 w 354"/>
                  <a:gd name="T113" fmla="*/ 19 h 315"/>
                  <a:gd name="T114" fmla="*/ 80 w 354"/>
                  <a:gd name="T115" fmla="*/ 21 h 315"/>
                  <a:gd name="T116" fmla="*/ 87 w 354"/>
                  <a:gd name="T117" fmla="*/ 25 h 315"/>
                  <a:gd name="T118" fmla="*/ 93 w 354"/>
                  <a:gd name="T119" fmla="*/ 28 h 315"/>
                  <a:gd name="T120" fmla="*/ 98 w 354"/>
                  <a:gd name="T121" fmla="*/ 32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4"/>
                  <a:gd name="T184" fmla="*/ 0 h 315"/>
                  <a:gd name="T185" fmla="*/ 354 w 354"/>
                  <a:gd name="T186" fmla="*/ 315 h 31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2" name="Freeform 47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54 h 297"/>
                  <a:gd name="T2" fmla="*/ 0 w 143"/>
                  <a:gd name="T3" fmla="*/ 62 h 297"/>
                  <a:gd name="T4" fmla="*/ 2 w 143"/>
                  <a:gd name="T5" fmla="*/ 70 h 297"/>
                  <a:gd name="T6" fmla="*/ 5 w 143"/>
                  <a:gd name="T7" fmla="*/ 77 h 297"/>
                  <a:gd name="T8" fmla="*/ 10 w 143"/>
                  <a:gd name="T9" fmla="*/ 83 h 297"/>
                  <a:gd name="T10" fmla="*/ 16 w 143"/>
                  <a:gd name="T11" fmla="*/ 89 h 297"/>
                  <a:gd name="T12" fmla="*/ 23 w 143"/>
                  <a:gd name="T13" fmla="*/ 93 h 297"/>
                  <a:gd name="T14" fmla="*/ 30 w 143"/>
                  <a:gd name="T15" fmla="*/ 97 h 297"/>
                  <a:gd name="T16" fmla="*/ 38 w 143"/>
                  <a:gd name="T17" fmla="*/ 99 h 297"/>
                  <a:gd name="T18" fmla="*/ 40 w 143"/>
                  <a:gd name="T19" fmla="*/ 99 h 297"/>
                  <a:gd name="T20" fmla="*/ 43 w 143"/>
                  <a:gd name="T21" fmla="*/ 98 h 297"/>
                  <a:gd name="T22" fmla="*/ 45 w 143"/>
                  <a:gd name="T23" fmla="*/ 97 h 297"/>
                  <a:gd name="T24" fmla="*/ 46 w 143"/>
                  <a:gd name="T25" fmla="*/ 95 h 297"/>
                  <a:gd name="T26" fmla="*/ 46 w 143"/>
                  <a:gd name="T27" fmla="*/ 92 h 297"/>
                  <a:gd name="T28" fmla="*/ 45 w 143"/>
                  <a:gd name="T29" fmla="*/ 90 h 297"/>
                  <a:gd name="T30" fmla="*/ 44 w 143"/>
                  <a:gd name="T31" fmla="*/ 88 h 297"/>
                  <a:gd name="T32" fmla="*/ 41 w 143"/>
                  <a:gd name="T33" fmla="*/ 87 h 297"/>
                  <a:gd name="T34" fmla="*/ 34 w 143"/>
                  <a:gd name="T35" fmla="*/ 84 h 297"/>
                  <a:gd name="T36" fmla="*/ 26 w 143"/>
                  <a:gd name="T37" fmla="*/ 80 h 297"/>
                  <a:gd name="T38" fmla="*/ 21 w 143"/>
                  <a:gd name="T39" fmla="*/ 75 h 297"/>
                  <a:gd name="T40" fmla="*/ 16 w 143"/>
                  <a:gd name="T41" fmla="*/ 69 h 297"/>
                  <a:gd name="T42" fmla="*/ 13 w 143"/>
                  <a:gd name="T43" fmla="*/ 62 h 297"/>
                  <a:gd name="T44" fmla="*/ 12 w 143"/>
                  <a:gd name="T45" fmla="*/ 55 h 297"/>
                  <a:gd name="T46" fmla="*/ 12 w 143"/>
                  <a:gd name="T47" fmla="*/ 46 h 297"/>
                  <a:gd name="T48" fmla="*/ 14 w 143"/>
                  <a:gd name="T49" fmla="*/ 38 h 297"/>
                  <a:gd name="T50" fmla="*/ 17 w 143"/>
                  <a:gd name="T51" fmla="*/ 32 h 297"/>
                  <a:gd name="T52" fmla="*/ 21 w 143"/>
                  <a:gd name="T53" fmla="*/ 26 h 297"/>
                  <a:gd name="T54" fmla="*/ 25 w 143"/>
                  <a:gd name="T55" fmla="*/ 21 h 297"/>
                  <a:gd name="T56" fmla="*/ 30 w 143"/>
                  <a:gd name="T57" fmla="*/ 16 h 297"/>
                  <a:gd name="T58" fmla="*/ 35 w 143"/>
                  <a:gd name="T59" fmla="*/ 11 h 297"/>
                  <a:gd name="T60" fmla="*/ 39 w 143"/>
                  <a:gd name="T61" fmla="*/ 8 h 297"/>
                  <a:gd name="T62" fmla="*/ 44 w 143"/>
                  <a:gd name="T63" fmla="*/ 4 h 297"/>
                  <a:gd name="T64" fmla="*/ 47 w 143"/>
                  <a:gd name="T65" fmla="*/ 0 h 297"/>
                  <a:gd name="T66" fmla="*/ 44 w 143"/>
                  <a:gd name="T67" fmla="*/ 0 h 297"/>
                  <a:gd name="T68" fmla="*/ 38 w 143"/>
                  <a:gd name="T69" fmla="*/ 2 h 297"/>
                  <a:gd name="T70" fmla="*/ 31 w 143"/>
                  <a:gd name="T71" fmla="*/ 8 h 297"/>
                  <a:gd name="T72" fmla="*/ 23 w 143"/>
                  <a:gd name="T73" fmla="*/ 15 h 297"/>
                  <a:gd name="T74" fmla="*/ 15 w 143"/>
                  <a:gd name="T75" fmla="*/ 24 h 297"/>
                  <a:gd name="T76" fmla="*/ 8 w 143"/>
                  <a:gd name="T77" fmla="*/ 34 h 297"/>
                  <a:gd name="T78" fmla="*/ 3 w 143"/>
                  <a:gd name="T79" fmla="*/ 44 h 297"/>
                  <a:gd name="T80" fmla="*/ 0 w 143"/>
                  <a:gd name="T81" fmla="*/ 54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3"/>
                  <a:gd name="T124" fmla="*/ 0 h 297"/>
                  <a:gd name="T125" fmla="*/ 143 w 143"/>
                  <a:gd name="T126" fmla="*/ 297 h 29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3" name="Freeform 48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87 w 309"/>
                  <a:gd name="T1" fmla="*/ 52 h 388"/>
                  <a:gd name="T2" fmla="*/ 92 w 309"/>
                  <a:gd name="T3" fmla="*/ 60 h 388"/>
                  <a:gd name="T4" fmla="*/ 94 w 309"/>
                  <a:gd name="T5" fmla="*/ 68 h 388"/>
                  <a:gd name="T6" fmla="*/ 93 w 309"/>
                  <a:gd name="T7" fmla="*/ 78 h 388"/>
                  <a:gd name="T8" fmla="*/ 87 w 309"/>
                  <a:gd name="T9" fmla="*/ 87 h 388"/>
                  <a:gd name="T10" fmla="*/ 79 w 309"/>
                  <a:gd name="T11" fmla="*/ 95 h 388"/>
                  <a:gd name="T12" fmla="*/ 70 w 309"/>
                  <a:gd name="T13" fmla="*/ 102 h 388"/>
                  <a:gd name="T14" fmla="*/ 60 w 309"/>
                  <a:gd name="T15" fmla="*/ 110 h 388"/>
                  <a:gd name="T16" fmla="*/ 54 w 309"/>
                  <a:gd name="T17" fmla="*/ 116 h 388"/>
                  <a:gd name="T18" fmla="*/ 52 w 309"/>
                  <a:gd name="T19" fmla="*/ 119 h 388"/>
                  <a:gd name="T20" fmla="*/ 51 w 309"/>
                  <a:gd name="T21" fmla="*/ 123 h 388"/>
                  <a:gd name="T22" fmla="*/ 51 w 309"/>
                  <a:gd name="T23" fmla="*/ 127 h 388"/>
                  <a:gd name="T24" fmla="*/ 54 w 309"/>
                  <a:gd name="T25" fmla="*/ 129 h 388"/>
                  <a:gd name="T26" fmla="*/ 58 w 309"/>
                  <a:gd name="T27" fmla="*/ 129 h 388"/>
                  <a:gd name="T28" fmla="*/ 65 w 309"/>
                  <a:gd name="T29" fmla="*/ 122 h 388"/>
                  <a:gd name="T30" fmla="*/ 76 w 309"/>
                  <a:gd name="T31" fmla="*/ 112 h 388"/>
                  <a:gd name="T32" fmla="*/ 87 w 309"/>
                  <a:gd name="T33" fmla="*/ 102 h 388"/>
                  <a:gd name="T34" fmla="*/ 97 w 309"/>
                  <a:gd name="T35" fmla="*/ 91 h 388"/>
                  <a:gd name="T36" fmla="*/ 102 w 309"/>
                  <a:gd name="T37" fmla="*/ 78 h 388"/>
                  <a:gd name="T38" fmla="*/ 101 w 309"/>
                  <a:gd name="T39" fmla="*/ 64 h 388"/>
                  <a:gd name="T40" fmla="*/ 95 w 309"/>
                  <a:gd name="T41" fmla="*/ 50 h 388"/>
                  <a:gd name="T42" fmla="*/ 84 w 309"/>
                  <a:gd name="T43" fmla="*/ 39 h 388"/>
                  <a:gd name="T44" fmla="*/ 74 w 309"/>
                  <a:gd name="T45" fmla="*/ 31 h 388"/>
                  <a:gd name="T46" fmla="*/ 64 w 309"/>
                  <a:gd name="T47" fmla="*/ 25 h 388"/>
                  <a:gd name="T48" fmla="*/ 53 w 309"/>
                  <a:gd name="T49" fmla="*/ 18 h 388"/>
                  <a:gd name="T50" fmla="*/ 41 w 309"/>
                  <a:gd name="T51" fmla="*/ 12 h 388"/>
                  <a:gd name="T52" fmla="*/ 31 w 309"/>
                  <a:gd name="T53" fmla="*/ 7 h 388"/>
                  <a:gd name="T54" fmla="*/ 20 w 309"/>
                  <a:gd name="T55" fmla="*/ 3 h 388"/>
                  <a:gd name="T56" fmla="*/ 10 w 309"/>
                  <a:gd name="T57" fmla="*/ 1 h 388"/>
                  <a:gd name="T58" fmla="*/ 3 w 309"/>
                  <a:gd name="T59" fmla="*/ 1 h 388"/>
                  <a:gd name="T60" fmla="*/ 4 w 309"/>
                  <a:gd name="T61" fmla="*/ 2 h 388"/>
                  <a:gd name="T62" fmla="*/ 12 w 309"/>
                  <a:gd name="T63" fmla="*/ 6 h 388"/>
                  <a:gd name="T64" fmla="*/ 22 w 309"/>
                  <a:gd name="T65" fmla="*/ 10 h 388"/>
                  <a:gd name="T66" fmla="*/ 33 w 309"/>
                  <a:gd name="T67" fmla="*/ 15 h 388"/>
                  <a:gd name="T68" fmla="*/ 45 w 309"/>
                  <a:gd name="T69" fmla="*/ 22 h 388"/>
                  <a:gd name="T70" fmla="*/ 56 w 309"/>
                  <a:gd name="T71" fmla="*/ 29 h 388"/>
                  <a:gd name="T72" fmla="*/ 68 w 309"/>
                  <a:gd name="T73" fmla="*/ 36 h 388"/>
                  <a:gd name="T74" fmla="*/ 78 w 309"/>
                  <a:gd name="T75" fmla="*/ 44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9"/>
                  <a:gd name="T115" fmla="*/ 0 h 388"/>
                  <a:gd name="T116" fmla="*/ 309 w 309"/>
                  <a:gd name="T117" fmla="*/ 388 h 38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4" name="Freeform 49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110 w 406"/>
                  <a:gd name="T1" fmla="*/ 22 h 292"/>
                  <a:gd name="T2" fmla="*/ 117 w 406"/>
                  <a:gd name="T3" fmla="*/ 41 h 292"/>
                  <a:gd name="T4" fmla="*/ 124 w 406"/>
                  <a:gd name="T5" fmla="*/ 60 h 292"/>
                  <a:gd name="T6" fmla="*/ 131 w 406"/>
                  <a:gd name="T7" fmla="*/ 79 h 292"/>
                  <a:gd name="T8" fmla="*/ 135 w 406"/>
                  <a:gd name="T9" fmla="*/ 91 h 292"/>
                  <a:gd name="T10" fmla="*/ 134 w 406"/>
                  <a:gd name="T11" fmla="*/ 94 h 292"/>
                  <a:gd name="T12" fmla="*/ 131 w 406"/>
                  <a:gd name="T13" fmla="*/ 97 h 292"/>
                  <a:gd name="T14" fmla="*/ 127 w 406"/>
                  <a:gd name="T15" fmla="*/ 96 h 292"/>
                  <a:gd name="T16" fmla="*/ 121 w 406"/>
                  <a:gd name="T17" fmla="*/ 83 h 292"/>
                  <a:gd name="T18" fmla="*/ 113 w 406"/>
                  <a:gd name="T19" fmla="*/ 57 h 292"/>
                  <a:gd name="T20" fmla="*/ 106 w 406"/>
                  <a:gd name="T21" fmla="*/ 31 h 292"/>
                  <a:gd name="T22" fmla="*/ 102 w 406"/>
                  <a:gd name="T23" fmla="*/ 14 h 292"/>
                  <a:gd name="T24" fmla="*/ 94 w 406"/>
                  <a:gd name="T25" fmla="*/ 11 h 292"/>
                  <a:gd name="T26" fmla="*/ 79 w 406"/>
                  <a:gd name="T27" fmla="*/ 13 h 292"/>
                  <a:gd name="T28" fmla="*/ 64 w 406"/>
                  <a:gd name="T29" fmla="*/ 17 h 292"/>
                  <a:gd name="T30" fmla="*/ 49 w 406"/>
                  <a:gd name="T31" fmla="*/ 22 h 292"/>
                  <a:gd name="T32" fmla="*/ 35 w 406"/>
                  <a:gd name="T33" fmla="*/ 28 h 292"/>
                  <a:gd name="T34" fmla="*/ 22 w 406"/>
                  <a:gd name="T35" fmla="*/ 34 h 292"/>
                  <a:gd name="T36" fmla="*/ 11 w 406"/>
                  <a:gd name="T37" fmla="*/ 41 h 292"/>
                  <a:gd name="T38" fmla="*/ 3 w 406"/>
                  <a:gd name="T39" fmla="*/ 47 h 292"/>
                  <a:gd name="T40" fmla="*/ 0 w 406"/>
                  <a:gd name="T41" fmla="*/ 44 h 292"/>
                  <a:gd name="T42" fmla="*/ 6 w 406"/>
                  <a:gd name="T43" fmla="*/ 34 h 292"/>
                  <a:gd name="T44" fmla="*/ 18 w 406"/>
                  <a:gd name="T45" fmla="*/ 23 h 292"/>
                  <a:gd name="T46" fmla="*/ 31 w 406"/>
                  <a:gd name="T47" fmla="*/ 14 h 292"/>
                  <a:gd name="T48" fmla="*/ 46 w 406"/>
                  <a:gd name="T49" fmla="*/ 8 h 292"/>
                  <a:gd name="T50" fmla="*/ 70 w 406"/>
                  <a:gd name="T51" fmla="*/ 3 h 292"/>
                  <a:gd name="T52" fmla="*/ 92 w 406"/>
                  <a:gd name="T53" fmla="*/ 0 h 292"/>
                  <a:gd name="T54" fmla="*/ 107 w 406"/>
                  <a:gd name="T55" fmla="*/ 0 h 292"/>
                  <a:gd name="T56" fmla="*/ 112 w 406"/>
                  <a:gd name="T57" fmla="*/ 0 h 292"/>
                  <a:gd name="T58" fmla="*/ 115 w 406"/>
                  <a:gd name="T59" fmla="*/ 4 h 292"/>
                  <a:gd name="T60" fmla="*/ 115 w 406"/>
                  <a:gd name="T61" fmla="*/ 9 h 292"/>
                  <a:gd name="T62" fmla="*/ 111 w 406"/>
                  <a:gd name="T63" fmla="*/ 11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06"/>
                  <a:gd name="T97" fmla="*/ 0 h 292"/>
                  <a:gd name="T98" fmla="*/ 406 w 406"/>
                  <a:gd name="T99" fmla="*/ 292 h 29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5" name="Freeform 50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27 w 439"/>
                  <a:gd name="T1" fmla="*/ 96 h 960"/>
                  <a:gd name="T2" fmla="*/ 29 w 439"/>
                  <a:gd name="T3" fmla="*/ 105 h 960"/>
                  <a:gd name="T4" fmla="*/ 36 w 439"/>
                  <a:gd name="T5" fmla="*/ 125 h 960"/>
                  <a:gd name="T6" fmla="*/ 47 w 439"/>
                  <a:gd name="T7" fmla="*/ 152 h 960"/>
                  <a:gd name="T8" fmla="*/ 58 w 439"/>
                  <a:gd name="T9" fmla="*/ 178 h 960"/>
                  <a:gd name="T10" fmla="*/ 70 w 439"/>
                  <a:gd name="T11" fmla="*/ 204 h 960"/>
                  <a:gd name="T12" fmla="*/ 82 w 439"/>
                  <a:gd name="T13" fmla="*/ 229 h 960"/>
                  <a:gd name="T14" fmla="*/ 95 w 439"/>
                  <a:gd name="T15" fmla="*/ 254 h 960"/>
                  <a:gd name="T16" fmla="*/ 108 w 439"/>
                  <a:gd name="T17" fmla="*/ 280 h 960"/>
                  <a:gd name="T18" fmla="*/ 122 w 439"/>
                  <a:gd name="T19" fmla="*/ 305 h 960"/>
                  <a:gd name="T20" fmla="*/ 130 w 439"/>
                  <a:gd name="T21" fmla="*/ 319 h 960"/>
                  <a:gd name="T22" fmla="*/ 134 w 439"/>
                  <a:gd name="T23" fmla="*/ 320 h 960"/>
                  <a:gd name="T24" fmla="*/ 140 w 439"/>
                  <a:gd name="T25" fmla="*/ 320 h 960"/>
                  <a:gd name="T26" fmla="*/ 144 w 439"/>
                  <a:gd name="T27" fmla="*/ 319 h 960"/>
                  <a:gd name="T28" fmla="*/ 146 w 439"/>
                  <a:gd name="T29" fmla="*/ 316 h 960"/>
                  <a:gd name="T30" fmla="*/ 145 w 439"/>
                  <a:gd name="T31" fmla="*/ 312 h 960"/>
                  <a:gd name="T32" fmla="*/ 138 w 439"/>
                  <a:gd name="T33" fmla="*/ 301 h 960"/>
                  <a:gd name="T34" fmla="*/ 126 w 439"/>
                  <a:gd name="T35" fmla="*/ 281 h 960"/>
                  <a:gd name="T36" fmla="*/ 116 w 439"/>
                  <a:gd name="T37" fmla="*/ 261 h 960"/>
                  <a:gd name="T38" fmla="*/ 104 w 439"/>
                  <a:gd name="T39" fmla="*/ 241 h 960"/>
                  <a:gd name="T40" fmla="*/ 89 w 439"/>
                  <a:gd name="T41" fmla="*/ 213 h 960"/>
                  <a:gd name="T42" fmla="*/ 72 w 439"/>
                  <a:gd name="T43" fmla="*/ 177 h 960"/>
                  <a:gd name="T44" fmla="*/ 56 w 439"/>
                  <a:gd name="T45" fmla="*/ 141 h 960"/>
                  <a:gd name="T46" fmla="*/ 43 w 439"/>
                  <a:gd name="T47" fmla="*/ 104 h 960"/>
                  <a:gd name="T48" fmla="*/ 30 w 439"/>
                  <a:gd name="T49" fmla="*/ 73 h 960"/>
                  <a:gd name="T50" fmla="*/ 20 w 439"/>
                  <a:gd name="T51" fmla="*/ 46 h 960"/>
                  <a:gd name="T52" fmla="*/ 12 w 439"/>
                  <a:gd name="T53" fmla="*/ 21 h 960"/>
                  <a:gd name="T54" fmla="*/ 5 w 439"/>
                  <a:gd name="T55" fmla="*/ 3 h 960"/>
                  <a:gd name="T56" fmla="*/ 2 w 439"/>
                  <a:gd name="T57" fmla="*/ 0 h 960"/>
                  <a:gd name="T58" fmla="*/ 0 w 439"/>
                  <a:gd name="T59" fmla="*/ 3 h 960"/>
                  <a:gd name="T60" fmla="*/ 2 w 439"/>
                  <a:gd name="T61" fmla="*/ 16 h 960"/>
                  <a:gd name="T62" fmla="*/ 5 w 439"/>
                  <a:gd name="T63" fmla="*/ 38 h 960"/>
                  <a:gd name="T64" fmla="*/ 11 w 439"/>
                  <a:gd name="T65" fmla="*/ 60 h 960"/>
                  <a:gd name="T66" fmla="*/ 19 w 439"/>
                  <a:gd name="T67" fmla="*/ 80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39"/>
                  <a:gd name="T103" fmla="*/ 0 h 960"/>
                  <a:gd name="T104" fmla="*/ 439 w 439"/>
                  <a:gd name="T105" fmla="*/ 960 h 9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6" name="Freeform 51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1 w 382"/>
                  <a:gd name="T1" fmla="*/ 61 h 198"/>
                  <a:gd name="T2" fmla="*/ 0 w 382"/>
                  <a:gd name="T3" fmla="*/ 62 h 198"/>
                  <a:gd name="T4" fmla="*/ 0 w 382"/>
                  <a:gd name="T5" fmla="*/ 64 h 198"/>
                  <a:gd name="T6" fmla="*/ 1 w 382"/>
                  <a:gd name="T7" fmla="*/ 65 h 198"/>
                  <a:gd name="T8" fmla="*/ 2 w 382"/>
                  <a:gd name="T9" fmla="*/ 66 h 198"/>
                  <a:gd name="T10" fmla="*/ 10 w 382"/>
                  <a:gd name="T11" fmla="*/ 62 h 198"/>
                  <a:gd name="T12" fmla="*/ 17 w 382"/>
                  <a:gd name="T13" fmla="*/ 59 h 198"/>
                  <a:gd name="T14" fmla="*/ 25 w 382"/>
                  <a:gd name="T15" fmla="*/ 55 h 198"/>
                  <a:gd name="T16" fmla="*/ 33 w 382"/>
                  <a:gd name="T17" fmla="*/ 52 h 198"/>
                  <a:gd name="T18" fmla="*/ 42 w 382"/>
                  <a:gd name="T19" fmla="*/ 49 h 198"/>
                  <a:gd name="T20" fmla="*/ 49 w 382"/>
                  <a:gd name="T21" fmla="*/ 46 h 198"/>
                  <a:gd name="T22" fmla="*/ 57 w 382"/>
                  <a:gd name="T23" fmla="*/ 43 h 198"/>
                  <a:gd name="T24" fmla="*/ 65 w 382"/>
                  <a:gd name="T25" fmla="*/ 40 h 198"/>
                  <a:gd name="T26" fmla="*/ 73 w 382"/>
                  <a:gd name="T27" fmla="*/ 36 h 198"/>
                  <a:gd name="T28" fmla="*/ 81 w 382"/>
                  <a:gd name="T29" fmla="*/ 33 h 198"/>
                  <a:gd name="T30" fmla="*/ 89 w 382"/>
                  <a:gd name="T31" fmla="*/ 30 h 198"/>
                  <a:gd name="T32" fmla="*/ 96 w 382"/>
                  <a:gd name="T33" fmla="*/ 26 h 198"/>
                  <a:gd name="T34" fmla="*/ 104 w 382"/>
                  <a:gd name="T35" fmla="*/ 22 h 198"/>
                  <a:gd name="T36" fmla="*/ 111 w 382"/>
                  <a:gd name="T37" fmla="*/ 18 h 198"/>
                  <a:gd name="T38" fmla="*/ 119 w 382"/>
                  <a:gd name="T39" fmla="*/ 14 h 198"/>
                  <a:gd name="T40" fmla="*/ 126 w 382"/>
                  <a:gd name="T41" fmla="*/ 9 h 198"/>
                  <a:gd name="T42" fmla="*/ 128 w 382"/>
                  <a:gd name="T43" fmla="*/ 8 h 198"/>
                  <a:gd name="T44" fmla="*/ 128 w 382"/>
                  <a:gd name="T45" fmla="*/ 6 h 198"/>
                  <a:gd name="T46" fmla="*/ 128 w 382"/>
                  <a:gd name="T47" fmla="*/ 4 h 198"/>
                  <a:gd name="T48" fmla="*/ 127 w 382"/>
                  <a:gd name="T49" fmla="*/ 2 h 198"/>
                  <a:gd name="T50" fmla="*/ 126 w 382"/>
                  <a:gd name="T51" fmla="*/ 1 h 198"/>
                  <a:gd name="T52" fmla="*/ 124 w 382"/>
                  <a:gd name="T53" fmla="*/ 0 h 198"/>
                  <a:gd name="T54" fmla="*/ 122 w 382"/>
                  <a:gd name="T55" fmla="*/ 0 h 198"/>
                  <a:gd name="T56" fmla="*/ 120 w 382"/>
                  <a:gd name="T57" fmla="*/ 1 h 198"/>
                  <a:gd name="T58" fmla="*/ 112 w 382"/>
                  <a:gd name="T59" fmla="*/ 5 h 198"/>
                  <a:gd name="T60" fmla="*/ 104 w 382"/>
                  <a:gd name="T61" fmla="*/ 9 h 198"/>
                  <a:gd name="T62" fmla="*/ 94 w 382"/>
                  <a:gd name="T63" fmla="*/ 14 h 198"/>
                  <a:gd name="T64" fmla="*/ 85 w 382"/>
                  <a:gd name="T65" fmla="*/ 19 h 198"/>
                  <a:gd name="T66" fmla="*/ 75 w 382"/>
                  <a:gd name="T67" fmla="*/ 23 h 198"/>
                  <a:gd name="T68" fmla="*/ 65 w 382"/>
                  <a:gd name="T69" fmla="*/ 28 h 198"/>
                  <a:gd name="T70" fmla="*/ 55 w 382"/>
                  <a:gd name="T71" fmla="*/ 32 h 198"/>
                  <a:gd name="T72" fmla="*/ 45 w 382"/>
                  <a:gd name="T73" fmla="*/ 37 h 198"/>
                  <a:gd name="T74" fmla="*/ 36 w 382"/>
                  <a:gd name="T75" fmla="*/ 42 h 198"/>
                  <a:gd name="T76" fmla="*/ 28 w 382"/>
                  <a:gd name="T77" fmla="*/ 45 h 198"/>
                  <a:gd name="T78" fmla="*/ 20 w 382"/>
                  <a:gd name="T79" fmla="*/ 49 h 198"/>
                  <a:gd name="T80" fmla="*/ 13 w 382"/>
                  <a:gd name="T81" fmla="*/ 53 h 198"/>
                  <a:gd name="T82" fmla="*/ 8 w 382"/>
                  <a:gd name="T83" fmla="*/ 55 h 198"/>
                  <a:gd name="T84" fmla="*/ 4 w 382"/>
                  <a:gd name="T85" fmla="*/ 58 h 198"/>
                  <a:gd name="T86" fmla="*/ 2 w 382"/>
                  <a:gd name="T87" fmla="*/ 60 h 198"/>
                  <a:gd name="T88" fmla="*/ 1 w 382"/>
                  <a:gd name="T89" fmla="*/ 61 h 198"/>
                  <a:gd name="T90" fmla="*/ 1 w 382"/>
                  <a:gd name="T91" fmla="*/ 61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82"/>
                  <a:gd name="T139" fmla="*/ 0 h 198"/>
                  <a:gd name="T140" fmla="*/ 382 w 382"/>
                  <a:gd name="T141" fmla="*/ 198 h 19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7" name="Freeform 52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39 w 229"/>
                  <a:gd name="T1" fmla="*/ 1 h 240"/>
                  <a:gd name="T2" fmla="*/ 35 w 229"/>
                  <a:gd name="T3" fmla="*/ 0 h 240"/>
                  <a:gd name="T4" fmla="*/ 31 w 229"/>
                  <a:gd name="T5" fmla="*/ 0 h 240"/>
                  <a:gd name="T6" fmla="*/ 25 w 229"/>
                  <a:gd name="T7" fmla="*/ 0 h 240"/>
                  <a:gd name="T8" fmla="*/ 19 w 229"/>
                  <a:gd name="T9" fmla="*/ 1 h 240"/>
                  <a:gd name="T10" fmla="*/ 14 w 229"/>
                  <a:gd name="T11" fmla="*/ 4 h 240"/>
                  <a:gd name="T12" fmla="*/ 6 w 229"/>
                  <a:gd name="T13" fmla="*/ 11 h 240"/>
                  <a:gd name="T14" fmla="*/ 0 w 229"/>
                  <a:gd name="T15" fmla="*/ 25 h 240"/>
                  <a:gd name="T16" fmla="*/ 1 w 229"/>
                  <a:gd name="T17" fmla="*/ 40 h 240"/>
                  <a:gd name="T18" fmla="*/ 5 w 229"/>
                  <a:gd name="T19" fmla="*/ 56 h 240"/>
                  <a:gd name="T20" fmla="*/ 12 w 229"/>
                  <a:gd name="T21" fmla="*/ 67 h 240"/>
                  <a:gd name="T22" fmla="*/ 19 w 229"/>
                  <a:gd name="T23" fmla="*/ 74 h 240"/>
                  <a:gd name="T24" fmla="*/ 28 w 229"/>
                  <a:gd name="T25" fmla="*/ 79 h 240"/>
                  <a:gd name="T26" fmla="*/ 38 w 229"/>
                  <a:gd name="T27" fmla="*/ 80 h 240"/>
                  <a:gd name="T28" fmla="*/ 51 w 229"/>
                  <a:gd name="T29" fmla="*/ 76 h 240"/>
                  <a:gd name="T30" fmla="*/ 64 w 229"/>
                  <a:gd name="T31" fmla="*/ 68 h 240"/>
                  <a:gd name="T32" fmla="*/ 72 w 229"/>
                  <a:gd name="T33" fmla="*/ 57 h 240"/>
                  <a:gd name="T34" fmla="*/ 76 w 229"/>
                  <a:gd name="T35" fmla="*/ 44 h 240"/>
                  <a:gd name="T36" fmla="*/ 74 w 229"/>
                  <a:gd name="T37" fmla="*/ 34 h 240"/>
                  <a:gd name="T38" fmla="*/ 71 w 229"/>
                  <a:gd name="T39" fmla="*/ 32 h 240"/>
                  <a:gd name="T40" fmla="*/ 68 w 229"/>
                  <a:gd name="T41" fmla="*/ 32 h 240"/>
                  <a:gd name="T42" fmla="*/ 65 w 229"/>
                  <a:gd name="T43" fmla="*/ 35 h 240"/>
                  <a:gd name="T44" fmla="*/ 64 w 229"/>
                  <a:gd name="T45" fmla="*/ 42 h 240"/>
                  <a:gd name="T46" fmla="*/ 61 w 229"/>
                  <a:gd name="T47" fmla="*/ 53 h 240"/>
                  <a:gd name="T48" fmla="*/ 54 w 229"/>
                  <a:gd name="T49" fmla="*/ 60 h 240"/>
                  <a:gd name="T50" fmla="*/ 44 w 229"/>
                  <a:gd name="T51" fmla="*/ 65 h 240"/>
                  <a:gd name="T52" fmla="*/ 31 w 229"/>
                  <a:gd name="T53" fmla="*/ 66 h 240"/>
                  <a:gd name="T54" fmla="*/ 21 w 229"/>
                  <a:gd name="T55" fmla="*/ 59 h 240"/>
                  <a:gd name="T56" fmla="*/ 16 w 229"/>
                  <a:gd name="T57" fmla="*/ 47 h 240"/>
                  <a:gd name="T58" fmla="*/ 12 w 229"/>
                  <a:gd name="T59" fmla="*/ 34 h 240"/>
                  <a:gd name="T60" fmla="*/ 12 w 229"/>
                  <a:gd name="T61" fmla="*/ 24 h 240"/>
                  <a:gd name="T62" fmla="*/ 14 w 229"/>
                  <a:gd name="T63" fmla="*/ 17 h 240"/>
                  <a:gd name="T64" fmla="*/ 18 w 229"/>
                  <a:gd name="T65" fmla="*/ 11 h 240"/>
                  <a:gd name="T66" fmla="*/ 26 w 229"/>
                  <a:gd name="T67" fmla="*/ 7 h 240"/>
                  <a:gd name="T68" fmla="*/ 32 w 229"/>
                  <a:gd name="T69" fmla="*/ 6 h 240"/>
                  <a:gd name="T70" fmla="*/ 40 w 229"/>
                  <a:gd name="T71" fmla="*/ 6 h 240"/>
                  <a:gd name="T72" fmla="*/ 46 w 229"/>
                  <a:gd name="T73" fmla="*/ 7 h 240"/>
                  <a:gd name="T74" fmla="*/ 44 w 229"/>
                  <a:gd name="T75" fmla="*/ 3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9"/>
                  <a:gd name="T115" fmla="*/ 0 h 240"/>
                  <a:gd name="T116" fmla="*/ 229 w 229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8" name="Freeform 53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20 w 281"/>
                  <a:gd name="T1" fmla="*/ 3 h 270"/>
                  <a:gd name="T2" fmla="*/ 11 w 281"/>
                  <a:gd name="T3" fmla="*/ 9 h 270"/>
                  <a:gd name="T4" fmla="*/ 5 w 281"/>
                  <a:gd name="T5" fmla="*/ 17 h 270"/>
                  <a:gd name="T6" fmla="*/ 1 w 281"/>
                  <a:gd name="T7" fmla="*/ 27 h 270"/>
                  <a:gd name="T8" fmla="*/ 0 w 281"/>
                  <a:gd name="T9" fmla="*/ 38 h 270"/>
                  <a:gd name="T10" fmla="*/ 2 w 281"/>
                  <a:gd name="T11" fmla="*/ 48 h 270"/>
                  <a:gd name="T12" fmla="*/ 6 w 281"/>
                  <a:gd name="T13" fmla="*/ 59 h 270"/>
                  <a:gd name="T14" fmla="*/ 12 w 281"/>
                  <a:gd name="T15" fmla="*/ 68 h 270"/>
                  <a:gd name="T16" fmla="*/ 22 w 281"/>
                  <a:gd name="T17" fmla="*/ 77 h 270"/>
                  <a:gd name="T18" fmla="*/ 34 w 281"/>
                  <a:gd name="T19" fmla="*/ 86 h 270"/>
                  <a:gd name="T20" fmla="*/ 47 w 281"/>
                  <a:gd name="T21" fmla="*/ 90 h 270"/>
                  <a:gd name="T22" fmla="*/ 61 w 281"/>
                  <a:gd name="T23" fmla="*/ 88 h 270"/>
                  <a:gd name="T24" fmla="*/ 72 w 281"/>
                  <a:gd name="T25" fmla="*/ 80 h 270"/>
                  <a:gd name="T26" fmla="*/ 81 w 281"/>
                  <a:gd name="T27" fmla="*/ 72 h 270"/>
                  <a:gd name="T28" fmla="*/ 87 w 281"/>
                  <a:gd name="T29" fmla="*/ 63 h 270"/>
                  <a:gd name="T30" fmla="*/ 91 w 281"/>
                  <a:gd name="T31" fmla="*/ 53 h 270"/>
                  <a:gd name="T32" fmla="*/ 93 w 281"/>
                  <a:gd name="T33" fmla="*/ 45 h 270"/>
                  <a:gd name="T34" fmla="*/ 91 w 281"/>
                  <a:gd name="T35" fmla="*/ 40 h 270"/>
                  <a:gd name="T36" fmla="*/ 86 w 281"/>
                  <a:gd name="T37" fmla="*/ 39 h 270"/>
                  <a:gd name="T38" fmla="*/ 81 w 281"/>
                  <a:gd name="T39" fmla="*/ 41 h 270"/>
                  <a:gd name="T40" fmla="*/ 80 w 281"/>
                  <a:gd name="T41" fmla="*/ 44 h 270"/>
                  <a:gd name="T42" fmla="*/ 78 w 281"/>
                  <a:gd name="T43" fmla="*/ 50 h 270"/>
                  <a:gd name="T44" fmla="*/ 73 w 281"/>
                  <a:gd name="T45" fmla="*/ 60 h 270"/>
                  <a:gd name="T46" fmla="*/ 66 w 281"/>
                  <a:gd name="T47" fmla="*/ 68 h 270"/>
                  <a:gd name="T48" fmla="*/ 51 w 281"/>
                  <a:gd name="T49" fmla="*/ 71 h 270"/>
                  <a:gd name="T50" fmla="*/ 33 w 281"/>
                  <a:gd name="T51" fmla="*/ 66 h 270"/>
                  <a:gd name="T52" fmla="*/ 20 w 281"/>
                  <a:gd name="T53" fmla="*/ 54 h 270"/>
                  <a:gd name="T54" fmla="*/ 13 w 281"/>
                  <a:gd name="T55" fmla="*/ 38 h 270"/>
                  <a:gd name="T56" fmla="*/ 15 w 281"/>
                  <a:gd name="T57" fmla="*/ 25 h 270"/>
                  <a:gd name="T58" fmla="*/ 20 w 281"/>
                  <a:gd name="T59" fmla="*/ 17 h 270"/>
                  <a:gd name="T60" fmla="*/ 26 w 281"/>
                  <a:gd name="T61" fmla="*/ 10 h 270"/>
                  <a:gd name="T62" fmla="*/ 34 w 281"/>
                  <a:gd name="T63" fmla="*/ 6 h 270"/>
                  <a:gd name="T64" fmla="*/ 36 w 281"/>
                  <a:gd name="T65" fmla="*/ 2 h 270"/>
                  <a:gd name="T66" fmla="*/ 29 w 281"/>
                  <a:gd name="T67" fmla="*/ 1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1"/>
                  <a:gd name="T103" fmla="*/ 0 h 270"/>
                  <a:gd name="T104" fmla="*/ 281 w 281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09" name="Freeform 54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2 h 13"/>
                  <a:gd name="T2" fmla="*/ 1 w 15"/>
                  <a:gd name="T3" fmla="*/ 3 h 13"/>
                  <a:gd name="T4" fmla="*/ 1 w 15"/>
                  <a:gd name="T5" fmla="*/ 3 h 13"/>
                  <a:gd name="T6" fmla="*/ 2 w 15"/>
                  <a:gd name="T7" fmla="*/ 4 h 13"/>
                  <a:gd name="T8" fmla="*/ 3 w 15"/>
                  <a:gd name="T9" fmla="*/ 4 h 13"/>
                  <a:gd name="T10" fmla="*/ 4 w 15"/>
                  <a:gd name="T11" fmla="*/ 4 h 13"/>
                  <a:gd name="T12" fmla="*/ 5 w 15"/>
                  <a:gd name="T13" fmla="*/ 3 h 13"/>
                  <a:gd name="T14" fmla="*/ 5 w 15"/>
                  <a:gd name="T15" fmla="*/ 3 h 13"/>
                  <a:gd name="T16" fmla="*/ 5 w 15"/>
                  <a:gd name="T17" fmla="*/ 2 h 13"/>
                  <a:gd name="T18" fmla="*/ 5 w 15"/>
                  <a:gd name="T19" fmla="*/ 1 h 13"/>
                  <a:gd name="T20" fmla="*/ 5 w 15"/>
                  <a:gd name="T21" fmla="*/ 0 h 13"/>
                  <a:gd name="T22" fmla="*/ 4 w 15"/>
                  <a:gd name="T23" fmla="*/ 0 h 13"/>
                  <a:gd name="T24" fmla="*/ 3 w 15"/>
                  <a:gd name="T25" fmla="*/ 0 h 13"/>
                  <a:gd name="T26" fmla="*/ 2 w 15"/>
                  <a:gd name="T27" fmla="*/ 0 h 13"/>
                  <a:gd name="T28" fmla="*/ 1 w 15"/>
                  <a:gd name="T29" fmla="*/ 0 h 13"/>
                  <a:gd name="T30" fmla="*/ 1 w 15"/>
                  <a:gd name="T31" fmla="*/ 1 h 13"/>
                  <a:gd name="T32" fmla="*/ 0 w 15"/>
                  <a:gd name="T33" fmla="*/ 2 h 13"/>
                  <a:gd name="T34" fmla="*/ 0 w 15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"/>
                  <a:gd name="T55" fmla="*/ 0 h 13"/>
                  <a:gd name="T56" fmla="*/ 15 w 15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0" name="Freeform 55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3 h 17"/>
                  <a:gd name="T2" fmla="*/ 0 w 17"/>
                  <a:gd name="T3" fmla="*/ 5 h 17"/>
                  <a:gd name="T4" fmla="*/ 1 w 17"/>
                  <a:gd name="T5" fmla="*/ 5 h 17"/>
                  <a:gd name="T6" fmla="*/ 2 w 17"/>
                  <a:gd name="T7" fmla="*/ 6 h 17"/>
                  <a:gd name="T8" fmla="*/ 3 w 17"/>
                  <a:gd name="T9" fmla="*/ 6 h 17"/>
                  <a:gd name="T10" fmla="*/ 5 w 17"/>
                  <a:gd name="T11" fmla="*/ 6 h 17"/>
                  <a:gd name="T12" fmla="*/ 6 w 17"/>
                  <a:gd name="T13" fmla="*/ 5 h 17"/>
                  <a:gd name="T14" fmla="*/ 6 w 17"/>
                  <a:gd name="T15" fmla="*/ 5 h 17"/>
                  <a:gd name="T16" fmla="*/ 6 w 17"/>
                  <a:gd name="T17" fmla="*/ 3 h 17"/>
                  <a:gd name="T18" fmla="*/ 6 w 17"/>
                  <a:gd name="T19" fmla="*/ 2 h 17"/>
                  <a:gd name="T20" fmla="*/ 6 w 17"/>
                  <a:gd name="T21" fmla="*/ 1 h 17"/>
                  <a:gd name="T22" fmla="*/ 5 w 17"/>
                  <a:gd name="T23" fmla="*/ 1 h 17"/>
                  <a:gd name="T24" fmla="*/ 3 w 17"/>
                  <a:gd name="T25" fmla="*/ 0 h 17"/>
                  <a:gd name="T26" fmla="*/ 2 w 17"/>
                  <a:gd name="T27" fmla="*/ 1 h 17"/>
                  <a:gd name="T28" fmla="*/ 1 w 17"/>
                  <a:gd name="T29" fmla="*/ 1 h 17"/>
                  <a:gd name="T30" fmla="*/ 0 w 17"/>
                  <a:gd name="T31" fmla="*/ 2 h 17"/>
                  <a:gd name="T32" fmla="*/ 0 w 17"/>
                  <a:gd name="T33" fmla="*/ 3 h 17"/>
                  <a:gd name="T34" fmla="*/ 0 w 17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"/>
                  <a:gd name="T55" fmla="*/ 0 h 17"/>
                  <a:gd name="T56" fmla="*/ 17 w 17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1" name="Freeform 56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2 h 9"/>
                  <a:gd name="T4" fmla="*/ 0 w 9"/>
                  <a:gd name="T5" fmla="*/ 2 h 9"/>
                  <a:gd name="T6" fmla="*/ 1 w 9"/>
                  <a:gd name="T7" fmla="*/ 3 h 9"/>
                  <a:gd name="T8" fmla="*/ 1 w 9"/>
                  <a:gd name="T9" fmla="*/ 3 h 9"/>
                  <a:gd name="T10" fmla="*/ 2 w 9"/>
                  <a:gd name="T11" fmla="*/ 3 h 9"/>
                  <a:gd name="T12" fmla="*/ 2 w 9"/>
                  <a:gd name="T13" fmla="*/ 2 h 9"/>
                  <a:gd name="T14" fmla="*/ 3 w 9"/>
                  <a:gd name="T15" fmla="*/ 2 h 9"/>
                  <a:gd name="T16" fmla="*/ 3 w 9"/>
                  <a:gd name="T17" fmla="*/ 1 h 9"/>
                  <a:gd name="T18" fmla="*/ 3 w 9"/>
                  <a:gd name="T19" fmla="*/ 1 h 9"/>
                  <a:gd name="T20" fmla="*/ 2 w 9"/>
                  <a:gd name="T21" fmla="*/ 1 h 9"/>
                  <a:gd name="T22" fmla="*/ 2 w 9"/>
                  <a:gd name="T23" fmla="*/ 0 h 9"/>
                  <a:gd name="T24" fmla="*/ 1 w 9"/>
                  <a:gd name="T25" fmla="*/ 0 h 9"/>
                  <a:gd name="T26" fmla="*/ 1 w 9"/>
                  <a:gd name="T27" fmla="*/ 0 h 9"/>
                  <a:gd name="T28" fmla="*/ 0 w 9"/>
                  <a:gd name="T29" fmla="*/ 1 h 9"/>
                  <a:gd name="T30" fmla="*/ 0 w 9"/>
                  <a:gd name="T31" fmla="*/ 1 h 9"/>
                  <a:gd name="T32" fmla="*/ 0 w 9"/>
                  <a:gd name="T33" fmla="*/ 1 h 9"/>
                  <a:gd name="T34" fmla="*/ 0 w 9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9"/>
                  <a:gd name="T56" fmla="*/ 9 w 9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2" name="Freeform 57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2 h 8"/>
                  <a:gd name="T2" fmla="*/ 0 w 7"/>
                  <a:gd name="T3" fmla="*/ 2 h 8"/>
                  <a:gd name="T4" fmla="*/ 0 w 7"/>
                  <a:gd name="T5" fmla="*/ 3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3 h 8"/>
                  <a:gd name="T14" fmla="*/ 2 w 7"/>
                  <a:gd name="T15" fmla="*/ 2 h 8"/>
                  <a:gd name="T16" fmla="*/ 2 w 7"/>
                  <a:gd name="T17" fmla="*/ 2 h 8"/>
                  <a:gd name="T18" fmla="*/ 2 w 7"/>
                  <a:gd name="T19" fmla="*/ 1 h 8"/>
                  <a:gd name="T20" fmla="*/ 2 w 7"/>
                  <a:gd name="T21" fmla="*/ 0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0 h 8"/>
                  <a:gd name="T30" fmla="*/ 0 w 7"/>
                  <a:gd name="T31" fmla="*/ 1 h 8"/>
                  <a:gd name="T32" fmla="*/ 0 w 7"/>
                  <a:gd name="T33" fmla="*/ 2 h 8"/>
                  <a:gd name="T34" fmla="*/ 0 w 7"/>
                  <a:gd name="T35" fmla="*/ 2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3" name="Freeform 58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1 h 9"/>
                  <a:gd name="T2" fmla="*/ 0 w 7"/>
                  <a:gd name="T3" fmla="*/ 2 h 9"/>
                  <a:gd name="T4" fmla="*/ 0 w 7"/>
                  <a:gd name="T5" fmla="*/ 2 h 9"/>
                  <a:gd name="T6" fmla="*/ 1 w 7"/>
                  <a:gd name="T7" fmla="*/ 3 h 9"/>
                  <a:gd name="T8" fmla="*/ 1 w 7"/>
                  <a:gd name="T9" fmla="*/ 3 h 9"/>
                  <a:gd name="T10" fmla="*/ 1 w 7"/>
                  <a:gd name="T11" fmla="*/ 3 h 9"/>
                  <a:gd name="T12" fmla="*/ 1 w 7"/>
                  <a:gd name="T13" fmla="*/ 2 h 9"/>
                  <a:gd name="T14" fmla="*/ 2 w 7"/>
                  <a:gd name="T15" fmla="*/ 2 h 9"/>
                  <a:gd name="T16" fmla="*/ 2 w 7"/>
                  <a:gd name="T17" fmla="*/ 1 h 9"/>
                  <a:gd name="T18" fmla="*/ 2 w 7"/>
                  <a:gd name="T19" fmla="*/ 1 h 9"/>
                  <a:gd name="T20" fmla="*/ 1 w 7"/>
                  <a:gd name="T21" fmla="*/ 0 h 9"/>
                  <a:gd name="T22" fmla="*/ 1 w 7"/>
                  <a:gd name="T23" fmla="*/ 0 h 9"/>
                  <a:gd name="T24" fmla="*/ 1 w 7"/>
                  <a:gd name="T25" fmla="*/ 0 h 9"/>
                  <a:gd name="T26" fmla="*/ 1 w 7"/>
                  <a:gd name="T27" fmla="*/ 0 h 9"/>
                  <a:gd name="T28" fmla="*/ 0 w 7"/>
                  <a:gd name="T29" fmla="*/ 0 h 9"/>
                  <a:gd name="T30" fmla="*/ 0 w 7"/>
                  <a:gd name="T31" fmla="*/ 1 h 9"/>
                  <a:gd name="T32" fmla="*/ 0 w 7"/>
                  <a:gd name="T33" fmla="*/ 1 h 9"/>
                  <a:gd name="T34" fmla="*/ 0 w 7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9"/>
                  <a:gd name="T56" fmla="*/ 7 w 7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4" name="Freeform 59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3 h 20"/>
                  <a:gd name="T2" fmla="*/ 0 w 20"/>
                  <a:gd name="T3" fmla="*/ 4 h 20"/>
                  <a:gd name="T4" fmla="*/ 1 w 20"/>
                  <a:gd name="T5" fmla="*/ 5 h 20"/>
                  <a:gd name="T6" fmla="*/ 2 w 20"/>
                  <a:gd name="T7" fmla="*/ 6 h 20"/>
                  <a:gd name="T8" fmla="*/ 4 w 20"/>
                  <a:gd name="T9" fmla="*/ 6 h 20"/>
                  <a:gd name="T10" fmla="*/ 5 w 20"/>
                  <a:gd name="T11" fmla="*/ 6 h 20"/>
                  <a:gd name="T12" fmla="*/ 6 w 20"/>
                  <a:gd name="T13" fmla="*/ 5 h 20"/>
                  <a:gd name="T14" fmla="*/ 7 w 20"/>
                  <a:gd name="T15" fmla="*/ 4 h 20"/>
                  <a:gd name="T16" fmla="*/ 7 w 20"/>
                  <a:gd name="T17" fmla="*/ 3 h 20"/>
                  <a:gd name="T18" fmla="*/ 7 w 20"/>
                  <a:gd name="T19" fmla="*/ 2 h 20"/>
                  <a:gd name="T20" fmla="*/ 6 w 20"/>
                  <a:gd name="T21" fmla="*/ 1 h 20"/>
                  <a:gd name="T22" fmla="*/ 5 w 20"/>
                  <a:gd name="T23" fmla="*/ 0 h 20"/>
                  <a:gd name="T24" fmla="*/ 4 w 20"/>
                  <a:gd name="T25" fmla="*/ 0 h 20"/>
                  <a:gd name="T26" fmla="*/ 2 w 20"/>
                  <a:gd name="T27" fmla="*/ 0 h 20"/>
                  <a:gd name="T28" fmla="*/ 1 w 20"/>
                  <a:gd name="T29" fmla="*/ 1 h 20"/>
                  <a:gd name="T30" fmla="*/ 0 w 20"/>
                  <a:gd name="T31" fmla="*/ 2 h 20"/>
                  <a:gd name="T32" fmla="*/ 0 w 20"/>
                  <a:gd name="T33" fmla="*/ 3 h 20"/>
                  <a:gd name="T34" fmla="*/ 0 w 20"/>
                  <a:gd name="T35" fmla="*/ 3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"/>
                  <a:gd name="T55" fmla="*/ 0 h 20"/>
                  <a:gd name="T56" fmla="*/ 20 w 20"/>
                  <a:gd name="T57" fmla="*/ 20 h 2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5" name="Freeform 60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2 h 13"/>
                  <a:gd name="T2" fmla="*/ 0 w 12"/>
                  <a:gd name="T3" fmla="*/ 3 h 13"/>
                  <a:gd name="T4" fmla="*/ 1 w 12"/>
                  <a:gd name="T5" fmla="*/ 4 h 13"/>
                  <a:gd name="T6" fmla="*/ 1 w 12"/>
                  <a:gd name="T7" fmla="*/ 4 h 13"/>
                  <a:gd name="T8" fmla="*/ 2 w 12"/>
                  <a:gd name="T9" fmla="*/ 4 h 13"/>
                  <a:gd name="T10" fmla="*/ 3 w 12"/>
                  <a:gd name="T11" fmla="*/ 4 h 13"/>
                  <a:gd name="T12" fmla="*/ 4 w 12"/>
                  <a:gd name="T13" fmla="*/ 4 h 13"/>
                  <a:gd name="T14" fmla="*/ 4 w 12"/>
                  <a:gd name="T15" fmla="*/ 3 h 13"/>
                  <a:gd name="T16" fmla="*/ 4 w 12"/>
                  <a:gd name="T17" fmla="*/ 2 h 13"/>
                  <a:gd name="T18" fmla="*/ 4 w 12"/>
                  <a:gd name="T19" fmla="*/ 2 h 13"/>
                  <a:gd name="T20" fmla="*/ 4 w 12"/>
                  <a:gd name="T21" fmla="*/ 1 h 13"/>
                  <a:gd name="T22" fmla="*/ 3 w 12"/>
                  <a:gd name="T23" fmla="*/ 0 h 13"/>
                  <a:gd name="T24" fmla="*/ 2 w 12"/>
                  <a:gd name="T25" fmla="*/ 0 h 13"/>
                  <a:gd name="T26" fmla="*/ 1 w 12"/>
                  <a:gd name="T27" fmla="*/ 0 h 13"/>
                  <a:gd name="T28" fmla="*/ 1 w 12"/>
                  <a:gd name="T29" fmla="*/ 1 h 13"/>
                  <a:gd name="T30" fmla="*/ 0 w 12"/>
                  <a:gd name="T31" fmla="*/ 2 h 13"/>
                  <a:gd name="T32" fmla="*/ 0 w 12"/>
                  <a:gd name="T33" fmla="*/ 2 h 13"/>
                  <a:gd name="T34" fmla="*/ 0 w 12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3"/>
                  <a:gd name="T56" fmla="*/ 12 w 12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6" name="Freeform 61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2 h 12"/>
                  <a:gd name="T2" fmla="*/ 0 w 13"/>
                  <a:gd name="T3" fmla="*/ 3 h 12"/>
                  <a:gd name="T4" fmla="*/ 1 w 13"/>
                  <a:gd name="T5" fmla="*/ 3 h 12"/>
                  <a:gd name="T6" fmla="*/ 2 w 13"/>
                  <a:gd name="T7" fmla="*/ 4 h 12"/>
                  <a:gd name="T8" fmla="*/ 3 w 13"/>
                  <a:gd name="T9" fmla="*/ 4 h 12"/>
                  <a:gd name="T10" fmla="*/ 3 w 13"/>
                  <a:gd name="T11" fmla="*/ 4 h 12"/>
                  <a:gd name="T12" fmla="*/ 5 w 13"/>
                  <a:gd name="T13" fmla="*/ 3 h 12"/>
                  <a:gd name="T14" fmla="*/ 5 w 13"/>
                  <a:gd name="T15" fmla="*/ 3 h 12"/>
                  <a:gd name="T16" fmla="*/ 5 w 13"/>
                  <a:gd name="T17" fmla="*/ 2 h 12"/>
                  <a:gd name="T18" fmla="*/ 5 w 13"/>
                  <a:gd name="T19" fmla="*/ 1 h 12"/>
                  <a:gd name="T20" fmla="*/ 5 w 13"/>
                  <a:gd name="T21" fmla="*/ 1 h 12"/>
                  <a:gd name="T22" fmla="*/ 3 w 13"/>
                  <a:gd name="T23" fmla="*/ 0 h 12"/>
                  <a:gd name="T24" fmla="*/ 3 w 13"/>
                  <a:gd name="T25" fmla="*/ 0 h 12"/>
                  <a:gd name="T26" fmla="*/ 2 w 13"/>
                  <a:gd name="T27" fmla="*/ 0 h 12"/>
                  <a:gd name="T28" fmla="*/ 1 w 13"/>
                  <a:gd name="T29" fmla="*/ 1 h 12"/>
                  <a:gd name="T30" fmla="*/ 0 w 13"/>
                  <a:gd name="T31" fmla="*/ 1 h 12"/>
                  <a:gd name="T32" fmla="*/ 0 w 13"/>
                  <a:gd name="T33" fmla="*/ 2 h 12"/>
                  <a:gd name="T34" fmla="*/ 0 w 13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"/>
                  <a:gd name="T55" fmla="*/ 0 h 12"/>
                  <a:gd name="T56" fmla="*/ 13 w 13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7" name="Freeform 62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1 h 7"/>
                  <a:gd name="T2" fmla="*/ 0 w 8"/>
                  <a:gd name="T3" fmla="*/ 1 h 7"/>
                  <a:gd name="T4" fmla="*/ 0 w 8"/>
                  <a:gd name="T5" fmla="*/ 2 h 7"/>
                  <a:gd name="T6" fmla="*/ 1 w 8"/>
                  <a:gd name="T7" fmla="*/ 2 h 7"/>
                  <a:gd name="T8" fmla="*/ 1 w 8"/>
                  <a:gd name="T9" fmla="*/ 2 h 7"/>
                  <a:gd name="T10" fmla="*/ 1 w 8"/>
                  <a:gd name="T11" fmla="*/ 2 h 7"/>
                  <a:gd name="T12" fmla="*/ 2 w 8"/>
                  <a:gd name="T13" fmla="*/ 2 h 7"/>
                  <a:gd name="T14" fmla="*/ 2 w 8"/>
                  <a:gd name="T15" fmla="*/ 1 h 7"/>
                  <a:gd name="T16" fmla="*/ 2 w 8"/>
                  <a:gd name="T17" fmla="*/ 1 h 7"/>
                  <a:gd name="T18" fmla="*/ 2 w 8"/>
                  <a:gd name="T19" fmla="*/ 0 h 7"/>
                  <a:gd name="T20" fmla="*/ 2 w 8"/>
                  <a:gd name="T21" fmla="*/ 0 h 7"/>
                  <a:gd name="T22" fmla="*/ 1 w 8"/>
                  <a:gd name="T23" fmla="*/ 0 h 7"/>
                  <a:gd name="T24" fmla="*/ 1 w 8"/>
                  <a:gd name="T25" fmla="*/ 0 h 7"/>
                  <a:gd name="T26" fmla="*/ 1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1 h 7"/>
                  <a:gd name="T34" fmla="*/ 0 w 8"/>
                  <a:gd name="T35" fmla="*/ 1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"/>
                  <a:gd name="T55" fmla="*/ 0 h 7"/>
                  <a:gd name="T56" fmla="*/ 8 w 8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8" name="Freeform 63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1 h 8"/>
                  <a:gd name="T2" fmla="*/ 0 w 7"/>
                  <a:gd name="T3" fmla="*/ 2 h 8"/>
                  <a:gd name="T4" fmla="*/ 0 w 7"/>
                  <a:gd name="T5" fmla="*/ 2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2 h 8"/>
                  <a:gd name="T14" fmla="*/ 2 w 7"/>
                  <a:gd name="T15" fmla="*/ 2 h 8"/>
                  <a:gd name="T16" fmla="*/ 2 w 7"/>
                  <a:gd name="T17" fmla="*/ 1 h 8"/>
                  <a:gd name="T18" fmla="*/ 2 w 7"/>
                  <a:gd name="T19" fmla="*/ 1 h 8"/>
                  <a:gd name="T20" fmla="*/ 2 w 7"/>
                  <a:gd name="T21" fmla="*/ 1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1 h 8"/>
                  <a:gd name="T30" fmla="*/ 0 w 7"/>
                  <a:gd name="T31" fmla="*/ 1 h 8"/>
                  <a:gd name="T32" fmla="*/ 0 w 7"/>
                  <a:gd name="T33" fmla="*/ 1 h 8"/>
                  <a:gd name="T34" fmla="*/ 0 w 7"/>
                  <a:gd name="T35" fmla="*/ 1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9" name="Freeform 64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3 h 17"/>
                  <a:gd name="T2" fmla="*/ 0 w 16"/>
                  <a:gd name="T3" fmla="*/ 4 h 17"/>
                  <a:gd name="T4" fmla="*/ 1 w 16"/>
                  <a:gd name="T5" fmla="*/ 5 h 17"/>
                  <a:gd name="T6" fmla="*/ 2 w 16"/>
                  <a:gd name="T7" fmla="*/ 6 h 17"/>
                  <a:gd name="T8" fmla="*/ 3 w 16"/>
                  <a:gd name="T9" fmla="*/ 6 h 17"/>
                  <a:gd name="T10" fmla="*/ 4 w 16"/>
                  <a:gd name="T11" fmla="*/ 6 h 17"/>
                  <a:gd name="T12" fmla="*/ 6 w 16"/>
                  <a:gd name="T13" fmla="*/ 5 h 17"/>
                  <a:gd name="T14" fmla="*/ 6 w 16"/>
                  <a:gd name="T15" fmla="*/ 4 h 17"/>
                  <a:gd name="T16" fmla="*/ 6 w 16"/>
                  <a:gd name="T17" fmla="*/ 3 h 17"/>
                  <a:gd name="T18" fmla="*/ 6 w 16"/>
                  <a:gd name="T19" fmla="*/ 2 h 17"/>
                  <a:gd name="T20" fmla="*/ 6 w 16"/>
                  <a:gd name="T21" fmla="*/ 1 h 17"/>
                  <a:gd name="T22" fmla="*/ 4 w 16"/>
                  <a:gd name="T23" fmla="*/ 0 h 17"/>
                  <a:gd name="T24" fmla="*/ 3 w 16"/>
                  <a:gd name="T25" fmla="*/ 0 h 17"/>
                  <a:gd name="T26" fmla="*/ 2 w 16"/>
                  <a:gd name="T27" fmla="*/ 0 h 17"/>
                  <a:gd name="T28" fmla="*/ 1 w 16"/>
                  <a:gd name="T29" fmla="*/ 1 h 17"/>
                  <a:gd name="T30" fmla="*/ 0 w 16"/>
                  <a:gd name="T31" fmla="*/ 2 h 17"/>
                  <a:gd name="T32" fmla="*/ 0 w 16"/>
                  <a:gd name="T33" fmla="*/ 3 h 17"/>
                  <a:gd name="T34" fmla="*/ 0 w 16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"/>
                  <a:gd name="T55" fmla="*/ 0 h 17"/>
                  <a:gd name="T56" fmla="*/ 16 w 16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0" name="Freeform 65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2 h 12"/>
                  <a:gd name="T2" fmla="*/ 0 w 12"/>
                  <a:gd name="T3" fmla="*/ 2 h 12"/>
                  <a:gd name="T4" fmla="*/ 0 w 12"/>
                  <a:gd name="T5" fmla="*/ 3 h 12"/>
                  <a:gd name="T6" fmla="*/ 1 w 12"/>
                  <a:gd name="T7" fmla="*/ 4 h 12"/>
                  <a:gd name="T8" fmla="*/ 2 w 12"/>
                  <a:gd name="T9" fmla="*/ 4 h 12"/>
                  <a:gd name="T10" fmla="*/ 2 w 12"/>
                  <a:gd name="T11" fmla="*/ 4 h 12"/>
                  <a:gd name="T12" fmla="*/ 3 w 12"/>
                  <a:gd name="T13" fmla="*/ 3 h 12"/>
                  <a:gd name="T14" fmla="*/ 4 w 12"/>
                  <a:gd name="T15" fmla="*/ 2 h 12"/>
                  <a:gd name="T16" fmla="*/ 4 w 12"/>
                  <a:gd name="T17" fmla="*/ 2 h 12"/>
                  <a:gd name="T18" fmla="*/ 4 w 12"/>
                  <a:gd name="T19" fmla="*/ 1 h 12"/>
                  <a:gd name="T20" fmla="*/ 3 w 12"/>
                  <a:gd name="T21" fmla="*/ 1 h 12"/>
                  <a:gd name="T22" fmla="*/ 2 w 12"/>
                  <a:gd name="T23" fmla="*/ 0 h 12"/>
                  <a:gd name="T24" fmla="*/ 2 w 12"/>
                  <a:gd name="T25" fmla="*/ 0 h 12"/>
                  <a:gd name="T26" fmla="*/ 1 w 12"/>
                  <a:gd name="T27" fmla="*/ 0 h 12"/>
                  <a:gd name="T28" fmla="*/ 0 w 12"/>
                  <a:gd name="T29" fmla="*/ 1 h 12"/>
                  <a:gd name="T30" fmla="*/ 0 w 12"/>
                  <a:gd name="T31" fmla="*/ 1 h 12"/>
                  <a:gd name="T32" fmla="*/ 0 w 12"/>
                  <a:gd name="T33" fmla="*/ 2 h 12"/>
                  <a:gd name="T34" fmla="*/ 0 w 12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2"/>
                  <a:gd name="T56" fmla="*/ 12 w 12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1" name="Freeform 66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2 w 74"/>
                  <a:gd name="T1" fmla="*/ 22 h 75"/>
                  <a:gd name="T2" fmla="*/ 5 w 74"/>
                  <a:gd name="T3" fmla="*/ 24 h 75"/>
                  <a:gd name="T4" fmla="*/ 8 w 74"/>
                  <a:gd name="T5" fmla="*/ 25 h 75"/>
                  <a:gd name="T6" fmla="*/ 11 w 74"/>
                  <a:gd name="T7" fmla="*/ 25 h 75"/>
                  <a:gd name="T8" fmla="*/ 13 w 74"/>
                  <a:gd name="T9" fmla="*/ 24 h 75"/>
                  <a:gd name="T10" fmla="*/ 13 w 74"/>
                  <a:gd name="T11" fmla="*/ 24 h 75"/>
                  <a:gd name="T12" fmla="*/ 15 w 74"/>
                  <a:gd name="T13" fmla="*/ 24 h 75"/>
                  <a:gd name="T14" fmla="*/ 17 w 74"/>
                  <a:gd name="T15" fmla="*/ 23 h 75"/>
                  <a:gd name="T16" fmla="*/ 20 w 74"/>
                  <a:gd name="T17" fmla="*/ 22 h 75"/>
                  <a:gd name="T18" fmla="*/ 22 w 74"/>
                  <a:gd name="T19" fmla="*/ 20 h 75"/>
                  <a:gd name="T20" fmla="*/ 24 w 74"/>
                  <a:gd name="T21" fmla="*/ 19 h 75"/>
                  <a:gd name="T22" fmla="*/ 25 w 74"/>
                  <a:gd name="T23" fmla="*/ 17 h 75"/>
                  <a:gd name="T24" fmla="*/ 24 w 74"/>
                  <a:gd name="T25" fmla="*/ 15 h 75"/>
                  <a:gd name="T26" fmla="*/ 20 w 74"/>
                  <a:gd name="T27" fmla="*/ 12 h 75"/>
                  <a:gd name="T28" fmla="*/ 16 w 74"/>
                  <a:gd name="T29" fmla="*/ 13 h 75"/>
                  <a:gd name="T30" fmla="*/ 12 w 74"/>
                  <a:gd name="T31" fmla="*/ 16 h 75"/>
                  <a:gd name="T32" fmla="*/ 10 w 74"/>
                  <a:gd name="T33" fmla="*/ 17 h 75"/>
                  <a:gd name="T34" fmla="*/ 10 w 74"/>
                  <a:gd name="T35" fmla="*/ 14 h 75"/>
                  <a:gd name="T36" fmla="*/ 8 w 74"/>
                  <a:gd name="T37" fmla="*/ 9 h 75"/>
                  <a:gd name="T38" fmla="*/ 4 w 74"/>
                  <a:gd name="T39" fmla="*/ 2 h 75"/>
                  <a:gd name="T40" fmla="*/ 1 w 74"/>
                  <a:gd name="T41" fmla="*/ 0 h 75"/>
                  <a:gd name="T42" fmla="*/ 0 w 74"/>
                  <a:gd name="T43" fmla="*/ 6 h 75"/>
                  <a:gd name="T44" fmla="*/ 1 w 74"/>
                  <a:gd name="T45" fmla="*/ 13 h 75"/>
                  <a:gd name="T46" fmla="*/ 2 w 74"/>
                  <a:gd name="T47" fmla="*/ 19 h 75"/>
                  <a:gd name="T48" fmla="*/ 2 w 74"/>
                  <a:gd name="T49" fmla="*/ 22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4"/>
                  <a:gd name="T76" fmla="*/ 0 h 75"/>
                  <a:gd name="T77" fmla="*/ 74 w 74"/>
                  <a:gd name="T78" fmla="*/ 75 h 7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2" name="Freeform 67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8 w 69"/>
                  <a:gd name="T1" fmla="*/ 20 h 59"/>
                  <a:gd name="T2" fmla="*/ 10 w 69"/>
                  <a:gd name="T3" fmla="*/ 20 h 59"/>
                  <a:gd name="T4" fmla="*/ 13 w 69"/>
                  <a:gd name="T5" fmla="*/ 19 h 59"/>
                  <a:gd name="T6" fmla="*/ 16 w 69"/>
                  <a:gd name="T7" fmla="*/ 19 h 59"/>
                  <a:gd name="T8" fmla="*/ 19 w 69"/>
                  <a:gd name="T9" fmla="*/ 18 h 59"/>
                  <a:gd name="T10" fmla="*/ 21 w 69"/>
                  <a:gd name="T11" fmla="*/ 18 h 59"/>
                  <a:gd name="T12" fmla="*/ 23 w 69"/>
                  <a:gd name="T13" fmla="*/ 16 h 59"/>
                  <a:gd name="T14" fmla="*/ 23 w 69"/>
                  <a:gd name="T15" fmla="*/ 15 h 59"/>
                  <a:gd name="T16" fmla="*/ 22 w 69"/>
                  <a:gd name="T17" fmla="*/ 13 h 59"/>
                  <a:gd name="T18" fmla="*/ 18 w 69"/>
                  <a:gd name="T19" fmla="*/ 11 h 59"/>
                  <a:gd name="T20" fmla="*/ 14 w 69"/>
                  <a:gd name="T21" fmla="*/ 11 h 59"/>
                  <a:gd name="T22" fmla="*/ 10 w 69"/>
                  <a:gd name="T23" fmla="*/ 13 h 59"/>
                  <a:gd name="T24" fmla="*/ 8 w 69"/>
                  <a:gd name="T25" fmla="*/ 14 h 59"/>
                  <a:gd name="T26" fmla="*/ 7 w 69"/>
                  <a:gd name="T27" fmla="*/ 10 h 59"/>
                  <a:gd name="T28" fmla="*/ 6 w 69"/>
                  <a:gd name="T29" fmla="*/ 4 h 59"/>
                  <a:gd name="T30" fmla="*/ 5 w 69"/>
                  <a:gd name="T31" fmla="*/ 0 h 59"/>
                  <a:gd name="T32" fmla="*/ 0 w 69"/>
                  <a:gd name="T33" fmla="*/ 0 h 59"/>
                  <a:gd name="T34" fmla="*/ 0 w 69"/>
                  <a:gd name="T35" fmla="*/ 9 h 59"/>
                  <a:gd name="T36" fmla="*/ 3 w 69"/>
                  <a:gd name="T37" fmla="*/ 15 h 59"/>
                  <a:gd name="T38" fmla="*/ 6 w 69"/>
                  <a:gd name="T39" fmla="*/ 19 h 59"/>
                  <a:gd name="T40" fmla="*/ 8 w 69"/>
                  <a:gd name="T41" fmla="*/ 2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59"/>
                  <a:gd name="T65" fmla="*/ 69 w 69"/>
                  <a:gd name="T66" fmla="*/ 59 h 5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3" name="Freeform 68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2 w 69"/>
                  <a:gd name="T1" fmla="*/ 15 h 60"/>
                  <a:gd name="T2" fmla="*/ 5 w 69"/>
                  <a:gd name="T3" fmla="*/ 18 h 60"/>
                  <a:gd name="T4" fmla="*/ 7 w 69"/>
                  <a:gd name="T5" fmla="*/ 20 h 60"/>
                  <a:gd name="T6" fmla="*/ 10 w 69"/>
                  <a:gd name="T7" fmla="*/ 20 h 60"/>
                  <a:gd name="T8" fmla="*/ 13 w 69"/>
                  <a:gd name="T9" fmla="*/ 20 h 60"/>
                  <a:gd name="T10" fmla="*/ 15 w 69"/>
                  <a:gd name="T11" fmla="*/ 20 h 60"/>
                  <a:gd name="T12" fmla="*/ 17 w 69"/>
                  <a:gd name="T13" fmla="*/ 19 h 60"/>
                  <a:gd name="T14" fmla="*/ 19 w 69"/>
                  <a:gd name="T15" fmla="*/ 18 h 60"/>
                  <a:gd name="T16" fmla="*/ 20 w 69"/>
                  <a:gd name="T17" fmla="*/ 17 h 60"/>
                  <a:gd name="T18" fmla="*/ 21 w 69"/>
                  <a:gd name="T19" fmla="*/ 17 h 60"/>
                  <a:gd name="T20" fmla="*/ 22 w 69"/>
                  <a:gd name="T21" fmla="*/ 16 h 60"/>
                  <a:gd name="T22" fmla="*/ 23 w 69"/>
                  <a:gd name="T23" fmla="*/ 14 h 60"/>
                  <a:gd name="T24" fmla="*/ 22 w 69"/>
                  <a:gd name="T25" fmla="*/ 13 h 60"/>
                  <a:gd name="T26" fmla="*/ 18 w 69"/>
                  <a:gd name="T27" fmla="*/ 10 h 60"/>
                  <a:gd name="T28" fmla="*/ 14 w 69"/>
                  <a:gd name="T29" fmla="*/ 10 h 60"/>
                  <a:gd name="T30" fmla="*/ 11 w 69"/>
                  <a:gd name="T31" fmla="*/ 11 h 60"/>
                  <a:gd name="T32" fmla="*/ 9 w 69"/>
                  <a:gd name="T33" fmla="*/ 12 h 60"/>
                  <a:gd name="T34" fmla="*/ 9 w 69"/>
                  <a:gd name="T35" fmla="*/ 10 h 60"/>
                  <a:gd name="T36" fmla="*/ 7 w 69"/>
                  <a:gd name="T37" fmla="*/ 5 h 60"/>
                  <a:gd name="T38" fmla="*/ 4 w 69"/>
                  <a:gd name="T39" fmla="*/ 1 h 60"/>
                  <a:gd name="T40" fmla="*/ 0 w 69"/>
                  <a:gd name="T41" fmla="*/ 0 h 60"/>
                  <a:gd name="T42" fmla="*/ 0 w 69"/>
                  <a:gd name="T43" fmla="*/ 5 h 60"/>
                  <a:gd name="T44" fmla="*/ 0 w 69"/>
                  <a:gd name="T45" fmla="*/ 10 h 60"/>
                  <a:gd name="T46" fmla="*/ 1 w 69"/>
                  <a:gd name="T47" fmla="*/ 14 h 60"/>
                  <a:gd name="T48" fmla="*/ 2 w 69"/>
                  <a:gd name="T49" fmla="*/ 15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9"/>
                  <a:gd name="T76" fmla="*/ 0 h 60"/>
                  <a:gd name="T77" fmla="*/ 69 w 69"/>
                  <a:gd name="T78" fmla="*/ 60 h 6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4" name="Freeform 69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4 w 75"/>
                  <a:gd name="T1" fmla="*/ 15 h 48"/>
                  <a:gd name="T2" fmla="*/ 6 w 75"/>
                  <a:gd name="T3" fmla="*/ 15 h 48"/>
                  <a:gd name="T4" fmla="*/ 10 w 75"/>
                  <a:gd name="T5" fmla="*/ 16 h 48"/>
                  <a:gd name="T6" fmla="*/ 14 w 75"/>
                  <a:gd name="T7" fmla="*/ 16 h 48"/>
                  <a:gd name="T8" fmla="*/ 19 w 75"/>
                  <a:gd name="T9" fmla="*/ 15 h 48"/>
                  <a:gd name="T10" fmla="*/ 22 w 75"/>
                  <a:gd name="T11" fmla="*/ 14 h 48"/>
                  <a:gd name="T12" fmla="*/ 25 w 75"/>
                  <a:gd name="T13" fmla="*/ 12 h 48"/>
                  <a:gd name="T14" fmla="*/ 25 w 75"/>
                  <a:gd name="T15" fmla="*/ 10 h 48"/>
                  <a:gd name="T16" fmla="*/ 24 w 75"/>
                  <a:gd name="T17" fmla="*/ 6 h 48"/>
                  <a:gd name="T18" fmla="*/ 22 w 75"/>
                  <a:gd name="T19" fmla="*/ 5 h 48"/>
                  <a:gd name="T20" fmla="*/ 20 w 75"/>
                  <a:gd name="T21" fmla="*/ 5 h 48"/>
                  <a:gd name="T22" fmla="*/ 17 w 75"/>
                  <a:gd name="T23" fmla="*/ 5 h 48"/>
                  <a:gd name="T24" fmla="*/ 14 w 75"/>
                  <a:gd name="T25" fmla="*/ 6 h 48"/>
                  <a:gd name="T26" fmla="*/ 12 w 75"/>
                  <a:gd name="T27" fmla="*/ 6 h 48"/>
                  <a:gd name="T28" fmla="*/ 10 w 75"/>
                  <a:gd name="T29" fmla="*/ 7 h 48"/>
                  <a:gd name="T30" fmla="*/ 8 w 75"/>
                  <a:gd name="T31" fmla="*/ 8 h 48"/>
                  <a:gd name="T32" fmla="*/ 8 w 75"/>
                  <a:gd name="T33" fmla="*/ 8 h 48"/>
                  <a:gd name="T34" fmla="*/ 7 w 75"/>
                  <a:gd name="T35" fmla="*/ 7 h 48"/>
                  <a:gd name="T36" fmla="*/ 6 w 75"/>
                  <a:gd name="T37" fmla="*/ 4 h 48"/>
                  <a:gd name="T38" fmla="*/ 5 w 75"/>
                  <a:gd name="T39" fmla="*/ 2 h 48"/>
                  <a:gd name="T40" fmla="*/ 5 w 75"/>
                  <a:gd name="T41" fmla="*/ 1 h 48"/>
                  <a:gd name="T42" fmla="*/ 4 w 75"/>
                  <a:gd name="T43" fmla="*/ 0 h 48"/>
                  <a:gd name="T44" fmla="*/ 3 w 75"/>
                  <a:gd name="T45" fmla="*/ 0 h 48"/>
                  <a:gd name="T46" fmla="*/ 1 w 75"/>
                  <a:gd name="T47" fmla="*/ 1 h 48"/>
                  <a:gd name="T48" fmla="*/ 0 w 75"/>
                  <a:gd name="T49" fmla="*/ 2 h 48"/>
                  <a:gd name="T50" fmla="*/ 0 w 75"/>
                  <a:gd name="T51" fmla="*/ 4 h 48"/>
                  <a:gd name="T52" fmla="*/ 2 w 75"/>
                  <a:gd name="T53" fmla="*/ 9 h 48"/>
                  <a:gd name="T54" fmla="*/ 3 w 75"/>
                  <a:gd name="T55" fmla="*/ 13 h 48"/>
                  <a:gd name="T56" fmla="*/ 4 w 75"/>
                  <a:gd name="T57" fmla="*/ 15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48"/>
                  <a:gd name="T89" fmla="*/ 75 w 75"/>
                  <a:gd name="T90" fmla="*/ 48 h 4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5" name="Freeform 70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5 w 63"/>
                  <a:gd name="T1" fmla="*/ 18 h 57"/>
                  <a:gd name="T2" fmla="*/ 7 w 63"/>
                  <a:gd name="T3" fmla="*/ 18 h 57"/>
                  <a:gd name="T4" fmla="*/ 11 w 63"/>
                  <a:gd name="T5" fmla="*/ 19 h 57"/>
                  <a:gd name="T6" fmla="*/ 16 w 63"/>
                  <a:gd name="T7" fmla="*/ 19 h 57"/>
                  <a:gd name="T8" fmla="*/ 19 w 63"/>
                  <a:gd name="T9" fmla="*/ 17 h 57"/>
                  <a:gd name="T10" fmla="*/ 20 w 63"/>
                  <a:gd name="T11" fmla="*/ 16 h 57"/>
                  <a:gd name="T12" fmla="*/ 21 w 63"/>
                  <a:gd name="T13" fmla="*/ 15 h 57"/>
                  <a:gd name="T14" fmla="*/ 21 w 63"/>
                  <a:gd name="T15" fmla="*/ 14 h 57"/>
                  <a:gd name="T16" fmla="*/ 21 w 63"/>
                  <a:gd name="T17" fmla="*/ 13 h 57"/>
                  <a:gd name="T18" fmla="*/ 20 w 63"/>
                  <a:gd name="T19" fmla="*/ 12 h 57"/>
                  <a:gd name="T20" fmla="*/ 19 w 63"/>
                  <a:gd name="T21" fmla="*/ 11 h 57"/>
                  <a:gd name="T22" fmla="*/ 18 w 63"/>
                  <a:gd name="T23" fmla="*/ 10 h 57"/>
                  <a:gd name="T24" fmla="*/ 16 w 63"/>
                  <a:gd name="T25" fmla="*/ 11 h 57"/>
                  <a:gd name="T26" fmla="*/ 13 w 63"/>
                  <a:gd name="T27" fmla="*/ 12 h 57"/>
                  <a:gd name="T28" fmla="*/ 10 w 63"/>
                  <a:gd name="T29" fmla="*/ 12 h 57"/>
                  <a:gd name="T30" fmla="*/ 8 w 63"/>
                  <a:gd name="T31" fmla="*/ 12 h 57"/>
                  <a:gd name="T32" fmla="*/ 7 w 63"/>
                  <a:gd name="T33" fmla="*/ 12 h 57"/>
                  <a:gd name="T34" fmla="*/ 7 w 63"/>
                  <a:gd name="T35" fmla="*/ 10 h 57"/>
                  <a:gd name="T36" fmla="*/ 7 w 63"/>
                  <a:gd name="T37" fmla="*/ 6 h 57"/>
                  <a:gd name="T38" fmla="*/ 6 w 63"/>
                  <a:gd name="T39" fmla="*/ 1 h 57"/>
                  <a:gd name="T40" fmla="*/ 3 w 63"/>
                  <a:gd name="T41" fmla="*/ 0 h 57"/>
                  <a:gd name="T42" fmla="*/ 0 w 63"/>
                  <a:gd name="T43" fmla="*/ 6 h 57"/>
                  <a:gd name="T44" fmla="*/ 0 w 63"/>
                  <a:gd name="T45" fmla="*/ 11 h 57"/>
                  <a:gd name="T46" fmla="*/ 2 w 63"/>
                  <a:gd name="T47" fmla="*/ 15 h 57"/>
                  <a:gd name="T48" fmla="*/ 5 w 63"/>
                  <a:gd name="T49" fmla="*/ 18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57"/>
                  <a:gd name="T77" fmla="*/ 63 w 63"/>
                  <a:gd name="T78" fmla="*/ 57 h 5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6" name="Freeform 71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8 w 65"/>
                  <a:gd name="T1" fmla="*/ 17 h 57"/>
                  <a:gd name="T2" fmla="*/ 10 w 65"/>
                  <a:gd name="T3" fmla="*/ 19 h 57"/>
                  <a:gd name="T4" fmla="*/ 13 w 65"/>
                  <a:gd name="T5" fmla="*/ 18 h 57"/>
                  <a:gd name="T6" fmla="*/ 16 w 65"/>
                  <a:gd name="T7" fmla="*/ 17 h 57"/>
                  <a:gd name="T8" fmla="*/ 19 w 65"/>
                  <a:gd name="T9" fmla="*/ 16 h 57"/>
                  <a:gd name="T10" fmla="*/ 20 w 65"/>
                  <a:gd name="T11" fmla="*/ 15 h 57"/>
                  <a:gd name="T12" fmla="*/ 21 w 65"/>
                  <a:gd name="T13" fmla="*/ 14 h 57"/>
                  <a:gd name="T14" fmla="*/ 21 w 65"/>
                  <a:gd name="T15" fmla="*/ 13 h 57"/>
                  <a:gd name="T16" fmla="*/ 20 w 65"/>
                  <a:gd name="T17" fmla="*/ 11 h 57"/>
                  <a:gd name="T18" fmla="*/ 17 w 65"/>
                  <a:gd name="T19" fmla="*/ 9 h 57"/>
                  <a:gd name="T20" fmla="*/ 15 w 65"/>
                  <a:gd name="T21" fmla="*/ 10 h 57"/>
                  <a:gd name="T22" fmla="*/ 13 w 65"/>
                  <a:gd name="T23" fmla="*/ 12 h 57"/>
                  <a:gd name="T24" fmla="*/ 11 w 65"/>
                  <a:gd name="T25" fmla="*/ 13 h 57"/>
                  <a:gd name="T26" fmla="*/ 10 w 65"/>
                  <a:gd name="T27" fmla="*/ 11 h 57"/>
                  <a:gd name="T28" fmla="*/ 8 w 65"/>
                  <a:gd name="T29" fmla="*/ 6 h 57"/>
                  <a:gd name="T30" fmla="*/ 5 w 65"/>
                  <a:gd name="T31" fmla="*/ 2 h 57"/>
                  <a:gd name="T32" fmla="*/ 2 w 65"/>
                  <a:gd name="T33" fmla="*/ 0 h 57"/>
                  <a:gd name="T34" fmla="*/ 0 w 65"/>
                  <a:gd name="T35" fmla="*/ 7 h 57"/>
                  <a:gd name="T36" fmla="*/ 2 w 65"/>
                  <a:gd name="T37" fmla="*/ 12 h 57"/>
                  <a:gd name="T38" fmla="*/ 6 w 65"/>
                  <a:gd name="T39" fmla="*/ 16 h 57"/>
                  <a:gd name="T40" fmla="*/ 8 w 65"/>
                  <a:gd name="T41" fmla="*/ 17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5"/>
                  <a:gd name="T64" fmla="*/ 0 h 57"/>
                  <a:gd name="T65" fmla="*/ 65 w 65"/>
                  <a:gd name="T66" fmla="*/ 57 h 5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7" name="Freeform 72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5 w 79"/>
                  <a:gd name="T1" fmla="*/ 22 h 80"/>
                  <a:gd name="T2" fmla="*/ 6 w 79"/>
                  <a:gd name="T3" fmla="*/ 23 h 80"/>
                  <a:gd name="T4" fmla="*/ 8 w 79"/>
                  <a:gd name="T5" fmla="*/ 24 h 80"/>
                  <a:gd name="T6" fmla="*/ 10 w 79"/>
                  <a:gd name="T7" fmla="*/ 25 h 80"/>
                  <a:gd name="T8" fmla="*/ 13 w 79"/>
                  <a:gd name="T9" fmla="*/ 26 h 80"/>
                  <a:gd name="T10" fmla="*/ 15 w 79"/>
                  <a:gd name="T11" fmla="*/ 26 h 80"/>
                  <a:gd name="T12" fmla="*/ 19 w 79"/>
                  <a:gd name="T13" fmla="*/ 25 h 80"/>
                  <a:gd name="T14" fmla="*/ 22 w 79"/>
                  <a:gd name="T15" fmla="*/ 23 h 80"/>
                  <a:gd name="T16" fmla="*/ 24 w 79"/>
                  <a:gd name="T17" fmla="*/ 19 h 80"/>
                  <a:gd name="T18" fmla="*/ 25 w 79"/>
                  <a:gd name="T19" fmla="*/ 18 h 80"/>
                  <a:gd name="T20" fmla="*/ 26 w 79"/>
                  <a:gd name="T21" fmla="*/ 16 h 80"/>
                  <a:gd name="T22" fmla="*/ 26 w 79"/>
                  <a:gd name="T23" fmla="*/ 15 h 80"/>
                  <a:gd name="T24" fmla="*/ 26 w 79"/>
                  <a:gd name="T25" fmla="*/ 14 h 80"/>
                  <a:gd name="T26" fmla="*/ 23 w 79"/>
                  <a:gd name="T27" fmla="*/ 13 h 80"/>
                  <a:gd name="T28" fmla="*/ 20 w 79"/>
                  <a:gd name="T29" fmla="*/ 12 h 80"/>
                  <a:gd name="T30" fmla="*/ 17 w 79"/>
                  <a:gd name="T31" fmla="*/ 13 h 80"/>
                  <a:gd name="T32" fmla="*/ 15 w 79"/>
                  <a:gd name="T33" fmla="*/ 13 h 80"/>
                  <a:gd name="T34" fmla="*/ 13 w 79"/>
                  <a:gd name="T35" fmla="*/ 14 h 80"/>
                  <a:gd name="T36" fmla="*/ 11 w 79"/>
                  <a:gd name="T37" fmla="*/ 15 h 80"/>
                  <a:gd name="T38" fmla="*/ 10 w 79"/>
                  <a:gd name="T39" fmla="*/ 16 h 80"/>
                  <a:gd name="T40" fmla="*/ 10 w 79"/>
                  <a:gd name="T41" fmla="*/ 17 h 80"/>
                  <a:gd name="T42" fmla="*/ 9 w 79"/>
                  <a:gd name="T43" fmla="*/ 14 h 80"/>
                  <a:gd name="T44" fmla="*/ 7 w 79"/>
                  <a:gd name="T45" fmla="*/ 8 h 80"/>
                  <a:gd name="T46" fmla="*/ 4 w 79"/>
                  <a:gd name="T47" fmla="*/ 2 h 80"/>
                  <a:gd name="T48" fmla="*/ 0 w 79"/>
                  <a:gd name="T49" fmla="*/ 0 h 80"/>
                  <a:gd name="T50" fmla="*/ 0 w 79"/>
                  <a:gd name="T51" fmla="*/ 8 h 80"/>
                  <a:gd name="T52" fmla="*/ 2 w 79"/>
                  <a:gd name="T53" fmla="*/ 15 h 80"/>
                  <a:gd name="T54" fmla="*/ 4 w 79"/>
                  <a:gd name="T55" fmla="*/ 20 h 80"/>
                  <a:gd name="T56" fmla="*/ 5 w 79"/>
                  <a:gd name="T57" fmla="*/ 22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80"/>
                  <a:gd name="T89" fmla="*/ 79 w 79"/>
                  <a:gd name="T90" fmla="*/ 80 h 8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8" name="Freeform 73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4 w 79"/>
                  <a:gd name="T1" fmla="*/ 18 h 67"/>
                  <a:gd name="T2" fmla="*/ 5 w 79"/>
                  <a:gd name="T3" fmla="*/ 18 h 67"/>
                  <a:gd name="T4" fmla="*/ 7 w 79"/>
                  <a:gd name="T5" fmla="*/ 19 h 67"/>
                  <a:gd name="T6" fmla="*/ 9 w 79"/>
                  <a:gd name="T7" fmla="*/ 20 h 67"/>
                  <a:gd name="T8" fmla="*/ 12 w 79"/>
                  <a:gd name="T9" fmla="*/ 21 h 67"/>
                  <a:gd name="T10" fmla="*/ 14 w 79"/>
                  <a:gd name="T11" fmla="*/ 22 h 67"/>
                  <a:gd name="T12" fmla="*/ 17 w 79"/>
                  <a:gd name="T13" fmla="*/ 22 h 67"/>
                  <a:gd name="T14" fmla="*/ 20 w 79"/>
                  <a:gd name="T15" fmla="*/ 22 h 67"/>
                  <a:gd name="T16" fmla="*/ 23 w 79"/>
                  <a:gd name="T17" fmla="*/ 21 h 67"/>
                  <a:gd name="T18" fmla="*/ 25 w 79"/>
                  <a:gd name="T19" fmla="*/ 20 h 67"/>
                  <a:gd name="T20" fmla="*/ 26 w 79"/>
                  <a:gd name="T21" fmla="*/ 19 h 67"/>
                  <a:gd name="T22" fmla="*/ 27 w 79"/>
                  <a:gd name="T23" fmla="*/ 17 h 67"/>
                  <a:gd name="T24" fmla="*/ 27 w 79"/>
                  <a:gd name="T25" fmla="*/ 15 h 67"/>
                  <a:gd name="T26" fmla="*/ 25 w 79"/>
                  <a:gd name="T27" fmla="*/ 13 h 67"/>
                  <a:gd name="T28" fmla="*/ 22 w 79"/>
                  <a:gd name="T29" fmla="*/ 12 h 67"/>
                  <a:gd name="T30" fmla="*/ 19 w 79"/>
                  <a:gd name="T31" fmla="*/ 12 h 67"/>
                  <a:gd name="T32" fmla="*/ 16 w 79"/>
                  <a:gd name="T33" fmla="*/ 12 h 67"/>
                  <a:gd name="T34" fmla="*/ 14 w 79"/>
                  <a:gd name="T35" fmla="*/ 12 h 67"/>
                  <a:gd name="T36" fmla="*/ 12 w 79"/>
                  <a:gd name="T37" fmla="*/ 12 h 67"/>
                  <a:gd name="T38" fmla="*/ 10 w 79"/>
                  <a:gd name="T39" fmla="*/ 13 h 67"/>
                  <a:gd name="T40" fmla="*/ 10 w 79"/>
                  <a:gd name="T41" fmla="*/ 13 h 67"/>
                  <a:gd name="T42" fmla="*/ 9 w 79"/>
                  <a:gd name="T43" fmla="*/ 11 h 67"/>
                  <a:gd name="T44" fmla="*/ 8 w 79"/>
                  <a:gd name="T45" fmla="*/ 6 h 67"/>
                  <a:gd name="T46" fmla="*/ 5 w 79"/>
                  <a:gd name="T47" fmla="*/ 1 h 67"/>
                  <a:gd name="T48" fmla="*/ 1 w 79"/>
                  <a:gd name="T49" fmla="*/ 0 h 67"/>
                  <a:gd name="T50" fmla="*/ 0 w 79"/>
                  <a:gd name="T51" fmla="*/ 7 h 67"/>
                  <a:gd name="T52" fmla="*/ 1 w 79"/>
                  <a:gd name="T53" fmla="*/ 12 h 67"/>
                  <a:gd name="T54" fmla="*/ 3 w 79"/>
                  <a:gd name="T55" fmla="*/ 16 h 67"/>
                  <a:gd name="T56" fmla="*/ 4 w 79"/>
                  <a:gd name="T57" fmla="*/ 18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67"/>
                  <a:gd name="T89" fmla="*/ 79 w 79"/>
                  <a:gd name="T90" fmla="*/ 67 h 6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9" name="Freeform 74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3 w 77"/>
                  <a:gd name="T1" fmla="*/ 19 h 62"/>
                  <a:gd name="T2" fmla="*/ 6 w 77"/>
                  <a:gd name="T3" fmla="*/ 19 h 62"/>
                  <a:gd name="T4" fmla="*/ 9 w 77"/>
                  <a:gd name="T5" fmla="*/ 20 h 62"/>
                  <a:gd name="T6" fmla="*/ 14 w 77"/>
                  <a:gd name="T7" fmla="*/ 20 h 62"/>
                  <a:gd name="T8" fmla="*/ 18 w 77"/>
                  <a:gd name="T9" fmla="*/ 19 h 62"/>
                  <a:gd name="T10" fmla="*/ 22 w 77"/>
                  <a:gd name="T11" fmla="*/ 19 h 62"/>
                  <a:gd name="T12" fmla="*/ 24 w 77"/>
                  <a:gd name="T13" fmla="*/ 18 h 62"/>
                  <a:gd name="T14" fmla="*/ 26 w 77"/>
                  <a:gd name="T15" fmla="*/ 16 h 62"/>
                  <a:gd name="T16" fmla="*/ 25 w 77"/>
                  <a:gd name="T17" fmla="*/ 14 h 62"/>
                  <a:gd name="T18" fmla="*/ 23 w 77"/>
                  <a:gd name="T19" fmla="*/ 12 h 62"/>
                  <a:gd name="T20" fmla="*/ 21 w 77"/>
                  <a:gd name="T21" fmla="*/ 11 h 62"/>
                  <a:gd name="T22" fmla="*/ 18 w 77"/>
                  <a:gd name="T23" fmla="*/ 10 h 62"/>
                  <a:gd name="T24" fmla="*/ 16 w 77"/>
                  <a:gd name="T25" fmla="*/ 10 h 62"/>
                  <a:gd name="T26" fmla="*/ 13 w 77"/>
                  <a:gd name="T27" fmla="*/ 11 h 62"/>
                  <a:gd name="T28" fmla="*/ 11 w 77"/>
                  <a:gd name="T29" fmla="*/ 11 h 62"/>
                  <a:gd name="T30" fmla="*/ 9 w 77"/>
                  <a:gd name="T31" fmla="*/ 12 h 62"/>
                  <a:gd name="T32" fmla="*/ 9 w 77"/>
                  <a:gd name="T33" fmla="*/ 12 h 62"/>
                  <a:gd name="T34" fmla="*/ 8 w 77"/>
                  <a:gd name="T35" fmla="*/ 10 h 62"/>
                  <a:gd name="T36" fmla="*/ 7 w 77"/>
                  <a:gd name="T37" fmla="*/ 5 h 62"/>
                  <a:gd name="T38" fmla="*/ 5 w 77"/>
                  <a:gd name="T39" fmla="*/ 1 h 62"/>
                  <a:gd name="T40" fmla="*/ 1 w 77"/>
                  <a:gd name="T41" fmla="*/ 0 h 62"/>
                  <a:gd name="T42" fmla="*/ 0 w 77"/>
                  <a:gd name="T43" fmla="*/ 5 h 62"/>
                  <a:gd name="T44" fmla="*/ 1 w 77"/>
                  <a:gd name="T45" fmla="*/ 12 h 62"/>
                  <a:gd name="T46" fmla="*/ 3 w 77"/>
                  <a:gd name="T47" fmla="*/ 17 h 62"/>
                  <a:gd name="T48" fmla="*/ 3 w 77"/>
                  <a:gd name="T49" fmla="*/ 19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7"/>
                  <a:gd name="T76" fmla="*/ 0 h 62"/>
                  <a:gd name="T77" fmla="*/ 77 w 77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0" name="Freeform 75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4 w 366"/>
                  <a:gd name="T1" fmla="*/ 50 h 845"/>
                  <a:gd name="T2" fmla="*/ 5 w 366"/>
                  <a:gd name="T3" fmla="*/ 80 h 845"/>
                  <a:gd name="T4" fmla="*/ 15 w 366"/>
                  <a:gd name="T5" fmla="*/ 115 h 845"/>
                  <a:gd name="T6" fmla="*/ 28 w 366"/>
                  <a:gd name="T7" fmla="*/ 155 h 845"/>
                  <a:gd name="T8" fmla="*/ 41 w 366"/>
                  <a:gd name="T9" fmla="*/ 194 h 845"/>
                  <a:gd name="T10" fmla="*/ 54 w 366"/>
                  <a:gd name="T11" fmla="*/ 232 h 845"/>
                  <a:gd name="T12" fmla="*/ 65 w 366"/>
                  <a:gd name="T13" fmla="*/ 259 h 845"/>
                  <a:gd name="T14" fmla="*/ 76 w 366"/>
                  <a:gd name="T15" fmla="*/ 269 h 845"/>
                  <a:gd name="T16" fmla="*/ 90 w 366"/>
                  <a:gd name="T17" fmla="*/ 276 h 845"/>
                  <a:gd name="T18" fmla="*/ 105 w 366"/>
                  <a:gd name="T19" fmla="*/ 280 h 845"/>
                  <a:gd name="T20" fmla="*/ 116 w 366"/>
                  <a:gd name="T21" fmla="*/ 280 h 845"/>
                  <a:gd name="T22" fmla="*/ 120 w 366"/>
                  <a:gd name="T23" fmla="*/ 277 h 845"/>
                  <a:gd name="T24" fmla="*/ 122 w 366"/>
                  <a:gd name="T25" fmla="*/ 271 h 845"/>
                  <a:gd name="T26" fmla="*/ 118 w 366"/>
                  <a:gd name="T27" fmla="*/ 267 h 845"/>
                  <a:gd name="T28" fmla="*/ 110 w 366"/>
                  <a:gd name="T29" fmla="*/ 265 h 845"/>
                  <a:gd name="T30" fmla="*/ 98 w 366"/>
                  <a:gd name="T31" fmla="*/ 262 h 845"/>
                  <a:gd name="T32" fmla="*/ 88 w 366"/>
                  <a:gd name="T33" fmla="*/ 259 h 845"/>
                  <a:gd name="T34" fmla="*/ 80 w 366"/>
                  <a:gd name="T35" fmla="*/ 252 h 845"/>
                  <a:gd name="T36" fmla="*/ 72 w 366"/>
                  <a:gd name="T37" fmla="*/ 235 h 845"/>
                  <a:gd name="T38" fmla="*/ 65 w 366"/>
                  <a:gd name="T39" fmla="*/ 214 h 845"/>
                  <a:gd name="T40" fmla="*/ 57 w 366"/>
                  <a:gd name="T41" fmla="*/ 192 h 845"/>
                  <a:gd name="T42" fmla="*/ 50 w 366"/>
                  <a:gd name="T43" fmla="*/ 170 h 845"/>
                  <a:gd name="T44" fmla="*/ 42 w 366"/>
                  <a:gd name="T45" fmla="*/ 145 h 845"/>
                  <a:gd name="T46" fmla="*/ 31 w 366"/>
                  <a:gd name="T47" fmla="*/ 116 h 845"/>
                  <a:gd name="T48" fmla="*/ 22 w 366"/>
                  <a:gd name="T49" fmla="*/ 87 h 845"/>
                  <a:gd name="T50" fmla="*/ 16 w 366"/>
                  <a:gd name="T51" fmla="*/ 58 h 845"/>
                  <a:gd name="T52" fmla="*/ 15 w 366"/>
                  <a:gd name="T53" fmla="*/ 37 h 845"/>
                  <a:gd name="T54" fmla="*/ 12 w 366"/>
                  <a:gd name="T55" fmla="*/ 22 h 845"/>
                  <a:gd name="T56" fmla="*/ 7 w 366"/>
                  <a:gd name="T57" fmla="*/ 9 h 845"/>
                  <a:gd name="T58" fmla="*/ 2 w 366"/>
                  <a:gd name="T59" fmla="*/ 0 h 845"/>
                  <a:gd name="T60" fmla="*/ 2 w 366"/>
                  <a:gd name="T61" fmla="*/ 6 h 845"/>
                  <a:gd name="T62" fmla="*/ 4 w 366"/>
                  <a:gd name="T63" fmla="*/ 25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66"/>
                  <a:gd name="T97" fmla="*/ 0 h 845"/>
                  <a:gd name="T98" fmla="*/ 366 w 366"/>
                  <a:gd name="T99" fmla="*/ 845 h 84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1" name="Freeform 76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28 w 88"/>
                  <a:gd name="T1" fmla="*/ 8 h 87"/>
                  <a:gd name="T2" fmla="*/ 29 w 88"/>
                  <a:gd name="T3" fmla="*/ 6 h 87"/>
                  <a:gd name="T4" fmla="*/ 29 w 88"/>
                  <a:gd name="T5" fmla="*/ 4 h 87"/>
                  <a:gd name="T6" fmla="*/ 28 w 88"/>
                  <a:gd name="T7" fmla="*/ 2 h 87"/>
                  <a:gd name="T8" fmla="*/ 25 w 88"/>
                  <a:gd name="T9" fmla="*/ 1 h 87"/>
                  <a:gd name="T10" fmla="*/ 23 w 88"/>
                  <a:gd name="T11" fmla="*/ 0 h 87"/>
                  <a:gd name="T12" fmla="*/ 20 w 88"/>
                  <a:gd name="T13" fmla="*/ 0 h 87"/>
                  <a:gd name="T14" fmla="*/ 18 w 88"/>
                  <a:gd name="T15" fmla="*/ 0 h 87"/>
                  <a:gd name="T16" fmla="*/ 15 w 88"/>
                  <a:gd name="T17" fmla="*/ 2 h 87"/>
                  <a:gd name="T18" fmla="*/ 14 w 88"/>
                  <a:gd name="T19" fmla="*/ 4 h 87"/>
                  <a:gd name="T20" fmla="*/ 11 w 88"/>
                  <a:gd name="T21" fmla="*/ 7 h 87"/>
                  <a:gd name="T22" fmla="*/ 8 w 88"/>
                  <a:gd name="T23" fmla="*/ 10 h 87"/>
                  <a:gd name="T24" fmla="*/ 5 w 88"/>
                  <a:gd name="T25" fmla="*/ 14 h 87"/>
                  <a:gd name="T26" fmla="*/ 3 w 88"/>
                  <a:gd name="T27" fmla="*/ 19 h 87"/>
                  <a:gd name="T28" fmla="*/ 1 w 88"/>
                  <a:gd name="T29" fmla="*/ 23 h 87"/>
                  <a:gd name="T30" fmla="*/ 0 w 88"/>
                  <a:gd name="T31" fmla="*/ 26 h 87"/>
                  <a:gd name="T32" fmla="*/ 1 w 88"/>
                  <a:gd name="T33" fmla="*/ 29 h 87"/>
                  <a:gd name="T34" fmla="*/ 5 w 88"/>
                  <a:gd name="T35" fmla="*/ 27 h 87"/>
                  <a:gd name="T36" fmla="*/ 9 w 88"/>
                  <a:gd name="T37" fmla="*/ 23 h 87"/>
                  <a:gd name="T38" fmla="*/ 13 w 88"/>
                  <a:gd name="T39" fmla="*/ 20 h 87"/>
                  <a:gd name="T40" fmla="*/ 17 w 88"/>
                  <a:gd name="T41" fmla="*/ 17 h 87"/>
                  <a:gd name="T42" fmla="*/ 21 w 88"/>
                  <a:gd name="T43" fmla="*/ 14 h 87"/>
                  <a:gd name="T44" fmla="*/ 24 w 88"/>
                  <a:gd name="T45" fmla="*/ 11 h 87"/>
                  <a:gd name="T46" fmla="*/ 26 w 88"/>
                  <a:gd name="T47" fmla="*/ 9 h 87"/>
                  <a:gd name="T48" fmla="*/ 28 w 88"/>
                  <a:gd name="T49" fmla="*/ 8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8"/>
                  <a:gd name="T76" fmla="*/ 0 h 87"/>
                  <a:gd name="T77" fmla="*/ 88 w 88"/>
                  <a:gd name="T78" fmla="*/ 87 h 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2" name="Freeform 77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31 w 102"/>
                  <a:gd name="T1" fmla="*/ 7 h 28"/>
                  <a:gd name="T2" fmla="*/ 32 w 102"/>
                  <a:gd name="T3" fmla="*/ 7 h 28"/>
                  <a:gd name="T4" fmla="*/ 33 w 102"/>
                  <a:gd name="T5" fmla="*/ 6 h 28"/>
                  <a:gd name="T6" fmla="*/ 34 w 102"/>
                  <a:gd name="T7" fmla="*/ 5 h 28"/>
                  <a:gd name="T8" fmla="*/ 34 w 102"/>
                  <a:gd name="T9" fmla="*/ 3 h 28"/>
                  <a:gd name="T10" fmla="*/ 34 w 102"/>
                  <a:gd name="T11" fmla="*/ 2 h 28"/>
                  <a:gd name="T12" fmla="*/ 33 w 102"/>
                  <a:gd name="T13" fmla="*/ 0 h 28"/>
                  <a:gd name="T14" fmla="*/ 31 w 102"/>
                  <a:gd name="T15" fmla="*/ 0 h 28"/>
                  <a:gd name="T16" fmla="*/ 29 w 102"/>
                  <a:gd name="T17" fmla="*/ 0 h 28"/>
                  <a:gd name="T18" fmla="*/ 25 w 102"/>
                  <a:gd name="T19" fmla="*/ 1 h 28"/>
                  <a:gd name="T20" fmla="*/ 20 w 102"/>
                  <a:gd name="T21" fmla="*/ 2 h 28"/>
                  <a:gd name="T22" fmla="*/ 15 w 102"/>
                  <a:gd name="T23" fmla="*/ 3 h 28"/>
                  <a:gd name="T24" fmla="*/ 11 w 102"/>
                  <a:gd name="T25" fmla="*/ 4 h 28"/>
                  <a:gd name="T26" fmla="*/ 7 w 102"/>
                  <a:gd name="T27" fmla="*/ 5 h 28"/>
                  <a:gd name="T28" fmla="*/ 3 w 102"/>
                  <a:gd name="T29" fmla="*/ 6 h 28"/>
                  <a:gd name="T30" fmla="*/ 1 w 102"/>
                  <a:gd name="T31" fmla="*/ 7 h 28"/>
                  <a:gd name="T32" fmla="*/ 0 w 102"/>
                  <a:gd name="T33" fmla="*/ 9 h 28"/>
                  <a:gd name="T34" fmla="*/ 3 w 102"/>
                  <a:gd name="T35" fmla="*/ 9 h 28"/>
                  <a:gd name="T36" fmla="*/ 7 w 102"/>
                  <a:gd name="T37" fmla="*/ 9 h 28"/>
                  <a:gd name="T38" fmla="*/ 11 w 102"/>
                  <a:gd name="T39" fmla="*/ 9 h 28"/>
                  <a:gd name="T40" fmla="*/ 15 w 102"/>
                  <a:gd name="T41" fmla="*/ 9 h 28"/>
                  <a:gd name="T42" fmla="*/ 18 w 102"/>
                  <a:gd name="T43" fmla="*/ 8 h 28"/>
                  <a:gd name="T44" fmla="*/ 22 w 102"/>
                  <a:gd name="T45" fmla="*/ 8 h 28"/>
                  <a:gd name="T46" fmla="*/ 27 w 102"/>
                  <a:gd name="T47" fmla="*/ 8 h 28"/>
                  <a:gd name="T48" fmla="*/ 31 w 102"/>
                  <a:gd name="T49" fmla="*/ 7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2"/>
                  <a:gd name="T76" fmla="*/ 0 h 28"/>
                  <a:gd name="T77" fmla="*/ 102 w 102"/>
                  <a:gd name="T78" fmla="*/ 28 h 2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3" name="Freeform 78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41 w 142"/>
                  <a:gd name="T1" fmla="*/ 12 h 36"/>
                  <a:gd name="T2" fmla="*/ 43 w 142"/>
                  <a:gd name="T3" fmla="*/ 12 h 36"/>
                  <a:gd name="T4" fmla="*/ 45 w 142"/>
                  <a:gd name="T5" fmla="*/ 11 h 36"/>
                  <a:gd name="T6" fmla="*/ 46 w 142"/>
                  <a:gd name="T7" fmla="*/ 9 h 36"/>
                  <a:gd name="T8" fmla="*/ 47 w 142"/>
                  <a:gd name="T9" fmla="*/ 7 h 36"/>
                  <a:gd name="T10" fmla="*/ 47 w 142"/>
                  <a:gd name="T11" fmla="*/ 5 h 36"/>
                  <a:gd name="T12" fmla="*/ 46 w 142"/>
                  <a:gd name="T13" fmla="*/ 3 h 36"/>
                  <a:gd name="T14" fmla="*/ 44 w 142"/>
                  <a:gd name="T15" fmla="*/ 2 h 36"/>
                  <a:gd name="T16" fmla="*/ 42 w 142"/>
                  <a:gd name="T17" fmla="*/ 1 h 36"/>
                  <a:gd name="T18" fmla="*/ 36 w 142"/>
                  <a:gd name="T19" fmla="*/ 1 h 36"/>
                  <a:gd name="T20" fmla="*/ 29 w 142"/>
                  <a:gd name="T21" fmla="*/ 1 h 36"/>
                  <a:gd name="T22" fmla="*/ 22 w 142"/>
                  <a:gd name="T23" fmla="*/ 1 h 36"/>
                  <a:gd name="T24" fmla="*/ 16 w 142"/>
                  <a:gd name="T25" fmla="*/ 1 h 36"/>
                  <a:gd name="T26" fmla="*/ 10 w 142"/>
                  <a:gd name="T27" fmla="*/ 0 h 36"/>
                  <a:gd name="T28" fmla="*/ 4 w 142"/>
                  <a:gd name="T29" fmla="*/ 1 h 36"/>
                  <a:gd name="T30" fmla="*/ 1 w 142"/>
                  <a:gd name="T31" fmla="*/ 2 h 36"/>
                  <a:gd name="T32" fmla="*/ 0 w 142"/>
                  <a:gd name="T33" fmla="*/ 3 h 36"/>
                  <a:gd name="T34" fmla="*/ 3 w 142"/>
                  <a:gd name="T35" fmla="*/ 4 h 36"/>
                  <a:gd name="T36" fmla="*/ 7 w 142"/>
                  <a:gd name="T37" fmla="*/ 5 h 36"/>
                  <a:gd name="T38" fmla="*/ 13 w 142"/>
                  <a:gd name="T39" fmla="*/ 6 h 36"/>
                  <a:gd name="T40" fmla="*/ 18 w 142"/>
                  <a:gd name="T41" fmla="*/ 7 h 36"/>
                  <a:gd name="T42" fmla="*/ 24 w 142"/>
                  <a:gd name="T43" fmla="*/ 8 h 36"/>
                  <a:gd name="T44" fmla="*/ 29 w 142"/>
                  <a:gd name="T45" fmla="*/ 10 h 36"/>
                  <a:gd name="T46" fmla="*/ 35 w 142"/>
                  <a:gd name="T47" fmla="*/ 11 h 36"/>
                  <a:gd name="T48" fmla="*/ 41 w 142"/>
                  <a:gd name="T49" fmla="*/ 12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2"/>
                  <a:gd name="T76" fmla="*/ 0 h 36"/>
                  <a:gd name="T77" fmla="*/ 142 w 14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4" name="Freeform 79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36 w 351"/>
                  <a:gd name="T1" fmla="*/ 99 h 601"/>
                  <a:gd name="T2" fmla="*/ 44 w 351"/>
                  <a:gd name="T3" fmla="*/ 112 h 601"/>
                  <a:gd name="T4" fmla="*/ 52 w 351"/>
                  <a:gd name="T5" fmla="*/ 125 h 601"/>
                  <a:gd name="T6" fmla="*/ 61 w 351"/>
                  <a:gd name="T7" fmla="*/ 138 h 601"/>
                  <a:gd name="T8" fmla="*/ 69 w 351"/>
                  <a:gd name="T9" fmla="*/ 150 h 601"/>
                  <a:gd name="T10" fmla="*/ 78 w 351"/>
                  <a:gd name="T11" fmla="*/ 162 h 601"/>
                  <a:gd name="T12" fmla="*/ 88 w 351"/>
                  <a:gd name="T13" fmla="*/ 174 h 601"/>
                  <a:gd name="T14" fmla="*/ 97 w 351"/>
                  <a:gd name="T15" fmla="*/ 186 h 601"/>
                  <a:gd name="T16" fmla="*/ 107 w 351"/>
                  <a:gd name="T17" fmla="*/ 198 h 601"/>
                  <a:gd name="T18" fmla="*/ 109 w 351"/>
                  <a:gd name="T19" fmla="*/ 199 h 601"/>
                  <a:gd name="T20" fmla="*/ 111 w 351"/>
                  <a:gd name="T21" fmla="*/ 200 h 601"/>
                  <a:gd name="T22" fmla="*/ 112 w 351"/>
                  <a:gd name="T23" fmla="*/ 200 h 601"/>
                  <a:gd name="T24" fmla="*/ 114 w 351"/>
                  <a:gd name="T25" fmla="*/ 199 h 601"/>
                  <a:gd name="T26" fmla="*/ 116 w 351"/>
                  <a:gd name="T27" fmla="*/ 198 h 601"/>
                  <a:gd name="T28" fmla="*/ 117 w 351"/>
                  <a:gd name="T29" fmla="*/ 196 h 601"/>
                  <a:gd name="T30" fmla="*/ 117 w 351"/>
                  <a:gd name="T31" fmla="*/ 194 h 601"/>
                  <a:gd name="T32" fmla="*/ 116 w 351"/>
                  <a:gd name="T33" fmla="*/ 192 h 601"/>
                  <a:gd name="T34" fmla="*/ 109 w 351"/>
                  <a:gd name="T35" fmla="*/ 179 h 601"/>
                  <a:gd name="T36" fmla="*/ 101 w 351"/>
                  <a:gd name="T37" fmla="*/ 166 h 601"/>
                  <a:gd name="T38" fmla="*/ 93 w 351"/>
                  <a:gd name="T39" fmla="*/ 154 h 601"/>
                  <a:gd name="T40" fmla="*/ 84 w 351"/>
                  <a:gd name="T41" fmla="*/ 142 h 601"/>
                  <a:gd name="T42" fmla="*/ 75 w 351"/>
                  <a:gd name="T43" fmla="*/ 130 h 601"/>
                  <a:gd name="T44" fmla="*/ 66 w 351"/>
                  <a:gd name="T45" fmla="*/ 118 h 601"/>
                  <a:gd name="T46" fmla="*/ 57 w 351"/>
                  <a:gd name="T47" fmla="*/ 106 h 601"/>
                  <a:gd name="T48" fmla="*/ 49 w 351"/>
                  <a:gd name="T49" fmla="*/ 93 h 601"/>
                  <a:gd name="T50" fmla="*/ 42 w 351"/>
                  <a:gd name="T51" fmla="*/ 81 h 601"/>
                  <a:gd name="T52" fmla="*/ 34 w 351"/>
                  <a:gd name="T53" fmla="*/ 66 h 601"/>
                  <a:gd name="T54" fmla="*/ 26 w 351"/>
                  <a:gd name="T55" fmla="*/ 50 h 601"/>
                  <a:gd name="T56" fmla="*/ 20 w 351"/>
                  <a:gd name="T57" fmla="*/ 35 h 601"/>
                  <a:gd name="T58" fmla="*/ 13 w 351"/>
                  <a:gd name="T59" fmla="*/ 21 h 601"/>
                  <a:gd name="T60" fmla="*/ 7 w 351"/>
                  <a:gd name="T61" fmla="*/ 10 h 601"/>
                  <a:gd name="T62" fmla="*/ 3 w 351"/>
                  <a:gd name="T63" fmla="*/ 2 h 601"/>
                  <a:gd name="T64" fmla="*/ 0 w 351"/>
                  <a:gd name="T65" fmla="*/ 0 h 601"/>
                  <a:gd name="T66" fmla="*/ 1 w 351"/>
                  <a:gd name="T67" fmla="*/ 6 h 601"/>
                  <a:gd name="T68" fmla="*/ 4 w 351"/>
                  <a:gd name="T69" fmla="*/ 15 h 601"/>
                  <a:gd name="T70" fmla="*/ 8 w 351"/>
                  <a:gd name="T71" fmla="*/ 27 h 601"/>
                  <a:gd name="T72" fmla="*/ 13 w 351"/>
                  <a:gd name="T73" fmla="*/ 41 h 601"/>
                  <a:gd name="T74" fmla="*/ 18 w 351"/>
                  <a:gd name="T75" fmla="*/ 57 h 601"/>
                  <a:gd name="T76" fmla="*/ 23 w 351"/>
                  <a:gd name="T77" fmla="*/ 72 h 601"/>
                  <a:gd name="T78" fmla="*/ 30 w 351"/>
                  <a:gd name="T79" fmla="*/ 86 h 601"/>
                  <a:gd name="T80" fmla="*/ 36 w 351"/>
                  <a:gd name="T81" fmla="*/ 99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51"/>
                  <a:gd name="T124" fmla="*/ 0 h 601"/>
                  <a:gd name="T125" fmla="*/ 351 w 351"/>
                  <a:gd name="T126" fmla="*/ 601 h 60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5" name="Freeform 80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186 w 2164"/>
                  <a:gd name="T1" fmla="*/ 0 h 1979"/>
                  <a:gd name="T2" fmla="*/ 191 w 2164"/>
                  <a:gd name="T3" fmla="*/ 0 h 1979"/>
                  <a:gd name="T4" fmla="*/ 199 w 2164"/>
                  <a:gd name="T5" fmla="*/ 0 h 1979"/>
                  <a:gd name="T6" fmla="*/ 212 w 2164"/>
                  <a:gd name="T7" fmla="*/ 1 h 1979"/>
                  <a:gd name="T8" fmla="*/ 228 w 2164"/>
                  <a:gd name="T9" fmla="*/ 1 h 1979"/>
                  <a:gd name="T10" fmla="*/ 247 w 2164"/>
                  <a:gd name="T11" fmla="*/ 3 h 1979"/>
                  <a:gd name="T12" fmla="*/ 269 w 2164"/>
                  <a:gd name="T13" fmla="*/ 4 h 1979"/>
                  <a:gd name="T14" fmla="*/ 293 w 2164"/>
                  <a:gd name="T15" fmla="*/ 7 h 1979"/>
                  <a:gd name="T16" fmla="*/ 319 w 2164"/>
                  <a:gd name="T17" fmla="*/ 10 h 1979"/>
                  <a:gd name="T18" fmla="*/ 346 w 2164"/>
                  <a:gd name="T19" fmla="*/ 14 h 1979"/>
                  <a:gd name="T20" fmla="*/ 375 w 2164"/>
                  <a:gd name="T21" fmla="*/ 19 h 1979"/>
                  <a:gd name="T22" fmla="*/ 405 w 2164"/>
                  <a:gd name="T23" fmla="*/ 25 h 1979"/>
                  <a:gd name="T24" fmla="*/ 435 w 2164"/>
                  <a:gd name="T25" fmla="*/ 32 h 1979"/>
                  <a:gd name="T26" fmla="*/ 466 w 2164"/>
                  <a:gd name="T27" fmla="*/ 41 h 1979"/>
                  <a:gd name="T28" fmla="*/ 497 w 2164"/>
                  <a:gd name="T29" fmla="*/ 51 h 1979"/>
                  <a:gd name="T30" fmla="*/ 526 w 2164"/>
                  <a:gd name="T31" fmla="*/ 63 h 1979"/>
                  <a:gd name="T32" fmla="*/ 494 w 2164"/>
                  <a:gd name="T33" fmla="*/ 296 h 1979"/>
                  <a:gd name="T34" fmla="*/ 497 w 2164"/>
                  <a:gd name="T35" fmla="*/ 298 h 1979"/>
                  <a:gd name="T36" fmla="*/ 505 w 2164"/>
                  <a:gd name="T37" fmla="*/ 305 h 1979"/>
                  <a:gd name="T38" fmla="*/ 509 w 2164"/>
                  <a:gd name="T39" fmla="*/ 321 h 1979"/>
                  <a:gd name="T40" fmla="*/ 503 w 2164"/>
                  <a:gd name="T41" fmla="*/ 349 h 1979"/>
                  <a:gd name="T42" fmla="*/ 409 w 2164"/>
                  <a:gd name="T43" fmla="*/ 459 h 1979"/>
                  <a:gd name="T44" fmla="*/ 377 w 2164"/>
                  <a:gd name="T45" fmla="*/ 495 h 1979"/>
                  <a:gd name="T46" fmla="*/ 372 w 2164"/>
                  <a:gd name="T47" fmla="*/ 494 h 1979"/>
                  <a:gd name="T48" fmla="*/ 363 w 2164"/>
                  <a:gd name="T49" fmla="*/ 493 h 1979"/>
                  <a:gd name="T50" fmla="*/ 349 w 2164"/>
                  <a:gd name="T51" fmla="*/ 491 h 1979"/>
                  <a:gd name="T52" fmla="*/ 332 w 2164"/>
                  <a:gd name="T53" fmla="*/ 489 h 1979"/>
                  <a:gd name="T54" fmla="*/ 311 w 2164"/>
                  <a:gd name="T55" fmla="*/ 486 h 1979"/>
                  <a:gd name="T56" fmla="*/ 288 w 2164"/>
                  <a:gd name="T57" fmla="*/ 482 h 1979"/>
                  <a:gd name="T58" fmla="*/ 262 w 2164"/>
                  <a:gd name="T59" fmla="*/ 477 h 1979"/>
                  <a:gd name="T60" fmla="*/ 234 w 2164"/>
                  <a:gd name="T61" fmla="*/ 471 h 1979"/>
                  <a:gd name="T62" fmla="*/ 204 w 2164"/>
                  <a:gd name="T63" fmla="*/ 464 h 1979"/>
                  <a:gd name="T64" fmla="*/ 174 w 2164"/>
                  <a:gd name="T65" fmla="*/ 456 h 1979"/>
                  <a:gd name="T66" fmla="*/ 143 w 2164"/>
                  <a:gd name="T67" fmla="*/ 447 h 1979"/>
                  <a:gd name="T68" fmla="*/ 111 w 2164"/>
                  <a:gd name="T69" fmla="*/ 437 h 1979"/>
                  <a:gd name="T70" fmla="*/ 80 w 2164"/>
                  <a:gd name="T71" fmla="*/ 425 h 1979"/>
                  <a:gd name="T72" fmla="*/ 49 w 2164"/>
                  <a:gd name="T73" fmla="*/ 412 h 1979"/>
                  <a:gd name="T74" fmla="*/ 19 w 2164"/>
                  <a:gd name="T75" fmla="*/ 398 h 1979"/>
                  <a:gd name="T76" fmla="*/ 4 w 2164"/>
                  <a:gd name="T77" fmla="*/ 389 h 1979"/>
                  <a:gd name="T78" fmla="*/ 2 w 2164"/>
                  <a:gd name="T79" fmla="*/ 379 h 1979"/>
                  <a:gd name="T80" fmla="*/ 0 w 2164"/>
                  <a:gd name="T81" fmla="*/ 364 h 1979"/>
                  <a:gd name="T82" fmla="*/ 1 w 2164"/>
                  <a:gd name="T83" fmla="*/ 349 h 1979"/>
                  <a:gd name="T84" fmla="*/ 111 w 2164"/>
                  <a:gd name="T85" fmla="*/ 251 h 1979"/>
                  <a:gd name="T86" fmla="*/ 110 w 2164"/>
                  <a:gd name="T87" fmla="*/ 247 h 1979"/>
                  <a:gd name="T88" fmla="*/ 111 w 2164"/>
                  <a:gd name="T89" fmla="*/ 238 h 1979"/>
                  <a:gd name="T90" fmla="*/ 118 w 2164"/>
                  <a:gd name="T91" fmla="*/ 226 h 1979"/>
                  <a:gd name="T92" fmla="*/ 134 w 2164"/>
                  <a:gd name="T93" fmla="*/ 211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164"/>
                  <a:gd name="T142" fmla="*/ 0 h 1979"/>
                  <a:gd name="T143" fmla="*/ 2164 w 2164"/>
                  <a:gd name="T144" fmla="*/ 1979 h 197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6" name="Freeform 81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41 w 1244"/>
                  <a:gd name="T1" fmla="*/ 0 h 930"/>
                  <a:gd name="T2" fmla="*/ 311 w 1244"/>
                  <a:gd name="T3" fmla="*/ 54 h 930"/>
                  <a:gd name="T4" fmla="*/ 267 w 1244"/>
                  <a:gd name="T5" fmla="*/ 233 h 930"/>
                  <a:gd name="T6" fmla="*/ 0 w 1244"/>
                  <a:gd name="T7" fmla="*/ 172 h 930"/>
                  <a:gd name="T8" fmla="*/ 41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4"/>
                  <a:gd name="T16" fmla="*/ 0 h 930"/>
                  <a:gd name="T17" fmla="*/ 1244 w 1244"/>
                  <a:gd name="T18" fmla="*/ 930 h 9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7" name="Freeform 82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28 w 952"/>
                  <a:gd name="T1" fmla="*/ 0 h 366"/>
                  <a:gd name="T2" fmla="*/ 237 w 952"/>
                  <a:gd name="T3" fmla="*/ 38 h 366"/>
                  <a:gd name="T4" fmla="*/ 50 w 952"/>
                  <a:gd name="T5" fmla="*/ 27 h 366"/>
                  <a:gd name="T6" fmla="*/ 0 w 952"/>
                  <a:gd name="T7" fmla="*/ 91 h 366"/>
                  <a:gd name="T8" fmla="*/ 28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2"/>
                  <a:gd name="T16" fmla="*/ 0 h 366"/>
                  <a:gd name="T17" fmla="*/ 952 w 952"/>
                  <a:gd name="T18" fmla="*/ 366 h 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8" name="Freeform 83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10 w 1259"/>
                  <a:gd name="T1" fmla="*/ 0 h 337"/>
                  <a:gd name="T2" fmla="*/ 315 w 1259"/>
                  <a:gd name="T3" fmla="*/ 72 h 337"/>
                  <a:gd name="T4" fmla="*/ 307 w 1259"/>
                  <a:gd name="T5" fmla="*/ 84 h 337"/>
                  <a:gd name="T6" fmla="*/ 0 w 1259"/>
                  <a:gd name="T7" fmla="*/ 8 h 337"/>
                  <a:gd name="T8" fmla="*/ 1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9"/>
                  <a:gd name="T16" fmla="*/ 0 h 337"/>
                  <a:gd name="T17" fmla="*/ 1259 w 1259"/>
                  <a:gd name="T18" fmla="*/ 337 h 3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9" name="Freeform 84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11 w 1265"/>
                  <a:gd name="T1" fmla="*/ 0 h 342"/>
                  <a:gd name="T2" fmla="*/ 316 w 1265"/>
                  <a:gd name="T3" fmla="*/ 72 h 342"/>
                  <a:gd name="T4" fmla="*/ 306 w 1265"/>
                  <a:gd name="T5" fmla="*/ 86 h 342"/>
                  <a:gd name="T6" fmla="*/ 0 w 1265"/>
                  <a:gd name="T7" fmla="*/ 9 h 342"/>
                  <a:gd name="T8" fmla="*/ 11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5"/>
                  <a:gd name="T16" fmla="*/ 0 h 342"/>
                  <a:gd name="T17" fmla="*/ 1265 w 1265"/>
                  <a:gd name="T18" fmla="*/ 342 h 3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0" name="Freeform 85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11 w 1264"/>
                  <a:gd name="T1" fmla="*/ 0 h 344"/>
                  <a:gd name="T2" fmla="*/ 316 w 1264"/>
                  <a:gd name="T3" fmla="*/ 72 h 344"/>
                  <a:gd name="T4" fmla="*/ 306 w 1264"/>
                  <a:gd name="T5" fmla="*/ 86 h 344"/>
                  <a:gd name="T6" fmla="*/ 0 w 1264"/>
                  <a:gd name="T7" fmla="*/ 9 h 344"/>
                  <a:gd name="T8" fmla="*/ 11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4"/>
                  <a:gd name="T16" fmla="*/ 0 h 344"/>
                  <a:gd name="T17" fmla="*/ 1264 w 1264"/>
                  <a:gd name="T18" fmla="*/ 344 h 3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1" name="Freeform 86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5 w 190"/>
                  <a:gd name="T1" fmla="*/ 0 h 79"/>
                  <a:gd name="T2" fmla="*/ 6 w 190"/>
                  <a:gd name="T3" fmla="*/ 0 h 79"/>
                  <a:gd name="T4" fmla="*/ 10 w 190"/>
                  <a:gd name="T5" fmla="*/ 0 h 79"/>
                  <a:gd name="T6" fmla="*/ 16 w 190"/>
                  <a:gd name="T7" fmla="*/ 0 h 79"/>
                  <a:gd name="T8" fmla="*/ 23 w 190"/>
                  <a:gd name="T9" fmla="*/ 1 h 79"/>
                  <a:gd name="T10" fmla="*/ 30 w 190"/>
                  <a:gd name="T11" fmla="*/ 2 h 79"/>
                  <a:gd name="T12" fmla="*/ 37 w 190"/>
                  <a:gd name="T13" fmla="*/ 4 h 79"/>
                  <a:gd name="T14" fmla="*/ 44 w 190"/>
                  <a:gd name="T15" fmla="*/ 8 h 79"/>
                  <a:gd name="T16" fmla="*/ 48 w 190"/>
                  <a:gd name="T17" fmla="*/ 14 h 79"/>
                  <a:gd name="T18" fmla="*/ 48 w 190"/>
                  <a:gd name="T19" fmla="*/ 14 h 79"/>
                  <a:gd name="T20" fmla="*/ 48 w 190"/>
                  <a:gd name="T21" fmla="*/ 15 h 79"/>
                  <a:gd name="T22" fmla="*/ 48 w 190"/>
                  <a:gd name="T23" fmla="*/ 16 h 79"/>
                  <a:gd name="T24" fmla="*/ 47 w 190"/>
                  <a:gd name="T25" fmla="*/ 18 h 79"/>
                  <a:gd name="T26" fmla="*/ 46 w 190"/>
                  <a:gd name="T27" fmla="*/ 19 h 79"/>
                  <a:gd name="T28" fmla="*/ 44 w 190"/>
                  <a:gd name="T29" fmla="*/ 19 h 79"/>
                  <a:gd name="T30" fmla="*/ 40 w 190"/>
                  <a:gd name="T31" fmla="*/ 19 h 79"/>
                  <a:gd name="T32" fmla="*/ 36 w 190"/>
                  <a:gd name="T33" fmla="*/ 17 h 79"/>
                  <a:gd name="T34" fmla="*/ 36 w 190"/>
                  <a:gd name="T35" fmla="*/ 17 h 79"/>
                  <a:gd name="T36" fmla="*/ 36 w 190"/>
                  <a:gd name="T37" fmla="*/ 16 h 79"/>
                  <a:gd name="T38" fmla="*/ 35 w 190"/>
                  <a:gd name="T39" fmla="*/ 14 h 79"/>
                  <a:gd name="T40" fmla="*/ 33 w 190"/>
                  <a:gd name="T41" fmla="*/ 12 h 79"/>
                  <a:gd name="T42" fmla="*/ 29 w 190"/>
                  <a:gd name="T43" fmla="*/ 10 h 79"/>
                  <a:gd name="T44" fmla="*/ 24 w 190"/>
                  <a:gd name="T45" fmla="*/ 8 h 79"/>
                  <a:gd name="T46" fmla="*/ 16 w 190"/>
                  <a:gd name="T47" fmla="*/ 8 h 79"/>
                  <a:gd name="T48" fmla="*/ 6 w 190"/>
                  <a:gd name="T49" fmla="*/ 8 h 79"/>
                  <a:gd name="T50" fmla="*/ 5 w 190"/>
                  <a:gd name="T51" fmla="*/ 8 h 79"/>
                  <a:gd name="T52" fmla="*/ 4 w 190"/>
                  <a:gd name="T53" fmla="*/ 7 h 79"/>
                  <a:gd name="T54" fmla="*/ 2 w 190"/>
                  <a:gd name="T55" fmla="*/ 6 h 79"/>
                  <a:gd name="T56" fmla="*/ 1 w 190"/>
                  <a:gd name="T57" fmla="*/ 6 h 79"/>
                  <a:gd name="T58" fmla="*/ 0 w 190"/>
                  <a:gd name="T59" fmla="*/ 5 h 79"/>
                  <a:gd name="T60" fmla="*/ 0 w 190"/>
                  <a:gd name="T61" fmla="*/ 4 h 79"/>
                  <a:gd name="T62" fmla="*/ 2 w 190"/>
                  <a:gd name="T63" fmla="*/ 2 h 79"/>
                  <a:gd name="T64" fmla="*/ 5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0"/>
                  <a:gd name="T100" fmla="*/ 0 h 79"/>
                  <a:gd name="T101" fmla="*/ 190 w 190"/>
                  <a:gd name="T102" fmla="*/ 79 h 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2" name="Freeform 87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11 w 107"/>
                  <a:gd name="T1" fmla="*/ 14 h 63"/>
                  <a:gd name="T2" fmla="*/ 14 w 107"/>
                  <a:gd name="T3" fmla="*/ 15 h 63"/>
                  <a:gd name="T4" fmla="*/ 16 w 107"/>
                  <a:gd name="T5" fmla="*/ 15 h 63"/>
                  <a:gd name="T6" fmla="*/ 19 w 107"/>
                  <a:gd name="T7" fmla="*/ 15 h 63"/>
                  <a:gd name="T8" fmla="*/ 21 w 107"/>
                  <a:gd name="T9" fmla="*/ 15 h 63"/>
                  <a:gd name="T10" fmla="*/ 23 w 107"/>
                  <a:gd name="T11" fmla="*/ 15 h 63"/>
                  <a:gd name="T12" fmla="*/ 24 w 107"/>
                  <a:gd name="T13" fmla="*/ 14 h 63"/>
                  <a:gd name="T14" fmla="*/ 26 w 107"/>
                  <a:gd name="T15" fmla="*/ 13 h 63"/>
                  <a:gd name="T16" fmla="*/ 27 w 107"/>
                  <a:gd name="T17" fmla="*/ 11 h 63"/>
                  <a:gd name="T18" fmla="*/ 27 w 107"/>
                  <a:gd name="T19" fmla="*/ 10 h 63"/>
                  <a:gd name="T20" fmla="*/ 27 w 107"/>
                  <a:gd name="T21" fmla="*/ 9 h 63"/>
                  <a:gd name="T22" fmla="*/ 26 w 107"/>
                  <a:gd name="T23" fmla="*/ 7 h 63"/>
                  <a:gd name="T24" fmla="*/ 24 w 107"/>
                  <a:gd name="T25" fmla="*/ 6 h 63"/>
                  <a:gd name="T26" fmla="*/ 23 w 107"/>
                  <a:gd name="T27" fmla="*/ 5 h 63"/>
                  <a:gd name="T28" fmla="*/ 21 w 107"/>
                  <a:gd name="T29" fmla="*/ 3 h 63"/>
                  <a:gd name="T30" fmla="*/ 19 w 107"/>
                  <a:gd name="T31" fmla="*/ 2 h 63"/>
                  <a:gd name="T32" fmla="*/ 16 w 107"/>
                  <a:gd name="T33" fmla="*/ 1 h 63"/>
                  <a:gd name="T34" fmla="*/ 13 w 107"/>
                  <a:gd name="T35" fmla="*/ 0 h 63"/>
                  <a:gd name="T36" fmla="*/ 11 w 107"/>
                  <a:gd name="T37" fmla="*/ 0 h 63"/>
                  <a:gd name="T38" fmla="*/ 8 w 107"/>
                  <a:gd name="T39" fmla="*/ 0 h 63"/>
                  <a:gd name="T40" fmla="*/ 6 w 107"/>
                  <a:gd name="T41" fmla="*/ 0 h 63"/>
                  <a:gd name="T42" fmla="*/ 4 w 107"/>
                  <a:gd name="T43" fmla="*/ 0 h 63"/>
                  <a:gd name="T44" fmla="*/ 2 w 107"/>
                  <a:gd name="T45" fmla="*/ 1 h 63"/>
                  <a:gd name="T46" fmla="*/ 1 w 107"/>
                  <a:gd name="T47" fmla="*/ 2 h 63"/>
                  <a:gd name="T48" fmla="*/ 0 w 107"/>
                  <a:gd name="T49" fmla="*/ 3 h 63"/>
                  <a:gd name="T50" fmla="*/ 0 w 107"/>
                  <a:gd name="T51" fmla="*/ 5 h 63"/>
                  <a:gd name="T52" fmla="*/ 0 w 107"/>
                  <a:gd name="T53" fmla="*/ 6 h 63"/>
                  <a:gd name="T54" fmla="*/ 1 w 107"/>
                  <a:gd name="T55" fmla="*/ 8 h 63"/>
                  <a:gd name="T56" fmla="*/ 2 w 107"/>
                  <a:gd name="T57" fmla="*/ 9 h 63"/>
                  <a:gd name="T58" fmla="*/ 4 w 107"/>
                  <a:gd name="T59" fmla="*/ 10 h 63"/>
                  <a:gd name="T60" fmla="*/ 6 w 107"/>
                  <a:gd name="T61" fmla="*/ 12 h 63"/>
                  <a:gd name="T62" fmla="*/ 8 w 107"/>
                  <a:gd name="T63" fmla="*/ 13 h 63"/>
                  <a:gd name="T64" fmla="*/ 11 w 107"/>
                  <a:gd name="T65" fmla="*/ 14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63"/>
                  <a:gd name="T101" fmla="*/ 107 w 107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3" name="Freeform 88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366 w 1469"/>
                  <a:gd name="T1" fmla="*/ 102 h 525"/>
                  <a:gd name="T2" fmla="*/ 361 w 1469"/>
                  <a:gd name="T3" fmla="*/ 101 h 525"/>
                  <a:gd name="T4" fmla="*/ 352 w 1469"/>
                  <a:gd name="T5" fmla="*/ 100 h 525"/>
                  <a:gd name="T6" fmla="*/ 338 w 1469"/>
                  <a:gd name="T7" fmla="*/ 98 h 525"/>
                  <a:gd name="T8" fmla="*/ 321 w 1469"/>
                  <a:gd name="T9" fmla="*/ 96 h 525"/>
                  <a:gd name="T10" fmla="*/ 301 w 1469"/>
                  <a:gd name="T11" fmla="*/ 92 h 525"/>
                  <a:gd name="T12" fmla="*/ 277 w 1469"/>
                  <a:gd name="T13" fmla="*/ 88 h 525"/>
                  <a:gd name="T14" fmla="*/ 252 w 1469"/>
                  <a:gd name="T15" fmla="*/ 84 h 525"/>
                  <a:gd name="T16" fmla="*/ 224 w 1469"/>
                  <a:gd name="T17" fmla="*/ 78 h 525"/>
                  <a:gd name="T18" fmla="*/ 195 w 1469"/>
                  <a:gd name="T19" fmla="*/ 71 h 525"/>
                  <a:gd name="T20" fmla="*/ 166 w 1469"/>
                  <a:gd name="T21" fmla="*/ 63 h 525"/>
                  <a:gd name="T22" fmla="*/ 135 w 1469"/>
                  <a:gd name="T23" fmla="*/ 54 h 525"/>
                  <a:gd name="T24" fmla="*/ 104 w 1469"/>
                  <a:gd name="T25" fmla="*/ 44 h 525"/>
                  <a:gd name="T26" fmla="*/ 74 w 1469"/>
                  <a:gd name="T27" fmla="*/ 33 h 525"/>
                  <a:gd name="T28" fmla="*/ 44 w 1469"/>
                  <a:gd name="T29" fmla="*/ 21 h 525"/>
                  <a:gd name="T30" fmla="*/ 16 w 1469"/>
                  <a:gd name="T31" fmla="*/ 7 h 525"/>
                  <a:gd name="T32" fmla="*/ 2 w 1469"/>
                  <a:gd name="T33" fmla="*/ 1 h 525"/>
                  <a:gd name="T34" fmla="*/ 1 w 1469"/>
                  <a:gd name="T35" fmla="*/ 8 h 525"/>
                  <a:gd name="T36" fmla="*/ 0 w 1469"/>
                  <a:gd name="T37" fmla="*/ 20 h 525"/>
                  <a:gd name="T38" fmla="*/ 2 w 1469"/>
                  <a:gd name="T39" fmla="*/ 31 h 525"/>
                  <a:gd name="T40" fmla="*/ 6 w 1469"/>
                  <a:gd name="T41" fmla="*/ 36 h 525"/>
                  <a:gd name="T42" fmla="*/ 8 w 1469"/>
                  <a:gd name="T43" fmla="*/ 37 h 525"/>
                  <a:gd name="T44" fmla="*/ 13 w 1469"/>
                  <a:gd name="T45" fmla="*/ 40 h 525"/>
                  <a:gd name="T46" fmla="*/ 21 w 1469"/>
                  <a:gd name="T47" fmla="*/ 44 h 525"/>
                  <a:gd name="T48" fmla="*/ 32 w 1469"/>
                  <a:gd name="T49" fmla="*/ 49 h 525"/>
                  <a:gd name="T50" fmla="*/ 45 w 1469"/>
                  <a:gd name="T51" fmla="*/ 55 h 525"/>
                  <a:gd name="T52" fmla="*/ 62 w 1469"/>
                  <a:gd name="T53" fmla="*/ 62 h 525"/>
                  <a:gd name="T54" fmla="*/ 80 w 1469"/>
                  <a:gd name="T55" fmla="*/ 69 h 525"/>
                  <a:gd name="T56" fmla="*/ 102 w 1469"/>
                  <a:gd name="T57" fmla="*/ 77 h 525"/>
                  <a:gd name="T58" fmla="*/ 127 w 1469"/>
                  <a:gd name="T59" fmla="*/ 85 h 525"/>
                  <a:gd name="T60" fmla="*/ 154 w 1469"/>
                  <a:gd name="T61" fmla="*/ 93 h 525"/>
                  <a:gd name="T62" fmla="*/ 185 w 1469"/>
                  <a:gd name="T63" fmla="*/ 100 h 525"/>
                  <a:gd name="T64" fmla="*/ 218 w 1469"/>
                  <a:gd name="T65" fmla="*/ 108 h 525"/>
                  <a:gd name="T66" fmla="*/ 254 w 1469"/>
                  <a:gd name="T67" fmla="*/ 115 h 525"/>
                  <a:gd name="T68" fmla="*/ 294 w 1469"/>
                  <a:gd name="T69" fmla="*/ 122 h 525"/>
                  <a:gd name="T70" fmla="*/ 336 w 1469"/>
                  <a:gd name="T71" fmla="*/ 128 h 525"/>
                  <a:gd name="T72" fmla="*/ 359 w 1469"/>
                  <a:gd name="T73" fmla="*/ 131 h 525"/>
                  <a:gd name="T74" fmla="*/ 362 w 1469"/>
                  <a:gd name="T75" fmla="*/ 126 h 525"/>
                  <a:gd name="T76" fmla="*/ 365 w 1469"/>
                  <a:gd name="T77" fmla="*/ 118 h 525"/>
                  <a:gd name="T78" fmla="*/ 367 w 1469"/>
                  <a:gd name="T79" fmla="*/ 108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69"/>
                  <a:gd name="T121" fmla="*/ 0 h 525"/>
                  <a:gd name="T122" fmla="*/ 1469 w 1469"/>
                  <a:gd name="T123" fmla="*/ 525 h 5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4" name="Freeform 89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13 w 170"/>
                  <a:gd name="T1" fmla="*/ 0 h 120"/>
                  <a:gd name="T2" fmla="*/ 12 w 170"/>
                  <a:gd name="T3" fmla="*/ 0 h 120"/>
                  <a:gd name="T4" fmla="*/ 10 w 170"/>
                  <a:gd name="T5" fmla="*/ 1 h 120"/>
                  <a:gd name="T6" fmla="*/ 7 w 170"/>
                  <a:gd name="T7" fmla="*/ 2 h 120"/>
                  <a:gd name="T8" fmla="*/ 4 w 170"/>
                  <a:gd name="T9" fmla="*/ 4 h 120"/>
                  <a:gd name="T10" fmla="*/ 2 w 170"/>
                  <a:gd name="T11" fmla="*/ 6 h 120"/>
                  <a:gd name="T12" fmla="*/ 0 w 170"/>
                  <a:gd name="T13" fmla="*/ 10 h 120"/>
                  <a:gd name="T14" fmla="*/ 0 w 170"/>
                  <a:gd name="T15" fmla="*/ 16 h 120"/>
                  <a:gd name="T16" fmla="*/ 2 w 170"/>
                  <a:gd name="T17" fmla="*/ 23 h 120"/>
                  <a:gd name="T18" fmla="*/ 24 w 170"/>
                  <a:gd name="T19" fmla="*/ 29 h 120"/>
                  <a:gd name="T20" fmla="*/ 24 w 170"/>
                  <a:gd name="T21" fmla="*/ 28 h 120"/>
                  <a:gd name="T22" fmla="*/ 24 w 170"/>
                  <a:gd name="T23" fmla="*/ 25 h 120"/>
                  <a:gd name="T24" fmla="*/ 24 w 170"/>
                  <a:gd name="T25" fmla="*/ 20 h 120"/>
                  <a:gd name="T26" fmla="*/ 25 w 170"/>
                  <a:gd name="T27" fmla="*/ 15 h 120"/>
                  <a:gd name="T28" fmla="*/ 27 w 170"/>
                  <a:gd name="T29" fmla="*/ 11 h 120"/>
                  <a:gd name="T30" fmla="*/ 30 w 170"/>
                  <a:gd name="T31" fmla="*/ 7 h 120"/>
                  <a:gd name="T32" fmla="*/ 35 w 170"/>
                  <a:gd name="T33" fmla="*/ 5 h 120"/>
                  <a:gd name="T34" fmla="*/ 42 w 170"/>
                  <a:gd name="T35" fmla="*/ 6 h 120"/>
                  <a:gd name="T36" fmla="*/ 13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20"/>
                  <a:gd name="T59" fmla="*/ 170 w 170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5" name="Freeform 90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13 w 170"/>
                  <a:gd name="T1" fmla="*/ 0 h 119"/>
                  <a:gd name="T2" fmla="*/ 12 w 170"/>
                  <a:gd name="T3" fmla="*/ 0 h 119"/>
                  <a:gd name="T4" fmla="*/ 10 w 170"/>
                  <a:gd name="T5" fmla="*/ 1 h 119"/>
                  <a:gd name="T6" fmla="*/ 7 w 170"/>
                  <a:gd name="T7" fmla="*/ 2 h 119"/>
                  <a:gd name="T8" fmla="*/ 5 w 170"/>
                  <a:gd name="T9" fmla="*/ 3 h 119"/>
                  <a:gd name="T10" fmla="*/ 2 w 170"/>
                  <a:gd name="T11" fmla="*/ 6 h 119"/>
                  <a:gd name="T12" fmla="*/ 0 w 170"/>
                  <a:gd name="T13" fmla="*/ 10 h 119"/>
                  <a:gd name="T14" fmla="*/ 0 w 170"/>
                  <a:gd name="T15" fmla="*/ 16 h 119"/>
                  <a:gd name="T16" fmla="*/ 2 w 170"/>
                  <a:gd name="T17" fmla="*/ 23 h 119"/>
                  <a:gd name="T18" fmla="*/ 25 w 170"/>
                  <a:gd name="T19" fmla="*/ 29 h 119"/>
                  <a:gd name="T20" fmla="*/ 24 w 170"/>
                  <a:gd name="T21" fmla="*/ 28 h 119"/>
                  <a:gd name="T22" fmla="*/ 24 w 170"/>
                  <a:gd name="T23" fmla="*/ 25 h 119"/>
                  <a:gd name="T24" fmla="*/ 24 w 170"/>
                  <a:gd name="T25" fmla="*/ 20 h 119"/>
                  <a:gd name="T26" fmla="*/ 25 w 170"/>
                  <a:gd name="T27" fmla="*/ 15 h 119"/>
                  <a:gd name="T28" fmla="*/ 27 w 170"/>
                  <a:gd name="T29" fmla="*/ 11 h 119"/>
                  <a:gd name="T30" fmla="*/ 30 w 170"/>
                  <a:gd name="T31" fmla="*/ 7 h 119"/>
                  <a:gd name="T32" fmla="*/ 36 w 170"/>
                  <a:gd name="T33" fmla="*/ 5 h 119"/>
                  <a:gd name="T34" fmla="*/ 43 w 170"/>
                  <a:gd name="T35" fmla="*/ 6 h 119"/>
                  <a:gd name="T36" fmla="*/ 13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19"/>
                  <a:gd name="T59" fmla="*/ 170 w 170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6" name="Freeform 91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11 h 200"/>
                  <a:gd name="T2" fmla="*/ 174 w 730"/>
                  <a:gd name="T3" fmla="*/ 50 h 200"/>
                  <a:gd name="T4" fmla="*/ 182 w 730"/>
                  <a:gd name="T5" fmla="*/ 39 h 200"/>
                  <a:gd name="T6" fmla="*/ 8 w 730"/>
                  <a:gd name="T7" fmla="*/ 0 h 200"/>
                  <a:gd name="T8" fmla="*/ 0 w 730"/>
                  <a:gd name="T9" fmla="*/ 11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0"/>
                  <a:gd name="T16" fmla="*/ 0 h 200"/>
                  <a:gd name="T17" fmla="*/ 730 w 730"/>
                  <a:gd name="T18" fmla="*/ 200 h 2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7" name="Freeform 92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8 h 187"/>
                  <a:gd name="T2" fmla="*/ 174 w 703"/>
                  <a:gd name="T3" fmla="*/ 47 h 187"/>
                  <a:gd name="T4" fmla="*/ 176 w 703"/>
                  <a:gd name="T5" fmla="*/ 39 h 187"/>
                  <a:gd name="T6" fmla="*/ 2 w 703"/>
                  <a:gd name="T7" fmla="*/ 0 h 187"/>
                  <a:gd name="T8" fmla="*/ 0 w 703"/>
                  <a:gd name="T9" fmla="*/ 8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3"/>
                  <a:gd name="T16" fmla="*/ 0 h 187"/>
                  <a:gd name="T17" fmla="*/ 703 w 703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8" name="Freeform 93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127 h 508"/>
                  <a:gd name="T2" fmla="*/ 22 w 424"/>
                  <a:gd name="T3" fmla="*/ 97 h 508"/>
                  <a:gd name="T4" fmla="*/ 31 w 424"/>
                  <a:gd name="T5" fmla="*/ 97 h 508"/>
                  <a:gd name="T6" fmla="*/ 106 w 424"/>
                  <a:gd name="T7" fmla="*/ 0 h 508"/>
                  <a:gd name="T8" fmla="*/ 33 w 424"/>
                  <a:gd name="T9" fmla="*/ 71 h 508"/>
                  <a:gd name="T10" fmla="*/ 17 w 424"/>
                  <a:gd name="T11" fmla="*/ 72 h 508"/>
                  <a:gd name="T12" fmla="*/ 0 w 424"/>
                  <a:gd name="T13" fmla="*/ 90 h 508"/>
                  <a:gd name="T14" fmla="*/ 0 w 424"/>
                  <a:gd name="T15" fmla="*/ 127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4"/>
                  <a:gd name="T25" fmla="*/ 0 h 508"/>
                  <a:gd name="T26" fmla="*/ 424 w 424"/>
                  <a:gd name="T27" fmla="*/ 508 h 5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49" name="Freeform 94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296 w 1186"/>
                  <a:gd name="T3" fmla="*/ 61 h 245"/>
                  <a:gd name="T4" fmla="*/ 296 w 1186"/>
                  <a:gd name="T5" fmla="*/ 61 h 245"/>
                  <a:gd name="T6" fmla="*/ 295 w 1186"/>
                  <a:gd name="T7" fmla="*/ 60 h 245"/>
                  <a:gd name="T8" fmla="*/ 293 w 1186"/>
                  <a:gd name="T9" fmla="*/ 60 h 245"/>
                  <a:gd name="T10" fmla="*/ 290 w 1186"/>
                  <a:gd name="T11" fmla="*/ 58 h 245"/>
                  <a:gd name="T12" fmla="*/ 286 w 1186"/>
                  <a:gd name="T13" fmla="*/ 57 h 245"/>
                  <a:gd name="T14" fmla="*/ 282 w 1186"/>
                  <a:gd name="T15" fmla="*/ 55 h 245"/>
                  <a:gd name="T16" fmla="*/ 278 w 1186"/>
                  <a:gd name="T17" fmla="*/ 53 h 245"/>
                  <a:gd name="T18" fmla="*/ 272 w 1186"/>
                  <a:gd name="T19" fmla="*/ 51 h 245"/>
                  <a:gd name="T20" fmla="*/ 266 w 1186"/>
                  <a:gd name="T21" fmla="*/ 49 h 245"/>
                  <a:gd name="T22" fmla="*/ 259 w 1186"/>
                  <a:gd name="T23" fmla="*/ 47 h 245"/>
                  <a:gd name="T24" fmla="*/ 252 w 1186"/>
                  <a:gd name="T25" fmla="*/ 44 h 245"/>
                  <a:gd name="T26" fmla="*/ 244 w 1186"/>
                  <a:gd name="T27" fmla="*/ 41 h 245"/>
                  <a:gd name="T28" fmla="*/ 236 w 1186"/>
                  <a:gd name="T29" fmla="*/ 38 h 245"/>
                  <a:gd name="T30" fmla="*/ 227 w 1186"/>
                  <a:gd name="T31" fmla="*/ 36 h 245"/>
                  <a:gd name="T32" fmla="*/ 217 w 1186"/>
                  <a:gd name="T33" fmla="*/ 33 h 245"/>
                  <a:gd name="T34" fmla="*/ 208 w 1186"/>
                  <a:gd name="T35" fmla="*/ 30 h 245"/>
                  <a:gd name="T36" fmla="*/ 197 w 1186"/>
                  <a:gd name="T37" fmla="*/ 27 h 245"/>
                  <a:gd name="T38" fmla="*/ 186 w 1186"/>
                  <a:gd name="T39" fmla="*/ 24 h 245"/>
                  <a:gd name="T40" fmla="*/ 175 w 1186"/>
                  <a:gd name="T41" fmla="*/ 21 h 245"/>
                  <a:gd name="T42" fmla="*/ 163 w 1186"/>
                  <a:gd name="T43" fmla="*/ 18 h 245"/>
                  <a:gd name="T44" fmla="*/ 151 w 1186"/>
                  <a:gd name="T45" fmla="*/ 16 h 245"/>
                  <a:gd name="T46" fmla="*/ 139 w 1186"/>
                  <a:gd name="T47" fmla="*/ 13 h 245"/>
                  <a:gd name="T48" fmla="*/ 126 w 1186"/>
                  <a:gd name="T49" fmla="*/ 11 h 245"/>
                  <a:gd name="T50" fmla="*/ 113 w 1186"/>
                  <a:gd name="T51" fmla="*/ 9 h 245"/>
                  <a:gd name="T52" fmla="*/ 100 w 1186"/>
                  <a:gd name="T53" fmla="*/ 7 h 245"/>
                  <a:gd name="T54" fmla="*/ 86 w 1186"/>
                  <a:gd name="T55" fmla="*/ 5 h 245"/>
                  <a:gd name="T56" fmla="*/ 72 w 1186"/>
                  <a:gd name="T57" fmla="*/ 4 h 245"/>
                  <a:gd name="T58" fmla="*/ 58 w 1186"/>
                  <a:gd name="T59" fmla="*/ 2 h 245"/>
                  <a:gd name="T60" fmla="*/ 44 w 1186"/>
                  <a:gd name="T61" fmla="*/ 1 h 245"/>
                  <a:gd name="T62" fmla="*/ 29 w 1186"/>
                  <a:gd name="T63" fmla="*/ 0 h 245"/>
                  <a:gd name="T64" fmla="*/ 15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86"/>
                  <a:gd name="T103" fmla="*/ 0 h 245"/>
                  <a:gd name="T104" fmla="*/ 1186 w 1186"/>
                  <a:gd name="T105" fmla="*/ 245 h 2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50" name="Freeform 95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60 w 241"/>
                  <a:gd name="T1" fmla="*/ 0 h 738"/>
                  <a:gd name="T2" fmla="*/ 13 w 241"/>
                  <a:gd name="T3" fmla="*/ 185 h 738"/>
                  <a:gd name="T4" fmla="*/ 0 w 241"/>
                  <a:gd name="T5" fmla="*/ 182 h 738"/>
                  <a:gd name="T6" fmla="*/ 42 w 241"/>
                  <a:gd name="T7" fmla="*/ 0 h 738"/>
                  <a:gd name="T8" fmla="*/ 6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738"/>
                  <a:gd name="T17" fmla="*/ 241 w 241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5372" name="Freeform 119"/>
          <p:cNvSpPr>
            <a:spLocks/>
          </p:cNvSpPr>
          <p:nvPr/>
        </p:nvSpPr>
        <p:spPr bwMode="auto">
          <a:xfrm>
            <a:off x="3954463" y="3432175"/>
            <a:ext cx="2109787" cy="1250950"/>
          </a:xfrm>
          <a:custGeom>
            <a:avLst/>
            <a:gdLst>
              <a:gd name="T0" fmla="*/ 378289 w 3324"/>
              <a:gd name="T1" fmla="*/ 9520 h 1971"/>
              <a:gd name="T2" fmla="*/ 94572 w 3324"/>
              <a:gd name="T3" fmla="*/ 209444 h 1971"/>
              <a:gd name="T4" fmla="*/ 1904 w 3324"/>
              <a:gd name="T5" fmla="*/ 676567 h 1971"/>
              <a:gd name="T6" fmla="*/ 106632 w 3324"/>
              <a:gd name="T7" fmla="*/ 1019293 h 1971"/>
              <a:gd name="T8" fmla="*/ 386540 w 3324"/>
              <a:gd name="T9" fmla="*/ 1162095 h 1971"/>
              <a:gd name="T10" fmla="*/ 687395 w 3324"/>
              <a:gd name="T11" fmla="*/ 1095454 h 1971"/>
              <a:gd name="T12" fmla="*/ 982536 w 3324"/>
              <a:gd name="T13" fmla="*/ 1190656 h 1971"/>
              <a:gd name="T14" fmla="*/ 1506175 w 3324"/>
              <a:gd name="T15" fmla="*/ 1219216 h 1971"/>
              <a:gd name="T16" fmla="*/ 2058375 w 3324"/>
              <a:gd name="T17" fmla="*/ 1000252 h 1971"/>
              <a:gd name="T18" fmla="*/ 1814645 w 3324"/>
              <a:gd name="T19" fmla="*/ 593424 h 1971"/>
              <a:gd name="T20" fmla="*/ 1722612 w 3324"/>
              <a:gd name="T21" fmla="*/ 281797 h 1971"/>
              <a:gd name="T22" fmla="*/ 1087899 w 3324"/>
              <a:gd name="T23" fmla="*/ 153592 h 1971"/>
              <a:gd name="T24" fmla="*/ 378289 w 3324"/>
              <a:gd name="T25" fmla="*/ 9520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24"/>
              <a:gd name="T40" fmla="*/ 0 h 1971"/>
              <a:gd name="T41" fmla="*/ 3324 w 3324"/>
              <a:gd name="T42" fmla="*/ 1971 h 19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5373" name="Text Box 120"/>
          <p:cNvSpPr txBox="1">
            <a:spLocks noChangeArrowheads="1"/>
          </p:cNvSpPr>
          <p:nvPr/>
        </p:nvSpPr>
        <p:spPr bwMode="auto">
          <a:xfrm>
            <a:off x="4129088" y="3729038"/>
            <a:ext cx="1447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b="0">
                <a:solidFill>
                  <a:schemeClr val="bg1"/>
                </a:solidFill>
                <a:latin typeface="Comic Sans MS" pitchFamily="66" charset="0"/>
              </a:rPr>
              <a:t>wide area network</a:t>
            </a:r>
          </a:p>
        </p:txBody>
      </p:sp>
      <p:sp>
        <p:nvSpPr>
          <p:cNvPr id="15374" name="Freeform 121"/>
          <p:cNvSpPr>
            <a:spLocks/>
          </p:cNvSpPr>
          <p:nvPr/>
        </p:nvSpPr>
        <p:spPr bwMode="auto">
          <a:xfrm>
            <a:off x="3259138" y="4995863"/>
            <a:ext cx="2944812" cy="911225"/>
          </a:xfrm>
          <a:custGeom>
            <a:avLst/>
            <a:gdLst>
              <a:gd name="T0" fmla="*/ 215335 w 4636"/>
              <a:gd name="T1" fmla="*/ 9525 h 1435"/>
              <a:gd name="T2" fmla="*/ 120054 w 4636"/>
              <a:gd name="T3" fmla="*/ 409575 h 1435"/>
              <a:gd name="T4" fmla="*/ 510705 w 4636"/>
              <a:gd name="T5" fmla="*/ 800100 h 1435"/>
              <a:gd name="T6" fmla="*/ 1244367 w 4636"/>
              <a:gd name="T7" fmla="*/ 904875 h 1435"/>
              <a:gd name="T8" fmla="*/ 2235287 w 4636"/>
              <a:gd name="T9" fmla="*/ 838200 h 1435"/>
              <a:gd name="T10" fmla="*/ 2492545 w 4636"/>
              <a:gd name="T11" fmla="*/ 619125 h 1435"/>
              <a:gd name="T12" fmla="*/ 2885738 w 4636"/>
              <a:gd name="T13" fmla="*/ 488315 h 1435"/>
              <a:gd name="T14" fmla="*/ 2698988 w 4636"/>
              <a:gd name="T15" fmla="*/ 176530 h 1435"/>
              <a:gd name="T16" fmla="*/ 1411426 w 4636"/>
              <a:gd name="T17" fmla="*/ 48260 h 1435"/>
              <a:gd name="T18" fmla="*/ 215335 w 4636"/>
              <a:gd name="T19" fmla="*/ 9525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636"/>
              <a:gd name="T31" fmla="*/ 0 h 1435"/>
              <a:gd name="T32" fmla="*/ 4636 w 4636"/>
              <a:gd name="T33" fmla="*/ 1435 h 14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5362" name="Object 122"/>
          <p:cNvGraphicFramePr>
            <a:graphicFrameLocks noChangeAspect="1"/>
          </p:cNvGraphicFramePr>
          <p:nvPr/>
        </p:nvGraphicFramePr>
        <p:xfrm>
          <a:off x="4392613" y="5178425"/>
          <a:ext cx="415925" cy="317500"/>
        </p:xfrm>
        <a:graphic>
          <a:graphicData uri="http://schemas.openxmlformats.org/presentationml/2006/ole">
            <p:oleObj spid="_x0000_s15362" r:id="rId4" imgW="1305000" imgH="1085760" progId="">
              <p:embed/>
            </p:oleObj>
          </a:graphicData>
        </a:graphic>
      </p:graphicFrame>
      <p:sp>
        <p:nvSpPr>
          <p:cNvPr id="15375" name="Text Box 123"/>
          <p:cNvSpPr txBox="1">
            <a:spLocks noChangeArrowheads="1"/>
          </p:cNvSpPr>
          <p:nvPr/>
        </p:nvSpPr>
        <p:spPr bwMode="auto">
          <a:xfrm>
            <a:off x="3984625" y="5473700"/>
            <a:ext cx="13874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0" hangingPunct="0"/>
            <a:r>
              <a:rPr lang="en-US" sz="1400" b="0">
                <a:latin typeface="Comic Sans MS" pitchFamily="66" charset="0"/>
              </a:rPr>
              <a:t>correspondent</a:t>
            </a:r>
            <a:endParaRPr lang="en-US" sz="1800" b="0">
              <a:latin typeface="Comic Sans MS" pitchFamily="66" charset="0"/>
            </a:endParaRPr>
          </a:p>
        </p:txBody>
      </p:sp>
      <p:sp>
        <p:nvSpPr>
          <p:cNvPr id="1956988" name="Line 124"/>
          <p:cNvSpPr>
            <a:spLocks noChangeShapeType="1"/>
          </p:cNvSpPr>
          <p:nvPr/>
        </p:nvSpPr>
        <p:spPr bwMode="auto">
          <a:xfrm>
            <a:off x="1169988" y="2298700"/>
            <a:ext cx="511175" cy="7127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6989" name="Line 125"/>
          <p:cNvSpPr>
            <a:spLocks noChangeShapeType="1"/>
          </p:cNvSpPr>
          <p:nvPr/>
        </p:nvSpPr>
        <p:spPr bwMode="auto">
          <a:xfrm flipV="1">
            <a:off x="757238" y="3216275"/>
            <a:ext cx="996950" cy="11033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6990" name="Line 126"/>
          <p:cNvSpPr>
            <a:spLocks noChangeShapeType="1"/>
          </p:cNvSpPr>
          <p:nvPr/>
        </p:nvSpPr>
        <p:spPr bwMode="auto">
          <a:xfrm flipH="1">
            <a:off x="3003550" y="1711325"/>
            <a:ext cx="1263650" cy="184308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6991" name="Text Box 127"/>
          <p:cNvSpPr txBox="1">
            <a:spLocks noChangeArrowheads="1"/>
          </p:cNvSpPr>
          <p:nvPr/>
        </p:nvSpPr>
        <p:spPr bwMode="auto">
          <a:xfrm>
            <a:off x="5110163" y="5926138"/>
            <a:ext cx="34036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Correspondent:</a:t>
            </a:r>
            <a:r>
              <a:rPr lang="en-US" b="0" i="1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b="0">
                <a:latin typeface="Comic Sans MS" pitchFamily="66" charset="0"/>
              </a:rPr>
              <a:t>wants to communicate with mobile</a:t>
            </a:r>
          </a:p>
        </p:txBody>
      </p:sp>
      <p:sp>
        <p:nvSpPr>
          <p:cNvPr id="1956992" name="Line 128"/>
          <p:cNvSpPr>
            <a:spLocks noChangeShapeType="1"/>
          </p:cNvSpPr>
          <p:nvPr/>
        </p:nvSpPr>
        <p:spPr bwMode="auto">
          <a:xfrm flipH="1" flipV="1">
            <a:off x="4840288" y="5349875"/>
            <a:ext cx="1344612" cy="6524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886" grpId="0"/>
      <p:bldP spid="1956887" grpId="0"/>
      <p:bldP spid="1956888" grpId="0"/>
      <p:bldP spid="1956988" grpId="0" animBg="1"/>
      <p:bldP spid="1956989" grpId="0" animBg="1"/>
      <p:bldP spid="1956990" grpId="0" animBg="1"/>
      <p:bldP spid="1956991" grpId="0"/>
      <p:bldP spid="195699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A3C2372-B014-4A46-B55E-D4C2B37A967F}" type="slidenum">
              <a:rPr lang="en-US" smtClean="0"/>
              <a:pPr>
                <a:defRPr/>
              </a:pPr>
              <a:t>44</a:t>
            </a:fld>
            <a:endParaRPr lang="en-US" smtClean="0"/>
          </a:p>
        </p:txBody>
      </p:sp>
      <p:sp>
        <p:nvSpPr>
          <p:cNvPr id="16390" name="Freeform 2"/>
          <p:cNvSpPr>
            <a:spLocks/>
          </p:cNvSpPr>
          <p:nvPr/>
        </p:nvSpPr>
        <p:spPr bwMode="auto">
          <a:xfrm>
            <a:off x="938213" y="2852738"/>
            <a:ext cx="1866900" cy="1589087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7 h 1191"/>
              <a:gd name="T8" fmla="*/ 156039 w 1340"/>
              <a:gd name="T9" fmla="*/ 1160794 h 1191"/>
              <a:gd name="T10" fmla="*/ 749546 w 1340"/>
              <a:gd name="T11" fmla="*/ 1168799 h 1191"/>
              <a:gd name="T12" fmla="*/ 891654 w 1340"/>
              <a:gd name="T13" fmla="*/ 1505030 h 1191"/>
              <a:gd name="T14" fmla="*/ 1719220 w 1340"/>
              <a:gd name="T15" fmla="*/ 1465002 h 1191"/>
              <a:gd name="T16" fmla="*/ 1777735 w 1340"/>
              <a:gd name="T17" fmla="*/ 760520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1" name="Group 3"/>
          <p:cNvGrpSpPr>
            <a:grpSpLocks/>
          </p:cNvGrpSpPr>
          <p:nvPr/>
        </p:nvGrpSpPr>
        <p:grpSpPr bwMode="auto">
          <a:xfrm>
            <a:off x="1993900" y="3846513"/>
            <a:ext cx="501650" cy="233362"/>
            <a:chOff x="3600" y="219"/>
            <a:chExt cx="360" cy="175"/>
          </a:xfrm>
        </p:grpSpPr>
        <p:sp>
          <p:nvSpPr>
            <p:cNvPr id="16431" name="Oval 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2" name="Line 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3" name="Line 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34" name="Rectangle 7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6435" name="Oval 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36" name="Group 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644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37" name="Group 1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643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3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4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6392" name="Group 17"/>
          <p:cNvGrpSpPr>
            <a:grpSpLocks/>
          </p:cNvGrpSpPr>
          <p:nvPr/>
        </p:nvGrpSpPr>
        <p:grpSpPr bwMode="auto">
          <a:xfrm>
            <a:off x="1096963" y="3500438"/>
            <a:ext cx="1333500" cy="342900"/>
            <a:chOff x="8025" y="5070"/>
            <a:chExt cx="2100" cy="540"/>
          </a:xfrm>
        </p:grpSpPr>
        <p:sp>
          <p:nvSpPr>
            <p:cNvPr id="16428" name="Line 18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Line 19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Line 20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393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Visited Network and Care-of Address</a:t>
            </a:r>
          </a:p>
        </p:txBody>
      </p:sp>
      <p:sp>
        <p:nvSpPr>
          <p:cNvPr id="1958934" name="Text Box 22"/>
          <p:cNvSpPr txBox="1">
            <a:spLocks noChangeArrowheads="1"/>
          </p:cNvSpPr>
          <p:nvPr/>
        </p:nvSpPr>
        <p:spPr bwMode="auto">
          <a:xfrm>
            <a:off x="2728913" y="2665413"/>
            <a:ext cx="33353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Care-of-address:</a:t>
            </a:r>
            <a:r>
              <a:rPr lang="en-US" b="0">
                <a:latin typeface="Comic Sans MS" pitchFamily="66" charset="0"/>
              </a:rPr>
              <a:t> address in visited network.</a:t>
            </a:r>
          </a:p>
          <a:p>
            <a:pPr algn="l" eaLnBrk="0" hangingPunct="0"/>
            <a:r>
              <a:rPr lang="en-US" sz="1600" b="0">
                <a:latin typeface="Comic Sans MS" pitchFamily="66" charset="0"/>
              </a:rPr>
              <a:t>(e.g., 79,129.13.2) </a:t>
            </a:r>
          </a:p>
        </p:txBody>
      </p:sp>
      <p:sp>
        <p:nvSpPr>
          <p:cNvPr id="16395" name="Freeform 94"/>
          <p:cNvSpPr>
            <a:spLocks/>
          </p:cNvSpPr>
          <p:nvPr/>
        </p:nvSpPr>
        <p:spPr bwMode="auto">
          <a:xfrm>
            <a:off x="6413500" y="2708275"/>
            <a:ext cx="1838325" cy="1711325"/>
          </a:xfrm>
          <a:custGeom>
            <a:avLst/>
            <a:gdLst>
              <a:gd name="T0" fmla="*/ 2541 w 2894"/>
              <a:gd name="T1" fmla="*/ 845813 h 2693"/>
              <a:gd name="T2" fmla="*/ 221692 w 2894"/>
              <a:gd name="T3" fmla="*/ 323455 h 2693"/>
              <a:gd name="T4" fmla="*/ 879144 w 2894"/>
              <a:gd name="T5" fmla="*/ 218602 h 2693"/>
              <a:gd name="T6" fmla="*/ 1649030 w 2894"/>
              <a:gd name="T7" fmla="*/ 108030 h 2693"/>
              <a:gd name="T8" fmla="*/ 1831973 w 2894"/>
              <a:gd name="T9" fmla="*/ 866783 h 2693"/>
              <a:gd name="T10" fmla="*/ 1689048 w 2894"/>
              <a:gd name="T11" fmla="*/ 1362451 h 2693"/>
              <a:gd name="T12" fmla="*/ 1336502 w 2894"/>
              <a:gd name="T13" fmla="*/ 1591221 h 2693"/>
              <a:gd name="T14" fmla="*/ 1041125 w 2894"/>
              <a:gd name="T15" fmla="*/ 1638881 h 2693"/>
              <a:gd name="T16" fmla="*/ 663169 w 2894"/>
              <a:gd name="T17" fmla="*/ 1671290 h 2693"/>
              <a:gd name="T18" fmla="*/ 219786 w 2894"/>
              <a:gd name="T19" fmla="*/ 1398673 h 2693"/>
              <a:gd name="T20" fmla="*/ 2541 w 2894"/>
              <a:gd name="T21" fmla="*/ 845813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94"/>
              <a:gd name="T34" fmla="*/ 0 h 2693"/>
              <a:gd name="T35" fmla="*/ 2894 w 2894"/>
              <a:gd name="T36" fmla="*/ 2693 h 26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6396" name="Group 95"/>
          <p:cNvGrpSpPr>
            <a:grpSpLocks/>
          </p:cNvGrpSpPr>
          <p:nvPr/>
        </p:nvGrpSpPr>
        <p:grpSpPr bwMode="auto">
          <a:xfrm>
            <a:off x="6705600" y="3946525"/>
            <a:ext cx="501650" cy="233363"/>
            <a:chOff x="3600" y="219"/>
            <a:chExt cx="360" cy="175"/>
          </a:xfrm>
        </p:grpSpPr>
        <p:sp>
          <p:nvSpPr>
            <p:cNvPr id="16415" name="Oval 9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6" name="Line 9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7" name="Line 9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18" name="Rectangle 99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6419" name="Oval 10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6420" name="Group 10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6425" name="Line 10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6" name="Line 10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7" name="Line 10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6421" name="Group 10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6422" name="Line 10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3" name="Line 10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424" name="Line 10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6397" name="Line 109"/>
          <p:cNvSpPr>
            <a:spLocks noChangeShapeType="1"/>
          </p:cNvSpPr>
          <p:nvPr/>
        </p:nvSpPr>
        <p:spPr bwMode="auto">
          <a:xfrm>
            <a:off x="6735763" y="3775075"/>
            <a:ext cx="13335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8" name="Line 110"/>
          <p:cNvSpPr>
            <a:spLocks noChangeShapeType="1"/>
          </p:cNvSpPr>
          <p:nvPr/>
        </p:nvSpPr>
        <p:spPr bwMode="auto">
          <a:xfrm>
            <a:off x="6945313" y="3775075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6399" name="Line 111"/>
          <p:cNvSpPr>
            <a:spLocks noChangeShapeType="1"/>
          </p:cNvSpPr>
          <p:nvPr/>
        </p:nvSpPr>
        <p:spPr bwMode="auto">
          <a:xfrm>
            <a:off x="7797800" y="3608388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6400" name="Group 112"/>
          <p:cNvGrpSpPr>
            <a:grpSpLocks/>
          </p:cNvGrpSpPr>
          <p:nvPr/>
        </p:nvGrpSpPr>
        <p:grpSpPr bwMode="auto">
          <a:xfrm>
            <a:off x="7340600" y="3136900"/>
            <a:ext cx="914400" cy="590550"/>
            <a:chOff x="10665" y="3225"/>
            <a:chExt cx="1440" cy="930"/>
          </a:xfrm>
        </p:grpSpPr>
        <p:sp>
          <p:nvSpPr>
            <p:cNvPr id="16413" name="Oval 113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6414" name="Group 114"/>
            <p:cNvGrpSpPr>
              <a:grpSpLocks/>
            </p:cNvGrpSpPr>
            <p:nvPr/>
          </p:nvGrpSpPr>
          <p:grpSpPr bwMode="auto"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16387" name="Object 1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16387" r:id="rId4" imgW="819000" imgH="847800" progId="">
                  <p:embed/>
                </p:oleObj>
              </a:graphicData>
            </a:graphic>
          </p:graphicFrame>
          <p:graphicFrame>
            <p:nvGraphicFramePr>
              <p:cNvPr id="16388" name="Object 1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16388" r:id="rId5" imgW="1266840" imgH="1200240" progId="">
                  <p:embed/>
                </p:oleObj>
              </a:graphicData>
            </a:graphic>
          </p:graphicFrame>
        </p:grpSp>
      </p:grpSp>
      <p:sp>
        <p:nvSpPr>
          <p:cNvPr id="16401" name="Freeform 117"/>
          <p:cNvSpPr>
            <a:spLocks/>
          </p:cNvSpPr>
          <p:nvPr/>
        </p:nvSpPr>
        <p:spPr bwMode="auto">
          <a:xfrm>
            <a:off x="3954463" y="3654425"/>
            <a:ext cx="2109787" cy="1250950"/>
          </a:xfrm>
          <a:custGeom>
            <a:avLst/>
            <a:gdLst>
              <a:gd name="T0" fmla="*/ 378289 w 3324"/>
              <a:gd name="T1" fmla="*/ 9520 h 1971"/>
              <a:gd name="T2" fmla="*/ 94572 w 3324"/>
              <a:gd name="T3" fmla="*/ 209444 h 1971"/>
              <a:gd name="T4" fmla="*/ 1904 w 3324"/>
              <a:gd name="T5" fmla="*/ 676567 h 1971"/>
              <a:gd name="T6" fmla="*/ 106632 w 3324"/>
              <a:gd name="T7" fmla="*/ 1019293 h 1971"/>
              <a:gd name="T8" fmla="*/ 386540 w 3324"/>
              <a:gd name="T9" fmla="*/ 1162095 h 1971"/>
              <a:gd name="T10" fmla="*/ 687395 w 3324"/>
              <a:gd name="T11" fmla="*/ 1095454 h 1971"/>
              <a:gd name="T12" fmla="*/ 982536 w 3324"/>
              <a:gd name="T13" fmla="*/ 1190656 h 1971"/>
              <a:gd name="T14" fmla="*/ 1506175 w 3324"/>
              <a:gd name="T15" fmla="*/ 1219216 h 1971"/>
              <a:gd name="T16" fmla="*/ 2058375 w 3324"/>
              <a:gd name="T17" fmla="*/ 1000252 h 1971"/>
              <a:gd name="T18" fmla="*/ 1814645 w 3324"/>
              <a:gd name="T19" fmla="*/ 593424 h 1971"/>
              <a:gd name="T20" fmla="*/ 1722612 w 3324"/>
              <a:gd name="T21" fmla="*/ 281797 h 1971"/>
              <a:gd name="T22" fmla="*/ 1087899 w 3324"/>
              <a:gd name="T23" fmla="*/ 153592 h 1971"/>
              <a:gd name="T24" fmla="*/ 378289 w 3324"/>
              <a:gd name="T25" fmla="*/ 9520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24"/>
              <a:gd name="T40" fmla="*/ 0 h 1971"/>
              <a:gd name="T41" fmla="*/ 3324 w 3324"/>
              <a:gd name="T42" fmla="*/ 1971 h 19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6402" name="Text Box 118"/>
          <p:cNvSpPr txBox="1">
            <a:spLocks noChangeArrowheads="1"/>
          </p:cNvSpPr>
          <p:nvPr/>
        </p:nvSpPr>
        <p:spPr bwMode="auto">
          <a:xfrm>
            <a:off x="4129088" y="3951288"/>
            <a:ext cx="1447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b="0">
                <a:solidFill>
                  <a:schemeClr val="bg1"/>
                </a:solidFill>
                <a:latin typeface="Comic Sans MS" pitchFamily="66" charset="0"/>
              </a:rPr>
              <a:t>wide area network</a:t>
            </a:r>
          </a:p>
        </p:txBody>
      </p:sp>
      <p:sp>
        <p:nvSpPr>
          <p:cNvPr id="16403" name="Freeform 119"/>
          <p:cNvSpPr>
            <a:spLocks/>
          </p:cNvSpPr>
          <p:nvPr/>
        </p:nvSpPr>
        <p:spPr bwMode="auto">
          <a:xfrm>
            <a:off x="3259138" y="5218113"/>
            <a:ext cx="2944812" cy="911225"/>
          </a:xfrm>
          <a:custGeom>
            <a:avLst/>
            <a:gdLst>
              <a:gd name="T0" fmla="*/ 215335 w 4636"/>
              <a:gd name="T1" fmla="*/ 9525 h 1435"/>
              <a:gd name="T2" fmla="*/ 120054 w 4636"/>
              <a:gd name="T3" fmla="*/ 409575 h 1435"/>
              <a:gd name="T4" fmla="*/ 510705 w 4636"/>
              <a:gd name="T5" fmla="*/ 800100 h 1435"/>
              <a:gd name="T6" fmla="*/ 1244367 w 4636"/>
              <a:gd name="T7" fmla="*/ 904875 h 1435"/>
              <a:gd name="T8" fmla="*/ 2235287 w 4636"/>
              <a:gd name="T9" fmla="*/ 838200 h 1435"/>
              <a:gd name="T10" fmla="*/ 2492545 w 4636"/>
              <a:gd name="T11" fmla="*/ 619125 h 1435"/>
              <a:gd name="T12" fmla="*/ 2885738 w 4636"/>
              <a:gd name="T13" fmla="*/ 488315 h 1435"/>
              <a:gd name="T14" fmla="*/ 2698988 w 4636"/>
              <a:gd name="T15" fmla="*/ 176530 h 1435"/>
              <a:gd name="T16" fmla="*/ 1411426 w 4636"/>
              <a:gd name="T17" fmla="*/ 48260 h 1435"/>
              <a:gd name="T18" fmla="*/ 215335 w 4636"/>
              <a:gd name="T19" fmla="*/ 9525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636"/>
              <a:gd name="T31" fmla="*/ 0 h 1435"/>
              <a:gd name="T32" fmla="*/ 4636 w 4636"/>
              <a:gd name="T33" fmla="*/ 1435 h 14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6386" name="Object 120"/>
          <p:cNvGraphicFramePr>
            <a:graphicFrameLocks noChangeAspect="1"/>
          </p:cNvGraphicFramePr>
          <p:nvPr/>
        </p:nvGraphicFramePr>
        <p:xfrm>
          <a:off x="4392613" y="5400675"/>
          <a:ext cx="415925" cy="317500"/>
        </p:xfrm>
        <a:graphic>
          <a:graphicData uri="http://schemas.openxmlformats.org/presentationml/2006/ole">
            <p:oleObj spid="_x0000_s16386" r:id="rId6" imgW="1305000" imgH="1085760" progId="">
              <p:embed/>
            </p:oleObj>
          </a:graphicData>
        </a:graphic>
      </p:graphicFrame>
      <p:sp>
        <p:nvSpPr>
          <p:cNvPr id="1959033" name="Line 121"/>
          <p:cNvSpPr>
            <a:spLocks noChangeShapeType="1"/>
          </p:cNvSpPr>
          <p:nvPr/>
        </p:nvSpPr>
        <p:spPr bwMode="auto">
          <a:xfrm>
            <a:off x="4894263" y="2238375"/>
            <a:ext cx="2528887" cy="1087438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9034" name="Line 122"/>
          <p:cNvSpPr>
            <a:spLocks noChangeShapeType="1"/>
          </p:cNvSpPr>
          <p:nvPr/>
        </p:nvSpPr>
        <p:spPr bwMode="auto">
          <a:xfrm flipH="1" flipV="1">
            <a:off x="6916738" y="4244975"/>
            <a:ext cx="255587" cy="5397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9035" name="Line 123"/>
          <p:cNvSpPr>
            <a:spLocks noChangeShapeType="1"/>
          </p:cNvSpPr>
          <p:nvPr/>
        </p:nvSpPr>
        <p:spPr bwMode="auto">
          <a:xfrm flipH="1">
            <a:off x="7951788" y="2243138"/>
            <a:ext cx="215900" cy="77946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959036" name="Text Box 124"/>
          <p:cNvSpPr txBox="1">
            <a:spLocks noChangeArrowheads="1"/>
          </p:cNvSpPr>
          <p:nvPr/>
        </p:nvSpPr>
        <p:spPr bwMode="auto">
          <a:xfrm>
            <a:off x="5500688" y="1330325"/>
            <a:ext cx="3349625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Visited network:</a:t>
            </a:r>
            <a:r>
              <a:rPr lang="en-US" b="0">
                <a:latin typeface="Comic Sans MS" pitchFamily="66" charset="0"/>
              </a:rPr>
              <a:t> network in which mobile currently resides </a:t>
            </a:r>
            <a:r>
              <a:rPr lang="en-US" sz="1600" b="0">
                <a:latin typeface="Comic Sans MS" pitchFamily="66" charset="0"/>
              </a:rPr>
              <a:t>(e.g., 79.129.13/24)</a:t>
            </a:r>
          </a:p>
        </p:txBody>
      </p:sp>
      <p:sp>
        <p:nvSpPr>
          <p:cNvPr id="1959037" name="Text Box 125"/>
          <p:cNvSpPr txBox="1">
            <a:spLocks noChangeArrowheads="1"/>
          </p:cNvSpPr>
          <p:nvPr/>
        </p:nvSpPr>
        <p:spPr bwMode="auto">
          <a:xfrm>
            <a:off x="1684338" y="1700213"/>
            <a:ext cx="36718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Permanent address:</a:t>
            </a:r>
            <a:r>
              <a:rPr lang="en-US" b="0">
                <a:latin typeface="Comic Sans MS" pitchFamily="66" charset="0"/>
              </a:rPr>
              <a:t> remains constant (</a:t>
            </a:r>
            <a:r>
              <a:rPr lang="en-US" sz="1600" b="0">
                <a:latin typeface="Comic Sans MS" pitchFamily="66" charset="0"/>
              </a:rPr>
              <a:t>e.g., 128.119.40.186)</a:t>
            </a:r>
          </a:p>
        </p:txBody>
      </p:sp>
      <p:sp>
        <p:nvSpPr>
          <p:cNvPr id="1959038" name="Text Box 126"/>
          <p:cNvSpPr txBox="1">
            <a:spLocks noChangeArrowheads="1"/>
          </p:cNvSpPr>
          <p:nvPr/>
        </p:nvSpPr>
        <p:spPr bwMode="auto">
          <a:xfrm>
            <a:off x="6338888" y="4740275"/>
            <a:ext cx="2747962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Home agent: </a:t>
            </a:r>
            <a:r>
              <a:rPr lang="en-US" b="0">
                <a:latin typeface="Comic Sans MS" pitchFamily="66" charset="0"/>
              </a:rPr>
              <a:t>entity in visited network that performs mobility functions on behalf of mobile.</a:t>
            </a:r>
            <a:r>
              <a:rPr lang="en-US" b="0" i="1">
                <a:latin typeface="Comic Sans MS" pitchFamily="66" charset="0"/>
              </a:rPr>
              <a:t> </a:t>
            </a:r>
            <a:endParaRPr lang="en-US" b="0">
              <a:latin typeface="Comic Sans MS" pitchFamily="66" charset="0"/>
            </a:endParaRPr>
          </a:p>
        </p:txBody>
      </p:sp>
      <p:sp>
        <p:nvSpPr>
          <p:cNvPr id="1959039" name="Line 127"/>
          <p:cNvSpPr>
            <a:spLocks noChangeShapeType="1"/>
          </p:cNvSpPr>
          <p:nvPr/>
        </p:nvSpPr>
        <p:spPr bwMode="auto">
          <a:xfrm>
            <a:off x="5073650" y="3130550"/>
            <a:ext cx="2393950" cy="3476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sp>
        <p:nvSpPr>
          <p:cNvPr id="16411" name="Text Box 128"/>
          <p:cNvSpPr txBox="1">
            <a:spLocks noChangeArrowheads="1"/>
          </p:cNvSpPr>
          <p:nvPr/>
        </p:nvSpPr>
        <p:spPr bwMode="auto">
          <a:xfrm>
            <a:off x="461963" y="5926138"/>
            <a:ext cx="34226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solidFill>
                  <a:srgbClr val="FF0000"/>
                </a:solidFill>
                <a:latin typeface="Comic Sans MS" pitchFamily="66" charset="0"/>
              </a:rPr>
              <a:t>Correspondent:</a:t>
            </a:r>
            <a:r>
              <a:rPr lang="en-US" b="0" i="1">
                <a:solidFill>
                  <a:srgbClr val="FF0000"/>
                </a:solidFill>
                <a:latin typeface="Comic Sans MS" pitchFamily="66" charset="0"/>
              </a:rPr>
              <a:t> </a:t>
            </a:r>
            <a:r>
              <a:rPr lang="en-US" b="0">
                <a:latin typeface="Comic Sans MS" pitchFamily="66" charset="0"/>
              </a:rPr>
              <a:t>wants to communicate with mobile</a:t>
            </a:r>
          </a:p>
        </p:txBody>
      </p:sp>
      <p:sp>
        <p:nvSpPr>
          <p:cNvPr id="16412" name="Line 129"/>
          <p:cNvSpPr>
            <a:spLocks noChangeShapeType="1"/>
          </p:cNvSpPr>
          <p:nvPr/>
        </p:nvSpPr>
        <p:spPr bwMode="auto">
          <a:xfrm flipV="1">
            <a:off x="3209925" y="5621338"/>
            <a:ext cx="1169988" cy="31115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8934" grpId="0"/>
      <p:bldP spid="1959033" grpId="0" animBg="1"/>
      <p:bldP spid="1959034" grpId="0" animBg="1"/>
      <p:bldP spid="1959035" grpId="0" animBg="1"/>
      <p:bldP spid="1959036" grpId="0"/>
      <p:bldP spid="1959037" grpId="0"/>
      <p:bldP spid="1959038" grpId="0"/>
      <p:bldP spid="195903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D8E0EBA-3D6F-4FC2-8E19-C3DB94610C3F}" type="slidenum">
              <a:rPr lang="en-US" smtClean="0"/>
              <a:pPr>
                <a:defRPr/>
              </a:pPr>
              <a:t>45</a:t>
            </a:fld>
            <a:endParaRPr lang="en-US" smtClean="0"/>
          </a:p>
        </p:txBody>
      </p:sp>
      <p:sp>
        <p:nvSpPr>
          <p:cNvPr id="17413" name="Freeform 2"/>
          <p:cNvSpPr>
            <a:spLocks/>
          </p:cNvSpPr>
          <p:nvPr/>
        </p:nvSpPr>
        <p:spPr bwMode="auto">
          <a:xfrm>
            <a:off x="1257300" y="1727200"/>
            <a:ext cx="1866900" cy="1589088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8 h 1191"/>
              <a:gd name="T8" fmla="*/ 156039 w 1340"/>
              <a:gd name="T9" fmla="*/ 1160795 h 1191"/>
              <a:gd name="T10" fmla="*/ 749546 w 1340"/>
              <a:gd name="T11" fmla="*/ 1168800 h 1191"/>
              <a:gd name="T12" fmla="*/ 891654 w 1340"/>
              <a:gd name="T13" fmla="*/ 1505030 h 1191"/>
              <a:gd name="T14" fmla="*/ 1719220 w 1340"/>
              <a:gd name="T15" fmla="*/ 1465003 h 1191"/>
              <a:gd name="T16" fmla="*/ 1777735 w 1340"/>
              <a:gd name="T17" fmla="*/ 760521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14" name="Group 3"/>
          <p:cNvGrpSpPr>
            <a:grpSpLocks/>
          </p:cNvGrpSpPr>
          <p:nvPr/>
        </p:nvGrpSpPr>
        <p:grpSpPr bwMode="auto">
          <a:xfrm>
            <a:off x="2312988" y="2708275"/>
            <a:ext cx="501650" cy="233363"/>
            <a:chOff x="3600" y="219"/>
            <a:chExt cx="360" cy="175"/>
          </a:xfrm>
        </p:grpSpPr>
        <p:sp>
          <p:nvSpPr>
            <p:cNvPr id="17531" name="Oval 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32" name="Line 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33" name="Line 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534" name="Rectangle 7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7535" name="Oval 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536" name="Group 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541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2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3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537" name="Group 1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538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39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540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7415" name="Group 17"/>
          <p:cNvGrpSpPr>
            <a:grpSpLocks/>
          </p:cNvGrpSpPr>
          <p:nvPr/>
        </p:nvGrpSpPr>
        <p:grpSpPr bwMode="auto">
          <a:xfrm>
            <a:off x="1416050" y="2362200"/>
            <a:ext cx="1333500" cy="342900"/>
            <a:chOff x="8025" y="5070"/>
            <a:chExt cx="2100" cy="540"/>
          </a:xfrm>
        </p:grpSpPr>
        <p:sp>
          <p:nvSpPr>
            <p:cNvPr id="17528" name="Line 18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29" name="Line 19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530" name="Line 20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416" name="Rectangle 13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Mobility: Registration</a:t>
            </a:r>
          </a:p>
        </p:txBody>
      </p:sp>
      <p:sp>
        <p:nvSpPr>
          <p:cNvPr id="1962121" name="Rectangle 137"/>
          <p:cNvSpPr>
            <a:spLocks noGrp="1" noChangeArrowheads="1"/>
          </p:cNvSpPr>
          <p:nvPr>
            <p:ph type="body" idx="1"/>
          </p:nvPr>
        </p:nvSpPr>
        <p:spPr>
          <a:xfrm>
            <a:off x="539750" y="5310188"/>
            <a:ext cx="8458200" cy="1306512"/>
          </a:xfrm>
        </p:spPr>
        <p:txBody>
          <a:bodyPr/>
          <a:lstStyle/>
          <a:p>
            <a:r>
              <a:rPr lang="en-US" smtClean="0"/>
              <a:t>Foreign agent knows about mobile</a:t>
            </a:r>
          </a:p>
          <a:p>
            <a:r>
              <a:rPr lang="en-US" smtClean="0"/>
              <a:t>Home agent knows location of mobile</a:t>
            </a:r>
          </a:p>
        </p:txBody>
      </p:sp>
      <p:grpSp>
        <p:nvGrpSpPr>
          <p:cNvPr id="17418" name="Group 23"/>
          <p:cNvGrpSpPr>
            <a:grpSpLocks/>
          </p:cNvGrpSpPr>
          <p:nvPr/>
        </p:nvGrpSpPr>
        <p:grpSpPr bwMode="auto">
          <a:xfrm>
            <a:off x="1165225" y="1920875"/>
            <a:ext cx="914400" cy="590550"/>
            <a:chOff x="10665" y="3225"/>
            <a:chExt cx="1440" cy="930"/>
          </a:xfrm>
        </p:grpSpPr>
        <p:sp>
          <p:nvSpPr>
            <p:cNvPr id="17458" name="Oval 24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59" name="Group 25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17460" name="Freeform 26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99 w 788"/>
                  <a:gd name="T1" fmla="*/ 0 h 1138"/>
                  <a:gd name="T2" fmla="*/ 88 w 788"/>
                  <a:gd name="T3" fmla="*/ 0 h 1138"/>
                  <a:gd name="T4" fmla="*/ 73 w 788"/>
                  <a:gd name="T5" fmla="*/ 1 h 1138"/>
                  <a:gd name="T6" fmla="*/ 56 w 788"/>
                  <a:gd name="T7" fmla="*/ 4 h 1138"/>
                  <a:gd name="T8" fmla="*/ 39 w 788"/>
                  <a:gd name="T9" fmla="*/ 8 h 1138"/>
                  <a:gd name="T10" fmla="*/ 22 w 788"/>
                  <a:gd name="T11" fmla="*/ 15 h 1138"/>
                  <a:gd name="T12" fmla="*/ 10 w 788"/>
                  <a:gd name="T13" fmla="*/ 24 h 1138"/>
                  <a:gd name="T14" fmla="*/ 2 w 788"/>
                  <a:gd name="T15" fmla="*/ 36 h 1138"/>
                  <a:gd name="T16" fmla="*/ 0 w 788"/>
                  <a:gd name="T17" fmla="*/ 46 h 1138"/>
                  <a:gd name="T18" fmla="*/ 1 w 788"/>
                  <a:gd name="T19" fmla="*/ 51 h 1138"/>
                  <a:gd name="T20" fmla="*/ 4 w 788"/>
                  <a:gd name="T21" fmla="*/ 66 h 1138"/>
                  <a:gd name="T22" fmla="*/ 13 w 788"/>
                  <a:gd name="T23" fmla="*/ 97 h 1138"/>
                  <a:gd name="T24" fmla="*/ 25 w 788"/>
                  <a:gd name="T25" fmla="*/ 137 h 1138"/>
                  <a:gd name="T26" fmla="*/ 41 w 788"/>
                  <a:gd name="T27" fmla="*/ 181 h 1138"/>
                  <a:gd name="T28" fmla="*/ 59 w 788"/>
                  <a:gd name="T29" fmla="*/ 228 h 1138"/>
                  <a:gd name="T30" fmla="*/ 78 w 788"/>
                  <a:gd name="T31" fmla="*/ 274 h 1138"/>
                  <a:gd name="T32" fmla="*/ 98 w 788"/>
                  <a:gd name="T33" fmla="*/ 317 h 1138"/>
                  <a:gd name="T34" fmla="*/ 117 w 788"/>
                  <a:gd name="T35" fmla="*/ 352 h 1138"/>
                  <a:gd name="T36" fmla="*/ 130 w 788"/>
                  <a:gd name="T37" fmla="*/ 370 h 1138"/>
                  <a:gd name="T38" fmla="*/ 136 w 788"/>
                  <a:gd name="T39" fmla="*/ 377 h 1138"/>
                  <a:gd name="T40" fmla="*/ 146 w 788"/>
                  <a:gd name="T41" fmla="*/ 377 h 1138"/>
                  <a:gd name="T42" fmla="*/ 163 w 788"/>
                  <a:gd name="T43" fmla="*/ 371 h 1138"/>
                  <a:gd name="T44" fmla="*/ 183 w 788"/>
                  <a:gd name="T45" fmla="*/ 363 h 1138"/>
                  <a:gd name="T46" fmla="*/ 203 w 788"/>
                  <a:gd name="T47" fmla="*/ 355 h 1138"/>
                  <a:gd name="T48" fmla="*/ 223 w 788"/>
                  <a:gd name="T49" fmla="*/ 346 h 1138"/>
                  <a:gd name="T50" fmla="*/ 241 w 788"/>
                  <a:gd name="T51" fmla="*/ 338 h 1138"/>
                  <a:gd name="T52" fmla="*/ 254 w 788"/>
                  <a:gd name="T53" fmla="*/ 330 h 1138"/>
                  <a:gd name="T54" fmla="*/ 262 w 788"/>
                  <a:gd name="T55" fmla="*/ 323 h 1138"/>
                  <a:gd name="T56" fmla="*/ 252 w 788"/>
                  <a:gd name="T57" fmla="*/ 306 h 1138"/>
                  <a:gd name="T58" fmla="*/ 229 w 788"/>
                  <a:gd name="T59" fmla="*/ 271 h 1138"/>
                  <a:gd name="T60" fmla="*/ 204 w 788"/>
                  <a:gd name="T61" fmla="*/ 231 h 1138"/>
                  <a:gd name="T62" fmla="*/ 179 w 788"/>
                  <a:gd name="T63" fmla="*/ 187 h 1138"/>
                  <a:gd name="T64" fmla="*/ 156 w 788"/>
                  <a:gd name="T65" fmla="*/ 141 h 1138"/>
                  <a:gd name="T66" fmla="*/ 135 w 788"/>
                  <a:gd name="T67" fmla="*/ 96 h 1138"/>
                  <a:gd name="T68" fmla="*/ 117 w 788"/>
                  <a:gd name="T69" fmla="*/ 54 h 1138"/>
                  <a:gd name="T70" fmla="*/ 106 w 788"/>
                  <a:gd name="T71" fmla="*/ 16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88"/>
                  <a:gd name="T109" fmla="*/ 0 h 1138"/>
                  <a:gd name="T110" fmla="*/ 788 w 788"/>
                  <a:gd name="T111" fmla="*/ 1138 h 113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1" name="Freeform 27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16 w 425"/>
                  <a:gd name="T1" fmla="*/ 0 h 936"/>
                  <a:gd name="T2" fmla="*/ 16 w 425"/>
                  <a:gd name="T3" fmla="*/ 1 h 936"/>
                  <a:gd name="T4" fmla="*/ 16 w 425"/>
                  <a:gd name="T5" fmla="*/ 2 h 936"/>
                  <a:gd name="T6" fmla="*/ 16 w 425"/>
                  <a:gd name="T7" fmla="*/ 4 h 936"/>
                  <a:gd name="T8" fmla="*/ 15 w 425"/>
                  <a:gd name="T9" fmla="*/ 6 h 936"/>
                  <a:gd name="T10" fmla="*/ 13 w 425"/>
                  <a:gd name="T11" fmla="*/ 12 h 936"/>
                  <a:gd name="T12" fmla="*/ 11 w 425"/>
                  <a:gd name="T13" fmla="*/ 18 h 936"/>
                  <a:gd name="T14" fmla="*/ 7 w 425"/>
                  <a:gd name="T15" fmla="*/ 27 h 936"/>
                  <a:gd name="T16" fmla="*/ 2 w 425"/>
                  <a:gd name="T17" fmla="*/ 39 h 936"/>
                  <a:gd name="T18" fmla="*/ 0 w 425"/>
                  <a:gd name="T19" fmla="*/ 47 h 936"/>
                  <a:gd name="T20" fmla="*/ 0 w 425"/>
                  <a:gd name="T21" fmla="*/ 59 h 936"/>
                  <a:gd name="T22" fmla="*/ 1 w 425"/>
                  <a:gd name="T23" fmla="*/ 73 h 936"/>
                  <a:gd name="T24" fmla="*/ 4 w 425"/>
                  <a:gd name="T25" fmla="*/ 90 h 936"/>
                  <a:gd name="T26" fmla="*/ 9 w 425"/>
                  <a:gd name="T27" fmla="*/ 108 h 936"/>
                  <a:gd name="T28" fmla="*/ 14 w 425"/>
                  <a:gd name="T29" fmla="*/ 129 h 936"/>
                  <a:gd name="T30" fmla="*/ 19 w 425"/>
                  <a:gd name="T31" fmla="*/ 149 h 936"/>
                  <a:gd name="T32" fmla="*/ 26 w 425"/>
                  <a:gd name="T33" fmla="*/ 170 h 936"/>
                  <a:gd name="T34" fmla="*/ 33 w 425"/>
                  <a:gd name="T35" fmla="*/ 190 h 936"/>
                  <a:gd name="T36" fmla="*/ 40 w 425"/>
                  <a:gd name="T37" fmla="*/ 209 h 936"/>
                  <a:gd name="T38" fmla="*/ 46 w 425"/>
                  <a:gd name="T39" fmla="*/ 228 h 936"/>
                  <a:gd name="T40" fmla="*/ 52 w 425"/>
                  <a:gd name="T41" fmla="*/ 244 h 936"/>
                  <a:gd name="T42" fmla="*/ 58 w 425"/>
                  <a:gd name="T43" fmla="*/ 258 h 936"/>
                  <a:gd name="T44" fmla="*/ 63 w 425"/>
                  <a:gd name="T45" fmla="*/ 269 h 936"/>
                  <a:gd name="T46" fmla="*/ 67 w 425"/>
                  <a:gd name="T47" fmla="*/ 277 h 936"/>
                  <a:gd name="T48" fmla="*/ 70 w 425"/>
                  <a:gd name="T49" fmla="*/ 281 h 936"/>
                  <a:gd name="T50" fmla="*/ 75 w 425"/>
                  <a:gd name="T51" fmla="*/ 284 h 936"/>
                  <a:gd name="T52" fmla="*/ 80 w 425"/>
                  <a:gd name="T53" fmla="*/ 287 h 936"/>
                  <a:gd name="T54" fmla="*/ 86 w 425"/>
                  <a:gd name="T55" fmla="*/ 291 h 936"/>
                  <a:gd name="T56" fmla="*/ 94 w 425"/>
                  <a:gd name="T57" fmla="*/ 294 h 936"/>
                  <a:gd name="T58" fmla="*/ 104 w 425"/>
                  <a:gd name="T59" fmla="*/ 299 h 936"/>
                  <a:gd name="T60" fmla="*/ 114 w 425"/>
                  <a:gd name="T61" fmla="*/ 302 h 936"/>
                  <a:gd name="T62" fmla="*/ 127 w 425"/>
                  <a:gd name="T63" fmla="*/ 307 h 936"/>
                  <a:gd name="T64" fmla="*/ 142 w 425"/>
                  <a:gd name="T65" fmla="*/ 312 h 936"/>
                  <a:gd name="T66" fmla="*/ 132 w 425"/>
                  <a:gd name="T67" fmla="*/ 298 h 936"/>
                  <a:gd name="T68" fmla="*/ 123 w 425"/>
                  <a:gd name="T69" fmla="*/ 281 h 936"/>
                  <a:gd name="T70" fmla="*/ 113 w 425"/>
                  <a:gd name="T71" fmla="*/ 262 h 936"/>
                  <a:gd name="T72" fmla="*/ 103 w 425"/>
                  <a:gd name="T73" fmla="*/ 242 h 936"/>
                  <a:gd name="T74" fmla="*/ 93 w 425"/>
                  <a:gd name="T75" fmla="*/ 220 h 936"/>
                  <a:gd name="T76" fmla="*/ 83 w 425"/>
                  <a:gd name="T77" fmla="*/ 197 h 936"/>
                  <a:gd name="T78" fmla="*/ 74 w 425"/>
                  <a:gd name="T79" fmla="*/ 174 h 936"/>
                  <a:gd name="T80" fmla="*/ 65 w 425"/>
                  <a:gd name="T81" fmla="*/ 150 h 936"/>
                  <a:gd name="T82" fmla="*/ 56 w 425"/>
                  <a:gd name="T83" fmla="*/ 127 h 936"/>
                  <a:gd name="T84" fmla="*/ 48 w 425"/>
                  <a:gd name="T85" fmla="*/ 104 h 936"/>
                  <a:gd name="T86" fmla="*/ 40 w 425"/>
                  <a:gd name="T87" fmla="*/ 83 h 936"/>
                  <a:gd name="T88" fmla="*/ 34 w 425"/>
                  <a:gd name="T89" fmla="*/ 62 h 936"/>
                  <a:gd name="T90" fmla="*/ 28 w 425"/>
                  <a:gd name="T91" fmla="*/ 43 h 936"/>
                  <a:gd name="T92" fmla="*/ 23 w 425"/>
                  <a:gd name="T93" fmla="*/ 26 h 936"/>
                  <a:gd name="T94" fmla="*/ 19 w 425"/>
                  <a:gd name="T95" fmla="*/ 12 h 936"/>
                  <a:gd name="T96" fmla="*/ 16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5"/>
                  <a:gd name="T148" fmla="*/ 0 h 936"/>
                  <a:gd name="T149" fmla="*/ 425 w 425"/>
                  <a:gd name="T150" fmla="*/ 936 h 9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2" name="Freeform 28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9 w 192"/>
                  <a:gd name="T1" fmla="*/ 4 h 208"/>
                  <a:gd name="T2" fmla="*/ 4 w 192"/>
                  <a:gd name="T3" fmla="*/ 8 h 208"/>
                  <a:gd name="T4" fmla="*/ 1 w 192"/>
                  <a:gd name="T5" fmla="*/ 14 h 208"/>
                  <a:gd name="T6" fmla="*/ 0 w 192"/>
                  <a:gd name="T7" fmla="*/ 22 h 208"/>
                  <a:gd name="T8" fmla="*/ 0 w 192"/>
                  <a:gd name="T9" fmla="*/ 31 h 208"/>
                  <a:gd name="T10" fmla="*/ 1 w 192"/>
                  <a:gd name="T11" fmla="*/ 40 h 208"/>
                  <a:gd name="T12" fmla="*/ 3 w 192"/>
                  <a:gd name="T13" fmla="*/ 49 h 208"/>
                  <a:gd name="T14" fmla="*/ 7 w 192"/>
                  <a:gd name="T15" fmla="*/ 57 h 208"/>
                  <a:gd name="T16" fmla="*/ 12 w 192"/>
                  <a:gd name="T17" fmla="*/ 63 h 208"/>
                  <a:gd name="T18" fmla="*/ 17 w 192"/>
                  <a:gd name="T19" fmla="*/ 67 h 208"/>
                  <a:gd name="T20" fmla="*/ 23 w 192"/>
                  <a:gd name="T21" fmla="*/ 68 h 208"/>
                  <a:gd name="T22" fmla="*/ 30 w 192"/>
                  <a:gd name="T23" fmla="*/ 69 h 208"/>
                  <a:gd name="T24" fmla="*/ 37 w 192"/>
                  <a:gd name="T25" fmla="*/ 68 h 208"/>
                  <a:gd name="T26" fmla="*/ 43 w 192"/>
                  <a:gd name="T27" fmla="*/ 65 h 208"/>
                  <a:gd name="T28" fmla="*/ 49 w 192"/>
                  <a:gd name="T29" fmla="*/ 62 h 208"/>
                  <a:gd name="T30" fmla="*/ 54 w 192"/>
                  <a:gd name="T31" fmla="*/ 58 h 208"/>
                  <a:gd name="T32" fmla="*/ 58 w 192"/>
                  <a:gd name="T33" fmla="*/ 54 h 208"/>
                  <a:gd name="T34" fmla="*/ 63 w 192"/>
                  <a:gd name="T35" fmla="*/ 43 h 208"/>
                  <a:gd name="T36" fmla="*/ 64 w 192"/>
                  <a:gd name="T37" fmla="*/ 30 h 208"/>
                  <a:gd name="T38" fmla="*/ 62 w 192"/>
                  <a:gd name="T39" fmla="*/ 17 h 208"/>
                  <a:gd name="T40" fmla="*/ 55 w 192"/>
                  <a:gd name="T41" fmla="*/ 9 h 208"/>
                  <a:gd name="T42" fmla="*/ 51 w 192"/>
                  <a:gd name="T43" fmla="*/ 7 h 208"/>
                  <a:gd name="T44" fmla="*/ 46 w 192"/>
                  <a:gd name="T45" fmla="*/ 5 h 208"/>
                  <a:gd name="T46" fmla="*/ 41 w 192"/>
                  <a:gd name="T47" fmla="*/ 3 h 208"/>
                  <a:gd name="T48" fmla="*/ 35 w 192"/>
                  <a:gd name="T49" fmla="*/ 1 h 208"/>
                  <a:gd name="T50" fmla="*/ 28 w 192"/>
                  <a:gd name="T51" fmla="*/ 0 h 208"/>
                  <a:gd name="T52" fmla="*/ 22 w 192"/>
                  <a:gd name="T53" fmla="*/ 0 h 208"/>
                  <a:gd name="T54" fmla="*/ 16 w 192"/>
                  <a:gd name="T55" fmla="*/ 1 h 208"/>
                  <a:gd name="T56" fmla="*/ 9 w 192"/>
                  <a:gd name="T57" fmla="*/ 4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92"/>
                  <a:gd name="T88" fmla="*/ 0 h 208"/>
                  <a:gd name="T89" fmla="*/ 192 w 192"/>
                  <a:gd name="T90" fmla="*/ 208 h 20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3" name="Freeform 29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11 w 247"/>
                  <a:gd name="T1" fmla="*/ 10 h 251"/>
                  <a:gd name="T2" fmla="*/ 7 w 247"/>
                  <a:gd name="T3" fmla="*/ 15 h 251"/>
                  <a:gd name="T4" fmla="*/ 4 w 247"/>
                  <a:gd name="T5" fmla="*/ 20 h 251"/>
                  <a:gd name="T6" fmla="*/ 2 w 247"/>
                  <a:gd name="T7" fmla="*/ 26 h 251"/>
                  <a:gd name="T8" fmla="*/ 0 w 247"/>
                  <a:gd name="T9" fmla="*/ 32 h 251"/>
                  <a:gd name="T10" fmla="*/ 0 w 247"/>
                  <a:gd name="T11" fmla="*/ 39 h 251"/>
                  <a:gd name="T12" fmla="*/ 2 w 247"/>
                  <a:gd name="T13" fmla="*/ 45 h 251"/>
                  <a:gd name="T14" fmla="*/ 4 w 247"/>
                  <a:gd name="T15" fmla="*/ 51 h 251"/>
                  <a:gd name="T16" fmla="*/ 8 w 247"/>
                  <a:gd name="T17" fmla="*/ 57 h 251"/>
                  <a:gd name="T18" fmla="*/ 14 w 247"/>
                  <a:gd name="T19" fmla="*/ 63 h 251"/>
                  <a:gd name="T20" fmla="*/ 19 w 247"/>
                  <a:gd name="T21" fmla="*/ 68 h 251"/>
                  <a:gd name="T22" fmla="*/ 26 w 247"/>
                  <a:gd name="T23" fmla="*/ 74 h 251"/>
                  <a:gd name="T24" fmla="*/ 32 w 247"/>
                  <a:gd name="T25" fmla="*/ 78 h 251"/>
                  <a:gd name="T26" fmla="*/ 38 w 247"/>
                  <a:gd name="T27" fmla="*/ 82 h 251"/>
                  <a:gd name="T28" fmla="*/ 44 w 247"/>
                  <a:gd name="T29" fmla="*/ 84 h 251"/>
                  <a:gd name="T30" fmla="*/ 49 w 247"/>
                  <a:gd name="T31" fmla="*/ 84 h 251"/>
                  <a:gd name="T32" fmla="*/ 55 w 247"/>
                  <a:gd name="T33" fmla="*/ 82 h 251"/>
                  <a:gd name="T34" fmla="*/ 60 w 247"/>
                  <a:gd name="T35" fmla="*/ 79 h 251"/>
                  <a:gd name="T36" fmla="*/ 65 w 247"/>
                  <a:gd name="T37" fmla="*/ 76 h 251"/>
                  <a:gd name="T38" fmla="*/ 69 w 247"/>
                  <a:gd name="T39" fmla="*/ 74 h 251"/>
                  <a:gd name="T40" fmla="*/ 74 w 247"/>
                  <a:gd name="T41" fmla="*/ 71 h 251"/>
                  <a:gd name="T42" fmla="*/ 77 w 247"/>
                  <a:gd name="T43" fmla="*/ 68 h 251"/>
                  <a:gd name="T44" fmla="*/ 80 w 247"/>
                  <a:gd name="T45" fmla="*/ 64 h 251"/>
                  <a:gd name="T46" fmla="*/ 82 w 247"/>
                  <a:gd name="T47" fmla="*/ 60 h 251"/>
                  <a:gd name="T48" fmla="*/ 82 w 247"/>
                  <a:gd name="T49" fmla="*/ 54 h 251"/>
                  <a:gd name="T50" fmla="*/ 81 w 247"/>
                  <a:gd name="T51" fmla="*/ 48 h 251"/>
                  <a:gd name="T52" fmla="*/ 79 w 247"/>
                  <a:gd name="T53" fmla="*/ 40 h 251"/>
                  <a:gd name="T54" fmla="*/ 76 w 247"/>
                  <a:gd name="T55" fmla="*/ 32 h 251"/>
                  <a:gd name="T56" fmla="*/ 71 w 247"/>
                  <a:gd name="T57" fmla="*/ 24 h 251"/>
                  <a:gd name="T58" fmla="*/ 66 w 247"/>
                  <a:gd name="T59" fmla="*/ 17 h 251"/>
                  <a:gd name="T60" fmla="*/ 61 w 247"/>
                  <a:gd name="T61" fmla="*/ 10 h 251"/>
                  <a:gd name="T62" fmla="*/ 55 w 247"/>
                  <a:gd name="T63" fmla="*/ 5 h 251"/>
                  <a:gd name="T64" fmla="*/ 49 w 247"/>
                  <a:gd name="T65" fmla="*/ 2 h 251"/>
                  <a:gd name="T66" fmla="*/ 43 w 247"/>
                  <a:gd name="T67" fmla="*/ 1 h 251"/>
                  <a:gd name="T68" fmla="*/ 37 w 247"/>
                  <a:gd name="T69" fmla="*/ 0 h 251"/>
                  <a:gd name="T70" fmla="*/ 31 w 247"/>
                  <a:gd name="T71" fmla="*/ 0 h 251"/>
                  <a:gd name="T72" fmla="*/ 27 w 247"/>
                  <a:gd name="T73" fmla="*/ 1 h 251"/>
                  <a:gd name="T74" fmla="*/ 22 w 247"/>
                  <a:gd name="T75" fmla="*/ 2 h 251"/>
                  <a:gd name="T76" fmla="*/ 17 w 247"/>
                  <a:gd name="T77" fmla="*/ 4 h 251"/>
                  <a:gd name="T78" fmla="*/ 14 w 247"/>
                  <a:gd name="T79" fmla="*/ 7 h 251"/>
                  <a:gd name="T80" fmla="*/ 11 w 247"/>
                  <a:gd name="T81" fmla="*/ 1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47"/>
                  <a:gd name="T124" fmla="*/ 0 h 251"/>
                  <a:gd name="T125" fmla="*/ 247 w 247"/>
                  <a:gd name="T126" fmla="*/ 251 h 25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4" name="Freeform 30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38 w 226"/>
                  <a:gd name="T1" fmla="*/ 1 h 240"/>
                  <a:gd name="T2" fmla="*/ 31 w 226"/>
                  <a:gd name="T3" fmla="*/ 0 h 240"/>
                  <a:gd name="T4" fmla="*/ 22 w 226"/>
                  <a:gd name="T5" fmla="*/ 1 h 240"/>
                  <a:gd name="T6" fmla="*/ 14 w 226"/>
                  <a:gd name="T7" fmla="*/ 4 h 240"/>
                  <a:gd name="T8" fmla="*/ 5 w 226"/>
                  <a:gd name="T9" fmla="*/ 12 h 240"/>
                  <a:gd name="T10" fmla="*/ 0 w 226"/>
                  <a:gd name="T11" fmla="*/ 26 h 240"/>
                  <a:gd name="T12" fmla="*/ 1 w 226"/>
                  <a:gd name="T13" fmla="*/ 41 h 240"/>
                  <a:gd name="T14" fmla="*/ 5 w 226"/>
                  <a:gd name="T15" fmla="*/ 56 h 240"/>
                  <a:gd name="T16" fmla="*/ 11 w 226"/>
                  <a:gd name="T17" fmla="*/ 67 h 240"/>
                  <a:gd name="T18" fmla="*/ 19 w 226"/>
                  <a:gd name="T19" fmla="*/ 74 h 240"/>
                  <a:gd name="T20" fmla="*/ 28 w 226"/>
                  <a:gd name="T21" fmla="*/ 79 h 240"/>
                  <a:gd name="T22" fmla="*/ 38 w 226"/>
                  <a:gd name="T23" fmla="*/ 80 h 240"/>
                  <a:gd name="T24" fmla="*/ 50 w 226"/>
                  <a:gd name="T25" fmla="*/ 76 h 240"/>
                  <a:gd name="T26" fmla="*/ 63 w 226"/>
                  <a:gd name="T27" fmla="*/ 68 h 240"/>
                  <a:gd name="T28" fmla="*/ 72 w 226"/>
                  <a:gd name="T29" fmla="*/ 57 h 240"/>
                  <a:gd name="T30" fmla="*/ 75 w 226"/>
                  <a:gd name="T31" fmla="*/ 44 h 240"/>
                  <a:gd name="T32" fmla="*/ 74 w 226"/>
                  <a:gd name="T33" fmla="*/ 35 h 240"/>
                  <a:gd name="T34" fmla="*/ 71 w 226"/>
                  <a:gd name="T35" fmla="*/ 32 h 240"/>
                  <a:gd name="T36" fmla="*/ 67 w 226"/>
                  <a:gd name="T37" fmla="*/ 32 h 240"/>
                  <a:gd name="T38" fmla="*/ 64 w 226"/>
                  <a:gd name="T39" fmla="*/ 35 h 240"/>
                  <a:gd name="T40" fmla="*/ 63 w 226"/>
                  <a:gd name="T41" fmla="*/ 42 h 240"/>
                  <a:gd name="T42" fmla="*/ 60 w 226"/>
                  <a:gd name="T43" fmla="*/ 53 h 240"/>
                  <a:gd name="T44" fmla="*/ 54 w 226"/>
                  <a:gd name="T45" fmla="*/ 61 h 240"/>
                  <a:gd name="T46" fmla="*/ 43 w 226"/>
                  <a:gd name="T47" fmla="*/ 66 h 240"/>
                  <a:gd name="T48" fmla="*/ 30 w 226"/>
                  <a:gd name="T49" fmla="*/ 66 h 240"/>
                  <a:gd name="T50" fmla="*/ 20 w 226"/>
                  <a:gd name="T51" fmla="*/ 59 h 240"/>
                  <a:gd name="T52" fmla="*/ 15 w 226"/>
                  <a:gd name="T53" fmla="*/ 48 h 240"/>
                  <a:gd name="T54" fmla="*/ 11 w 226"/>
                  <a:gd name="T55" fmla="*/ 35 h 240"/>
                  <a:gd name="T56" fmla="*/ 11 w 226"/>
                  <a:gd name="T57" fmla="*/ 25 h 240"/>
                  <a:gd name="T58" fmla="*/ 14 w 226"/>
                  <a:gd name="T59" fmla="*/ 19 h 240"/>
                  <a:gd name="T60" fmla="*/ 18 w 226"/>
                  <a:gd name="T61" fmla="*/ 13 h 240"/>
                  <a:gd name="T62" fmla="*/ 25 w 226"/>
                  <a:gd name="T63" fmla="*/ 9 h 240"/>
                  <a:gd name="T64" fmla="*/ 29 w 226"/>
                  <a:gd name="T65" fmla="*/ 8 h 240"/>
                  <a:gd name="T66" fmla="*/ 35 w 226"/>
                  <a:gd name="T67" fmla="*/ 8 h 240"/>
                  <a:gd name="T68" fmla="*/ 42 w 226"/>
                  <a:gd name="T69" fmla="*/ 8 h 240"/>
                  <a:gd name="T70" fmla="*/ 43 w 226"/>
                  <a:gd name="T71" fmla="*/ 4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6"/>
                  <a:gd name="T109" fmla="*/ 0 h 240"/>
                  <a:gd name="T110" fmla="*/ 226 w 226"/>
                  <a:gd name="T111" fmla="*/ 240 h 24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5" name="Freeform 31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20 w 279"/>
                  <a:gd name="T1" fmla="*/ 3 h 270"/>
                  <a:gd name="T2" fmla="*/ 11 w 279"/>
                  <a:gd name="T3" fmla="*/ 9 h 270"/>
                  <a:gd name="T4" fmla="*/ 5 w 279"/>
                  <a:gd name="T5" fmla="*/ 17 h 270"/>
                  <a:gd name="T6" fmla="*/ 1 w 279"/>
                  <a:gd name="T7" fmla="*/ 27 h 270"/>
                  <a:gd name="T8" fmla="*/ 0 w 279"/>
                  <a:gd name="T9" fmla="*/ 37 h 270"/>
                  <a:gd name="T10" fmla="*/ 2 w 279"/>
                  <a:gd name="T11" fmla="*/ 48 h 270"/>
                  <a:gd name="T12" fmla="*/ 6 w 279"/>
                  <a:gd name="T13" fmla="*/ 58 h 270"/>
                  <a:gd name="T14" fmla="*/ 12 w 279"/>
                  <a:gd name="T15" fmla="*/ 68 h 270"/>
                  <a:gd name="T16" fmla="*/ 22 w 279"/>
                  <a:gd name="T17" fmla="*/ 77 h 270"/>
                  <a:gd name="T18" fmla="*/ 34 w 279"/>
                  <a:gd name="T19" fmla="*/ 86 h 270"/>
                  <a:gd name="T20" fmla="*/ 47 w 279"/>
                  <a:gd name="T21" fmla="*/ 90 h 270"/>
                  <a:gd name="T22" fmla="*/ 62 w 279"/>
                  <a:gd name="T23" fmla="*/ 88 h 270"/>
                  <a:gd name="T24" fmla="*/ 73 w 279"/>
                  <a:gd name="T25" fmla="*/ 80 h 270"/>
                  <a:gd name="T26" fmla="*/ 81 w 279"/>
                  <a:gd name="T27" fmla="*/ 72 h 270"/>
                  <a:gd name="T28" fmla="*/ 88 w 279"/>
                  <a:gd name="T29" fmla="*/ 63 h 270"/>
                  <a:gd name="T30" fmla="*/ 92 w 279"/>
                  <a:gd name="T31" fmla="*/ 53 h 270"/>
                  <a:gd name="T32" fmla="*/ 93 w 279"/>
                  <a:gd name="T33" fmla="*/ 44 h 270"/>
                  <a:gd name="T34" fmla="*/ 91 w 279"/>
                  <a:gd name="T35" fmla="*/ 40 h 270"/>
                  <a:gd name="T36" fmla="*/ 86 w 279"/>
                  <a:gd name="T37" fmla="*/ 39 h 270"/>
                  <a:gd name="T38" fmla="*/ 82 w 279"/>
                  <a:gd name="T39" fmla="*/ 41 h 270"/>
                  <a:gd name="T40" fmla="*/ 80 w 279"/>
                  <a:gd name="T41" fmla="*/ 44 h 270"/>
                  <a:gd name="T42" fmla="*/ 78 w 279"/>
                  <a:gd name="T43" fmla="*/ 50 h 270"/>
                  <a:gd name="T44" fmla="*/ 73 w 279"/>
                  <a:gd name="T45" fmla="*/ 59 h 270"/>
                  <a:gd name="T46" fmla="*/ 66 w 279"/>
                  <a:gd name="T47" fmla="*/ 67 h 270"/>
                  <a:gd name="T48" fmla="*/ 51 w 279"/>
                  <a:gd name="T49" fmla="*/ 70 h 270"/>
                  <a:gd name="T50" fmla="*/ 33 w 279"/>
                  <a:gd name="T51" fmla="*/ 66 h 270"/>
                  <a:gd name="T52" fmla="*/ 20 w 279"/>
                  <a:gd name="T53" fmla="*/ 54 h 270"/>
                  <a:gd name="T54" fmla="*/ 13 w 279"/>
                  <a:gd name="T55" fmla="*/ 38 h 270"/>
                  <a:gd name="T56" fmla="*/ 15 w 279"/>
                  <a:gd name="T57" fmla="*/ 24 h 270"/>
                  <a:gd name="T58" fmla="*/ 20 w 279"/>
                  <a:gd name="T59" fmla="*/ 17 h 270"/>
                  <a:gd name="T60" fmla="*/ 27 w 279"/>
                  <a:gd name="T61" fmla="*/ 10 h 270"/>
                  <a:gd name="T62" fmla="*/ 34 w 279"/>
                  <a:gd name="T63" fmla="*/ 5 h 270"/>
                  <a:gd name="T64" fmla="*/ 36 w 279"/>
                  <a:gd name="T65" fmla="*/ 1 h 270"/>
                  <a:gd name="T66" fmla="*/ 29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79"/>
                  <a:gd name="T103" fmla="*/ 0 h 270"/>
                  <a:gd name="T104" fmla="*/ 279 w 279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6" name="Freeform 32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2 w 72"/>
                  <a:gd name="T1" fmla="*/ 22 h 75"/>
                  <a:gd name="T2" fmla="*/ 5 w 72"/>
                  <a:gd name="T3" fmla="*/ 24 h 75"/>
                  <a:gd name="T4" fmla="*/ 8 w 72"/>
                  <a:gd name="T5" fmla="*/ 25 h 75"/>
                  <a:gd name="T6" fmla="*/ 11 w 72"/>
                  <a:gd name="T7" fmla="*/ 25 h 75"/>
                  <a:gd name="T8" fmla="*/ 12 w 72"/>
                  <a:gd name="T9" fmla="*/ 24 h 75"/>
                  <a:gd name="T10" fmla="*/ 13 w 72"/>
                  <a:gd name="T11" fmla="*/ 24 h 75"/>
                  <a:gd name="T12" fmla="*/ 16 w 72"/>
                  <a:gd name="T13" fmla="*/ 24 h 75"/>
                  <a:gd name="T14" fmla="*/ 19 w 72"/>
                  <a:gd name="T15" fmla="*/ 22 h 75"/>
                  <a:gd name="T16" fmla="*/ 21 w 72"/>
                  <a:gd name="T17" fmla="*/ 20 h 75"/>
                  <a:gd name="T18" fmla="*/ 23 w 72"/>
                  <a:gd name="T19" fmla="*/ 19 h 75"/>
                  <a:gd name="T20" fmla="*/ 24 w 72"/>
                  <a:gd name="T21" fmla="*/ 17 h 75"/>
                  <a:gd name="T22" fmla="*/ 24 w 72"/>
                  <a:gd name="T23" fmla="*/ 16 h 75"/>
                  <a:gd name="T24" fmla="*/ 23 w 72"/>
                  <a:gd name="T25" fmla="*/ 15 h 75"/>
                  <a:gd name="T26" fmla="*/ 22 w 72"/>
                  <a:gd name="T27" fmla="*/ 13 h 75"/>
                  <a:gd name="T28" fmla="*/ 21 w 72"/>
                  <a:gd name="T29" fmla="*/ 13 h 75"/>
                  <a:gd name="T30" fmla="*/ 20 w 72"/>
                  <a:gd name="T31" fmla="*/ 13 h 75"/>
                  <a:gd name="T32" fmla="*/ 18 w 72"/>
                  <a:gd name="T33" fmla="*/ 13 h 75"/>
                  <a:gd name="T34" fmla="*/ 16 w 72"/>
                  <a:gd name="T35" fmla="*/ 14 h 75"/>
                  <a:gd name="T36" fmla="*/ 13 w 72"/>
                  <a:gd name="T37" fmla="*/ 15 h 75"/>
                  <a:gd name="T38" fmla="*/ 11 w 72"/>
                  <a:gd name="T39" fmla="*/ 17 h 75"/>
                  <a:gd name="T40" fmla="*/ 10 w 72"/>
                  <a:gd name="T41" fmla="*/ 17 h 75"/>
                  <a:gd name="T42" fmla="*/ 9 w 72"/>
                  <a:gd name="T43" fmla="*/ 14 h 75"/>
                  <a:gd name="T44" fmla="*/ 7 w 72"/>
                  <a:gd name="T45" fmla="*/ 8 h 75"/>
                  <a:gd name="T46" fmla="*/ 4 w 72"/>
                  <a:gd name="T47" fmla="*/ 2 h 75"/>
                  <a:gd name="T48" fmla="*/ 0 w 72"/>
                  <a:gd name="T49" fmla="*/ 0 h 75"/>
                  <a:gd name="T50" fmla="*/ 0 w 72"/>
                  <a:gd name="T51" fmla="*/ 6 h 75"/>
                  <a:gd name="T52" fmla="*/ 1 w 72"/>
                  <a:gd name="T53" fmla="*/ 13 h 75"/>
                  <a:gd name="T54" fmla="*/ 2 w 72"/>
                  <a:gd name="T55" fmla="*/ 19 h 75"/>
                  <a:gd name="T56" fmla="*/ 2 w 72"/>
                  <a:gd name="T57" fmla="*/ 22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2"/>
                  <a:gd name="T88" fmla="*/ 0 h 75"/>
                  <a:gd name="T89" fmla="*/ 72 w 72"/>
                  <a:gd name="T90" fmla="*/ 75 h 7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7" name="Freeform 33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5 w 70"/>
                  <a:gd name="T1" fmla="*/ 18 h 59"/>
                  <a:gd name="T2" fmla="*/ 5 w 70"/>
                  <a:gd name="T3" fmla="*/ 19 h 59"/>
                  <a:gd name="T4" fmla="*/ 7 w 70"/>
                  <a:gd name="T5" fmla="*/ 19 h 59"/>
                  <a:gd name="T6" fmla="*/ 8 w 70"/>
                  <a:gd name="T7" fmla="*/ 20 h 59"/>
                  <a:gd name="T8" fmla="*/ 9 w 70"/>
                  <a:gd name="T9" fmla="*/ 20 h 59"/>
                  <a:gd name="T10" fmla="*/ 12 w 70"/>
                  <a:gd name="T11" fmla="*/ 20 h 59"/>
                  <a:gd name="T12" fmla="*/ 15 w 70"/>
                  <a:gd name="T13" fmla="*/ 19 h 59"/>
                  <a:gd name="T14" fmla="*/ 18 w 70"/>
                  <a:gd name="T15" fmla="*/ 19 h 59"/>
                  <a:gd name="T16" fmla="*/ 21 w 70"/>
                  <a:gd name="T17" fmla="*/ 17 h 59"/>
                  <a:gd name="T18" fmla="*/ 22 w 70"/>
                  <a:gd name="T19" fmla="*/ 16 h 59"/>
                  <a:gd name="T20" fmla="*/ 23 w 70"/>
                  <a:gd name="T21" fmla="*/ 15 h 59"/>
                  <a:gd name="T22" fmla="*/ 23 w 70"/>
                  <a:gd name="T23" fmla="*/ 14 h 59"/>
                  <a:gd name="T24" fmla="*/ 23 w 70"/>
                  <a:gd name="T25" fmla="*/ 13 h 59"/>
                  <a:gd name="T26" fmla="*/ 18 w 70"/>
                  <a:gd name="T27" fmla="*/ 11 h 59"/>
                  <a:gd name="T28" fmla="*/ 14 w 70"/>
                  <a:gd name="T29" fmla="*/ 11 h 59"/>
                  <a:gd name="T30" fmla="*/ 11 w 70"/>
                  <a:gd name="T31" fmla="*/ 13 h 59"/>
                  <a:gd name="T32" fmla="*/ 9 w 70"/>
                  <a:gd name="T33" fmla="*/ 14 h 59"/>
                  <a:gd name="T34" fmla="*/ 7 w 70"/>
                  <a:gd name="T35" fmla="*/ 10 h 59"/>
                  <a:gd name="T36" fmla="*/ 5 w 70"/>
                  <a:gd name="T37" fmla="*/ 5 h 59"/>
                  <a:gd name="T38" fmla="*/ 3 w 70"/>
                  <a:gd name="T39" fmla="*/ 1 h 59"/>
                  <a:gd name="T40" fmla="*/ 1 w 70"/>
                  <a:gd name="T41" fmla="*/ 0 h 59"/>
                  <a:gd name="T42" fmla="*/ 0 w 70"/>
                  <a:gd name="T43" fmla="*/ 6 h 59"/>
                  <a:gd name="T44" fmla="*/ 1 w 70"/>
                  <a:gd name="T45" fmla="*/ 12 h 59"/>
                  <a:gd name="T46" fmla="*/ 4 w 70"/>
                  <a:gd name="T47" fmla="*/ 17 h 59"/>
                  <a:gd name="T48" fmla="*/ 5 w 70"/>
                  <a:gd name="T49" fmla="*/ 18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0"/>
                  <a:gd name="T76" fmla="*/ 0 h 59"/>
                  <a:gd name="T77" fmla="*/ 70 w 70"/>
                  <a:gd name="T78" fmla="*/ 59 h 5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8" name="Freeform 34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1 w 65"/>
                  <a:gd name="T1" fmla="*/ 15 h 60"/>
                  <a:gd name="T2" fmla="*/ 3 w 65"/>
                  <a:gd name="T3" fmla="*/ 19 h 60"/>
                  <a:gd name="T4" fmla="*/ 7 w 65"/>
                  <a:gd name="T5" fmla="*/ 20 h 60"/>
                  <a:gd name="T6" fmla="*/ 10 w 65"/>
                  <a:gd name="T7" fmla="*/ 20 h 60"/>
                  <a:gd name="T8" fmla="*/ 12 w 65"/>
                  <a:gd name="T9" fmla="*/ 20 h 60"/>
                  <a:gd name="T10" fmla="*/ 15 w 65"/>
                  <a:gd name="T11" fmla="*/ 19 h 60"/>
                  <a:gd name="T12" fmla="*/ 18 w 65"/>
                  <a:gd name="T13" fmla="*/ 17 h 60"/>
                  <a:gd name="T14" fmla="*/ 21 w 65"/>
                  <a:gd name="T15" fmla="*/ 15 h 60"/>
                  <a:gd name="T16" fmla="*/ 22 w 65"/>
                  <a:gd name="T17" fmla="*/ 13 h 60"/>
                  <a:gd name="T18" fmla="*/ 21 w 65"/>
                  <a:gd name="T19" fmla="*/ 12 h 60"/>
                  <a:gd name="T20" fmla="*/ 20 w 65"/>
                  <a:gd name="T21" fmla="*/ 11 h 60"/>
                  <a:gd name="T22" fmla="*/ 19 w 65"/>
                  <a:gd name="T23" fmla="*/ 11 h 60"/>
                  <a:gd name="T24" fmla="*/ 17 w 65"/>
                  <a:gd name="T25" fmla="*/ 11 h 60"/>
                  <a:gd name="T26" fmla="*/ 9 w 65"/>
                  <a:gd name="T27" fmla="*/ 12 h 60"/>
                  <a:gd name="T28" fmla="*/ 8 w 65"/>
                  <a:gd name="T29" fmla="*/ 10 h 60"/>
                  <a:gd name="T30" fmla="*/ 6 w 65"/>
                  <a:gd name="T31" fmla="*/ 5 h 60"/>
                  <a:gd name="T32" fmla="*/ 3 w 65"/>
                  <a:gd name="T33" fmla="*/ 1 h 60"/>
                  <a:gd name="T34" fmla="*/ 0 w 65"/>
                  <a:gd name="T35" fmla="*/ 0 h 60"/>
                  <a:gd name="T36" fmla="*/ 0 w 65"/>
                  <a:gd name="T37" fmla="*/ 5 h 60"/>
                  <a:gd name="T38" fmla="*/ 1 w 65"/>
                  <a:gd name="T39" fmla="*/ 10 h 60"/>
                  <a:gd name="T40" fmla="*/ 1 w 65"/>
                  <a:gd name="T41" fmla="*/ 14 h 60"/>
                  <a:gd name="T42" fmla="*/ 1 w 65"/>
                  <a:gd name="T43" fmla="*/ 15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5"/>
                  <a:gd name="T67" fmla="*/ 0 h 60"/>
                  <a:gd name="T68" fmla="*/ 65 w 65"/>
                  <a:gd name="T69" fmla="*/ 60 h 6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69" name="Freeform 35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3 w 69"/>
                  <a:gd name="T1" fmla="*/ 16 h 47"/>
                  <a:gd name="T2" fmla="*/ 4 w 69"/>
                  <a:gd name="T3" fmla="*/ 16 h 47"/>
                  <a:gd name="T4" fmla="*/ 5 w 69"/>
                  <a:gd name="T5" fmla="*/ 16 h 47"/>
                  <a:gd name="T6" fmla="*/ 7 w 69"/>
                  <a:gd name="T7" fmla="*/ 16 h 47"/>
                  <a:gd name="T8" fmla="*/ 8 w 69"/>
                  <a:gd name="T9" fmla="*/ 16 h 47"/>
                  <a:gd name="T10" fmla="*/ 10 w 69"/>
                  <a:gd name="T11" fmla="*/ 16 h 47"/>
                  <a:gd name="T12" fmla="*/ 13 w 69"/>
                  <a:gd name="T13" fmla="*/ 15 h 47"/>
                  <a:gd name="T14" fmla="*/ 16 w 69"/>
                  <a:gd name="T15" fmla="*/ 14 h 47"/>
                  <a:gd name="T16" fmla="*/ 19 w 69"/>
                  <a:gd name="T17" fmla="*/ 13 h 47"/>
                  <a:gd name="T18" fmla="*/ 21 w 69"/>
                  <a:gd name="T19" fmla="*/ 12 h 47"/>
                  <a:gd name="T20" fmla="*/ 22 w 69"/>
                  <a:gd name="T21" fmla="*/ 10 h 47"/>
                  <a:gd name="T22" fmla="*/ 23 w 69"/>
                  <a:gd name="T23" fmla="*/ 9 h 47"/>
                  <a:gd name="T24" fmla="*/ 22 w 69"/>
                  <a:gd name="T25" fmla="*/ 7 h 47"/>
                  <a:gd name="T26" fmla="*/ 21 w 69"/>
                  <a:gd name="T27" fmla="*/ 6 h 47"/>
                  <a:gd name="T28" fmla="*/ 19 w 69"/>
                  <a:gd name="T29" fmla="*/ 6 h 47"/>
                  <a:gd name="T30" fmla="*/ 16 w 69"/>
                  <a:gd name="T31" fmla="*/ 6 h 47"/>
                  <a:gd name="T32" fmla="*/ 13 w 69"/>
                  <a:gd name="T33" fmla="*/ 6 h 47"/>
                  <a:gd name="T34" fmla="*/ 11 w 69"/>
                  <a:gd name="T35" fmla="*/ 7 h 47"/>
                  <a:gd name="T36" fmla="*/ 9 w 69"/>
                  <a:gd name="T37" fmla="*/ 8 h 47"/>
                  <a:gd name="T38" fmla="*/ 7 w 69"/>
                  <a:gd name="T39" fmla="*/ 9 h 47"/>
                  <a:gd name="T40" fmla="*/ 7 w 69"/>
                  <a:gd name="T41" fmla="*/ 9 h 47"/>
                  <a:gd name="T42" fmla="*/ 6 w 69"/>
                  <a:gd name="T43" fmla="*/ 7 h 47"/>
                  <a:gd name="T44" fmla="*/ 5 w 69"/>
                  <a:gd name="T45" fmla="*/ 5 h 47"/>
                  <a:gd name="T46" fmla="*/ 4 w 69"/>
                  <a:gd name="T47" fmla="*/ 2 h 47"/>
                  <a:gd name="T48" fmla="*/ 3 w 69"/>
                  <a:gd name="T49" fmla="*/ 1 h 47"/>
                  <a:gd name="T50" fmla="*/ 2 w 69"/>
                  <a:gd name="T51" fmla="*/ 0 h 47"/>
                  <a:gd name="T52" fmla="*/ 2 w 69"/>
                  <a:gd name="T53" fmla="*/ 0 h 47"/>
                  <a:gd name="T54" fmla="*/ 1 w 69"/>
                  <a:gd name="T55" fmla="*/ 0 h 47"/>
                  <a:gd name="T56" fmla="*/ 0 w 69"/>
                  <a:gd name="T57" fmla="*/ 1 h 47"/>
                  <a:gd name="T58" fmla="*/ 0 w 69"/>
                  <a:gd name="T59" fmla="*/ 4 h 47"/>
                  <a:gd name="T60" fmla="*/ 1 w 69"/>
                  <a:gd name="T61" fmla="*/ 9 h 47"/>
                  <a:gd name="T62" fmla="*/ 2 w 69"/>
                  <a:gd name="T63" fmla="*/ 14 h 47"/>
                  <a:gd name="T64" fmla="*/ 3 w 69"/>
                  <a:gd name="T65" fmla="*/ 16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47"/>
                  <a:gd name="T101" fmla="*/ 69 w 69"/>
                  <a:gd name="T102" fmla="*/ 47 h 4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0" name="Freeform 36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4 w 60"/>
                  <a:gd name="T1" fmla="*/ 18 h 58"/>
                  <a:gd name="T2" fmla="*/ 7 w 60"/>
                  <a:gd name="T3" fmla="*/ 19 h 58"/>
                  <a:gd name="T4" fmla="*/ 11 w 60"/>
                  <a:gd name="T5" fmla="*/ 20 h 58"/>
                  <a:gd name="T6" fmla="*/ 15 w 60"/>
                  <a:gd name="T7" fmla="*/ 19 h 58"/>
                  <a:gd name="T8" fmla="*/ 18 w 60"/>
                  <a:gd name="T9" fmla="*/ 17 h 58"/>
                  <a:gd name="T10" fmla="*/ 19 w 60"/>
                  <a:gd name="T11" fmla="*/ 17 h 58"/>
                  <a:gd name="T12" fmla="*/ 20 w 60"/>
                  <a:gd name="T13" fmla="*/ 16 h 58"/>
                  <a:gd name="T14" fmla="*/ 20 w 60"/>
                  <a:gd name="T15" fmla="*/ 14 h 58"/>
                  <a:gd name="T16" fmla="*/ 20 w 60"/>
                  <a:gd name="T17" fmla="*/ 13 h 58"/>
                  <a:gd name="T18" fmla="*/ 19 w 60"/>
                  <a:gd name="T19" fmla="*/ 12 h 58"/>
                  <a:gd name="T20" fmla="*/ 18 w 60"/>
                  <a:gd name="T21" fmla="*/ 11 h 58"/>
                  <a:gd name="T22" fmla="*/ 16 w 60"/>
                  <a:gd name="T23" fmla="*/ 11 h 58"/>
                  <a:gd name="T24" fmla="*/ 15 w 60"/>
                  <a:gd name="T25" fmla="*/ 11 h 58"/>
                  <a:gd name="T26" fmla="*/ 12 w 60"/>
                  <a:gd name="T27" fmla="*/ 12 h 58"/>
                  <a:gd name="T28" fmla="*/ 9 w 60"/>
                  <a:gd name="T29" fmla="*/ 12 h 58"/>
                  <a:gd name="T30" fmla="*/ 7 w 60"/>
                  <a:gd name="T31" fmla="*/ 12 h 58"/>
                  <a:gd name="T32" fmla="*/ 6 w 60"/>
                  <a:gd name="T33" fmla="*/ 12 h 58"/>
                  <a:gd name="T34" fmla="*/ 6 w 60"/>
                  <a:gd name="T35" fmla="*/ 10 h 58"/>
                  <a:gd name="T36" fmla="*/ 6 w 60"/>
                  <a:gd name="T37" fmla="*/ 6 h 58"/>
                  <a:gd name="T38" fmla="*/ 5 w 60"/>
                  <a:gd name="T39" fmla="*/ 1 h 58"/>
                  <a:gd name="T40" fmla="*/ 2 w 60"/>
                  <a:gd name="T41" fmla="*/ 0 h 58"/>
                  <a:gd name="T42" fmla="*/ 0 w 60"/>
                  <a:gd name="T43" fmla="*/ 4 h 58"/>
                  <a:gd name="T44" fmla="*/ 0 w 60"/>
                  <a:gd name="T45" fmla="*/ 9 h 58"/>
                  <a:gd name="T46" fmla="*/ 1 w 60"/>
                  <a:gd name="T47" fmla="*/ 14 h 58"/>
                  <a:gd name="T48" fmla="*/ 4 w 60"/>
                  <a:gd name="T49" fmla="*/ 18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0"/>
                  <a:gd name="T76" fmla="*/ 0 h 58"/>
                  <a:gd name="T77" fmla="*/ 60 w 60"/>
                  <a:gd name="T78" fmla="*/ 58 h 5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1" name="Freeform 37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6 w 59"/>
                  <a:gd name="T1" fmla="*/ 17 h 55"/>
                  <a:gd name="T2" fmla="*/ 11 w 59"/>
                  <a:gd name="T3" fmla="*/ 18 h 55"/>
                  <a:gd name="T4" fmla="*/ 15 w 59"/>
                  <a:gd name="T5" fmla="*/ 18 h 55"/>
                  <a:gd name="T6" fmla="*/ 18 w 59"/>
                  <a:gd name="T7" fmla="*/ 15 h 55"/>
                  <a:gd name="T8" fmla="*/ 20 w 59"/>
                  <a:gd name="T9" fmla="*/ 11 h 55"/>
                  <a:gd name="T10" fmla="*/ 19 w 59"/>
                  <a:gd name="T11" fmla="*/ 10 h 55"/>
                  <a:gd name="T12" fmla="*/ 18 w 59"/>
                  <a:gd name="T13" fmla="*/ 9 h 55"/>
                  <a:gd name="T14" fmla="*/ 17 w 59"/>
                  <a:gd name="T15" fmla="*/ 9 h 55"/>
                  <a:gd name="T16" fmla="*/ 15 w 59"/>
                  <a:gd name="T17" fmla="*/ 9 h 55"/>
                  <a:gd name="T18" fmla="*/ 14 w 59"/>
                  <a:gd name="T19" fmla="*/ 10 h 55"/>
                  <a:gd name="T20" fmla="*/ 13 w 59"/>
                  <a:gd name="T21" fmla="*/ 11 h 55"/>
                  <a:gd name="T22" fmla="*/ 12 w 59"/>
                  <a:gd name="T23" fmla="*/ 12 h 55"/>
                  <a:gd name="T24" fmla="*/ 11 w 59"/>
                  <a:gd name="T25" fmla="*/ 13 h 55"/>
                  <a:gd name="T26" fmla="*/ 9 w 59"/>
                  <a:gd name="T27" fmla="*/ 10 h 55"/>
                  <a:gd name="T28" fmla="*/ 7 w 59"/>
                  <a:gd name="T29" fmla="*/ 6 h 55"/>
                  <a:gd name="T30" fmla="*/ 3 w 59"/>
                  <a:gd name="T31" fmla="*/ 2 h 55"/>
                  <a:gd name="T32" fmla="*/ 0 w 59"/>
                  <a:gd name="T33" fmla="*/ 0 h 55"/>
                  <a:gd name="T34" fmla="*/ 1 w 59"/>
                  <a:gd name="T35" fmla="*/ 6 h 55"/>
                  <a:gd name="T36" fmla="*/ 3 w 59"/>
                  <a:gd name="T37" fmla="*/ 11 h 55"/>
                  <a:gd name="T38" fmla="*/ 5 w 59"/>
                  <a:gd name="T39" fmla="*/ 15 h 55"/>
                  <a:gd name="T40" fmla="*/ 6 w 59"/>
                  <a:gd name="T41" fmla="*/ 17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9"/>
                  <a:gd name="T64" fmla="*/ 0 h 55"/>
                  <a:gd name="T65" fmla="*/ 59 w 59"/>
                  <a:gd name="T66" fmla="*/ 55 h 5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2" name="Freeform 38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11 w 82"/>
                  <a:gd name="T1" fmla="*/ 25 h 76"/>
                  <a:gd name="T2" fmla="*/ 13 w 82"/>
                  <a:gd name="T3" fmla="*/ 25 h 76"/>
                  <a:gd name="T4" fmla="*/ 14 w 82"/>
                  <a:gd name="T5" fmla="*/ 25 h 76"/>
                  <a:gd name="T6" fmla="*/ 16 w 82"/>
                  <a:gd name="T7" fmla="*/ 25 h 76"/>
                  <a:gd name="T8" fmla="*/ 19 w 82"/>
                  <a:gd name="T9" fmla="*/ 25 h 76"/>
                  <a:gd name="T10" fmla="*/ 20 w 82"/>
                  <a:gd name="T11" fmla="*/ 24 h 76"/>
                  <a:gd name="T12" fmla="*/ 22 w 82"/>
                  <a:gd name="T13" fmla="*/ 22 h 76"/>
                  <a:gd name="T14" fmla="*/ 24 w 82"/>
                  <a:gd name="T15" fmla="*/ 21 h 76"/>
                  <a:gd name="T16" fmla="*/ 25 w 82"/>
                  <a:gd name="T17" fmla="*/ 19 h 76"/>
                  <a:gd name="T18" fmla="*/ 26 w 82"/>
                  <a:gd name="T19" fmla="*/ 18 h 76"/>
                  <a:gd name="T20" fmla="*/ 27 w 82"/>
                  <a:gd name="T21" fmla="*/ 17 h 76"/>
                  <a:gd name="T22" fmla="*/ 27 w 82"/>
                  <a:gd name="T23" fmla="*/ 15 h 76"/>
                  <a:gd name="T24" fmla="*/ 26 w 82"/>
                  <a:gd name="T25" fmla="*/ 14 h 76"/>
                  <a:gd name="T26" fmla="*/ 23 w 82"/>
                  <a:gd name="T27" fmla="*/ 13 h 76"/>
                  <a:gd name="T28" fmla="*/ 21 w 82"/>
                  <a:gd name="T29" fmla="*/ 12 h 76"/>
                  <a:gd name="T30" fmla="*/ 18 w 82"/>
                  <a:gd name="T31" fmla="*/ 13 h 76"/>
                  <a:gd name="T32" fmla="*/ 15 w 82"/>
                  <a:gd name="T33" fmla="*/ 13 h 76"/>
                  <a:gd name="T34" fmla="*/ 13 w 82"/>
                  <a:gd name="T35" fmla="*/ 14 h 76"/>
                  <a:gd name="T36" fmla="*/ 12 w 82"/>
                  <a:gd name="T37" fmla="*/ 16 h 76"/>
                  <a:gd name="T38" fmla="*/ 11 w 82"/>
                  <a:gd name="T39" fmla="*/ 16 h 76"/>
                  <a:gd name="T40" fmla="*/ 10 w 82"/>
                  <a:gd name="T41" fmla="*/ 17 h 76"/>
                  <a:gd name="T42" fmla="*/ 10 w 82"/>
                  <a:gd name="T43" fmla="*/ 14 h 76"/>
                  <a:gd name="T44" fmla="*/ 8 w 82"/>
                  <a:gd name="T45" fmla="*/ 8 h 76"/>
                  <a:gd name="T46" fmla="*/ 5 w 82"/>
                  <a:gd name="T47" fmla="*/ 2 h 76"/>
                  <a:gd name="T48" fmla="*/ 1 w 82"/>
                  <a:gd name="T49" fmla="*/ 0 h 76"/>
                  <a:gd name="T50" fmla="*/ 0 w 82"/>
                  <a:gd name="T51" fmla="*/ 6 h 76"/>
                  <a:gd name="T52" fmla="*/ 0 w 82"/>
                  <a:gd name="T53" fmla="*/ 10 h 76"/>
                  <a:gd name="T54" fmla="*/ 1 w 82"/>
                  <a:gd name="T55" fmla="*/ 14 h 76"/>
                  <a:gd name="T56" fmla="*/ 4 w 82"/>
                  <a:gd name="T57" fmla="*/ 18 h 76"/>
                  <a:gd name="T58" fmla="*/ 6 w 82"/>
                  <a:gd name="T59" fmla="*/ 21 h 76"/>
                  <a:gd name="T60" fmla="*/ 8 w 82"/>
                  <a:gd name="T61" fmla="*/ 23 h 76"/>
                  <a:gd name="T62" fmla="*/ 10 w 82"/>
                  <a:gd name="T63" fmla="*/ 24 h 76"/>
                  <a:gd name="T64" fmla="*/ 11 w 82"/>
                  <a:gd name="T65" fmla="*/ 25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2"/>
                  <a:gd name="T100" fmla="*/ 0 h 76"/>
                  <a:gd name="T101" fmla="*/ 82 w 82"/>
                  <a:gd name="T102" fmla="*/ 76 h 7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3" name="Freeform 39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4 w 75"/>
                  <a:gd name="T1" fmla="*/ 18 h 66"/>
                  <a:gd name="T2" fmla="*/ 5 w 75"/>
                  <a:gd name="T3" fmla="*/ 19 h 66"/>
                  <a:gd name="T4" fmla="*/ 6 w 75"/>
                  <a:gd name="T5" fmla="*/ 20 h 66"/>
                  <a:gd name="T6" fmla="*/ 8 w 75"/>
                  <a:gd name="T7" fmla="*/ 21 h 66"/>
                  <a:gd name="T8" fmla="*/ 9 w 75"/>
                  <a:gd name="T9" fmla="*/ 21 h 66"/>
                  <a:gd name="T10" fmla="*/ 11 w 75"/>
                  <a:gd name="T11" fmla="*/ 22 h 66"/>
                  <a:gd name="T12" fmla="*/ 13 w 75"/>
                  <a:gd name="T13" fmla="*/ 22 h 66"/>
                  <a:gd name="T14" fmla="*/ 16 w 75"/>
                  <a:gd name="T15" fmla="*/ 22 h 66"/>
                  <a:gd name="T16" fmla="*/ 19 w 75"/>
                  <a:gd name="T17" fmla="*/ 22 h 66"/>
                  <a:gd name="T18" fmla="*/ 22 w 75"/>
                  <a:gd name="T19" fmla="*/ 21 h 66"/>
                  <a:gd name="T20" fmla="*/ 24 w 75"/>
                  <a:gd name="T21" fmla="*/ 20 h 66"/>
                  <a:gd name="T22" fmla="*/ 25 w 75"/>
                  <a:gd name="T23" fmla="*/ 18 h 66"/>
                  <a:gd name="T24" fmla="*/ 25 w 75"/>
                  <a:gd name="T25" fmla="*/ 15 h 66"/>
                  <a:gd name="T26" fmla="*/ 24 w 75"/>
                  <a:gd name="T27" fmla="*/ 13 h 66"/>
                  <a:gd name="T28" fmla="*/ 22 w 75"/>
                  <a:gd name="T29" fmla="*/ 12 h 66"/>
                  <a:gd name="T30" fmla="*/ 20 w 75"/>
                  <a:gd name="T31" fmla="*/ 11 h 66"/>
                  <a:gd name="T32" fmla="*/ 17 w 75"/>
                  <a:gd name="T33" fmla="*/ 11 h 66"/>
                  <a:gd name="T34" fmla="*/ 14 w 75"/>
                  <a:gd name="T35" fmla="*/ 12 h 66"/>
                  <a:gd name="T36" fmla="*/ 11 w 75"/>
                  <a:gd name="T37" fmla="*/ 12 h 66"/>
                  <a:gd name="T38" fmla="*/ 9 w 75"/>
                  <a:gd name="T39" fmla="*/ 13 h 66"/>
                  <a:gd name="T40" fmla="*/ 9 w 75"/>
                  <a:gd name="T41" fmla="*/ 13 h 66"/>
                  <a:gd name="T42" fmla="*/ 8 w 75"/>
                  <a:gd name="T43" fmla="*/ 11 h 66"/>
                  <a:gd name="T44" fmla="*/ 6 w 75"/>
                  <a:gd name="T45" fmla="*/ 5 h 66"/>
                  <a:gd name="T46" fmla="*/ 3 w 75"/>
                  <a:gd name="T47" fmla="*/ 1 h 66"/>
                  <a:gd name="T48" fmla="*/ 0 w 75"/>
                  <a:gd name="T49" fmla="*/ 0 h 66"/>
                  <a:gd name="T50" fmla="*/ 0 w 75"/>
                  <a:gd name="T51" fmla="*/ 7 h 66"/>
                  <a:gd name="T52" fmla="*/ 2 w 75"/>
                  <a:gd name="T53" fmla="*/ 13 h 66"/>
                  <a:gd name="T54" fmla="*/ 3 w 75"/>
                  <a:gd name="T55" fmla="*/ 16 h 66"/>
                  <a:gd name="T56" fmla="*/ 4 w 75"/>
                  <a:gd name="T57" fmla="*/ 18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6"/>
                  <a:gd name="T89" fmla="*/ 75 w 75"/>
                  <a:gd name="T90" fmla="*/ 66 h 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4" name="Freeform 40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1 w 75"/>
                  <a:gd name="T1" fmla="*/ 14 h 63"/>
                  <a:gd name="T2" fmla="*/ 1 w 75"/>
                  <a:gd name="T3" fmla="*/ 15 h 63"/>
                  <a:gd name="T4" fmla="*/ 3 w 75"/>
                  <a:gd name="T5" fmla="*/ 17 h 63"/>
                  <a:gd name="T6" fmla="*/ 5 w 75"/>
                  <a:gd name="T7" fmla="*/ 19 h 63"/>
                  <a:gd name="T8" fmla="*/ 5 w 75"/>
                  <a:gd name="T9" fmla="*/ 19 h 63"/>
                  <a:gd name="T10" fmla="*/ 8 w 75"/>
                  <a:gd name="T11" fmla="*/ 20 h 63"/>
                  <a:gd name="T12" fmla="*/ 11 w 75"/>
                  <a:gd name="T13" fmla="*/ 21 h 63"/>
                  <a:gd name="T14" fmla="*/ 14 w 75"/>
                  <a:gd name="T15" fmla="*/ 21 h 63"/>
                  <a:gd name="T16" fmla="*/ 18 w 75"/>
                  <a:gd name="T17" fmla="*/ 20 h 63"/>
                  <a:gd name="T18" fmla="*/ 21 w 75"/>
                  <a:gd name="T19" fmla="*/ 19 h 63"/>
                  <a:gd name="T20" fmla="*/ 24 w 75"/>
                  <a:gd name="T21" fmla="*/ 18 h 63"/>
                  <a:gd name="T22" fmla="*/ 25 w 75"/>
                  <a:gd name="T23" fmla="*/ 16 h 63"/>
                  <a:gd name="T24" fmla="*/ 24 w 75"/>
                  <a:gd name="T25" fmla="*/ 13 h 63"/>
                  <a:gd name="T26" fmla="*/ 22 w 75"/>
                  <a:gd name="T27" fmla="*/ 11 h 63"/>
                  <a:gd name="T28" fmla="*/ 20 w 75"/>
                  <a:gd name="T29" fmla="*/ 10 h 63"/>
                  <a:gd name="T30" fmla="*/ 18 w 75"/>
                  <a:gd name="T31" fmla="*/ 9 h 63"/>
                  <a:gd name="T32" fmla="*/ 15 w 75"/>
                  <a:gd name="T33" fmla="*/ 10 h 63"/>
                  <a:gd name="T34" fmla="*/ 12 w 75"/>
                  <a:gd name="T35" fmla="*/ 10 h 63"/>
                  <a:gd name="T36" fmla="*/ 10 w 75"/>
                  <a:gd name="T37" fmla="*/ 11 h 63"/>
                  <a:gd name="T38" fmla="*/ 9 w 75"/>
                  <a:gd name="T39" fmla="*/ 12 h 63"/>
                  <a:gd name="T40" fmla="*/ 8 w 75"/>
                  <a:gd name="T41" fmla="*/ 12 h 63"/>
                  <a:gd name="T42" fmla="*/ 8 w 75"/>
                  <a:gd name="T43" fmla="*/ 10 h 63"/>
                  <a:gd name="T44" fmla="*/ 6 w 75"/>
                  <a:gd name="T45" fmla="*/ 5 h 63"/>
                  <a:gd name="T46" fmla="*/ 3 w 75"/>
                  <a:gd name="T47" fmla="*/ 1 h 63"/>
                  <a:gd name="T48" fmla="*/ 0 w 75"/>
                  <a:gd name="T49" fmla="*/ 0 h 63"/>
                  <a:gd name="T50" fmla="*/ 0 w 75"/>
                  <a:gd name="T51" fmla="*/ 5 h 63"/>
                  <a:gd name="T52" fmla="*/ 0 w 75"/>
                  <a:gd name="T53" fmla="*/ 9 h 63"/>
                  <a:gd name="T54" fmla="*/ 1 w 75"/>
                  <a:gd name="T55" fmla="*/ 13 h 63"/>
                  <a:gd name="T56" fmla="*/ 1 w 75"/>
                  <a:gd name="T57" fmla="*/ 14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3"/>
                  <a:gd name="T89" fmla="*/ 75 w 75"/>
                  <a:gd name="T90" fmla="*/ 63 h 6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5" name="Freeform 41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29 w 250"/>
                  <a:gd name="T1" fmla="*/ 12 h 290"/>
                  <a:gd name="T2" fmla="*/ 23 w 250"/>
                  <a:gd name="T3" fmla="*/ 16 h 290"/>
                  <a:gd name="T4" fmla="*/ 18 w 250"/>
                  <a:gd name="T5" fmla="*/ 21 h 290"/>
                  <a:gd name="T6" fmla="*/ 13 w 250"/>
                  <a:gd name="T7" fmla="*/ 26 h 290"/>
                  <a:gd name="T8" fmla="*/ 8 w 250"/>
                  <a:gd name="T9" fmla="*/ 32 h 290"/>
                  <a:gd name="T10" fmla="*/ 5 w 250"/>
                  <a:gd name="T11" fmla="*/ 38 h 290"/>
                  <a:gd name="T12" fmla="*/ 3 w 250"/>
                  <a:gd name="T13" fmla="*/ 45 h 290"/>
                  <a:gd name="T14" fmla="*/ 1 w 250"/>
                  <a:gd name="T15" fmla="*/ 53 h 290"/>
                  <a:gd name="T16" fmla="*/ 0 w 250"/>
                  <a:gd name="T17" fmla="*/ 60 h 290"/>
                  <a:gd name="T18" fmla="*/ 1 w 250"/>
                  <a:gd name="T19" fmla="*/ 70 h 290"/>
                  <a:gd name="T20" fmla="*/ 5 w 250"/>
                  <a:gd name="T21" fmla="*/ 78 h 290"/>
                  <a:gd name="T22" fmla="*/ 11 w 250"/>
                  <a:gd name="T23" fmla="*/ 85 h 290"/>
                  <a:gd name="T24" fmla="*/ 19 w 250"/>
                  <a:gd name="T25" fmla="*/ 90 h 290"/>
                  <a:gd name="T26" fmla="*/ 28 w 250"/>
                  <a:gd name="T27" fmla="*/ 95 h 290"/>
                  <a:gd name="T28" fmla="*/ 37 w 250"/>
                  <a:gd name="T29" fmla="*/ 97 h 290"/>
                  <a:gd name="T30" fmla="*/ 46 w 250"/>
                  <a:gd name="T31" fmla="*/ 97 h 290"/>
                  <a:gd name="T32" fmla="*/ 56 w 250"/>
                  <a:gd name="T33" fmla="*/ 96 h 290"/>
                  <a:gd name="T34" fmla="*/ 58 w 250"/>
                  <a:gd name="T35" fmla="*/ 96 h 290"/>
                  <a:gd name="T36" fmla="*/ 59 w 250"/>
                  <a:gd name="T37" fmla="*/ 95 h 290"/>
                  <a:gd name="T38" fmla="*/ 61 w 250"/>
                  <a:gd name="T39" fmla="*/ 93 h 290"/>
                  <a:gd name="T40" fmla="*/ 61 w 250"/>
                  <a:gd name="T41" fmla="*/ 91 h 290"/>
                  <a:gd name="T42" fmla="*/ 60 w 250"/>
                  <a:gd name="T43" fmla="*/ 89 h 290"/>
                  <a:gd name="T44" fmla="*/ 58 w 250"/>
                  <a:gd name="T45" fmla="*/ 87 h 290"/>
                  <a:gd name="T46" fmla="*/ 56 w 250"/>
                  <a:gd name="T47" fmla="*/ 85 h 290"/>
                  <a:gd name="T48" fmla="*/ 54 w 250"/>
                  <a:gd name="T49" fmla="*/ 84 h 290"/>
                  <a:gd name="T50" fmla="*/ 49 w 250"/>
                  <a:gd name="T51" fmla="*/ 83 h 290"/>
                  <a:gd name="T52" fmla="*/ 44 w 250"/>
                  <a:gd name="T53" fmla="*/ 82 h 290"/>
                  <a:gd name="T54" fmla="*/ 39 w 250"/>
                  <a:gd name="T55" fmla="*/ 81 h 290"/>
                  <a:gd name="T56" fmla="*/ 35 w 250"/>
                  <a:gd name="T57" fmla="*/ 80 h 290"/>
                  <a:gd name="T58" fmla="*/ 30 w 250"/>
                  <a:gd name="T59" fmla="*/ 78 h 290"/>
                  <a:gd name="T60" fmla="*/ 26 w 250"/>
                  <a:gd name="T61" fmla="*/ 77 h 290"/>
                  <a:gd name="T62" fmla="*/ 22 w 250"/>
                  <a:gd name="T63" fmla="*/ 74 h 290"/>
                  <a:gd name="T64" fmla="*/ 18 w 250"/>
                  <a:gd name="T65" fmla="*/ 70 h 290"/>
                  <a:gd name="T66" fmla="*/ 17 w 250"/>
                  <a:gd name="T67" fmla="*/ 54 h 290"/>
                  <a:gd name="T68" fmla="*/ 21 w 250"/>
                  <a:gd name="T69" fmla="*/ 40 h 290"/>
                  <a:gd name="T70" fmla="*/ 28 w 250"/>
                  <a:gd name="T71" fmla="*/ 30 h 290"/>
                  <a:gd name="T72" fmla="*/ 39 w 250"/>
                  <a:gd name="T73" fmla="*/ 21 h 290"/>
                  <a:gd name="T74" fmla="*/ 51 w 250"/>
                  <a:gd name="T75" fmla="*/ 14 h 290"/>
                  <a:gd name="T76" fmla="*/ 63 w 250"/>
                  <a:gd name="T77" fmla="*/ 9 h 290"/>
                  <a:gd name="T78" fmla="*/ 74 w 250"/>
                  <a:gd name="T79" fmla="*/ 5 h 290"/>
                  <a:gd name="T80" fmla="*/ 83 w 250"/>
                  <a:gd name="T81" fmla="*/ 2 h 290"/>
                  <a:gd name="T82" fmla="*/ 78 w 250"/>
                  <a:gd name="T83" fmla="*/ 1 h 290"/>
                  <a:gd name="T84" fmla="*/ 72 w 250"/>
                  <a:gd name="T85" fmla="*/ 0 h 290"/>
                  <a:gd name="T86" fmla="*/ 65 w 250"/>
                  <a:gd name="T87" fmla="*/ 1 h 290"/>
                  <a:gd name="T88" fmla="*/ 58 w 250"/>
                  <a:gd name="T89" fmla="*/ 2 h 290"/>
                  <a:gd name="T90" fmla="*/ 50 w 250"/>
                  <a:gd name="T91" fmla="*/ 4 h 290"/>
                  <a:gd name="T92" fmla="*/ 43 w 250"/>
                  <a:gd name="T93" fmla="*/ 7 h 290"/>
                  <a:gd name="T94" fmla="*/ 36 w 250"/>
                  <a:gd name="T95" fmla="*/ 10 h 290"/>
                  <a:gd name="T96" fmla="*/ 29 w 250"/>
                  <a:gd name="T97" fmla="*/ 12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50"/>
                  <a:gd name="T148" fmla="*/ 0 h 290"/>
                  <a:gd name="T149" fmla="*/ 250 w 250"/>
                  <a:gd name="T150" fmla="*/ 290 h 29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6" name="Freeform 42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45 w 160"/>
                  <a:gd name="T1" fmla="*/ 24 h 225"/>
                  <a:gd name="T2" fmla="*/ 47 w 160"/>
                  <a:gd name="T3" fmla="*/ 32 h 225"/>
                  <a:gd name="T4" fmla="*/ 46 w 160"/>
                  <a:gd name="T5" fmla="*/ 39 h 225"/>
                  <a:gd name="T6" fmla="*/ 43 w 160"/>
                  <a:gd name="T7" fmla="*/ 45 h 225"/>
                  <a:gd name="T8" fmla="*/ 38 w 160"/>
                  <a:gd name="T9" fmla="*/ 50 h 225"/>
                  <a:gd name="T10" fmla="*/ 32 w 160"/>
                  <a:gd name="T11" fmla="*/ 55 h 225"/>
                  <a:gd name="T12" fmla="*/ 25 w 160"/>
                  <a:gd name="T13" fmla="*/ 60 h 225"/>
                  <a:gd name="T14" fmla="*/ 19 w 160"/>
                  <a:gd name="T15" fmla="*/ 64 h 225"/>
                  <a:gd name="T16" fmla="*/ 13 w 160"/>
                  <a:gd name="T17" fmla="*/ 68 h 225"/>
                  <a:gd name="T18" fmla="*/ 12 w 160"/>
                  <a:gd name="T19" fmla="*/ 70 h 225"/>
                  <a:gd name="T20" fmla="*/ 11 w 160"/>
                  <a:gd name="T21" fmla="*/ 71 h 225"/>
                  <a:gd name="T22" fmla="*/ 11 w 160"/>
                  <a:gd name="T23" fmla="*/ 72 h 225"/>
                  <a:gd name="T24" fmla="*/ 12 w 160"/>
                  <a:gd name="T25" fmla="*/ 74 h 225"/>
                  <a:gd name="T26" fmla="*/ 13 w 160"/>
                  <a:gd name="T27" fmla="*/ 75 h 225"/>
                  <a:gd name="T28" fmla="*/ 15 w 160"/>
                  <a:gd name="T29" fmla="*/ 75 h 225"/>
                  <a:gd name="T30" fmla="*/ 16 w 160"/>
                  <a:gd name="T31" fmla="*/ 75 h 225"/>
                  <a:gd name="T32" fmla="*/ 17 w 160"/>
                  <a:gd name="T33" fmla="*/ 75 h 225"/>
                  <a:gd name="T34" fmla="*/ 25 w 160"/>
                  <a:gd name="T35" fmla="*/ 70 h 225"/>
                  <a:gd name="T36" fmla="*/ 32 w 160"/>
                  <a:gd name="T37" fmla="*/ 66 h 225"/>
                  <a:gd name="T38" fmla="*/ 39 w 160"/>
                  <a:gd name="T39" fmla="*/ 60 h 225"/>
                  <a:gd name="T40" fmla="*/ 45 w 160"/>
                  <a:gd name="T41" fmla="*/ 54 h 225"/>
                  <a:gd name="T42" fmla="*/ 50 w 160"/>
                  <a:gd name="T43" fmla="*/ 47 h 225"/>
                  <a:gd name="T44" fmla="*/ 53 w 160"/>
                  <a:gd name="T45" fmla="*/ 40 h 225"/>
                  <a:gd name="T46" fmla="*/ 53 w 160"/>
                  <a:gd name="T47" fmla="*/ 32 h 225"/>
                  <a:gd name="T48" fmla="*/ 51 w 160"/>
                  <a:gd name="T49" fmla="*/ 23 h 225"/>
                  <a:gd name="T50" fmla="*/ 47 w 160"/>
                  <a:gd name="T51" fmla="*/ 16 h 225"/>
                  <a:gd name="T52" fmla="*/ 40 w 160"/>
                  <a:gd name="T53" fmla="*/ 10 h 225"/>
                  <a:gd name="T54" fmla="*/ 32 w 160"/>
                  <a:gd name="T55" fmla="*/ 6 h 225"/>
                  <a:gd name="T56" fmla="*/ 24 w 160"/>
                  <a:gd name="T57" fmla="*/ 3 h 225"/>
                  <a:gd name="T58" fmla="*/ 15 w 160"/>
                  <a:gd name="T59" fmla="*/ 1 h 225"/>
                  <a:gd name="T60" fmla="*/ 8 w 160"/>
                  <a:gd name="T61" fmla="*/ 0 h 225"/>
                  <a:gd name="T62" fmla="*/ 2 w 160"/>
                  <a:gd name="T63" fmla="*/ 0 h 225"/>
                  <a:gd name="T64" fmla="*/ 0 w 160"/>
                  <a:gd name="T65" fmla="*/ 1 h 225"/>
                  <a:gd name="T66" fmla="*/ 6 w 160"/>
                  <a:gd name="T67" fmla="*/ 4 h 225"/>
                  <a:gd name="T68" fmla="*/ 12 w 160"/>
                  <a:gd name="T69" fmla="*/ 6 h 225"/>
                  <a:gd name="T70" fmla="*/ 19 w 160"/>
                  <a:gd name="T71" fmla="*/ 8 h 225"/>
                  <a:gd name="T72" fmla="*/ 25 w 160"/>
                  <a:gd name="T73" fmla="*/ 10 h 225"/>
                  <a:gd name="T74" fmla="*/ 31 w 160"/>
                  <a:gd name="T75" fmla="*/ 12 h 225"/>
                  <a:gd name="T76" fmla="*/ 37 w 160"/>
                  <a:gd name="T77" fmla="*/ 15 h 225"/>
                  <a:gd name="T78" fmla="*/ 41 w 160"/>
                  <a:gd name="T79" fmla="*/ 19 h 225"/>
                  <a:gd name="T80" fmla="*/ 45 w 160"/>
                  <a:gd name="T81" fmla="*/ 24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0"/>
                  <a:gd name="T124" fmla="*/ 0 h 225"/>
                  <a:gd name="T125" fmla="*/ 160 w 160"/>
                  <a:gd name="T126" fmla="*/ 225 h 22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7" name="Freeform 43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42 w 404"/>
                  <a:gd name="T1" fmla="*/ 29 h 472"/>
                  <a:gd name="T2" fmla="*/ 23 w 404"/>
                  <a:gd name="T3" fmla="*/ 48 h 472"/>
                  <a:gd name="T4" fmla="*/ 7 w 404"/>
                  <a:gd name="T5" fmla="*/ 70 h 472"/>
                  <a:gd name="T6" fmla="*/ 0 w 404"/>
                  <a:gd name="T7" fmla="*/ 95 h 472"/>
                  <a:gd name="T8" fmla="*/ 2 w 404"/>
                  <a:gd name="T9" fmla="*/ 111 h 472"/>
                  <a:gd name="T10" fmla="*/ 4 w 404"/>
                  <a:gd name="T11" fmla="*/ 118 h 472"/>
                  <a:gd name="T12" fmla="*/ 8 w 404"/>
                  <a:gd name="T13" fmla="*/ 125 h 472"/>
                  <a:gd name="T14" fmla="*/ 14 w 404"/>
                  <a:gd name="T15" fmla="*/ 130 h 472"/>
                  <a:gd name="T16" fmla="*/ 24 w 404"/>
                  <a:gd name="T17" fmla="*/ 136 h 472"/>
                  <a:gd name="T18" fmla="*/ 36 w 404"/>
                  <a:gd name="T19" fmla="*/ 142 h 472"/>
                  <a:gd name="T20" fmla="*/ 50 w 404"/>
                  <a:gd name="T21" fmla="*/ 147 h 472"/>
                  <a:gd name="T22" fmla="*/ 64 w 404"/>
                  <a:gd name="T23" fmla="*/ 150 h 472"/>
                  <a:gd name="T24" fmla="*/ 78 w 404"/>
                  <a:gd name="T25" fmla="*/ 153 h 472"/>
                  <a:gd name="T26" fmla="*/ 92 w 404"/>
                  <a:gd name="T27" fmla="*/ 155 h 472"/>
                  <a:gd name="T28" fmla="*/ 107 w 404"/>
                  <a:gd name="T29" fmla="*/ 157 h 472"/>
                  <a:gd name="T30" fmla="*/ 121 w 404"/>
                  <a:gd name="T31" fmla="*/ 158 h 472"/>
                  <a:gd name="T32" fmla="*/ 131 w 404"/>
                  <a:gd name="T33" fmla="*/ 158 h 472"/>
                  <a:gd name="T34" fmla="*/ 134 w 404"/>
                  <a:gd name="T35" fmla="*/ 155 h 472"/>
                  <a:gd name="T36" fmla="*/ 135 w 404"/>
                  <a:gd name="T37" fmla="*/ 151 h 472"/>
                  <a:gd name="T38" fmla="*/ 132 w 404"/>
                  <a:gd name="T39" fmla="*/ 148 h 472"/>
                  <a:gd name="T40" fmla="*/ 123 w 404"/>
                  <a:gd name="T41" fmla="*/ 145 h 472"/>
                  <a:gd name="T42" fmla="*/ 111 w 404"/>
                  <a:gd name="T43" fmla="*/ 143 h 472"/>
                  <a:gd name="T44" fmla="*/ 97 w 404"/>
                  <a:gd name="T45" fmla="*/ 141 h 472"/>
                  <a:gd name="T46" fmla="*/ 84 w 404"/>
                  <a:gd name="T47" fmla="*/ 139 h 472"/>
                  <a:gd name="T48" fmla="*/ 71 w 404"/>
                  <a:gd name="T49" fmla="*/ 137 h 472"/>
                  <a:gd name="T50" fmla="*/ 58 w 404"/>
                  <a:gd name="T51" fmla="*/ 133 h 472"/>
                  <a:gd name="T52" fmla="*/ 46 w 404"/>
                  <a:gd name="T53" fmla="*/ 129 h 472"/>
                  <a:gd name="T54" fmla="*/ 34 w 404"/>
                  <a:gd name="T55" fmla="*/ 125 h 472"/>
                  <a:gd name="T56" fmla="*/ 23 w 404"/>
                  <a:gd name="T57" fmla="*/ 118 h 472"/>
                  <a:gd name="T58" fmla="*/ 16 w 404"/>
                  <a:gd name="T59" fmla="*/ 108 h 472"/>
                  <a:gd name="T60" fmla="*/ 14 w 404"/>
                  <a:gd name="T61" fmla="*/ 97 h 472"/>
                  <a:gd name="T62" fmla="*/ 16 w 404"/>
                  <a:gd name="T63" fmla="*/ 84 h 472"/>
                  <a:gd name="T64" fmla="*/ 22 w 404"/>
                  <a:gd name="T65" fmla="*/ 71 h 472"/>
                  <a:gd name="T66" fmla="*/ 30 w 404"/>
                  <a:gd name="T67" fmla="*/ 58 h 472"/>
                  <a:gd name="T68" fmla="*/ 40 w 404"/>
                  <a:gd name="T69" fmla="*/ 46 h 472"/>
                  <a:gd name="T70" fmla="*/ 51 w 404"/>
                  <a:gd name="T71" fmla="*/ 34 h 472"/>
                  <a:gd name="T72" fmla="*/ 64 w 404"/>
                  <a:gd name="T73" fmla="*/ 24 h 472"/>
                  <a:gd name="T74" fmla="*/ 82 w 404"/>
                  <a:gd name="T75" fmla="*/ 16 h 472"/>
                  <a:gd name="T76" fmla="*/ 100 w 404"/>
                  <a:gd name="T77" fmla="*/ 8 h 472"/>
                  <a:gd name="T78" fmla="*/ 111 w 404"/>
                  <a:gd name="T79" fmla="*/ 3 h 472"/>
                  <a:gd name="T80" fmla="*/ 108 w 404"/>
                  <a:gd name="T81" fmla="*/ 0 h 472"/>
                  <a:gd name="T82" fmla="*/ 93 w 404"/>
                  <a:gd name="T83" fmla="*/ 2 h 472"/>
                  <a:gd name="T84" fmla="*/ 76 w 404"/>
                  <a:gd name="T85" fmla="*/ 8 h 472"/>
                  <a:gd name="T86" fmla="*/ 59 w 404"/>
                  <a:gd name="T87" fmla="*/ 16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04"/>
                  <a:gd name="T133" fmla="*/ 0 h 472"/>
                  <a:gd name="T134" fmla="*/ 404 w 404"/>
                  <a:gd name="T135" fmla="*/ 472 h 4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8" name="Freeform 44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98 w 354"/>
                  <a:gd name="T1" fmla="*/ 32 h 315"/>
                  <a:gd name="T2" fmla="*/ 103 w 354"/>
                  <a:gd name="T3" fmla="*/ 38 h 315"/>
                  <a:gd name="T4" fmla="*/ 107 w 354"/>
                  <a:gd name="T5" fmla="*/ 44 h 315"/>
                  <a:gd name="T6" fmla="*/ 108 w 354"/>
                  <a:gd name="T7" fmla="*/ 52 h 315"/>
                  <a:gd name="T8" fmla="*/ 108 w 354"/>
                  <a:gd name="T9" fmla="*/ 59 h 315"/>
                  <a:gd name="T10" fmla="*/ 107 w 354"/>
                  <a:gd name="T11" fmla="*/ 66 h 315"/>
                  <a:gd name="T12" fmla="*/ 105 w 354"/>
                  <a:gd name="T13" fmla="*/ 71 h 315"/>
                  <a:gd name="T14" fmla="*/ 102 w 354"/>
                  <a:gd name="T15" fmla="*/ 76 h 315"/>
                  <a:gd name="T16" fmla="*/ 98 w 354"/>
                  <a:gd name="T17" fmla="*/ 80 h 315"/>
                  <a:gd name="T18" fmla="*/ 94 w 354"/>
                  <a:gd name="T19" fmla="*/ 85 h 315"/>
                  <a:gd name="T20" fmla="*/ 90 w 354"/>
                  <a:gd name="T21" fmla="*/ 89 h 315"/>
                  <a:gd name="T22" fmla="*/ 85 w 354"/>
                  <a:gd name="T23" fmla="*/ 93 h 315"/>
                  <a:gd name="T24" fmla="*/ 81 w 354"/>
                  <a:gd name="T25" fmla="*/ 98 h 315"/>
                  <a:gd name="T26" fmla="*/ 80 w 354"/>
                  <a:gd name="T27" fmla="*/ 99 h 315"/>
                  <a:gd name="T28" fmla="*/ 80 w 354"/>
                  <a:gd name="T29" fmla="*/ 101 h 315"/>
                  <a:gd name="T30" fmla="*/ 80 w 354"/>
                  <a:gd name="T31" fmla="*/ 102 h 315"/>
                  <a:gd name="T32" fmla="*/ 81 w 354"/>
                  <a:gd name="T33" fmla="*/ 103 h 315"/>
                  <a:gd name="T34" fmla="*/ 82 w 354"/>
                  <a:gd name="T35" fmla="*/ 104 h 315"/>
                  <a:gd name="T36" fmla="*/ 84 w 354"/>
                  <a:gd name="T37" fmla="*/ 105 h 315"/>
                  <a:gd name="T38" fmla="*/ 86 w 354"/>
                  <a:gd name="T39" fmla="*/ 104 h 315"/>
                  <a:gd name="T40" fmla="*/ 87 w 354"/>
                  <a:gd name="T41" fmla="*/ 103 h 315"/>
                  <a:gd name="T42" fmla="*/ 97 w 354"/>
                  <a:gd name="T43" fmla="*/ 97 h 315"/>
                  <a:gd name="T44" fmla="*/ 105 w 354"/>
                  <a:gd name="T45" fmla="*/ 89 h 315"/>
                  <a:gd name="T46" fmla="*/ 112 w 354"/>
                  <a:gd name="T47" fmla="*/ 80 h 315"/>
                  <a:gd name="T48" fmla="*/ 116 w 354"/>
                  <a:gd name="T49" fmla="*/ 69 h 315"/>
                  <a:gd name="T50" fmla="*/ 118 w 354"/>
                  <a:gd name="T51" fmla="*/ 59 h 315"/>
                  <a:gd name="T52" fmla="*/ 117 w 354"/>
                  <a:gd name="T53" fmla="*/ 48 h 315"/>
                  <a:gd name="T54" fmla="*/ 113 w 354"/>
                  <a:gd name="T55" fmla="*/ 38 h 315"/>
                  <a:gd name="T56" fmla="*/ 105 w 354"/>
                  <a:gd name="T57" fmla="*/ 29 h 315"/>
                  <a:gd name="T58" fmla="*/ 99 w 354"/>
                  <a:gd name="T59" fmla="*/ 24 h 315"/>
                  <a:gd name="T60" fmla="*/ 93 w 354"/>
                  <a:gd name="T61" fmla="*/ 20 h 315"/>
                  <a:gd name="T62" fmla="*/ 85 w 354"/>
                  <a:gd name="T63" fmla="*/ 16 h 315"/>
                  <a:gd name="T64" fmla="*/ 77 w 354"/>
                  <a:gd name="T65" fmla="*/ 13 h 315"/>
                  <a:gd name="T66" fmla="*/ 69 w 354"/>
                  <a:gd name="T67" fmla="*/ 10 h 315"/>
                  <a:gd name="T68" fmla="*/ 60 w 354"/>
                  <a:gd name="T69" fmla="*/ 7 h 315"/>
                  <a:gd name="T70" fmla="*/ 52 w 354"/>
                  <a:gd name="T71" fmla="*/ 5 h 315"/>
                  <a:gd name="T72" fmla="*/ 43 w 354"/>
                  <a:gd name="T73" fmla="*/ 3 h 315"/>
                  <a:gd name="T74" fmla="*/ 35 w 354"/>
                  <a:gd name="T75" fmla="*/ 2 h 315"/>
                  <a:gd name="T76" fmla="*/ 28 w 354"/>
                  <a:gd name="T77" fmla="*/ 1 h 315"/>
                  <a:gd name="T78" fmla="*/ 20 w 354"/>
                  <a:gd name="T79" fmla="*/ 0 h 315"/>
                  <a:gd name="T80" fmla="*/ 14 w 354"/>
                  <a:gd name="T81" fmla="*/ 0 h 315"/>
                  <a:gd name="T82" fmla="*/ 9 w 354"/>
                  <a:gd name="T83" fmla="*/ 0 h 315"/>
                  <a:gd name="T84" fmla="*/ 5 w 354"/>
                  <a:gd name="T85" fmla="*/ 0 h 315"/>
                  <a:gd name="T86" fmla="*/ 2 w 354"/>
                  <a:gd name="T87" fmla="*/ 1 h 315"/>
                  <a:gd name="T88" fmla="*/ 0 w 354"/>
                  <a:gd name="T89" fmla="*/ 2 h 315"/>
                  <a:gd name="T90" fmla="*/ 5 w 354"/>
                  <a:gd name="T91" fmla="*/ 3 h 315"/>
                  <a:gd name="T92" fmla="*/ 10 w 354"/>
                  <a:gd name="T93" fmla="*/ 3 h 315"/>
                  <a:gd name="T94" fmla="*/ 16 w 354"/>
                  <a:gd name="T95" fmla="*/ 4 h 315"/>
                  <a:gd name="T96" fmla="*/ 22 w 354"/>
                  <a:gd name="T97" fmla="*/ 5 h 315"/>
                  <a:gd name="T98" fmla="*/ 28 w 354"/>
                  <a:gd name="T99" fmla="*/ 7 h 315"/>
                  <a:gd name="T100" fmla="*/ 34 w 354"/>
                  <a:gd name="T101" fmla="*/ 8 h 315"/>
                  <a:gd name="T102" fmla="*/ 41 w 354"/>
                  <a:gd name="T103" fmla="*/ 9 h 315"/>
                  <a:gd name="T104" fmla="*/ 48 w 354"/>
                  <a:gd name="T105" fmla="*/ 10 h 315"/>
                  <a:gd name="T106" fmla="*/ 54 w 354"/>
                  <a:gd name="T107" fmla="*/ 12 h 315"/>
                  <a:gd name="T108" fmla="*/ 61 w 354"/>
                  <a:gd name="T109" fmla="*/ 14 h 315"/>
                  <a:gd name="T110" fmla="*/ 68 w 354"/>
                  <a:gd name="T111" fmla="*/ 16 h 315"/>
                  <a:gd name="T112" fmla="*/ 74 w 354"/>
                  <a:gd name="T113" fmla="*/ 19 h 315"/>
                  <a:gd name="T114" fmla="*/ 80 w 354"/>
                  <a:gd name="T115" fmla="*/ 21 h 315"/>
                  <a:gd name="T116" fmla="*/ 87 w 354"/>
                  <a:gd name="T117" fmla="*/ 25 h 315"/>
                  <a:gd name="T118" fmla="*/ 93 w 354"/>
                  <a:gd name="T119" fmla="*/ 28 h 315"/>
                  <a:gd name="T120" fmla="*/ 98 w 354"/>
                  <a:gd name="T121" fmla="*/ 32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4"/>
                  <a:gd name="T184" fmla="*/ 0 h 315"/>
                  <a:gd name="T185" fmla="*/ 354 w 354"/>
                  <a:gd name="T186" fmla="*/ 315 h 31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79" name="Freeform 45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54 h 297"/>
                  <a:gd name="T2" fmla="*/ 0 w 143"/>
                  <a:gd name="T3" fmla="*/ 62 h 297"/>
                  <a:gd name="T4" fmla="*/ 2 w 143"/>
                  <a:gd name="T5" fmla="*/ 70 h 297"/>
                  <a:gd name="T6" fmla="*/ 5 w 143"/>
                  <a:gd name="T7" fmla="*/ 77 h 297"/>
                  <a:gd name="T8" fmla="*/ 10 w 143"/>
                  <a:gd name="T9" fmla="*/ 83 h 297"/>
                  <a:gd name="T10" fmla="*/ 16 w 143"/>
                  <a:gd name="T11" fmla="*/ 89 h 297"/>
                  <a:gd name="T12" fmla="*/ 23 w 143"/>
                  <a:gd name="T13" fmla="*/ 93 h 297"/>
                  <a:gd name="T14" fmla="*/ 30 w 143"/>
                  <a:gd name="T15" fmla="*/ 97 h 297"/>
                  <a:gd name="T16" fmla="*/ 38 w 143"/>
                  <a:gd name="T17" fmla="*/ 99 h 297"/>
                  <a:gd name="T18" fmla="*/ 40 w 143"/>
                  <a:gd name="T19" fmla="*/ 99 h 297"/>
                  <a:gd name="T20" fmla="*/ 43 w 143"/>
                  <a:gd name="T21" fmla="*/ 98 h 297"/>
                  <a:gd name="T22" fmla="*/ 45 w 143"/>
                  <a:gd name="T23" fmla="*/ 97 h 297"/>
                  <a:gd name="T24" fmla="*/ 46 w 143"/>
                  <a:gd name="T25" fmla="*/ 95 h 297"/>
                  <a:gd name="T26" fmla="*/ 46 w 143"/>
                  <a:gd name="T27" fmla="*/ 92 h 297"/>
                  <a:gd name="T28" fmla="*/ 45 w 143"/>
                  <a:gd name="T29" fmla="*/ 90 h 297"/>
                  <a:gd name="T30" fmla="*/ 44 w 143"/>
                  <a:gd name="T31" fmla="*/ 88 h 297"/>
                  <a:gd name="T32" fmla="*/ 41 w 143"/>
                  <a:gd name="T33" fmla="*/ 87 h 297"/>
                  <a:gd name="T34" fmla="*/ 34 w 143"/>
                  <a:gd name="T35" fmla="*/ 84 h 297"/>
                  <a:gd name="T36" fmla="*/ 26 w 143"/>
                  <a:gd name="T37" fmla="*/ 80 h 297"/>
                  <a:gd name="T38" fmla="*/ 21 w 143"/>
                  <a:gd name="T39" fmla="*/ 75 h 297"/>
                  <a:gd name="T40" fmla="*/ 16 w 143"/>
                  <a:gd name="T41" fmla="*/ 69 h 297"/>
                  <a:gd name="T42" fmla="*/ 13 w 143"/>
                  <a:gd name="T43" fmla="*/ 62 h 297"/>
                  <a:gd name="T44" fmla="*/ 12 w 143"/>
                  <a:gd name="T45" fmla="*/ 55 h 297"/>
                  <a:gd name="T46" fmla="*/ 12 w 143"/>
                  <a:gd name="T47" fmla="*/ 46 h 297"/>
                  <a:gd name="T48" fmla="*/ 14 w 143"/>
                  <a:gd name="T49" fmla="*/ 38 h 297"/>
                  <a:gd name="T50" fmla="*/ 17 w 143"/>
                  <a:gd name="T51" fmla="*/ 32 h 297"/>
                  <a:gd name="T52" fmla="*/ 21 w 143"/>
                  <a:gd name="T53" fmla="*/ 26 h 297"/>
                  <a:gd name="T54" fmla="*/ 25 w 143"/>
                  <a:gd name="T55" fmla="*/ 21 h 297"/>
                  <a:gd name="T56" fmla="*/ 30 w 143"/>
                  <a:gd name="T57" fmla="*/ 16 h 297"/>
                  <a:gd name="T58" fmla="*/ 35 w 143"/>
                  <a:gd name="T59" fmla="*/ 11 h 297"/>
                  <a:gd name="T60" fmla="*/ 39 w 143"/>
                  <a:gd name="T61" fmla="*/ 8 h 297"/>
                  <a:gd name="T62" fmla="*/ 44 w 143"/>
                  <a:gd name="T63" fmla="*/ 4 h 297"/>
                  <a:gd name="T64" fmla="*/ 47 w 143"/>
                  <a:gd name="T65" fmla="*/ 0 h 297"/>
                  <a:gd name="T66" fmla="*/ 44 w 143"/>
                  <a:gd name="T67" fmla="*/ 0 h 297"/>
                  <a:gd name="T68" fmla="*/ 38 w 143"/>
                  <a:gd name="T69" fmla="*/ 2 h 297"/>
                  <a:gd name="T70" fmla="*/ 31 w 143"/>
                  <a:gd name="T71" fmla="*/ 8 h 297"/>
                  <a:gd name="T72" fmla="*/ 23 w 143"/>
                  <a:gd name="T73" fmla="*/ 15 h 297"/>
                  <a:gd name="T74" fmla="*/ 15 w 143"/>
                  <a:gd name="T75" fmla="*/ 24 h 297"/>
                  <a:gd name="T76" fmla="*/ 8 w 143"/>
                  <a:gd name="T77" fmla="*/ 34 h 297"/>
                  <a:gd name="T78" fmla="*/ 3 w 143"/>
                  <a:gd name="T79" fmla="*/ 44 h 297"/>
                  <a:gd name="T80" fmla="*/ 0 w 143"/>
                  <a:gd name="T81" fmla="*/ 54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3"/>
                  <a:gd name="T124" fmla="*/ 0 h 297"/>
                  <a:gd name="T125" fmla="*/ 143 w 143"/>
                  <a:gd name="T126" fmla="*/ 297 h 29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0" name="Freeform 46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87 w 309"/>
                  <a:gd name="T1" fmla="*/ 52 h 388"/>
                  <a:gd name="T2" fmla="*/ 92 w 309"/>
                  <a:gd name="T3" fmla="*/ 60 h 388"/>
                  <a:gd name="T4" fmla="*/ 94 w 309"/>
                  <a:gd name="T5" fmla="*/ 68 h 388"/>
                  <a:gd name="T6" fmla="*/ 93 w 309"/>
                  <a:gd name="T7" fmla="*/ 78 h 388"/>
                  <a:gd name="T8" fmla="*/ 87 w 309"/>
                  <a:gd name="T9" fmla="*/ 87 h 388"/>
                  <a:gd name="T10" fmla="*/ 79 w 309"/>
                  <a:gd name="T11" fmla="*/ 95 h 388"/>
                  <a:gd name="T12" fmla="*/ 70 w 309"/>
                  <a:gd name="T13" fmla="*/ 102 h 388"/>
                  <a:gd name="T14" fmla="*/ 60 w 309"/>
                  <a:gd name="T15" fmla="*/ 110 h 388"/>
                  <a:gd name="T16" fmla="*/ 54 w 309"/>
                  <a:gd name="T17" fmla="*/ 116 h 388"/>
                  <a:gd name="T18" fmla="*/ 52 w 309"/>
                  <a:gd name="T19" fmla="*/ 119 h 388"/>
                  <a:gd name="T20" fmla="*/ 51 w 309"/>
                  <a:gd name="T21" fmla="*/ 123 h 388"/>
                  <a:gd name="T22" fmla="*/ 51 w 309"/>
                  <a:gd name="T23" fmla="*/ 127 h 388"/>
                  <a:gd name="T24" fmla="*/ 54 w 309"/>
                  <a:gd name="T25" fmla="*/ 129 h 388"/>
                  <a:gd name="T26" fmla="*/ 58 w 309"/>
                  <a:gd name="T27" fmla="*/ 129 h 388"/>
                  <a:gd name="T28" fmla="*/ 65 w 309"/>
                  <a:gd name="T29" fmla="*/ 122 h 388"/>
                  <a:gd name="T30" fmla="*/ 76 w 309"/>
                  <a:gd name="T31" fmla="*/ 112 h 388"/>
                  <a:gd name="T32" fmla="*/ 87 w 309"/>
                  <a:gd name="T33" fmla="*/ 102 h 388"/>
                  <a:gd name="T34" fmla="*/ 97 w 309"/>
                  <a:gd name="T35" fmla="*/ 91 h 388"/>
                  <a:gd name="T36" fmla="*/ 102 w 309"/>
                  <a:gd name="T37" fmla="*/ 78 h 388"/>
                  <a:gd name="T38" fmla="*/ 101 w 309"/>
                  <a:gd name="T39" fmla="*/ 64 h 388"/>
                  <a:gd name="T40" fmla="*/ 95 w 309"/>
                  <a:gd name="T41" fmla="*/ 50 h 388"/>
                  <a:gd name="T42" fmla="*/ 84 w 309"/>
                  <a:gd name="T43" fmla="*/ 39 h 388"/>
                  <a:gd name="T44" fmla="*/ 74 w 309"/>
                  <a:gd name="T45" fmla="*/ 31 h 388"/>
                  <a:gd name="T46" fmla="*/ 64 w 309"/>
                  <a:gd name="T47" fmla="*/ 25 h 388"/>
                  <a:gd name="T48" fmla="*/ 53 w 309"/>
                  <a:gd name="T49" fmla="*/ 18 h 388"/>
                  <a:gd name="T50" fmla="*/ 41 w 309"/>
                  <a:gd name="T51" fmla="*/ 12 h 388"/>
                  <a:gd name="T52" fmla="*/ 31 w 309"/>
                  <a:gd name="T53" fmla="*/ 7 h 388"/>
                  <a:gd name="T54" fmla="*/ 20 w 309"/>
                  <a:gd name="T55" fmla="*/ 3 h 388"/>
                  <a:gd name="T56" fmla="*/ 10 w 309"/>
                  <a:gd name="T57" fmla="*/ 1 h 388"/>
                  <a:gd name="T58" fmla="*/ 3 w 309"/>
                  <a:gd name="T59" fmla="*/ 1 h 388"/>
                  <a:gd name="T60" fmla="*/ 4 w 309"/>
                  <a:gd name="T61" fmla="*/ 2 h 388"/>
                  <a:gd name="T62" fmla="*/ 12 w 309"/>
                  <a:gd name="T63" fmla="*/ 6 h 388"/>
                  <a:gd name="T64" fmla="*/ 22 w 309"/>
                  <a:gd name="T65" fmla="*/ 10 h 388"/>
                  <a:gd name="T66" fmla="*/ 33 w 309"/>
                  <a:gd name="T67" fmla="*/ 15 h 388"/>
                  <a:gd name="T68" fmla="*/ 45 w 309"/>
                  <a:gd name="T69" fmla="*/ 22 h 388"/>
                  <a:gd name="T70" fmla="*/ 56 w 309"/>
                  <a:gd name="T71" fmla="*/ 29 h 388"/>
                  <a:gd name="T72" fmla="*/ 68 w 309"/>
                  <a:gd name="T73" fmla="*/ 36 h 388"/>
                  <a:gd name="T74" fmla="*/ 78 w 309"/>
                  <a:gd name="T75" fmla="*/ 44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9"/>
                  <a:gd name="T115" fmla="*/ 0 h 388"/>
                  <a:gd name="T116" fmla="*/ 309 w 309"/>
                  <a:gd name="T117" fmla="*/ 388 h 38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1" name="Freeform 47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110 w 406"/>
                  <a:gd name="T1" fmla="*/ 22 h 292"/>
                  <a:gd name="T2" fmla="*/ 117 w 406"/>
                  <a:gd name="T3" fmla="*/ 41 h 292"/>
                  <a:gd name="T4" fmla="*/ 124 w 406"/>
                  <a:gd name="T5" fmla="*/ 60 h 292"/>
                  <a:gd name="T6" fmla="*/ 131 w 406"/>
                  <a:gd name="T7" fmla="*/ 79 h 292"/>
                  <a:gd name="T8" fmla="*/ 135 w 406"/>
                  <a:gd name="T9" fmla="*/ 91 h 292"/>
                  <a:gd name="T10" fmla="*/ 134 w 406"/>
                  <a:gd name="T11" fmla="*/ 94 h 292"/>
                  <a:gd name="T12" fmla="*/ 131 w 406"/>
                  <a:gd name="T13" fmla="*/ 97 h 292"/>
                  <a:gd name="T14" fmla="*/ 127 w 406"/>
                  <a:gd name="T15" fmla="*/ 96 h 292"/>
                  <a:gd name="T16" fmla="*/ 121 w 406"/>
                  <a:gd name="T17" fmla="*/ 83 h 292"/>
                  <a:gd name="T18" fmla="*/ 113 w 406"/>
                  <a:gd name="T19" fmla="*/ 57 h 292"/>
                  <a:gd name="T20" fmla="*/ 106 w 406"/>
                  <a:gd name="T21" fmla="*/ 31 h 292"/>
                  <a:gd name="T22" fmla="*/ 102 w 406"/>
                  <a:gd name="T23" fmla="*/ 14 h 292"/>
                  <a:gd name="T24" fmla="*/ 94 w 406"/>
                  <a:gd name="T25" fmla="*/ 11 h 292"/>
                  <a:gd name="T26" fmla="*/ 79 w 406"/>
                  <a:gd name="T27" fmla="*/ 13 h 292"/>
                  <a:gd name="T28" fmla="*/ 64 w 406"/>
                  <a:gd name="T29" fmla="*/ 17 h 292"/>
                  <a:gd name="T30" fmla="*/ 49 w 406"/>
                  <a:gd name="T31" fmla="*/ 22 h 292"/>
                  <a:gd name="T32" fmla="*/ 35 w 406"/>
                  <a:gd name="T33" fmla="*/ 28 h 292"/>
                  <a:gd name="T34" fmla="*/ 22 w 406"/>
                  <a:gd name="T35" fmla="*/ 34 h 292"/>
                  <a:gd name="T36" fmla="*/ 11 w 406"/>
                  <a:gd name="T37" fmla="*/ 41 h 292"/>
                  <a:gd name="T38" fmla="*/ 3 w 406"/>
                  <a:gd name="T39" fmla="*/ 47 h 292"/>
                  <a:gd name="T40" fmla="*/ 0 w 406"/>
                  <a:gd name="T41" fmla="*/ 44 h 292"/>
                  <a:gd name="T42" fmla="*/ 6 w 406"/>
                  <a:gd name="T43" fmla="*/ 34 h 292"/>
                  <a:gd name="T44" fmla="*/ 18 w 406"/>
                  <a:gd name="T45" fmla="*/ 23 h 292"/>
                  <a:gd name="T46" fmla="*/ 31 w 406"/>
                  <a:gd name="T47" fmla="*/ 14 h 292"/>
                  <a:gd name="T48" fmla="*/ 46 w 406"/>
                  <a:gd name="T49" fmla="*/ 8 h 292"/>
                  <a:gd name="T50" fmla="*/ 70 w 406"/>
                  <a:gd name="T51" fmla="*/ 3 h 292"/>
                  <a:gd name="T52" fmla="*/ 92 w 406"/>
                  <a:gd name="T53" fmla="*/ 0 h 292"/>
                  <a:gd name="T54" fmla="*/ 107 w 406"/>
                  <a:gd name="T55" fmla="*/ 0 h 292"/>
                  <a:gd name="T56" fmla="*/ 112 w 406"/>
                  <a:gd name="T57" fmla="*/ 0 h 292"/>
                  <a:gd name="T58" fmla="*/ 115 w 406"/>
                  <a:gd name="T59" fmla="*/ 4 h 292"/>
                  <a:gd name="T60" fmla="*/ 115 w 406"/>
                  <a:gd name="T61" fmla="*/ 9 h 292"/>
                  <a:gd name="T62" fmla="*/ 111 w 406"/>
                  <a:gd name="T63" fmla="*/ 11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06"/>
                  <a:gd name="T97" fmla="*/ 0 h 292"/>
                  <a:gd name="T98" fmla="*/ 406 w 406"/>
                  <a:gd name="T99" fmla="*/ 292 h 29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2" name="Freeform 48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27 w 439"/>
                  <a:gd name="T1" fmla="*/ 96 h 960"/>
                  <a:gd name="T2" fmla="*/ 29 w 439"/>
                  <a:gd name="T3" fmla="*/ 105 h 960"/>
                  <a:gd name="T4" fmla="*/ 36 w 439"/>
                  <a:gd name="T5" fmla="*/ 125 h 960"/>
                  <a:gd name="T6" fmla="*/ 47 w 439"/>
                  <a:gd name="T7" fmla="*/ 152 h 960"/>
                  <a:gd name="T8" fmla="*/ 58 w 439"/>
                  <a:gd name="T9" fmla="*/ 178 h 960"/>
                  <a:gd name="T10" fmla="*/ 70 w 439"/>
                  <a:gd name="T11" fmla="*/ 204 h 960"/>
                  <a:gd name="T12" fmla="*/ 82 w 439"/>
                  <a:gd name="T13" fmla="*/ 229 h 960"/>
                  <a:gd name="T14" fmla="*/ 95 w 439"/>
                  <a:gd name="T15" fmla="*/ 254 h 960"/>
                  <a:gd name="T16" fmla="*/ 108 w 439"/>
                  <a:gd name="T17" fmla="*/ 280 h 960"/>
                  <a:gd name="T18" fmla="*/ 122 w 439"/>
                  <a:gd name="T19" fmla="*/ 305 h 960"/>
                  <a:gd name="T20" fmla="*/ 130 w 439"/>
                  <a:gd name="T21" fmla="*/ 319 h 960"/>
                  <a:gd name="T22" fmla="*/ 134 w 439"/>
                  <a:gd name="T23" fmla="*/ 320 h 960"/>
                  <a:gd name="T24" fmla="*/ 140 w 439"/>
                  <a:gd name="T25" fmla="*/ 320 h 960"/>
                  <a:gd name="T26" fmla="*/ 144 w 439"/>
                  <a:gd name="T27" fmla="*/ 319 h 960"/>
                  <a:gd name="T28" fmla="*/ 146 w 439"/>
                  <a:gd name="T29" fmla="*/ 316 h 960"/>
                  <a:gd name="T30" fmla="*/ 145 w 439"/>
                  <a:gd name="T31" fmla="*/ 312 h 960"/>
                  <a:gd name="T32" fmla="*/ 138 w 439"/>
                  <a:gd name="T33" fmla="*/ 301 h 960"/>
                  <a:gd name="T34" fmla="*/ 126 w 439"/>
                  <a:gd name="T35" fmla="*/ 281 h 960"/>
                  <a:gd name="T36" fmla="*/ 116 w 439"/>
                  <a:gd name="T37" fmla="*/ 261 h 960"/>
                  <a:gd name="T38" fmla="*/ 104 w 439"/>
                  <a:gd name="T39" fmla="*/ 241 h 960"/>
                  <a:gd name="T40" fmla="*/ 89 w 439"/>
                  <a:gd name="T41" fmla="*/ 213 h 960"/>
                  <a:gd name="T42" fmla="*/ 72 w 439"/>
                  <a:gd name="T43" fmla="*/ 177 h 960"/>
                  <a:gd name="T44" fmla="*/ 56 w 439"/>
                  <a:gd name="T45" fmla="*/ 141 h 960"/>
                  <a:gd name="T46" fmla="*/ 43 w 439"/>
                  <a:gd name="T47" fmla="*/ 104 h 960"/>
                  <a:gd name="T48" fmla="*/ 30 w 439"/>
                  <a:gd name="T49" fmla="*/ 73 h 960"/>
                  <a:gd name="T50" fmla="*/ 20 w 439"/>
                  <a:gd name="T51" fmla="*/ 46 h 960"/>
                  <a:gd name="T52" fmla="*/ 12 w 439"/>
                  <a:gd name="T53" fmla="*/ 21 h 960"/>
                  <a:gd name="T54" fmla="*/ 5 w 439"/>
                  <a:gd name="T55" fmla="*/ 3 h 960"/>
                  <a:gd name="T56" fmla="*/ 2 w 439"/>
                  <a:gd name="T57" fmla="*/ 0 h 960"/>
                  <a:gd name="T58" fmla="*/ 0 w 439"/>
                  <a:gd name="T59" fmla="*/ 3 h 960"/>
                  <a:gd name="T60" fmla="*/ 2 w 439"/>
                  <a:gd name="T61" fmla="*/ 16 h 960"/>
                  <a:gd name="T62" fmla="*/ 5 w 439"/>
                  <a:gd name="T63" fmla="*/ 38 h 960"/>
                  <a:gd name="T64" fmla="*/ 11 w 439"/>
                  <a:gd name="T65" fmla="*/ 60 h 960"/>
                  <a:gd name="T66" fmla="*/ 19 w 439"/>
                  <a:gd name="T67" fmla="*/ 80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39"/>
                  <a:gd name="T103" fmla="*/ 0 h 960"/>
                  <a:gd name="T104" fmla="*/ 439 w 439"/>
                  <a:gd name="T105" fmla="*/ 960 h 9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3" name="Freeform 49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1 w 382"/>
                  <a:gd name="T1" fmla="*/ 61 h 198"/>
                  <a:gd name="T2" fmla="*/ 0 w 382"/>
                  <a:gd name="T3" fmla="*/ 62 h 198"/>
                  <a:gd name="T4" fmla="*/ 0 w 382"/>
                  <a:gd name="T5" fmla="*/ 64 h 198"/>
                  <a:gd name="T6" fmla="*/ 1 w 382"/>
                  <a:gd name="T7" fmla="*/ 65 h 198"/>
                  <a:gd name="T8" fmla="*/ 2 w 382"/>
                  <a:gd name="T9" fmla="*/ 66 h 198"/>
                  <a:gd name="T10" fmla="*/ 10 w 382"/>
                  <a:gd name="T11" fmla="*/ 62 h 198"/>
                  <a:gd name="T12" fmla="*/ 17 w 382"/>
                  <a:gd name="T13" fmla="*/ 59 h 198"/>
                  <a:gd name="T14" fmla="*/ 25 w 382"/>
                  <a:gd name="T15" fmla="*/ 55 h 198"/>
                  <a:gd name="T16" fmla="*/ 33 w 382"/>
                  <a:gd name="T17" fmla="*/ 52 h 198"/>
                  <a:gd name="T18" fmla="*/ 42 w 382"/>
                  <a:gd name="T19" fmla="*/ 49 h 198"/>
                  <a:gd name="T20" fmla="*/ 49 w 382"/>
                  <a:gd name="T21" fmla="*/ 46 h 198"/>
                  <a:gd name="T22" fmla="*/ 57 w 382"/>
                  <a:gd name="T23" fmla="*/ 43 h 198"/>
                  <a:gd name="T24" fmla="*/ 65 w 382"/>
                  <a:gd name="T25" fmla="*/ 40 h 198"/>
                  <a:gd name="T26" fmla="*/ 73 w 382"/>
                  <a:gd name="T27" fmla="*/ 36 h 198"/>
                  <a:gd name="T28" fmla="*/ 81 w 382"/>
                  <a:gd name="T29" fmla="*/ 33 h 198"/>
                  <a:gd name="T30" fmla="*/ 89 w 382"/>
                  <a:gd name="T31" fmla="*/ 30 h 198"/>
                  <a:gd name="T32" fmla="*/ 96 w 382"/>
                  <a:gd name="T33" fmla="*/ 26 h 198"/>
                  <a:gd name="T34" fmla="*/ 104 w 382"/>
                  <a:gd name="T35" fmla="*/ 22 h 198"/>
                  <a:gd name="T36" fmla="*/ 111 w 382"/>
                  <a:gd name="T37" fmla="*/ 18 h 198"/>
                  <a:gd name="T38" fmla="*/ 119 w 382"/>
                  <a:gd name="T39" fmla="*/ 14 h 198"/>
                  <a:gd name="T40" fmla="*/ 126 w 382"/>
                  <a:gd name="T41" fmla="*/ 9 h 198"/>
                  <a:gd name="T42" fmla="*/ 128 w 382"/>
                  <a:gd name="T43" fmla="*/ 8 h 198"/>
                  <a:gd name="T44" fmla="*/ 128 w 382"/>
                  <a:gd name="T45" fmla="*/ 6 h 198"/>
                  <a:gd name="T46" fmla="*/ 128 w 382"/>
                  <a:gd name="T47" fmla="*/ 4 h 198"/>
                  <a:gd name="T48" fmla="*/ 127 w 382"/>
                  <a:gd name="T49" fmla="*/ 2 h 198"/>
                  <a:gd name="T50" fmla="*/ 126 w 382"/>
                  <a:gd name="T51" fmla="*/ 1 h 198"/>
                  <a:gd name="T52" fmla="*/ 124 w 382"/>
                  <a:gd name="T53" fmla="*/ 0 h 198"/>
                  <a:gd name="T54" fmla="*/ 122 w 382"/>
                  <a:gd name="T55" fmla="*/ 0 h 198"/>
                  <a:gd name="T56" fmla="*/ 120 w 382"/>
                  <a:gd name="T57" fmla="*/ 1 h 198"/>
                  <a:gd name="T58" fmla="*/ 112 w 382"/>
                  <a:gd name="T59" fmla="*/ 5 h 198"/>
                  <a:gd name="T60" fmla="*/ 104 w 382"/>
                  <a:gd name="T61" fmla="*/ 9 h 198"/>
                  <a:gd name="T62" fmla="*/ 94 w 382"/>
                  <a:gd name="T63" fmla="*/ 14 h 198"/>
                  <a:gd name="T64" fmla="*/ 85 w 382"/>
                  <a:gd name="T65" fmla="*/ 19 h 198"/>
                  <a:gd name="T66" fmla="*/ 75 w 382"/>
                  <a:gd name="T67" fmla="*/ 23 h 198"/>
                  <a:gd name="T68" fmla="*/ 65 w 382"/>
                  <a:gd name="T69" fmla="*/ 28 h 198"/>
                  <a:gd name="T70" fmla="*/ 55 w 382"/>
                  <a:gd name="T71" fmla="*/ 32 h 198"/>
                  <a:gd name="T72" fmla="*/ 45 w 382"/>
                  <a:gd name="T73" fmla="*/ 37 h 198"/>
                  <a:gd name="T74" fmla="*/ 36 w 382"/>
                  <a:gd name="T75" fmla="*/ 42 h 198"/>
                  <a:gd name="T76" fmla="*/ 28 w 382"/>
                  <a:gd name="T77" fmla="*/ 45 h 198"/>
                  <a:gd name="T78" fmla="*/ 20 w 382"/>
                  <a:gd name="T79" fmla="*/ 49 h 198"/>
                  <a:gd name="T80" fmla="*/ 13 w 382"/>
                  <a:gd name="T81" fmla="*/ 53 h 198"/>
                  <a:gd name="T82" fmla="*/ 8 w 382"/>
                  <a:gd name="T83" fmla="*/ 55 h 198"/>
                  <a:gd name="T84" fmla="*/ 4 w 382"/>
                  <a:gd name="T85" fmla="*/ 58 h 198"/>
                  <a:gd name="T86" fmla="*/ 2 w 382"/>
                  <a:gd name="T87" fmla="*/ 60 h 198"/>
                  <a:gd name="T88" fmla="*/ 1 w 382"/>
                  <a:gd name="T89" fmla="*/ 61 h 198"/>
                  <a:gd name="T90" fmla="*/ 1 w 382"/>
                  <a:gd name="T91" fmla="*/ 61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82"/>
                  <a:gd name="T139" fmla="*/ 0 h 198"/>
                  <a:gd name="T140" fmla="*/ 382 w 382"/>
                  <a:gd name="T141" fmla="*/ 198 h 19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4" name="Freeform 50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39 w 229"/>
                  <a:gd name="T1" fmla="*/ 1 h 240"/>
                  <a:gd name="T2" fmla="*/ 35 w 229"/>
                  <a:gd name="T3" fmla="*/ 0 h 240"/>
                  <a:gd name="T4" fmla="*/ 31 w 229"/>
                  <a:gd name="T5" fmla="*/ 0 h 240"/>
                  <a:gd name="T6" fmla="*/ 25 w 229"/>
                  <a:gd name="T7" fmla="*/ 0 h 240"/>
                  <a:gd name="T8" fmla="*/ 19 w 229"/>
                  <a:gd name="T9" fmla="*/ 1 h 240"/>
                  <a:gd name="T10" fmla="*/ 14 w 229"/>
                  <a:gd name="T11" fmla="*/ 4 h 240"/>
                  <a:gd name="T12" fmla="*/ 6 w 229"/>
                  <a:gd name="T13" fmla="*/ 11 h 240"/>
                  <a:gd name="T14" fmla="*/ 0 w 229"/>
                  <a:gd name="T15" fmla="*/ 25 h 240"/>
                  <a:gd name="T16" fmla="*/ 1 w 229"/>
                  <a:gd name="T17" fmla="*/ 40 h 240"/>
                  <a:gd name="T18" fmla="*/ 5 w 229"/>
                  <a:gd name="T19" fmla="*/ 56 h 240"/>
                  <a:gd name="T20" fmla="*/ 12 w 229"/>
                  <a:gd name="T21" fmla="*/ 67 h 240"/>
                  <a:gd name="T22" fmla="*/ 19 w 229"/>
                  <a:gd name="T23" fmla="*/ 74 h 240"/>
                  <a:gd name="T24" fmla="*/ 28 w 229"/>
                  <a:gd name="T25" fmla="*/ 79 h 240"/>
                  <a:gd name="T26" fmla="*/ 38 w 229"/>
                  <a:gd name="T27" fmla="*/ 80 h 240"/>
                  <a:gd name="T28" fmla="*/ 51 w 229"/>
                  <a:gd name="T29" fmla="*/ 76 h 240"/>
                  <a:gd name="T30" fmla="*/ 64 w 229"/>
                  <a:gd name="T31" fmla="*/ 68 h 240"/>
                  <a:gd name="T32" fmla="*/ 72 w 229"/>
                  <a:gd name="T33" fmla="*/ 57 h 240"/>
                  <a:gd name="T34" fmla="*/ 76 w 229"/>
                  <a:gd name="T35" fmla="*/ 44 h 240"/>
                  <a:gd name="T36" fmla="*/ 74 w 229"/>
                  <a:gd name="T37" fmla="*/ 34 h 240"/>
                  <a:gd name="T38" fmla="*/ 71 w 229"/>
                  <a:gd name="T39" fmla="*/ 32 h 240"/>
                  <a:gd name="T40" fmla="*/ 68 w 229"/>
                  <a:gd name="T41" fmla="*/ 32 h 240"/>
                  <a:gd name="T42" fmla="*/ 65 w 229"/>
                  <a:gd name="T43" fmla="*/ 35 h 240"/>
                  <a:gd name="T44" fmla="*/ 64 w 229"/>
                  <a:gd name="T45" fmla="*/ 42 h 240"/>
                  <a:gd name="T46" fmla="*/ 61 w 229"/>
                  <a:gd name="T47" fmla="*/ 53 h 240"/>
                  <a:gd name="T48" fmla="*/ 54 w 229"/>
                  <a:gd name="T49" fmla="*/ 60 h 240"/>
                  <a:gd name="T50" fmla="*/ 44 w 229"/>
                  <a:gd name="T51" fmla="*/ 65 h 240"/>
                  <a:gd name="T52" fmla="*/ 31 w 229"/>
                  <a:gd name="T53" fmla="*/ 66 h 240"/>
                  <a:gd name="T54" fmla="*/ 21 w 229"/>
                  <a:gd name="T55" fmla="*/ 59 h 240"/>
                  <a:gd name="T56" fmla="*/ 16 w 229"/>
                  <a:gd name="T57" fmla="*/ 47 h 240"/>
                  <a:gd name="T58" fmla="*/ 12 w 229"/>
                  <a:gd name="T59" fmla="*/ 34 h 240"/>
                  <a:gd name="T60" fmla="*/ 12 w 229"/>
                  <a:gd name="T61" fmla="*/ 24 h 240"/>
                  <a:gd name="T62" fmla="*/ 14 w 229"/>
                  <a:gd name="T63" fmla="*/ 17 h 240"/>
                  <a:gd name="T64" fmla="*/ 18 w 229"/>
                  <a:gd name="T65" fmla="*/ 11 h 240"/>
                  <a:gd name="T66" fmla="*/ 26 w 229"/>
                  <a:gd name="T67" fmla="*/ 7 h 240"/>
                  <a:gd name="T68" fmla="*/ 32 w 229"/>
                  <a:gd name="T69" fmla="*/ 6 h 240"/>
                  <a:gd name="T70" fmla="*/ 40 w 229"/>
                  <a:gd name="T71" fmla="*/ 6 h 240"/>
                  <a:gd name="T72" fmla="*/ 46 w 229"/>
                  <a:gd name="T73" fmla="*/ 7 h 240"/>
                  <a:gd name="T74" fmla="*/ 44 w 229"/>
                  <a:gd name="T75" fmla="*/ 3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9"/>
                  <a:gd name="T115" fmla="*/ 0 h 240"/>
                  <a:gd name="T116" fmla="*/ 229 w 229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5" name="Freeform 51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20 w 281"/>
                  <a:gd name="T1" fmla="*/ 3 h 270"/>
                  <a:gd name="T2" fmla="*/ 11 w 281"/>
                  <a:gd name="T3" fmla="*/ 9 h 270"/>
                  <a:gd name="T4" fmla="*/ 5 w 281"/>
                  <a:gd name="T5" fmla="*/ 17 h 270"/>
                  <a:gd name="T6" fmla="*/ 1 w 281"/>
                  <a:gd name="T7" fmla="*/ 27 h 270"/>
                  <a:gd name="T8" fmla="*/ 0 w 281"/>
                  <a:gd name="T9" fmla="*/ 38 h 270"/>
                  <a:gd name="T10" fmla="*/ 2 w 281"/>
                  <a:gd name="T11" fmla="*/ 48 h 270"/>
                  <a:gd name="T12" fmla="*/ 6 w 281"/>
                  <a:gd name="T13" fmla="*/ 59 h 270"/>
                  <a:gd name="T14" fmla="*/ 12 w 281"/>
                  <a:gd name="T15" fmla="*/ 68 h 270"/>
                  <a:gd name="T16" fmla="*/ 22 w 281"/>
                  <a:gd name="T17" fmla="*/ 77 h 270"/>
                  <a:gd name="T18" fmla="*/ 34 w 281"/>
                  <a:gd name="T19" fmla="*/ 86 h 270"/>
                  <a:gd name="T20" fmla="*/ 47 w 281"/>
                  <a:gd name="T21" fmla="*/ 90 h 270"/>
                  <a:gd name="T22" fmla="*/ 61 w 281"/>
                  <a:gd name="T23" fmla="*/ 88 h 270"/>
                  <a:gd name="T24" fmla="*/ 72 w 281"/>
                  <a:gd name="T25" fmla="*/ 80 h 270"/>
                  <a:gd name="T26" fmla="*/ 81 w 281"/>
                  <a:gd name="T27" fmla="*/ 72 h 270"/>
                  <a:gd name="T28" fmla="*/ 87 w 281"/>
                  <a:gd name="T29" fmla="*/ 63 h 270"/>
                  <a:gd name="T30" fmla="*/ 91 w 281"/>
                  <a:gd name="T31" fmla="*/ 53 h 270"/>
                  <a:gd name="T32" fmla="*/ 93 w 281"/>
                  <a:gd name="T33" fmla="*/ 45 h 270"/>
                  <a:gd name="T34" fmla="*/ 91 w 281"/>
                  <a:gd name="T35" fmla="*/ 40 h 270"/>
                  <a:gd name="T36" fmla="*/ 86 w 281"/>
                  <a:gd name="T37" fmla="*/ 39 h 270"/>
                  <a:gd name="T38" fmla="*/ 81 w 281"/>
                  <a:gd name="T39" fmla="*/ 41 h 270"/>
                  <a:gd name="T40" fmla="*/ 80 w 281"/>
                  <a:gd name="T41" fmla="*/ 44 h 270"/>
                  <a:gd name="T42" fmla="*/ 78 w 281"/>
                  <a:gd name="T43" fmla="*/ 50 h 270"/>
                  <a:gd name="T44" fmla="*/ 73 w 281"/>
                  <a:gd name="T45" fmla="*/ 60 h 270"/>
                  <a:gd name="T46" fmla="*/ 66 w 281"/>
                  <a:gd name="T47" fmla="*/ 68 h 270"/>
                  <a:gd name="T48" fmla="*/ 51 w 281"/>
                  <a:gd name="T49" fmla="*/ 71 h 270"/>
                  <a:gd name="T50" fmla="*/ 33 w 281"/>
                  <a:gd name="T51" fmla="*/ 66 h 270"/>
                  <a:gd name="T52" fmla="*/ 20 w 281"/>
                  <a:gd name="T53" fmla="*/ 54 h 270"/>
                  <a:gd name="T54" fmla="*/ 13 w 281"/>
                  <a:gd name="T55" fmla="*/ 38 h 270"/>
                  <a:gd name="T56" fmla="*/ 15 w 281"/>
                  <a:gd name="T57" fmla="*/ 25 h 270"/>
                  <a:gd name="T58" fmla="*/ 20 w 281"/>
                  <a:gd name="T59" fmla="*/ 17 h 270"/>
                  <a:gd name="T60" fmla="*/ 26 w 281"/>
                  <a:gd name="T61" fmla="*/ 10 h 270"/>
                  <a:gd name="T62" fmla="*/ 34 w 281"/>
                  <a:gd name="T63" fmla="*/ 6 h 270"/>
                  <a:gd name="T64" fmla="*/ 36 w 281"/>
                  <a:gd name="T65" fmla="*/ 2 h 270"/>
                  <a:gd name="T66" fmla="*/ 29 w 281"/>
                  <a:gd name="T67" fmla="*/ 1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1"/>
                  <a:gd name="T103" fmla="*/ 0 h 270"/>
                  <a:gd name="T104" fmla="*/ 281 w 281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6" name="Freeform 52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2 h 13"/>
                  <a:gd name="T2" fmla="*/ 1 w 15"/>
                  <a:gd name="T3" fmla="*/ 3 h 13"/>
                  <a:gd name="T4" fmla="*/ 1 w 15"/>
                  <a:gd name="T5" fmla="*/ 3 h 13"/>
                  <a:gd name="T6" fmla="*/ 2 w 15"/>
                  <a:gd name="T7" fmla="*/ 4 h 13"/>
                  <a:gd name="T8" fmla="*/ 3 w 15"/>
                  <a:gd name="T9" fmla="*/ 4 h 13"/>
                  <a:gd name="T10" fmla="*/ 4 w 15"/>
                  <a:gd name="T11" fmla="*/ 4 h 13"/>
                  <a:gd name="T12" fmla="*/ 5 w 15"/>
                  <a:gd name="T13" fmla="*/ 3 h 13"/>
                  <a:gd name="T14" fmla="*/ 5 w 15"/>
                  <a:gd name="T15" fmla="*/ 3 h 13"/>
                  <a:gd name="T16" fmla="*/ 5 w 15"/>
                  <a:gd name="T17" fmla="*/ 2 h 13"/>
                  <a:gd name="T18" fmla="*/ 5 w 15"/>
                  <a:gd name="T19" fmla="*/ 1 h 13"/>
                  <a:gd name="T20" fmla="*/ 5 w 15"/>
                  <a:gd name="T21" fmla="*/ 0 h 13"/>
                  <a:gd name="T22" fmla="*/ 4 w 15"/>
                  <a:gd name="T23" fmla="*/ 0 h 13"/>
                  <a:gd name="T24" fmla="*/ 3 w 15"/>
                  <a:gd name="T25" fmla="*/ 0 h 13"/>
                  <a:gd name="T26" fmla="*/ 2 w 15"/>
                  <a:gd name="T27" fmla="*/ 0 h 13"/>
                  <a:gd name="T28" fmla="*/ 1 w 15"/>
                  <a:gd name="T29" fmla="*/ 0 h 13"/>
                  <a:gd name="T30" fmla="*/ 1 w 15"/>
                  <a:gd name="T31" fmla="*/ 1 h 13"/>
                  <a:gd name="T32" fmla="*/ 0 w 15"/>
                  <a:gd name="T33" fmla="*/ 2 h 13"/>
                  <a:gd name="T34" fmla="*/ 0 w 15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"/>
                  <a:gd name="T55" fmla="*/ 0 h 13"/>
                  <a:gd name="T56" fmla="*/ 15 w 15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7" name="Freeform 53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3 h 17"/>
                  <a:gd name="T2" fmla="*/ 0 w 17"/>
                  <a:gd name="T3" fmla="*/ 5 h 17"/>
                  <a:gd name="T4" fmla="*/ 1 w 17"/>
                  <a:gd name="T5" fmla="*/ 5 h 17"/>
                  <a:gd name="T6" fmla="*/ 2 w 17"/>
                  <a:gd name="T7" fmla="*/ 6 h 17"/>
                  <a:gd name="T8" fmla="*/ 3 w 17"/>
                  <a:gd name="T9" fmla="*/ 6 h 17"/>
                  <a:gd name="T10" fmla="*/ 5 w 17"/>
                  <a:gd name="T11" fmla="*/ 6 h 17"/>
                  <a:gd name="T12" fmla="*/ 6 w 17"/>
                  <a:gd name="T13" fmla="*/ 5 h 17"/>
                  <a:gd name="T14" fmla="*/ 6 w 17"/>
                  <a:gd name="T15" fmla="*/ 5 h 17"/>
                  <a:gd name="T16" fmla="*/ 6 w 17"/>
                  <a:gd name="T17" fmla="*/ 3 h 17"/>
                  <a:gd name="T18" fmla="*/ 6 w 17"/>
                  <a:gd name="T19" fmla="*/ 2 h 17"/>
                  <a:gd name="T20" fmla="*/ 6 w 17"/>
                  <a:gd name="T21" fmla="*/ 1 h 17"/>
                  <a:gd name="T22" fmla="*/ 5 w 17"/>
                  <a:gd name="T23" fmla="*/ 1 h 17"/>
                  <a:gd name="T24" fmla="*/ 3 w 17"/>
                  <a:gd name="T25" fmla="*/ 0 h 17"/>
                  <a:gd name="T26" fmla="*/ 2 w 17"/>
                  <a:gd name="T27" fmla="*/ 1 h 17"/>
                  <a:gd name="T28" fmla="*/ 1 w 17"/>
                  <a:gd name="T29" fmla="*/ 1 h 17"/>
                  <a:gd name="T30" fmla="*/ 0 w 17"/>
                  <a:gd name="T31" fmla="*/ 2 h 17"/>
                  <a:gd name="T32" fmla="*/ 0 w 17"/>
                  <a:gd name="T33" fmla="*/ 3 h 17"/>
                  <a:gd name="T34" fmla="*/ 0 w 17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"/>
                  <a:gd name="T55" fmla="*/ 0 h 17"/>
                  <a:gd name="T56" fmla="*/ 17 w 17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8" name="Freeform 54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2 h 9"/>
                  <a:gd name="T4" fmla="*/ 0 w 9"/>
                  <a:gd name="T5" fmla="*/ 2 h 9"/>
                  <a:gd name="T6" fmla="*/ 1 w 9"/>
                  <a:gd name="T7" fmla="*/ 3 h 9"/>
                  <a:gd name="T8" fmla="*/ 1 w 9"/>
                  <a:gd name="T9" fmla="*/ 3 h 9"/>
                  <a:gd name="T10" fmla="*/ 2 w 9"/>
                  <a:gd name="T11" fmla="*/ 3 h 9"/>
                  <a:gd name="T12" fmla="*/ 2 w 9"/>
                  <a:gd name="T13" fmla="*/ 2 h 9"/>
                  <a:gd name="T14" fmla="*/ 3 w 9"/>
                  <a:gd name="T15" fmla="*/ 2 h 9"/>
                  <a:gd name="T16" fmla="*/ 3 w 9"/>
                  <a:gd name="T17" fmla="*/ 1 h 9"/>
                  <a:gd name="T18" fmla="*/ 3 w 9"/>
                  <a:gd name="T19" fmla="*/ 1 h 9"/>
                  <a:gd name="T20" fmla="*/ 2 w 9"/>
                  <a:gd name="T21" fmla="*/ 1 h 9"/>
                  <a:gd name="T22" fmla="*/ 2 w 9"/>
                  <a:gd name="T23" fmla="*/ 0 h 9"/>
                  <a:gd name="T24" fmla="*/ 1 w 9"/>
                  <a:gd name="T25" fmla="*/ 0 h 9"/>
                  <a:gd name="T26" fmla="*/ 1 w 9"/>
                  <a:gd name="T27" fmla="*/ 0 h 9"/>
                  <a:gd name="T28" fmla="*/ 0 w 9"/>
                  <a:gd name="T29" fmla="*/ 1 h 9"/>
                  <a:gd name="T30" fmla="*/ 0 w 9"/>
                  <a:gd name="T31" fmla="*/ 1 h 9"/>
                  <a:gd name="T32" fmla="*/ 0 w 9"/>
                  <a:gd name="T33" fmla="*/ 1 h 9"/>
                  <a:gd name="T34" fmla="*/ 0 w 9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9"/>
                  <a:gd name="T56" fmla="*/ 9 w 9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55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2 h 8"/>
                  <a:gd name="T2" fmla="*/ 0 w 7"/>
                  <a:gd name="T3" fmla="*/ 2 h 8"/>
                  <a:gd name="T4" fmla="*/ 0 w 7"/>
                  <a:gd name="T5" fmla="*/ 3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3 h 8"/>
                  <a:gd name="T14" fmla="*/ 2 w 7"/>
                  <a:gd name="T15" fmla="*/ 2 h 8"/>
                  <a:gd name="T16" fmla="*/ 2 w 7"/>
                  <a:gd name="T17" fmla="*/ 2 h 8"/>
                  <a:gd name="T18" fmla="*/ 2 w 7"/>
                  <a:gd name="T19" fmla="*/ 1 h 8"/>
                  <a:gd name="T20" fmla="*/ 2 w 7"/>
                  <a:gd name="T21" fmla="*/ 0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0 h 8"/>
                  <a:gd name="T30" fmla="*/ 0 w 7"/>
                  <a:gd name="T31" fmla="*/ 1 h 8"/>
                  <a:gd name="T32" fmla="*/ 0 w 7"/>
                  <a:gd name="T33" fmla="*/ 2 h 8"/>
                  <a:gd name="T34" fmla="*/ 0 w 7"/>
                  <a:gd name="T35" fmla="*/ 2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56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1 h 9"/>
                  <a:gd name="T2" fmla="*/ 0 w 7"/>
                  <a:gd name="T3" fmla="*/ 2 h 9"/>
                  <a:gd name="T4" fmla="*/ 0 w 7"/>
                  <a:gd name="T5" fmla="*/ 2 h 9"/>
                  <a:gd name="T6" fmla="*/ 1 w 7"/>
                  <a:gd name="T7" fmla="*/ 3 h 9"/>
                  <a:gd name="T8" fmla="*/ 1 w 7"/>
                  <a:gd name="T9" fmla="*/ 3 h 9"/>
                  <a:gd name="T10" fmla="*/ 1 w 7"/>
                  <a:gd name="T11" fmla="*/ 3 h 9"/>
                  <a:gd name="T12" fmla="*/ 1 w 7"/>
                  <a:gd name="T13" fmla="*/ 2 h 9"/>
                  <a:gd name="T14" fmla="*/ 2 w 7"/>
                  <a:gd name="T15" fmla="*/ 2 h 9"/>
                  <a:gd name="T16" fmla="*/ 2 w 7"/>
                  <a:gd name="T17" fmla="*/ 1 h 9"/>
                  <a:gd name="T18" fmla="*/ 2 w 7"/>
                  <a:gd name="T19" fmla="*/ 1 h 9"/>
                  <a:gd name="T20" fmla="*/ 1 w 7"/>
                  <a:gd name="T21" fmla="*/ 0 h 9"/>
                  <a:gd name="T22" fmla="*/ 1 w 7"/>
                  <a:gd name="T23" fmla="*/ 0 h 9"/>
                  <a:gd name="T24" fmla="*/ 1 w 7"/>
                  <a:gd name="T25" fmla="*/ 0 h 9"/>
                  <a:gd name="T26" fmla="*/ 1 w 7"/>
                  <a:gd name="T27" fmla="*/ 0 h 9"/>
                  <a:gd name="T28" fmla="*/ 0 w 7"/>
                  <a:gd name="T29" fmla="*/ 0 h 9"/>
                  <a:gd name="T30" fmla="*/ 0 w 7"/>
                  <a:gd name="T31" fmla="*/ 1 h 9"/>
                  <a:gd name="T32" fmla="*/ 0 w 7"/>
                  <a:gd name="T33" fmla="*/ 1 h 9"/>
                  <a:gd name="T34" fmla="*/ 0 w 7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9"/>
                  <a:gd name="T56" fmla="*/ 7 w 7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57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3 h 20"/>
                  <a:gd name="T2" fmla="*/ 0 w 20"/>
                  <a:gd name="T3" fmla="*/ 4 h 20"/>
                  <a:gd name="T4" fmla="*/ 1 w 20"/>
                  <a:gd name="T5" fmla="*/ 5 h 20"/>
                  <a:gd name="T6" fmla="*/ 2 w 20"/>
                  <a:gd name="T7" fmla="*/ 6 h 20"/>
                  <a:gd name="T8" fmla="*/ 4 w 20"/>
                  <a:gd name="T9" fmla="*/ 6 h 20"/>
                  <a:gd name="T10" fmla="*/ 5 w 20"/>
                  <a:gd name="T11" fmla="*/ 6 h 20"/>
                  <a:gd name="T12" fmla="*/ 6 w 20"/>
                  <a:gd name="T13" fmla="*/ 5 h 20"/>
                  <a:gd name="T14" fmla="*/ 7 w 20"/>
                  <a:gd name="T15" fmla="*/ 4 h 20"/>
                  <a:gd name="T16" fmla="*/ 7 w 20"/>
                  <a:gd name="T17" fmla="*/ 3 h 20"/>
                  <a:gd name="T18" fmla="*/ 7 w 20"/>
                  <a:gd name="T19" fmla="*/ 2 h 20"/>
                  <a:gd name="T20" fmla="*/ 6 w 20"/>
                  <a:gd name="T21" fmla="*/ 1 h 20"/>
                  <a:gd name="T22" fmla="*/ 5 w 20"/>
                  <a:gd name="T23" fmla="*/ 0 h 20"/>
                  <a:gd name="T24" fmla="*/ 4 w 20"/>
                  <a:gd name="T25" fmla="*/ 0 h 20"/>
                  <a:gd name="T26" fmla="*/ 2 w 20"/>
                  <a:gd name="T27" fmla="*/ 0 h 20"/>
                  <a:gd name="T28" fmla="*/ 1 w 20"/>
                  <a:gd name="T29" fmla="*/ 1 h 20"/>
                  <a:gd name="T30" fmla="*/ 0 w 20"/>
                  <a:gd name="T31" fmla="*/ 2 h 20"/>
                  <a:gd name="T32" fmla="*/ 0 w 20"/>
                  <a:gd name="T33" fmla="*/ 3 h 20"/>
                  <a:gd name="T34" fmla="*/ 0 w 20"/>
                  <a:gd name="T35" fmla="*/ 3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"/>
                  <a:gd name="T55" fmla="*/ 0 h 20"/>
                  <a:gd name="T56" fmla="*/ 20 w 20"/>
                  <a:gd name="T57" fmla="*/ 20 h 2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58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2 h 13"/>
                  <a:gd name="T2" fmla="*/ 0 w 12"/>
                  <a:gd name="T3" fmla="*/ 3 h 13"/>
                  <a:gd name="T4" fmla="*/ 1 w 12"/>
                  <a:gd name="T5" fmla="*/ 4 h 13"/>
                  <a:gd name="T6" fmla="*/ 1 w 12"/>
                  <a:gd name="T7" fmla="*/ 4 h 13"/>
                  <a:gd name="T8" fmla="*/ 2 w 12"/>
                  <a:gd name="T9" fmla="*/ 4 h 13"/>
                  <a:gd name="T10" fmla="*/ 3 w 12"/>
                  <a:gd name="T11" fmla="*/ 4 h 13"/>
                  <a:gd name="T12" fmla="*/ 4 w 12"/>
                  <a:gd name="T13" fmla="*/ 4 h 13"/>
                  <a:gd name="T14" fmla="*/ 4 w 12"/>
                  <a:gd name="T15" fmla="*/ 3 h 13"/>
                  <a:gd name="T16" fmla="*/ 4 w 12"/>
                  <a:gd name="T17" fmla="*/ 2 h 13"/>
                  <a:gd name="T18" fmla="*/ 4 w 12"/>
                  <a:gd name="T19" fmla="*/ 2 h 13"/>
                  <a:gd name="T20" fmla="*/ 4 w 12"/>
                  <a:gd name="T21" fmla="*/ 1 h 13"/>
                  <a:gd name="T22" fmla="*/ 3 w 12"/>
                  <a:gd name="T23" fmla="*/ 0 h 13"/>
                  <a:gd name="T24" fmla="*/ 2 w 12"/>
                  <a:gd name="T25" fmla="*/ 0 h 13"/>
                  <a:gd name="T26" fmla="*/ 1 w 12"/>
                  <a:gd name="T27" fmla="*/ 0 h 13"/>
                  <a:gd name="T28" fmla="*/ 1 w 12"/>
                  <a:gd name="T29" fmla="*/ 1 h 13"/>
                  <a:gd name="T30" fmla="*/ 0 w 12"/>
                  <a:gd name="T31" fmla="*/ 2 h 13"/>
                  <a:gd name="T32" fmla="*/ 0 w 12"/>
                  <a:gd name="T33" fmla="*/ 2 h 13"/>
                  <a:gd name="T34" fmla="*/ 0 w 12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3"/>
                  <a:gd name="T56" fmla="*/ 12 w 12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59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2 h 12"/>
                  <a:gd name="T2" fmla="*/ 0 w 13"/>
                  <a:gd name="T3" fmla="*/ 3 h 12"/>
                  <a:gd name="T4" fmla="*/ 1 w 13"/>
                  <a:gd name="T5" fmla="*/ 3 h 12"/>
                  <a:gd name="T6" fmla="*/ 2 w 13"/>
                  <a:gd name="T7" fmla="*/ 4 h 12"/>
                  <a:gd name="T8" fmla="*/ 3 w 13"/>
                  <a:gd name="T9" fmla="*/ 4 h 12"/>
                  <a:gd name="T10" fmla="*/ 3 w 13"/>
                  <a:gd name="T11" fmla="*/ 4 h 12"/>
                  <a:gd name="T12" fmla="*/ 5 w 13"/>
                  <a:gd name="T13" fmla="*/ 3 h 12"/>
                  <a:gd name="T14" fmla="*/ 5 w 13"/>
                  <a:gd name="T15" fmla="*/ 3 h 12"/>
                  <a:gd name="T16" fmla="*/ 5 w 13"/>
                  <a:gd name="T17" fmla="*/ 2 h 12"/>
                  <a:gd name="T18" fmla="*/ 5 w 13"/>
                  <a:gd name="T19" fmla="*/ 1 h 12"/>
                  <a:gd name="T20" fmla="*/ 5 w 13"/>
                  <a:gd name="T21" fmla="*/ 1 h 12"/>
                  <a:gd name="T22" fmla="*/ 3 w 13"/>
                  <a:gd name="T23" fmla="*/ 0 h 12"/>
                  <a:gd name="T24" fmla="*/ 3 w 13"/>
                  <a:gd name="T25" fmla="*/ 0 h 12"/>
                  <a:gd name="T26" fmla="*/ 2 w 13"/>
                  <a:gd name="T27" fmla="*/ 0 h 12"/>
                  <a:gd name="T28" fmla="*/ 1 w 13"/>
                  <a:gd name="T29" fmla="*/ 1 h 12"/>
                  <a:gd name="T30" fmla="*/ 0 w 13"/>
                  <a:gd name="T31" fmla="*/ 1 h 12"/>
                  <a:gd name="T32" fmla="*/ 0 w 13"/>
                  <a:gd name="T33" fmla="*/ 2 h 12"/>
                  <a:gd name="T34" fmla="*/ 0 w 13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"/>
                  <a:gd name="T55" fmla="*/ 0 h 12"/>
                  <a:gd name="T56" fmla="*/ 13 w 13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60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1 h 7"/>
                  <a:gd name="T2" fmla="*/ 0 w 8"/>
                  <a:gd name="T3" fmla="*/ 1 h 7"/>
                  <a:gd name="T4" fmla="*/ 0 w 8"/>
                  <a:gd name="T5" fmla="*/ 2 h 7"/>
                  <a:gd name="T6" fmla="*/ 1 w 8"/>
                  <a:gd name="T7" fmla="*/ 2 h 7"/>
                  <a:gd name="T8" fmla="*/ 1 w 8"/>
                  <a:gd name="T9" fmla="*/ 2 h 7"/>
                  <a:gd name="T10" fmla="*/ 1 w 8"/>
                  <a:gd name="T11" fmla="*/ 2 h 7"/>
                  <a:gd name="T12" fmla="*/ 2 w 8"/>
                  <a:gd name="T13" fmla="*/ 2 h 7"/>
                  <a:gd name="T14" fmla="*/ 2 w 8"/>
                  <a:gd name="T15" fmla="*/ 1 h 7"/>
                  <a:gd name="T16" fmla="*/ 2 w 8"/>
                  <a:gd name="T17" fmla="*/ 1 h 7"/>
                  <a:gd name="T18" fmla="*/ 2 w 8"/>
                  <a:gd name="T19" fmla="*/ 0 h 7"/>
                  <a:gd name="T20" fmla="*/ 2 w 8"/>
                  <a:gd name="T21" fmla="*/ 0 h 7"/>
                  <a:gd name="T22" fmla="*/ 1 w 8"/>
                  <a:gd name="T23" fmla="*/ 0 h 7"/>
                  <a:gd name="T24" fmla="*/ 1 w 8"/>
                  <a:gd name="T25" fmla="*/ 0 h 7"/>
                  <a:gd name="T26" fmla="*/ 1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1 h 7"/>
                  <a:gd name="T34" fmla="*/ 0 w 8"/>
                  <a:gd name="T35" fmla="*/ 1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"/>
                  <a:gd name="T55" fmla="*/ 0 h 7"/>
                  <a:gd name="T56" fmla="*/ 8 w 8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61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1 h 8"/>
                  <a:gd name="T2" fmla="*/ 0 w 7"/>
                  <a:gd name="T3" fmla="*/ 2 h 8"/>
                  <a:gd name="T4" fmla="*/ 0 w 7"/>
                  <a:gd name="T5" fmla="*/ 2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2 h 8"/>
                  <a:gd name="T14" fmla="*/ 2 w 7"/>
                  <a:gd name="T15" fmla="*/ 2 h 8"/>
                  <a:gd name="T16" fmla="*/ 2 w 7"/>
                  <a:gd name="T17" fmla="*/ 1 h 8"/>
                  <a:gd name="T18" fmla="*/ 2 w 7"/>
                  <a:gd name="T19" fmla="*/ 1 h 8"/>
                  <a:gd name="T20" fmla="*/ 2 w 7"/>
                  <a:gd name="T21" fmla="*/ 1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1 h 8"/>
                  <a:gd name="T30" fmla="*/ 0 w 7"/>
                  <a:gd name="T31" fmla="*/ 1 h 8"/>
                  <a:gd name="T32" fmla="*/ 0 w 7"/>
                  <a:gd name="T33" fmla="*/ 1 h 8"/>
                  <a:gd name="T34" fmla="*/ 0 w 7"/>
                  <a:gd name="T35" fmla="*/ 1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62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3 h 17"/>
                  <a:gd name="T2" fmla="*/ 0 w 16"/>
                  <a:gd name="T3" fmla="*/ 4 h 17"/>
                  <a:gd name="T4" fmla="*/ 1 w 16"/>
                  <a:gd name="T5" fmla="*/ 5 h 17"/>
                  <a:gd name="T6" fmla="*/ 2 w 16"/>
                  <a:gd name="T7" fmla="*/ 6 h 17"/>
                  <a:gd name="T8" fmla="*/ 3 w 16"/>
                  <a:gd name="T9" fmla="*/ 6 h 17"/>
                  <a:gd name="T10" fmla="*/ 4 w 16"/>
                  <a:gd name="T11" fmla="*/ 6 h 17"/>
                  <a:gd name="T12" fmla="*/ 6 w 16"/>
                  <a:gd name="T13" fmla="*/ 5 h 17"/>
                  <a:gd name="T14" fmla="*/ 6 w 16"/>
                  <a:gd name="T15" fmla="*/ 4 h 17"/>
                  <a:gd name="T16" fmla="*/ 6 w 16"/>
                  <a:gd name="T17" fmla="*/ 3 h 17"/>
                  <a:gd name="T18" fmla="*/ 6 w 16"/>
                  <a:gd name="T19" fmla="*/ 2 h 17"/>
                  <a:gd name="T20" fmla="*/ 6 w 16"/>
                  <a:gd name="T21" fmla="*/ 1 h 17"/>
                  <a:gd name="T22" fmla="*/ 4 w 16"/>
                  <a:gd name="T23" fmla="*/ 0 h 17"/>
                  <a:gd name="T24" fmla="*/ 3 w 16"/>
                  <a:gd name="T25" fmla="*/ 0 h 17"/>
                  <a:gd name="T26" fmla="*/ 2 w 16"/>
                  <a:gd name="T27" fmla="*/ 0 h 17"/>
                  <a:gd name="T28" fmla="*/ 1 w 16"/>
                  <a:gd name="T29" fmla="*/ 1 h 17"/>
                  <a:gd name="T30" fmla="*/ 0 w 16"/>
                  <a:gd name="T31" fmla="*/ 2 h 17"/>
                  <a:gd name="T32" fmla="*/ 0 w 16"/>
                  <a:gd name="T33" fmla="*/ 3 h 17"/>
                  <a:gd name="T34" fmla="*/ 0 w 16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"/>
                  <a:gd name="T55" fmla="*/ 0 h 17"/>
                  <a:gd name="T56" fmla="*/ 16 w 16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63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2 h 12"/>
                  <a:gd name="T2" fmla="*/ 0 w 12"/>
                  <a:gd name="T3" fmla="*/ 2 h 12"/>
                  <a:gd name="T4" fmla="*/ 0 w 12"/>
                  <a:gd name="T5" fmla="*/ 3 h 12"/>
                  <a:gd name="T6" fmla="*/ 1 w 12"/>
                  <a:gd name="T7" fmla="*/ 4 h 12"/>
                  <a:gd name="T8" fmla="*/ 2 w 12"/>
                  <a:gd name="T9" fmla="*/ 4 h 12"/>
                  <a:gd name="T10" fmla="*/ 2 w 12"/>
                  <a:gd name="T11" fmla="*/ 4 h 12"/>
                  <a:gd name="T12" fmla="*/ 3 w 12"/>
                  <a:gd name="T13" fmla="*/ 3 h 12"/>
                  <a:gd name="T14" fmla="*/ 4 w 12"/>
                  <a:gd name="T15" fmla="*/ 2 h 12"/>
                  <a:gd name="T16" fmla="*/ 4 w 12"/>
                  <a:gd name="T17" fmla="*/ 2 h 12"/>
                  <a:gd name="T18" fmla="*/ 4 w 12"/>
                  <a:gd name="T19" fmla="*/ 1 h 12"/>
                  <a:gd name="T20" fmla="*/ 3 w 12"/>
                  <a:gd name="T21" fmla="*/ 1 h 12"/>
                  <a:gd name="T22" fmla="*/ 2 w 12"/>
                  <a:gd name="T23" fmla="*/ 0 h 12"/>
                  <a:gd name="T24" fmla="*/ 2 w 12"/>
                  <a:gd name="T25" fmla="*/ 0 h 12"/>
                  <a:gd name="T26" fmla="*/ 1 w 12"/>
                  <a:gd name="T27" fmla="*/ 0 h 12"/>
                  <a:gd name="T28" fmla="*/ 0 w 12"/>
                  <a:gd name="T29" fmla="*/ 1 h 12"/>
                  <a:gd name="T30" fmla="*/ 0 w 12"/>
                  <a:gd name="T31" fmla="*/ 1 h 12"/>
                  <a:gd name="T32" fmla="*/ 0 w 12"/>
                  <a:gd name="T33" fmla="*/ 2 h 12"/>
                  <a:gd name="T34" fmla="*/ 0 w 12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2"/>
                  <a:gd name="T56" fmla="*/ 12 w 12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64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2 w 74"/>
                  <a:gd name="T1" fmla="*/ 22 h 75"/>
                  <a:gd name="T2" fmla="*/ 5 w 74"/>
                  <a:gd name="T3" fmla="*/ 24 h 75"/>
                  <a:gd name="T4" fmla="*/ 8 w 74"/>
                  <a:gd name="T5" fmla="*/ 25 h 75"/>
                  <a:gd name="T6" fmla="*/ 11 w 74"/>
                  <a:gd name="T7" fmla="*/ 25 h 75"/>
                  <a:gd name="T8" fmla="*/ 13 w 74"/>
                  <a:gd name="T9" fmla="*/ 24 h 75"/>
                  <a:gd name="T10" fmla="*/ 13 w 74"/>
                  <a:gd name="T11" fmla="*/ 24 h 75"/>
                  <a:gd name="T12" fmla="*/ 15 w 74"/>
                  <a:gd name="T13" fmla="*/ 24 h 75"/>
                  <a:gd name="T14" fmla="*/ 17 w 74"/>
                  <a:gd name="T15" fmla="*/ 23 h 75"/>
                  <a:gd name="T16" fmla="*/ 20 w 74"/>
                  <a:gd name="T17" fmla="*/ 22 h 75"/>
                  <a:gd name="T18" fmla="*/ 22 w 74"/>
                  <a:gd name="T19" fmla="*/ 20 h 75"/>
                  <a:gd name="T20" fmla="*/ 24 w 74"/>
                  <a:gd name="T21" fmla="*/ 19 h 75"/>
                  <a:gd name="T22" fmla="*/ 25 w 74"/>
                  <a:gd name="T23" fmla="*/ 17 h 75"/>
                  <a:gd name="T24" fmla="*/ 24 w 74"/>
                  <a:gd name="T25" fmla="*/ 15 h 75"/>
                  <a:gd name="T26" fmla="*/ 20 w 74"/>
                  <a:gd name="T27" fmla="*/ 12 h 75"/>
                  <a:gd name="T28" fmla="*/ 16 w 74"/>
                  <a:gd name="T29" fmla="*/ 13 h 75"/>
                  <a:gd name="T30" fmla="*/ 12 w 74"/>
                  <a:gd name="T31" fmla="*/ 16 h 75"/>
                  <a:gd name="T32" fmla="*/ 10 w 74"/>
                  <a:gd name="T33" fmla="*/ 17 h 75"/>
                  <a:gd name="T34" fmla="*/ 10 w 74"/>
                  <a:gd name="T35" fmla="*/ 14 h 75"/>
                  <a:gd name="T36" fmla="*/ 8 w 74"/>
                  <a:gd name="T37" fmla="*/ 9 h 75"/>
                  <a:gd name="T38" fmla="*/ 4 w 74"/>
                  <a:gd name="T39" fmla="*/ 2 h 75"/>
                  <a:gd name="T40" fmla="*/ 1 w 74"/>
                  <a:gd name="T41" fmla="*/ 0 h 75"/>
                  <a:gd name="T42" fmla="*/ 0 w 74"/>
                  <a:gd name="T43" fmla="*/ 6 h 75"/>
                  <a:gd name="T44" fmla="*/ 1 w 74"/>
                  <a:gd name="T45" fmla="*/ 13 h 75"/>
                  <a:gd name="T46" fmla="*/ 2 w 74"/>
                  <a:gd name="T47" fmla="*/ 19 h 75"/>
                  <a:gd name="T48" fmla="*/ 2 w 74"/>
                  <a:gd name="T49" fmla="*/ 22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4"/>
                  <a:gd name="T76" fmla="*/ 0 h 75"/>
                  <a:gd name="T77" fmla="*/ 74 w 74"/>
                  <a:gd name="T78" fmla="*/ 75 h 7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65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8 w 69"/>
                  <a:gd name="T1" fmla="*/ 20 h 59"/>
                  <a:gd name="T2" fmla="*/ 10 w 69"/>
                  <a:gd name="T3" fmla="*/ 20 h 59"/>
                  <a:gd name="T4" fmla="*/ 13 w 69"/>
                  <a:gd name="T5" fmla="*/ 19 h 59"/>
                  <a:gd name="T6" fmla="*/ 16 w 69"/>
                  <a:gd name="T7" fmla="*/ 19 h 59"/>
                  <a:gd name="T8" fmla="*/ 19 w 69"/>
                  <a:gd name="T9" fmla="*/ 18 h 59"/>
                  <a:gd name="T10" fmla="*/ 21 w 69"/>
                  <a:gd name="T11" fmla="*/ 18 h 59"/>
                  <a:gd name="T12" fmla="*/ 23 w 69"/>
                  <a:gd name="T13" fmla="*/ 16 h 59"/>
                  <a:gd name="T14" fmla="*/ 23 w 69"/>
                  <a:gd name="T15" fmla="*/ 15 h 59"/>
                  <a:gd name="T16" fmla="*/ 22 w 69"/>
                  <a:gd name="T17" fmla="*/ 13 h 59"/>
                  <a:gd name="T18" fmla="*/ 18 w 69"/>
                  <a:gd name="T19" fmla="*/ 11 h 59"/>
                  <a:gd name="T20" fmla="*/ 14 w 69"/>
                  <a:gd name="T21" fmla="*/ 11 h 59"/>
                  <a:gd name="T22" fmla="*/ 10 w 69"/>
                  <a:gd name="T23" fmla="*/ 13 h 59"/>
                  <a:gd name="T24" fmla="*/ 8 w 69"/>
                  <a:gd name="T25" fmla="*/ 14 h 59"/>
                  <a:gd name="T26" fmla="*/ 7 w 69"/>
                  <a:gd name="T27" fmla="*/ 10 h 59"/>
                  <a:gd name="T28" fmla="*/ 6 w 69"/>
                  <a:gd name="T29" fmla="*/ 4 h 59"/>
                  <a:gd name="T30" fmla="*/ 5 w 69"/>
                  <a:gd name="T31" fmla="*/ 0 h 59"/>
                  <a:gd name="T32" fmla="*/ 0 w 69"/>
                  <a:gd name="T33" fmla="*/ 0 h 59"/>
                  <a:gd name="T34" fmla="*/ 0 w 69"/>
                  <a:gd name="T35" fmla="*/ 9 h 59"/>
                  <a:gd name="T36" fmla="*/ 3 w 69"/>
                  <a:gd name="T37" fmla="*/ 15 h 59"/>
                  <a:gd name="T38" fmla="*/ 6 w 69"/>
                  <a:gd name="T39" fmla="*/ 19 h 59"/>
                  <a:gd name="T40" fmla="*/ 8 w 69"/>
                  <a:gd name="T41" fmla="*/ 2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59"/>
                  <a:gd name="T65" fmla="*/ 69 w 69"/>
                  <a:gd name="T66" fmla="*/ 59 h 5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66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2 w 69"/>
                  <a:gd name="T1" fmla="*/ 15 h 60"/>
                  <a:gd name="T2" fmla="*/ 5 w 69"/>
                  <a:gd name="T3" fmla="*/ 18 h 60"/>
                  <a:gd name="T4" fmla="*/ 7 w 69"/>
                  <a:gd name="T5" fmla="*/ 20 h 60"/>
                  <a:gd name="T6" fmla="*/ 10 w 69"/>
                  <a:gd name="T7" fmla="*/ 20 h 60"/>
                  <a:gd name="T8" fmla="*/ 13 w 69"/>
                  <a:gd name="T9" fmla="*/ 20 h 60"/>
                  <a:gd name="T10" fmla="*/ 15 w 69"/>
                  <a:gd name="T11" fmla="*/ 20 h 60"/>
                  <a:gd name="T12" fmla="*/ 17 w 69"/>
                  <a:gd name="T13" fmla="*/ 19 h 60"/>
                  <a:gd name="T14" fmla="*/ 19 w 69"/>
                  <a:gd name="T15" fmla="*/ 18 h 60"/>
                  <a:gd name="T16" fmla="*/ 20 w 69"/>
                  <a:gd name="T17" fmla="*/ 17 h 60"/>
                  <a:gd name="T18" fmla="*/ 21 w 69"/>
                  <a:gd name="T19" fmla="*/ 17 h 60"/>
                  <a:gd name="T20" fmla="*/ 22 w 69"/>
                  <a:gd name="T21" fmla="*/ 16 h 60"/>
                  <a:gd name="T22" fmla="*/ 23 w 69"/>
                  <a:gd name="T23" fmla="*/ 14 h 60"/>
                  <a:gd name="T24" fmla="*/ 22 w 69"/>
                  <a:gd name="T25" fmla="*/ 13 h 60"/>
                  <a:gd name="T26" fmla="*/ 18 w 69"/>
                  <a:gd name="T27" fmla="*/ 10 h 60"/>
                  <a:gd name="T28" fmla="*/ 14 w 69"/>
                  <a:gd name="T29" fmla="*/ 10 h 60"/>
                  <a:gd name="T30" fmla="*/ 11 w 69"/>
                  <a:gd name="T31" fmla="*/ 11 h 60"/>
                  <a:gd name="T32" fmla="*/ 9 w 69"/>
                  <a:gd name="T33" fmla="*/ 12 h 60"/>
                  <a:gd name="T34" fmla="*/ 9 w 69"/>
                  <a:gd name="T35" fmla="*/ 10 h 60"/>
                  <a:gd name="T36" fmla="*/ 7 w 69"/>
                  <a:gd name="T37" fmla="*/ 5 h 60"/>
                  <a:gd name="T38" fmla="*/ 4 w 69"/>
                  <a:gd name="T39" fmla="*/ 1 h 60"/>
                  <a:gd name="T40" fmla="*/ 0 w 69"/>
                  <a:gd name="T41" fmla="*/ 0 h 60"/>
                  <a:gd name="T42" fmla="*/ 0 w 69"/>
                  <a:gd name="T43" fmla="*/ 5 h 60"/>
                  <a:gd name="T44" fmla="*/ 0 w 69"/>
                  <a:gd name="T45" fmla="*/ 10 h 60"/>
                  <a:gd name="T46" fmla="*/ 1 w 69"/>
                  <a:gd name="T47" fmla="*/ 14 h 60"/>
                  <a:gd name="T48" fmla="*/ 2 w 69"/>
                  <a:gd name="T49" fmla="*/ 15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9"/>
                  <a:gd name="T76" fmla="*/ 0 h 60"/>
                  <a:gd name="T77" fmla="*/ 69 w 69"/>
                  <a:gd name="T78" fmla="*/ 60 h 6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67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4 w 75"/>
                  <a:gd name="T1" fmla="*/ 15 h 48"/>
                  <a:gd name="T2" fmla="*/ 6 w 75"/>
                  <a:gd name="T3" fmla="*/ 15 h 48"/>
                  <a:gd name="T4" fmla="*/ 10 w 75"/>
                  <a:gd name="T5" fmla="*/ 16 h 48"/>
                  <a:gd name="T6" fmla="*/ 14 w 75"/>
                  <a:gd name="T7" fmla="*/ 16 h 48"/>
                  <a:gd name="T8" fmla="*/ 19 w 75"/>
                  <a:gd name="T9" fmla="*/ 15 h 48"/>
                  <a:gd name="T10" fmla="*/ 22 w 75"/>
                  <a:gd name="T11" fmla="*/ 14 h 48"/>
                  <a:gd name="T12" fmla="*/ 25 w 75"/>
                  <a:gd name="T13" fmla="*/ 12 h 48"/>
                  <a:gd name="T14" fmla="*/ 25 w 75"/>
                  <a:gd name="T15" fmla="*/ 10 h 48"/>
                  <a:gd name="T16" fmla="*/ 24 w 75"/>
                  <a:gd name="T17" fmla="*/ 6 h 48"/>
                  <a:gd name="T18" fmla="*/ 22 w 75"/>
                  <a:gd name="T19" fmla="*/ 5 h 48"/>
                  <a:gd name="T20" fmla="*/ 20 w 75"/>
                  <a:gd name="T21" fmla="*/ 5 h 48"/>
                  <a:gd name="T22" fmla="*/ 17 w 75"/>
                  <a:gd name="T23" fmla="*/ 5 h 48"/>
                  <a:gd name="T24" fmla="*/ 14 w 75"/>
                  <a:gd name="T25" fmla="*/ 6 h 48"/>
                  <a:gd name="T26" fmla="*/ 12 w 75"/>
                  <a:gd name="T27" fmla="*/ 6 h 48"/>
                  <a:gd name="T28" fmla="*/ 10 w 75"/>
                  <a:gd name="T29" fmla="*/ 7 h 48"/>
                  <a:gd name="T30" fmla="*/ 8 w 75"/>
                  <a:gd name="T31" fmla="*/ 8 h 48"/>
                  <a:gd name="T32" fmla="*/ 8 w 75"/>
                  <a:gd name="T33" fmla="*/ 8 h 48"/>
                  <a:gd name="T34" fmla="*/ 7 w 75"/>
                  <a:gd name="T35" fmla="*/ 7 h 48"/>
                  <a:gd name="T36" fmla="*/ 6 w 75"/>
                  <a:gd name="T37" fmla="*/ 4 h 48"/>
                  <a:gd name="T38" fmla="*/ 5 w 75"/>
                  <a:gd name="T39" fmla="*/ 2 h 48"/>
                  <a:gd name="T40" fmla="*/ 5 w 75"/>
                  <a:gd name="T41" fmla="*/ 1 h 48"/>
                  <a:gd name="T42" fmla="*/ 4 w 75"/>
                  <a:gd name="T43" fmla="*/ 0 h 48"/>
                  <a:gd name="T44" fmla="*/ 3 w 75"/>
                  <a:gd name="T45" fmla="*/ 0 h 48"/>
                  <a:gd name="T46" fmla="*/ 1 w 75"/>
                  <a:gd name="T47" fmla="*/ 1 h 48"/>
                  <a:gd name="T48" fmla="*/ 0 w 75"/>
                  <a:gd name="T49" fmla="*/ 2 h 48"/>
                  <a:gd name="T50" fmla="*/ 0 w 75"/>
                  <a:gd name="T51" fmla="*/ 4 h 48"/>
                  <a:gd name="T52" fmla="*/ 2 w 75"/>
                  <a:gd name="T53" fmla="*/ 9 h 48"/>
                  <a:gd name="T54" fmla="*/ 3 w 75"/>
                  <a:gd name="T55" fmla="*/ 13 h 48"/>
                  <a:gd name="T56" fmla="*/ 4 w 75"/>
                  <a:gd name="T57" fmla="*/ 15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48"/>
                  <a:gd name="T89" fmla="*/ 75 w 75"/>
                  <a:gd name="T90" fmla="*/ 48 h 4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68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5 w 63"/>
                  <a:gd name="T1" fmla="*/ 18 h 57"/>
                  <a:gd name="T2" fmla="*/ 7 w 63"/>
                  <a:gd name="T3" fmla="*/ 18 h 57"/>
                  <a:gd name="T4" fmla="*/ 11 w 63"/>
                  <a:gd name="T5" fmla="*/ 19 h 57"/>
                  <a:gd name="T6" fmla="*/ 16 w 63"/>
                  <a:gd name="T7" fmla="*/ 19 h 57"/>
                  <a:gd name="T8" fmla="*/ 19 w 63"/>
                  <a:gd name="T9" fmla="*/ 17 h 57"/>
                  <a:gd name="T10" fmla="*/ 20 w 63"/>
                  <a:gd name="T11" fmla="*/ 16 h 57"/>
                  <a:gd name="T12" fmla="*/ 21 w 63"/>
                  <a:gd name="T13" fmla="*/ 15 h 57"/>
                  <a:gd name="T14" fmla="*/ 21 w 63"/>
                  <a:gd name="T15" fmla="*/ 14 h 57"/>
                  <a:gd name="T16" fmla="*/ 21 w 63"/>
                  <a:gd name="T17" fmla="*/ 13 h 57"/>
                  <a:gd name="T18" fmla="*/ 20 w 63"/>
                  <a:gd name="T19" fmla="*/ 12 h 57"/>
                  <a:gd name="T20" fmla="*/ 19 w 63"/>
                  <a:gd name="T21" fmla="*/ 11 h 57"/>
                  <a:gd name="T22" fmla="*/ 18 w 63"/>
                  <a:gd name="T23" fmla="*/ 10 h 57"/>
                  <a:gd name="T24" fmla="*/ 16 w 63"/>
                  <a:gd name="T25" fmla="*/ 11 h 57"/>
                  <a:gd name="T26" fmla="*/ 13 w 63"/>
                  <a:gd name="T27" fmla="*/ 12 h 57"/>
                  <a:gd name="T28" fmla="*/ 10 w 63"/>
                  <a:gd name="T29" fmla="*/ 12 h 57"/>
                  <a:gd name="T30" fmla="*/ 8 w 63"/>
                  <a:gd name="T31" fmla="*/ 12 h 57"/>
                  <a:gd name="T32" fmla="*/ 7 w 63"/>
                  <a:gd name="T33" fmla="*/ 12 h 57"/>
                  <a:gd name="T34" fmla="*/ 7 w 63"/>
                  <a:gd name="T35" fmla="*/ 10 h 57"/>
                  <a:gd name="T36" fmla="*/ 7 w 63"/>
                  <a:gd name="T37" fmla="*/ 6 h 57"/>
                  <a:gd name="T38" fmla="*/ 6 w 63"/>
                  <a:gd name="T39" fmla="*/ 1 h 57"/>
                  <a:gd name="T40" fmla="*/ 3 w 63"/>
                  <a:gd name="T41" fmla="*/ 0 h 57"/>
                  <a:gd name="T42" fmla="*/ 0 w 63"/>
                  <a:gd name="T43" fmla="*/ 6 h 57"/>
                  <a:gd name="T44" fmla="*/ 0 w 63"/>
                  <a:gd name="T45" fmla="*/ 11 h 57"/>
                  <a:gd name="T46" fmla="*/ 2 w 63"/>
                  <a:gd name="T47" fmla="*/ 15 h 57"/>
                  <a:gd name="T48" fmla="*/ 5 w 63"/>
                  <a:gd name="T49" fmla="*/ 18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57"/>
                  <a:gd name="T77" fmla="*/ 63 w 63"/>
                  <a:gd name="T78" fmla="*/ 57 h 5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69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8 w 65"/>
                  <a:gd name="T1" fmla="*/ 17 h 57"/>
                  <a:gd name="T2" fmla="*/ 10 w 65"/>
                  <a:gd name="T3" fmla="*/ 19 h 57"/>
                  <a:gd name="T4" fmla="*/ 13 w 65"/>
                  <a:gd name="T5" fmla="*/ 18 h 57"/>
                  <a:gd name="T6" fmla="*/ 16 w 65"/>
                  <a:gd name="T7" fmla="*/ 17 h 57"/>
                  <a:gd name="T8" fmla="*/ 19 w 65"/>
                  <a:gd name="T9" fmla="*/ 16 h 57"/>
                  <a:gd name="T10" fmla="*/ 20 w 65"/>
                  <a:gd name="T11" fmla="*/ 15 h 57"/>
                  <a:gd name="T12" fmla="*/ 21 w 65"/>
                  <a:gd name="T13" fmla="*/ 14 h 57"/>
                  <a:gd name="T14" fmla="*/ 21 w 65"/>
                  <a:gd name="T15" fmla="*/ 13 h 57"/>
                  <a:gd name="T16" fmla="*/ 20 w 65"/>
                  <a:gd name="T17" fmla="*/ 11 h 57"/>
                  <a:gd name="T18" fmla="*/ 17 w 65"/>
                  <a:gd name="T19" fmla="*/ 9 h 57"/>
                  <a:gd name="T20" fmla="*/ 15 w 65"/>
                  <a:gd name="T21" fmla="*/ 10 h 57"/>
                  <a:gd name="T22" fmla="*/ 13 w 65"/>
                  <a:gd name="T23" fmla="*/ 12 h 57"/>
                  <a:gd name="T24" fmla="*/ 11 w 65"/>
                  <a:gd name="T25" fmla="*/ 13 h 57"/>
                  <a:gd name="T26" fmla="*/ 10 w 65"/>
                  <a:gd name="T27" fmla="*/ 11 h 57"/>
                  <a:gd name="T28" fmla="*/ 8 w 65"/>
                  <a:gd name="T29" fmla="*/ 6 h 57"/>
                  <a:gd name="T30" fmla="*/ 5 w 65"/>
                  <a:gd name="T31" fmla="*/ 2 h 57"/>
                  <a:gd name="T32" fmla="*/ 2 w 65"/>
                  <a:gd name="T33" fmla="*/ 0 h 57"/>
                  <a:gd name="T34" fmla="*/ 0 w 65"/>
                  <a:gd name="T35" fmla="*/ 7 h 57"/>
                  <a:gd name="T36" fmla="*/ 2 w 65"/>
                  <a:gd name="T37" fmla="*/ 12 h 57"/>
                  <a:gd name="T38" fmla="*/ 6 w 65"/>
                  <a:gd name="T39" fmla="*/ 16 h 57"/>
                  <a:gd name="T40" fmla="*/ 8 w 65"/>
                  <a:gd name="T41" fmla="*/ 17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5"/>
                  <a:gd name="T64" fmla="*/ 0 h 57"/>
                  <a:gd name="T65" fmla="*/ 65 w 65"/>
                  <a:gd name="T66" fmla="*/ 57 h 5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70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5 w 79"/>
                  <a:gd name="T1" fmla="*/ 22 h 80"/>
                  <a:gd name="T2" fmla="*/ 6 w 79"/>
                  <a:gd name="T3" fmla="*/ 23 h 80"/>
                  <a:gd name="T4" fmla="*/ 8 w 79"/>
                  <a:gd name="T5" fmla="*/ 24 h 80"/>
                  <a:gd name="T6" fmla="*/ 10 w 79"/>
                  <a:gd name="T7" fmla="*/ 25 h 80"/>
                  <a:gd name="T8" fmla="*/ 13 w 79"/>
                  <a:gd name="T9" fmla="*/ 26 h 80"/>
                  <a:gd name="T10" fmla="*/ 15 w 79"/>
                  <a:gd name="T11" fmla="*/ 26 h 80"/>
                  <a:gd name="T12" fmla="*/ 19 w 79"/>
                  <a:gd name="T13" fmla="*/ 25 h 80"/>
                  <a:gd name="T14" fmla="*/ 22 w 79"/>
                  <a:gd name="T15" fmla="*/ 23 h 80"/>
                  <a:gd name="T16" fmla="*/ 24 w 79"/>
                  <a:gd name="T17" fmla="*/ 19 h 80"/>
                  <a:gd name="T18" fmla="*/ 25 w 79"/>
                  <a:gd name="T19" fmla="*/ 18 h 80"/>
                  <a:gd name="T20" fmla="*/ 26 w 79"/>
                  <a:gd name="T21" fmla="*/ 16 h 80"/>
                  <a:gd name="T22" fmla="*/ 26 w 79"/>
                  <a:gd name="T23" fmla="*/ 15 h 80"/>
                  <a:gd name="T24" fmla="*/ 26 w 79"/>
                  <a:gd name="T25" fmla="*/ 14 h 80"/>
                  <a:gd name="T26" fmla="*/ 23 w 79"/>
                  <a:gd name="T27" fmla="*/ 13 h 80"/>
                  <a:gd name="T28" fmla="*/ 20 w 79"/>
                  <a:gd name="T29" fmla="*/ 12 h 80"/>
                  <a:gd name="T30" fmla="*/ 17 w 79"/>
                  <a:gd name="T31" fmla="*/ 13 h 80"/>
                  <a:gd name="T32" fmla="*/ 15 w 79"/>
                  <a:gd name="T33" fmla="*/ 13 h 80"/>
                  <a:gd name="T34" fmla="*/ 13 w 79"/>
                  <a:gd name="T35" fmla="*/ 14 h 80"/>
                  <a:gd name="T36" fmla="*/ 11 w 79"/>
                  <a:gd name="T37" fmla="*/ 15 h 80"/>
                  <a:gd name="T38" fmla="*/ 10 w 79"/>
                  <a:gd name="T39" fmla="*/ 16 h 80"/>
                  <a:gd name="T40" fmla="*/ 10 w 79"/>
                  <a:gd name="T41" fmla="*/ 17 h 80"/>
                  <a:gd name="T42" fmla="*/ 9 w 79"/>
                  <a:gd name="T43" fmla="*/ 14 h 80"/>
                  <a:gd name="T44" fmla="*/ 7 w 79"/>
                  <a:gd name="T45" fmla="*/ 8 h 80"/>
                  <a:gd name="T46" fmla="*/ 4 w 79"/>
                  <a:gd name="T47" fmla="*/ 2 h 80"/>
                  <a:gd name="T48" fmla="*/ 0 w 79"/>
                  <a:gd name="T49" fmla="*/ 0 h 80"/>
                  <a:gd name="T50" fmla="*/ 0 w 79"/>
                  <a:gd name="T51" fmla="*/ 8 h 80"/>
                  <a:gd name="T52" fmla="*/ 2 w 79"/>
                  <a:gd name="T53" fmla="*/ 15 h 80"/>
                  <a:gd name="T54" fmla="*/ 4 w 79"/>
                  <a:gd name="T55" fmla="*/ 20 h 80"/>
                  <a:gd name="T56" fmla="*/ 5 w 79"/>
                  <a:gd name="T57" fmla="*/ 22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80"/>
                  <a:gd name="T89" fmla="*/ 79 w 79"/>
                  <a:gd name="T90" fmla="*/ 80 h 8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71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4 w 79"/>
                  <a:gd name="T1" fmla="*/ 18 h 67"/>
                  <a:gd name="T2" fmla="*/ 5 w 79"/>
                  <a:gd name="T3" fmla="*/ 18 h 67"/>
                  <a:gd name="T4" fmla="*/ 7 w 79"/>
                  <a:gd name="T5" fmla="*/ 19 h 67"/>
                  <a:gd name="T6" fmla="*/ 9 w 79"/>
                  <a:gd name="T7" fmla="*/ 20 h 67"/>
                  <a:gd name="T8" fmla="*/ 12 w 79"/>
                  <a:gd name="T9" fmla="*/ 21 h 67"/>
                  <a:gd name="T10" fmla="*/ 14 w 79"/>
                  <a:gd name="T11" fmla="*/ 22 h 67"/>
                  <a:gd name="T12" fmla="*/ 17 w 79"/>
                  <a:gd name="T13" fmla="*/ 22 h 67"/>
                  <a:gd name="T14" fmla="*/ 20 w 79"/>
                  <a:gd name="T15" fmla="*/ 22 h 67"/>
                  <a:gd name="T16" fmla="*/ 23 w 79"/>
                  <a:gd name="T17" fmla="*/ 21 h 67"/>
                  <a:gd name="T18" fmla="*/ 25 w 79"/>
                  <a:gd name="T19" fmla="*/ 20 h 67"/>
                  <a:gd name="T20" fmla="*/ 26 w 79"/>
                  <a:gd name="T21" fmla="*/ 19 h 67"/>
                  <a:gd name="T22" fmla="*/ 27 w 79"/>
                  <a:gd name="T23" fmla="*/ 17 h 67"/>
                  <a:gd name="T24" fmla="*/ 27 w 79"/>
                  <a:gd name="T25" fmla="*/ 15 h 67"/>
                  <a:gd name="T26" fmla="*/ 25 w 79"/>
                  <a:gd name="T27" fmla="*/ 13 h 67"/>
                  <a:gd name="T28" fmla="*/ 22 w 79"/>
                  <a:gd name="T29" fmla="*/ 12 h 67"/>
                  <a:gd name="T30" fmla="*/ 19 w 79"/>
                  <a:gd name="T31" fmla="*/ 12 h 67"/>
                  <a:gd name="T32" fmla="*/ 16 w 79"/>
                  <a:gd name="T33" fmla="*/ 12 h 67"/>
                  <a:gd name="T34" fmla="*/ 14 w 79"/>
                  <a:gd name="T35" fmla="*/ 12 h 67"/>
                  <a:gd name="T36" fmla="*/ 12 w 79"/>
                  <a:gd name="T37" fmla="*/ 12 h 67"/>
                  <a:gd name="T38" fmla="*/ 10 w 79"/>
                  <a:gd name="T39" fmla="*/ 13 h 67"/>
                  <a:gd name="T40" fmla="*/ 10 w 79"/>
                  <a:gd name="T41" fmla="*/ 13 h 67"/>
                  <a:gd name="T42" fmla="*/ 9 w 79"/>
                  <a:gd name="T43" fmla="*/ 11 h 67"/>
                  <a:gd name="T44" fmla="*/ 8 w 79"/>
                  <a:gd name="T45" fmla="*/ 6 h 67"/>
                  <a:gd name="T46" fmla="*/ 5 w 79"/>
                  <a:gd name="T47" fmla="*/ 1 h 67"/>
                  <a:gd name="T48" fmla="*/ 1 w 79"/>
                  <a:gd name="T49" fmla="*/ 0 h 67"/>
                  <a:gd name="T50" fmla="*/ 0 w 79"/>
                  <a:gd name="T51" fmla="*/ 7 h 67"/>
                  <a:gd name="T52" fmla="*/ 1 w 79"/>
                  <a:gd name="T53" fmla="*/ 12 h 67"/>
                  <a:gd name="T54" fmla="*/ 3 w 79"/>
                  <a:gd name="T55" fmla="*/ 16 h 67"/>
                  <a:gd name="T56" fmla="*/ 4 w 79"/>
                  <a:gd name="T57" fmla="*/ 18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67"/>
                  <a:gd name="T89" fmla="*/ 79 w 79"/>
                  <a:gd name="T90" fmla="*/ 67 h 6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72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3 w 77"/>
                  <a:gd name="T1" fmla="*/ 19 h 62"/>
                  <a:gd name="T2" fmla="*/ 6 w 77"/>
                  <a:gd name="T3" fmla="*/ 19 h 62"/>
                  <a:gd name="T4" fmla="*/ 9 w 77"/>
                  <a:gd name="T5" fmla="*/ 20 h 62"/>
                  <a:gd name="T6" fmla="*/ 14 w 77"/>
                  <a:gd name="T7" fmla="*/ 20 h 62"/>
                  <a:gd name="T8" fmla="*/ 18 w 77"/>
                  <a:gd name="T9" fmla="*/ 19 h 62"/>
                  <a:gd name="T10" fmla="*/ 22 w 77"/>
                  <a:gd name="T11" fmla="*/ 19 h 62"/>
                  <a:gd name="T12" fmla="*/ 24 w 77"/>
                  <a:gd name="T13" fmla="*/ 18 h 62"/>
                  <a:gd name="T14" fmla="*/ 26 w 77"/>
                  <a:gd name="T15" fmla="*/ 16 h 62"/>
                  <a:gd name="T16" fmla="*/ 25 w 77"/>
                  <a:gd name="T17" fmla="*/ 14 h 62"/>
                  <a:gd name="T18" fmla="*/ 23 w 77"/>
                  <a:gd name="T19" fmla="*/ 12 h 62"/>
                  <a:gd name="T20" fmla="*/ 21 w 77"/>
                  <a:gd name="T21" fmla="*/ 11 h 62"/>
                  <a:gd name="T22" fmla="*/ 18 w 77"/>
                  <a:gd name="T23" fmla="*/ 10 h 62"/>
                  <a:gd name="T24" fmla="*/ 16 w 77"/>
                  <a:gd name="T25" fmla="*/ 10 h 62"/>
                  <a:gd name="T26" fmla="*/ 13 w 77"/>
                  <a:gd name="T27" fmla="*/ 11 h 62"/>
                  <a:gd name="T28" fmla="*/ 11 w 77"/>
                  <a:gd name="T29" fmla="*/ 11 h 62"/>
                  <a:gd name="T30" fmla="*/ 9 w 77"/>
                  <a:gd name="T31" fmla="*/ 12 h 62"/>
                  <a:gd name="T32" fmla="*/ 9 w 77"/>
                  <a:gd name="T33" fmla="*/ 12 h 62"/>
                  <a:gd name="T34" fmla="*/ 8 w 77"/>
                  <a:gd name="T35" fmla="*/ 10 h 62"/>
                  <a:gd name="T36" fmla="*/ 7 w 77"/>
                  <a:gd name="T37" fmla="*/ 5 h 62"/>
                  <a:gd name="T38" fmla="*/ 5 w 77"/>
                  <a:gd name="T39" fmla="*/ 1 h 62"/>
                  <a:gd name="T40" fmla="*/ 1 w 77"/>
                  <a:gd name="T41" fmla="*/ 0 h 62"/>
                  <a:gd name="T42" fmla="*/ 0 w 77"/>
                  <a:gd name="T43" fmla="*/ 5 h 62"/>
                  <a:gd name="T44" fmla="*/ 1 w 77"/>
                  <a:gd name="T45" fmla="*/ 12 h 62"/>
                  <a:gd name="T46" fmla="*/ 3 w 77"/>
                  <a:gd name="T47" fmla="*/ 17 h 62"/>
                  <a:gd name="T48" fmla="*/ 3 w 77"/>
                  <a:gd name="T49" fmla="*/ 19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7"/>
                  <a:gd name="T76" fmla="*/ 0 h 62"/>
                  <a:gd name="T77" fmla="*/ 77 w 77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73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4 w 366"/>
                  <a:gd name="T1" fmla="*/ 50 h 845"/>
                  <a:gd name="T2" fmla="*/ 5 w 366"/>
                  <a:gd name="T3" fmla="*/ 80 h 845"/>
                  <a:gd name="T4" fmla="*/ 15 w 366"/>
                  <a:gd name="T5" fmla="*/ 115 h 845"/>
                  <a:gd name="T6" fmla="*/ 28 w 366"/>
                  <a:gd name="T7" fmla="*/ 155 h 845"/>
                  <a:gd name="T8" fmla="*/ 41 w 366"/>
                  <a:gd name="T9" fmla="*/ 194 h 845"/>
                  <a:gd name="T10" fmla="*/ 54 w 366"/>
                  <a:gd name="T11" fmla="*/ 232 h 845"/>
                  <a:gd name="T12" fmla="*/ 65 w 366"/>
                  <a:gd name="T13" fmla="*/ 259 h 845"/>
                  <a:gd name="T14" fmla="*/ 76 w 366"/>
                  <a:gd name="T15" fmla="*/ 269 h 845"/>
                  <a:gd name="T16" fmla="*/ 90 w 366"/>
                  <a:gd name="T17" fmla="*/ 276 h 845"/>
                  <a:gd name="T18" fmla="*/ 105 w 366"/>
                  <a:gd name="T19" fmla="*/ 280 h 845"/>
                  <a:gd name="T20" fmla="*/ 116 w 366"/>
                  <a:gd name="T21" fmla="*/ 280 h 845"/>
                  <a:gd name="T22" fmla="*/ 120 w 366"/>
                  <a:gd name="T23" fmla="*/ 277 h 845"/>
                  <a:gd name="T24" fmla="*/ 122 w 366"/>
                  <a:gd name="T25" fmla="*/ 271 h 845"/>
                  <a:gd name="T26" fmla="*/ 118 w 366"/>
                  <a:gd name="T27" fmla="*/ 267 h 845"/>
                  <a:gd name="T28" fmla="*/ 110 w 366"/>
                  <a:gd name="T29" fmla="*/ 265 h 845"/>
                  <a:gd name="T30" fmla="*/ 98 w 366"/>
                  <a:gd name="T31" fmla="*/ 262 h 845"/>
                  <a:gd name="T32" fmla="*/ 88 w 366"/>
                  <a:gd name="T33" fmla="*/ 259 h 845"/>
                  <a:gd name="T34" fmla="*/ 80 w 366"/>
                  <a:gd name="T35" fmla="*/ 252 h 845"/>
                  <a:gd name="T36" fmla="*/ 72 w 366"/>
                  <a:gd name="T37" fmla="*/ 235 h 845"/>
                  <a:gd name="T38" fmla="*/ 65 w 366"/>
                  <a:gd name="T39" fmla="*/ 214 h 845"/>
                  <a:gd name="T40" fmla="*/ 57 w 366"/>
                  <a:gd name="T41" fmla="*/ 192 h 845"/>
                  <a:gd name="T42" fmla="*/ 50 w 366"/>
                  <a:gd name="T43" fmla="*/ 170 h 845"/>
                  <a:gd name="T44" fmla="*/ 42 w 366"/>
                  <a:gd name="T45" fmla="*/ 145 h 845"/>
                  <a:gd name="T46" fmla="*/ 31 w 366"/>
                  <a:gd name="T47" fmla="*/ 116 h 845"/>
                  <a:gd name="T48" fmla="*/ 22 w 366"/>
                  <a:gd name="T49" fmla="*/ 87 h 845"/>
                  <a:gd name="T50" fmla="*/ 16 w 366"/>
                  <a:gd name="T51" fmla="*/ 58 h 845"/>
                  <a:gd name="T52" fmla="*/ 15 w 366"/>
                  <a:gd name="T53" fmla="*/ 37 h 845"/>
                  <a:gd name="T54" fmla="*/ 12 w 366"/>
                  <a:gd name="T55" fmla="*/ 22 h 845"/>
                  <a:gd name="T56" fmla="*/ 7 w 366"/>
                  <a:gd name="T57" fmla="*/ 9 h 845"/>
                  <a:gd name="T58" fmla="*/ 2 w 366"/>
                  <a:gd name="T59" fmla="*/ 0 h 845"/>
                  <a:gd name="T60" fmla="*/ 2 w 366"/>
                  <a:gd name="T61" fmla="*/ 6 h 845"/>
                  <a:gd name="T62" fmla="*/ 4 w 366"/>
                  <a:gd name="T63" fmla="*/ 25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66"/>
                  <a:gd name="T97" fmla="*/ 0 h 845"/>
                  <a:gd name="T98" fmla="*/ 366 w 366"/>
                  <a:gd name="T99" fmla="*/ 845 h 84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74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28 w 88"/>
                  <a:gd name="T1" fmla="*/ 8 h 87"/>
                  <a:gd name="T2" fmla="*/ 29 w 88"/>
                  <a:gd name="T3" fmla="*/ 6 h 87"/>
                  <a:gd name="T4" fmla="*/ 29 w 88"/>
                  <a:gd name="T5" fmla="*/ 4 h 87"/>
                  <a:gd name="T6" fmla="*/ 28 w 88"/>
                  <a:gd name="T7" fmla="*/ 2 h 87"/>
                  <a:gd name="T8" fmla="*/ 25 w 88"/>
                  <a:gd name="T9" fmla="*/ 1 h 87"/>
                  <a:gd name="T10" fmla="*/ 23 w 88"/>
                  <a:gd name="T11" fmla="*/ 0 h 87"/>
                  <a:gd name="T12" fmla="*/ 20 w 88"/>
                  <a:gd name="T13" fmla="*/ 0 h 87"/>
                  <a:gd name="T14" fmla="*/ 18 w 88"/>
                  <a:gd name="T15" fmla="*/ 0 h 87"/>
                  <a:gd name="T16" fmla="*/ 15 w 88"/>
                  <a:gd name="T17" fmla="*/ 2 h 87"/>
                  <a:gd name="T18" fmla="*/ 14 w 88"/>
                  <a:gd name="T19" fmla="*/ 4 h 87"/>
                  <a:gd name="T20" fmla="*/ 11 w 88"/>
                  <a:gd name="T21" fmla="*/ 7 h 87"/>
                  <a:gd name="T22" fmla="*/ 8 w 88"/>
                  <a:gd name="T23" fmla="*/ 10 h 87"/>
                  <a:gd name="T24" fmla="*/ 5 w 88"/>
                  <a:gd name="T25" fmla="*/ 14 h 87"/>
                  <a:gd name="T26" fmla="*/ 3 w 88"/>
                  <a:gd name="T27" fmla="*/ 19 h 87"/>
                  <a:gd name="T28" fmla="*/ 1 w 88"/>
                  <a:gd name="T29" fmla="*/ 23 h 87"/>
                  <a:gd name="T30" fmla="*/ 0 w 88"/>
                  <a:gd name="T31" fmla="*/ 26 h 87"/>
                  <a:gd name="T32" fmla="*/ 1 w 88"/>
                  <a:gd name="T33" fmla="*/ 29 h 87"/>
                  <a:gd name="T34" fmla="*/ 5 w 88"/>
                  <a:gd name="T35" fmla="*/ 27 h 87"/>
                  <a:gd name="T36" fmla="*/ 9 w 88"/>
                  <a:gd name="T37" fmla="*/ 23 h 87"/>
                  <a:gd name="T38" fmla="*/ 13 w 88"/>
                  <a:gd name="T39" fmla="*/ 20 h 87"/>
                  <a:gd name="T40" fmla="*/ 17 w 88"/>
                  <a:gd name="T41" fmla="*/ 17 h 87"/>
                  <a:gd name="T42" fmla="*/ 21 w 88"/>
                  <a:gd name="T43" fmla="*/ 14 h 87"/>
                  <a:gd name="T44" fmla="*/ 24 w 88"/>
                  <a:gd name="T45" fmla="*/ 11 h 87"/>
                  <a:gd name="T46" fmla="*/ 26 w 88"/>
                  <a:gd name="T47" fmla="*/ 9 h 87"/>
                  <a:gd name="T48" fmla="*/ 28 w 88"/>
                  <a:gd name="T49" fmla="*/ 8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8"/>
                  <a:gd name="T76" fmla="*/ 0 h 87"/>
                  <a:gd name="T77" fmla="*/ 88 w 88"/>
                  <a:gd name="T78" fmla="*/ 87 h 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75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31 w 102"/>
                  <a:gd name="T1" fmla="*/ 7 h 28"/>
                  <a:gd name="T2" fmla="*/ 32 w 102"/>
                  <a:gd name="T3" fmla="*/ 7 h 28"/>
                  <a:gd name="T4" fmla="*/ 33 w 102"/>
                  <a:gd name="T5" fmla="*/ 6 h 28"/>
                  <a:gd name="T6" fmla="*/ 34 w 102"/>
                  <a:gd name="T7" fmla="*/ 5 h 28"/>
                  <a:gd name="T8" fmla="*/ 34 w 102"/>
                  <a:gd name="T9" fmla="*/ 3 h 28"/>
                  <a:gd name="T10" fmla="*/ 34 w 102"/>
                  <a:gd name="T11" fmla="*/ 2 h 28"/>
                  <a:gd name="T12" fmla="*/ 33 w 102"/>
                  <a:gd name="T13" fmla="*/ 0 h 28"/>
                  <a:gd name="T14" fmla="*/ 31 w 102"/>
                  <a:gd name="T15" fmla="*/ 0 h 28"/>
                  <a:gd name="T16" fmla="*/ 29 w 102"/>
                  <a:gd name="T17" fmla="*/ 0 h 28"/>
                  <a:gd name="T18" fmla="*/ 25 w 102"/>
                  <a:gd name="T19" fmla="*/ 1 h 28"/>
                  <a:gd name="T20" fmla="*/ 20 w 102"/>
                  <a:gd name="T21" fmla="*/ 2 h 28"/>
                  <a:gd name="T22" fmla="*/ 15 w 102"/>
                  <a:gd name="T23" fmla="*/ 3 h 28"/>
                  <a:gd name="T24" fmla="*/ 11 w 102"/>
                  <a:gd name="T25" fmla="*/ 4 h 28"/>
                  <a:gd name="T26" fmla="*/ 7 w 102"/>
                  <a:gd name="T27" fmla="*/ 5 h 28"/>
                  <a:gd name="T28" fmla="*/ 3 w 102"/>
                  <a:gd name="T29" fmla="*/ 6 h 28"/>
                  <a:gd name="T30" fmla="*/ 1 w 102"/>
                  <a:gd name="T31" fmla="*/ 7 h 28"/>
                  <a:gd name="T32" fmla="*/ 0 w 102"/>
                  <a:gd name="T33" fmla="*/ 9 h 28"/>
                  <a:gd name="T34" fmla="*/ 3 w 102"/>
                  <a:gd name="T35" fmla="*/ 9 h 28"/>
                  <a:gd name="T36" fmla="*/ 7 w 102"/>
                  <a:gd name="T37" fmla="*/ 9 h 28"/>
                  <a:gd name="T38" fmla="*/ 11 w 102"/>
                  <a:gd name="T39" fmla="*/ 9 h 28"/>
                  <a:gd name="T40" fmla="*/ 15 w 102"/>
                  <a:gd name="T41" fmla="*/ 9 h 28"/>
                  <a:gd name="T42" fmla="*/ 18 w 102"/>
                  <a:gd name="T43" fmla="*/ 8 h 28"/>
                  <a:gd name="T44" fmla="*/ 22 w 102"/>
                  <a:gd name="T45" fmla="*/ 8 h 28"/>
                  <a:gd name="T46" fmla="*/ 27 w 102"/>
                  <a:gd name="T47" fmla="*/ 8 h 28"/>
                  <a:gd name="T48" fmla="*/ 31 w 102"/>
                  <a:gd name="T49" fmla="*/ 7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2"/>
                  <a:gd name="T76" fmla="*/ 0 h 28"/>
                  <a:gd name="T77" fmla="*/ 102 w 102"/>
                  <a:gd name="T78" fmla="*/ 28 h 2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76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41 w 142"/>
                  <a:gd name="T1" fmla="*/ 12 h 36"/>
                  <a:gd name="T2" fmla="*/ 43 w 142"/>
                  <a:gd name="T3" fmla="*/ 12 h 36"/>
                  <a:gd name="T4" fmla="*/ 45 w 142"/>
                  <a:gd name="T5" fmla="*/ 11 h 36"/>
                  <a:gd name="T6" fmla="*/ 46 w 142"/>
                  <a:gd name="T7" fmla="*/ 9 h 36"/>
                  <a:gd name="T8" fmla="*/ 47 w 142"/>
                  <a:gd name="T9" fmla="*/ 7 h 36"/>
                  <a:gd name="T10" fmla="*/ 47 w 142"/>
                  <a:gd name="T11" fmla="*/ 5 h 36"/>
                  <a:gd name="T12" fmla="*/ 46 w 142"/>
                  <a:gd name="T13" fmla="*/ 3 h 36"/>
                  <a:gd name="T14" fmla="*/ 44 w 142"/>
                  <a:gd name="T15" fmla="*/ 2 h 36"/>
                  <a:gd name="T16" fmla="*/ 42 w 142"/>
                  <a:gd name="T17" fmla="*/ 1 h 36"/>
                  <a:gd name="T18" fmla="*/ 36 w 142"/>
                  <a:gd name="T19" fmla="*/ 1 h 36"/>
                  <a:gd name="T20" fmla="*/ 29 w 142"/>
                  <a:gd name="T21" fmla="*/ 1 h 36"/>
                  <a:gd name="T22" fmla="*/ 22 w 142"/>
                  <a:gd name="T23" fmla="*/ 1 h 36"/>
                  <a:gd name="T24" fmla="*/ 16 w 142"/>
                  <a:gd name="T25" fmla="*/ 1 h 36"/>
                  <a:gd name="T26" fmla="*/ 10 w 142"/>
                  <a:gd name="T27" fmla="*/ 0 h 36"/>
                  <a:gd name="T28" fmla="*/ 4 w 142"/>
                  <a:gd name="T29" fmla="*/ 1 h 36"/>
                  <a:gd name="T30" fmla="*/ 1 w 142"/>
                  <a:gd name="T31" fmla="*/ 2 h 36"/>
                  <a:gd name="T32" fmla="*/ 0 w 142"/>
                  <a:gd name="T33" fmla="*/ 3 h 36"/>
                  <a:gd name="T34" fmla="*/ 3 w 142"/>
                  <a:gd name="T35" fmla="*/ 4 h 36"/>
                  <a:gd name="T36" fmla="*/ 7 w 142"/>
                  <a:gd name="T37" fmla="*/ 5 h 36"/>
                  <a:gd name="T38" fmla="*/ 13 w 142"/>
                  <a:gd name="T39" fmla="*/ 6 h 36"/>
                  <a:gd name="T40" fmla="*/ 18 w 142"/>
                  <a:gd name="T41" fmla="*/ 7 h 36"/>
                  <a:gd name="T42" fmla="*/ 24 w 142"/>
                  <a:gd name="T43" fmla="*/ 8 h 36"/>
                  <a:gd name="T44" fmla="*/ 29 w 142"/>
                  <a:gd name="T45" fmla="*/ 10 h 36"/>
                  <a:gd name="T46" fmla="*/ 35 w 142"/>
                  <a:gd name="T47" fmla="*/ 11 h 36"/>
                  <a:gd name="T48" fmla="*/ 41 w 142"/>
                  <a:gd name="T49" fmla="*/ 12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2"/>
                  <a:gd name="T76" fmla="*/ 0 h 36"/>
                  <a:gd name="T77" fmla="*/ 142 w 14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77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36 w 351"/>
                  <a:gd name="T1" fmla="*/ 99 h 601"/>
                  <a:gd name="T2" fmla="*/ 44 w 351"/>
                  <a:gd name="T3" fmla="*/ 112 h 601"/>
                  <a:gd name="T4" fmla="*/ 52 w 351"/>
                  <a:gd name="T5" fmla="*/ 125 h 601"/>
                  <a:gd name="T6" fmla="*/ 61 w 351"/>
                  <a:gd name="T7" fmla="*/ 138 h 601"/>
                  <a:gd name="T8" fmla="*/ 69 w 351"/>
                  <a:gd name="T9" fmla="*/ 150 h 601"/>
                  <a:gd name="T10" fmla="*/ 78 w 351"/>
                  <a:gd name="T11" fmla="*/ 162 h 601"/>
                  <a:gd name="T12" fmla="*/ 88 w 351"/>
                  <a:gd name="T13" fmla="*/ 174 h 601"/>
                  <a:gd name="T14" fmla="*/ 97 w 351"/>
                  <a:gd name="T15" fmla="*/ 186 h 601"/>
                  <a:gd name="T16" fmla="*/ 107 w 351"/>
                  <a:gd name="T17" fmla="*/ 198 h 601"/>
                  <a:gd name="T18" fmla="*/ 109 w 351"/>
                  <a:gd name="T19" fmla="*/ 199 h 601"/>
                  <a:gd name="T20" fmla="*/ 111 w 351"/>
                  <a:gd name="T21" fmla="*/ 200 h 601"/>
                  <a:gd name="T22" fmla="*/ 112 w 351"/>
                  <a:gd name="T23" fmla="*/ 200 h 601"/>
                  <a:gd name="T24" fmla="*/ 114 w 351"/>
                  <a:gd name="T25" fmla="*/ 199 h 601"/>
                  <a:gd name="T26" fmla="*/ 116 w 351"/>
                  <a:gd name="T27" fmla="*/ 198 h 601"/>
                  <a:gd name="T28" fmla="*/ 117 w 351"/>
                  <a:gd name="T29" fmla="*/ 196 h 601"/>
                  <a:gd name="T30" fmla="*/ 117 w 351"/>
                  <a:gd name="T31" fmla="*/ 194 h 601"/>
                  <a:gd name="T32" fmla="*/ 116 w 351"/>
                  <a:gd name="T33" fmla="*/ 192 h 601"/>
                  <a:gd name="T34" fmla="*/ 109 w 351"/>
                  <a:gd name="T35" fmla="*/ 179 h 601"/>
                  <a:gd name="T36" fmla="*/ 101 w 351"/>
                  <a:gd name="T37" fmla="*/ 166 h 601"/>
                  <a:gd name="T38" fmla="*/ 93 w 351"/>
                  <a:gd name="T39" fmla="*/ 154 h 601"/>
                  <a:gd name="T40" fmla="*/ 84 w 351"/>
                  <a:gd name="T41" fmla="*/ 142 h 601"/>
                  <a:gd name="T42" fmla="*/ 75 w 351"/>
                  <a:gd name="T43" fmla="*/ 130 h 601"/>
                  <a:gd name="T44" fmla="*/ 66 w 351"/>
                  <a:gd name="T45" fmla="*/ 118 h 601"/>
                  <a:gd name="T46" fmla="*/ 57 w 351"/>
                  <a:gd name="T47" fmla="*/ 106 h 601"/>
                  <a:gd name="T48" fmla="*/ 49 w 351"/>
                  <a:gd name="T49" fmla="*/ 93 h 601"/>
                  <a:gd name="T50" fmla="*/ 42 w 351"/>
                  <a:gd name="T51" fmla="*/ 81 h 601"/>
                  <a:gd name="T52" fmla="*/ 34 w 351"/>
                  <a:gd name="T53" fmla="*/ 66 h 601"/>
                  <a:gd name="T54" fmla="*/ 26 w 351"/>
                  <a:gd name="T55" fmla="*/ 50 h 601"/>
                  <a:gd name="T56" fmla="*/ 20 w 351"/>
                  <a:gd name="T57" fmla="*/ 35 h 601"/>
                  <a:gd name="T58" fmla="*/ 13 w 351"/>
                  <a:gd name="T59" fmla="*/ 21 h 601"/>
                  <a:gd name="T60" fmla="*/ 7 w 351"/>
                  <a:gd name="T61" fmla="*/ 10 h 601"/>
                  <a:gd name="T62" fmla="*/ 3 w 351"/>
                  <a:gd name="T63" fmla="*/ 2 h 601"/>
                  <a:gd name="T64" fmla="*/ 0 w 351"/>
                  <a:gd name="T65" fmla="*/ 0 h 601"/>
                  <a:gd name="T66" fmla="*/ 1 w 351"/>
                  <a:gd name="T67" fmla="*/ 6 h 601"/>
                  <a:gd name="T68" fmla="*/ 4 w 351"/>
                  <a:gd name="T69" fmla="*/ 15 h 601"/>
                  <a:gd name="T70" fmla="*/ 8 w 351"/>
                  <a:gd name="T71" fmla="*/ 27 h 601"/>
                  <a:gd name="T72" fmla="*/ 13 w 351"/>
                  <a:gd name="T73" fmla="*/ 41 h 601"/>
                  <a:gd name="T74" fmla="*/ 18 w 351"/>
                  <a:gd name="T75" fmla="*/ 57 h 601"/>
                  <a:gd name="T76" fmla="*/ 23 w 351"/>
                  <a:gd name="T77" fmla="*/ 72 h 601"/>
                  <a:gd name="T78" fmla="*/ 30 w 351"/>
                  <a:gd name="T79" fmla="*/ 86 h 601"/>
                  <a:gd name="T80" fmla="*/ 36 w 351"/>
                  <a:gd name="T81" fmla="*/ 99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51"/>
                  <a:gd name="T124" fmla="*/ 0 h 601"/>
                  <a:gd name="T125" fmla="*/ 351 w 351"/>
                  <a:gd name="T126" fmla="*/ 601 h 60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Freeform 78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186 w 2164"/>
                  <a:gd name="T1" fmla="*/ 0 h 1979"/>
                  <a:gd name="T2" fmla="*/ 191 w 2164"/>
                  <a:gd name="T3" fmla="*/ 0 h 1979"/>
                  <a:gd name="T4" fmla="*/ 199 w 2164"/>
                  <a:gd name="T5" fmla="*/ 0 h 1979"/>
                  <a:gd name="T6" fmla="*/ 212 w 2164"/>
                  <a:gd name="T7" fmla="*/ 1 h 1979"/>
                  <a:gd name="T8" fmla="*/ 228 w 2164"/>
                  <a:gd name="T9" fmla="*/ 1 h 1979"/>
                  <a:gd name="T10" fmla="*/ 247 w 2164"/>
                  <a:gd name="T11" fmla="*/ 3 h 1979"/>
                  <a:gd name="T12" fmla="*/ 269 w 2164"/>
                  <a:gd name="T13" fmla="*/ 4 h 1979"/>
                  <a:gd name="T14" fmla="*/ 293 w 2164"/>
                  <a:gd name="T15" fmla="*/ 7 h 1979"/>
                  <a:gd name="T16" fmla="*/ 319 w 2164"/>
                  <a:gd name="T17" fmla="*/ 10 h 1979"/>
                  <a:gd name="T18" fmla="*/ 346 w 2164"/>
                  <a:gd name="T19" fmla="*/ 14 h 1979"/>
                  <a:gd name="T20" fmla="*/ 375 w 2164"/>
                  <a:gd name="T21" fmla="*/ 19 h 1979"/>
                  <a:gd name="T22" fmla="*/ 405 w 2164"/>
                  <a:gd name="T23" fmla="*/ 25 h 1979"/>
                  <a:gd name="T24" fmla="*/ 435 w 2164"/>
                  <a:gd name="T25" fmla="*/ 32 h 1979"/>
                  <a:gd name="T26" fmla="*/ 466 w 2164"/>
                  <a:gd name="T27" fmla="*/ 41 h 1979"/>
                  <a:gd name="T28" fmla="*/ 497 w 2164"/>
                  <a:gd name="T29" fmla="*/ 51 h 1979"/>
                  <a:gd name="T30" fmla="*/ 526 w 2164"/>
                  <a:gd name="T31" fmla="*/ 63 h 1979"/>
                  <a:gd name="T32" fmla="*/ 494 w 2164"/>
                  <a:gd name="T33" fmla="*/ 296 h 1979"/>
                  <a:gd name="T34" fmla="*/ 497 w 2164"/>
                  <a:gd name="T35" fmla="*/ 298 h 1979"/>
                  <a:gd name="T36" fmla="*/ 505 w 2164"/>
                  <a:gd name="T37" fmla="*/ 305 h 1979"/>
                  <a:gd name="T38" fmla="*/ 509 w 2164"/>
                  <a:gd name="T39" fmla="*/ 321 h 1979"/>
                  <a:gd name="T40" fmla="*/ 503 w 2164"/>
                  <a:gd name="T41" fmla="*/ 349 h 1979"/>
                  <a:gd name="T42" fmla="*/ 409 w 2164"/>
                  <a:gd name="T43" fmla="*/ 459 h 1979"/>
                  <a:gd name="T44" fmla="*/ 377 w 2164"/>
                  <a:gd name="T45" fmla="*/ 495 h 1979"/>
                  <a:gd name="T46" fmla="*/ 372 w 2164"/>
                  <a:gd name="T47" fmla="*/ 494 h 1979"/>
                  <a:gd name="T48" fmla="*/ 363 w 2164"/>
                  <a:gd name="T49" fmla="*/ 493 h 1979"/>
                  <a:gd name="T50" fmla="*/ 349 w 2164"/>
                  <a:gd name="T51" fmla="*/ 491 h 1979"/>
                  <a:gd name="T52" fmla="*/ 332 w 2164"/>
                  <a:gd name="T53" fmla="*/ 489 h 1979"/>
                  <a:gd name="T54" fmla="*/ 311 w 2164"/>
                  <a:gd name="T55" fmla="*/ 486 h 1979"/>
                  <a:gd name="T56" fmla="*/ 288 w 2164"/>
                  <a:gd name="T57" fmla="*/ 482 h 1979"/>
                  <a:gd name="T58" fmla="*/ 262 w 2164"/>
                  <a:gd name="T59" fmla="*/ 477 h 1979"/>
                  <a:gd name="T60" fmla="*/ 234 w 2164"/>
                  <a:gd name="T61" fmla="*/ 471 h 1979"/>
                  <a:gd name="T62" fmla="*/ 204 w 2164"/>
                  <a:gd name="T63" fmla="*/ 464 h 1979"/>
                  <a:gd name="T64" fmla="*/ 174 w 2164"/>
                  <a:gd name="T65" fmla="*/ 456 h 1979"/>
                  <a:gd name="T66" fmla="*/ 143 w 2164"/>
                  <a:gd name="T67" fmla="*/ 447 h 1979"/>
                  <a:gd name="T68" fmla="*/ 111 w 2164"/>
                  <a:gd name="T69" fmla="*/ 437 h 1979"/>
                  <a:gd name="T70" fmla="*/ 80 w 2164"/>
                  <a:gd name="T71" fmla="*/ 425 h 1979"/>
                  <a:gd name="T72" fmla="*/ 49 w 2164"/>
                  <a:gd name="T73" fmla="*/ 412 h 1979"/>
                  <a:gd name="T74" fmla="*/ 19 w 2164"/>
                  <a:gd name="T75" fmla="*/ 398 h 1979"/>
                  <a:gd name="T76" fmla="*/ 4 w 2164"/>
                  <a:gd name="T77" fmla="*/ 389 h 1979"/>
                  <a:gd name="T78" fmla="*/ 2 w 2164"/>
                  <a:gd name="T79" fmla="*/ 379 h 1979"/>
                  <a:gd name="T80" fmla="*/ 0 w 2164"/>
                  <a:gd name="T81" fmla="*/ 364 h 1979"/>
                  <a:gd name="T82" fmla="*/ 1 w 2164"/>
                  <a:gd name="T83" fmla="*/ 349 h 1979"/>
                  <a:gd name="T84" fmla="*/ 111 w 2164"/>
                  <a:gd name="T85" fmla="*/ 251 h 1979"/>
                  <a:gd name="T86" fmla="*/ 110 w 2164"/>
                  <a:gd name="T87" fmla="*/ 247 h 1979"/>
                  <a:gd name="T88" fmla="*/ 111 w 2164"/>
                  <a:gd name="T89" fmla="*/ 238 h 1979"/>
                  <a:gd name="T90" fmla="*/ 118 w 2164"/>
                  <a:gd name="T91" fmla="*/ 226 h 1979"/>
                  <a:gd name="T92" fmla="*/ 134 w 2164"/>
                  <a:gd name="T93" fmla="*/ 211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164"/>
                  <a:gd name="T142" fmla="*/ 0 h 1979"/>
                  <a:gd name="T143" fmla="*/ 2164 w 2164"/>
                  <a:gd name="T144" fmla="*/ 1979 h 197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3" name="Freeform 79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41 w 1244"/>
                  <a:gd name="T1" fmla="*/ 0 h 930"/>
                  <a:gd name="T2" fmla="*/ 311 w 1244"/>
                  <a:gd name="T3" fmla="*/ 54 h 930"/>
                  <a:gd name="T4" fmla="*/ 267 w 1244"/>
                  <a:gd name="T5" fmla="*/ 233 h 930"/>
                  <a:gd name="T6" fmla="*/ 0 w 1244"/>
                  <a:gd name="T7" fmla="*/ 172 h 930"/>
                  <a:gd name="T8" fmla="*/ 41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4"/>
                  <a:gd name="T16" fmla="*/ 0 h 930"/>
                  <a:gd name="T17" fmla="*/ 1244 w 1244"/>
                  <a:gd name="T18" fmla="*/ 930 h 9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Freeform 80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28 w 952"/>
                  <a:gd name="T1" fmla="*/ 0 h 366"/>
                  <a:gd name="T2" fmla="*/ 237 w 952"/>
                  <a:gd name="T3" fmla="*/ 38 h 366"/>
                  <a:gd name="T4" fmla="*/ 50 w 952"/>
                  <a:gd name="T5" fmla="*/ 27 h 366"/>
                  <a:gd name="T6" fmla="*/ 0 w 952"/>
                  <a:gd name="T7" fmla="*/ 91 h 366"/>
                  <a:gd name="T8" fmla="*/ 28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2"/>
                  <a:gd name="T16" fmla="*/ 0 h 366"/>
                  <a:gd name="T17" fmla="*/ 952 w 952"/>
                  <a:gd name="T18" fmla="*/ 366 h 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5" name="Freeform 81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10 w 1259"/>
                  <a:gd name="T1" fmla="*/ 0 h 337"/>
                  <a:gd name="T2" fmla="*/ 315 w 1259"/>
                  <a:gd name="T3" fmla="*/ 72 h 337"/>
                  <a:gd name="T4" fmla="*/ 307 w 1259"/>
                  <a:gd name="T5" fmla="*/ 84 h 337"/>
                  <a:gd name="T6" fmla="*/ 0 w 1259"/>
                  <a:gd name="T7" fmla="*/ 8 h 337"/>
                  <a:gd name="T8" fmla="*/ 1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9"/>
                  <a:gd name="T16" fmla="*/ 0 h 337"/>
                  <a:gd name="T17" fmla="*/ 1259 w 1259"/>
                  <a:gd name="T18" fmla="*/ 337 h 3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6" name="Freeform 82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11 w 1265"/>
                  <a:gd name="T1" fmla="*/ 0 h 342"/>
                  <a:gd name="T2" fmla="*/ 316 w 1265"/>
                  <a:gd name="T3" fmla="*/ 72 h 342"/>
                  <a:gd name="T4" fmla="*/ 306 w 1265"/>
                  <a:gd name="T5" fmla="*/ 86 h 342"/>
                  <a:gd name="T6" fmla="*/ 0 w 1265"/>
                  <a:gd name="T7" fmla="*/ 9 h 342"/>
                  <a:gd name="T8" fmla="*/ 11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5"/>
                  <a:gd name="T16" fmla="*/ 0 h 342"/>
                  <a:gd name="T17" fmla="*/ 1265 w 1265"/>
                  <a:gd name="T18" fmla="*/ 342 h 3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Freeform 83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11 w 1264"/>
                  <a:gd name="T1" fmla="*/ 0 h 344"/>
                  <a:gd name="T2" fmla="*/ 316 w 1264"/>
                  <a:gd name="T3" fmla="*/ 72 h 344"/>
                  <a:gd name="T4" fmla="*/ 306 w 1264"/>
                  <a:gd name="T5" fmla="*/ 86 h 344"/>
                  <a:gd name="T6" fmla="*/ 0 w 1264"/>
                  <a:gd name="T7" fmla="*/ 9 h 344"/>
                  <a:gd name="T8" fmla="*/ 11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4"/>
                  <a:gd name="T16" fmla="*/ 0 h 344"/>
                  <a:gd name="T17" fmla="*/ 1264 w 1264"/>
                  <a:gd name="T18" fmla="*/ 344 h 3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8" name="Freeform 84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5 w 190"/>
                  <a:gd name="T1" fmla="*/ 0 h 79"/>
                  <a:gd name="T2" fmla="*/ 6 w 190"/>
                  <a:gd name="T3" fmla="*/ 0 h 79"/>
                  <a:gd name="T4" fmla="*/ 10 w 190"/>
                  <a:gd name="T5" fmla="*/ 0 h 79"/>
                  <a:gd name="T6" fmla="*/ 16 w 190"/>
                  <a:gd name="T7" fmla="*/ 0 h 79"/>
                  <a:gd name="T8" fmla="*/ 23 w 190"/>
                  <a:gd name="T9" fmla="*/ 1 h 79"/>
                  <a:gd name="T10" fmla="*/ 30 w 190"/>
                  <a:gd name="T11" fmla="*/ 2 h 79"/>
                  <a:gd name="T12" fmla="*/ 37 w 190"/>
                  <a:gd name="T13" fmla="*/ 4 h 79"/>
                  <a:gd name="T14" fmla="*/ 44 w 190"/>
                  <a:gd name="T15" fmla="*/ 8 h 79"/>
                  <a:gd name="T16" fmla="*/ 48 w 190"/>
                  <a:gd name="T17" fmla="*/ 14 h 79"/>
                  <a:gd name="T18" fmla="*/ 48 w 190"/>
                  <a:gd name="T19" fmla="*/ 14 h 79"/>
                  <a:gd name="T20" fmla="*/ 48 w 190"/>
                  <a:gd name="T21" fmla="*/ 15 h 79"/>
                  <a:gd name="T22" fmla="*/ 48 w 190"/>
                  <a:gd name="T23" fmla="*/ 16 h 79"/>
                  <a:gd name="T24" fmla="*/ 47 w 190"/>
                  <a:gd name="T25" fmla="*/ 18 h 79"/>
                  <a:gd name="T26" fmla="*/ 46 w 190"/>
                  <a:gd name="T27" fmla="*/ 19 h 79"/>
                  <a:gd name="T28" fmla="*/ 44 w 190"/>
                  <a:gd name="T29" fmla="*/ 19 h 79"/>
                  <a:gd name="T30" fmla="*/ 40 w 190"/>
                  <a:gd name="T31" fmla="*/ 19 h 79"/>
                  <a:gd name="T32" fmla="*/ 36 w 190"/>
                  <a:gd name="T33" fmla="*/ 17 h 79"/>
                  <a:gd name="T34" fmla="*/ 36 w 190"/>
                  <a:gd name="T35" fmla="*/ 17 h 79"/>
                  <a:gd name="T36" fmla="*/ 36 w 190"/>
                  <a:gd name="T37" fmla="*/ 16 h 79"/>
                  <a:gd name="T38" fmla="*/ 35 w 190"/>
                  <a:gd name="T39" fmla="*/ 14 h 79"/>
                  <a:gd name="T40" fmla="*/ 33 w 190"/>
                  <a:gd name="T41" fmla="*/ 12 h 79"/>
                  <a:gd name="T42" fmla="*/ 29 w 190"/>
                  <a:gd name="T43" fmla="*/ 10 h 79"/>
                  <a:gd name="T44" fmla="*/ 24 w 190"/>
                  <a:gd name="T45" fmla="*/ 8 h 79"/>
                  <a:gd name="T46" fmla="*/ 16 w 190"/>
                  <a:gd name="T47" fmla="*/ 8 h 79"/>
                  <a:gd name="T48" fmla="*/ 6 w 190"/>
                  <a:gd name="T49" fmla="*/ 8 h 79"/>
                  <a:gd name="T50" fmla="*/ 5 w 190"/>
                  <a:gd name="T51" fmla="*/ 8 h 79"/>
                  <a:gd name="T52" fmla="*/ 4 w 190"/>
                  <a:gd name="T53" fmla="*/ 7 h 79"/>
                  <a:gd name="T54" fmla="*/ 2 w 190"/>
                  <a:gd name="T55" fmla="*/ 6 h 79"/>
                  <a:gd name="T56" fmla="*/ 1 w 190"/>
                  <a:gd name="T57" fmla="*/ 6 h 79"/>
                  <a:gd name="T58" fmla="*/ 0 w 190"/>
                  <a:gd name="T59" fmla="*/ 5 h 79"/>
                  <a:gd name="T60" fmla="*/ 0 w 190"/>
                  <a:gd name="T61" fmla="*/ 4 h 79"/>
                  <a:gd name="T62" fmla="*/ 2 w 190"/>
                  <a:gd name="T63" fmla="*/ 2 h 79"/>
                  <a:gd name="T64" fmla="*/ 5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0"/>
                  <a:gd name="T100" fmla="*/ 0 h 79"/>
                  <a:gd name="T101" fmla="*/ 190 w 190"/>
                  <a:gd name="T102" fmla="*/ 79 h 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85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11 w 107"/>
                  <a:gd name="T1" fmla="*/ 14 h 63"/>
                  <a:gd name="T2" fmla="*/ 14 w 107"/>
                  <a:gd name="T3" fmla="*/ 15 h 63"/>
                  <a:gd name="T4" fmla="*/ 16 w 107"/>
                  <a:gd name="T5" fmla="*/ 15 h 63"/>
                  <a:gd name="T6" fmla="*/ 19 w 107"/>
                  <a:gd name="T7" fmla="*/ 15 h 63"/>
                  <a:gd name="T8" fmla="*/ 21 w 107"/>
                  <a:gd name="T9" fmla="*/ 15 h 63"/>
                  <a:gd name="T10" fmla="*/ 23 w 107"/>
                  <a:gd name="T11" fmla="*/ 15 h 63"/>
                  <a:gd name="T12" fmla="*/ 24 w 107"/>
                  <a:gd name="T13" fmla="*/ 14 h 63"/>
                  <a:gd name="T14" fmla="*/ 26 w 107"/>
                  <a:gd name="T15" fmla="*/ 13 h 63"/>
                  <a:gd name="T16" fmla="*/ 27 w 107"/>
                  <a:gd name="T17" fmla="*/ 11 h 63"/>
                  <a:gd name="T18" fmla="*/ 27 w 107"/>
                  <a:gd name="T19" fmla="*/ 10 h 63"/>
                  <a:gd name="T20" fmla="*/ 27 w 107"/>
                  <a:gd name="T21" fmla="*/ 9 h 63"/>
                  <a:gd name="T22" fmla="*/ 26 w 107"/>
                  <a:gd name="T23" fmla="*/ 7 h 63"/>
                  <a:gd name="T24" fmla="*/ 24 w 107"/>
                  <a:gd name="T25" fmla="*/ 6 h 63"/>
                  <a:gd name="T26" fmla="*/ 23 w 107"/>
                  <a:gd name="T27" fmla="*/ 5 h 63"/>
                  <a:gd name="T28" fmla="*/ 21 w 107"/>
                  <a:gd name="T29" fmla="*/ 3 h 63"/>
                  <a:gd name="T30" fmla="*/ 19 w 107"/>
                  <a:gd name="T31" fmla="*/ 2 h 63"/>
                  <a:gd name="T32" fmla="*/ 16 w 107"/>
                  <a:gd name="T33" fmla="*/ 1 h 63"/>
                  <a:gd name="T34" fmla="*/ 13 w 107"/>
                  <a:gd name="T35" fmla="*/ 0 h 63"/>
                  <a:gd name="T36" fmla="*/ 11 w 107"/>
                  <a:gd name="T37" fmla="*/ 0 h 63"/>
                  <a:gd name="T38" fmla="*/ 8 w 107"/>
                  <a:gd name="T39" fmla="*/ 0 h 63"/>
                  <a:gd name="T40" fmla="*/ 6 w 107"/>
                  <a:gd name="T41" fmla="*/ 0 h 63"/>
                  <a:gd name="T42" fmla="*/ 4 w 107"/>
                  <a:gd name="T43" fmla="*/ 0 h 63"/>
                  <a:gd name="T44" fmla="*/ 2 w 107"/>
                  <a:gd name="T45" fmla="*/ 1 h 63"/>
                  <a:gd name="T46" fmla="*/ 1 w 107"/>
                  <a:gd name="T47" fmla="*/ 2 h 63"/>
                  <a:gd name="T48" fmla="*/ 0 w 107"/>
                  <a:gd name="T49" fmla="*/ 3 h 63"/>
                  <a:gd name="T50" fmla="*/ 0 w 107"/>
                  <a:gd name="T51" fmla="*/ 5 h 63"/>
                  <a:gd name="T52" fmla="*/ 0 w 107"/>
                  <a:gd name="T53" fmla="*/ 6 h 63"/>
                  <a:gd name="T54" fmla="*/ 1 w 107"/>
                  <a:gd name="T55" fmla="*/ 8 h 63"/>
                  <a:gd name="T56" fmla="*/ 2 w 107"/>
                  <a:gd name="T57" fmla="*/ 9 h 63"/>
                  <a:gd name="T58" fmla="*/ 4 w 107"/>
                  <a:gd name="T59" fmla="*/ 10 h 63"/>
                  <a:gd name="T60" fmla="*/ 6 w 107"/>
                  <a:gd name="T61" fmla="*/ 12 h 63"/>
                  <a:gd name="T62" fmla="*/ 8 w 107"/>
                  <a:gd name="T63" fmla="*/ 13 h 63"/>
                  <a:gd name="T64" fmla="*/ 11 w 107"/>
                  <a:gd name="T65" fmla="*/ 14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63"/>
                  <a:gd name="T101" fmla="*/ 107 w 107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86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366 w 1469"/>
                  <a:gd name="T1" fmla="*/ 102 h 525"/>
                  <a:gd name="T2" fmla="*/ 361 w 1469"/>
                  <a:gd name="T3" fmla="*/ 101 h 525"/>
                  <a:gd name="T4" fmla="*/ 352 w 1469"/>
                  <a:gd name="T5" fmla="*/ 100 h 525"/>
                  <a:gd name="T6" fmla="*/ 338 w 1469"/>
                  <a:gd name="T7" fmla="*/ 98 h 525"/>
                  <a:gd name="T8" fmla="*/ 321 w 1469"/>
                  <a:gd name="T9" fmla="*/ 96 h 525"/>
                  <a:gd name="T10" fmla="*/ 301 w 1469"/>
                  <a:gd name="T11" fmla="*/ 92 h 525"/>
                  <a:gd name="T12" fmla="*/ 277 w 1469"/>
                  <a:gd name="T13" fmla="*/ 88 h 525"/>
                  <a:gd name="T14" fmla="*/ 252 w 1469"/>
                  <a:gd name="T15" fmla="*/ 84 h 525"/>
                  <a:gd name="T16" fmla="*/ 224 w 1469"/>
                  <a:gd name="T17" fmla="*/ 78 h 525"/>
                  <a:gd name="T18" fmla="*/ 195 w 1469"/>
                  <a:gd name="T19" fmla="*/ 71 h 525"/>
                  <a:gd name="T20" fmla="*/ 166 w 1469"/>
                  <a:gd name="T21" fmla="*/ 63 h 525"/>
                  <a:gd name="T22" fmla="*/ 135 w 1469"/>
                  <a:gd name="T23" fmla="*/ 54 h 525"/>
                  <a:gd name="T24" fmla="*/ 104 w 1469"/>
                  <a:gd name="T25" fmla="*/ 44 h 525"/>
                  <a:gd name="T26" fmla="*/ 74 w 1469"/>
                  <a:gd name="T27" fmla="*/ 33 h 525"/>
                  <a:gd name="T28" fmla="*/ 44 w 1469"/>
                  <a:gd name="T29" fmla="*/ 21 h 525"/>
                  <a:gd name="T30" fmla="*/ 16 w 1469"/>
                  <a:gd name="T31" fmla="*/ 7 h 525"/>
                  <a:gd name="T32" fmla="*/ 2 w 1469"/>
                  <a:gd name="T33" fmla="*/ 1 h 525"/>
                  <a:gd name="T34" fmla="*/ 1 w 1469"/>
                  <a:gd name="T35" fmla="*/ 8 h 525"/>
                  <a:gd name="T36" fmla="*/ 0 w 1469"/>
                  <a:gd name="T37" fmla="*/ 20 h 525"/>
                  <a:gd name="T38" fmla="*/ 2 w 1469"/>
                  <a:gd name="T39" fmla="*/ 31 h 525"/>
                  <a:gd name="T40" fmla="*/ 6 w 1469"/>
                  <a:gd name="T41" fmla="*/ 36 h 525"/>
                  <a:gd name="T42" fmla="*/ 8 w 1469"/>
                  <a:gd name="T43" fmla="*/ 37 h 525"/>
                  <a:gd name="T44" fmla="*/ 13 w 1469"/>
                  <a:gd name="T45" fmla="*/ 40 h 525"/>
                  <a:gd name="T46" fmla="*/ 21 w 1469"/>
                  <a:gd name="T47" fmla="*/ 44 h 525"/>
                  <a:gd name="T48" fmla="*/ 32 w 1469"/>
                  <a:gd name="T49" fmla="*/ 49 h 525"/>
                  <a:gd name="T50" fmla="*/ 45 w 1469"/>
                  <a:gd name="T51" fmla="*/ 55 h 525"/>
                  <a:gd name="T52" fmla="*/ 62 w 1469"/>
                  <a:gd name="T53" fmla="*/ 62 h 525"/>
                  <a:gd name="T54" fmla="*/ 80 w 1469"/>
                  <a:gd name="T55" fmla="*/ 69 h 525"/>
                  <a:gd name="T56" fmla="*/ 102 w 1469"/>
                  <a:gd name="T57" fmla="*/ 77 h 525"/>
                  <a:gd name="T58" fmla="*/ 127 w 1469"/>
                  <a:gd name="T59" fmla="*/ 85 h 525"/>
                  <a:gd name="T60" fmla="*/ 154 w 1469"/>
                  <a:gd name="T61" fmla="*/ 93 h 525"/>
                  <a:gd name="T62" fmla="*/ 185 w 1469"/>
                  <a:gd name="T63" fmla="*/ 100 h 525"/>
                  <a:gd name="T64" fmla="*/ 218 w 1469"/>
                  <a:gd name="T65" fmla="*/ 108 h 525"/>
                  <a:gd name="T66" fmla="*/ 254 w 1469"/>
                  <a:gd name="T67" fmla="*/ 115 h 525"/>
                  <a:gd name="T68" fmla="*/ 294 w 1469"/>
                  <a:gd name="T69" fmla="*/ 122 h 525"/>
                  <a:gd name="T70" fmla="*/ 336 w 1469"/>
                  <a:gd name="T71" fmla="*/ 128 h 525"/>
                  <a:gd name="T72" fmla="*/ 359 w 1469"/>
                  <a:gd name="T73" fmla="*/ 131 h 525"/>
                  <a:gd name="T74" fmla="*/ 362 w 1469"/>
                  <a:gd name="T75" fmla="*/ 126 h 525"/>
                  <a:gd name="T76" fmla="*/ 365 w 1469"/>
                  <a:gd name="T77" fmla="*/ 118 h 525"/>
                  <a:gd name="T78" fmla="*/ 367 w 1469"/>
                  <a:gd name="T79" fmla="*/ 108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69"/>
                  <a:gd name="T121" fmla="*/ 0 h 525"/>
                  <a:gd name="T122" fmla="*/ 1469 w 1469"/>
                  <a:gd name="T123" fmla="*/ 525 h 5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87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13 w 170"/>
                  <a:gd name="T1" fmla="*/ 0 h 120"/>
                  <a:gd name="T2" fmla="*/ 12 w 170"/>
                  <a:gd name="T3" fmla="*/ 0 h 120"/>
                  <a:gd name="T4" fmla="*/ 10 w 170"/>
                  <a:gd name="T5" fmla="*/ 1 h 120"/>
                  <a:gd name="T6" fmla="*/ 7 w 170"/>
                  <a:gd name="T7" fmla="*/ 2 h 120"/>
                  <a:gd name="T8" fmla="*/ 4 w 170"/>
                  <a:gd name="T9" fmla="*/ 4 h 120"/>
                  <a:gd name="T10" fmla="*/ 2 w 170"/>
                  <a:gd name="T11" fmla="*/ 6 h 120"/>
                  <a:gd name="T12" fmla="*/ 0 w 170"/>
                  <a:gd name="T13" fmla="*/ 10 h 120"/>
                  <a:gd name="T14" fmla="*/ 0 w 170"/>
                  <a:gd name="T15" fmla="*/ 16 h 120"/>
                  <a:gd name="T16" fmla="*/ 2 w 170"/>
                  <a:gd name="T17" fmla="*/ 23 h 120"/>
                  <a:gd name="T18" fmla="*/ 24 w 170"/>
                  <a:gd name="T19" fmla="*/ 29 h 120"/>
                  <a:gd name="T20" fmla="*/ 24 w 170"/>
                  <a:gd name="T21" fmla="*/ 28 h 120"/>
                  <a:gd name="T22" fmla="*/ 24 w 170"/>
                  <a:gd name="T23" fmla="*/ 25 h 120"/>
                  <a:gd name="T24" fmla="*/ 24 w 170"/>
                  <a:gd name="T25" fmla="*/ 20 h 120"/>
                  <a:gd name="T26" fmla="*/ 25 w 170"/>
                  <a:gd name="T27" fmla="*/ 15 h 120"/>
                  <a:gd name="T28" fmla="*/ 27 w 170"/>
                  <a:gd name="T29" fmla="*/ 11 h 120"/>
                  <a:gd name="T30" fmla="*/ 30 w 170"/>
                  <a:gd name="T31" fmla="*/ 7 h 120"/>
                  <a:gd name="T32" fmla="*/ 35 w 170"/>
                  <a:gd name="T33" fmla="*/ 5 h 120"/>
                  <a:gd name="T34" fmla="*/ 42 w 170"/>
                  <a:gd name="T35" fmla="*/ 6 h 120"/>
                  <a:gd name="T36" fmla="*/ 13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20"/>
                  <a:gd name="T59" fmla="*/ 170 w 170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88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13 w 170"/>
                  <a:gd name="T1" fmla="*/ 0 h 119"/>
                  <a:gd name="T2" fmla="*/ 12 w 170"/>
                  <a:gd name="T3" fmla="*/ 0 h 119"/>
                  <a:gd name="T4" fmla="*/ 10 w 170"/>
                  <a:gd name="T5" fmla="*/ 1 h 119"/>
                  <a:gd name="T6" fmla="*/ 7 w 170"/>
                  <a:gd name="T7" fmla="*/ 2 h 119"/>
                  <a:gd name="T8" fmla="*/ 5 w 170"/>
                  <a:gd name="T9" fmla="*/ 3 h 119"/>
                  <a:gd name="T10" fmla="*/ 2 w 170"/>
                  <a:gd name="T11" fmla="*/ 6 h 119"/>
                  <a:gd name="T12" fmla="*/ 0 w 170"/>
                  <a:gd name="T13" fmla="*/ 10 h 119"/>
                  <a:gd name="T14" fmla="*/ 0 w 170"/>
                  <a:gd name="T15" fmla="*/ 16 h 119"/>
                  <a:gd name="T16" fmla="*/ 2 w 170"/>
                  <a:gd name="T17" fmla="*/ 23 h 119"/>
                  <a:gd name="T18" fmla="*/ 25 w 170"/>
                  <a:gd name="T19" fmla="*/ 29 h 119"/>
                  <a:gd name="T20" fmla="*/ 24 w 170"/>
                  <a:gd name="T21" fmla="*/ 28 h 119"/>
                  <a:gd name="T22" fmla="*/ 24 w 170"/>
                  <a:gd name="T23" fmla="*/ 25 h 119"/>
                  <a:gd name="T24" fmla="*/ 24 w 170"/>
                  <a:gd name="T25" fmla="*/ 20 h 119"/>
                  <a:gd name="T26" fmla="*/ 25 w 170"/>
                  <a:gd name="T27" fmla="*/ 15 h 119"/>
                  <a:gd name="T28" fmla="*/ 27 w 170"/>
                  <a:gd name="T29" fmla="*/ 11 h 119"/>
                  <a:gd name="T30" fmla="*/ 30 w 170"/>
                  <a:gd name="T31" fmla="*/ 7 h 119"/>
                  <a:gd name="T32" fmla="*/ 36 w 170"/>
                  <a:gd name="T33" fmla="*/ 5 h 119"/>
                  <a:gd name="T34" fmla="*/ 43 w 170"/>
                  <a:gd name="T35" fmla="*/ 6 h 119"/>
                  <a:gd name="T36" fmla="*/ 13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19"/>
                  <a:gd name="T59" fmla="*/ 170 w 170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89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11 h 200"/>
                  <a:gd name="T2" fmla="*/ 174 w 730"/>
                  <a:gd name="T3" fmla="*/ 50 h 200"/>
                  <a:gd name="T4" fmla="*/ 182 w 730"/>
                  <a:gd name="T5" fmla="*/ 39 h 200"/>
                  <a:gd name="T6" fmla="*/ 8 w 730"/>
                  <a:gd name="T7" fmla="*/ 0 h 200"/>
                  <a:gd name="T8" fmla="*/ 0 w 730"/>
                  <a:gd name="T9" fmla="*/ 11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0"/>
                  <a:gd name="T16" fmla="*/ 0 h 200"/>
                  <a:gd name="T17" fmla="*/ 730 w 730"/>
                  <a:gd name="T18" fmla="*/ 200 h 2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90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8 h 187"/>
                  <a:gd name="T2" fmla="*/ 174 w 703"/>
                  <a:gd name="T3" fmla="*/ 47 h 187"/>
                  <a:gd name="T4" fmla="*/ 176 w 703"/>
                  <a:gd name="T5" fmla="*/ 39 h 187"/>
                  <a:gd name="T6" fmla="*/ 2 w 703"/>
                  <a:gd name="T7" fmla="*/ 0 h 187"/>
                  <a:gd name="T8" fmla="*/ 0 w 703"/>
                  <a:gd name="T9" fmla="*/ 8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3"/>
                  <a:gd name="T16" fmla="*/ 0 h 187"/>
                  <a:gd name="T17" fmla="*/ 703 w 703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91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127 h 508"/>
                  <a:gd name="T2" fmla="*/ 22 w 424"/>
                  <a:gd name="T3" fmla="*/ 97 h 508"/>
                  <a:gd name="T4" fmla="*/ 31 w 424"/>
                  <a:gd name="T5" fmla="*/ 97 h 508"/>
                  <a:gd name="T6" fmla="*/ 106 w 424"/>
                  <a:gd name="T7" fmla="*/ 0 h 508"/>
                  <a:gd name="T8" fmla="*/ 33 w 424"/>
                  <a:gd name="T9" fmla="*/ 71 h 508"/>
                  <a:gd name="T10" fmla="*/ 17 w 424"/>
                  <a:gd name="T11" fmla="*/ 72 h 508"/>
                  <a:gd name="T12" fmla="*/ 0 w 424"/>
                  <a:gd name="T13" fmla="*/ 90 h 508"/>
                  <a:gd name="T14" fmla="*/ 0 w 424"/>
                  <a:gd name="T15" fmla="*/ 127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4"/>
                  <a:gd name="T25" fmla="*/ 0 h 508"/>
                  <a:gd name="T26" fmla="*/ 424 w 424"/>
                  <a:gd name="T27" fmla="*/ 508 h 5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92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296 w 1186"/>
                  <a:gd name="T3" fmla="*/ 61 h 245"/>
                  <a:gd name="T4" fmla="*/ 296 w 1186"/>
                  <a:gd name="T5" fmla="*/ 61 h 245"/>
                  <a:gd name="T6" fmla="*/ 295 w 1186"/>
                  <a:gd name="T7" fmla="*/ 60 h 245"/>
                  <a:gd name="T8" fmla="*/ 293 w 1186"/>
                  <a:gd name="T9" fmla="*/ 60 h 245"/>
                  <a:gd name="T10" fmla="*/ 290 w 1186"/>
                  <a:gd name="T11" fmla="*/ 58 h 245"/>
                  <a:gd name="T12" fmla="*/ 286 w 1186"/>
                  <a:gd name="T13" fmla="*/ 57 h 245"/>
                  <a:gd name="T14" fmla="*/ 282 w 1186"/>
                  <a:gd name="T15" fmla="*/ 55 h 245"/>
                  <a:gd name="T16" fmla="*/ 278 w 1186"/>
                  <a:gd name="T17" fmla="*/ 53 h 245"/>
                  <a:gd name="T18" fmla="*/ 272 w 1186"/>
                  <a:gd name="T19" fmla="*/ 51 h 245"/>
                  <a:gd name="T20" fmla="*/ 266 w 1186"/>
                  <a:gd name="T21" fmla="*/ 49 h 245"/>
                  <a:gd name="T22" fmla="*/ 259 w 1186"/>
                  <a:gd name="T23" fmla="*/ 47 h 245"/>
                  <a:gd name="T24" fmla="*/ 252 w 1186"/>
                  <a:gd name="T25" fmla="*/ 44 h 245"/>
                  <a:gd name="T26" fmla="*/ 244 w 1186"/>
                  <a:gd name="T27" fmla="*/ 41 h 245"/>
                  <a:gd name="T28" fmla="*/ 236 w 1186"/>
                  <a:gd name="T29" fmla="*/ 38 h 245"/>
                  <a:gd name="T30" fmla="*/ 227 w 1186"/>
                  <a:gd name="T31" fmla="*/ 36 h 245"/>
                  <a:gd name="T32" fmla="*/ 217 w 1186"/>
                  <a:gd name="T33" fmla="*/ 33 h 245"/>
                  <a:gd name="T34" fmla="*/ 208 w 1186"/>
                  <a:gd name="T35" fmla="*/ 30 h 245"/>
                  <a:gd name="T36" fmla="*/ 197 w 1186"/>
                  <a:gd name="T37" fmla="*/ 27 h 245"/>
                  <a:gd name="T38" fmla="*/ 186 w 1186"/>
                  <a:gd name="T39" fmla="*/ 24 h 245"/>
                  <a:gd name="T40" fmla="*/ 175 w 1186"/>
                  <a:gd name="T41" fmla="*/ 21 h 245"/>
                  <a:gd name="T42" fmla="*/ 163 w 1186"/>
                  <a:gd name="T43" fmla="*/ 18 h 245"/>
                  <a:gd name="T44" fmla="*/ 151 w 1186"/>
                  <a:gd name="T45" fmla="*/ 16 h 245"/>
                  <a:gd name="T46" fmla="*/ 139 w 1186"/>
                  <a:gd name="T47" fmla="*/ 13 h 245"/>
                  <a:gd name="T48" fmla="*/ 126 w 1186"/>
                  <a:gd name="T49" fmla="*/ 11 h 245"/>
                  <a:gd name="T50" fmla="*/ 113 w 1186"/>
                  <a:gd name="T51" fmla="*/ 9 h 245"/>
                  <a:gd name="T52" fmla="*/ 100 w 1186"/>
                  <a:gd name="T53" fmla="*/ 7 h 245"/>
                  <a:gd name="T54" fmla="*/ 86 w 1186"/>
                  <a:gd name="T55" fmla="*/ 5 h 245"/>
                  <a:gd name="T56" fmla="*/ 72 w 1186"/>
                  <a:gd name="T57" fmla="*/ 4 h 245"/>
                  <a:gd name="T58" fmla="*/ 58 w 1186"/>
                  <a:gd name="T59" fmla="*/ 2 h 245"/>
                  <a:gd name="T60" fmla="*/ 44 w 1186"/>
                  <a:gd name="T61" fmla="*/ 1 h 245"/>
                  <a:gd name="T62" fmla="*/ 29 w 1186"/>
                  <a:gd name="T63" fmla="*/ 0 h 245"/>
                  <a:gd name="T64" fmla="*/ 15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86"/>
                  <a:gd name="T103" fmla="*/ 0 h 245"/>
                  <a:gd name="T104" fmla="*/ 1186 w 1186"/>
                  <a:gd name="T105" fmla="*/ 245 h 2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93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60 w 241"/>
                  <a:gd name="T1" fmla="*/ 0 h 738"/>
                  <a:gd name="T2" fmla="*/ 13 w 241"/>
                  <a:gd name="T3" fmla="*/ 185 h 738"/>
                  <a:gd name="T4" fmla="*/ 0 w 241"/>
                  <a:gd name="T5" fmla="*/ 182 h 738"/>
                  <a:gd name="T6" fmla="*/ 42 w 241"/>
                  <a:gd name="T7" fmla="*/ 0 h 738"/>
                  <a:gd name="T8" fmla="*/ 6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738"/>
                  <a:gd name="T17" fmla="*/ 241 w 241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7419" name="Freeform 94"/>
          <p:cNvSpPr>
            <a:spLocks/>
          </p:cNvSpPr>
          <p:nvPr/>
        </p:nvSpPr>
        <p:spPr bwMode="auto">
          <a:xfrm>
            <a:off x="6057900" y="1584325"/>
            <a:ext cx="1838325" cy="1711325"/>
          </a:xfrm>
          <a:custGeom>
            <a:avLst/>
            <a:gdLst>
              <a:gd name="T0" fmla="*/ 2541 w 2894"/>
              <a:gd name="T1" fmla="*/ 845813 h 2693"/>
              <a:gd name="T2" fmla="*/ 221692 w 2894"/>
              <a:gd name="T3" fmla="*/ 323455 h 2693"/>
              <a:gd name="T4" fmla="*/ 879144 w 2894"/>
              <a:gd name="T5" fmla="*/ 218602 h 2693"/>
              <a:gd name="T6" fmla="*/ 1649030 w 2894"/>
              <a:gd name="T7" fmla="*/ 108030 h 2693"/>
              <a:gd name="T8" fmla="*/ 1831973 w 2894"/>
              <a:gd name="T9" fmla="*/ 866783 h 2693"/>
              <a:gd name="T10" fmla="*/ 1689048 w 2894"/>
              <a:gd name="T11" fmla="*/ 1362451 h 2693"/>
              <a:gd name="T12" fmla="*/ 1336502 w 2894"/>
              <a:gd name="T13" fmla="*/ 1591221 h 2693"/>
              <a:gd name="T14" fmla="*/ 1041125 w 2894"/>
              <a:gd name="T15" fmla="*/ 1638881 h 2693"/>
              <a:gd name="T16" fmla="*/ 663169 w 2894"/>
              <a:gd name="T17" fmla="*/ 1671290 h 2693"/>
              <a:gd name="T18" fmla="*/ 219786 w 2894"/>
              <a:gd name="T19" fmla="*/ 1398673 h 2693"/>
              <a:gd name="T20" fmla="*/ 2541 w 2894"/>
              <a:gd name="T21" fmla="*/ 845813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94"/>
              <a:gd name="T34" fmla="*/ 0 h 2693"/>
              <a:gd name="T35" fmla="*/ 2894 w 2894"/>
              <a:gd name="T36" fmla="*/ 2693 h 26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7420" name="Group 95"/>
          <p:cNvGrpSpPr>
            <a:grpSpLocks/>
          </p:cNvGrpSpPr>
          <p:nvPr/>
        </p:nvGrpSpPr>
        <p:grpSpPr bwMode="auto">
          <a:xfrm>
            <a:off x="6350000" y="2822575"/>
            <a:ext cx="501650" cy="233363"/>
            <a:chOff x="3600" y="219"/>
            <a:chExt cx="360" cy="175"/>
          </a:xfrm>
        </p:grpSpPr>
        <p:sp>
          <p:nvSpPr>
            <p:cNvPr id="17445" name="Oval 96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6" name="Line 97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7" name="Line 98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448" name="Rectangle 99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7449" name="Oval 100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7450" name="Group 101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7455" name="Line 102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6" name="Line 103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7" name="Line 104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7451" name="Group 105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7452" name="Line 106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3" name="Line 107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54" name="Line 108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7421" name="Line 109"/>
          <p:cNvSpPr>
            <a:spLocks noChangeShapeType="1"/>
          </p:cNvSpPr>
          <p:nvPr/>
        </p:nvSpPr>
        <p:spPr bwMode="auto">
          <a:xfrm>
            <a:off x="6380163" y="2651125"/>
            <a:ext cx="133350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2" name="Line 110"/>
          <p:cNvSpPr>
            <a:spLocks noChangeShapeType="1"/>
          </p:cNvSpPr>
          <p:nvPr/>
        </p:nvSpPr>
        <p:spPr bwMode="auto">
          <a:xfrm>
            <a:off x="6589713" y="2651125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423" name="Line 111"/>
          <p:cNvSpPr>
            <a:spLocks noChangeShapeType="1"/>
          </p:cNvSpPr>
          <p:nvPr/>
        </p:nvSpPr>
        <p:spPr bwMode="auto">
          <a:xfrm>
            <a:off x="7442200" y="2484438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7424" name="Group 112"/>
          <p:cNvGrpSpPr>
            <a:grpSpLocks/>
          </p:cNvGrpSpPr>
          <p:nvPr/>
        </p:nvGrpSpPr>
        <p:grpSpPr bwMode="auto">
          <a:xfrm>
            <a:off x="6985000" y="2012950"/>
            <a:ext cx="914400" cy="590550"/>
            <a:chOff x="10665" y="3225"/>
            <a:chExt cx="1440" cy="930"/>
          </a:xfrm>
        </p:grpSpPr>
        <p:sp>
          <p:nvSpPr>
            <p:cNvPr id="17443" name="Oval 113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444" name="Group 114"/>
            <p:cNvGrpSpPr>
              <a:grpSpLocks/>
            </p:cNvGrpSpPr>
            <p:nvPr/>
          </p:nvGrpSpPr>
          <p:grpSpPr bwMode="auto"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17410" name="Object 11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17410" r:id="rId4" imgW="819000" imgH="847800" progId="">
                  <p:embed/>
                </p:oleObj>
              </a:graphicData>
            </a:graphic>
          </p:graphicFrame>
          <p:graphicFrame>
            <p:nvGraphicFramePr>
              <p:cNvPr id="17411" name="Object 11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17411" r:id="rId5" imgW="1266840" imgH="1200240" progId="">
                  <p:embed/>
                </p:oleObj>
              </a:graphicData>
            </a:graphic>
          </p:graphicFrame>
        </p:grpSp>
      </p:grpSp>
      <p:sp>
        <p:nvSpPr>
          <p:cNvPr id="17425" name="Freeform 117"/>
          <p:cNvSpPr>
            <a:spLocks/>
          </p:cNvSpPr>
          <p:nvPr/>
        </p:nvSpPr>
        <p:spPr bwMode="auto">
          <a:xfrm>
            <a:off x="3598863" y="2530475"/>
            <a:ext cx="2109787" cy="1250950"/>
          </a:xfrm>
          <a:custGeom>
            <a:avLst/>
            <a:gdLst>
              <a:gd name="T0" fmla="*/ 378289 w 3324"/>
              <a:gd name="T1" fmla="*/ 9520 h 1971"/>
              <a:gd name="T2" fmla="*/ 94572 w 3324"/>
              <a:gd name="T3" fmla="*/ 209444 h 1971"/>
              <a:gd name="T4" fmla="*/ 1904 w 3324"/>
              <a:gd name="T5" fmla="*/ 676567 h 1971"/>
              <a:gd name="T6" fmla="*/ 106632 w 3324"/>
              <a:gd name="T7" fmla="*/ 1019293 h 1971"/>
              <a:gd name="T8" fmla="*/ 386540 w 3324"/>
              <a:gd name="T9" fmla="*/ 1162095 h 1971"/>
              <a:gd name="T10" fmla="*/ 687395 w 3324"/>
              <a:gd name="T11" fmla="*/ 1095454 h 1971"/>
              <a:gd name="T12" fmla="*/ 982536 w 3324"/>
              <a:gd name="T13" fmla="*/ 1190656 h 1971"/>
              <a:gd name="T14" fmla="*/ 1506175 w 3324"/>
              <a:gd name="T15" fmla="*/ 1219216 h 1971"/>
              <a:gd name="T16" fmla="*/ 2058375 w 3324"/>
              <a:gd name="T17" fmla="*/ 1000252 h 1971"/>
              <a:gd name="T18" fmla="*/ 1814645 w 3324"/>
              <a:gd name="T19" fmla="*/ 593424 h 1971"/>
              <a:gd name="T20" fmla="*/ 1722612 w 3324"/>
              <a:gd name="T21" fmla="*/ 281797 h 1971"/>
              <a:gd name="T22" fmla="*/ 1087899 w 3324"/>
              <a:gd name="T23" fmla="*/ 153592 h 1971"/>
              <a:gd name="T24" fmla="*/ 378289 w 3324"/>
              <a:gd name="T25" fmla="*/ 9520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24"/>
              <a:gd name="T40" fmla="*/ 0 h 1971"/>
              <a:gd name="T41" fmla="*/ 3324 w 3324"/>
              <a:gd name="T42" fmla="*/ 1971 h 19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Text Box 118"/>
          <p:cNvSpPr txBox="1">
            <a:spLocks noChangeArrowheads="1"/>
          </p:cNvSpPr>
          <p:nvPr/>
        </p:nvSpPr>
        <p:spPr bwMode="auto">
          <a:xfrm>
            <a:off x="3773488" y="2827338"/>
            <a:ext cx="1447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b="0">
                <a:solidFill>
                  <a:schemeClr val="bg1"/>
                </a:solidFill>
                <a:latin typeface="Comic Sans MS" pitchFamily="66" charset="0"/>
              </a:rPr>
              <a:t>wide area network</a:t>
            </a:r>
          </a:p>
        </p:txBody>
      </p:sp>
      <p:sp>
        <p:nvSpPr>
          <p:cNvPr id="17427" name="Text Box 119"/>
          <p:cNvSpPr txBox="1">
            <a:spLocks noChangeArrowheads="1"/>
          </p:cNvSpPr>
          <p:nvPr/>
        </p:nvSpPr>
        <p:spPr bwMode="auto">
          <a:xfrm>
            <a:off x="1635125" y="1535113"/>
            <a:ext cx="188753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home network</a:t>
            </a:r>
          </a:p>
        </p:txBody>
      </p:sp>
      <p:sp>
        <p:nvSpPr>
          <p:cNvPr id="17428" name="Text Box 120"/>
          <p:cNvSpPr txBox="1">
            <a:spLocks noChangeArrowheads="1"/>
          </p:cNvSpPr>
          <p:nvPr/>
        </p:nvSpPr>
        <p:spPr bwMode="auto">
          <a:xfrm>
            <a:off x="5861050" y="1300163"/>
            <a:ext cx="2265363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visited network</a:t>
            </a:r>
          </a:p>
        </p:txBody>
      </p:sp>
      <p:grpSp>
        <p:nvGrpSpPr>
          <p:cNvPr id="13" name="Group 121"/>
          <p:cNvGrpSpPr>
            <a:grpSpLocks/>
          </p:cNvGrpSpPr>
          <p:nvPr/>
        </p:nvGrpSpPr>
        <p:grpSpPr bwMode="auto">
          <a:xfrm>
            <a:off x="6600825" y="2409825"/>
            <a:ext cx="2141538" cy="2341563"/>
            <a:chOff x="4158" y="1518"/>
            <a:chExt cx="1349" cy="1475"/>
          </a:xfrm>
        </p:grpSpPr>
        <p:sp>
          <p:nvSpPr>
            <p:cNvPr id="17437" name="Line 122"/>
            <p:cNvSpPr>
              <a:spLocks noChangeShapeType="1"/>
            </p:cNvSpPr>
            <p:nvPr/>
          </p:nvSpPr>
          <p:spPr bwMode="auto">
            <a:xfrm flipV="1">
              <a:off x="4261" y="1538"/>
              <a:ext cx="310" cy="25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7438" name="Group 123"/>
            <p:cNvGrpSpPr>
              <a:grpSpLocks/>
            </p:cNvGrpSpPr>
            <p:nvPr/>
          </p:nvGrpSpPr>
          <p:grpSpPr bwMode="auto">
            <a:xfrm>
              <a:off x="4324" y="1518"/>
              <a:ext cx="202" cy="231"/>
              <a:chOff x="618" y="3500"/>
              <a:chExt cx="202" cy="231"/>
            </a:xfrm>
          </p:grpSpPr>
          <p:sp>
            <p:nvSpPr>
              <p:cNvPr id="17441" name="Oval 124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42" name="Text Box 125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18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  <p:sp>
          <p:nvSpPr>
            <p:cNvPr id="17439" name="Text Box 126"/>
            <p:cNvSpPr txBox="1">
              <a:spLocks noChangeArrowheads="1"/>
            </p:cNvSpPr>
            <p:nvPr/>
          </p:nvSpPr>
          <p:spPr bwMode="auto">
            <a:xfrm>
              <a:off x="4158" y="2167"/>
              <a:ext cx="1349" cy="82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b="0">
                  <a:latin typeface="Comic Sans MS" pitchFamily="66" charset="0"/>
                </a:rPr>
                <a:t>mobile contacts foreign agent on entering visited network</a:t>
              </a:r>
            </a:p>
          </p:txBody>
        </p:sp>
        <p:sp>
          <p:nvSpPr>
            <p:cNvPr id="17440" name="Line 127"/>
            <p:cNvSpPr>
              <a:spLocks noChangeShapeType="1"/>
            </p:cNvSpPr>
            <p:nvPr/>
          </p:nvSpPr>
          <p:spPr bwMode="auto">
            <a:xfrm>
              <a:off x="4512" y="1760"/>
              <a:ext cx="560" cy="45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15" name="Group 128"/>
          <p:cNvGrpSpPr>
            <a:grpSpLocks/>
          </p:cNvGrpSpPr>
          <p:nvPr/>
        </p:nvGrpSpPr>
        <p:grpSpPr bwMode="auto">
          <a:xfrm>
            <a:off x="2435225" y="2676525"/>
            <a:ext cx="4046538" cy="2087563"/>
            <a:chOff x="1534" y="1686"/>
            <a:chExt cx="2549" cy="1315"/>
          </a:xfrm>
        </p:grpSpPr>
        <p:sp>
          <p:nvSpPr>
            <p:cNvPr id="17431" name="Line 129"/>
            <p:cNvSpPr>
              <a:spLocks noChangeShapeType="1"/>
            </p:cNvSpPr>
            <p:nvPr/>
          </p:nvSpPr>
          <p:spPr bwMode="auto">
            <a:xfrm flipH="1" flipV="1">
              <a:off x="1801" y="1762"/>
              <a:ext cx="2167" cy="10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7432" name="Group 130"/>
            <p:cNvGrpSpPr>
              <a:grpSpLocks/>
            </p:cNvGrpSpPr>
            <p:nvPr/>
          </p:nvGrpSpPr>
          <p:grpSpPr bwMode="auto">
            <a:xfrm>
              <a:off x="2724" y="1686"/>
              <a:ext cx="214" cy="231"/>
              <a:chOff x="618" y="3500"/>
              <a:chExt cx="214" cy="231"/>
            </a:xfrm>
          </p:grpSpPr>
          <p:sp>
            <p:nvSpPr>
              <p:cNvPr id="17435" name="Oval 131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436" name="Text Box 132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  <p:sp>
          <p:nvSpPr>
            <p:cNvPr id="17433" name="Text Box 133"/>
            <p:cNvSpPr txBox="1">
              <a:spLocks noChangeArrowheads="1"/>
            </p:cNvSpPr>
            <p:nvPr/>
          </p:nvSpPr>
          <p:spPr bwMode="auto">
            <a:xfrm>
              <a:off x="1534" y="2367"/>
              <a:ext cx="2549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b="0">
                  <a:latin typeface="Comic Sans MS" pitchFamily="66" charset="0"/>
                </a:rPr>
                <a:t>foreign agent contacts home agent home: “this mobile is resident in my network”</a:t>
              </a:r>
            </a:p>
          </p:txBody>
        </p:sp>
        <p:sp>
          <p:nvSpPr>
            <p:cNvPr id="17434" name="Line 134"/>
            <p:cNvSpPr>
              <a:spLocks noChangeShapeType="1"/>
            </p:cNvSpPr>
            <p:nvPr/>
          </p:nvSpPr>
          <p:spPr bwMode="auto">
            <a:xfrm flipH="1" flipV="1">
              <a:off x="2824" y="1944"/>
              <a:ext cx="0" cy="46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21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54DEDDD-58F0-4428-887F-D8B1DDA1B08F}" type="slidenum">
              <a:rPr lang="en-US" smtClean="0"/>
              <a:pPr>
                <a:defRPr/>
              </a:pPr>
              <a:t>46</a:t>
            </a:fld>
            <a:endParaRPr lang="en-US" smtClean="0"/>
          </a:p>
        </p:txBody>
      </p:sp>
      <p:sp>
        <p:nvSpPr>
          <p:cNvPr id="18438" name="Freeform 2"/>
          <p:cNvSpPr>
            <a:spLocks/>
          </p:cNvSpPr>
          <p:nvPr/>
        </p:nvSpPr>
        <p:spPr bwMode="auto">
          <a:xfrm>
            <a:off x="1612900" y="2616200"/>
            <a:ext cx="1866900" cy="1589088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8 h 1191"/>
              <a:gd name="T8" fmla="*/ 156039 w 1340"/>
              <a:gd name="T9" fmla="*/ 1160795 h 1191"/>
              <a:gd name="T10" fmla="*/ 749546 w 1340"/>
              <a:gd name="T11" fmla="*/ 1168800 h 1191"/>
              <a:gd name="T12" fmla="*/ 891654 w 1340"/>
              <a:gd name="T13" fmla="*/ 1505030 h 1191"/>
              <a:gd name="T14" fmla="*/ 1719220 w 1340"/>
              <a:gd name="T15" fmla="*/ 1465003 h 1191"/>
              <a:gd name="T16" fmla="*/ 1777735 w 1340"/>
              <a:gd name="T17" fmla="*/ 760521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39" name="Group 3"/>
          <p:cNvGrpSpPr>
            <a:grpSpLocks/>
          </p:cNvGrpSpPr>
          <p:nvPr/>
        </p:nvGrpSpPr>
        <p:grpSpPr bwMode="auto">
          <a:xfrm>
            <a:off x="2668588" y="3609975"/>
            <a:ext cx="501650" cy="233363"/>
            <a:chOff x="3600" y="219"/>
            <a:chExt cx="360" cy="175"/>
          </a:xfrm>
        </p:grpSpPr>
        <p:sp>
          <p:nvSpPr>
            <p:cNvPr id="18574" name="Oval 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5" name="Line 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6" name="Line 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77" name="Rectangle 7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578" name="Oval 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579" name="Group 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8584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85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86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580" name="Group 1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8581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82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83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18440" name="Group 17"/>
          <p:cNvGrpSpPr>
            <a:grpSpLocks/>
          </p:cNvGrpSpPr>
          <p:nvPr/>
        </p:nvGrpSpPr>
        <p:grpSpPr bwMode="auto">
          <a:xfrm>
            <a:off x="1771650" y="3263900"/>
            <a:ext cx="1333500" cy="342900"/>
            <a:chOff x="8025" y="5070"/>
            <a:chExt cx="2100" cy="540"/>
          </a:xfrm>
        </p:grpSpPr>
        <p:sp>
          <p:nvSpPr>
            <p:cNvPr id="18571" name="Line 18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72" name="Line 19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73" name="Line 20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441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Mobility via Indirect Routing</a:t>
            </a:r>
          </a:p>
        </p:txBody>
      </p:sp>
      <p:grpSp>
        <p:nvGrpSpPr>
          <p:cNvPr id="18442" name="Group 22"/>
          <p:cNvGrpSpPr>
            <a:grpSpLocks/>
          </p:cNvGrpSpPr>
          <p:nvPr/>
        </p:nvGrpSpPr>
        <p:grpSpPr bwMode="auto">
          <a:xfrm>
            <a:off x="1520825" y="2822575"/>
            <a:ext cx="914400" cy="590550"/>
            <a:chOff x="10665" y="3225"/>
            <a:chExt cx="1440" cy="930"/>
          </a:xfrm>
        </p:grpSpPr>
        <p:sp>
          <p:nvSpPr>
            <p:cNvPr id="18501" name="Oval 23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502" name="Group 24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18503" name="Freeform 25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99 w 788"/>
                  <a:gd name="T1" fmla="*/ 0 h 1138"/>
                  <a:gd name="T2" fmla="*/ 88 w 788"/>
                  <a:gd name="T3" fmla="*/ 0 h 1138"/>
                  <a:gd name="T4" fmla="*/ 73 w 788"/>
                  <a:gd name="T5" fmla="*/ 1 h 1138"/>
                  <a:gd name="T6" fmla="*/ 56 w 788"/>
                  <a:gd name="T7" fmla="*/ 4 h 1138"/>
                  <a:gd name="T8" fmla="*/ 39 w 788"/>
                  <a:gd name="T9" fmla="*/ 8 h 1138"/>
                  <a:gd name="T10" fmla="*/ 22 w 788"/>
                  <a:gd name="T11" fmla="*/ 15 h 1138"/>
                  <a:gd name="T12" fmla="*/ 10 w 788"/>
                  <a:gd name="T13" fmla="*/ 24 h 1138"/>
                  <a:gd name="T14" fmla="*/ 2 w 788"/>
                  <a:gd name="T15" fmla="*/ 36 h 1138"/>
                  <a:gd name="T16" fmla="*/ 0 w 788"/>
                  <a:gd name="T17" fmla="*/ 46 h 1138"/>
                  <a:gd name="T18" fmla="*/ 1 w 788"/>
                  <a:gd name="T19" fmla="*/ 51 h 1138"/>
                  <a:gd name="T20" fmla="*/ 4 w 788"/>
                  <a:gd name="T21" fmla="*/ 66 h 1138"/>
                  <a:gd name="T22" fmla="*/ 13 w 788"/>
                  <a:gd name="T23" fmla="*/ 97 h 1138"/>
                  <a:gd name="T24" fmla="*/ 25 w 788"/>
                  <a:gd name="T25" fmla="*/ 137 h 1138"/>
                  <a:gd name="T26" fmla="*/ 41 w 788"/>
                  <a:gd name="T27" fmla="*/ 181 h 1138"/>
                  <a:gd name="T28" fmla="*/ 59 w 788"/>
                  <a:gd name="T29" fmla="*/ 228 h 1138"/>
                  <a:gd name="T30" fmla="*/ 78 w 788"/>
                  <a:gd name="T31" fmla="*/ 274 h 1138"/>
                  <a:gd name="T32" fmla="*/ 98 w 788"/>
                  <a:gd name="T33" fmla="*/ 317 h 1138"/>
                  <a:gd name="T34" fmla="*/ 117 w 788"/>
                  <a:gd name="T35" fmla="*/ 352 h 1138"/>
                  <a:gd name="T36" fmla="*/ 130 w 788"/>
                  <a:gd name="T37" fmla="*/ 370 h 1138"/>
                  <a:gd name="T38" fmla="*/ 136 w 788"/>
                  <a:gd name="T39" fmla="*/ 377 h 1138"/>
                  <a:gd name="T40" fmla="*/ 146 w 788"/>
                  <a:gd name="T41" fmla="*/ 377 h 1138"/>
                  <a:gd name="T42" fmla="*/ 163 w 788"/>
                  <a:gd name="T43" fmla="*/ 371 h 1138"/>
                  <a:gd name="T44" fmla="*/ 183 w 788"/>
                  <a:gd name="T45" fmla="*/ 363 h 1138"/>
                  <a:gd name="T46" fmla="*/ 203 w 788"/>
                  <a:gd name="T47" fmla="*/ 355 h 1138"/>
                  <a:gd name="T48" fmla="*/ 223 w 788"/>
                  <a:gd name="T49" fmla="*/ 346 h 1138"/>
                  <a:gd name="T50" fmla="*/ 241 w 788"/>
                  <a:gd name="T51" fmla="*/ 338 h 1138"/>
                  <a:gd name="T52" fmla="*/ 254 w 788"/>
                  <a:gd name="T53" fmla="*/ 330 h 1138"/>
                  <a:gd name="T54" fmla="*/ 262 w 788"/>
                  <a:gd name="T55" fmla="*/ 323 h 1138"/>
                  <a:gd name="T56" fmla="*/ 252 w 788"/>
                  <a:gd name="T57" fmla="*/ 306 h 1138"/>
                  <a:gd name="T58" fmla="*/ 229 w 788"/>
                  <a:gd name="T59" fmla="*/ 271 h 1138"/>
                  <a:gd name="T60" fmla="*/ 204 w 788"/>
                  <a:gd name="T61" fmla="*/ 231 h 1138"/>
                  <a:gd name="T62" fmla="*/ 179 w 788"/>
                  <a:gd name="T63" fmla="*/ 187 h 1138"/>
                  <a:gd name="T64" fmla="*/ 156 w 788"/>
                  <a:gd name="T65" fmla="*/ 141 h 1138"/>
                  <a:gd name="T66" fmla="*/ 135 w 788"/>
                  <a:gd name="T67" fmla="*/ 96 h 1138"/>
                  <a:gd name="T68" fmla="*/ 117 w 788"/>
                  <a:gd name="T69" fmla="*/ 54 h 1138"/>
                  <a:gd name="T70" fmla="*/ 106 w 788"/>
                  <a:gd name="T71" fmla="*/ 16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88"/>
                  <a:gd name="T109" fmla="*/ 0 h 1138"/>
                  <a:gd name="T110" fmla="*/ 788 w 788"/>
                  <a:gd name="T111" fmla="*/ 1138 h 113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4" name="Freeform 26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16 w 425"/>
                  <a:gd name="T1" fmla="*/ 0 h 936"/>
                  <a:gd name="T2" fmla="*/ 16 w 425"/>
                  <a:gd name="T3" fmla="*/ 1 h 936"/>
                  <a:gd name="T4" fmla="*/ 16 w 425"/>
                  <a:gd name="T5" fmla="*/ 2 h 936"/>
                  <a:gd name="T6" fmla="*/ 16 w 425"/>
                  <a:gd name="T7" fmla="*/ 4 h 936"/>
                  <a:gd name="T8" fmla="*/ 15 w 425"/>
                  <a:gd name="T9" fmla="*/ 6 h 936"/>
                  <a:gd name="T10" fmla="*/ 13 w 425"/>
                  <a:gd name="T11" fmla="*/ 12 h 936"/>
                  <a:gd name="T12" fmla="*/ 11 w 425"/>
                  <a:gd name="T13" fmla="*/ 18 h 936"/>
                  <a:gd name="T14" fmla="*/ 7 w 425"/>
                  <a:gd name="T15" fmla="*/ 27 h 936"/>
                  <a:gd name="T16" fmla="*/ 2 w 425"/>
                  <a:gd name="T17" fmla="*/ 39 h 936"/>
                  <a:gd name="T18" fmla="*/ 0 w 425"/>
                  <a:gd name="T19" fmla="*/ 47 h 936"/>
                  <a:gd name="T20" fmla="*/ 0 w 425"/>
                  <a:gd name="T21" fmla="*/ 59 h 936"/>
                  <a:gd name="T22" fmla="*/ 1 w 425"/>
                  <a:gd name="T23" fmla="*/ 73 h 936"/>
                  <a:gd name="T24" fmla="*/ 4 w 425"/>
                  <a:gd name="T25" fmla="*/ 90 h 936"/>
                  <a:gd name="T26" fmla="*/ 9 w 425"/>
                  <a:gd name="T27" fmla="*/ 108 h 936"/>
                  <a:gd name="T28" fmla="*/ 14 w 425"/>
                  <a:gd name="T29" fmla="*/ 129 h 936"/>
                  <a:gd name="T30" fmla="*/ 19 w 425"/>
                  <a:gd name="T31" fmla="*/ 149 h 936"/>
                  <a:gd name="T32" fmla="*/ 26 w 425"/>
                  <a:gd name="T33" fmla="*/ 170 h 936"/>
                  <a:gd name="T34" fmla="*/ 33 w 425"/>
                  <a:gd name="T35" fmla="*/ 190 h 936"/>
                  <a:gd name="T36" fmla="*/ 40 w 425"/>
                  <a:gd name="T37" fmla="*/ 209 h 936"/>
                  <a:gd name="T38" fmla="*/ 46 w 425"/>
                  <a:gd name="T39" fmla="*/ 228 h 936"/>
                  <a:gd name="T40" fmla="*/ 52 w 425"/>
                  <a:gd name="T41" fmla="*/ 244 h 936"/>
                  <a:gd name="T42" fmla="*/ 58 w 425"/>
                  <a:gd name="T43" fmla="*/ 258 h 936"/>
                  <a:gd name="T44" fmla="*/ 63 w 425"/>
                  <a:gd name="T45" fmla="*/ 269 h 936"/>
                  <a:gd name="T46" fmla="*/ 67 w 425"/>
                  <a:gd name="T47" fmla="*/ 277 h 936"/>
                  <a:gd name="T48" fmla="*/ 70 w 425"/>
                  <a:gd name="T49" fmla="*/ 281 h 936"/>
                  <a:gd name="T50" fmla="*/ 75 w 425"/>
                  <a:gd name="T51" fmla="*/ 284 h 936"/>
                  <a:gd name="T52" fmla="*/ 80 w 425"/>
                  <a:gd name="T53" fmla="*/ 287 h 936"/>
                  <a:gd name="T54" fmla="*/ 86 w 425"/>
                  <a:gd name="T55" fmla="*/ 291 h 936"/>
                  <a:gd name="T56" fmla="*/ 94 w 425"/>
                  <a:gd name="T57" fmla="*/ 294 h 936"/>
                  <a:gd name="T58" fmla="*/ 104 w 425"/>
                  <a:gd name="T59" fmla="*/ 299 h 936"/>
                  <a:gd name="T60" fmla="*/ 114 w 425"/>
                  <a:gd name="T61" fmla="*/ 302 h 936"/>
                  <a:gd name="T62" fmla="*/ 127 w 425"/>
                  <a:gd name="T63" fmla="*/ 307 h 936"/>
                  <a:gd name="T64" fmla="*/ 142 w 425"/>
                  <a:gd name="T65" fmla="*/ 312 h 936"/>
                  <a:gd name="T66" fmla="*/ 132 w 425"/>
                  <a:gd name="T67" fmla="*/ 298 h 936"/>
                  <a:gd name="T68" fmla="*/ 123 w 425"/>
                  <a:gd name="T69" fmla="*/ 281 h 936"/>
                  <a:gd name="T70" fmla="*/ 113 w 425"/>
                  <a:gd name="T71" fmla="*/ 262 h 936"/>
                  <a:gd name="T72" fmla="*/ 103 w 425"/>
                  <a:gd name="T73" fmla="*/ 242 h 936"/>
                  <a:gd name="T74" fmla="*/ 93 w 425"/>
                  <a:gd name="T75" fmla="*/ 220 h 936"/>
                  <a:gd name="T76" fmla="*/ 83 w 425"/>
                  <a:gd name="T77" fmla="*/ 197 h 936"/>
                  <a:gd name="T78" fmla="*/ 74 w 425"/>
                  <a:gd name="T79" fmla="*/ 174 h 936"/>
                  <a:gd name="T80" fmla="*/ 65 w 425"/>
                  <a:gd name="T81" fmla="*/ 150 h 936"/>
                  <a:gd name="T82" fmla="*/ 56 w 425"/>
                  <a:gd name="T83" fmla="*/ 127 h 936"/>
                  <a:gd name="T84" fmla="*/ 48 w 425"/>
                  <a:gd name="T85" fmla="*/ 104 h 936"/>
                  <a:gd name="T86" fmla="*/ 40 w 425"/>
                  <a:gd name="T87" fmla="*/ 83 h 936"/>
                  <a:gd name="T88" fmla="*/ 34 w 425"/>
                  <a:gd name="T89" fmla="*/ 62 h 936"/>
                  <a:gd name="T90" fmla="*/ 28 w 425"/>
                  <a:gd name="T91" fmla="*/ 43 h 936"/>
                  <a:gd name="T92" fmla="*/ 23 w 425"/>
                  <a:gd name="T93" fmla="*/ 26 h 936"/>
                  <a:gd name="T94" fmla="*/ 19 w 425"/>
                  <a:gd name="T95" fmla="*/ 12 h 936"/>
                  <a:gd name="T96" fmla="*/ 16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5"/>
                  <a:gd name="T148" fmla="*/ 0 h 936"/>
                  <a:gd name="T149" fmla="*/ 425 w 425"/>
                  <a:gd name="T150" fmla="*/ 936 h 9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5" name="Freeform 27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9 w 192"/>
                  <a:gd name="T1" fmla="*/ 4 h 208"/>
                  <a:gd name="T2" fmla="*/ 4 w 192"/>
                  <a:gd name="T3" fmla="*/ 8 h 208"/>
                  <a:gd name="T4" fmla="*/ 1 w 192"/>
                  <a:gd name="T5" fmla="*/ 14 h 208"/>
                  <a:gd name="T6" fmla="*/ 0 w 192"/>
                  <a:gd name="T7" fmla="*/ 22 h 208"/>
                  <a:gd name="T8" fmla="*/ 0 w 192"/>
                  <a:gd name="T9" fmla="*/ 31 h 208"/>
                  <a:gd name="T10" fmla="*/ 1 w 192"/>
                  <a:gd name="T11" fmla="*/ 40 h 208"/>
                  <a:gd name="T12" fmla="*/ 3 w 192"/>
                  <a:gd name="T13" fmla="*/ 49 h 208"/>
                  <a:gd name="T14" fmla="*/ 7 w 192"/>
                  <a:gd name="T15" fmla="*/ 57 h 208"/>
                  <a:gd name="T16" fmla="*/ 12 w 192"/>
                  <a:gd name="T17" fmla="*/ 63 h 208"/>
                  <a:gd name="T18" fmla="*/ 17 w 192"/>
                  <a:gd name="T19" fmla="*/ 67 h 208"/>
                  <a:gd name="T20" fmla="*/ 23 w 192"/>
                  <a:gd name="T21" fmla="*/ 68 h 208"/>
                  <a:gd name="T22" fmla="*/ 30 w 192"/>
                  <a:gd name="T23" fmla="*/ 69 h 208"/>
                  <a:gd name="T24" fmla="*/ 37 w 192"/>
                  <a:gd name="T25" fmla="*/ 68 h 208"/>
                  <a:gd name="T26" fmla="*/ 43 w 192"/>
                  <a:gd name="T27" fmla="*/ 65 h 208"/>
                  <a:gd name="T28" fmla="*/ 49 w 192"/>
                  <a:gd name="T29" fmla="*/ 62 h 208"/>
                  <a:gd name="T30" fmla="*/ 54 w 192"/>
                  <a:gd name="T31" fmla="*/ 58 h 208"/>
                  <a:gd name="T32" fmla="*/ 58 w 192"/>
                  <a:gd name="T33" fmla="*/ 54 h 208"/>
                  <a:gd name="T34" fmla="*/ 63 w 192"/>
                  <a:gd name="T35" fmla="*/ 43 h 208"/>
                  <a:gd name="T36" fmla="*/ 64 w 192"/>
                  <a:gd name="T37" fmla="*/ 30 h 208"/>
                  <a:gd name="T38" fmla="*/ 62 w 192"/>
                  <a:gd name="T39" fmla="*/ 17 h 208"/>
                  <a:gd name="T40" fmla="*/ 55 w 192"/>
                  <a:gd name="T41" fmla="*/ 9 h 208"/>
                  <a:gd name="T42" fmla="*/ 51 w 192"/>
                  <a:gd name="T43" fmla="*/ 7 h 208"/>
                  <a:gd name="T44" fmla="*/ 46 w 192"/>
                  <a:gd name="T45" fmla="*/ 5 h 208"/>
                  <a:gd name="T46" fmla="*/ 41 w 192"/>
                  <a:gd name="T47" fmla="*/ 3 h 208"/>
                  <a:gd name="T48" fmla="*/ 35 w 192"/>
                  <a:gd name="T49" fmla="*/ 1 h 208"/>
                  <a:gd name="T50" fmla="*/ 28 w 192"/>
                  <a:gd name="T51" fmla="*/ 0 h 208"/>
                  <a:gd name="T52" fmla="*/ 22 w 192"/>
                  <a:gd name="T53" fmla="*/ 0 h 208"/>
                  <a:gd name="T54" fmla="*/ 16 w 192"/>
                  <a:gd name="T55" fmla="*/ 1 h 208"/>
                  <a:gd name="T56" fmla="*/ 9 w 192"/>
                  <a:gd name="T57" fmla="*/ 4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92"/>
                  <a:gd name="T88" fmla="*/ 0 h 208"/>
                  <a:gd name="T89" fmla="*/ 192 w 192"/>
                  <a:gd name="T90" fmla="*/ 208 h 20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6" name="Freeform 28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11 w 247"/>
                  <a:gd name="T1" fmla="*/ 10 h 251"/>
                  <a:gd name="T2" fmla="*/ 7 w 247"/>
                  <a:gd name="T3" fmla="*/ 15 h 251"/>
                  <a:gd name="T4" fmla="*/ 4 w 247"/>
                  <a:gd name="T5" fmla="*/ 20 h 251"/>
                  <a:gd name="T6" fmla="*/ 2 w 247"/>
                  <a:gd name="T7" fmla="*/ 26 h 251"/>
                  <a:gd name="T8" fmla="*/ 0 w 247"/>
                  <a:gd name="T9" fmla="*/ 32 h 251"/>
                  <a:gd name="T10" fmla="*/ 0 w 247"/>
                  <a:gd name="T11" fmla="*/ 39 h 251"/>
                  <a:gd name="T12" fmla="*/ 2 w 247"/>
                  <a:gd name="T13" fmla="*/ 45 h 251"/>
                  <a:gd name="T14" fmla="*/ 4 w 247"/>
                  <a:gd name="T15" fmla="*/ 51 h 251"/>
                  <a:gd name="T16" fmla="*/ 8 w 247"/>
                  <a:gd name="T17" fmla="*/ 57 h 251"/>
                  <a:gd name="T18" fmla="*/ 14 w 247"/>
                  <a:gd name="T19" fmla="*/ 63 h 251"/>
                  <a:gd name="T20" fmla="*/ 19 w 247"/>
                  <a:gd name="T21" fmla="*/ 68 h 251"/>
                  <a:gd name="T22" fmla="*/ 26 w 247"/>
                  <a:gd name="T23" fmla="*/ 74 h 251"/>
                  <a:gd name="T24" fmla="*/ 32 w 247"/>
                  <a:gd name="T25" fmla="*/ 78 h 251"/>
                  <a:gd name="T26" fmla="*/ 38 w 247"/>
                  <a:gd name="T27" fmla="*/ 82 h 251"/>
                  <a:gd name="T28" fmla="*/ 44 w 247"/>
                  <a:gd name="T29" fmla="*/ 84 h 251"/>
                  <a:gd name="T30" fmla="*/ 49 w 247"/>
                  <a:gd name="T31" fmla="*/ 84 h 251"/>
                  <a:gd name="T32" fmla="*/ 55 w 247"/>
                  <a:gd name="T33" fmla="*/ 82 h 251"/>
                  <a:gd name="T34" fmla="*/ 60 w 247"/>
                  <a:gd name="T35" fmla="*/ 79 h 251"/>
                  <a:gd name="T36" fmla="*/ 65 w 247"/>
                  <a:gd name="T37" fmla="*/ 76 h 251"/>
                  <a:gd name="T38" fmla="*/ 69 w 247"/>
                  <a:gd name="T39" fmla="*/ 74 h 251"/>
                  <a:gd name="T40" fmla="*/ 74 w 247"/>
                  <a:gd name="T41" fmla="*/ 71 h 251"/>
                  <a:gd name="T42" fmla="*/ 77 w 247"/>
                  <a:gd name="T43" fmla="*/ 68 h 251"/>
                  <a:gd name="T44" fmla="*/ 80 w 247"/>
                  <a:gd name="T45" fmla="*/ 64 h 251"/>
                  <a:gd name="T46" fmla="*/ 82 w 247"/>
                  <a:gd name="T47" fmla="*/ 60 h 251"/>
                  <a:gd name="T48" fmla="*/ 82 w 247"/>
                  <a:gd name="T49" fmla="*/ 54 h 251"/>
                  <a:gd name="T50" fmla="*/ 81 w 247"/>
                  <a:gd name="T51" fmla="*/ 48 h 251"/>
                  <a:gd name="T52" fmla="*/ 79 w 247"/>
                  <a:gd name="T53" fmla="*/ 40 h 251"/>
                  <a:gd name="T54" fmla="*/ 76 w 247"/>
                  <a:gd name="T55" fmla="*/ 32 h 251"/>
                  <a:gd name="T56" fmla="*/ 71 w 247"/>
                  <a:gd name="T57" fmla="*/ 24 h 251"/>
                  <a:gd name="T58" fmla="*/ 66 w 247"/>
                  <a:gd name="T59" fmla="*/ 17 h 251"/>
                  <a:gd name="T60" fmla="*/ 61 w 247"/>
                  <a:gd name="T61" fmla="*/ 10 h 251"/>
                  <a:gd name="T62" fmla="*/ 55 w 247"/>
                  <a:gd name="T63" fmla="*/ 5 h 251"/>
                  <a:gd name="T64" fmla="*/ 49 w 247"/>
                  <a:gd name="T65" fmla="*/ 2 h 251"/>
                  <a:gd name="T66" fmla="*/ 43 w 247"/>
                  <a:gd name="T67" fmla="*/ 1 h 251"/>
                  <a:gd name="T68" fmla="*/ 37 w 247"/>
                  <a:gd name="T69" fmla="*/ 0 h 251"/>
                  <a:gd name="T70" fmla="*/ 31 w 247"/>
                  <a:gd name="T71" fmla="*/ 0 h 251"/>
                  <a:gd name="T72" fmla="*/ 27 w 247"/>
                  <a:gd name="T73" fmla="*/ 1 h 251"/>
                  <a:gd name="T74" fmla="*/ 22 w 247"/>
                  <a:gd name="T75" fmla="*/ 2 h 251"/>
                  <a:gd name="T76" fmla="*/ 17 w 247"/>
                  <a:gd name="T77" fmla="*/ 4 h 251"/>
                  <a:gd name="T78" fmla="*/ 14 w 247"/>
                  <a:gd name="T79" fmla="*/ 7 h 251"/>
                  <a:gd name="T80" fmla="*/ 11 w 247"/>
                  <a:gd name="T81" fmla="*/ 1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47"/>
                  <a:gd name="T124" fmla="*/ 0 h 251"/>
                  <a:gd name="T125" fmla="*/ 247 w 247"/>
                  <a:gd name="T126" fmla="*/ 251 h 25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7" name="Freeform 29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38 w 226"/>
                  <a:gd name="T1" fmla="*/ 1 h 240"/>
                  <a:gd name="T2" fmla="*/ 31 w 226"/>
                  <a:gd name="T3" fmla="*/ 0 h 240"/>
                  <a:gd name="T4" fmla="*/ 22 w 226"/>
                  <a:gd name="T5" fmla="*/ 1 h 240"/>
                  <a:gd name="T6" fmla="*/ 14 w 226"/>
                  <a:gd name="T7" fmla="*/ 4 h 240"/>
                  <a:gd name="T8" fmla="*/ 5 w 226"/>
                  <a:gd name="T9" fmla="*/ 12 h 240"/>
                  <a:gd name="T10" fmla="*/ 0 w 226"/>
                  <a:gd name="T11" fmla="*/ 26 h 240"/>
                  <a:gd name="T12" fmla="*/ 1 w 226"/>
                  <a:gd name="T13" fmla="*/ 41 h 240"/>
                  <a:gd name="T14" fmla="*/ 5 w 226"/>
                  <a:gd name="T15" fmla="*/ 56 h 240"/>
                  <a:gd name="T16" fmla="*/ 11 w 226"/>
                  <a:gd name="T17" fmla="*/ 67 h 240"/>
                  <a:gd name="T18" fmla="*/ 19 w 226"/>
                  <a:gd name="T19" fmla="*/ 74 h 240"/>
                  <a:gd name="T20" fmla="*/ 28 w 226"/>
                  <a:gd name="T21" fmla="*/ 79 h 240"/>
                  <a:gd name="T22" fmla="*/ 38 w 226"/>
                  <a:gd name="T23" fmla="*/ 80 h 240"/>
                  <a:gd name="T24" fmla="*/ 50 w 226"/>
                  <a:gd name="T25" fmla="*/ 76 h 240"/>
                  <a:gd name="T26" fmla="*/ 63 w 226"/>
                  <a:gd name="T27" fmla="*/ 68 h 240"/>
                  <a:gd name="T28" fmla="*/ 72 w 226"/>
                  <a:gd name="T29" fmla="*/ 57 h 240"/>
                  <a:gd name="T30" fmla="*/ 75 w 226"/>
                  <a:gd name="T31" fmla="*/ 44 h 240"/>
                  <a:gd name="T32" fmla="*/ 74 w 226"/>
                  <a:gd name="T33" fmla="*/ 35 h 240"/>
                  <a:gd name="T34" fmla="*/ 71 w 226"/>
                  <a:gd name="T35" fmla="*/ 32 h 240"/>
                  <a:gd name="T36" fmla="*/ 67 w 226"/>
                  <a:gd name="T37" fmla="*/ 32 h 240"/>
                  <a:gd name="T38" fmla="*/ 64 w 226"/>
                  <a:gd name="T39" fmla="*/ 35 h 240"/>
                  <a:gd name="T40" fmla="*/ 63 w 226"/>
                  <a:gd name="T41" fmla="*/ 42 h 240"/>
                  <a:gd name="T42" fmla="*/ 60 w 226"/>
                  <a:gd name="T43" fmla="*/ 53 h 240"/>
                  <a:gd name="T44" fmla="*/ 54 w 226"/>
                  <a:gd name="T45" fmla="*/ 61 h 240"/>
                  <a:gd name="T46" fmla="*/ 43 w 226"/>
                  <a:gd name="T47" fmla="*/ 66 h 240"/>
                  <a:gd name="T48" fmla="*/ 30 w 226"/>
                  <a:gd name="T49" fmla="*/ 66 h 240"/>
                  <a:gd name="T50" fmla="*/ 20 w 226"/>
                  <a:gd name="T51" fmla="*/ 59 h 240"/>
                  <a:gd name="T52" fmla="*/ 15 w 226"/>
                  <a:gd name="T53" fmla="*/ 48 h 240"/>
                  <a:gd name="T54" fmla="*/ 11 w 226"/>
                  <a:gd name="T55" fmla="*/ 35 h 240"/>
                  <a:gd name="T56" fmla="*/ 11 w 226"/>
                  <a:gd name="T57" fmla="*/ 25 h 240"/>
                  <a:gd name="T58" fmla="*/ 14 w 226"/>
                  <a:gd name="T59" fmla="*/ 19 h 240"/>
                  <a:gd name="T60" fmla="*/ 18 w 226"/>
                  <a:gd name="T61" fmla="*/ 13 h 240"/>
                  <a:gd name="T62" fmla="*/ 25 w 226"/>
                  <a:gd name="T63" fmla="*/ 9 h 240"/>
                  <a:gd name="T64" fmla="*/ 29 w 226"/>
                  <a:gd name="T65" fmla="*/ 8 h 240"/>
                  <a:gd name="T66" fmla="*/ 35 w 226"/>
                  <a:gd name="T67" fmla="*/ 8 h 240"/>
                  <a:gd name="T68" fmla="*/ 42 w 226"/>
                  <a:gd name="T69" fmla="*/ 8 h 240"/>
                  <a:gd name="T70" fmla="*/ 43 w 226"/>
                  <a:gd name="T71" fmla="*/ 4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6"/>
                  <a:gd name="T109" fmla="*/ 0 h 240"/>
                  <a:gd name="T110" fmla="*/ 226 w 226"/>
                  <a:gd name="T111" fmla="*/ 240 h 24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8" name="Freeform 30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20 w 279"/>
                  <a:gd name="T1" fmla="*/ 3 h 270"/>
                  <a:gd name="T2" fmla="*/ 11 w 279"/>
                  <a:gd name="T3" fmla="*/ 9 h 270"/>
                  <a:gd name="T4" fmla="*/ 5 w 279"/>
                  <a:gd name="T5" fmla="*/ 17 h 270"/>
                  <a:gd name="T6" fmla="*/ 1 w 279"/>
                  <a:gd name="T7" fmla="*/ 27 h 270"/>
                  <a:gd name="T8" fmla="*/ 0 w 279"/>
                  <a:gd name="T9" fmla="*/ 37 h 270"/>
                  <a:gd name="T10" fmla="*/ 2 w 279"/>
                  <a:gd name="T11" fmla="*/ 48 h 270"/>
                  <a:gd name="T12" fmla="*/ 6 w 279"/>
                  <a:gd name="T13" fmla="*/ 58 h 270"/>
                  <a:gd name="T14" fmla="*/ 12 w 279"/>
                  <a:gd name="T15" fmla="*/ 68 h 270"/>
                  <a:gd name="T16" fmla="*/ 22 w 279"/>
                  <a:gd name="T17" fmla="*/ 77 h 270"/>
                  <a:gd name="T18" fmla="*/ 34 w 279"/>
                  <a:gd name="T19" fmla="*/ 86 h 270"/>
                  <a:gd name="T20" fmla="*/ 47 w 279"/>
                  <a:gd name="T21" fmla="*/ 90 h 270"/>
                  <a:gd name="T22" fmla="*/ 62 w 279"/>
                  <a:gd name="T23" fmla="*/ 88 h 270"/>
                  <a:gd name="T24" fmla="*/ 73 w 279"/>
                  <a:gd name="T25" fmla="*/ 80 h 270"/>
                  <a:gd name="T26" fmla="*/ 81 w 279"/>
                  <a:gd name="T27" fmla="*/ 72 h 270"/>
                  <a:gd name="T28" fmla="*/ 88 w 279"/>
                  <a:gd name="T29" fmla="*/ 63 h 270"/>
                  <a:gd name="T30" fmla="*/ 92 w 279"/>
                  <a:gd name="T31" fmla="*/ 53 h 270"/>
                  <a:gd name="T32" fmla="*/ 93 w 279"/>
                  <a:gd name="T33" fmla="*/ 44 h 270"/>
                  <a:gd name="T34" fmla="*/ 91 w 279"/>
                  <a:gd name="T35" fmla="*/ 40 h 270"/>
                  <a:gd name="T36" fmla="*/ 86 w 279"/>
                  <a:gd name="T37" fmla="*/ 39 h 270"/>
                  <a:gd name="T38" fmla="*/ 82 w 279"/>
                  <a:gd name="T39" fmla="*/ 41 h 270"/>
                  <a:gd name="T40" fmla="*/ 80 w 279"/>
                  <a:gd name="T41" fmla="*/ 44 h 270"/>
                  <a:gd name="T42" fmla="*/ 78 w 279"/>
                  <a:gd name="T43" fmla="*/ 50 h 270"/>
                  <a:gd name="T44" fmla="*/ 73 w 279"/>
                  <a:gd name="T45" fmla="*/ 59 h 270"/>
                  <a:gd name="T46" fmla="*/ 66 w 279"/>
                  <a:gd name="T47" fmla="*/ 67 h 270"/>
                  <a:gd name="T48" fmla="*/ 51 w 279"/>
                  <a:gd name="T49" fmla="*/ 70 h 270"/>
                  <a:gd name="T50" fmla="*/ 33 w 279"/>
                  <a:gd name="T51" fmla="*/ 66 h 270"/>
                  <a:gd name="T52" fmla="*/ 20 w 279"/>
                  <a:gd name="T53" fmla="*/ 54 h 270"/>
                  <a:gd name="T54" fmla="*/ 13 w 279"/>
                  <a:gd name="T55" fmla="*/ 38 h 270"/>
                  <a:gd name="T56" fmla="*/ 15 w 279"/>
                  <a:gd name="T57" fmla="*/ 24 h 270"/>
                  <a:gd name="T58" fmla="*/ 20 w 279"/>
                  <a:gd name="T59" fmla="*/ 17 h 270"/>
                  <a:gd name="T60" fmla="*/ 27 w 279"/>
                  <a:gd name="T61" fmla="*/ 10 h 270"/>
                  <a:gd name="T62" fmla="*/ 34 w 279"/>
                  <a:gd name="T63" fmla="*/ 5 h 270"/>
                  <a:gd name="T64" fmla="*/ 36 w 279"/>
                  <a:gd name="T65" fmla="*/ 1 h 270"/>
                  <a:gd name="T66" fmla="*/ 29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79"/>
                  <a:gd name="T103" fmla="*/ 0 h 270"/>
                  <a:gd name="T104" fmla="*/ 279 w 279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09" name="Freeform 31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2 w 72"/>
                  <a:gd name="T1" fmla="*/ 22 h 75"/>
                  <a:gd name="T2" fmla="*/ 5 w 72"/>
                  <a:gd name="T3" fmla="*/ 24 h 75"/>
                  <a:gd name="T4" fmla="*/ 8 w 72"/>
                  <a:gd name="T5" fmla="*/ 25 h 75"/>
                  <a:gd name="T6" fmla="*/ 11 w 72"/>
                  <a:gd name="T7" fmla="*/ 25 h 75"/>
                  <a:gd name="T8" fmla="*/ 12 w 72"/>
                  <a:gd name="T9" fmla="*/ 24 h 75"/>
                  <a:gd name="T10" fmla="*/ 13 w 72"/>
                  <a:gd name="T11" fmla="*/ 24 h 75"/>
                  <a:gd name="T12" fmla="*/ 16 w 72"/>
                  <a:gd name="T13" fmla="*/ 24 h 75"/>
                  <a:gd name="T14" fmla="*/ 19 w 72"/>
                  <a:gd name="T15" fmla="*/ 22 h 75"/>
                  <a:gd name="T16" fmla="*/ 21 w 72"/>
                  <a:gd name="T17" fmla="*/ 20 h 75"/>
                  <a:gd name="T18" fmla="*/ 23 w 72"/>
                  <a:gd name="T19" fmla="*/ 19 h 75"/>
                  <a:gd name="T20" fmla="*/ 24 w 72"/>
                  <a:gd name="T21" fmla="*/ 17 h 75"/>
                  <a:gd name="T22" fmla="*/ 24 w 72"/>
                  <a:gd name="T23" fmla="*/ 16 h 75"/>
                  <a:gd name="T24" fmla="*/ 23 w 72"/>
                  <a:gd name="T25" fmla="*/ 15 h 75"/>
                  <a:gd name="T26" fmla="*/ 22 w 72"/>
                  <a:gd name="T27" fmla="*/ 13 h 75"/>
                  <a:gd name="T28" fmla="*/ 21 w 72"/>
                  <a:gd name="T29" fmla="*/ 13 h 75"/>
                  <a:gd name="T30" fmla="*/ 20 w 72"/>
                  <a:gd name="T31" fmla="*/ 13 h 75"/>
                  <a:gd name="T32" fmla="*/ 18 w 72"/>
                  <a:gd name="T33" fmla="*/ 13 h 75"/>
                  <a:gd name="T34" fmla="*/ 16 w 72"/>
                  <a:gd name="T35" fmla="*/ 14 h 75"/>
                  <a:gd name="T36" fmla="*/ 13 w 72"/>
                  <a:gd name="T37" fmla="*/ 15 h 75"/>
                  <a:gd name="T38" fmla="*/ 11 w 72"/>
                  <a:gd name="T39" fmla="*/ 17 h 75"/>
                  <a:gd name="T40" fmla="*/ 10 w 72"/>
                  <a:gd name="T41" fmla="*/ 17 h 75"/>
                  <a:gd name="T42" fmla="*/ 9 w 72"/>
                  <a:gd name="T43" fmla="*/ 14 h 75"/>
                  <a:gd name="T44" fmla="*/ 7 w 72"/>
                  <a:gd name="T45" fmla="*/ 8 h 75"/>
                  <a:gd name="T46" fmla="*/ 4 w 72"/>
                  <a:gd name="T47" fmla="*/ 2 h 75"/>
                  <a:gd name="T48" fmla="*/ 0 w 72"/>
                  <a:gd name="T49" fmla="*/ 0 h 75"/>
                  <a:gd name="T50" fmla="*/ 0 w 72"/>
                  <a:gd name="T51" fmla="*/ 6 h 75"/>
                  <a:gd name="T52" fmla="*/ 1 w 72"/>
                  <a:gd name="T53" fmla="*/ 13 h 75"/>
                  <a:gd name="T54" fmla="*/ 2 w 72"/>
                  <a:gd name="T55" fmla="*/ 19 h 75"/>
                  <a:gd name="T56" fmla="*/ 2 w 72"/>
                  <a:gd name="T57" fmla="*/ 22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2"/>
                  <a:gd name="T88" fmla="*/ 0 h 75"/>
                  <a:gd name="T89" fmla="*/ 72 w 72"/>
                  <a:gd name="T90" fmla="*/ 75 h 7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0" name="Freeform 32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5 w 70"/>
                  <a:gd name="T1" fmla="*/ 18 h 59"/>
                  <a:gd name="T2" fmla="*/ 5 w 70"/>
                  <a:gd name="T3" fmla="*/ 19 h 59"/>
                  <a:gd name="T4" fmla="*/ 7 w 70"/>
                  <a:gd name="T5" fmla="*/ 19 h 59"/>
                  <a:gd name="T6" fmla="*/ 8 w 70"/>
                  <a:gd name="T7" fmla="*/ 20 h 59"/>
                  <a:gd name="T8" fmla="*/ 9 w 70"/>
                  <a:gd name="T9" fmla="*/ 20 h 59"/>
                  <a:gd name="T10" fmla="*/ 12 w 70"/>
                  <a:gd name="T11" fmla="*/ 20 h 59"/>
                  <a:gd name="T12" fmla="*/ 15 w 70"/>
                  <a:gd name="T13" fmla="*/ 19 h 59"/>
                  <a:gd name="T14" fmla="*/ 18 w 70"/>
                  <a:gd name="T15" fmla="*/ 19 h 59"/>
                  <a:gd name="T16" fmla="*/ 21 w 70"/>
                  <a:gd name="T17" fmla="*/ 17 h 59"/>
                  <a:gd name="T18" fmla="*/ 22 w 70"/>
                  <a:gd name="T19" fmla="*/ 16 h 59"/>
                  <a:gd name="T20" fmla="*/ 23 w 70"/>
                  <a:gd name="T21" fmla="*/ 15 h 59"/>
                  <a:gd name="T22" fmla="*/ 23 w 70"/>
                  <a:gd name="T23" fmla="*/ 14 h 59"/>
                  <a:gd name="T24" fmla="*/ 23 w 70"/>
                  <a:gd name="T25" fmla="*/ 13 h 59"/>
                  <a:gd name="T26" fmla="*/ 18 w 70"/>
                  <a:gd name="T27" fmla="*/ 11 h 59"/>
                  <a:gd name="T28" fmla="*/ 14 w 70"/>
                  <a:gd name="T29" fmla="*/ 11 h 59"/>
                  <a:gd name="T30" fmla="*/ 11 w 70"/>
                  <a:gd name="T31" fmla="*/ 13 h 59"/>
                  <a:gd name="T32" fmla="*/ 9 w 70"/>
                  <a:gd name="T33" fmla="*/ 14 h 59"/>
                  <a:gd name="T34" fmla="*/ 7 w 70"/>
                  <a:gd name="T35" fmla="*/ 10 h 59"/>
                  <a:gd name="T36" fmla="*/ 5 w 70"/>
                  <a:gd name="T37" fmla="*/ 5 h 59"/>
                  <a:gd name="T38" fmla="*/ 3 w 70"/>
                  <a:gd name="T39" fmla="*/ 1 h 59"/>
                  <a:gd name="T40" fmla="*/ 1 w 70"/>
                  <a:gd name="T41" fmla="*/ 0 h 59"/>
                  <a:gd name="T42" fmla="*/ 0 w 70"/>
                  <a:gd name="T43" fmla="*/ 6 h 59"/>
                  <a:gd name="T44" fmla="*/ 1 w 70"/>
                  <a:gd name="T45" fmla="*/ 12 h 59"/>
                  <a:gd name="T46" fmla="*/ 4 w 70"/>
                  <a:gd name="T47" fmla="*/ 17 h 59"/>
                  <a:gd name="T48" fmla="*/ 5 w 70"/>
                  <a:gd name="T49" fmla="*/ 18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0"/>
                  <a:gd name="T76" fmla="*/ 0 h 59"/>
                  <a:gd name="T77" fmla="*/ 70 w 70"/>
                  <a:gd name="T78" fmla="*/ 59 h 5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1" name="Freeform 33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1 w 65"/>
                  <a:gd name="T1" fmla="*/ 15 h 60"/>
                  <a:gd name="T2" fmla="*/ 3 w 65"/>
                  <a:gd name="T3" fmla="*/ 19 h 60"/>
                  <a:gd name="T4" fmla="*/ 7 w 65"/>
                  <a:gd name="T5" fmla="*/ 20 h 60"/>
                  <a:gd name="T6" fmla="*/ 10 w 65"/>
                  <a:gd name="T7" fmla="*/ 20 h 60"/>
                  <a:gd name="T8" fmla="*/ 12 w 65"/>
                  <a:gd name="T9" fmla="*/ 20 h 60"/>
                  <a:gd name="T10" fmla="*/ 15 w 65"/>
                  <a:gd name="T11" fmla="*/ 19 h 60"/>
                  <a:gd name="T12" fmla="*/ 18 w 65"/>
                  <a:gd name="T13" fmla="*/ 17 h 60"/>
                  <a:gd name="T14" fmla="*/ 21 w 65"/>
                  <a:gd name="T15" fmla="*/ 15 h 60"/>
                  <a:gd name="T16" fmla="*/ 22 w 65"/>
                  <a:gd name="T17" fmla="*/ 13 h 60"/>
                  <a:gd name="T18" fmla="*/ 21 w 65"/>
                  <a:gd name="T19" fmla="*/ 12 h 60"/>
                  <a:gd name="T20" fmla="*/ 20 w 65"/>
                  <a:gd name="T21" fmla="*/ 11 h 60"/>
                  <a:gd name="T22" fmla="*/ 19 w 65"/>
                  <a:gd name="T23" fmla="*/ 11 h 60"/>
                  <a:gd name="T24" fmla="*/ 17 w 65"/>
                  <a:gd name="T25" fmla="*/ 11 h 60"/>
                  <a:gd name="T26" fmla="*/ 9 w 65"/>
                  <a:gd name="T27" fmla="*/ 12 h 60"/>
                  <a:gd name="T28" fmla="*/ 8 w 65"/>
                  <a:gd name="T29" fmla="*/ 10 h 60"/>
                  <a:gd name="T30" fmla="*/ 6 w 65"/>
                  <a:gd name="T31" fmla="*/ 5 h 60"/>
                  <a:gd name="T32" fmla="*/ 3 w 65"/>
                  <a:gd name="T33" fmla="*/ 1 h 60"/>
                  <a:gd name="T34" fmla="*/ 0 w 65"/>
                  <a:gd name="T35" fmla="*/ 0 h 60"/>
                  <a:gd name="T36" fmla="*/ 0 w 65"/>
                  <a:gd name="T37" fmla="*/ 5 h 60"/>
                  <a:gd name="T38" fmla="*/ 1 w 65"/>
                  <a:gd name="T39" fmla="*/ 10 h 60"/>
                  <a:gd name="T40" fmla="*/ 1 w 65"/>
                  <a:gd name="T41" fmla="*/ 14 h 60"/>
                  <a:gd name="T42" fmla="*/ 1 w 65"/>
                  <a:gd name="T43" fmla="*/ 15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5"/>
                  <a:gd name="T67" fmla="*/ 0 h 60"/>
                  <a:gd name="T68" fmla="*/ 65 w 65"/>
                  <a:gd name="T69" fmla="*/ 60 h 6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2" name="Freeform 34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3 w 69"/>
                  <a:gd name="T1" fmla="*/ 16 h 47"/>
                  <a:gd name="T2" fmla="*/ 4 w 69"/>
                  <a:gd name="T3" fmla="*/ 16 h 47"/>
                  <a:gd name="T4" fmla="*/ 5 w 69"/>
                  <a:gd name="T5" fmla="*/ 16 h 47"/>
                  <a:gd name="T6" fmla="*/ 7 w 69"/>
                  <a:gd name="T7" fmla="*/ 16 h 47"/>
                  <a:gd name="T8" fmla="*/ 8 w 69"/>
                  <a:gd name="T9" fmla="*/ 16 h 47"/>
                  <a:gd name="T10" fmla="*/ 10 w 69"/>
                  <a:gd name="T11" fmla="*/ 16 h 47"/>
                  <a:gd name="T12" fmla="*/ 13 w 69"/>
                  <a:gd name="T13" fmla="*/ 15 h 47"/>
                  <a:gd name="T14" fmla="*/ 16 w 69"/>
                  <a:gd name="T15" fmla="*/ 14 h 47"/>
                  <a:gd name="T16" fmla="*/ 19 w 69"/>
                  <a:gd name="T17" fmla="*/ 13 h 47"/>
                  <a:gd name="T18" fmla="*/ 21 w 69"/>
                  <a:gd name="T19" fmla="*/ 12 h 47"/>
                  <a:gd name="T20" fmla="*/ 22 w 69"/>
                  <a:gd name="T21" fmla="*/ 10 h 47"/>
                  <a:gd name="T22" fmla="*/ 23 w 69"/>
                  <a:gd name="T23" fmla="*/ 9 h 47"/>
                  <a:gd name="T24" fmla="*/ 22 w 69"/>
                  <a:gd name="T25" fmla="*/ 7 h 47"/>
                  <a:gd name="T26" fmla="*/ 21 w 69"/>
                  <a:gd name="T27" fmla="*/ 6 h 47"/>
                  <a:gd name="T28" fmla="*/ 19 w 69"/>
                  <a:gd name="T29" fmla="*/ 6 h 47"/>
                  <a:gd name="T30" fmla="*/ 16 w 69"/>
                  <a:gd name="T31" fmla="*/ 6 h 47"/>
                  <a:gd name="T32" fmla="*/ 13 w 69"/>
                  <a:gd name="T33" fmla="*/ 6 h 47"/>
                  <a:gd name="T34" fmla="*/ 11 w 69"/>
                  <a:gd name="T35" fmla="*/ 7 h 47"/>
                  <a:gd name="T36" fmla="*/ 9 w 69"/>
                  <a:gd name="T37" fmla="*/ 8 h 47"/>
                  <a:gd name="T38" fmla="*/ 7 w 69"/>
                  <a:gd name="T39" fmla="*/ 9 h 47"/>
                  <a:gd name="T40" fmla="*/ 7 w 69"/>
                  <a:gd name="T41" fmla="*/ 9 h 47"/>
                  <a:gd name="T42" fmla="*/ 6 w 69"/>
                  <a:gd name="T43" fmla="*/ 7 h 47"/>
                  <a:gd name="T44" fmla="*/ 5 w 69"/>
                  <a:gd name="T45" fmla="*/ 5 h 47"/>
                  <a:gd name="T46" fmla="*/ 4 w 69"/>
                  <a:gd name="T47" fmla="*/ 2 h 47"/>
                  <a:gd name="T48" fmla="*/ 3 w 69"/>
                  <a:gd name="T49" fmla="*/ 1 h 47"/>
                  <a:gd name="T50" fmla="*/ 2 w 69"/>
                  <a:gd name="T51" fmla="*/ 0 h 47"/>
                  <a:gd name="T52" fmla="*/ 2 w 69"/>
                  <a:gd name="T53" fmla="*/ 0 h 47"/>
                  <a:gd name="T54" fmla="*/ 1 w 69"/>
                  <a:gd name="T55" fmla="*/ 0 h 47"/>
                  <a:gd name="T56" fmla="*/ 0 w 69"/>
                  <a:gd name="T57" fmla="*/ 1 h 47"/>
                  <a:gd name="T58" fmla="*/ 0 w 69"/>
                  <a:gd name="T59" fmla="*/ 4 h 47"/>
                  <a:gd name="T60" fmla="*/ 1 w 69"/>
                  <a:gd name="T61" fmla="*/ 9 h 47"/>
                  <a:gd name="T62" fmla="*/ 2 w 69"/>
                  <a:gd name="T63" fmla="*/ 14 h 47"/>
                  <a:gd name="T64" fmla="*/ 3 w 69"/>
                  <a:gd name="T65" fmla="*/ 16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47"/>
                  <a:gd name="T101" fmla="*/ 69 w 69"/>
                  <a:gd name="T102" fmla="*/ 47 h 4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3" name="Freeform 35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4 w 60"/>
                  <a:gd name="T1" fmla="*/ 18 h 58"/>
                  <a:gd name="T2" fmla="*/ 7 w 60"/>
                  <a:gd name="T3" fmla="*/ 19 h 58"/>
                  <a:gd name="T4" fmla="*/ 11 w 60"/>
                  <a:gd name="T5" fmla="*/ 20 h 58"/>
                  <a:gd name="T6" fmla="*/ 15 w 60"/>
                  <a:gd name="T7" fmla="*/ 19 h 58"/>
                  <a:gd name="T8" fmla="*/ 18 w 60"/>
                  <a:gd name="T9" fmla="*/ 17 h 58"/>
                  <a:gd name="T10" fmla="*/ 19 w 60"/>
                  <a:gd name="T11" fmla="*/ 17 h 58"/>
                  <a:gd name="T12" fmla="*/ 20 w 60"/>
                  <a:gd name="T13" fmla="*/ 16 h 58"/>
                  <a:gd name="T14" fmla="*/ 20 w 60"/>
                  <a:gd name="T15" fmla="*/ 14 h 58"/>
                  <a:gd name="T16" fmla="*/ 20 w 60"/>
                  <a:gd name="T17" fmla="*/ 13 h 58"/>
                  <a:gd name="T18" fmla="*/ 19 w 60"/>
                  <a:gd name="T19" fmla="*/ 12 h 58"/>
                  <a:gd name="T20" fmla="*/ 18 w 60"/>
                  <a:gd name="T21" fmla="*/ 11 h 58"/>
                  <a:gd name="T22" fmla="*/ 16 w 60"/>
                  <a:gd name="T23" fmla="*/ 11 h 58"/>
                  <a:gd name="T24" fmla="*/ 15 w 60"/>
                  <a:gd name="T25" fmla="*/ 11 h 58"/>
                  <a:gd name="T26" fmla="*/ 12 w 60"/>
                  <a:gd name="T27" fmla="*/ 12 h 58"/>
                  <a:gd name="T28" fmla="*/ 9 w 60"/>
                  <a:gd name="T29" fmla="*/ 12 h 58"/>
                  <a:gd name="T30" fmla="*/ 7 w 60"/>
                  <a:gd name="T31" fmla="*/ 12 h 58"/>
                  <a:gd name="T32" fmla="*/ 6 w 60"/>
                  <a:gd name="T33" fmla="*/ 12 h 58"/>
                  <a:gd name="T34" fmla="*/ 6 w 60"/>
                  <a:gd name="T35" fmla="*/ 10 h 58"/>
                  <a:gd name="T36" fmla="*/ 6 w 60"/>
                  <a:gd name="T37" fmla="*/ 6 h 58"/>
                  <a:gd name="T38" fmla="*/ 5 w 60"/>
                  <a:gd name="T39" fmla="*/ 1 h 58"/>
                  <a:gd name="T40" fmla="*/ 2 w 60"/>
                  <a:gd name="T41" fmla="*/ 0 h 58"/>
                  <a:gd name="T42" fmla="*/ 0 w 60"/>
                  <a:gd name="T43" fmla="*/ 4 h 58"/>
                  <a:gd name="T44" fmla="*/ 0 w 60"/>
                  <a:gd name="T45" fmla="*/ 9 h 58"/>
                  <a:gd name="T46" fmla="*/ 1 w 60"/>
                  <a:gd name="T47" fmla="*/ 14 h 58"/>
                  <a:gd name="T48" fmla="*/ 4 w 60"/>
                  <a:gd name="T49" fmla="*/ 18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0"/>
                  <a:gd name="T76" fmla="*/ 0 h 58"/>
                  <a:gd name="T77" fmla="*/ 60 w 60"/>
                  <a:gd name="T78" fmla="*/ 58 h 5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4" name="Freeform 36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6 w 59"/>
                  <a:gd name="T1" fmla="*/ 17 h 55"/>
                  <a:gd name="T2" fmla="*/ 11 w 59"/>
                  <a:gd name="T3" fmla="*/ 18 h 55"/>
                  <a:gd name="T4" fmla="*/ 15 w 59"/>
                  <a:gd name="T5" fmla="*/ 18 h 55"/>
                  <a:gd name="T6" fmla="*/ 18 w 59"/>
                  <a:gd name="T7" fmla="*/ 15 h 55"/>
                  <a:gd name="T8" fmla="*/ 20 w 59"/>
                  <a:gd name="T9" fmla="*/ 11 h 55"/>
                  <a:gd name="T10" fmla="*/ 19 w 59"/>
                  <a:gd name="T11" fmla="*/ 10 h 55"/>
                  <a:gd name="T12" fmla="*/ 18 w 59"/>
                  <a:gd name="T13" fmla="*/ 9 h 55"/>
                  <a:gd name="T14" fmla="*/ 17 w 59"/>
                  <a:gd name="T15" fmla="*/ 9 h 55"/>
                  <a:gd name="T16" fmla="*/ 15 w 59"/>
                  <a:gd name="T17" fmla="*/ 9 h 55"/>
                  <a:gd name="T18" fmla="*/ 14 w 59"/>
                  <a:gd name="T19" fmla="*/ 10 h 55"/>
                  <a:gd name="T20" fmla="*/ 13 w 59"/>
                  <a:gd name="T21" fmla="*/ 11 h 55"/>
                  <a:gd name="T22" fmla="*/ 12 w 59"/>
                  <a:gd name="T23" fmla="*/ 12 h 55"/>
                  <a:gd name="T24" fmla="*/ 11 w 59"/>
                  <a:gd name="T25" fmla="*/ 13 h 55"/>
                  <a:gd name="T26" fmla="*/ 9 w 59"/>
                  <a:gd name="T27" fmla="*/ 10 h 55"/>
                  <a:gd name="T28" fmla="*/ 7 w 59"/>
                  <a:gd name="T29" fmla="*/ 6 h 55"/>
                  <a:gd name="T30" fmla="*/ 3 w 59"/>
                  <a:gd name="T31" fmla="*/ 2 h 55"/>
                  <a:gd name="T32" fmla="*/ 0 w 59"/>
                  <a:gd name="T33" fmla="*/ 0 h 55"/>
                  <a:gd name="T34" fmla="*/ 1 w 59"/>
                  <a:gd name="T35" fmla="*/ 6 h 55"/>
                  <a:gd name="T36" fmla="*/ 3 w 59"/>
                  <a:gd name="T37" fmla="*/ 11 h 55"/>
                  <a:gd name="T38" fmla="*/ 5 w 59"/>
                  <a:gd name="T39" fmla="*/ 15 h 55"/>
                  <a:gd name="T40" fmla="*/ 6 w 59"/>
                  <a:gd name="T41" fmla="*/ 17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9"/>
                  <a:gd name="T64" fmla="*/ 0 h 55"/>
                  <a:gd name="T65" fmla="*/ 59 w 59"/>
                  <a:gd name="T66" fmla="*/ 55 h 5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5" name="Freeform 37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11 w 82"/>
                  <a:gd name="T1" fmla="*/ 25 h 76"/>
                  <a:gd name="T2" fmla="*/ 13 w 82"/>
                  <a:gd name="T3" fmla="*/ 25 h 76"/>
                  <a:gd name="T4" fmla="*/ 14 w 82"/>
                  <a:gd name="T5" fmla="*/ 25 h 76"/>
                  <a:gd name="T6" fmla="*/ 16 w 82"/>
                  <a:gd name="T7" fmla="*/ 25 h 76"/>
                  <a:gd name="T8" fmla="*/ 19 w 82"/>
                  <a:gd name="T9" fmla="*/ 25 h 76"/>
                  <a:gd name="T10" fmla="*/ 20 w 82"/>
                  <a:gd name="T11" fmla="*/ 24 h 76"/>
                  <a:gd name="T12" fmla="*/ 22 w 82"/>
                  <a:gd name="T13" fmla="*/ 22 h 76"/>
                  <a:gd name="T14" fmla="*/ 24 w 82"/>
                  <a:gd name="T15" fmla="*/ 21 h 76"/>
                  <a:gd name="T16" fmla="*/ 25 w 82"/>
                  <a:gd name="T17" fmla="*/ 19 h 76"/>
                  <a:gd name="T18" fmla="*/ 26 w 82"/>
                  <a:gd name="T19" fmla="*/ 18 h 76"/>
                  <a:gd name="T20" fmla="*/ 27 w 82"/>
                  <a:gd name="T21" fmla="*/ 17 h 76"/>
                  <a:gd name="T22" fmla="*/ 27 w 82"/>
                  <a:gd name="T23" fmla="*/ 15 h 76"/>
                  <a:gd name="T24" fmla="*/ 26 w 82"/>
                  <a:gd name="T25" fmla="*/ 14 h 76"/>
                  <a:gd name="T26" fmla="*/ 23 w 82"/>
                  <a:gd name="T27" fmla="*/ 13 h 76"/>
                  <a:gd name="T28" fmla="*/ 21 w 82"/>
                  <a:gd name="T29" fmla="*/ 12 h 76"/>
                  <a:gd name="T30" fmla="*/ 18 w 82"/>
                  <a:gd name="T31" fmla="*/ 13 h 76"/>
                  <a:gd name="T32" fmla="*/ 15 w 82"/>
                  <a:gd name="T33" fmla="*/ 13 h 76"/>
                  <a:gd name="T34" fmla="*/ 13 w 82"/>
                  <a:gd name="T35" fmla="*/ 14 h 76"/>
                  <a:gd name="T36" fmla="*/ 12 w 82"/>
                  <a:gd name="T37" fmla="*/ 16 h 76"/>
                  <a:gd name="T38" fmla="*/ 11 w 82"/>
                  <a:gd name="T39" fmla="*/ 16 h 76"/>
                  <a:gd name="T40" fmla="*/ 10 w 82"/>
                  <a:gd name="T41" fmla="*/ 17 h 76"/>
                  <a:gd name="T42" fmla="*/ 10 w 82"/>
                  <a:gd name="T43" fmla="*/ 14 h 76"/>
                  <a:gd name="T44" fmla="*/ 8 w 82"/>
                  <a:gd name="T45" fmla="*/ 8 h 76"/>
                  <a:gd name="T46" fmla="*/ 5 w 82"/>
                  <a:gd name="T47" fmla="*/ 2 h 76"/>
                  <a:gd name="T48" fmla="*/ 1 w 82"/>
                  <a:gd name="T49" fmla="*/ 0 h 76"/>
                  <a:gd name="T50" fmla="*/ 0 w 82"/>
                  <a:gd name="T51" fmla="*/ 6 h 76"/>
                  <a:gd name="T52" fmla="*/ 0 w 82"/>
                  <a:gd name="T53" fmla="*/ 10 h 76"/>
                  <a:gd name="T54" fmla="*/ 1 w 82"/>
                  <a:gd name="T55" fmla="*/ 14 h 76"/>
                  <a:gd name="T56" fmla="*/ 4 w 82"/>
                  <a:gd name="T57" fmla="*/ 18 h 76"/>
                  <a:gd name="T58" fmla="*/ 6 w 82"/>
                  <a:gd name="T59" fmla="*/ 21 h 76"/>
                  <a:gd name="T60" fmla="*/ 8 w 82"/>
                  <a:gd name="T61" fmla="*/ 23 h 76"/>
                  <a:gd name="T62" fmla="*/ 10 w 82"/>
                  <a:gd name="T63" fmla="*/ 24 h 76"/>
                  <a:gd name="T64" fmla="*/ 11 w 82"/>
                  <a:gd name="T65" fmla="*/ 25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2"/>
                  <a:gd name="T100" fmla="*/ 0 h 76"/>
                  <a:gd name="T101" fmla="*/ 82 w 82"/>
                  <a:gd name="T102" fmla="*/ 76 h 7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6" name="Freeform 38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4 w 75"/>
                  <a:gd name="T1" fmla="*/ 18 h 66"/>
                  <a:gd name="T2" fmla="*/ 5 w 75"/>
                  <a:gd name="T3" fmla="*/ 19 h 66"/>
                  <a:gd name="T4" fmla="*/ 6 w 75"/>
                  <a:gd name="T5" fmla="*/ 20 h 66"/>
                  <a:gd name="T6" fmla="*/ 8 w 75"/>
                  <a:gd name="T7" fmla="*/ 21 h 66"/>
                  <a:gd name="T8" fmla="*/ 9 w 75"/>
                  <a:gd name="T9" fmla="*/ 21 h 66"/>
                  <a:gd name="T10" fmla="*/ 11 w 75"/>
                  <a:gd name="T11" fmla="*/ 22 h 66"/>
                  <a:gd name="T12" fmla="*/ 13 w 75"/>
                  <a:gd name="T13" fmla="*/ 22 h 66"/>
                  <a:gd name="T14" fmla="*/ 16 w 75"/>
                  <a:gd name="T15" fmla="*/ 22 h 66"/>
                  <a:gd name="T16" fmla="*/ 19 w 75"/>
                  <a:gd name="T17" fmla="*/ 22 h 66"/>
                  <a:gd name="T18" fmla="*/ 22 w 75"/>
                  <a:gd name="T19" fmla="*/ 21 h 66"/>
                  <a:gd name="T20" fmla="*/ 24 w 75"/>
                  <a:gd name="T21" fmla="*/ 20 h 66"/>
                  <a:gd name="T22" fmla="*/ 25 w 75"/>
                  <a:gd name="T23" fmla="*/ 18 h 66"/>
                  <a:gd name="T24" fmla="*/ 25 w 75"/>
                  <a:gd name="T25" fmla="*/ 15 h 66"/>
                  <a:gd name="T26" fmla="*/ 24 w 75"/>
                  <a:gd name="T27" fmla="*/ 13 h 66"/>
                  <a:gd name="T28" fmla="*/ 22 w 75"/>
                  <a:gd name="T29" fmla="*/ 12 h 66"/>
                  <a:gd name="T30" fmla="*/ 20 w 75"/>
                  <a:gd name="T31" fmla="*/ 11 h 66"/>
                  <a:gd name="T32" fmla="*/ 17 w 75"/>
                  <a:gd name="T33" fmla="*/ 11 h 66"/>
                  <a:gd name="T34" fmla="*/ 14 w 75"/>
                  <a:gd name="T35" fmla="*/ 12 h 66"/>
                  <a:gd name="T36" fmla="*/ 11 w 75"/>
                  <a:gd name="T37" fmla="*/ 12 h 66"/>
                  <a:gd name="T38" fmla="*/ 9 w 75"/>
                  <a:gd name="T39" fmla="*/ 13 h 66"/>
                  <a:gd name="T40" fmla="*/ 9 w 75"/>
                  <a:gd name="T41" fmla="*/ 13 h 66"/>
                  <a:gd name="T42" fmla="*/ 8 w 75"/>
                  <a:gd name="T43" fmla="*/ 11 h 66"/>
                  <a:gd name="T44" fmla="*/ 6 w 75"/>
                  <a:gd name="T45" fmla="*/ 5 h 66"/>
                  <a:gd name="T46" fmla="*/ 3 w 75"/>
                  <a:gd name="T47" fmla="*/ 1 h 66"/>
                  <a:gd name="T48" fmla="*/ 0 w 75"/>
                  <a:gd name="T49" fmla="*/ 0 h 66"/>
                  <a:gd name="T50" fmla="*/ 0 w 75"/>
                  <a:gd name="T51" fmla="*/ 7 h 66"/>
                  <a:gd name="T52" fmla="*/ 2 w 75"/>
                  <a:gd name="T53" fmla="*/ 13 h 66"/>
                  <a:gd name="T54" fmla="*/ 3 w 75"/>
                  <a:gd name="T55" fmla="*/ 16 h 66"/>
                  <a:gd name="T56" fmla="*/ 4 w 75"/>
                  <a:gd name="T57" fmla="*/ 18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6"/>
                  <a:gd name="T89" fmla="*/ 75 w 75"/>
                  <a:gd name="T90" fmla="*/ 66 h 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7" name="Freeform 39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1 w 75"/>
                  <a:gd name="T1" fmla="*/ 14 h 63"/>
                  <a:gd name="T2" fmla="*/ 1 w 75"/>
                  <a:gd name="T3" fmla="*/ 15 h 63"/>
                  <a:gd name="T4" fmla="*/ 3 w 75"/>
                  <a:gd name="T5" fmla="*/ 17 h 63"/>
                  <a:gd name="T6" fmla="*/ 5 w 75"/>
                  <a:gd name="T7" fmla="*/ 19 h 63"/>
                  <a:gd name="T8" fmla="*/ 5 w 75"/>
                  <a:gd name="T9" fmla="*/ 19 h 63"/>
                  <a:gd name="T10" fmla="*/ 8 w 75"/>
                  <a:gd name="T11" fmla="*/ 20 h 63"/>
                  <a:gd name="T12" fmla="*/ 11 w 75"/>
                  <a:gd name="T13" fmla="*/ 21 h 63"/>
                  <a:gd name="T14" fmla="*/ 14 w 75"/>
                  <a:gd name="T15" fmla="*/ 21 h 63"/>
                  <a:gd name="T16" fmla="*/ 18 w 75"/>
                  <a:gd name="T17" fmla="*/ 20 h 63"/>
                  <a:gd name="T18" fmla="*/ 21 w 75"/>
                  <a:gd name="T19" fmla="*/ 19 h 63"/>
                  <a:gd name="T20" fmla="*/ 24 w 75"/>
                  <a:gd name="T21" fmla="*/ 18 h 63"/>
                  <a:gd name="T22" fmla="*/ 25 w 75"/>
                  <a:gd name="T23" fmla="*/ 16 h 63"/>
                  <a:gd name="T24" fmla="*/ 24 w 75"/>
                  <a:gd name="T25" fmla="*/ 13 h 63"/>
                  <a:gd name="T26" fmla="*/ 22 w 75"/>
                  <a:gd name="T27" fmla="*/ 11 h 63"/>
                  <a:gd name="T28" fmla="*/ 20 w 75"/>
                  <a:gd name="T29" fmla="*/ 10 h 63"/>
                  <a:gd name="T30" fmla="*/ 18 w 75"/>
                  <a:gd name="T31" fmla="*/ 9 h 63"/>
                  <a:gd name="T32" fmla="*/ 15 w 75"/>
                  <a:gd name="T33" fmla="*/ 10 h 63"/>
                  <a:gd name="T34" fmla="*/ 12 w 75"/>
                  <a:gd name="T35" fmla="*/ 10 h 63"/>
                  <a:gd name="T36" fmla="*/ 10 w 75"/>
                  <a:gd name="T37" fmla="*/ 11 h 63"/>
                  <a:gd name="T38" fmla="*/ 9 w 75"/>
                  <a:gd name="T39" fmla="*/ 12 h 63"/>
                  <a:gd name="T40" fmla="*/ 8 w 75"/>
                  <a:gd name="T41" fmla="*/ 12 h 63"/>
                  <a:gd name="T42" fmla="*/ 8 w 75"/>
                  <a:gd name="T43" fmla="*/ 10 h 63"/>
                  <a:gd name="T44" fmla="*/ 6 w 75"/>
                  <a:gd name="T45" fmla="*/ 5 h 63"/>
                  <a:gd name="T46" fmla="*/ 3 w 75"/>
                  <a:gd name="T47" fmla="*/ 1 h 63"/>
                  <a:gd name="T48" fmla="*/ 0 w 75"/>
                  <a:gd name="T49" fmla="*/ 0 h 63"/>
                  <a:gd name="T50" fmla="*/ 0 w 75"/>
                  <a:gd name="T51" fmla="*/ 5 h 63"/>
                  <a:gd name="T52" fmla="*/ 0 w 75"/>
                  <a:gd name="T53" fmla="*/ 9 h 63"/>
                  <a:gd name="T54" fmla="*/ 1 w 75"/>
                  <a:gd name="T55" fmla="*/ 13 h 63"/>
                  <a:gd name="T56" fmla="*/ 1 w 75"/>
                  <a:gd name="T57" fmla="*/ 14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3"/>
                  <a:gd name="T89" fmla="*/ 75 w 75"/>
                  <a:gd name="T90" fmla="*/ 63 h 6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8" name="Freeform 40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29 w 250"/>
                  <a:gd name="T1" fmla="*/ 12 h 290"/>
                  <a:gd name="T2" fmla="*/ 23 w 250"/>
                  <a:gd name="T3" fmla="*/ 16 h 290"/>
                  <a:gd name="T4" fmla="*/ 18 w 250"/>
                  <a:gd name="T5" fmla="*/ 21 h 290"/>
                  <a:gd name="T6" fmla="*/ 13 w 250"/>
                  <a:gd name="T7" fmla="*/ 26 h 290"/>
                  <a:gd name="T8" fmla="*/ 8 w 250"/>
                  <a:gd name="T9" fmla="*/ 32 h 290"/>
                  <a:gd name="T10" fmla="*/ 5 w 250"/>
                  <a:gd name="T11" fmla="*/ 38 h 290"/>
                  <a:gd name="T12" fmla="*/ 3 w 250"/>
                  <a:gd name="T13" fmla="*/ 45 h 290"/>
                  <a:gd name="T14" fmla="*/ 1 w 250"/>
                  <a:gd name="T15" fmla="*/ 53 h 290"/>
                  <a:gd name="T16" fmla="*/ 0 w 250"/>
                  <a:gd name="T17" fmla="*/ 60 h 290"/>
                  <a:gd name="T18" fmla="*/ 1 w 250"/>
                  <a:gd name="T19" fmla="*/ 70 h 290"/>
                  <a:gd name="T20" fmla="*/ 5 w 250"/>
                  <a:gd name="T21" fmla="*/ 78 h 290"/>
                  <a:gd name="T22" fmla="*/ 11 w 250"/>
                  <a:gd name="T23" fmla="*/ 85 h 290"/>
                  <a:gd name="T24" fmla="*/ 19 w 250"/>
                  <a:gd name="T25" fmla="*/ 90 h 290"/>
                  <a:gd name="T26" fmla="*/ 28 w 250"/>
                  <a:gd name="T27" fmla="*/ 95 h 290"/>
                  <a:gd name="T28" fmla="*/ 37 w 250"/>
                  <a:gd name="T29" fmla="*/ 97 h 290"/>
                  <a:gd name="T30" fmla="*/ 46 w 250"/>
                  <a:gd name="T31" fmla="*/ 97 h 290"/>
                  <a:gd name="T32" fmla="*/ 56 w 250"/>
                  <a:gd name="T33" fmla="*/ 96 h 290"/>
                  <a:gd name="T34" fmla="*/ 58 w 250"/>
                  <a:gd name="T35" fmla="*/ 96 h 290"/>
                  <a:gd name="T36" fmla="*/ 59 w 250"/>
                  <a:gd name="T37" fmla="*/ 95 h 290"/>
                  <a:gd name="T38" fmla="*/ 61 w 250"/>
                  <a:gd name="T39" fmla="*/ 93 h 290"/>
                  <a:gd name="T40" fmla="*/ 61 w 250"/>
                  <a:gd name="T41" fmla="*/ 91 h 290"/>
                  <a:gd name="T42" fmla="*/ 60 w 250"/>
                  <a:gd name="T43" fmla="*/ 89 h 290"/>
                  <a:gd name="T44" fmla="*/ 58 w 250"/>
                  <a:gd name="T45" fmla="*/ 87 h 290"/>
                  <a:gd name="T46" fmla="*/ 56 w 250"/>
                  <a:gd name="T47" fmla="*/ 85 h 290"/>
                  <a:gd name="T48" fmla="*/ 54 w 250"/>
                  <a:gd name="T49" fmla="*/ 84 h 290"/>
                  <a:gd name="T50" fmla="*/ 49 w 250"/>
                  <a:gd name="T51" fmla="*/ 83 h 290"/>
                  <a:gd name="T52" fmla="*/ 44 w 250"/>
                  <a:gd name="T53" fmla="*/ 82 h 290"/>
                  <a:gd name="T54" fmla="*/ 39 w 250"/>
                  <a:gd name="T55" fmla="*/ 81 h 290"/>
                  <a:gd name="T56" fmla="*/ 35 w 250"/>
                  <a:gd name="T57" fmla="*/ 80 h 290"/>
                  <a:gd name="T58" fmla="*/ 30 w 250"/>
                  <a:gd name="T59" fmla="*/ 78 h 290"/>
                  <a:gd name="T60" fmla="*/ 26 w 250"/>
                  <a:gd name="T61" fmla="*/ 77 h 290"/>
                  <a:gd name="T62" fmla="*/ 22 w 250"/>
                  <a:gd name="T63" fmla="*/ 74 h 290"/>
                  <a:gd name="T64" fmla="*/ 18 w 250"/>
                  <a:gd name="T65" fmla="*/ 70 h 290"/>
                  <a:gd name="T66" fmla="*/ 17 w 250"/>
                  <a:gd name="T67" fmla="*/ 54 h 290"/>
                  <a:gd name="T68" fmla="*/ 21 w 250"/>
                  <a:gd name="T69" fmla="*/ 40 h 290"/>
                  <a:gd name="T70" fmla="*/ 28 w 250"/>
                  <a:gd name="T71" fmla="*/ 30 h 290"/>
                  <a:gd name="T72" fmla="*/ 39 w 250"/>
                  <a:gd name="T73" fmla="*/ 21 h 290"/>
                  <a:gd name="T74" fmla="*/ 51 w 250"/>
                  <a:gd name="T75" fmla="*/ 14 h 290"/>
                  <a:gd name="T76" fmla="*/ 63 w 250"/>
                  <a:gd name="T77" fmla="*/ 9 h 290"/>
                  <a:gd name="T78" fmla="*/ 74 w 250"/>
                  <a:gd name="T79" fmla="*/ 5 h 290"/>
                  <a:gd name="T80" fmla="*/ 83 w 250"/>
                  <a:gd name="T81" fmla="*/ 2 h 290"/>
                  <a:gd name="T82" fmla="*/ 78 w 250"/>
                  <a:gd name="T83" fmla="*/ 1 h 290"/>
                  <a:gd name="T84" fmla="*/ 72 w 250"/>
                  <a:gd name="T85" fmla="*/ 0 h 290"/>
                  <a:gd name="T86" fmla="*/ 65 w 250"/>
                  <a:gd name="T87" fmla="*/ 1 h 290"/>
                  <a:gd name="T88" fmla="*/ 58 w 250"/>
                  <a:gd name="T89" fmla="*/ 2 h 290"/>
                  <a:gd name="T90" fmla="*/ 50 w 250"/>
                  <a:gd name="T91" fmla="*/ 4 h 290"/>
                  <a:gd name="T92" fmla="*/ 43 w 250"/>
                  <a:gd name="T93" fmla="*/ 7 h 290"/>
                  <a:gd name="T94" fmla="*/ 36 w 250"/>
                  <a:gd name="T95" fmla="*/ 10 h 290"/>
                  <a:gd name="T96" fmla="*/ 29 w 250"/>
                  <a:gd name="T97" fmla="*/ 12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50"/>
                  <a:gd name="T148" fmla="*/ 0 h 290"/>
                  <a:gd name="T149" fmla="*/ 250 w 250"/>
                  <a:gd name="T150" fmla="*/ 290 h 29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19" name="Freeform 41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45 w 160"/>
                  <a:gd name="T1" fmla="*/ 24 h 225"/>
                  <a:gd name="T2" fmla="*/ 47 w 160"/>
                  <a:gd name="T3" fmla="*/ 32 h 225"/>
                  <a:gd name="T4" fmla="*/ 46 w 160"/>
                  <a:gd name="T5" fmla="*/ 39 h 225"/>
                  <a:gd name="T6" fmla="*/ 43 w 160"/>
                  <a:gd name="T7" fmla="*/ 45 h 225"/>
                  <a:gd name="T8" fmla="*/ 38 w 160"/>
                  <a:gd name="T9" fmla="*/ 50 h 225"/>
                  <a:gd name="T10" fmla="*/ 32 w 160"/>
                  <a:gd name="T11" fmla="*/ 55 h 225"/>
                  <a:gd name="T12" fmla="*/ 25 w 160"/>
                  <a:gd name="T13" fmla="*/ 60 h 225"/>
                  <a:gd name="T14" fmla="*/ 19 w 160"/>
                  <a:gd name="T15" fmla="*/ 64 h 225"/>
                  <a:gd name="T16" fmla="*/ 13 w 160"/>
                  <a:gd name="T17" fmla="*/ 68 h 225"/>
                  <a:gd name="T18" fmla="*/ 12 w 160"/>
                  <a:gd name="T19" fmla="*/ 70 h 225"/>
                  <a:gd name="T20" fmla="*/ 11 w 160"/>
                  <a:gd name="T21" fmla="*/ 71 h 225"/>
                  <a:gd name="T22" fmla="*/ 11 w 160"/>
                  <a:gd name="T23" fmla="*/ 72 h 225"/>
                  <a:gd name="T24" fmla="*/ 12 w 160"/>
                  <a:gd name="T25" fmla="*/ 74 h 225"/>
                  <a:gd name="T26" fmla="*/ 13 w 160"/>
                  <a:gd name="T27" fmla="*/ 75 h 225"/>
                  <a:gd name="T28" fmla="*/ 15 w 160"/>
                  <a:gd name="T29" fmla="*/ 75 h 225"/>
                  <a:gd name="T30" fmla="*/ 16 w 160"/>
                  <a:gd name="T31" fmla="*/ 75 h 225"/>
                  <a:gd name="T32" fmla="*/ 17 w 160"/>
                  <a:gd name="T33" fmla="*/ 75 h 225"/>
                  <a:gd name="T34" fmla="*/ 25 w 160"/>
                  <a:gd name="T35" fmla="*/ 70 h 225"/>
                  <a:gd name="T36" fmla="*/ 32 w 160"/>
                  <a:gd name="T37" fmla="*/ 66 h 225"/>
                  <a:gd name="T38" fmla="*/ 39 w 160"/>
                  <a:gd name="T39" fmla="*/ 60 h 225"/>
                  <a:gd name="T40" fmla="*/ 45 w 160"/>
                  <a:gd name="T41" fmla="*/ 54 h 225"/>
                  <a:gd name="T42" fmla="*/ 50 w 160"/>
                  <a:gd name="T43" fmla="*/ 47 h 225"/>
                  <a:gd name="T44" fmla="*/ 53 w 160"/>
                  <a:gd name="T45" fmla="*/ 40 h 225"/>
                  <a:gd name="T46" fmla="*/ 53 w 160"/>
                  <a:gd name="T47" fmla="*/ 32 h 225"/>
                  <a:gd name="T48" fmla="*/ 51 w 160"/>
                  <a:gd name="T49" fmla="*/ 23 h 225"/>
                  <a:gd name="T50" fmla="*/ 47 w 160"/>
                  <a:gd name="T51" fmla="*/ 16 h 225"/>
                  <a:gd name="T52" fmla="*/ 40 w 160"/>
                  <a:gd name="T53" fmla="*/ 10 h 225"/>
                  <a:gd name="T54" fmla="*/ 32 w 160"/>
                  <a:gd name="T55" fmla="*/ 6 h 225"/>
                  <a:gd name="T56" fmla="*/ 24 w 160"/>
                  <a:gd name="T57" fmla="*/ 3 h 225"/>
                  <a:gd name="T58" fmla="*/ 15 w 160"/>
                  <a:gd name="T59" fmla="*/ 1 h 225"/>
                  <a:gd name="T60" fmla="*/ 8 w 160"/>
                  <a:gd name="T61" fmla="*/ 0 h 225"/>
                  <a:gd name="T62" fmla="*/ 2 w 160"/>
                  <a:gd name="T63" fmla="*/ 0 h 225"/>
                  <a:gd name="T64" fmla="*/ 0 w 160"/>
                  <a:gd name="T65" fmla="*/ 1 h 225"/>
                  <a:gd name="T66" fmla="*/ 6 w 160"/>
                  <a:gd name="T67" fmla="*/ 4 h 225"/>
                  <a:gd name="T68" fmla="*/ 12 w 160"/>
                  <a:gd name="T69" fmla="*/ 6 h 225"/>
                  <a:gd name="T70" fmla="*/ 19 w 160"/>
                  <a:gd name="T71" fmla="*/ 8 h 225"/>
                  <a:gd name="T72" fmla="*/ 25 w 160"/>
                  <a:gd name="T73" fmla="*/ 10 h 225"/>
                  <a:gd name="T74" fmla="*/ 31 w 160"/>
                  <a:gd name="T75" fmla="*/ 12 h 225"/>
                  <a:gd name="T76" fmla="*/ 37 w 160"/>
                  <a:gd name="T77" fmla="*/ 15 h 225"/>
                  <a:gd name="T78" fmla="*/ 41 w 160"/>
                  <a:gd name="T79" fmla="*/ 19 h 225"/>
                  <a:gd name="T80" fmla="*/ 45 w 160"/>
                  <a:gd name="T81" fmla="*/ 24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0"/>
                  <a:gd name="T124" fmla="*/ 0 h 225"/>
                  <a:gd name="T125" fmla="*/ 160 w 160"/>
                  <a:gd name="T126" fmla="*/ 225 h 22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0" name="Freeform 42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42 w 404"/>
                  <a:gd name="T1" fmla="*/ 29 h 472"/>
                  <a:gd name="T2" fmla="*/ 23 w 404"/>
                  <a:gd name="T3" fmla="*/ 48 h 472"/>
                  <a:gd name="T4" fmla="*/ 7 w 404"/>
                  <a:gd name="T5" fmla="*/ 70 h 472"/>
                  <a:gd name="T6" fmla="*/ 0 w 404"/>
                  <a:gd name="T7" fmla="*/ 95 h 472"/>
                  <a:gd name="T8" fmla="*/ 2 w 404"/>
                  <a:gd name="T9" fmla="*/ 111 h 472"/>
                  <a:gd name="T10" fmla="*/ 4 w 404"/>
                  <a:gd name="T11" fmla="*/ 118 h 472"/>
                  <a:gd name="T12" fmla="*/ 8 w 404"/>
                  <a:gd name="T13" fmla="*/ 125 h 472"/>
                  <a:gd name="T14" fmla="*/ 14 w 404"/>
                  <a:gd name="T15" fmla="*/ 130 h 472"/>
                  <a:gd name="T16" fmla="*/ 24 w 404"/>
                  <a:gd name="T17" fmla="*/ 136 h 472"/>
                  <a:gd name="T18" fmla="*/ 36 w 404"/>
                  <a:gd name="T19" fmla="*/ 142 h 472"/>
                  <a:gd name="T20" fmla="*/ 50 w 404"/>
                  <a:gd name="T21" fmla="*/ 147 h 472"/>
                  <a:gd name="T22" fmla="*/ 64 w 404"/>
                  <a:gd name="T23" fmla="*/ 150 h 472"/>
                  <a:gd name="T24" fmla="*/ 78 w 404"/>
                  <a:gd name="T25" fmla="*/ 153 h 472"/>
                  <a:gd name="T26" fmla="*/ 92 w 404"/>
                  <a:gd name="T27" fmla="*/ 155 h 472"/>
                  <a:gd name="T28" fmla="*/ 107 w 404"/>
                  <a:gd name="T29" fmla="*/ 157 h 472"/>
                  <a:gd name="T30" fmla="*/ 121 w 404"/>
                  <a:gd name="T31" fmla="*/ 158 h 472"/>
                  <a:gd name="T32" fmla="*/ 131 w 404"/>
                  <a:gd name="T33" fmla="*/ 158 h 472"/>
                  <a:gd name="T34" fmla="*/ 134 w 404"/>
                  <a:gd name="T35" fmla="*/ 155 h 472"/>
                  <a:gd name="T36" fmla="*/ 135 w 404"/>
                  <a:gd name="T37" fmla="*/ 151 h 472"/>
                  <a:gd name="T38" fmla="*/ 132 w 404"/>
                  <a:gd name="T39" fmla="*/ 148 h 472"/>
                  <a:gd name="T40" fmla="*/ 123 w 404"/>
                  <a:gd name="T41" fmla="*/ 145 h 472"/>
                  <a:gd name="T42" fmla="*/ 111 w 404"/>
                  <a:gd name="T43" fmla="*/ 143 h 472"/>
                  <a:gd name="T44" fmla="*/ 97 w 404"/>
                  <a:gd name="T45" fmla="*/ 141 h 472"/>
                  <a:gd name="T46" fmla="*/ 84 w 404"/>
                  <a:gd name="T47" fmla="*/ 139 h 472"/>
                  <a:gd name="T48" fmla="*/ 71 w 404"/>
                  <a:gd name="T49" fmla="*/ 137 h 472"/>
                  <a:gd name="T50" fmla="*/ 58 w 404"/>
                  <a:gd name="T51" fmla="*/ 133 h 472"/>
                  <a:gd name="T52" fmla="*/ 46 w 404"/>
                  <a:gd name="T53" fmla="*/ 129 h 472"/>
                  <a:gd name="T54" fmla="*/ 34 w 404"/>
                  <a:gd name="T55" fmla="*/ 125 h 472"/>
                  <a:gd name="T56" fmla="*/ 23 w 404"/>
                  <a:gd name="T57" fmla="*/ 118 h 472"/>
                  <a:gd name="T58" fmla="*/ 16 w 404"/>
                  <a:gd name="T59" fmla="*/ 108 h 472"/>
                  <a:gd name="T60" fmla="*/ 14 w 404"/>
                  <a:gd name="T61" fmla="*/ 97 h 472"/>
                  <a:gd name="T62" fmla="*/ 16 w 404"/>
                  <a:gd name="T63" fmla="*/ 84 h 472"/>
                  <a:gd name="T64" fmla="*/ 22 w 404"/>
                  <a:gd name="T65" fmla="*/ 71 h 472"/>
                  <a:gd name="T66" fmla="*/ 30 w 404"/>
                  <a:gd name="T67" fmla="*/ 58 h 472"/>
                  <a:gd name="T68" fmla="*/ 40 w 404"/>
                  <a:gd name="T69" fmla="*/ 46 h 472"/>
                  <a:gd name="T70" fmla="*/ 51 w 404"/>
                  <a:gd name="T71" fmla="*/ 34 h 472"/>
                  <a:gd name="T72" fmla="*/ 64 w 404"/>
                  <a:gd name="T73" fmla="*/ 24 h 472"/>
                  <a:gd name="T74" fmla="*/ 82 w 404"/>
                  <a:gd name="T75" fmla="*/ 16 h 472"/>
                  <a:gd name="T76" fmla="*/ 100 w 404"/>
                  <a:gd name="T77" fmla="*/ 8 h 472"/>
                  <a:gd name="T78" fmla="*/ 111 w 404"/>
                  <a:gd name="T79" fmla="*/ 3 h 472"/>
                  <a:gd name="T80" fmla="*/ 108 w 404"/>
                  <a:gd name="T81" fmla="*/ 0 h 472"/>
                  <a:gd name="T82" fmla="*/ 93 w 404"/>
                  <a:gd name="T83" fmla="*/ 2 h 472"/>
                  <a:gd name="T84" fmla="*/ 76 w 404"/>
                  <a:gd name="T85" fmla="*/ 8 h 472"/>
                  <a:gd name="T86" fmla="*/ 59 w 404"/>
                  <a:gd name="T87" fmla="*/ 16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04"/>
                  <a:gd name="T133" fmla="*/ 0 h 472"/>
                  <a:gd name="T134" fmla="*/ 404 w 404"/>
                  <a:gd name="T135" fmla="*/ 472 h 4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1" name="Freeform 43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98 w 354"/>
                  <a:gd name="T1" fmla="*/ 32 h 315"/>
                  <a:gd name="T2" fmla="*/ 103 w 354"/>
                  <a:gd name="T3" fmla="*/ 38 h 315"/>
                  <a:gd name="T4" fmla="*/ 107 w 354"/>
                  <a:gd name="T5" fmla="*/ 44 h 315"/>
                  <a:gd name="T6" fmla="*/ 108 w 354"/>
                  <a:gd name="T7" fmla="*/ 52 h 315"/>
                  <a:gd name="T8" fmla="*/ 108 w 354"/>
                  <a:gd name="T9" fmla="*/ 59 h 315"/>
                  <a:gd name="T10" fmla="*/ 107 w 354"/>
                  <a:gd name="T11" fmla="*/ 66 h 315"/>
                  <a:gd name="T12" fmla="*/ 105 w 354"/>
                  <a:gd name="T13" fmla="*/ 71 h 315"/>
                  <a:gd name="T14" fmla="*/ 102 w 354"/>
                  <a:gd name="T15" fmla="*/ 76 h 315"/>
                  <a:gd name="T16" fmla="*/ 98 w 354"/>
                  <a:gd name="T17" fmla="*/ 80 h 315"/>
                  <a:gd name="T18" fmla="*/ 94 w 354"/>
                  <a:gd name="T19" fmla="*/ 85 h 315"/>
                  <a:gd name="T20" fmla="*/ 90 w 354"/>
                  <a:gd name="T21" fmla="*/ 89 h 315"/>
                  <a:gd name="T22" fmla="*/ 85 w 354"/>
                  <a:gd name="T23" fmla="*/ 93 h 315"/>
                  <a:gd name="T24" fmla="*/ 81 w 354"/>
                  <a:gd name="T25" fmla="*/ 98 h 315"/>
                  <a:gd name="T26" fmla="*/ 80 w 354"/>
                  <a:gd name="T27" fmla="*/ 99 h 315"/>
                  <a:gd name="T28" fmla="*/ 80 w 354"/>
                  <a:gd name="T29" fmla="*/ 101 h 315"/>
                  <a:gd name="T30" fmla="*/ 80 w 354"/>
                  <a:gd name="T31" fmla="*/ 102 h 315"/>
                  <a:gd name="T32" fmla="*/ 81 w 354"/>
                  <a:gd name="T33" fmla="*/ 103 h 315"/>
                  <a:gd name="T34" fmla="*/ 82 w 354"/>
                  <a:gd name="T35" fmla="*/ 104 h 315"/>
                  <a:gd name="T36" fmla="*/ 84 w 354"/>
                  <a:gd name="T37" fmla="*/ 105 h 315"/>
                  <a:gd name="T38" fmla="*/ 86 w 354"/>
                  <a:gd name="T39" fmla="*/ 104 h 315"/>
                  <a:gd name="T40" fmla="*/ 87 w 354"/>
                  <a:gd name="T41" fmla="*/ 103 h 315"/>
                  <a:gd name="T42" fmla="*/ 97 w 354"/>
                  <a:gd name="T43" fmla="*/ 97 h 315"/>
                  <a:gd name="T44" fmla="*/ 105 w 354"/>
                  <a:gd name="T45" fmla="*/ 89 h 315"/>
                  <a:gd name="T46" fmla="*/ 112 w 354"/>
                  <a:gd name="T47" fmla="*/ 80 h 315"/>
                  <a:gd name="T48" fmla="*/ 116 w 354"/>
                  <a:gd name="T49" fmla="*/ 69 h 315"/>
                  <a:gd name="T50" fmla="*/ 118 w 354"/>
                  <a:gd name="T51" fmla="*/ 59 h 315"/>
                  <a:gd name="T52" fmla="*/ 117 w 354"/>
                  <a:gd name="T53" fmla="*/ 48 h 315"/>
                  <a:gd name="T54" fmla="*/ 113 w 354"/>
                  <a:gd name="T55" fmla="*/ 38 h 315"/>
                  <a:gd name="T56" fmla="*/ 105 w 354"/>
                  <a:gd name="T57" fmla="*/ 29 h 315"/>
                  <a:gd name="T58" fmla="*/ 99 w 354"/>
                  <a:gd name="T59" fmla="*/ 24 h 315"/>
                  <a:gd name="T60" fmla="*/ 93 w 354"/>
                  <a:gd name="T61" fmla="*/ 20 h 315"/>
                  <a:gd name="T62" fmla="*/ 85 w 354"/>
                  <a:gd name="T63" fmla="*/ 16 h 315"/>
                  <a:gd name="T64" fmla="*/ 77 w 354"/>
                  <a:gd name="T65" fmla="*/ 13 h 315"/>
                  <a:gd name="T66" fmla="*/ 69 w 354"/>
                  <a:gd name="T67" fmla="*/ 10 h 315"/>
                  <a:gd name="T68" fmla="*/ 60 w 354"/>
                  <a:gd name="T69" fmla="*/ 7 h 315"/>
                  <a:gd name="T70" fmla="*/ 52 w 354"/>
                  <a:gd name="T71" fmla="*/ 5 h 315"/>
                  <a:gd name="T72" fmla="*/ 43 w 354"/>
                  <a:gd name="T73" fmla="*/ 3 h 315"/>
                  <a:gd name="T74" fmla="*/ 35 w 354"/>
                  <a:gd name="T75" fmla="*/ 2 h 315"/>
                  <a:gd name="T76" fmla="*/ 28 w 354"/>
                  <a:gd name="T77" fmla="*/ 1 h 315"/>
                  <a:gd name="T78" fmla="*/ 20 w 354"/>
                  <a:gd name="T79" fmla="*/ 0 h 315"/>
                  <a:gd name="T80" fmla="*/ 14 w 354"/>
                  <a:gd name="T81" fmla="*/ 0 h 315"/>
                  <a:gd name="T82" fmla="*/ 9 w 354"/>
                  <a:gd name="T83" fmla="*/ 0 h 315"/>
                  <a:gd name="T84" fmla="*/ 5 w 354"/>
                  <a:gd name="T85" fmla="*/ 0 h 315"/>
                  <a:gd name="T86" fmla="*/ 2 w 354"/>
                  <a:gd name="T87" fmla="*/ 1 h 315"/>
                  <a:gd name="T88" fmla="*/ 0 w 354"/>
                  <a:gd name="T89" fmla="*/ 2 h 315"/>
                  <a:gd name="T90" fmla="*/ 5 w 354"/>
                  <a:gd name="T91" fmla="*/ 3 h 315"/>
                  <a:gd name="T92" fmla="*/ 10 w 354"/>
                  <a:gd name="T93" fmla="*/ 3 h 315"/>
                  <a:gd name="T94" fmla="*/ 16 w 354"/>
                  <a:gd name="T95" fmla="*/ 4 h 315"/>
                  <a:gd name="T96" fmla="*/ 22 w 354"/>
                  <a:gd name="T97" fmla="*/ 5 h 315"/>
                  <a:gd name="T98" fmla="*/ 28 w 354"/>
                  <a:gd name="T99" fmla="*/ 7 h 315"/>
                  <a:gd name="T100" fmla="*/ 34 w 354"/>
                  <a:gd name="T101" fmla="*/ 8 h 315"/>
                  <a:gd name="T102" fmla="*/ 41 w 354"/>
                  <a:gd name="T103" fmla="*/ 9 h 315"/>
                  <a:gd name="T104" fmla="*/ 48 w 354"/>
                  <a:gd name="T105" fmla="*/ 10 h 315"/>
                  <a:gd name="T106" fmla="*/ 54 w 354"/>
                  <a:gd name="T107" fmla="*/ 12 h 315"/>
                  <a:gd name="T108" fmla="*/ 61 w 354"/>
                  <a:gd name="T109" fmla="*/ 14 h 315"/>
                  <a:gd name="T110" fmla="*/ 68 w 354"/>
                  <a:gd name="T111" fmla="*/ 16 h 315"/>
                  <a:gd name="T112" fmla="*/ 74 w 354"/>
                  <a:gd name="T113" fmla="*/ 19 h 315"/>
                  <a:gd name="T114" fmla="*/ 80 w 354"/>
                  <a:gd name="T115" fmla="*/ 21 h 315"/>
                  <a:gd name="T116" fmla="*/ 87 w 354"/>
                  <a:gd name="T117" fmla="*/ 25 h 315"/>
                  <a:gd name="T118" fmla="*/ 93 w 354"/>
                  <a:gd name="T119" fmla="*/ 28 h 315"/>
                  <a:gd name="T120" fmla="*/ 98 w 354"/>
                  <a:gd name="T121" fmla="*/ 32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4"/>
                  <a:gd name="T184" fmla="*/ 0 h 315"/>
                  <a:gd name="T185" fmla="*/ 354 w 354"/>
                  <a:gd name="T186" fmla="*/ 315 h 31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2" name="Freeform 44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54 h 297"/>
                  <a:gd name="T2" fmla="*/ 0 w 143"/>
                  <a:gd name="T3" fmla="*/ 62 h 297"/>
                  <a:gd name="T4" fmla="*/ 2 w 143"/>
                  <a:gd name="T5" fmla="*/ 70 h 297"/>
                  <a:gd name="T6" fmla="*/ 5 w 143"/>
                  <a:gd name="T7" fmla="*/ 77 h 297"/>
                  <a:gd name="T8" fmla="*/ 10 w 143"/>
                  <a:gd name="T9" fmla="*/ 83 h 297"/>
                  <a:gd name="T10" fmla="*/ 16 w 143"/>
                  <a:gd name="T11" fmla="*/ 89 h 297"/>
                  <a:gd name="T12" fmla="*/ 23 w 143"/>
                  <a:gd name="T13" fmla="*/ 93 h 297"/>
                  <a:gd name="T14" fmla="*/ 30 w 143"/>
                  <a:gd name="T15" fmla="*/ 97 h 297"/>
                  <a:gd name="T16" fmla="*/ 38 w 143"/>
                  <a:gd name="T17" fmla="*/ 99 h 297"/>
                  <a:gd name="T18" fmla="*/ 40 w 143"/>
                  <a:gd name="T19" fmla="*/ 99 h 297"/>
                  <a:gd name="T20" fmla="*/ 43 w 143"/>
                  <a:gd name="T21" fmla="*/ 98 h 297"/>
                  <a:gd name="T22" fmla="*/ 45 w 143"/>
                  <a:gd name="T23" fmla="*/ 97 h 297"/>
                  <a:gd name="T24" fmla="*/ 46 w 143"/>
                  <a:gd name="T25" fmla="*/ 95 h 297"/>
                  <a:gd name="T26" fmla="*/ 46 w 143"/>
                  <a:gd name="T27" fmla="*/ 92 h 297"/>
                  <a:gd name="T28" fmla="*/ 45 w 143"/>
                  <a:gd name="T29" fmla="*/ 90 h 297"/>
                  <a:gd name="T30" fmla="*/ 44 w 143"/>
                  <a:gd name="T31" fmla="*/ 88 h 297"/>
                  <a:gd name="T32" fmla="*/ 41 w 143"/>
                  <a:gd name="T33" fmla="*/ 87 h 297"/>
                  <a:gd name="T34" fmla="*/ 34 w 143"/>
                  <a:gd name="T35" fmla="*/ 84 h 297"/>
                  <a:gd name="T36" fmla="*/ 26 w 143"/>
                  <a:gd name="T37" fmla="*/ 80 h 297"/>
                  <a:gd name="T38" fmla="*/ 21 w 143"/>
                  <a:gd name="T39" fmla="*/ 75 h 297"/>
                  <a:gd name="T40" fmla="*/ 16 w 143"/>
                  <a:gd name="T41" fmla="*/ 69 h 297"/>
                  <a:gd name="T42" fmla="*/ 13 w 143"/>
                  <a:gd name="T43" fmla="*/ 62 h 297"/>
                  <a:gd name="T44" fmla="*/ 12 w 143"/>
                  <a:gd name="T45" fmla="*/ 55 h 297"/>
                  <a:gd name="T46" fmla="*/ 12 w 143"/>
                  <a:gd name="T47" fmla="*/ 46 h 297"/>
                  <a:gd name="T48" fmla="*/ 14 w 143"/>
                  <a:gd name="T49" fmla="*/ 38 h 297"/>
                  <a:gd name="T50" fmla="*/ 17 w 143"/>
                  <a:gd name="T51" fmla="*/ 32 h 297"/>
                  <a:gd name="T52" fmla="*/ 21 w 143"/>
                  <a:gd name="T53" fmla="*/ 26 h 297"/>
                  <a:gd name="T54" fmla="*/ 25 w 143"/>
                  <a:gd name="T55" fmla="*/ 21 h 297"/>
                  <a:gd name="T56" fmla="*/ 30 w 143"/>
                  <a:gd name="T57" fmla="*/ 16 h 297"/>
                  <a:gd name="T58" fmla="*/ 35 w 143"/>
                  <a:gd name="T59" fmla="*/ 11 h 297"/>
                  <a:gd name="T60" fmla="*/ 39 w 143"/>
                  <a:gd name="T61" fmla="*/ 8 h 297"/>
                  <a:gd name="T62" fmla="*/ 44 w 143"/>
                  <a:gd name="T63" fmla="*/ 4 h 297"/>
                  <a:gd name="T64" fmla="*/ 47 w 143"/>
                  <a:gd name="T65" fmla="*/ 0 h 297"/>
                  <a:gd name="T66" fmla="*/ 44 w 143"/>
                  <a:gd name="T67" fmla="*/ 0 h 297"/>
                  <a:gd name="T68" fmla="*/ 38 w 143"/>
                  <a:gd name="T69" fmla="*/ 2 h 297"/>
                  <a:gd name="T70" fmla="*/ 31 w 143"/>
                  <a:gd name="T71" fmla="*/ 8 h 297"/>
                  <a:gd name="T72" fmla="*/ 23 w 143"/>
                  <a:gd name="T73" fmla="*/ 15 h 297"/>
                  <a:gd name="T74" fmla="*/ 15 w 143"/>
                  <a:gd name="T75" fmla="*/ 24 h 297"/>
                  <a:gd name="T76" fmla="*/ 8 w 143"/>
                  <a:gd name="T77" fmla="*/ 34 h 297"/>
                  <a:gd name="T78" fmla="*/ 3 w 143"/>
                  <a:gd name="T79" fmla="*/ 44 h 297"/>
                  <a:gd name="T80" fmla="*/ 0 w 143"/>
                  <a:gd name="T81" fmla="*/ 54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3"/>
                  <a:gd name="T124" fmla="*/ 0 h 297"/>
                  <a:gd name="T125" fmla="*/ 143 w 143"/>
                  <a:gd name="T126" fmla="*/ 297 h 29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3" name="Freeform 45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87 w 309"/>
                  <a:gd name="T1" fmla="*/ 52 h 388"/>
                  <a:gd name="T2" fmla="*/ 92 w 309"/>
                  <a:gd name="T3" fmla="*/ 60 h 388"/>
                  <a:gd name="T4" fmla="*/ 94 w 309"/>
                  <a:gd name="T5" fmla="*/ 68 h 388"/>
                  <a:gd name="T6" fmla="*/ 93 w 309"/>
                  <a:gd name="T7" fmla="*/ 78 h 388"/>
                  <a:gd name="T8" fmla="*/ 87 w 309"/>
                  <a:gd name="T9" fmla="*/ 87 h 388"/>
                  <a:gd name="T10" fmla="*/ 79 w 309"/>
                  <a:gd name="T11" fmla="*/ 95 h 388"/>
                  <a:gd name="T12" fmla="*/ 70 w 309"/>
                  <a:gd name="T13" fmla="*/ 102 h 388"/>
                  <a:gd name="T14" fmla="*/ 60 w 309"/>
                  <a:gd name="T15" fmla="*/ 110 h 388"/>
                  <a:gd name="T16" fmla="*/ 54 w 309"/>
                  <a:gd name="T17" fmla="*/ 116 h 388"/>
                  <a:gd name="T18" fmla="*/ 52 w 309"/>
                  <a:gd name="T19" fmla="*/ 119 h 388"/>
                  <a:gd name="T20" fmla="*/ 51 w 309"/>
                  <a:gd name="T21" fmla="*/ 123 h 388"/>
                  <a:gd name="T22" fmla="*/ 51 w 309"/>
                  <a:gd name="T23" fmla="*/ 127 h 388"/>
                  <a:gd name="T24" fmla="*/ 54 w 309"/>
                  <a:gd name="T25" fmla="*/ 129 h 388"/>
                  <a:gd name="T26" fmla="*/ 58 w 309"/>
                  <a:gd name="T27" fmla="*/ 129 h 388"/>
                  <a:gd name="T28" fmla="*/ 65 w 309"/>
                  <a:gd name="T29" fmla="*/ 122 h 388"/>
                  <a:gd name="T30" fmla="*/ 76 w 309"/>
                  <a:gd name="T31" fmla="*/ 112 h 388"/>
                  <a:gd name="T32" fmla="*/ 87 w 309"/>
                  <a:gd name="T33" fmla="*/ 102 h 388"/>
                  <a:gd name="T34" fmla="*/ 97 w 309"/>
                  <a:gd name="T35" fmla="*/ 91 h 388"/>
                  <a:gd name="T36" fmla="*/ 102 w 309"/>
                  <a:gd name="T37" fmla="*/ 78 h 388"/>
                  <a:gd name="T38" fmla="*/ 101 w 309"/>
                  <a:gd name="T39" fmla="*/ 64 h 388"/>
                  <a:gd name="T40" fmla="*/ 95 w 309"/>
                  <a:gd name="T41" fmla="*/ 50 h 388"/>
                  <a:gd name="T42" fmla="*/ 84 w 309"/>
                  <a:gd name="T43" fmla="*/ 39 h 388"/>
                  <a:gd name="T44" fmla="*/ 74 w 309"/>
                  <a:gd name="T45" fmla="*/ 31 h 388"/>
                  <a:gd name="T46" fmla="*/ 64 w 309"/>
                  <a:gd name="T47" fmla="*/ 25 h 388"/>
                  <a:gd name="T48" fmla="*/ 53 w 309"/>
                  <a:gd name="T49" fmla="*/ 18 h 388"/>
                  <a:gd name="T50" fmla="*/ 41 w 309"/>
                  <a:gd name="T51" fmla="*/ 12 h 388"/>
                  <a:gd name="T52" fmla="*/ 31 w 309"/>
                  <a:gd name="T53" fmla="*/ 7 h 388"/>
                  <a:gd name="T54" fmla="*/ 20 w 309"/>
                  <a:gd name="T55" fmla="*/ 3 h 388"/>
                  <a:gd name="T56" fmla="*/ 10 w 309"/>
                  <a:gd name="T57" fmla="*/ 1 h 388"/>
                  <a:gd name="T58" fmla="*/ 3 w 309"/>
                  <a:gd name="T59" fmla="*/ 1 h 388"/>
                  <a:gd name="T60" fmla="*/ 4 w 309"/>
                  <a:gd name="T61" fmla="*/ 2 h 388"/>
                  <a:gd name="T62" fmla="*/ 12 w 309"/>
                  <a:gd name="T63" fmla="*/ 6 h 388"/>
                  <a:gd name="T64" fmla="*/ 22 w 309"/>
                  <a:gd name="T65" fmla="*/ 10 h 388"/>
                  <a:gd name="T66" fmla="*/ 33 w 309"/>
                  <a:gd name="T67" fmla="*/ 15 h 388"/>
                  <a:gd name="T68" fmla="*/ 45 w 309"/>
                  <a:gd name="T69" fmla="*/ 22 h 388"/>
                  <a:gd name="T70" fmla="*/ 56 w 309"/>
                  <a:gd name="T71" fmla="*/ 29 h 388"/>
                  <a:gd name="T72" fmla="*/ 68 w 309"/>
                  <a:gd name="T73" fmla="*/ 36 h 388"/>
                  <a:gd name="T74" fmla="*/ 78 w 309"/>
                  <a:gd name="T75" fmla="*/ 44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9"/>
                  <a:gd name="T115" fmla="*/ 0 h 388"/>
                  <a:gd name="T116" fmla="*/ 309 w 309"/>
                  <a:gd name="T117" fmla="*/ 388 h 38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4" name="Freeform 46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110 w 406"/>
                  <a:gd name="T1" fmla="*/ 22 h 292"/>
                  <a:gd name="T2" fmla="*/ 117 w 406"/>
                  <a:gd name="T3" fmla="*/ 41 h 292"/>
                  <a:gd name="T4" fmla="*/ 124 w 406"/>
                  <a:gd name="T5" fmla="*/ 60 h 292"/>
                  <a:gd name="T6" fmla="*/ 131 w 406"/>
                  <a:gd name="T7" fmla="*/ 79 h 292"/>
                  <a:gd name="T8" fmla="*/ 135 w 406"/>
                  <a:gd name="T9" fmla="*/ 91 h 292"/>
                  <a:gd name="T10" fmla="*/ 134 w 406"/>
                  <a:gd name="T11" fmla="*/ 94 h 292"/>
                  <a:gd name="T12" fmla="*/ 131 w 406"/>
                  <a:gd name="T13" fmla="*/ 97 h 292"/>
                  <a:gd name="T14" fmla="*/ 127 w 406"/>
                  <a:gd name="T15" fmla="*/ 96 h 292"/>
                  <a:gd name="T16" fmla="*/ 121 w 406"/>
                  <a:gd name="T17" fmla="*/ 83 h 292"/>
                  <a:gd name="T18" fmla="*/ 113 w 406"/>
                  <a:gd name="T19" fmla="*/ 57 h 292"/>
                  <a:gd name="T20" fmla="*/ 106 w 406"/>
                  <a:gd name="T21" fmla="*/ 31 h 292"/>
                  <a:gd name="T22" fmla="*/ 102 w 406"/>
                  <a:gd name="T23" fmla="*/ 14 h 292"/>
                  <a:gd name="T24" fmla="*/ 94 w 406"/>
                  <a:gd name="T25" fmla="*/ 11 h 292"/>
                  <a:gd name="T26" fmla="*/ 79 w 406"/>
                  <a:gd name="T27" fmla="*/ 13 h 292"/>
                  <a:gd name="T28" fmla="*/ 64 w 406"/>
                  <a:gd name="T29" fmla="*/ 17 h 292"/>
                  <a:gd name="T30" fmla="*/ 49 w 406"/>
                  <a:gd name="T31" fmla="*/ 22 h 292"/>
                  <a:gd name="T32" fmla="*/ 35 w 406"/>
                  <a:gd name="T33" fmla="*/ 28 h 292"/>
                  <a:gd name="T34" fmla="*/ 22 w 406"/>
                  <a:gd name="T35" fmla="*/ 34 h 292"/>
                  <a:gd name="T36" fmla="*/ 11 w 406"/>
                  <a:gd name="T37" fmla="*/ 41 h 292"/>
                  <a:gd name="T38" fmla="*/ 3 w 406"/>
                  <a:gd name="T39" fmla="*/ 47 h 292"/>
                  <a:gd name="T40" fmla="*/ 0 w 406"/>
                  <a:gd name="T41" fmla="*/ 44 h 292"/>
                  <a:gd name="T42" fmla="*/ 6 w 406"/>
                  <a:gd name="T43" fmla="*/ 34 h 292"/>
                  <a:gd name="T44" fmla="*/ 18 w 406"/>
                  <a:gd name="T45" fmla="*/ 23 h 292"/>
                  <a:gd name="T46" fmla="*/ 31 w 406"/>
                  <a:gd name="T47" fmla="*/ 14 h 292"/>
                  <a:gd name="T48" fmla="*/ 46 w 406"/>
                  <a:gd name="T49" fmla="*/ 8 h 292"/>
                  <a:gd name="T50" fmla="*/ 70 w 406"/>
                  <a:gd name="T51" fmla="*/ 3 h 292"/>
                  <a:gd name="T52" fmla="*/ 92 w 406"/>
                  <a:gd name="T53" fmla="*/ 0 h 292"/>
                  <a:gd name="T54" fmla="*/ 107 w 406"/>
                  <a:gd name="T55" fmla="*/ 0 h 292"/>
                  <a:gd name="T56" fmla="*/ 112 w 406"/>
                  <a:gd name="T57" fmla="*/ 0 h 292"/>
                  <a:gd name="T58" fmla="*/ 115 w 406"/>
                  <a:gd name="T59" fmla="*/ 4 h 292"/>
                  <a:gd name="T60" fmla="*/ 115 w 406"/>
                  <a:gd name="T61" fmla="*/ 9 h 292"/>
                  <a:gd name="T62" fmla="*/ 111 w 406"/>
                  <a:gd name="T63" fmla="*/ 11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06"/>
                  <a:gd name="T97" fmla="*/ 0 h 292"/>
                  <a:gd name="T98" fmla="*/ 406 w 406"/>
                  <a:gd name="T99" fmla="*/ 292 h 29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5" name="Freeform 47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27 w 439"/>
                  <a:gd name="T1" fmla="*/ 96 h 960"/>
                  <a:gd name="T2" fmla="*/ 29 w 439"/>
                  <a:gd name="T3" fmla="*/ 105 h 960"/>
                  <a:gd name="T4" fmla="*/ 36 w 439"/>
                  <a:gd name="T5" fmla="*/ 125 h 960"/>
                  <a:gd name="T6" fmla="*/ 47 w 439"/>
                  <a:gd name="T7" fmla="*/ 152 h 960"/>
                  <a:gd name="T8" fmla="*/ 58 w 439"/>
                  <a:gd name="T9" fmla="*/ 178 h 960"/>
                  <a:gd name="T10" fmla="*/ 70 w 439"/>
                  <a:gd name="T11" fmla="*/ 204 h 960"/>
                  <a:gd name="T12" fmla="*/ 82 w 439"/>
                  <a:gd name="T13" fmla="*/ 229 h 960"/>
                  <a:gd name="T14" fmla="*/ 95 w 439"/>
                  <a:gd name="T15" fmla="*/ 254 h 960"/>
                  <a:gd name="T16" fmla="*/ 108 w 439"/>
                  <a:gd name="T17" fmla="*/ 280 h 960"/>
                  <a:gd name="T18" fmla="*/ 122 w 439"/>
                  <a:gd name="T19" fmla="*/ 305 h 960"/>
                  <a:gd name="T20" fmla="*/ 130 w 439"/>
                  <a:gd name="T21" fmla="*/ 319 h 960"/>
                  <a:gd name="T22" fmla="*/ 134 w 439"/>
                  <a:gd name="T23" fmla="*/ 320 h 960"/>
                  <a:gd name="T24" fmla="*/ 140 w 439"/>
                  <a:gd name="T25" fmla="*/ 320 h 960"/>
                  <a:gd name="T26" fmla="*/ 144 w 439"/>
                  <a:gd name="T27" fmla="*/ 319 h 960"/>
                  <a:gd name="T28" fmla="*/ 146 w 439"/>
                  <a:gd name="T29" fmla="*/ 316 h 960"/>
                  <a:gd name="T30" fmla="*/ 145 w 439"/>
                  <a:gd name="T31" fmla="*/ 312 h 960"/>
                  <a:gd name="T32" fmla="*/ 138 w 439"/>
                  <a:gd name="T33" fmla="*/ 301 h 960"/>
                  <a:gd name="T34" fmla="*/ 126 w 439"/>
                  <a:gd name="T35" fmla="*/ 281 h 960"/>
                  <a:gd name="T36" fmla="*/ 116 w 439"/>
                  <a:gd name="T37" fmla="*/ 261 h 960"/>
                  <a:gd name="T38" fmla="*/ 104 w 439"/>
                  <a:gd name="T39" fmla="*/ 241 h 960"/>
                  <a:gd name="T40" fmla="*/ 89 w 439"/>
                  <a:gd name="T41" fmla="*/ 213 h 960"/>
                  <a:gd name="T42" fmla="*/ 72 w 439"/>
                  <a:gd name="T43" fmla="*/ 177 h 960"/>
                  <a:gd name="T44" fmla="*/ 56 w 439"/>
                  <a:gd name="T45" fmla="*/ 141 h 960"/>
                  <a:gd name="T46" fmla="*/ 43 w 439"/>
                  <a:gd name="T47" fmla="*/ 104 h 960"/>
                  <a:gd name="T48" fmla="*/ 30 w 439"/>
                  <a:gd name="T49" fmla="*/ 73 h 960"/>
                  <a:gd name="T50" fmla="*/ 20 w 439"/>
                  <a:gd name="T51" fmla="*/ 46 h 960"/>
                  <a:gd name="T52" fmla="*/ 12 w 439"/>
                  <a:gd name="T53" fmla="*/ 21 h 960"/>
                  <a:gd name="T54" fmla="*/ 5 w 439"/>
                  <a:gd name="T55" fmla="*/ 3 h 960"/>
                  <a:gd name="T56" fmla="*/ 2 w 439"/>
                  <a:gd name="T57" fmla="*/ 0 h 960"/>
                  <a:gd name="T58" fmla="*/ 0 w 439"/>
                  <a:gd name="T59" fmla="*/ 3 h 960"/>
                  <a:gd name="T60" fmla="*/ 2 w 439"/>
                  <a:gd name="T61" fmla="*/ 16 h 960"/>
                  <a:gd name="T62" fmla="*/ 5 w 439"/>
                  <a:gd name="T63" fmla="*/ 38 h 960"/>
                  <a:gd name="T64" fmla="*/ 11 w 439"/>
                  <a:gd name="T65" fmla="*/ 60 h 960"/>
                  <a:gd name="T66" fmla="*/ 19 w 439"/>
                  <a:gd name="T67" fmla="*/ 80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39"/>
                  <a:gd name="T103" fmla="*/ 0 h 960"/>
                  <a:gd name="T104" fmla="*/ 439 w 439"/>
                  <a:gd name="T105" fmla="*/ 960 h 9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6" name="Freeform 48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1 w 382"/>
                  <a:gd name="T1" fmla="*/ 61 h 198"/>
                  <a:gd name="T2" fmla="*/ 0 w 382"/>
                  <a:gd name="T3" fmla="*/ 62 h 198"/>
                  <a:gd name="T4" fmla="*/ 0 w 382"/>
                  <a:gd name="T5" fmla="*/ 64 h 198"/>
                  <a:gd name="T6" fmla="*/ 1 w 382"/>
                  <a:gd name="T7" fmla="*/ 65 h 198"/>
                  <a:gd name="T8" fmla="*/ 2 w 382"/>
                  <a:gd name="T9" fmla="*/ 66 h 198"/>
                  <a:gd name="T10" fmla="*/ 10 w 382"/>
                  <a:gd name="T11" fmla="*/ 62 h 198"/>
                  <a:gd name="T12" fmla="*/ 17 w 382"/>
                  <a:gd name="T13" fmla="*/ 59 h 198"/>
                  <a:gd name="T14" fmla="*/ 25 w 382"/>
                  <a:gd name="T15" fmla="*/ 55 h 198"/>
                  <a:gd name="T16" fmla="*/ 33 w 382"/>
                  <a:gd name="T17" fmla="*/ 52 h 198"/>
                  <a:gd name="T18" fmla="*/ 42 w 382"/>
                  <a:gd name="T19" fmla="*/ 49 h 198"/>
                  <a:gd name="T20" fmla="*/ 49 w 382"/>
                  <a:gd name="T21" fmla="*/ 46 h 198"/>
                  <a:gd name="T22" fmla="*/ 57 w 382"/>
                  <a:gd name="T23" fmla="*/ 43 h 198"/>
                  <a:gd name="T24" fmla="*/ 65 w 382"/>
                  <a:gd name="T25" fmla="*/ 40 h 198"/>
                  <a:gd name="T26" fmla="*/ 73 w 382"/>
                  <a:gd name="T27" fmla="*/ 36 h 198"/>
                  <a:gd name="T28" fmla="*/ 81 w 382"/>
                  <a:gd name="T29" fmla="*/ 33 h 198"/>
                  <a:gd name="T30" fmla="*/ 89 w 382"/>
                  <a:gd name="T31" fmla="*/ 30 h 198"/>
                  <a:gd name="T32" fmla="*/ 96 w 382"/>
                  <a:gd name="T33" fmla="*/ 26 h 198"/>
                  <a:gd name="T34" fmla="*/ 104 w 382"/>
                  <a:gd name="T35" fmla="*/ 22 h 198"/>
                  <a:gd name="T36" fmla="*/ 111 w 382"/>
                  <a:gd name="T37" fmla="*/ 18 h 198"/>
                  <a:gd name="T38" fmla="*/ 119 w 382"/>
                  <a:gd name="T39" fmla="*/ 14 h 198"/>
                  <a:gd name="T40" fmla="*/ 126 w 382"/>
                  <a:gd name="T41" fmla="*/ 9 h 198"/>
                  <a:gd name="T42" fmla="*/ 128 w 382"/>
                  <a:gd name="T43" fmla="*/ 8 h 198"/>
                  <a:gd name="T44" fmla="*/ 128 w 382"/>
                  <a:gd name="T45" fmla="*/ 6 h 198"/>
                  <a:gd name="T46" fmla="*/ 128 w 382"/>
                  <a:gd name="T47" fmla="*/ 4 h 198"/>
                  <a:gd name="T48" fmla="*/ 127 w 382"/>
                  <a:gd name="T49" fmla="*/ 2 h 198"/>
                  <a:gd name="T50" fmla="*/ 126 w 382"/>
                  <a:gd name="T51" fmla="*/ 1 h 198"/>
                  <a:gd name="T52" fmla="*/ 124 w 382"/>
                  <a:gd name="T53" fmla="*/ 0 h 198"/>
                  <a:gd name="T54" fmla="*/ 122 w 382"/>
                  <a:gd name="T55" fmla="*/ 0 h 198"/>
                  <a:gd name="T56" fmla="*/ 120 w 382"/>
                  <a:gd name="T57" fmla="*/ 1 h 198"/>
                  <a:gd name="T58" fmla="*/ 112 w 382"/>
                  <a:gd name="T59" fmla="*/ 5 h 198"/>
                  <a:gd name="T60" fmla="*/ 104 w 382"/>
                  <a:gd name="T61" fmla="*/ 9 h 198"/>
                  <a:gd name="T62" fmla="*/ 94 w 382"/>
                  <a:gd name="T63" fmla="*/ 14 h 198"/>
                  <a:gd name="T64" fmla="*/ 85 w 382"/>
                  <a:gd name="T65" fmla="*/ 19 h 198"/>
                  <a:gd name="T66" fmla="*/ 75 w 382"/>
                  <a:gd name="T67" fmla="*/ 23 h 198"/>
                  <a:gd name="T68" fmla="*/ 65 w 382"/>
                  <a:gd name="T69" fmla="*/ 28 h 198"/>
                  <a:gd name="T70" fmla="*/ 55 w 382"/>
                  <a:gd name="T71" fmla="*/ 32 h 198"/>
                  <a:gd name="T72" fmla="*/ 45 w 382"/>
                  <a:gd name="T73" fmla="*/ 37 h 198"/>
                  <a:gd name="T74" fmla="*/ 36 w 382"/>
                  <a:gd name="T75" fmla="*/ 42 h 198"/>
                  <a:gd name="T76" fmla="*/ 28 w 382"/>
                  <a:gd name="T77" fmla="*/ 45 h 198"/>
                  <a:gd name="T78" fmla="*/ 20 w 382"/>
                  <a:gd name="T79" fmla="*/ 49 h 198"/>
                  <a:gd name="T80" fmla="*/ 13 w 382"/>
                  <a:gd name="T81" fmla="*/ 53 h 198"/>
                  <a:gd name="T82" fmla="*/ 8 w 382"/>
                  <a:gd name="T83" fmla="*/ 55 h 198"/>
                  <a:gd name="T84" fmla="*/ 4 w 382"/>
                  <a:gd name="T85" fmla="*/ 58 h 198"/>
                  <a:gd name="T86" fmla="*/ 2 w 382"/>
                  <a:gd name="T87" fmla="*/ 60 h 198"/>
                  <a:gd name="T88" fmla="*/ 1 w 382"/>
                  <a:gd name="T89" fmla="*/ 61 h 198"/>
                  <a:gd name="T90" fmla="*/ 1 w 382"/>
                  <a:gd name="T91" fmla="*/ 61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82"/>
                  <a:gd name="T139" fmla="*/ 0 h 198"/>
                  <a:gd name="T140" fmla="*/ 382 w 382"/>
                  <a:gd name="T141" fmla="*/ 198 h 19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7" name="Freeform 49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39 w 229"/>
                  <a:gd name="T1" fmla="*/ 1 h 240"/>
                  <a:gd name="T2" fmla="*/ 35 w 229"/>
                  <a:gd name="T3" fmla="*/ 0 h 240"/>
                  <a:gd name="T4" fmla="*/ 31 w 229"/>
                  <a:gd name="T5" fmla="*/ 0 h 240"/>
                  <a:gd name="T6" fmla="*/ 25 w 229"/>
                  <a:gd name="T7" fmla="*/ 0 h 240"/>
                  <a:gd name="T8" fmla="*/ 19 w 229"/>
                  <a:gd name="T9" fmla="*/ 1 h 240"/>
                  <a:gd name="T10" fmla="*/ 14 w 229"/>
                  <a:gd name="T11" fmla="*/ 4 h 240"/>
                  <a:gd name="T12" fmla="*/ 6 w 229"/>
                  <a:gd name="T13" fmla="*/ 11 h 240"/>
                  <a:gd name="T14" fmla="*/ 0 w 229"/>
                  <a:gd name="T15" fmla="*/ 25 h 240"/>
                  <a:gd name="T16" fmla="*/ 1 w 229"/>
                  <a:gd name="T17" fmla="*/ 40 h 240"/>
                  <a:gd name="T18" fmla="*/ 5 w 229"/>
                  <a:gd name="T19" fmla="*/ 56 h 240"/>
                  <a:gd name="T20" fmla="*/ 12 w 229"/>
                  <a:gd name="T21" fmla="*/ 67 h 240"/>
                  <a:gd name="T22" fmla="*/ 19 w 229"/>
                  <a:gd name="T23" fmla="*/ 74 h 240"/>
                  <a:gd name="T24" fmla="*/ 28 w 229"/>
                  <a:gd name="T25" fmla="*/ 79 h 240"/>
                  <a:gd name="T26" fmla="*/ 38 w 229"/>
                  <a:gd name="T27" fmla="*/ 80 h 240"/>
                  <a:gd name="T28" fmla="*/ 51 w 229"/>
                  <a:gd name="T29" fmla="*/ 76 h 240"/>
                  <a:gd name="T30" fmla="*/ 64 w 229"/>
                  <a:gd name="T31" fmla="*/ 68 h 240"/>
                  <a:gd name="T32" fmla="*/ 72 w 229"/>
                  <a:gd name="T33" fmla="*/ 57 h 240"/>
                  <a:gd name="T34" fmla="*/ 76 w 229"/>
                  <a:gd name="T35" fmla="*/ 44 h 240"/>
                  <a:gd name="T36" fmla="*/ 74 w 229"/>
                  <a:gd name="T37" fmla="*/ 34 h 240"/>
                  <a:gd name="T38" fmla="*/ 71 w 229"/>
                  <a:gd name="T39" fmla="*/ 32 h 240"/>
                  <a:gd name="T40" fmla="*/ 68 w 229"/>
                  <a:gd name="T41" fmla="*/ 32 h 240"/>
                  <a:gd name="T42" fmla="*/ 65 w 229"/>
                  <a:gd name="T43" fmla="*/ 35 h 240"/>
                  <a:gd name="T44" fmla="*/ 64 w 229"/>
                  <a:gd name="T45" fmla="*/ 42 h 240"/>
                  <a:gd name="T46" fmla="*/ 61 w 229"/>
                  <a:gd name="T47" fmla="*/ 53 h 240"/>
                  <a:gd name="T48" fmla="*/ 54 w 229"/>
                  <a:gd name="T49" fmla="*/ 60 h 240"/>
                  <a:gd name="T50" fmla="*/ 44 w 229"/>
                  <a:gd name="T51" fmla="*/ 65 h 240"/>
                  <a:gd name="T52" fmla="*/ 31 w 229"/>
                  <a:gd name="T53" fmla="*/ 66 h 240"/>
                  <a:gd name="T54" fmla="*/ 21 w 229"/>
                  <a:gd name="T55" fmla="*/ 59 h 240"/>
                  <a:gd name="T56" fmla="*/ 16 w 229"/>
                  <a:gd name="T57" fmla="*/ 47 h 240"/>
                  <a:gd name="T58" fmla="*/ 12 w 229"/>
                  <a:gd name="T59" fmla="*/ 34 h 240"/>
                  <a:gd name="T60" fmla="*/ 12 w 229"/>
                  <a:gd name="T61" fmla="*/ 24 h 240"/>
                  <a:gd name="T62" fmla="*/ 14 w 229"/>
                  <a:gd name="T63" fmla="*/ 17 h 240"/>
                  <a:gd name="T64" fmla="*/ 18 w 229"/>
                  <a:gd name="T65" fmla="*/ 11 h 240"/>
                  <a:gd name="T66" fmla="*/ 26 w 229"/>
                  <a:gd name="T67" fmla="*/ 7 h 240"/>
                  <a:gd name="T68" fmla="*/ 32 w 229"/>
                  <a:gd name="T69" fmla="*/ 6 h 240"/>
                  <a:gd name="T70" fmla="*/ 40 w 229"/>
                  <a:gd name="T71" fmla="*/ 6 h 240"/>
                  <a:gd name="T72" fmla="*/ 46 w 229"/>
                  <a:gd name="T73" fmla="*/ 7 h 240"/>
                  <a:gd name="T74" fmla="*/ 44 w 229"/>
                  <a:gd name="T75" fmla="*/ 3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9"/>
                  <a:gd name="T115" fmla="*/ 0 h 240"/>
                  <a:gd name="T116" fmla="*/ 229 w 229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8" name="Freeform 50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20 w 281"/>
                  <a:gd name="T1" fmla="*/ 3 h 270"/>
                  <a:gd name="T2" fmla="*/ 11 w 281"/>
                  <a:gd name="T3" fmla="*/ 9 h 270"/>
                  <a:gd name="T4" fmla="*/ 5 w 281"/>
                  <a:gd name="T5" fmla="*/ 17 h 270"/>
                  <a:gd name="T6" fmla="*/ 1 w 281"/>
                  <a:gd name="T7" fmla="*/ 27 h 270"/>
                  <a:gd name="T8" fmla="*/ 0 w 281"/>
                  <a:gd name="T9" fmla="*/ 38 h 270"/>
                  <a:gd name="T10" fmla="*/ 2 w 281"/>
                  <a:gd name="T11" fmla="*/ 48 h 270"/>
                  <a:gd name="T12" fmla="*/ 6 w 281"/>
                  <a:gd name="T13" fmla="*/ 59 h 270"/>
                  <a:gd name="T14" fmla="*/ 12 w 281"/>
                  <a:gd name="T15" fmla="*/ 68 h 270"/>
                  <a:gd name="T16" fmla="*/ 22 w 281"/>
                  <a:gd name="T17" fmla="*/ 77 h 270"/>
                  <a:gd name="T18" fmla="*/ 34 w 281"/>
                  <a:gd name="T19" fmla="*/ 86 h 270"/>
                  <a:gd name="T20" fmla="*/ 47 w 281"/>
                  <a:gd name="T21" fmla="*/ 90 h 270"/>
                  <a:gd name="T22" fmla="*/ 61 w 281"/>
                  <a:gd name="T23" fmla="*/ 88 h 270"/>
                  <a:gd name="T24" fmla="*/ 72 w 281"/>
                  <a:gd name="T25" fmla="*/ 80 h 270"/>
                  <a:gd name="T26" fmla="*/ 81 w 281"/>
                  <a:gd name="T27" fmla="*/ 72 h 270"/>
                  <a:gd name="T28" fmla="*/ 87 w 281"/>
                  <a:gd name="T29" fmla="*/ 63 h 270"/>
                  <a:gd name="T30" fmla="*/ 91 w 281"/>
                  <a:gd name="T31" fmla="*/ 53 h 270"/>
                  <a:gd name="T32" fmla="*/ 93 w 281"/>
                  <a:gd name="T33" fmla="*/ 45 h 270"/>
                  <a:gd name="T34" fmla="*/ 91 w 281"/>
                  <a:gd name="T35" fmla="*/ 40 h 270"/>
                  <a:gd name="T36" fmla="*/ 86 w 281"/>
                  <a:gd name="T37" fmla="*/ 39 h 270"/>
                  <a:gd name="T38" fmla="*/ 81 w 281"/>
                  <a:gd name="T39" fmla="*/ 41 h 270"/>
                  <a:gd name="T40" fmla="*/ 80 w 281"/>
                  <a:gd name="T41" fmla="*/ 44 h 270"/>
                  <a:gd name="T42" fmla="*/ 78 w 281"/>
                  <a:gd name="T43" fmla="*/ 50 h 270"/>
                  <a:gd name="T44" fmla="*/ 73 w 281"/>
                  <a:gd name="T45" fmla="*/ 60 h 270"/>
                  <a:gd name="T46" fmla="*/ 66 w 281"/>
                  <a:gd name="T47" fmla="*/ 68 h 270"/>
                  <a:gd name="T48" fmla="*/ 51 w 281"/>
                  <a:gd name="T49" fmla="*/ 71 h 270"/>
                  <a:gd name="T50" fmla="*/ 33 w 281"/>
                  <a:gd name="T51" fmla="*/ 66 h 270"/>
                  <a:gd name="T52" fmla="*/ 20 w 281"/>
                  <a:gd name="T53" fmla="*/ 54 h 270"/>
                  <a:gd name="T54" fmla="*/ 13 w 281"/>
                  <a:gd name="T55" fmla="*/ 38 h 270"/>
                  <a:gd name="T56" fmla="*/ 15 w 281"/>
                  <a:gd name="T57" fmla="*/ 25 h 270"/>
                  <a:gd name="T58" fmla="*/ 20 w 281"/>
                  <a:gd name="T59" fmla="*/ 17 h 270"/>
                  <a:gd name="T60" fmla="*/ 26 w 281"/>
                  <a:gd name="T61" fmla="*/ 10 h 270"/>
                  <a:gd name="T62" fmla="*/ 34 w 281"/>
                  <a:gd name="T63" fmla="*/ 6 h 270"/>
                  <a:gd name="T64" fmla="*/ 36 w 281"/>
                  <a:gd name="T65" fmla="*/ 2 h 270"/>
                  <a:gd name="T66" fmla="*/ 29 w 281"/>
                  <a:gd name="T67" fmla="*/ 1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1"/>
                  <a:gd name="T103" fmla="*/ 0 h 270"/>
                  <a:gd name="T104" fmla="*/ 281 w 281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29" name="Freeform 51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2 h 13"/>
                  <a:gd name="T2" fmla="*/ 1 w 15"/>
                  <a:gd name="T3" fmla="*/ 3 h 13"/>
                  <a:gd name="T4" fmla="*/ 1 w 15"/>
                  <a:gd name="T5" fmla="*/ 3 h 13"/>
                  <a:gd name="T6" fmla="*/ 2 w 15"/>
                  <a:gd name="T7" fmla="*/ 4 h 13"/>
                  <a:gd name="T8" fmla="*/ 3 w 15"/>
                  <a:gd name="T9" fmla="*/ 4 h 13"/>
                  <a:gd name="T10" fmla="*/ 4 w 15"/>
                  <a:gd name="T11" fmla="*/ 4 h 13"/>
                  <a:gd name="T12" fmla="*/ 5 w 15"/>
                  <a:gd name="T13" fmla="*/ 3 h 13"/>
                  <a:gd name="T14" fmla="*/ 5 w 15"/>
                  <a:gd name="T15" fmla="*/ 3 h 13"/>
                  <a:gd name="T16" fmla="*/ 5 w 15"/>
                  <a:gd name="T17" fmla="*/ 2 h 13"/>
                  <a:gd name="T18" fmla="*/ 5 w 15"/>
                  <a:gd name="T19" fmla="*/ 1 h 13"/>
                  <a:gd name="T20" fmla="*/ 5 w 15"/>
                  <a:gd name="T21" fmla="*/ 0 h 13"/>
                  <a:gd name="T22" fmla="*/ 4 w 15"/>
                  <a:gd name="T23" fmla="*/ 0 h 13"/>
                  <a:gd name="T24" fmla="*/ 3 w 15"/>
                  <a:gd name="T25" fmla="*/ 0 h 13"/>
                  <a:gd name="T26" fmla="*/ 2 w 15"/>
                  <a:gd name="T27" fmla="*/ 0 h 13"/>
                  <a:gd name="T28" fmla="*/ 1 w 15"/>
                  <a:gd name="T29" fmla="*/ 0 h 13"/>
                  <a:gd name="T30" fmla="*/ 1 w 15"/>
                  <a:gd name="T31" fmla="*/ 1 h 13"/>
                  <a:gd name="T32" fmla="*/ 0 w 15"/>
                  <a:gd name="T33" fmla="*/ 2 h 13"/>
                  <a:gd name="T34" fmla="*/ 0 w 15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"/>
                  <a:gd name="T55" fmla="*/ 0 h 13"/>
                  <a:gd name="T56" fmla="*/ 15 w 15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0" name="Freeform 52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3 h 17"/>
                  <a:gd name="T2" fmla="*/ 0 w 17"/>
                  <a:gd name="T3" fmla="*/ 5 h 17"/>
                  <a:gd name="T4" fmla="*/ 1 w 17"/>
                  <a:gd name="T5" fmla="*/ 5 h 17"/>
                  <a:gd name="T6" fmla="*/ 2 w 17"/>
                  <a:gd name="T7" fmla="*/ 6 h 17"/>
                  <a:gd name="T8" fmla="*/ 3 w 17"/>
                  <a:gd name="T9" fmla="*/ 6 h 17"/>
                  <a:gd name="T10" fmla="*/ 5 w 17"/>
                  <a:gd name="T11" fmla="*/ 6 h 17"/>
                  <a:gd name="T12" fmla="*/ 6 w 17"/>
                  <a:gd name="T13" fmla="*/ 5 h 17"/>
                  <a:gd name="T14" fmla="*/ 6 w 17"/>
                  <a:gd name="T15" fmla="*/ 5 h 17"/>
                  <a:gd name="T16" fmla="*/ 6 w 17"/>
                  <a:gd name="T17" fmla="*/ 3 h 17"/>
                  <a:gd name="T18" fmla="*/ 6 w 17"/>
                  <a:gd name="T19" fmla="*/ 2 h 17"/>
                  <a:gd name="T20" fmla="*/ 6 w 17"/>
                  <a:gd name="T21" fmla="*/ 1 h 17"/>
                  <a:gd name="T22" fmla="*/ 5 w 17"/>
                  <a:gd name="T23" fmla="*/ 1 h 17"/>
                  <a:gd name="T24" fmla="*/ 3 w 17"/>
                  <a:gd name="T25" fmla="*/ 0 h 17"/>
                  <a:gd name="T26" fmla="*/ 2 w 17"/>
                  <a:gd name="T27" fmla="*/ 1 h 17"/>
                  <a:gd name="T28" fmla="*/ 1 w 17"/>
                  <a:gd name="T29" fmla="*/ 1 h 17"/>
                  <a:gd name="T30" fmla="*/ 0 w 17"/>
                  <a:gd name="T31" fmla="*/ 2 h 17"/>
                  <a:gd name="T32" fmla="*/ 0 w 17"/>
                  <a:gd name="T33" fmla="*/ 3 h 17"/>
                  <a:gd name="T34" fmla="*/ 0 w 17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"/>
                  <a:gd name="T55" fmla="*/ 0 h 17"/>
                  <a:gd name="T56" fmla="*/ 17 w 17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1" name="Freeform 53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2 h 9"/>
                  <a:gd name="T4" fmla="*/ 0 w 9"/>
                  <a:gd name="T5" fmla="*/ 2 h 9"/>
                  <a:gd name="T6" fmla="*/ 1 w 9"/>
                  <a:gd name="T7" fmla="*/ 3 h 9"/>
                  <a:gd name="T8" fmla="*/ 1 w 9"/>
                  <a:gd name="T9" fmla="*/ 3 h 9"/>
                  <a:gd name="T10" fmla="*/ 2 w 9"/>
                  <a:gd name="T11" fmla="*/ 3 h 9"/>
                  <a:gd name="T12" fmla="*/ 2 w 9"/>
                  <a:gd name="T13" fmla="*/ 2 h 9"/>
                  <a:gd name="T14" fmla="*/ 3 w 9"/>
                  <a:gd name="T15" fmla="*/ 2 h 9"/>
                  <a:gd name="T16" fmla="*/ 3 w 9"/>
                  <a:gd name="T17" fmla="*/ 1 h 9"/>
                  <a:gd name="T18" fmla="*/ 3 w 9"/>
                  <a:gd name="T19" fmla="*/ 1 h 9"/>
                  <a:gd name="T20" fmla="*/ 2 w 9"/>
                  <a:gd name="T21" fmla="*/ 1 h 9"/>
                  <a:gd name="T22" fmla="*/ 2 w 9"/>
                  <a:gd name="T23" fmla="*/ 0 h 9"/>
                  <a:gd name="T24" fmla="*/ 1 w 9"/>
                  <a:gd name="T25" fmla="*/ 0 h 9"/>
                  <a:gd name="T26" fmla="*/ 1 w 9"/>
                  <a:gd name="T27" fmla="*/ 0 h 9"/>
                  <a:gd name="T28" fmla="*/ 0 w 9"/>
                  <a:gd name="T29" fmla="*/ 1 h 9"/>
                  <a:gd name="T30" fmla="*/ 0 w 9"/>
                  <a:gd name="T31" fmla="*/ 1 h 9"/>
                  <a:gd name="T32" fmla="*/ 0 w 9"/>
                  <a:gd name="T33" fmla="*/ 1 h 9"/>
                  <a:gd name="T34" fmla="*/ 0 w 9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9"/>
                  <a:gd name="T56" fmla="*/ 9 w 9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2" name="Freeform 54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2 h 8"/>
                  <a:gd name="T2" fmla="*/ 0 w 7"/>
                  <a:gd name="T3" fmla="*/ 2 h 8"/>
                  <a:gd name="T4" fmla="*/ 0 w 7"/>
                  <a:gd name="T5" fmla="*/ 3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3 h 8"/>
                  <a:gd name="T14" fmla="*/ 2 w 7"/>
                  <a:gd name="T15" fmla="*/ 2 h 8"/>
                  <a:gd name="T16" fmla="*/ 2 w 7"/>
                  <a:gd name="T17" fmla="*/ 2 h 8"/>
                  <a:gd name="T18" fmla="*/ 2 w 7"/>
                  <a:gd name="T19" fmla="*/ 1 h 8"/>
                  <a:gd name="T20" fmla="*/ 2 w 7"/>
                  <a:gd name="T21" fmla="*/ 0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0 h 8"/>
                  <a:gd name="T30" fmla="*/ 0 w 7"/>
                  <a:gd name="T31" fmla="*/ 1 h 8"/>
                  <a:gd name="T32" fmla="*/ 0 w 7"/>
                  <a:gd name="T33" fmla="*/ 2 h 8"/>
                  <a:gd name="T34" fmla="*/ 0 w 7"/>
                  <a:gd name="T35" fmla="*/ 2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3" name="Freeform 55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1 h 9"/>
                  <a:gd name="T2" fmla="*/ 0 w 7"/>
                  <a:gd name="T3" fmla="*/ 2 h 9"/>
                  <a:gd name="T4" fmla="*/ 0 w 7"/>
                  <a:gd name="T5" fmla="*/ 2 h 9"/>
                  <a:gd name="T6" fmla="*/ 1 w 7"/>
                  <a:gd name="T7" fmla="*/ 3 h 9"/>
                  <a:gd name="T8" fmla="*/ 1 w 7"/>
                  <a:gd name="T9" fmla="*/ 3 h 9"/>
                  <a:gd name="T10" fmla="*/ 1 w 7"/>
                  <a:gd name="T11" fmla="*/ 3 h 9"/>
                  <a:gd name="T12" fmla="*/ 1 w 7"/>
                  <a:gd name="T13" fmla="*/ 2 h 9"/>
                  <a:gd name="T14" fmla="*/ 2 w 7"/>
                  <a:gd name="T15" fmla="*/ 2 h 9"/>
                  <a:gd name="T16" fmla="*/ 2 w 7"/>
                  <a:gd name="T17" fmla="*/ 1 h 9"/>
                  <a:gd name="T18" fmla="*/ 2 w 7"/>
                  <a:gd name="T19" fmla="*/ 1 h 9"/>
                  <a:gd name="T20" fmla="*/ 1 w 7"/>
                  <a:gd name="T21" fmla="*/ 0 h 9"/>
                  <a:gd name="T22" fmla="*/ 1 w 7"/>
                  <a:gd name="T23" fmla="*/ 0 h 9"/>
                  <a:gd name="T24" fmla="*/ 1 w 7"/>
                  <a:gd name="T25" fmla="*/ 0 h 9"/>
                  <a:gd name="T26" fmla="*/ 1 w 7"/>
                  <a:gd name="T27" fmla="*/ 0 h 9"/>
                  <a:gd name="T28" fmla="*/ 0 w 7"/>
                  <a:gd name="T29" fmla="*/ 0 h 9"/>
                  <a:gd name="T30" fmla="*/ 0 w 7"/>
                  <a:gd name="T31" fmla="*/ 1 h 9"/>
                  <a:gd name="T32" fmla="*/ 0 w 7"/>
                  <a:gd name="T33" fmla="*/ 1 h 9"/>
                  <a:gd name="T34" fmla="*/ 0 w 7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9"/>
                  <a:gd name="T56" fmla="*/ 7 w 7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4" name="Freeform 56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3 h 20"/>
                  <a:gd name="T2" fmla="*/ 0 w 20"/>
                  <a:gd name="T3" fmla="*/ 4 h 20"/>
                  <a:gd name="T4" fmla="*/ 1 w 20"/>
                  <a:gd name="T5" fmla="*/ 5 h 20"/>
                  <a:gd name="T6" fmla="*/ 2 w 20"/>
                  <a:gd name="T7" fmla="*/ 6 h 20"/>
                  <a:gd name="T8" fmla="*/ 4 w 20"/>
                  <a:gd name="T9" fmla="*/ 6 h 20"/>
                  <a:gd name="T10" fmla="*/ 5 w 20"/>
                  <a:gd name="T11" fmla="*/ 6 h 20"/>
                  <a:gd name="T12" fmla="*/ 6 w 20"/>
                  <a:gd name="T13" fmla="*/ 5 h 20"/>
                  <a:gd name="T14" fmla="*/ 7 w 20"/>
                  <a:gd name="T15" fmla="*/ 4 h 20"/>
                  <a:gd name="T16" fmla="*/ 7 w 20"/>
                  <a:gd name="T17" fmla="*/ 3 h 20"/>
                  <a:gd name="T18" fmla="*/ 7 w 20"/>
                  <a:gd name="T19" fmla="*/ 2 h 20"/>
                  <a:gd name="T20" fmla="*/ 6 w 20"/>
                  <a:gd name="T21" fmla="*/ 1 h 20"/>
                  <a:gd name="T22" fmla="*/ 5 w 20"/>
                  <a:gd name="T23" fmla="*/ 0 h 20"/>
                  <a:gd name="T24" fmla="*/ 4 w 20"/>
                  <a:gd name="T25" fmla="*/ 0 h 20"/>
                  <a:gd name="T26" fmla="*/ 2 w 20"/>
                  <a:gd name="T27" fmla="*/ 0 h 20"/>
                  <a:gd name="T28" fmla="*/ 1 w 20"/>
                  <a:gd name="T29" fmla="*/ 1 h 20"/>
                  <a:gd name="T30" fmla="*/ 0 w 20"/>
                  <a:gd name="T31" fmla="*/ 2 h 20"/>
                  <a:gd name="T32" fmla="*/ 0 w 20"/>
                  <a:gd name="T33" fmla="*/ 3 h 20"/>
                  <a:gd name="T34" fmla="*/ 0 w 20"/>
                  <a:gd name="T35" fmla="*/ 3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"/>
                  <a:gd name="T55" fmla="*/ 0 h 20"/>
                  <a:gd name="T56" fmla="*/ 20 w 20"/>
                  <a:gd name="T57" fmla="*/ 20 h 2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5" name="Freeform 57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2 h 13"/>
                  <a:gd name="T2" fmla="*/ 0 w 12"/>
                  <a:gd name="T3" fmla="*/ 3 h 13"/>
                  <a:gd name="T4" fmla="*/ 1 w 12"/>
                  <a:gd name="T5" fmla="*/ 4 h 13"/>
                  <a:gd name="T6" fmla="*/ 1 w 12"/>
                  <a:gd name="T7" fmla="*/ 4 h 13"/>
                  <a:gd name="T8" fmla="*/ 2 w 12"/>
                  <a:gd name="T9" fmla="*/ 4 h 13"/>
                  <a:gd name="T10" fmla="*/ 3 w 12"/>
                  <a:gd name="T11" fmla="*/ 4 h 13"/>
                  <a:gd name="T12" fmla="*/ 4 w 12"/>
                  <a:gd name="T13" fmla="*/ 4 h 13"/>
                  <a:gd name="T14" fmla="*/ 4 w 12"/>
                  <a:gd name="T15" fmla="*/ 3 h 13"/>
                  <a:gd name="T16" fmla="*/ 4 w 12"/>
                  <a:gd name="T17" fmla="*/ 2 h 13"/>
                  <a:gd name="T18" fmla="*/ 4 w 12"/>
                  <a:gd name="T19" fmla="*/ 2 h 13"/>
                  <a:gd name="T20" fmla="*/ 4 w 12"/>
                  <a:gd name="T21" fmla="*/ 1 h 13"/>
                  <a:gd name="T22" fmla="*/ 3 w 12"/>
                  <a:gd name="T23" fmla="*/ 0 h 13"/>
                  <a:gd name="T24" fmla="*/ 2 w 12"/>
                  <a:gd name="T25" fmla="*/ 0 h 13"/>
                  <a:gd name="T26" fmla="*/ 1 w 12"/>
                  <a:gd name="T27" fmla="*/ 0 h 13"/>
                  <a:gd name="T28" fmla="*/ 1 w 12"/>
                  <a:gd name="T29" fmla="*/ 1 h 13"/>
                  <a:gd name="T30" fmla="*/ 0 w 12"/>
                  <a:gd name="T31" fmla="*/ 2 h 13"/>
                  <a:gd name="T32" fmla="*/ 0 w 12"/>
                  <a:gd name="T33" fmla="*/ 2 h 13"/>
                  <a:gd name="T34" fmla="*/ 0 w 12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3"/>
                  <a:gd name="T56" fmla="*/ 12 w 12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6" name="Freeform 58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2 h 12"/>
                  <a:gd name="T2" fmla="*/ 0 w 13"/>
                  <a:gd name="T3" fmla="*/ 3 h 12"/>
                  <a:gd name="T4" fmla="*/ 1 w 13"/>
                  <a:gd name="T5" fmla="*/ 3 h 12"/>
                  <a:gd name="T6" fmla="*/ 2 w 13"/>
                  <a:gd name="T7" fmla="*/ 4 h 12"/>
                  <a:gd name="T8" fmla="*/ 3 w 13"/>
                  <a:gd name="T9" fmla="*/ 4 h 12"/>
                  <a:gd name="T10" fmla="*/ 3 w 13"/>
                  <a:gd name="T11" fmla="*/ 4 h 12"/>
                  <a:gd name="T12" fmla="*/ 5 w 13"/>
                  <a:gd name="T13" fmla="*/ 3 h 12"/>
                  <a:gd name="T14" fmla="*/ 5 w 13"/>
                  <a:gd name="T15" fmla="*/ 3 h 12"/>
                  <a:gd name="T16" fmla="*/ 5 w 13"/>
                  <a:gd name="T17" fmla="*/ 2 h 12"/>
                  <a:gd name="T18" fmla="*/ 5 w 13"/>
                  <a:gd name="T19" fmla="*/ 1 h 12"/>
                  <a:gd name="T20" fmla="*/ 5 w 13"/>
                  <a:gd name="T21" fmla="*/ 1 h 12"/>
                  <a:gd name="T22" fmla="*/ 3 w 13"/>
                  <a:gd name="T23" fmla="*/ 0 h 12"/>
                  <a:gd name="T24" fmla="*/ 3 w 13"/>
                  <a:gd name="T25" fmla="*/ 0 h 12"/>
                  <a:gd name="T26" fmla="*/ 2 w 13"/>
                  <a:gd name="T27" fmla="*/ 0 h 12"/>
                  <a:gd name="T28" fmla="*/ 1 w 13"/>
                  <a:gd name="T29" fmla="*/ 1 h 12"/>
                  <a:gd name="T30" fmla="*/ 0 w 13"/>
                  <a:gd name="T31" fmla="*/ 1 h 12"/>
                  <a:gd name="T32" fmla="*/ 0 w 13"/>
                  <a:gd name="T33" fmla="*/ 2 h 12"/>
                  <a:gd name="T34" fmla="*/ 0 w 13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"/>
                  <a:gd name="T55" fmla="*/ 0 h 12"/>
                  <a:gd name="T56" fmla="*/ 13 w 13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7" name="Freeform 59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1 h 7"/>
                  <a:gd name="T2" fmla="*/ 0 w 8"/>
                  <a:gd name="T3" fmla="*/ 1 h 7"/>
                  <a:gd name="T4" fmla="*/ 0 w 8"/>
                  <a:gd name="T5" fmla="*/ 2 h 7"/>
                  <a:gd name="T6" fmla="*/ 1 w 8"/>
                  <a:gd name="T7" fmla="*/ 2 h 7"/>
                  <a:gd name="T8" fmla="*/ 1 w 8"/>
                  <a:gd name="T9" fmla="*/ 2 h 7"/>
                  <a:gd name="T10" fmla="*/ 1 w 8"/>
                  <a:gd name="T11" fmla="*/ 2 h 7"/>
                  <a:gd name="T12" fmla="*/ 2 w 8"/>
                  <a:gd name="T13" fmla="*/ 2 h 7"/>
                  <a:gd name="T14" fmla="*/ 2 w 8"/>
                  <a:gd name="T15" fmla="*/ 1 h 7"/>
                  <a:gd name="T16" fmla="*/ 2 w 8"/>
                  <a:gd name="T17" fmla="*/ 1 h 7"/>
                  <a:gd name="T18" fmla="*/ 2 w 8"/>
                  <a:gd name="T19" fmla="*/ 0 h 7"/>
                  <a:gd name="T20" fmla="*/ 2 w 8"/>
                  <a:gd name="T21" fmla="*/ 0 h 7"/>
                  <a:gd name="T22" fmla="*/ 1 w 8"/>
                  <a:gd name="T23" fmla="*/ 0 h 7"/>
                  <a:gd name="T24" fmla="*/ 1 w 8"/>
                  <a:gd name="T25" fmla="*/ 0 h 7"/>
                  <a:gd name="T26" fmla="*/ 1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1 h 7"/>
                  <a:gd name="T34" fmla="*/ 0 w 8"/>
                  <a:gd name="T35" fmla="*/ 1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"/>
                  <a:gd name="T55" fmla="*/ 0 h 7"/>
                  <a:gd name="T56" fmla="*/ 8 w 8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8" name="Freeform 60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1 h 8"/>
                  <a:gd name="T2" fmla="*/ 0 w 7"/>
                  <a:gd name="T3" fmla="*/ 2 h 8"/>
                  <a:gd name="T4" fmla="*/ 0 w 7"/>
                  <a:gd name="T5" fmla="*/ 2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2 h 8"/>
                  <a:gd name="T14" fmla="*/ 2 w 7"/>
                  <a:gd name="T15" fmla="*/ 2 h 8"/>
                  <a:gd name="T16" fmla="*/ 2 w 7"/>
                  <a:gd name="T17" fmla="*/ 1 h 8"/>
                  <a:gd name="T18" fmla="*/ 2 w 7"/>
                  <a:gd name="T19" fmla="*/ 1 h 8"/>
                  <a:gd name="T20" fmla="*/ 2 w 7"/>
                  <a:gd name="T21" fmla="*/ 1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1 h 8"/>
                  <a:gd name="T30" fmla="*/ 0 w 7"/>
                  <a:gd name="T31" fmla="*/ 1 h 8"/>
                  <a:gd name="T32" fmla="*/ 0 w 7"/>
                  <a:gd name="T33" fmla="*/ 1 h 8"/>
                  <a:gd name="T34" fmla="*/ 0 w 7"/>
                  <a:gd name="T35" fmla="*/ 1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39" name="Freeform 61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3 h 17"/>
                  <a:gd name="T2" fmla="*/ 0 w 16"/>
                  <a:gd name="T3" fmla="*/ 4 h 17"/>
                  <a:gd name="T4" fmla="*/ 1 w 16"/>
                  <a:gd name="T5" fmla="*/ 5 h 17"/>
                  <a:gd name="T6" fmla="*/ 2 w 16"/>
                  <a:gd name="T7" fmla="*/ 6 h 17"/>
                  <a:gd name="T8" fmla="*/ 3 w 16"/>
                  <a:gd name="T9" fmla="*/ 6 h 17"/>
                  <a:gd name="T10" fmla="*/ 4 w 16"/>
                  <a:gd name="T11" fmla="*/ 6 h 17"/>
                  <a:gd name="T12" fmla="*/ 6 w 16"/>
                  <a:gd name="T13" fmla="*/ 5 h 17"/>
                  <a:gd name="T14" fmla="*/ 6 w 16"/>
                  <a:gd name="T15" fmla="*/ 4 h 17"/>
                  <a:gd name="T16" fmla="*/ 6 w 16"/>
                  <a:gd name="T17" fmla="*/ 3 h 17"/>
                  <a:gd name="T18" fmla="*/ 6 w 16"/>
                  <a:gd name="T19" fmla="*/ 2 h 17"/>
                  <a:gd name="T20" fmla="*/ 6 w 16"/>
                  <a:gd name="T21" fmla="*/ 1 h 17"/>
                  <a:gd name="T22" fmla="*/ 4 w 16"/>
                  <a:gd name="T23" fmla="*/ 0 h 17"/>
                  <a:gd name="T24" fmla="*/ 3 w 16"/>
                  <a:gd name="T25" fmla="*/ 0 h 17"/>
                  <a:gd name="T26" fmla="*/ 2 w 16"/>
                  <a:gd name="T27" fmla="*/ 0 h 17"/>
                  <a:gd name="T28" fmla="*/ 1 w 16"/>
                  <a:gd name="T29" fmla="*/ 1 h 17"/>
                  <a:gd name="T30" fmla="*/ 0 w 16"/>
                  <a:gd name="T31" fmla="*/ 2 h 17"/>
                  <a:gd name="T32" fmla="*/ 0 w 16"/>
                  <a:gd name="T33" fmla="*/ 3 h 17"/>
                  <a:gd name="T34" fmla="*/ 0 w 16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"/>
                  <a:gd name="T55" fmla="*/ 0 h 17"/>
                  <a:gd name="T56" fmla="*/ 16 w 16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0" name="Freeform 62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2 h 12"/>
                  <a:gd name="T2" fmla="*/ 0 w 12"/>
                  <a:gd name="T3" fmla="*/ 2 h 12"/>
                  <a:gd name="T4" fmla="*/ 0 w 12"/>
                  <a:gd name="T5" fmla="*/ 3 h 12"/>
                  <a:gd name="T6" fmla="*/ 1 w 12"/>
                  <a:gd name="T7" fmla="*/ 4 h 12"/>
                  <a:gd name="T8" fmla="*/ 2 w 12"/>
                  <a:gd name="T9" fmla="*/ 4 h 12"/>
                  <a:gd name="T10" fmla="*/ 2 w 12"/>
                  <a:gd name="T11" fmla="*/ 4 h 12"/>
                  <a:gd name="T12" fmla="*/ 3 w 12"/>
                  <a:gd name="T13" fmla="*/ 3 h 12"/>
                  <a:gd name="T14" fmla="*/ 4 w 12"/>
                  <a:gd name="T15" fmla="*/ 2 h 12"/>
                  <a:gd name="T16" fmla="*/ 4 w 12"/>
                  <a:gd name="T17" fmla="*/ 2 h 12"/>
                  <a:gd name="T18" fmla="*/ 4 w 12"/>
                  <a:gd name="T19" fmla="*/ 1 h 12"/>
                  <a:gd name="T20" fmla="*/ 3 w 12"/>
                  <a:gd name="T21" fmla="*/ 1 h 12"/>
                  <a:gd name="T22" fmla="*/ 2 w 12"/>
                  <a:gd name="T23" fmla="*/ 0 h 12"/>
                  <a:gd name="T24" fmla="*/ 2 w 12"/>
                  <a:gd name="T25" fmla="*/ 0 h 12"/>
                  <a:gd name="T26" fmla="*/ 1 w 12"/>
                  <a:gd name="T27" fmla="*/ 0 h 12"/>
                  <a:gd name="T28" fmla="*/ 0 w 12"/>
                  <a:gd name="T29" fmla="*/ 1 h 12"/>
                  <a:gd name="T30" fmla="*/ 0 w 12"/>
                  <a:gd name="T31" fmla="*/ 1 h 12"/>
                  <a:gd name="T32" fmla="*/ 0 w 12"/>
                  <a:gd name="T33" fmla="*/ 2 h 12"/>
                  <a:gd name="T34" fmla="*/ 0 w 12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2"/>
                  <a:gd name="T56" fmla="*/ 12 w 12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1" name="Freeform 63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2 w 74"/>
                  <a:gd name="T1" fmla="*/ 22 h 75"/>
                  <a:gd name="T2" fmla="*/ 5 w 74"/>
                  <a:gd name="T3" fmla="*/ 24 h 75"/>
                  <a:gd name="T4" fmla="*/ 8 w 74"/>
                  <a:gd name="T5" fmla="*/ 25 h 75"/>
                  <a:gd name="T6" fmla="*/ 11 w 74"/>
                  <a:gd name="T7" fmla="*/ 25 h 75"/>
                  <a:gd name="T8" fmla="*/ 13 w 74"/>
                  <a:gd name="T9" fmla="*/ 24 h 75"/>
                  <a:gd name="T10" fmla="*/ 13 w 74"/>
                  <a:gd name="T11" fmla="*/ 24 h 75"/>
                  <a:gd name="T12" fmla="*/ 15 w 74"/>
                  <a:gd name="T13" fmla="*/ 24 h 75"/>
                  <a:gd name="T14" fmla="*/ 17 w 74"/>
                  <a:gd name="T15" fmla="*/ 23 h 75"/>
                  <a:gd name="T16" fmla="*/ 20 w 74"/>
                  <a:gd name="T17" fmla="*/ 22 h 75"/>
                  <a:gd name="T18" fmla="*/ 22 w 74"/>
                  <a:gd name="T19" fmla="*/ 20 h 75"/>
                  <a:gd name="T20" fmla="*/ 24 w 74"/>
                  <a:gd name="T21" fmla="*/ 19 h 75"/>
                  <a:gd name="T22" fmla="*/ 25 w 74"/>
                  <a:gd name="T23" fmla="*/ 17 h 75"/>
                  <a:gd name="T24" fmla="*/ 24 w 74"/>
                  <a:gd name="T25" fmla="*/ 15 h 75"/>
                  <a:gd name="T26" fmla="*/ 20 w 74"/>
                  <a:gd name="T27" fmla="*/ 12 h 75"/>
                  <a:gd name="T28" fmla="*/ 16 w 74"/>
                  <a:gd name="T29" fmla="*/ 13 h 75"/>
                  <a:gd name="T30" fmla="*/ 12 w 74"/>
                  <a:gd name="T31" fmla="*/ 16 h 75"/>
                  <a:gd name="T32" fmla="*/ 10 w 74"/>
                  <a:gd name="T33" fmla="*/ 17 h 75"/>
                  <a:gd name="T34" fmla="*/ 10 w 74"/>
                  <a:gd name="T35" fmla="*/ 14 h 75"/>
                  <a:gd name="T36" fmla="*/ 8 w 74"/>
                  <a:gd name="T37" fmla="*/ 9 h 75"/>
                  <a:gd name="T38" fmla="*/ 4 w 74"/>
                  <a:gd name="T39" fmla="*/ 2 h 75"/>
                  <a:gd name="T40" fmla="*/ 1 w 74"/>
                  <a:gd name="T41" fmla="*/ 0 h 75"/>
                  <a:gd name="T42" fmla="*/ 0 w 74"/>
                  <a:gd name="T43" fmla="*/ 6 h 75"/>
                  <a:gd name="T44" fmla="*/ 1 w 74"/>
                  <a:gd name="T45" fmla="*/ 13 h 75"/>
                  <a:gd name="T46" fmla="*/ 2 w 74"/>
                  <a:gd name="T47" fmla="*/ 19 h 75"/>
                  <a:gd name="T48" fmla="*/ 2 w 74"/>
                  <a:gd name="T49" fmla="*/ 22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4"/>
                  <a:gd name="T76" fmla="*/ 0 h 75"/>
                  <a:gd name="T77" fmla="*/ 74 w 74"/>
                  <a:gd name="T78" fmla="*/ 75 h 7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2" name="Freeform 64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8 w 69"/>
                  <a:gd name="T1" fmla="*/ 20 h 59"/>
                  <a:gd name="T2" fmla="*/ 10 w 69"/>
                  <a:gd name="T3" fmla="*/ 20 h 59"/>
                  <a:gd name="T4" fmla="*/ 13 w 69"/>
                  <a:gd name="T5" fmla="*/ 19 h 59"/>
                  <a:gd name="T6" fmla="*/ 16 w 69"/>
                  <a:gd name="T7" fmla="*/ 19 h 59"/>
                  <a:gd name="T8" fmla="*/ 19 w 69"/>
                  <a:gd name="T9" fmla="*/ 18 h 59"/>
                  <a:gd name="T10" fmla="*/ 21 w 69"/>
                  <a:gd name="T11" fmla="*/ 18 h 59"/>
                  <a:gd name="T12" fmla="*/ 23 w 69"/>
                  <a:gd name="T13" fmla="*/ 16 h 59"/>
                  <a:gd name="T14" fmla="*/ 23 w 69"/>
                  <a:gd name="T15" fmla="*/ 15 h 59"/>
                  <a:gd name="T16" fmla="*/ 22 w 69"/>
                  <a:gd name="T17" fmla="*/ 13 h 59"/>
                  <a:gd name="T18" fmla="*/ 18 w 69"/>
                  <a:gd name="T19" fmla="*/ 11 h 59"/>
                  <a:gd name="T20" fmla="*/ 14 w 69"/>
                  <a:gd name="T21" fmla="*/ 11 h 59"/>
                  <a:gd name="T22" fmla="*/ 10 w 69"/>
                  <a:gd name="T23" fmla="*/ 13 h 59"/>
                  <a:gd name="T24" fmla="*/ 8 w 69"/>
                  <a:gd name="T25" fmla="*/ 14 h 59"/>
                  <a:gd name="T26" fmla="*/ 7 w 69"/>
                  <a:gd name="T27" fmla="*/ 10 h 59"/>
                  <a:gd name="T28" fmla="*/ 6 w 69"/>
                  <a:gd name="T29" fmla="*/ 4 h 59"/>
                  <a:gd name="T30" fmla="*/ 5 w 69"/>
                  <a:gd name="T31" fmla="*/ 0 h 59"/>
                  <a:gd name="T32" fmla="*/ 0 w 69"/>
                  <a:gd name="T33" fmla="*/ 0 h 59"/>
                  <a:gd name="T34" fmla="*/ 0 w 69"/>
                  <a:gd name="T35" fmla="*/ 9 h 59"/>
                  <a:gd name="T36" fmla="*/ 3 w 69"/>
                  <a:gd name="T37" fmla="*/ 15 h 59"/>
                  <a:gd name="T38" fmla="*/ 6 w 69"/>
                  <a:gd name="T39" fmla="*/ 19 h 59"/>
                  <a:gd name="T40" fmla="*/ 8 w 69"/>
                  <a:gd name="T41" fmla="*/ 2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59"/>
                  <a:gd name="T65" fmla="*/ 69 w 69"/>
                  <a:gd name="T66" fmla="*/ 59 h 5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3" name="Freeform 65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2 w 69"/>
                  <a:gd name="T1" fmla="*/ 15 h 60"/>
                  <a:gd name="T2" fmla="*/ 5 w 69"/>
                  <a:gd name="T3" fmla="*/ 18 h 60"/>
                  <a:gd name="T4" fmla="*/ 7 w 69"/>
                  <a:gd name="T5" fmla="*/ 20 h 60"/>
                  <a:gd name="T6" fmla="*/ 10 w 69"/>
                  <a:gd name="T7" fmla="*/ 20 h 60"/>
                  <a:gd name="T8" fmla="*/ 13 w 69"/>
                  <a:gd name="T9" fmla="*/ 20 h 60"/>
                  <a:gd name="T10" fmla="*/ 15 w 69"/>
                  <a:gd name="T11" fmla="*/ 20 h 60"/>
                  <a:gd name="T12" fmla="*/ 17 w 69"/>
                  <a:gd name="T13" fmla="*/ 19 h 60"/>
                  <a:gd name="T14" fmla="*/ 19 w 69"/>
                  <a:gd name="T15" fmla="*/ 18 h 60"/>
                  <a:gd name="T16" fmla="*/ 20 w 69"/>
                  <a:gd name="T17" fmla="*/ 17 h 60"/>
                  <a:gd name="T18" fmla="*/ 21 w 69"/>
                  <a:gd name="T19" fmla="*/ 17 h 60"/>
                  <a:gd name="T20" fmla="*/ 22 w 69"/>
                  <a:gd name="T21" fmla="*/ 16 h 60"/>
                  <a:gd name="T22" fmla="*/ 23 w 69"/>
                  <a:gd name="T23" fmla="*/ 14 h 60"/>
                  <a:gd name="T24" fmla="*/ 22 w 69"/>
                  <a:gd name="T25" fmla="*/ 13 h 60"/>
                  <a:gd name="T26" fmla="*/ 18 w 69"/>
                  <a:gd name="T27" fmla="*/ 10 h 60"/>
                  <a:gd name="T28" fmla="*/ 14 w 69"/>
                  <a:gd name="T29" fmla="*/ 10 h 60"/>
                  <a:gd name="T30" fmla="*/ 11 w 69"/>
                  <a:gd name="T31" fmla="*/ 11 h 60"/>
                  <a:gd name="T32" fmla="*/ 9 w 69"/>
                  <a:gd name="T33" fmla="*/ 12 h 60"/>
                  <a:gd name="T34" fmla="*/ 9 w 69"/>
                  <a:gd name="T35" fmla="*/ 10 h 60"/>
                  <a:gd name="T36" fmla="*/ 7 w 69"/>
                  <a:gd name="T37" fmla="*/ 5 h 60"/>
                  <a:gd name="T38" fmla="*/ 4 w 69"/>
                  <a:gd name="T39" fmla="*/ 1 h 60"/>
                  <a:gd name="T40" fmla="*/ 0 w 69"/>
                  <a:gd name="T41" fmla="*/ 0 h 60"/>
                  <a:gd name="T42" fmla="*/ 0 w 69"/>
                  <a:gd name="T43" fmla="*/ 5 h 60"/>
                  <a:gd name="T44" fmla="*/ 0 w 69"/>
                  <a:gd name="T45" fmla="*/ 10 h 60"/>
                  <a:gd name="T46" fmla="*/ 1 w 69"/>
                  <a:gd name="T47" fmla="*/ 14 h 60"/>
                  <a:gd name="T48" fmla="*/ 2 w 69"/>
                  <a:gd name="T49" fmla="*/ 15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9"/>
                  <a:gd name="T76" fmla="*/ 0 h 60"/>
                  <a:gd name="T77" fmla="*/ 69 w 69"/>
                  <a:gd name="T78" fmla="*/ 60 h 6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4" name="Freeform 66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4 w 75"/>
                  <a:gd name="T1" fmla="*/ 15 h 48"/>
                  <a:gd name="T2" fmla="*/ 6 w 75"/>
                  <a:gd name="T3" fmla="*/ 15 h 48"/>
                  <a:gd name="T4" fmla="*/ 10 w 75"/>
                  <a:gd name="T5" fmla="*/ 16 h 48"/>
                  <a:gd name="T6" fmla="*/ 14 w 75"/>
                  <a:gd name="T7" fmla="*/ 16 h 48"/>
                  <a:gd name="T8" fmla="*/ 19 w 75"/>
                  <a:gd name="T9" fmla="*/ 15 h 48"/>
                  <a:gd name="T10" fmla="*/ 22 w 75"/>
                  <a:gd name="T11" fmla="*/ 14 h 48"/>
                  <a:gd name="T12" fmla="*/ 25 w 75"/>
                  <a:gd name="T13" fmla="*/ 12 h 48"/>
                  <a:gd name="T14" fmla="*/ 25 w 75"/>
                  <a:gd name="T15" fmla="*/ 10 h 48"/>
                  <a:gd name="T16" fmla="*/ 24 w 75"/>
                  <a:gd name="T17" fmla="*/ 6 h 48"/>
                  <a:gd name="T18" fmla="*/ 22 w 75"/>
                  <a:gd name="T19" fmla="*/ 5 h 48"/>
                  <a:gd name="T20" fmla="*/ 20 w 75"/>
                  <a:gd name="T21" fmla="*/ 5 h 48"/>
                  <a:gd name="T22" fmla="*/ 17 w 75"/>
                  <a:gd name="T23" fmla="*/ 5 h 48"/>
                  <a:gd name="T24" fmla="*/ 14 w 75"/>
                  <a:gd name="T25" fmla="*/ 6 h 48"/>
                  <a:gd name="T26" fmla="*/ 12 w 75"/>
                  <a:gd name="T27" fmla="*/ 6 h 48"/>
                  <a:gd name="T28" fmla="*/ 10 w 75"/>
                  <a:gd name="T29" fmla="*/ 7 h 48"/>
                  <a:gd name="T30" fmla="*/ 8 w 75"/>
                  <a:gd name="T31" fmla="*/ 8 h 48"/>
                  <a:gd name="T32" fmla="*/ 8 w 75"/>
                  <a:gd name="T33" fmla="*/ 8 h 48"/>
                  <a:gd name="T34" fmla="*/ 7 w 75"/>
                  <a:gd name="T35" fmla="*/ 7 h 48"/>
                  <a:gd name="T36" fmla="*/ 6 w 75"/>
                  <a:gd name="T37" fmla="*/ 4 h 48"/>
                  <a:gd name="T38" fmla="*/ 5 w 75"/>
                  <a:gd name="T39" fmla="*/ 2 h 48"/>
                  <a:gd name="T40" fmla="*/ 5 w 75"/>
                  <a:gd name="T41" fmla="*/ 1 h 48"/>
                  <a:gd name="T42" fmla="*/ 4 w 75"/>
                  <a:gd name="T43" fmla="*/ 0 h 48"/>
                  <a:gd name="T44" fmla="*/ 3 w 75"/>
                  <a:gd name="T45" fmla="*/ 0 h 48"/>
                  <a:gd name="T46" fmla="*/ 1 w 75"/>
                  <a:gd name="T47" fmla="*/ 1 h 48"/>
                  <a:gd name="T48" fmla="*/ 0 w 75"/>
                  <a:gd name="T49" fmla="*/ 2 h 48"/>
                  <a:gd name="T50" fmla="*/ 0 w 75"/>
                  <a:gd name="T51" fmla="*/ 4 h 48"/>
                  <a:gd name="T52" fmla="*/ 2 w 75"/>
                  <a:gd name="T53" fmla="*/ 9 h 48"/>
                  <a:gd name="T54" fmla="*/ 3 w 75"/>
                  <a:gd name="T55" fmla="*/ 13 h 48"/>
                  <a:gd name="T56" fmla="*/ 4 w 75"/>
                  <a:gd name="T57" fmla="*/ 15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48"/>
                  <a:gd name="T89" fmla="*/ 75 w 75"/>
                  <a:gd name="T90" fmla="*/ 48 h 4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5" name="Freeform 67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5 w 63"/>
                  <a:gd name="T1" fmla="*/ 18 h 57"/>
                  <a:gd name="T2" fmla="*/ 7 w 63"/>
                  <a:gd name="T3" fmla="*/ 18 h 57"/>
                  <a:gd name="T4" fmla="*/ 11 w 63"/>
                  <a:gd name="T5" fmla="*/ 19 h 57"/>
                  <a:gd name="T6" fmla="*/ 16 w 63"/>
                  <a:gd name="T7" fmla="*/ 19 h 57"/>
                  <a:gd name="T8" fmla="*/ 19 w 63"/>
                  <a:gd name="T9" fmla="*/ 17 h 57"/>
                  <a:gd name="T10" fmla="*/ 20 w 63"/>
                  <a:gd name="T11" fmla="*/ 16 h 57"/>
                  <a:gd name="T12" fmla="*/ 21 w 63"/>
                  <a:gd name="T13" fmla="*/ 15 h 57"/>
                  <a:gd name="T14" fmla="*/ 21 w 63"/>
                  <a:gd name="T15" fmla="*/ 14 h 57"/>
                  <a:gd name="T16" fmla="*/ 21 w 63"/>
                  <a:gd name="T17" fmla="*/ 13 h 57"/>
                  <a:gd name="T18" fmla="*/ 20 w 63"/>
                  <a:gd name="T19" fmla="*/ 12 h 57"/>
                  <a:gd name="T20" fmla="*/ 19 w 63"/>
                  <a:gd name="T21" fmla="*/ 11 h 57"/>
                  <a:gd name="T22" fmla="*/ 18 w 63"/>
                  <a:gd name="T23" fmla="*/ 10 h 57"/>
                  <a:gd name="T24" fmla="*/ 16 w 63"/>
                  <a:gd name="T25" fmla="*/ 11 h 57"/>
                  <a:gd name="T26" fmla="*/ 13 w 63"/>
                  <a:gd name="T27" fmla="*/ 12 h 57"/>
                  <a:gd name="T28" fmla="*/ 10 w 63"/>
                  <a:gd name="T29" fmla="*/ 12 h 57"/>
                  <a:gd name="T30" fmla="*/ 8 w 63"/>
                  <a:gd name="T31" fmla="*/ 12 h 57"/>
                  <a:gd name="T32" fmla="*/ 7 w 63"/>
                  <a:gd name="T33" fmla="*/ 12 h 57"/>
                  <a:gd name="T34" fmla="*/ 7 w 63"/>
                  <a:gd name="T35" fmla="*/ 10 h 57"/>
                  <a:gd name="T36" fmla="*/ 7 w 63"/>
                  <a:gd name="T37" fmla="*/ 6 h 57"/>
                  <a:gd name="T38" fmla="*/ 6 w 63"/>
                  <a:gd name="T39" fmla="*/ 1 h 57"/>
                  <a:gd name="T40" fmla="*/ 3 w 63"/>
                  <a:gd name="T41" fmla="*/ 0 h 57"/>
                  <a:gd name="T42" fmla="*/ 0 w 63"/>
                  <a:gd name="T43" fmla="*/ 6 h 57"/>
                  <a:gd name="T44" fmla="*/ 0 w 63"/>
                  <a:gd name="T45" fmla="*/ 11 h 57"/>
                  <a:gd name="T46" fmla="*/ 2 w 63"/>
                  <a:gd name="T47" fmla="*/ 15 h 57"/>
                  <a:gd name="T48" fmla="*/ 5 w 63"/>
                  <a:gd name="T49" fmla="*/ 18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57"/>
                  <a:gd name="T77" fmla="*/ 63 w 63"/>
                  <a:gd name="T78" fmla="*/ 57 h 5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6" name="Freeform 68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8 w 65"/>
                  <a:gd name="T1" fmla="*/ 17 h 57"/>
                  <a:gd name="T2" fmla="*/ 10 w 65"/>
                  <a:gd name="T3" fmla="*/ 19 h 57"/>
                  <a:gd name="T4" fmla="*/ 13 w 65"/>
                  <a:gd name="T5" fmla="*/ 18 h 57"/>
                  <a:gd name="T6" fmla="*/ 16 w 65"/>
                  <a:gd name="T7" fmla="*/ 17 h 57"/>
                  <a:gd name="T8" fmla="*/ 19 w 65"/>
                  <a:gd name="T9" fmla="*/ 16 h 57"/>
                  <a:gd name="T10" fmla="*/ 20 w 65"/>
                  <a:gd name="T11" fmla="*/ 15 h 57"/>
                  <a:gd name="T12" fmla="*/ 21 w 65"/>
                  <a:gd name="T13" fmla="*/ 14 h 57"/>
                  <a:gd name="T14" fmla="*/ 21 w 65"/>
                  <a:gd name="T15" fmla="*/ 13 h 57"/>
                  <a:gd name="T16" fmla="*/ 20 w 65"/>
                  <a:gd name="T17" fmla="*/ 11 h 57"/>
                  <a:gd name="T18" fmla="*/ 17 w 65"/>
                  <a:gd name="T19" fmla="*/ 9 h 57"/>
                  <a:gd name="T20" fmla="*/ 15 w 65"/>
                  <a:gd name="T21" fmla="*/ 10 h 57"/>
                  <a:gd name="T22" fmla="*/ 13 w 65"/>
                  <a:gd name="T23" fmla="*/ 12 h 57"/>
                  <a:gd name="T24" fmla="*/ 11 w 65"/>
                  <a:gd name="T25" fmla="*/ 13 h 57"/>
                  <a:gd name="T26" fmla="*/ 10 w 65"/>
                  <a:gd name="T27" fmla="*/ 11 h 57"/>
                  <a:gd name="T28" fmla="*/ 8 w 65"/>
                  <a:gd name="T29" fmla="*/ 6 h 57"/>
                  <a:gd name="T30" fmla="*/ 5 w 65"/>
                  <a:gd name="T31" fmla="*/ 2 h 57"/>
                  <a:gd name="T32" fmla="*/ 2 w 65"/>
                  <a:gd name="T33" fmla="*/ 0 h 57"/>
                  <a:gd name="T34" fmla="*/ 0 w 65"/>
                  <a:gd name="T35" fmla="*/ 7 h 57"/>
                  <a:gd name="T36" fmla="*/ 2 w 65"/>
                  <a:gd name="T37" fmla="*/ 12 h 57"/>
                  <a:gd name="T38" fmla="*/ 6 w 65"/>
                  <a:gd name="T39" fmla="*/ 16 h 57"/>
                  <a:gd name="T40" fmla="*/ 8 w 65"/>
                  <a:gd name="T41" fmla="*/ 17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5"/>
                  <a:gd name="T64" fmla="*/ 0 h 57"/>
                  <a:gd name="T65" fmla="*/ 65 w 65"/>
                  <a:gd name="T66" fmla="*/ 57 h 5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7" name="Freeform 69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5 w 79"/>
                  <a:gd name="T1" fmla="*/ 22 h 80"/>
                  <a:gd name="T2" fmla="*/ 6 w 79"/>
                  <a:gd name="T3" fmla="*/ 23 h 80"/>
                  <a:gd name="T4" fmla="*/ 8 w 79"/>
                  <a:gd name="T5" fmla="*/ 24 h 80"/>
                  <a:gd name="T6" fmla="*/ 10 w 79"/>
                  <a:gd name="T7" fmla="*/ 25 h 80"/>
                  <a:gd name="T8" fmla="*/ 13 w 79"/>
                  <a:gd name="T9" fmla="*/ 26 h 80"/>
                  <a:gd name="T10" fmla="*/ 15 w 79"/>
                  <a:gd name="T11" fmla="*/ 26 h 80"/>
                  <a:gd name="T12" fmla="*/ 19 w 79"/>
                  <a:gd name="T13" fmla="*/ 25 h 80"/>
                  <a:gd name="T14" fmla="*/ 22 w 79"/>
                  <a:gd name="T15" fmla="*/ 23 h 80"/>
                  <a:gd name="T16" fmla="*/ 24 w 79"/>
                  <a:gd name="T17" fmla="*/ 19 h 80"/>
                  <a:gd name="T18" fmla="*/ 25 w 79"/>
                  <a:gd name="T19" fmla="*/ 18 h 80"/>
                  <a:gd name="T20" fmla="*/ 26 w 79"/>
                  <a:gd name="T21" fmla="*/ 16 h 80"/>
                  <a:gd name="T22" fmla="*/ 26 w 79"/>
                  <a:gd name="T23" fmla="*/ 15 h 80"/>
                  <a:gd name="T24" fmla="*/ 26 w 79"/>
                  <a:gd name="T25" fmla="*/ 14 h 80"/>
                  <a:gd name="T26" fmla="*/ 23 w 79"/>
                  <a:gd name="T27" fmla="*/ 13 h 80"/>
                  <a:gd name="T28" fmla="*/ 20 w 79"/>
                  <a:gd name="T29" fmla="*/ 12 h 80"/>
                  <a:gd name="T30" fmla="*/ 17 w 79"/>
                  <a:gd name="T31" fmla="*/ 13 h 80"/>
                  <a:gd name="T32" fmla="*/ 15 w 79"/>
                  <a:gd name="T33" fmla="*/ 13 h 80"/>
                  <a:gd name="T34" fmla="*/ 13 w 79"/>
                  <a:gd name="T35" fmla="*/ 14 h 80"/>
                  <a:gd name="T36" fmla="*/ 11 w 79"/>
                  <a:gd name="T37" fmla="*/ 15 h 80"/>
                  <a:gd name="T38" fmla="*/ 10 w 79"/>
                  <a:gd name="T39" fmla="*/ 16 h 80"/>
                  <a:gd name="T40" fmla="*/ 10 w 79"/>
                  <a:gd name="T41" fmla="*/ 17 h 80"/>
                  <a:gd name="T42" fmla="*/ 9 w 79"/>
                  <a:gd name="T43" fmla="*/ 14 h 80"/>
                  <a:gd name="T44" fmla="*/ 7 w 79"/>
                  <a:gd name="T45" fmla="*/ 8 h 80"/>
                  <a:gd name="T46" fmla="*/ 4 w 79"/>
                  <a:gd name="T47" fmla="*/ 2 h 80"/>
                  <a:gd name="T48" fmla="*/ 0 w 79"/>
                  <a:gd name="T49" fmla="*/ 0 h 80"/>
                  <a:gd name="T50" fmla="*/ 0 w 79"/>
                  <a:gd name="T51" fmla="*/ 8 h 80"/>
                  <a:gd name="T52" fmla="*/ 2 w 79"/>
                  <a:gd name="T53" fmla="*/ 15 h 80"/>
                  <a:gd name="T54" fmla="*/ 4 w 79"/>
                  <a:gd name="T55" fmla="*/ 20 h 80"/>
                  <a:gd name="T56" fmla="*/ 5 w 79"/>
                  <a:gd name="T57" fmla="*/ 22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80"/>
                  <a:gd name="T89" fmla="*/ 79 w 79"/>
                  <a:gd name="T90" fmla="*/ 80 h 8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8" name="Freeform 70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4 w 79"/>
                  <a:gd name="T1" fmla="*/ 18 h 67"/>
                  <a:gd name="T2" fmla="*/ 5 w 79"/>
                  <a:gd name="T3" fmla="*/ 18 h 67"/>
                  <a:gd name="T4" fmla="*/ 7 w 79"/>
                  <a:gd name="T5" fmla="*/ 19 h 67"/>
                  <a:gd name="T6" fmla="*/ 9 w 79"/>
                  <a:gd name="T7" fmla="*/ 20 h 67"/>
                  <a:gd name="T8" fmla="*/ 12 w 79"/>
                  <a:gd name="T9" fmla="*/ 21 h 67"/>
                  <a:gd name="T10" fmla="*/ 14 w 79"/>
                  <a:gd name="T11" fmla="*/ 22 h 67"/>
                  <a:gd name="T12" fmla="*/ 17 w 79"/>
                  <a:gd name="T13" fmla="*/ 22 h 67"/>
                  <a:gd name="T14" fmla="*/ 20 w 79"/>
                  <a:gd name="T15" fmla="*/ 22 h 67"/>
                  <a:gd name="T16" fmla="*/ 23 w 79"/>
                  <a:gd name="T17" fmla="*/ 21 h 67"/>
                  <a:gd name="T18" fmla="*/ 25 w 79"/>
                  <a:gd name="T19" fmla="*/ 20 h 67"/>
                  <a:gd name="T20" fmla="*/ 26 w 79"/>
                  <a:gd name="T21" fmla="*/ 19 h 67"/>
                  <a:gd name="T22" fmla="*/ 27 w 79"/>
                  <a:gd name="T23" fmla="*/ 17 h 67"/>
                  <a:gd name="T24" fmla="*/ 27 w 79"/>
                  <a:gd name="T25" fmla="*/ 15 h 67"/>
                  <a:gd name="T26" fmla="*/ 25 w 79"/>
                  <a:gd name="T27" fmla="*/ 13 h 67"/>
                  <a:gd name="T28" fmla="*/ 22 w 79"/>
                  <a:gd name="T29" fmla="*/ 12 h 67"/>
                  <a:gd name="T30" fmla="*/ 19 w 79"/>
                  <a:gd name="T31" fmla="*/ 12 h 67"/>
                  <a:gd name="T32" fmla="*/ 16 w 79"/>
                  <a:gd name="T33" fmla="*/ 12 h 67"/>
                  <a:gd name="T34" fmla="*/ 14 w 79"/>
                  <a:gd name="T35" fmla="*/ 12 h 67"/>
                  <a:gd name="T36" fmla="*/ 12 w 79"/>
                  <a:gd name="T37" fmla="*/ 12 h 67"/>
                  <a:gd name="T38" fmla="*/ 10 w 79"/>
                  <a:gd name="T39" fmla="*/ 13 h 67"/>
                  <a:gd name="T40" fmla="*/ 10 w 79"/>
                  <a:gd name="T41" fmla="*/ 13 h 67"/>
                  <a:gd name="T42" fmla="*/ 9 w 79"/>
                  <a:gd name="T43" fmla="*/ 11 h 67"/>
                  <a:gd name="T44" fmla="*/ 8 w 79"/>
                  <a:gd name="T45" fmla="*/ 6 h 67"/>
                  <a:gd name="T46" fmla="*/ 5 w 79"/>
                  <a:gd name="T47" fmla="*/ 1 h 67"/>
                  <a:gd name="T48" fmla="*/ 1 w 79"/>
                  <a:gd name="T49" fmla="*/ 0 h 67"/>
                  <a:gd name="T50" fmla="*/ 0 w 79"/>
                  <a:gd name="T51" fmla="*/ 7 h 67"/>
                  <a:gd name="T52" fmla="*/ 1 w 79"/>
                  <a:gd name="T53" fmla="*/ 12 h 67"/>
                  <a:gd name="T54" fmla="*/ 3 w 79"/>
                  <a:gd name="T55" fmla="*/ 16 h 67"/>
                  <a:gd name="T56" fmla="*/ 4 w 79"/>
                  <a:gd name="T57" fmla="*/ 18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67"/>
                  <a:gd name="T89" fmla="*/ 79 w 79"/>
                  <a:gd name="T90" fmla="*/ 67 h 6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49" name="Freeform 71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3 w 77"/>
                  <a:gd name="T1" fmla="*/ 19 h 62"/>
                  <a:gd name="T2" fmla="*/ 6 w 77"/>
                  <a:gd name="T3" fmla="*/ 19 h 62"/>
                  <a:gd name="T4" fmla="*/ 9 w 77"/>
                  <a:gd name="T5" fmla="*/ 20 h 62"/>
                  <a:gd name="T6" fmla="*/ 14 w 77"/>
                  <a:gd name="T7" fmla="*/ 20 h 62"/>
                  <a:gd name="T8" fmla="*/ 18 w 77"/>
                  <a:gd name="T9" fmla="*/ 19 h 62"/>
                  <a:gd name="T10" fmla="*/ 22 w 77"/>
                  <a:gd name="T11" fmla="*/ 19 h 62"/>
                  <a:gd name="T12" fmla="*/ 24 w 77"/>
                  <a:gd name="T13" fmla="*/ 18 h 62"/>
                  <a:gd name="T14" fmla="*/ 26 w 77"/>
                  <a:gd name="T15" fmla="*/ 16 h 62"/>
                  <a:gd name="T16" fmla="*/ 25 w 77"/>
                  <a:gd name="T17" fmla="*/ 14 h 62"/>
                  <a:gd name="T18" fmla="*/ 23 w 77"/>
                  <a:gd name="T19" fmla="*/ 12 h 62"/>
                  <a:gd name="T20" fmla="*/ 21 w 77"/>
                  <a:gd name="T21" fmla="*/ 11 h 62"/>
                  <a:gd name="T22" fmla="*/ 18 w 77"/>
                  <a:gd name="T23" fmla="*/ 10 h 62"/>
                  <a:gd name="T24" fmla="*/ 16 w 77"/>
                  <a:gd name="T25" fmla="*/ 10 h 62"/>
                  <a:gd name="T26" fmla="*/ 13 w 77"/>
                  <a:gd name="T27" fmla="*/ 11 h 62"/>
                  <a:gd name="T28" fmla="*/ 11 w 77"/>
                  <a:gd name="T29" fmla="*/ 11 h 62"/>
                  <a:gd name="T30" fmla="*/ 9 w 77"/>
                  <a:gd name="T31" fmla="*/ 12 h 62"/>
                  <a:gd name="T32" fmla="*/ 9 w 77"/>
                  <a:gd name="T33" fmla="*/ 12 h 62"/>
                  <a:gd name="T34" fmla="*/ 8 w 77"/>
                  <a:gd name="T35" fmla="*/ 10 h 62"/>
                  <a:gd name="T36" fmla="*/ 7 w 77"/>
                  <a:gd name="T37" fmla="*/ 5 h 62"/>
                  <a:gd name="T38" fmla="*/ 5 w 77"/>
                  <a:gd name="T39" fmla="*/ 1 h 62"/>
                  <a:gd name="T40" fmla="*/ 1 w 77"/>
                  <a:gd name="T41" fmla="*/ 0 h 62"/>
                  <a:gd name="T42" fmla="*/ 0 w 77"/>
                  <a:gd name="T43" fmla="*/ 5 h 62"/>
                  <a:gd name="T44" fmla="*/ 1 w 77"/>
                  <a:gd name="T45" fmla="*/ 12 h 62"/>
                  <a:gd name="T46" fmla="*/ 3 w 77"/>
                  <a:gd name="T47" fmla="*/ 17 h 62"/>
                  <a:gd name="T48" fmla="*/ 3 w 77"/>
                  <a:gd name="T49" fmla="*/ 19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7"/>
                  <a:gd name="T76" fmla="*/ 0 h 62"/>
                  <a:gd name="T77" fmla="*/ 77 w 77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0" name="Freeform 72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4 w 366"/>
                  <a:gd name="T1" fmla="*/ 50 h 845"/>
                  <a:gd name="T2" fmla="*/ 5 w 366"/>
                  <a:gd name="T3" fmla="*/ 80 h 845"/>
                  <a:gd name="T4" fmla="*/ 15 w 366"/>
                  <a:gd name="T5" fmla="*/ 115 h 845"/>
                  <a:gd name="T6" fmla="*/ 28 w 366"/>
                  <a:gd name="T7" fmla="*/ 155 h 845"/>
                  <a:gd name="T8" fmla="*/ 41 w 366"/>
                  <a:gd name="T9" fmla="*/ 194 h 845"/>
                  <a:gd name="T10" fmla="*/ 54 w 366"/>
                  <a:gd name="T11" fmla="*/ 232 h 845"/>
                  <a:gd name="T12" fmla="*/ 65 w 366"/>
                  <a:gd name="T13" fmla="*/ 259 h 845"/>
                  <a:gd name="T14" fmla="*/ 76 w 366"/>
                  <a:gd name="T15" fmla="*/ 269 h 845"/>
                  <a:gd name="T16" fmla="*/ 90 w 366"/>
                  <a:gd name="T17" fmla="*/ 276 h 845"/>
                  <a:gd name="T18" fmla="*/ 105 w 366"/>
                  <a:gd name="T19" fmla="*/ 280 h 845"/>
                  <a:gd name="T20" fmla="*/ 116 w 366"/>
                  <a:gd name="T21" fmla="*/ 280 h 845"/>
                  <a:gd name="T22" fmla="*/ 120 w 366"/>
                  <a:gd name="T23" fmla="*/ 277 h 845"/>
                  <a:gd name="T24" fmla="*/ 122 w 366"/>
                  <a:gd name="T25" fmla="*/ 271 h 845"/>
                  <a:gd name="T26" fmla="*/ 118 w 366"/>
                  <a:gd name="T27" fmla="*/ 267 h 845"/>
                  <a:gd name="T28" fmla="*/ 110 w 366"/>
                  <a:gd name="T29" fmla="*/ 265 h 845"/>
                  <a:gd name="T30" fmla="*/ 98 w 366"/>
                  <a:gd name="T31" fmla="*/ 262 h 845"/>
                  <a:gd name="T32" fmla="*/ 88 w 366"/>
                  <a:gd name="T33" fmla="*/ 259 h 845"/>
                  <a:gd name="T34" fmla="*/ 80 w 366"/>
                  <a:gd name="T35" fmla="*/ 252 h 845"/>
                  <a:gd name="T36" fmla="*/ 72 w 366"/>
                  <a:gd name="T37" fmla="*/ 235 h 845"/>
                  <a:gd name="T38" fmla="*/ 65 w 366"/>
                  <a:gd name="T39" fmla="*/ 214 h 845"/>
                  <a:gd name="T40" fmla="*/ 57 w 366"/>
                  <a:gd name="T41" fmla="*/ 192 h 845"/>
                  <a:gd name="T42" fmla="*/ 50 w 366"/>
                  <a:gd name="T43" fmla="*/ 170 h 845"/>
                  <a:gd name="T44" fmla="*/ 42 w 366"/>
                  <a:gd name="T45" fmla="*/ 145 h 845"/>
                  <a:gd name="T46" fmla="*/ 31 w 366"/>
                  <a:gd name="T47" fmla="*/ 116 h 845"/>
                  <a:gd name="T48" fmla="*/ 22 w 366"/>
                  <a:gd name="T49" fmla="*/ 87 h 845"/>
                  <a:gd name="T50" fmla="*/ 16 w 366"/>
                  <a:gd name="T51" fmla="*/ 58 h 845"/>
                  <a:gd name="T52" fmla="*/ 15 w 366"/>
                  <a:gd name="T53" fmla="*/ 37 h 845"/>
                  <a:gd name="T54" fmla="*/ 12 w 366"/>
                  <a:gd name="T55" fmla="*/ 22 h 845"/>
                  <a:gd name="T56" fmla="*/ 7 w 366"/>
                  <a:gd name="T57" fmla="*/ 9 h 845"/>
                  <a:gd name="T58" fmla="*/ 2 w 366"/>
                  <a:gd name="T59" fmla="*/ 0 h 845"/>
                  <a:gd name="T60" fmla="*/ 2 w 366"/>
                  <a:gd name="T61" fmla="*/ 6 h 845"/>
                  <a:gd name="T62" fmla="*/ 4 w 366"/>
                  <a:gd name="T63" fmla="*/ 25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66"/>
                  <a:gd name="T97" fmla="*/ 0 h 845"/>
                  <a:gd name="T98" fmla="*/ 366 w 366"/>
                  <a:gd name="T99" fmla="*/ 845 h 84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1" name="Freeform 73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28 w 88"/>
                  <a:gd name="T1" fmla="*/ 8 h 87"/>
                  <a:gd name="T2" fmla="*/ 29 w 88"/>
                  <a:gd name="T3" fmla="*/ 6 h 87"/>
                  <a:gd name="T4" fmla="*/ 29 w 88"/>
                  <a:gd name="T5" fmla="*/ 4 h 87"/>
                  <a:gd name="T6" fmla="*/ 28 w 88"/>
                  <a:gd name="T7" fmla="*/ 2 h 87"/>
                  <a:gd name="T8" fmla="*/ 25 w 88"/>
                  <a:gd name="T9" fmla="*/ 1 h 87"/>
                  <a:gd name="T10" fmla="*/ 23 w 88"/>
                  <a:gd name="T11" fmla="*/ 0 h 87"/>
                  <a:gd name="T12" fmla="*/ 20 w 88"/>
                  <a:gd name="T13" fmla="*/ 0 h 87"/>
                  <a:gd name="T14" fmla="*/ 18 w 88"/>
                  <a:gd name="T15" fmla="*/ 0 h 87"/>
                  <a:gd name="T16" fmla="*/ 15 w 88"/>
                  <a:gd name="T17" fmla="*/ 2 h 87"/>
                  <a:gd name="T18" fmla="*/ 14 w 88"/>
                  <a:gd name="T19" fmla="*/ 4 h 87"/>
                  <a:gd name="T20" fmla="*/ 11 w 88"/>
                  <a:gd name="T21" fmla="*/ 7 h 87"/>
                  <a:gd name="T22" fmla="*/ 8 w 88"/>
                  <a:gd name="T23" fmla="*/ 10 h 87"/>
                  <a:gd name="T24" fmla="*/ 5 w 88"/>
                  <a:gd name="T25" fmla="*/ 14 h 87"/>
                  <a:gd name="T26" fmla="*/ 3 w 88"/>
                  <a:gd name="T27" fmla="*/ 19 h 87"/>
                  <a:gd name="T28" fmla="*/ 1 w 88"/>
                  <a:gd name="T29" fmla="*/ 23 h 87"/>
                  <a:gd name="T30" fmla="*/ 0 w 88"/>
                  <a:gd name="T31" fmla="*/ 26 h 87"/>
                  <a:gd name="T32" fmla="*/ 1 w 88"/>
                  <a:gd name="T33" fmla="*/ 29 h 87"/>
                  <a:gd name="T34" fmla="*/ 5 w 88"/>
                  <a:gd name="T35" fmla="*/ 27 h 87"/>
                  <a:gd name="T36" fmla="*/ 9 w 88"/>
                  <a:gd name="T37" fmla="*/ 23 h 87"/>
                  <a:gd name="T38" fmla="*/ 13 w 88"/>
                  <a:gd name="T39" fmla="*/ 20 h 87"/>
                  <a:gd name="T40" fmla="*/ 17 w 88"/>
                  <a:gd name="T41" fmla="*/ 17 h 87"/>
                  <a:gd name="T42" fmla="*/ 21 w 88"/>
                  <a:gd name="T43" fmla="*/ 14 h 87"/>
                  <a:gd name="T44" fmla="*/ 24 w 88"/>
                  <a:gd name="T45" fmla="*/ 11 h 87"/>
                  <a:gd name="T46" fmla="*/ 26 w 88"/>
                  <a:gd name="T47" fmla="*/ 9 h 87"/>
                  <a:gd name="T48" fmla="*/ 28 w 88"/>
                  <a:gd name="T49" fmla="*/ 8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8"/>
                  <a:gd name="T76" fmla="*/ 0 h 87"/>
                  <a:gd name="T77" fmla="*/ 88 w 88"/>
                  <a:gd name="T78" fmla="*/ 87 h 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2" name="Freeform 74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31 w 102"/>
                  <a:gd name="T1" fmla="*/ 7 h 28"/>
                  <a:gd name="T2" fmla="*/ 32 w 102"/>
                  <a:gd name="T3" fmla="*/ 7 h 28"/>
                  <a:gd name="T4" fmla="*/ 33 w 102"/>
                  <a:gd name="T5" fmla="*/ 6 h 28"/>
                  <a:gd name="T6" fmla="*/ 34 w 102"/>
                  <a:gd name="T7" fmla="*/ 5 h 28"/>
                  <a:gd name="T8" fmla="*/ 34 w 102"/>
                  <a:gd name="T9" fmla="*/ 3 h 28"/>
                  <a:gd name="T10" fmla="*/ 34 w 102"/>
                  <a:gd name="T11" fmla="*/ 2 h 28"/>
                  <a:gd name="T12" fmla="*/ 33 w 102"/>
                  <a:gd name="T13" fmla="*/ 0 h 28"/>
                  <a:gd name="T14" fmla="*/ 31 w 102"/>
                  <a:gd name="T15" fmla="*/ 0 h 28"/>
                  <a:gd name="T16" fmla="*/ 29 w 102"/>
                  <a:gd name="T17" fmla="*/ 0 h 28"/>
                  <a:gd name="T18" fmla="*/ 25 w 102"/>
                  <a:gd name="T19" fmla="*/ 1 h 28"/>
                  <a:gd name="T20" fmla="*/ 20 w 102"/>
                  <a:gd name="T21" fmla="*/ 2 h 28"/>
                  <a:gd name="T22" fmla="*/ 15 w 102"/>
                  <a:gd name="T23" fmla="*/ 3 h 28"/>
                  <a:gd name="T24" fmla="*/ 11 w 102"/>
                  <a:gd name="T25" fmla="*/ 4 h 28"/>
                  <a:gd name="T26" fmla="*/ 7 w 102"/>
                  <a:gd name="T27" fmla="*/ 5 h 28"/>
                  <a:gd name="T28" fmla="*/ 3 w 102"/>
                  <a:gd name="T29" fmla="*/ 6 h 28"/>
                  <a:gd name="T30" fmla="*/ 1 w 102"/>
                  <a:gd name="T31" fmla="*/ 7 h 28"/>
                  <a:gd name="T32" fmla="*/ 0 w 102"/>
                  <a:gd name="T33" fmla="*/ 9 h 28"/>
                  <a:gd name="T34" fmla="*/ 3 w 102"/>
                  <a:gd name="T35" fmla="*/ 9 h 28"/>
                  <a:gd name="T36" fmla="*/ 7 w 102"/>
                  <a:gd name="T37" fmla="*/ 9 h 28"/>
                  <a:gd name="T38" fmla="*/ 11 w 102"/>
                  <a:gd name="T39" fmla="*/ 9 h 28"/>
                  <a:gd name="T40" fmla="*/ 15 w 102"/>
                  <a:gd name="T41" fmla="*/ 9 h 28"/>
                  <a:gd name="T42" fmla="*/ 18 w 102"/>
                  <a:gd name="T43" fmla="*/ 8 h 28"/>
                  <a:gd name="T44" fmla="*/ 22 w 102"/>
                  <a:gd name="T45" fmla="*/ 8 h 28"/>
                  <a:gd name="T46" fmla="*/ 27 w 102"/>
                  <a:gd name="T47" fmla="*/ 8 h 28"/>
                  <a:gd name="T48" fmla="*/ 31 w 102"/>
                  <a:gd name="T49" fmla="*/ 7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2"/>
                  <a:gd name="T76" fmla="*/ 0 h 28"/>
                  <a:gd name="T77" fmla="*/ 102 w 102"/>
                  <a:gd name="T78" fmla="*/ 28 h 2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3" name="Freeform 75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41 w 142"/>
                  <a:gd name="T1" fmla="*/ 12 h 36"/>
                  <a:gd name="T2" fmla="*/ 43 w 142"/>
                  <a:gd name="T3" fmla="*/ 12 h 36"/>
                  <a:gd name="T4" fmla="*/ 45 w 142"/>
                  <a:gd name="T5" fmla="*/ 11 h 36"/>
                  <a:gd name="T6" fmla="*/ 46 w 142"/>
                  <a:gd name="T7" fmla="*/ 9 h 36"/>
                  <a:gd name="T8" fmla="*/ 47 w 142"/>
                  <a:gd name="T9" fmla="*/ 7 h 36"/>
                  <a:gd name="T10" fmla="*/ 47 w 142"/>
                  <a:gd name="T11" fmla="*/ 5 h 36"/>
                  <a:gd name="T12" fmla="*/ 46 w 142"/>
                  <a:gd name="T13" fmla="*/ 3 h 36"/>
                  <a:gd name="T14" fmla="*/ 44 w 142"/>
                  <a:gd name="T15" fmla="*/ 2 h 36"/>
                  <a:gd name="T16" fmla="*/ 42 w 142"/>
                  <a:gd name="T17" fmla="*/ 1 h 36"/>
                  <a:gd name="T18" fmla="*/ 36 w 142"/>
                  <a:gd name="T19" fmla="*/ 1 h 36"/>
                  <a:gd name="T20" fmla="*/ 29 w 142"/>
                  <a:gd name="T21" fmla="*/ 1 h 36"/>
                  <a:gd name="T22" fmla="*/ 22 w 142"/>
                  <a:gd name="T23" fmla="*/ 1 h 36"/>
                  <a:gd name="T24" fmla="*/ 16 w 142"/>
                  <a:gd name="T25" fmla="*/ 1 h 36"/>
                  <a:gd name="T26" fmla="*/ 10 w 142"/>
                  <a:gd name="T27" fmla="*/ 0 h 36"/>
                  <a:gd name="T28" fmla="*/ 4 w 142"/>
                  <a:gd name="T29" fmla="*/ 1 h 36"/>
                  <a:gd name="T30" fmla="*/ 1 w 142"/>
                  <a:gd name="T31" fmla="*/ 2 h 36"/>
                  <a:gd name="T32" fmla="*/ 0 w 142"/>
                  <a:gd name="T33" fmla="*/ 3 h 36"/>
                  <a:gd name="T34" fmla="*/ 3 w 142"/>
                  <a:gd name="T35" fmla="*/ 4 h 36"/>
                  <a:gd name="T36" fmla="*/ 7 w 142"/>
                  <a:gd name="T37" fmla="*/ 5 h 36"/>
                  <a:gd name="T38" fmla="*/ 13 w 142"/>
                  <a:gd name="T39" fmla="*/ 6 h 36"/>
                  <a:gd name="T40" fmla="*/ 18 w 142"/>
                  <a:gd name="T41" fmla="*/ 7 h 36"/>
                  <a:gd name="T42" fmla="*/ 24 w 142"/>
                  <a:gd name="T43" fmla="*/ 8 h 36"/>
                  <a:gd name="T44" fmla="*/ 29 w 142"/>
                  <a:gd name="T45" fmla="*/ 10 h 36"/>
                  <a:gd name="T46" fmla="*/ 35 w 142"/>
                  <a:gd name="T47" fmla="*/ 11 h 36"/>
                  <a:gd name="T48" fmla="*/ 41 w 142"/>
                  <a:gd name="T49" fmla="*/ 12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2"/>
                  <a:gd name="T76" fmla="*/ 0 h 36"/>
                  <a:gd name="T77" fmla="*/ 142 w 14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4" name="Freeform 76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36 w 351"/>
                  <a:gd name="T1" fmla="*/ 99 h 601"/>
                  <a:gd name="T2" fmla="*/ 44 w 351"/>
                  <a:gd name="T3" fmla="*/ 112 h 601"/>
                  <a:gd name="T4" fmla="*/ 52 w 351"/>
                  <a:gd name="T5" fmla="*/ 125 h 601"/>
                  <a:gd name="T6" fmla="*/ 61 w 351"/>
                  <a:gd name="T7" fmla="*/ 138 h 601"/>
                  <a:gd name="T8" fmla="*/ 69 w 351"/>
                  <a:gd name="T9" fmla="*/ 150 h 601"/>
                  <a:gd name="T10" fmla="*/ 78 w 351"/>
                  <a:gd name="T11" fmla="*/ 162 h 601"/>
                  <a:gd name="T12" fmla="*/ 88 w 351"/>
                  <a:gd name="T13" fmla="*/ 174 h 601"/>
                  <a:gd name="T14" fmla="*/ 97 w 351"/>
                  <a:gd name="T15" fmla="*/ 186 h 601"/>
                  <a:gd name="T16" fmla="*/ 107 w 351"/>
                  <a:gd name="T17" fmla="*/ 198 h 601"/>
                  <a:gd name="T18" fmla="*/ 109 w 351"/>
                  <a:gd name="T19" fmla="*/ 199 h 601"/>
                  <a:gd name="T20" fmla="*/ 111 w 351"/>
                  <a:gd name="T21" fmla="*/ 200 h 601"/>
                  <a:gd name="T22" fmla="*/ 112 w 351"/>
                  <a:gd name="T23" fmla="*/ 200 h 601"/>
                  <a:gd name="T24" fmla="*/ 114 w 351"/>
                  <a:gd name="T25" fmla="*/ 199 h 601"/>
                  <a:gd name="T26" fmla="*/ 116 w 351"/>
                  <a:gd name="T27" fmla="*/ 198 h 601"/>
                  <a:gd name="T28" fmla="*/ 117 w 351"/>
                  <a:gd name="T29" fmla="*/ 196 h 601"/>
                  <a:gd name="T30" fmla="*/ 117 w 351"/>
                  <a:gd name="T31" fmla="*/ 194 h 601"/>
                  <a:gd name="T32" fmla="*/ 116 w 351"/>
                  <a:gd name="T33" fmla="*/ 192 h 601"/>
                  <a:gd name="T34" fmla="*/ 109 w 351"/>
                  <a:gd name="T35" fmla="*/ 179 h 601"/>
                  <a:gd name="T36" fmla="*/ 101 w 351"/>
                  <a:gd name="T37" fmla="*/ 166 h 601"/>
                  <a:gd name="T38" fmla="*/ 93 w 351"/>
                  <a:gd name="T39" fmla="*/ 154 h 601"/>
                  <a:gd name="T40" fmla="*/ 84 w 351"/>
                  <a:gd name="T41" fmla="*/ 142 h 601"/>
                  <a:gd name="T42" fmla="*/ 75 w 351"/>
                  <a:gd name="T43" fmla="*/ 130 h 601"/>
                  <a:gd name="T44" fmla="*/ 66 w 351"/>
                  <a:gd name="T45" fmla="*/ 118 h 601"/>
                  <a:gd name="T46" fmla="*/ 57 w 351"/>
                  <a:gd name="T47" fmla="*/ 106 h 601"/>
                  <a:gd name="T48" fmla="*/ 49 w 351"/>
                  <a:gd name="T49" fmla="*/ 93 h 601"/>
                  <a:gd name="T50" fmla="*/ 42 w 351"/>
                  <a:gd name="T51" fmla="*/ 81 h 601"/>
                  <a:gd name="T52" fmla="*/ 34 w 351"/>
                  <a:gd name="T53" fmla="*/ 66 h 601"/>
                  <a:gd name="T54" fmla="*/ 26 w 351"/>
                  <a:gd name="T55" fmla="*/ 50 h 601"/>
                  <a:gd name="T56" fmla="*/ 20 w 351"/>
                  <a:gd name="T57" fmla="*/ 35 h 601"/>
                  <a:gd name="T58" fmla="*/ 13 w 351"/>
                  <a:gd name="T59" fmla="*/ 21 h 601"/>
                  <a:gd name="T60" fmla="*/ 7 w 351"/>
                  <a:gd name="T61" fmla="*/ 10 h 601"/>
                  <a:gd name="T62" fmla="*/ 3 w 351"/>
                  <a:gd name="T63" fmla="*/ 2 h 601"/>
                  <a:gd name="T64" fmla="*/ 0 w 351"/>
                  <a:gd name="T65" fmla="*/ 0 h 601"/>
                  <a:gd name="T66" fmla="*/ 1 w 351"/>
                  <a:gd name="T67" fmla="*/ 6 h 601"/>
                  <a:gd name="T68" fmla="*/ 4 w 351"/>
                  <a:gd name="T69" fmla="*/ 15 h 601"/>
                  <a:gd name="T70" fmla="*/ 8 w 351"/>
                  <a:gd name="T71" fmla="*/ 27 h 601"/>
                  <a:gd name="T72" fmla="*/ 13 w 351"/>
                  <a:gd name="T73" fmla="*/ 41 h 601"/>
                  <a:gd name="T74" fmla="*/ 18 w 351"/>
                  <a:gd name="T75" fmla="*/ 57 h 601"/>
                  <a:gd name="T76" fmla="*/ 23 w 351"/>
                  <a:gd name="T77" fmla="*/ 72 h 601"/>
                  <a:gd name="T78" fmla="*/ 30 w 351"/>
                  <a:gd name="T79" fmla="*/ 86 h 601"/>
                  <a:gd name="T80" fmla="*/ 36 w 351"/>
                  <a:gd name="T81" fmla="*/ 99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51"/>
                  <a:gd name="T124" fmla="*/ 0 h 601"/>
                  <a:gd name="T125" fmla="*/ 351 w 351"/>
                  <a:gd name="T126" fmla="*/ 601 h 60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5" name="Freeform 77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186 w 2164"/>
                  <a:gd name="T1" fmla="*/ 0 h 1979"/>
                  <a:gd name="T2" fmla="*/ 191 w 2164"/>
                  <a:gd name="T3" fmla="*/ 0 h 1979"/>
                  <a:gd name="T4" fmla="*/ 199 w 2164"/>
                  <a:gd name="T5" fmla="*/ 0 h 1979"/>
                  <a:gd name="T6" fmla="*/ 212 w 2164"/>
                  <a:gd name="T7" fmla="*/ 1 h 1979"/>
                  <a:gd name="T8" fmla="*/ 228 w 2164"/>
                  <a:gd name="T9" fmla="*/ 1 h 1979"/>
                  <a:gd name="T10" fmla="*/ 247 w 2164"/>
                  <a:gd name="T11" fmla="*/ 3 h 1979"/>
                  <a:gd name="T12" fmla="*/ 269 w 2164"/>
                  <a:gd name="T13" fmla="*/ 4 h 1979"/>
                  <a:gd name="T14" fmla="*/ 293 w 2164"/>
                  <a:gd name="T15" fmla="*/ 7 h 1979"/>
                  <a:gd name="T16" fmla="*/ 319 w 2164"/>
                  <a:gd name="T17" fmla="*/ 10 h 1979"/>
                  <a:gd name="T18" fmla="*/ 346 w 2164"/>
                  <a:gd name="T19" fmla="*/ 14 h 1979"/>
                  <a:gd name="T20" fmla="*/ 375 w 2164"/>
                  <a:gd name="T21" fmla="*/ 19 h 1979"/>
                  <a:gd name="T22" fmla="*/ 405 w 2164"/>
                  <a:gd name="T23" fmla="*/ 25 h 1979"/>
                  <a:gd name="T24" fmla="*/ 435 w 2164"/>
                  <a:gd name="T25" fmla="*/ 32 h 1979"/>
                  <a:gd name="T26" fmla="*/ 466 w 2164"/>
                  <a:gd name="T27" fmla="*/ 41 h 1979"/>
                  <a:gd name="T28" fmla="*/ 497 w 2164"/>
                  <a:gd name="T29" fmla="*/ 51 h 1979"/>
                  <a:gd name="T30" fmla="*/ 526 w 2164"/>
                  <a:gd name="T31" fmla="*/ 63 h 1979"/>
                  <a:gd name="T32" fmla="*/ 494 w 2164"/>
                  <a:gd name="T33" fmla="*/ 296 h 1979"/>
                  <a:gd name="T34" fmla="*/ 497 w 2164"/>
                  <a:gd name="T35" fmla="*/ 298 h 1979"/>
                  <a:gd name="T36" fmla="*/ 505 w 2164"/>
                  <a:gd name="T37" fmla="*/ 305 h 1979"/>
                  <a:gd name="T38" fmla="*/ 509 w 2164"/>
                  <a:gd name="T39" fmla="*/ 321 h 1979"/>
                  <a:gd name="T40" fmla="*/ 503 w 2164"/>
                  <a:gd name="T41" fmla="*/ 349 h 1979"/>
                  <a:gd name="T42" fmla="*/ 409 w 2164"/>
                  <a:gd name="T43" fmla="*/ 459 h 1979"/>
                  <a:gd name="T44" fmla="*/ 377 w 2164"/>
                  <a:gd name="T45" fmla="*/ 495 h 1979"/>
                  <a:gd name="T46" fmla="*/ 372 w 2164"/>
                  <a:gd name="T47" fmla="*/ 494 h 1979"/>
                  <a:gd name="T48" fmla="*/ 363 w 2164"/>
                  <a:gd name="T49" fmla="*/ 493 h 1979"/>
                  <a:gd name="T50" fmla="*/ 349 w 2164"/>
                  <a:gd name="T51" fmla="*/ 491 h 1979"/>
                  <a:gd name="T52" fmla="*/ 332 w 2164"/>
                  <a:gd name="T53" fmla="*/ 489 h 1979"/>
                  <a:gd name="T54" fmla="*/ 311 w 2164"/>
                  <a:gd name="T55" fmla="*/ 486 h 1979"/>
                  <a:gd name="T56" fmla="*/ 288 w 2164"/>
                  <a:gd name="T57" fmla="*/ 482 h 1979"/>
                  <a:gd name="T58" fmla="*/ 262 w 2164"/>
                  <a:gd name="T59" fmla="*/ 477 h 1979"/>
                  <a:gd name="T60" fmla="*/ 234 w 2164"/>
                  <a:gd name="T61" fmla="*/ 471 h 1979"/>
                  <a:gd name="T62" fmla="*/ 204 w 2164"/>
                  <a:gd name="T63" fmla="*/ 464 h 1979"/>
                  <a:gd name="T64" fmla="*/ 174 w 2164"/>
                  <a:gd name="T65" fmla="*/ 456 h 1979"/>
                  <a:gd name="T66" fmla="*/ 143 w 2164"/>
                  <a:gd name="T67" fmla="*/ 447 h 1979"/>
                  <a:gd name="T68" fmla="*/ 111 w 2164"/>
                  <a:gd name="T69" fmla="*/ 437 h 1979"/>
                  <a:gd name="T70" fmla="*/ 80 w 2164"/>
                  <a:gd name="T71" fmla="*/ 425 h 1979"/>
                  <a:gd name="T72" fmla="*/ 49 w 2164"/>
                  <a:gd name="T73" fmla="*/ 412 h 1979"/>
                  <a:gd name="T74" fmla="*/ 19 w 2164"/>
                  <a:gd name="T75" fmla="*/ 398 h 1979"/>
                  <a:gd name="T76" fmla="*/ 4 w 2164"/>
                  <a:gd name="T77" fmla="*/ 389 h 1979"/>
                  <a:gd name="T78" fmla="*/ 2 w 2164"/>
                  <a:gd name="T79" fmla="*/ 379 h 1979"/>
                  <a:gd name="T80" fmla="*/ 0 w 2164"/>
                  <a:gd name="T81" fmla="*/ 364 h 1979"/>
                  <a:gd name="T82" fmla="*/ 1 w 2164"/>
                  <a:gd name="T83" fmla="*/ 349 h 1979"/>
                  <a:gd name="T84" fmla="*/ 111 w 2164"/>
                  <a:gd name="T85" fmla="*/ 251 h 1979"/>
                  <a:gd name="T86" fmla="*/ 110 w 2164"/>
                  <a:gd name="T87" fmla="*/ 247 h 1979"/>
                  <a:gd name="T88" fmla="*/ 111 w 2164"/>
                  <a:gd name="T89" fmla="*/ 238 h 1979"/>
                  <a:gd name="T90" fmla="*/ 118 w 2164"/>
                  <a:gd name="T91" fmla="*/ 226 h 1979"/>
                  <a:gd name="T92" fmla="*/ 134 w 2164"/>
                  <a:gd name="T93" fmla="*/ 211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164"/>
                  <a:gd name="T142" fmla="*/ 0 h 1979"/>
                  <a:gd name="T143" fmla="*/ 2164 w 2164"/>
                  <a:gd name="T144" fmla="*/ 1979 h 197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6" name="Freeform 78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41 w 1244"/>
                  <a:gd name="T1" fmla="*/ 0 h 930"/>
                  <a:gd name="T2" fmla="*/ 311 w 1244"/>
                  <a:gd name="T3" fmla="*/ 54 h 930"/>
                  <a:gd name="T4" fmla="*/ 267 w 1244"/>
                  <a:gd name="T5" fmla="*/ 233 h 930"/>
                  <a:gd name="T6" fmla="*/ 0 w 1244"/>
                  <a:gd name="T7" fmla="*/ 172 h 930"/>
                  <a:gd name="T8" fmla="*/ 41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4"/>
                  <a:gd name="T16" fmla="*/ 0 h 930"/>
                  <a:gd name="T17" fmla="*/ 1244 w 1244"/>
                  <a:gd name="T18" fmla="*/ 930 h 9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7" name="Freeform 79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28 w 952"/>
                  <a:gd name="T1" fmla="*/ 0 h 366"/>
                  <a:gd name="T2" fmla="*/ 237 w 952"/>
                  <a:gd name="T3" fmla="*/ 38 h 366"/>
                  <a:gd name="T4" fmla="*/ 50 w 952"/>
                  <a:gd name="T5" fmla="*/ 27 h 366"/>
                  <a:gd name="T6" fmla="*/ 0 w 952"/>
                  <a:gd name="T7" fmla="*/ 91 h 366"/>
                  <a:gd name="T8" fmla="*/ 28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2"/>
                  <a:gd name="T16" fmla="*/ 0 h 366"/>
                  <a:gd name="T17" fmla="*/ 952 w 952"/>
                  <a:gd name="T18" fmla="*/ 366 h 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8" name="Freeform 80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10 w 1259"/>
                  <a:gd name="T1" fmla="*/ 0 h 337"/>
                  <a:gd name="T2" fmla="*/ 315 w 1259"/>
                  <a:gd name="T3" fmla="*/ 72 h 337"/>
                  <a:gd name="T4" fmla="*/ 307 w 1259"/>
                  <a:gd name="T5" fmla="*/ 84 h 337"/>
                  <a:gd name="T6" fmla="*/ 0 w 1259"/>
                  <a:gd name="T7" fmla="*/ 8 h 337"/>
                  <a:gd name="T8" fmla="*/ 1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9"/>
                  <a:gd name="T16" fmla="*/ 0 h 337"/>
                  <a:gd name="T17" fmla="*/ 1259 w 1259"/>
                  <a:gd name="T18" fmla="*/ 337 h 3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59" name="Freeform 81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11 w 1265"/>
                  <a:gd name="T1" fmla="*/ 0 h 342"/>
                  <a:gd name="T2" fmla="*/ 316 w 1265"/>
                  <a:gd name="T3" fmla="*/ 72 h 342"/>
                  <a:gd name="T4" fmla="*/ 306 w 1265"/>
                  <a:gd name="T5" fmla="*/ 86 h 342"/>
                  <a:gd name="T6" fmla="*/ 0 w 1265"/>
                  <a:gd name="T7" fmla="*/ 9 h 342"/>
                  <a:gd name="T8" fmla="*/ 11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5"/>
                  <a:gd name="T16" fmla="*/ 0 h 342"/>
                  <a:gd name="T17" fmla="*/ 1265 w 1265"/>
                  <a:gd name="T18" fmla="*/ 342 h 3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0" name="Freeform 82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11 w 1264"/>
                  <a:gd name="T1" fmla="*/ 0 h 344"/>
                  <a:gd name="T2" fmla="*/ 316 w 1264"/>
                  <a:gd name="T3" fmla="*/ 72 h 344"/>
                  <a:gd name="T4" fmla="*/ 306 w 1264"/>
                  <a:gd name="T5" fmla="*/ 86 h 344"/>
                  <a:gd name="T6" fmla="*/ 0 w 1264"/>
                  <a:gd name="T7" fmla="*/ 9 h 344"/>
                  <a:gd name="T8" fmla="*/ 11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4"/>
                  <a:gd name="T16" fmla="*/ 0 h 344"/>
                  <a:gd name="T17" fmla="*/ 1264 w 1264"/>
                  <a:gd name="T18" fmla="*/ 344 h 3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1" name="Freeform 83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5 w 190"/>
                  <a:gd name="T1" fmla="*/ 0 h 79"/>
                  <a:gd name="T2" fmla="*/ 6 w 190"/>
                  <a:gd name="T3" fmla="*/ 0 h 79"/>
                  <a:gd name="T4" fmla="*/ 10 w 190"/>
                  <a:gd name="T5" fmla="*/ 0 h 79"/>
                  <a:gd name="T6" fmla="*/ 16 w 190"/>
                  <a:gd name="T7" fmla="*/ 0 h 79"/>
                  <a:gd name="T8" fmla="*/ 23 w 190"/>
                  <a:gd name="T9" fmla="*/ 1 h 79"/>
                  <a:gd name="T10" fmla="*/ 30 w 190"/>
                  <a:gd name="T11" fmla="*/ 2 h 79"/>
                  <a:gd name="T12" fmla="*/ 37 w 190"/>
                  <a:gd name="T13" fmla="*/ 4 h 79"/>
                  <a:gd name="T14" fmla="*/ 44 w 190"/>
                  <a:gd name="T15" fmla="*/ 8 h 79"/>
                  <a:gd name="T16" fmla="*/ 48 w 190"/>
                  <a:gd name="T17" fmla="*/ 14 h 79"/>
                  <a:gd name="T18" fmla="*/ 48 w 190"/>
                  <a:gd name="T19" fmla="*/ 14 h 79"/>
                  <a:gd name="T20" fmla="*/ 48 w 190"/>
                  <a:gd name="T21" fmla="*/ 15 h 79"/>
                  <a:gd name="T22" fmla="*/ 48 w 190"/>
                  <a:gd name="T23" fmla="*/ 16 h 79"/>
                  <a:gd name="T24" fmla="*/ 47 w 190"/>
                  <a:gd name="T25" fmla="*/ 18 h 79"/>
                  <a:gd name="T26" fmla="*/ 46 w 190"/>
                  <a:gd name="T27" fmla="*/ 19 h 79"/>
                  <a:gd name="T28" fmla="*/ 44 w 190"/>
                  <a:gd name="T29" fmla="*/ 19 h 79"/>
                  <a:gd name="T30" fmla="*/ 40 w 190"/>
                  <a:gd name="T31" fmla="*/ 19 h 79"/>
                  <a:gd name="T32" fmla="*/ 36 w 190"/>
                  <a:gd name="T33" fmla="*/ 17 h 79"/>
                  <a:gd name="T34" fmla="*/ 36 w 190"/>
                  <a:gd name="T35" fmla="*/ 17 h 79"/>
                  <a:gd name="T36" fmla="*/ 36 w 190"/>
                  <a:gd name="T37" fmla="*/ 16 h 79"/>
                  <a:gd name="T38" fmla="*/ 35 w 190"/>
                  <a:gd name="T39" fmla="*/ 14 h 79"/>
                  <a:gd name="T40" fmla="*/ 33 w 190"/>
                  <a:gd name="T41" fmla="*/ 12 h 79"/>
                  <a:gd name="T42" fmla="*/ 29 w 190"/>
                  <a:gd name="T43" fmla="*/ 10 h 79"/>
                  <a:gd name="T44" fmla="*/ 24 w 190"/>
                  <a:gd name="T45" fmla="*/ 8 h 79"/>
                  <a:gd name="T46" fmla="*/ 16 w 190"/>
                  <a:gd name="T47" fmla="*/ 8 h 79"/>
                  <a:gd name="T48" fmla="*/ 6 w 190"/>
                  <a:gd name="T49" fmla="*/ 8 h 79"/>
                  <a:gd name="T50" fmla="*/ 5 w 190"/>
                  <a:gd name="T51" fmla="*/ 8 h 79"/>
                  <a:gd name="T52" fmla="*/ 4 w 190"/>
                  <a:gd name="T53" fmla="*/ 7 h 79"/>
                  <a:gd name="T54" fmla="*/ 2 w 190"/>
                  <a:gd name="T55" fmla="*/ 6 h 79"/>
                  <a:gd name="T56" fmla="*/ 1 w 190"/>
                  <a:gd name="T57" fmla="*/ 6 h 79"/>
                  <a:gd name="T58" fmla="*/ 0 w 190"/>
                  <a:gd name="T59" fmla="*/ 5 h 79"/>
                  <a:gd name="T60" fmla="*/ 0 w 190"/>
                  <a:gd name="T61" fmla="*/ 4 h 79"/>
                  <a:gd name="T62" fmla="*/ 2 w 190"/>
                  <a:gd name="T63" fmla="*/ 2 h 79"/>
                  <a:gd name="T64" fmla="*/ 5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0"/>
                  <a:gd name="T100" fmla="*/ 0 h 79"/>
                  <a:gd name="T101" fmla="*/ 190 w 190"/>
                  <a:gd name="T102" fmla="*/ 79 h 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2" name="Freeform 84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11 w 107"/>
                  <a:gd name="T1" fmla="*/ 14 h 63"/>
                  <a:gd name="T2" fmla="*/ 14 w 107"/>
                  <a:gd name="T3" fmla="*/ 15 h 63"/>
                  <a:gd name="T4" fmla="*/ 16 w 107"/>
                  <a:gd name="T5" fmla="*/ 15 h 63"/>
                  <a:gd name="T6" fmla="*/ 19 w 107"/>
                  <a:gd name="T7" fmla="*/ 15 h 63"/>
                  <a:gd name="T8" fmla="*/ 21 w 107"/>
                  <a:gd name="T9" fmla="*/ 15 h 63"/>
                  <a:gd name="T10" fmla="*/ 23 w 107"/>
                  <a:gd name="T11" fmla="*/ 15 h 63"/>
                  <a:gd name="T12" fmla="*/ 24 w 107"/>
                  <a:gd name="T13" fmla="*/ 14 h 63"/>
                  <a:gd name="T14" fmla="*/ 26 w 107"/>
                  <a:gd name="T15" fmla="*/ 13 h 63"/>
                  <a:gd name="T16" fmla="*/ 27 w 107"/>
                  <a:gd name="T17" fmla="*/ 11 h 63"/>
                  <a:gd name="T18" fmla="*/ 27 w 107"/>
                  <a:gd name="T19" fmla="*/ 10 h 63"/>
                  <a:gd name="T20" fmla="*/ 27 w 107"/>
                  <a:gd name="T21" fmla="*/ 9 h 63"/>
                  <a:gd name="T22" fmla="*/ 26 w 107"/>
                  <a:gd name="T23" fmla="*/ 7 h 63"/>
                  <a:gd name="T24" fmla="*/ 24 w 107"/>
                  <a:gd name="T25" fmla="*/ 6 h 63"/>
                  <a:gd name="T26" fmla="*/ 23 w 107"/>
                  <a:gd name="T27" fmla="*/ 5 h 63"/>
                  <a:gd name="T28" fmla="*/ 21 w 107"/>
                  <a:gd name="T29" fmla="*/ 3 h 63"/>
                  <a:gd name="T30" fmla="*/ 19 w 107"/>
                  <a:gd name="T31" fmla="*/ 2 h 63"/>
                  <a:gd name="T32" fmla="*/ 16 w 107"/>
                  <a:gd name="T33" fmla="*/ 1 h 63"/>
                  <a:gd name="T34" fmla="*/ 13 w 107"/>
                  <a:gd name="T35" fmla="*/ 0 h 63"/>
                  <a:gd name="T36" fmla="*/ 11 w 107"/>
                  <a:gd name="T37" fmla="*/ 0 h 63"/>
                  <a:gd name="T38" fmla="*/ 8 w 107"/>
                  <a:gd name="T39" fmla="*/ 0 h 63"/>
                  <a:gd name="T40" fmla="*/ 6 w 107"/>
                  <a:gd name="T41" fmla="*/ 0 h 63"/>
                  <a:gd name="T42" fmla="*/ 4 w 107"/>
                  <a:gd name="T43" fmla="*/ 0 h 63"/>
                  <a:gd name="T44" fmla="*/ 2 w 107"/>
                  <a:gd name="T45" fmla="*/ 1 h 63"/>
                  <a:gd name="T46" fmla="*/ 1 w 107"/>
                  <a:gd name="T47" fmla="*/ 2 h 63"/>
                  <a:gd name="T48" fmla="*/ 0 w 107"/>
                  <a:gd name="T49" fmla="*/ 3 h 63"/>
                  <a:gd name="T50" fmla="*/ 0 w 107"/>
                  <a:gd name="T51" fmla="*/ 5 h 63"/>
                  <a:gd name="T52" fmla="*/ 0 w 107"/>
                  <a:gd name="T53" fmla="*/ 6 h 63"/>
                  <a:gd name="T54" fmla="*/ 1 w 107"/>
                  <a:gd name="T55" fmla="*/ 8 h 63"/>
                  <a:gd name="T56" fmla="*/ 2 w 107"/>
                  <a:gd name="T57" fmla="*/ 9 h 63"/>
                  <a:gd name="T58" fmla="*/ 4 w 107"/>
                  <a:gd name="T59" fmla="*/ 10 h 63"/>
                  <a:gd name="T60" fmla="*/ 6 w 107"/>
                  <a:gd name="T61" fmla="*/ 12 h 63"/>
                  <a:gd name="T62" fmla="*/ 8 w 107"/>
                  <a:gd name="T63" fmla="*/ 13 h 63"/>
                  <a:gd name="T64" fmla="*/ 11 w 107"/>
                  <a:gd name="T65" fmla="*/ 14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63"/>
                  <a:gd name="T101" fmla="*/ 107 w 107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3" name="Freeform 85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366 w 1469"/>
                  <a:gd name="T1" fmla="*/ 102 h 525"/>
                  <a:gd name="T2" fmla="*/ 361 w 1469"/>
                  <a:gd name="T3" fmla="*/ 101 h 525"/>
                  <a:gd name="T4" fmla="*/ 352 w 1469"/>
                  <a:gd name="T5" fmla="*/ 100 h 525"/>
                  <a:gd name="T6" fmla="*/ 338 w 1469"/>
                  <a:gd name="T7" fmla="*/ 98 h 525"/>
                  <a:gd name="T8" fmla="*/ 321 w 1469"/>
                  <a:gd name="T9" fmla="*/ 96 h 525"/>
                  <a:gd name="T10" fmla="*/ 301 w 1469"/>
                  <a:gd name="T11" fmla="*/ 92 h 525"/>
                  <a:gd name="T12" fmla="*/ 277 w 1469"/>
                  <a:gd name="T13" fmla="*/ 88 h 525"/>
                  <a:gd name="T14" fmla="*/ 252 w 1469"/>
                  <a:gd name="T15" fmla="*/ 84 h 525"/>
                  <a:gd name="T16" fmla="*/ 224 w 1469"/>
                  <a:gd name="T17" fmla="*/ 78 h 525"/>
                  <a:gd name="T18" fmla="*/ 195 w 1469"/>
                  <a:gd name="T19" fmla="*/ 71 h 525"/>
                  <a:gd name="T20" fmla="*/ 166 w 1469"/>
                  <a:gd name="T21" fmla="*/ 63 h 525"/>
                  <a:gd name="T22" fmla="*/ 135 w 1469"/>
                  <a:gd name="T23" fmla="*/ 54 h 525"/>
                  <a:gd name="T24" fmla="*/ 104 w 1469"/>
                  <a:gd name="T25" fmla="*/ 44 h 525"/>
                  <a:gd name="T26" fmla="*/ 74 w 1469"/>
                  <a:gd name="T27" fmla="*/ 33 h 525"/>
                  <a:gd name="T28" fmla="*/ 44 w 1469"/>
                  <a:gd name="T29" fmla="*/ 21 h 525"/>
                  <a:gd name="T30" fmla="*/ 16 w 1469"/>
                  <a:gd name="T31" fmla="*/ 7 h 525"/>
                  <a:gd name="T32" fmla="*/ 2 w 1469"/>
                  <a:gd name="T33" fmla="*/ 1 h 525"/>
                  <a:gd name="T34" fmla="*/ 1 w 1469"/>
                  <a:gd name="T35" fmla="*/ 8 h 525"/>
                  <a:gd name="T36" fmla="*/ 0 w 1469"/>
                  <a:gd name="T37" fmla="*/ 20 h 525"/>
                  <a:gd name="T38" fmla="*/ 2 w 1469"/>
                  <a:gd name="T39" fmla="*/ 31 h 525"/>
                  <a:gd name="T40" fmla="*/ 6 w 1469"/>
                  <a:gd name="T41" fmla="*/ 36 h 525"/>
                  <a:gd name="T42" fmla="*/ 8 w 1469"/>
                  <a:gd name="T43" fmla="*/ 37 h 525"/>
                  <a:gd name="T44" fmla="*/ 13 w 1469"/>
                  <a:gd name="T45" fmla="*/ 40 h 525"/>
                  <a:gd name="T46" fmla="*/ 21 w 1469"/>
                  <a:gd name="T47" fmla="*/ 44 h 525"/>
                  <a:gd name="T48" fmla="*/ 32 w 1469"/>
                  <a:gd name="T49" fmla="*/ 49 h 525"/>
                  <a:gd name="T50" fmla="*/ 45 w 1469"/>
                  <a:gd name="T51" fmla="*/ 55 h 525"/>
                  <a:gd name="T52" fmla="*/ 62 w 1469"/>
                  <a:gd name="T53" fmla="*/ 62 h 525"/>
                  <a:gd name="T54" fmla="*/ 80 w 1469"/>
                  <a:gd name="T55" fmla="*/ 69 h 525"/>
                  <a:gd name="T56" fmla="*/ 102 w 1469"/>
                  <a:gd name="T57" fmla="*/ 77 h 525"/>
                  <a:gd name="T58" fmla="*/ 127 w 1469"/>
                  <a:gd name="T59" fmla="*/ 85 h 525"/>
                  <a:gd name="T60" fmla="*/ 154 w 1469"/>
                  <a:gd name="T61" fmla="*/ 93 h 525"/>
                  <a:gd name="T62" fmla="*/ 185 w 1469"/>
                  <a:gd name="T63" fmla="*/ 100 h 525"/>
                  <a:gd name="T64" fmla="*/ 218 w 1469"/>
                  <a:gd name="T65" fmla="*/ 108 h 525"/>
                  <a:gd name="T66" fmla="*/ 254 w 1469"/>
                  <a:gd name="T67" fmla="*/ 115 h 525"/>
                  <a:gd name="T68" fmla="*/ 294 w 1469"/>
                  <a:gd name="T69" fmla="*/ 122 h 525"/>
                  <a:gd name="T70" fmla="*/ 336 w 1469"/>
                  <a:gd name="T71" fmla="*/ 128 h 525"/>
                  <a:gd name="T72" fmla="*/ 359 w 1469"/>
                  <a:gd name="T73" fmla="*/ 131 h 525"/>
                  <a:gd name="T74" fmla="*/ 362 w 1469"/>
                  <a:gd name="T75" fmla="*/ 126 h 525"/>
                  <a:gd name="T76" fmla="*/ 365 w 1469"/>
                  <a:gd name="T77" fmla="*/ 118 h 525"/>
                  <a:gd name="T78" fmla="*/ 367 w 1469"/>
                  <a:gd name="T79" fmla="*/ 108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69"/>
                  <a:gd name="T121" fmla="*/ 0 h 525"/>
                  <a:gd name="T122" fmla="*/ 1469 w 1469"/>
                  <a:gd name="T123" fmla="*/ 525 h 5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4" name="Freeform 86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13 w 170"/>
                  <a:gd name="T1" fmla="*/ 0 h 120"/>
                  <a:gd name="T2" fmla="*/ 12 w 170"/>
                  <a:gd name="T3" fmla="*/ 0 h 120"/>
                  <a:gd name="T4" fmla="*/ 10 w 170"/>
                  <a:gd name="T5" fmla="*/ 1 h 120"/>
                  <a:gd name="T6" fmla="*/ 7 w 170"/>
                  <a:gd name="T7" fmla="*/ 2 h 120"/>
                  <a:gd name="T8" fmla="*/ 4 w 170"/>
                  <a:gd name="T9" fmla="*/ 4 h 120"/>
                  <a:gd name="T10" fmla="*/ 2 w 170"/>
                  <a:gd name="T11" fmla="*/ 6 h 120"/>
                  <a:gd name="T12" fmla="*/ 0 w 170"/>
                  <a:gd name="T13" fmla="*/ 10 h 120"/>
                  <a:gd name="T14" fmla="*/ 0 w 170"/>
                  <a:gd name="T15" fmla="*/ 16 h 120"/>
                  <a:gd name="T16" fmla="*/ 2 w 170"/>
                  <a:gd name="T17" fmla="*/ 23 h 120"/>
                  <a:gd name="T18" fmla="*/ 24 w 170"/>
                  <a:gd name="T19" fmla="*/ 29 h 120"/>
                  <a:gd name="T20" fmla="*/ 24 w 170"/>
                  <a:gd name="T21" fmla="*/ 28 h 120"/>
                  <a:gd name="T22" fmla="*/ 24 w 170"/>
                  <a:gd name="T23" fmla="*/ 25 h 120"/>
                  <a:gd name="T24" fmla="*/ 24 w 170"/>
                  <a:gd name="T25" fmla="*/ 20 h 120"/>
                  <a:gd name="T26" fmla="*/ 25 w 170"/>
                  <a:gd name="T27" fmla="*/ 15 h 120"/>
                  <a:gd name="T28" fmla="*/ 27 w 170"/>
                  <a:gd name="T29" fmla="*/ 11 h 120"/>
                  <a:gd name="T30" fmla="*/ 30 w 170"/>
                  <a:gd name="T31" fmla="*/ 7 h 120"/>
                  <a:gd name="T32" fmla="*/ 35 w 170"/>
                  <a:gd name="T33" fmla="*/ 5 h 120"/>
                  <a:gd name="T34" fmla="*/ 42 w 170"/>
                  <a:gd name="T35" fmla="*/ 6 h 120"/>
                  <a:gd name="T36" fmla="*/ 13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20"/>
                  <a:gd name="T59" fmla="*/ 170 w 170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5" name="Freeform 87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13 w 170"/>
                  <a:gd name="T1" fmla="*/ 0 h 119"/>
                  <a:gd name="T2" fmla="*/ 12 w 170"/>
                  <a:gd name="T3" fmla="*/ 0 h 119"/>
                  <a:gd name="T4" fmla="*/ 10 w 170"/>
                  <a:gd name="T5" fmla="*/ 1 h 119"/>
                  <a:gd name="T6" fmla="*/ 7 w 170"/>
                  <a:gd name="T7" fmla="*/ 2 h 119"/>
                  <a:gd name="T8" fmla="*/ 5 w 170"/>
                  <a:gd name="T9" fmla="*/ 3 h 119"/>
                  <a:gd name="T10" fmla="*/ 2 w 170"/>
                  <a:gd name="T11" fmla="*/ 6 h 119"/>
                  <a:gd name="T12" fmla="*/ 0 w 170"/>
                  <a:gd name="T13" fmla="*/ 10 h 119"/>
                  <a:gd name="T14" fmla="*/ 0 w 170"/>
                  <a:gd name="T15" fmla="*/ 16 h 119"/>
                  <a:gd name="T16" fmla="*/ 2 w 170"/>
                  <a:gd name="T17" fmla="*/ 23 h 119"/>
                  <a:gd name="T18" fmla="*/ 25 w 170"/>
                  <a:gd name="T19" fmla="*/ 29 h 119"/>
                  <a:gd name="T20" fmla="*/ 24 w 170"/>
                  <a:gd name="T21" fmla="*/ 28 h 119"/>
                  <a:gd name="T22" fmla="*/ 24 w 170"/>
                  <a:gd name="T23" fmla="*/ 25 h 119"/>
                  <a:gd name="T24" fmla="*/ 24 w 170"/>
                  <a:gd name="T25" fmla="*/ 20 h 119"/>
                  <a:gd name="T26" fmla="*/ 25 w 170"/>
                  <a:gd name="T27" fmla="*/ 15 h 119"/>
                  <a:gd name="T28" fmla="*/ 27 w 170"/>
                  <a:gd name="T29" fmla="*/ 11 h 119"/>
                  <a:gd name="T30" fmla="*/ 30 w 170"/>
                  <a:gd name="T31" fmla="*/ 7 h 119"/>
                  <a:gd name="T32" fmla="*/ 36 w 170"/>
                  <a:gd name="T33" fmla="*/ 5 h 119"/>
                  <a:gd name="T34" fmla="*/ 43 w 170"/>
                  <a:gd name="T35" fmla="*/ 6 h 119"/>
                  <a:gd name="T36" fmla="*/ 13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19"/>
                  <a:gd name="T59" fmla="*/ 170 w 170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6" name="Freeform 88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11 h 200"/>
                  <a:gd name="T2" fmla="*/ 174 w 730"/>
                  <a:gd name="T3" fmla="*/ 50 h 200"/>
                  <a:gd name="T4" fmla="*/ 182 w 730"/>
                  <a:gd name="T5" fmla="*/ 39 h 200"/>
                  <a:gd name="T6" fmla="*/ 8 w 730"/>
                  <a:gd name="T7" fmla="*/ 0 h 200"/>
                  <a:gd name="T8" fmla="*/ 0 w 730"/>
                  <a:gd name="T9" fmla="*/ 11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0"/>
                  <a:gd name="T16" fmla="*/ 0 h 200"/>
                  <a:gd name="T17" fmla="*/ 730 w 730"/>
                  <a:gd name="T18" fmla="*/ 200 h 2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7" name="Freeform 89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8 h 187"/>
                  <a:gd name="T2" fmla="*/ 174 w 703"/>
                  <a:gd name="T3" fmla="*/ 47 h 187"/>
                  <a:gd name="T4" fmla="*/ 176 w 703"/>
                  <a:gd name="T5" fmla="*/ 39 h 187"/>
                  <a:gd name="T6" fmla="*/ 2 w 703"/>
                  <a:gd name="T7" fmla="*/ 0 h 187"/>
                  <a:gd name="T8" fmla="*/ 0 w 703"/>
                  <a:gd name="T9" fmla="*/ 8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3"/>
                  <a:gd name="T16" fmla="*/ 0 h 187"/>
                  <a:gd name="T17" fmla="*/ 703 w 703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8" name="Freeform 90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127 h 508"/>
                  <a:gd name="T2" fmla="*/ 22 w 424"/>
                  <a:gd name="T3" fmla="*/ 97 h 508"/>
                  <a:gd name="T4" fmla="*/ 31 w 424"/>
                  <a:gd name="T5" fmla="*/ 97 h 508"/>
                  <a:gd name="T6" fmla="*/ 106 w 424"/>
                  <a:gd name="T7" fmla="*/ 0 h 508"/>
                  <a:gd name="T8" fmla="*/ 33 w 424"/>
                  <a:gd name="T9" fmla="*/ 71 h 508"/>
                  <a:gd name="T10" fmla="*/ 17 w 424"/>
                  <a:gd name="T11" fmla="*/ 72 h 508"/>
                  <a:gd name="T12" fmla="*/ 0 w 424"/>
                  <a:gd name="T13" fmla="*/ 90 h 508"/>
                  <a:gd name="T14" fmla="*/ 0 w 424"/>
                  <a:gd name="T15" fmla="*/ 127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4"/>
                  <a:gd name="T25" fmla="*/ 0 h 508"/>
                  <a:gd name="T26" fmla="*/ 424 w 424"/>
                  <a:gd name="T27" fmla="*/ 508 h 5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69" name="Freeform 91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296 w 1186"/>
                  <a:gd name="T3" fmla="*/ 61 h 245"/>
                  <a:gd name="T4" fmla="*/ 296 w 1186"/>
                  <a:gd name="T5" fmla="*/ 61 h 245"/>
                  <a:gd name="T6" fmla="*/ 295 w 1186"/>
                  <a:gd name="T7" fmla="*/ 60 h 245"/>
                  <a:gd name="T8" fmla="*/ 293 w 1186"/>
                  <a:gd name="T9" fmla="*/ 60 h 245"/>
                  <a:gd name="T10" fmla="*/ 290 w 1186"/>
                  <a:gd name="T11" fmla="*/ 58 h 245"/>
                  <a:gd name="T12" fmla="*/ 286 w 1186"/>
                  <a:gd name="T13" fmla="*/ 57 h 245"/>
                  <a:gd name="T14" fmla="*/ 282 w 1186"/>
                  <a:gd name="T15" fmla="*/ 55 h 245"/>
                  <a:gd name="T16" fmla="*/ 278 w 1186"/>
                  <a:gd name="T17" fmla="*/ 53 h 245"/>
                  <a:gd name="T18" fmla="*/ 272 w 1186"/>
                  <a:gd name="T19" fmla="*/ 51 h 245"/>
                  <a:gd name="T20" fmla="*/ 266 w 1186"/>
                  <a:gd name="T21" fmla="*/ 49 h 245"/>
                  <a:gd name="T22" fmla="*/ 259 w 1186"/>
                  <a:gd name="T23" fmla="*/ 47 h 245"/>
                  <a:gd name="T24" fmla="*/ 252 w 1186"/>
                  <a:gd name="T25" fmla="*/ 44 h 245"/>
                  <a:gd name="T26" fmla="*/ 244 w 1186"/>
                  <a:gd name="T27" fmla="*/ 41 h 245"/>
                  <a:gd name="T28" fmla="*/ 236 w 1186"/>
                  <a:gd name="T29" fmla="*/ 38 h 245"/>
                  <a:gd name="T30" fmla="*/ 227 w 1186"/>
                  <a:gd name="T31" fmla="*/ 36 h 245"/>
                  <a:gd name="T32" fmla="*/ 217 w 1186"/>
                  <a:gd name="T33" fmla="*/ 33 h 245"/>
                  <a:gd name="T34" fmla="*/ 208 w 1186"/>
                  <a:gd name="T35" fmla="*/ 30 h 245"/>
                  <a:gd name="T36" fmla="*/ 197 w 1186"/>
                  <a:gd name="T37" fmla="*/ 27 h 245"/>
                  <a:gd name="T38" fmla="*/ 186 w 1186"/>
                  <a:gd name="T39" fmla="*/ 24 h 245"/>
                  <a:gd name="T40" fmla="*/ 175 w 1186"/>
                  <a:gd name="T41" fmla="*/ 21 h 245"/>
                  <a:gd name="T42" fmla="*/ 163 w 1186"/>
                  <a:gd name="T43" fmla="*/ 18 h 245"/>
                  <a:gd name="T44" fmla="*/ 151 w 1186"/>
                  <a:gd name="T45" fmla="*/ 16 h 245"/>
                  <a:gd name="T46" fmla="*/ 139 w 1186"/>
                  <a:gd name="T47" fmla="*/ 13 h 245"/>
                  <a:gd name="T48" fmla="*/ 126 w 1186"/>
                  <a:gd name="T49" fmla="*/ 11 h 245"/>
                  <a:gd name="T50" fmla="*/ 113 w 1186"/>
                  <a:gd name="T51" fmla="*/ 9 h 245"/>
                  <a:gd name="T52" fmla="*/ 100 w 1186"/>
                  <a:gd name="T53" fmla="*/ 7 h 245"/>
                  <a:gd name="T54" fmla="*/ 86 w 1186"/>
                  <a:gd name="T55" fmla="*/ 5 h 245"/>
                  <a:gd name="T56" fmla="*/ 72 w 1186"/>
                  <a:gd name="T57" fmla="*/ 4 h 245"/>
                  <a:gd name="T58" fmla="*/ 58 w 1186"/>
                  <a:gd name="T59" fmla="*/ 2 h 245"/>
                  <a:gd name="T60" fmla="*/ 44 w 1186"/>
                  <a:gd name="T61" fmla="*/ 1 h 245"/>
                  <a:gd name="T62" fmla="*/ 29 w 1186"/>
                  <a:gd name="T63" fmla="*/ 0 h 245"/>
                  <a:gd name="T64" fmla="*/ 15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86"/>
                  <a:gd name="T103" fmla="*/ 0 h 245"/>
                  <a:gd name="T104" fmla="*/ 1186 w 1186"/>
                  <a:gd name="T105" fmla="*/ 245 h 2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70" name="Freeform 92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60 w 241"/>
                  <a:gd name="T1" fmla="*/ 0 h 738"/>
                  <a:gd name="T2" fmla="*/ 13 w 241"/>
                  <a:gd name="T3" fmla="*/ 185 h 738"/>
                  <a:gd name="T4" fmla="*/ 0 w 241"/>
                  <a:gd name="T5" fmla="*/ 182 h 738"/>
                  <a:gd name="T6" fmla="*/ 42 w 241"/>
                  <a:gd name="T7" fmla="*/ 0 h 738"/>
                  <a:gd name="T8" fmla="*/ 6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738"/>
                  <a:gd name="T17" fmla="*/ 241 w 241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8443" name="Freeform 93"/>
          <p:cNvSpPr>
            <a:spLocks/>
          </p:cNvSpPr>
          <p:nvPr/>
        </p:nvSpPr>
        <p:spPr bwMode="auto">
          <a:xfrm>
            <a:off x="6413500" y="2486025"/>
            <a:ext cx="1838325" cy="1711325"/>
          </a:xfrm>
          <a:custGeom>
            <a:avLst/>
            <a:gdLst>
              <a:gd name="T0" fmla="*/ 2541 w 2894"/>
              <a:gd name="T1" fmla="*/ 845813 h 2693"/>
              <a:gd name="T2" fmla="*/ 221692 w 2894"/>
              <a:gd name="T3" fmla="*/ 323455 h 2693"/>
              <a:gd name="T4" fmla="*/ 879144 w 2894"/>
              <a:gd name="T5" fmla="*/ 218602 h 2693"/>
              <a:gd name="T6" fmla="*/ 1649030 w 2894"/>
              <a:gd name="T7" fmla="*/ 108030 h 2693"/>
              <a:gd name="T8" fmla="*/ 1831973 w 2894"/>
              <a:gd name="T9" fmla="*/ 866783 h 2693"/>
              <a:gd name="T10" fmla="*/ 1689048 w 2894"/>
              <a:gd name="T11" fmla="*/ 1362451 h 2693"/>
              <a:gd name="T12" fmla="*/ 1336502 w 2894"/>
              <a:gd name="T13" fmla="*/ 1591221 h 2693"/>
              <a:gd name="T14" fmla="*/ 1041125 w 2894"/>
              <a:gd name="T15" fmla="*/ 1638881 h 2693"/>
              <a:gd name="T16" fmla="*/ 663169 w 2894"/>
              <a:gd name="T17" fmla="*/ 1671290 h 2693"/>
              <a:gd name="T18" fmla="*/ 219786 w 2894"/>
              <a:gd name="T19" fmla="*/ 1398673 h 2693"/>
              <a:gd name="T20" fmla="*/ 2541 w 2894"/>
              <a:gd name="T21" fmla="*/ 845813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94"/>
              <a:gd name="T34" fmla="*/ 0 h 2693"/>
              <a:gd name="T35" fmla="*/ 2894 w 2894"/>
              <a:gd name="T36" fmla="*/ 2693 h 26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8444" name="Group 94"/>
          <p:cNvGrpSpPr>
            <a:grpSpLocks/>
          </p:cNvGrpSpPr>
          <p:nvPr/>
        </p:nvGrpSpPr>
        <p:grpSpPr bwMode="auto">
          <a:xfrm>
            <a:off x="6705600" y="3724275"/>
            <a:ext cx="501650" cy="233363"/>
            <a:chOff x="3600" y="219"/>
            <a:chExt cx="360" cy="175"/>
          </a:xfrm>
        </p:grpSpPr>
        <p:sp>
          <p:nvSpPr>
            <p:cNvPr id="18488" name="Oval 9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89" name="Line 9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0" name="Line 9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91" name="Rectangle 98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18492" name="Oval 9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8493" name="Group 10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8498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9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500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8494" name="Group 10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8495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6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97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18445" name="Line 108"/>
          <p:cNvSpPr>
            <a:spLocks noChangeShapeType="1"/>
          </p:cNvSpPr>
          <p:nvPr/>
        </p:nvSpPr>
        <p:spPr bwMode="auto">
          <a:xfrm>
            <a:off x="6735763" y="3552825"/>
            <a:ext cx="13335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6" name="Line 109"/>
          <p:cNvSpPr>
            <a:spLocks noChangeShapeType="1"/>
          </p:cNvSpPr>
          <p:nvPr/>
        </p:nvSpPr>
        <p:spPr bwMode="auto">
          <a:xfrm>
            <a:off x="6945313" y="3552825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8447" name="Line 110"/>
          <p:cNvSpPr>
            <a:spLocks noChangeShapeType="1"/>
          </p:cNvSpPr>
          <p:nvPr/>
        </p:nvSpPr>
        <p:spPr bwMode="auto">
          <a:xfrm>
            <a:off x="7797800" y="3386138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18448" name="Group 111"/>
          <p:cNvGrpSpPr>
            <a:grpSpLocks/>
          </p:cNvGrpSpPr>
          <p:nvPr/>
        </p:nvGrpSpPr>
        <p:grpSpPr bwMode="auto">
          <a:xfrm>
            <a:off x="7340600" y="2914650"/>
            <a:ext cx="914400" cy="590550"/>
            <a:chOff x="10665" y="3225"/>
            <a:chExt cx="1440" cy="930"/>
          </a:xfrm>
        </p:grpSpPr>
        <p:sp>
          <p:nvSpPr>
            <p:cNvPr id="18486" name="Oval 112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487" name="Group 113"/>
            <p:cNvGrpSpPr>
              <a:grpSpLocks/>
            </p:cNvGrpSpPr>
            <p:nvPr/>
          </p:nvGrpSpPr>
          <p:grpSpPr bwMode="auto"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18435" name="Object 11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18435" r:id="rId4" imgW="819000" imgH="847800" progId="">
                  <p:embed/>
                </p:oleObj>
              </a:graphicData>
            </a:graphic>
          </p:graphicFrame>
          <p:graphicFrame>
            <p:nvGraphicFramePr>
              <p:cNvPr id="18436" name="Object 11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18436" r:id="rId5" imgW="1266840" imgH="1200240" progId="">
                  <p:embed/>
                </p:oleObj>
              </a:graphicData>
            </a:graphic>
          </p:graphicFrame>
        </p:grpSp>
      </p:grpSp>
      <p:sp>
        <p:nvSpPr>
          <p:cNvPr id="18449" name="Freeform 116"/>
          <p:cNvSpPr>
            <a:spLocks/>
          </p:cNvSpPr>
          <p:nvPr/>
        </p:nvSpPr>
        <p:spPr bwMode="auto">
          <a:xfrm>
            <a:off x="3954463" y="3432175"/>
            <a:ext cx="2109787" cy="1250950"/>
          </a:xfrm>
          <a:custGeom>
            <a:avLst/>
            <a:gdLst>
              <a:gd name="T0" fmla="*/ 378289 w 3324"/>
              <a:gd name="T1" fmla="*/ 9520 h 1971"/>
              <a:gd name="T2" fmla="*/ 94572 w 3324"/>
              <a:gd name="T3" fmla="*/ 209444 h 1971"/>
              <a:gd name="T4" fmla="*/ 1904 w 3324"/>
              <a:gd name="T5" fmla="*/ 676567 h 1971"/>
              <a:gd name="T6" fmla="*/ 106632 w 3324"/>
              <a:gd name="T7" fmla="*/ 1019293 h 1971"/>
              <a:gd name="T8" fmla="*/ 386540 w 3324"/>
              <a:gd name="T9" fmla="*/ 1162095 h 1971"/>
              <a:gd name="T10" fmla="*/ 687395 w 3324"/>
              <a:gd name="T11" fmla="*/ 1095454 h 1971"/>
              <a:gd name="T12" fmla="*/ 982536 w 3324"/>
              <a:gd name="T13" fmla="*/ 1190656 h 1971"/>
              <a:gd name="T14" fmla="*/ 1506175 w 3324"/>
              <a:gd name="T15" fmla="*/ 1219216 h 1971"/>
              <a:gd name="T16" fmla="*/ 2058375 w 3324"/>
              <a:gd name="T17" fmla="*/ 1000252 h 1971"/>
              <a:gd name="T18" fmla="*/ 1814645 w 3324"/>
              <a:gd name="T19" fmla="*/ 593424 h 1971"/>
              <a:gd name="T20" fmla="*/ 1722612 w 3324"/>
              <a:gd name="T21" fmla="*/ 281797 h 1971"/>
              <a:gd name="T22" fmla="*/ 1087899 w 3324"/>
              <a:gd name="T23" fmla="*/ 153592 h 1971"/>
              <a:gd name="T24" fmla="*/ 378289 w 3324"/>
              <a:gd name="T25" fmla="*/ 9520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24"/>
              <a:gd name="T40" fmla="*/ 0 h 1971"/>
              <a:gd name="T41" fmla="*/ 3324 w 3324"/>
              <a:gd name="T42" fmla="*/ 1971 h 19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Text Box 117"/>
          <p:cNvSpPr txBox="1">
            <a:spLocks noChangeArrowheads="1"/>
          </p:cNvSpPr>
          <p:nvPr/>
        </p:nvSpPr>
        <p:spPr bwMode="auto">
          <a:xfrm>
            <a:off x="4129088" y="3729038"/>
            <a:ext cx="1447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b="0">
                <a:solidFill>
                  <a:schemeClr val="bg1"/>
                </a:solidFill>
                <a:latin typeface="Comic Sans MS" pitchFamily="66" charset="0"/>
              </a:rPr>
              <a:t>wide area network</a:t>
            </a:r>
          </a:p>
        </p:txBody>
      </p:sp>
      <p:sp>
        <p:nvSpPr>
          <p:cNvPr id="18451" name="Freeform 118"/>
          <p:cNvSpPr>
            <a:spLocks/>
          </p:cNvSpPr>
          <p:nvPr/>
        </p:nvSpPr>
        <p:spPr bwMode="auto">
          <a:xfrm>
            <a:off x="3259138" y="4995863"/>
            <a:ext cx="2944812" cy="911225"/>
          </a:xfrm>
          <a:custGeom>
            <a:avLst/>
            <a:gdLst>
              <a:gd name="T0" fmla="*/ 215335 w 4636"/>
              <a:gd name="T1" fmla="*/ 9525 h 1435"/>
              <a:gd name="T2" fmla="*/ 120054 w 4636"/>
              <a:gd name="T3" fmla="*/ 409575 h 1435"/>
              <a:gd name="T4" fmla="*/ 510705 w 4636"/>
              <a:gd name="T5" fmla="*/ 800100 h 1435"/>
              <a:gd name="T6" fmla="*/ 1244367 w 4636"/>
              <a:gd name="T7" fmla="*/ 904875 h 1435"/>
              <a:gd name="T8" fmla="*/ 2235287 w 4636"/>
              <a:gd name="T9" fmla="*/ 838200 h 1435"/>
              <a:gd name="T10" fmla="*/ 2492545 w 4636"/>
              <a:gd name="T11" fmla="*/ 619125 h 1435"/>
              <a:gd name="T12" fmla="*/ 2885738 w 4636"/>
              <a:gd name="T13" fmla="*/ 488315 h 1435"/>
              <a:gd name="T14" fmla="*/ 2698988 w 4636"/>
              <a:gd name="T15" fmla="*/ 176530 h 1435"/>
              <a:gd name="T16" fmla="*/ 1411426 w 4636"/>
              <a:gd name="T17" fmla="*/ 48260 h 1435"/>
              <a:gd name="T18" fmla="*/ 215335 w 4636"/>
              <a:gd name="T19" fmla="*/ 9525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636"/>
              <a:gd name="T31" fmla="*/ 0 h 1435"/>
              <a:gd name="T32" fmla="*/ 4636 w 4636"/>
              <a:gd name="T33" fmla="*/ 1435 h 14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18434" name="Object 119"/>
          <p:cNvGraphicFramePr>
            <a:graphicFrameLocks noChangeAspect="1"/>
          </p:cNvGraphicFramePr>
          <p:nvPr/>
        </p:nvGraphicFramePr>
        <p:xfrm>
          <a:off x="4392613" y="5178425"/>
          <a:ext cx="415925" cy="317500"/>
        </p:xfrm>
        <a:graphic>
          <a:graphicData uri="http://schemas.openxmlformats.org/presentationml/2006/ole">
            <p:oleObj spid="_x0000_s18434" r:id="rId6" imgW="1305000" imgH="1085760" progId="">
              <p:embed/>
            </p:oleObj>
          </a:graphicData>
        </a:graphic>
      </p:graphicFrame>
      <p:sp>
        <p:nvSpPr>
          <p:cNvPr id="18452" name="Text Box 120"/>
          <p:cNvSpPr txBox="1">
            <a:spLocks noChangeArrowheads="1"/>
          </p:cNvSpPr>
          <p:nvPr/>
        </p:nvSpPr>
        <p:spPr bwMode="auto">
          <a:xfrm>
            <a:off x="473075" y="2852738"/>
            <a:ext cx="1887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home</a:t>
            </a:r>
          </a:p>
          <a:p>
            <a:pPr algn="l" eaLnBrk="0" hangingPunct="0"/>
            <a:r>
              <a:rPr lang="en-US" b="0">
                <a:latin typeface="Comic Sans MS" pitchFamily="66" charset="0"/>
              </a:rPr>
              <a:t>network</a:t>
            </a:r>
          </a:p>
        </p:txBody>
      </p:sp>
      <p:sp>
        <p:nvSpPr>
          <p:cNvPr id="18453" name="Text Box 121"/>
          <p:cNvSpPr txBox="1">
            <a:spLocks noChangeArrowheads="1"/>
          </p:cNvSpPr>
          <p:nvPr/>
        </p:nvSpPr>
        <p:spPr bwMode="auto">
          <a:xfrm>
            <a:off x="7874000" y="2174875"/>
            <a:ext cx="1270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visited</a:t>
            </a:r>
          </a:p>
          <a:p>
            <a:pPr algn="l" eaLnBrk="0" hangingPunct="0"/>
            <a:r>
              <a:rPr lang="en-US" b="0">
                <a:latin typeface="Comic Sans MS" pitchFamily="66" charset="0"/>
              </a:rPr>
              <a:t>network</a:t>
            </a:r>
          </a:p>
        </p:txBody>
      </p:sp>
      <p:grpSp>
        <p:nvGrpSpPr>
          <p:cNvPr id="13" name="Group 122"/>
          <p:cNvGrpSpPr>
            <a:grpSpLocks/>
          </p:cNvGrpSpPr>
          <p:nvPr/>
        </p:nvGrpSpPr>
        <p:grpSpPr bwMode="auto">
          <a:xfrm>
            <a:off x="7119938" y="3325813"/>
            <a:ext cx="492125" cy="366712"/>
            <a:chOff x="4485" y="2095"/>
            <a:chExt cx="310" cy="231"/>
          </a:xfrm>
        </p:grpSpPr>
        <p:sp>
          <p:nvSpPr>
            <p:cNvPr id="18482" name="Line 123"/>
            <p:cNvSpPr>
              <a:spLocks noChangeShapeType="1"/>
            </p:cNvSpPr>
            <p:nvPr/>
          </p:nvSpPr>
          <p:spPr bwMode="auto">
            <a:xfrm flipV="1">
              <a:off x="4485" y="2106"/>
              <a:ext cx="310" cy="21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8483" name="Group 124"/>
            <p:cNvGrpSpPr>
              <a:grpSpLocks/>
            </p:cNvGrpSpPr>
            <p:nvPr/>
          </p:nvGrpSpPr>
          <p:grpSpPr bwMode="auto">
            <a:xfrm>
              <a:off x="4530" y="2095"/>
              <a:ext cx="214" cy="231"/>
              <a:chOff x="618" y="3500"/>
              <a:chExt cx="214" cy="231"/>
            </a:xfrm>
          </p:grpSpPr>
          <p:sp>
            <p:nvSpPr>
              <p:cNvPr id="18484" name="Oval 125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85" name="Text Box 126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3</a:t>
                </a:r>
              </a:p>
            </p:txBody>
          </p:sp>
        </p:grpSp>
      </p:grpSp>
      <p:grpSp>
        <p:nvGrpSpPr>
          <p:cNvPr id="15" name="Group 127"/>
          <p:cNvGrpSpPr>
            <a:grpSpLocks/>
          </p:cNvGrpSpPr>
          <p:nvPr/>
        </p:nvGrpSpPr>
        <p:grpSpPr bwMode="auto">
          <a:xfrm>
            <a:off x="3181350" y="3838575"/>
            <a:ext cx="3486150" cy="638175"/>
            <a:chOff x="2004" y="2418"/>
            <a:chExt cx="2196" cy="402"/>
          </a:xfrm>
        </p:grpSpPr>
        <p:sp>
          <p:nvSpPr>
            <p:cNvPr id="18478" name="Freeform 128"/>
            <p:cNvSpPr>
              <a:spLocks/>
            </p:cNvSpPr>
            <p:nvPr/>
          </p:nvSpPr>
          <p:spPr bwMode="auto">
            <a:xfrm>
              <a:off x="2004" y="2418"/>
              <a:ext cx="2196" cy="318"/>
            </a:xfrm>
            <a:custGeom>
              <a:avLst/>
              <a:gdLst>
                <a:gd name="T0" fmla="*/ 0 w 2196"/>
                <a:gd name="T1" fmla="*/ 0 h 318"/>
                <a:gd name="T2" fmla="*/ 1194 w 2196"/>
                <a:gd name="T3" fmla="*/ 306 h 318"/>
                <a:gd name="T4" fmla="*/ 2196 w 2196"/>
                <a:gd name="T5" fmla="*/ 30 h 318"/>
                <a:gd name="T6" fmla="*/ 0 60000 65536"/>
                <a:gd name="T7" fmla="*/ 0 60000 65536"/>
                <a:gd name="T8" fmla="*/ 0 60000 65536"/>
                <a:gd name="T9" fmla="*/ 0 w 2196"/>
                <a:gd name="T10" fmla="*/ 0 h 318"/>
                <a:gd name="T11" fmla="*/ 2196 w 2196"/>
                <a:gd name="T12" fmla="*/ 318 h 3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6" h="318">
                  <a:moveTo>
                    <a:pt x="0" y="0"/>
                  </a:moveTo>
                  <a:cubicBezTo>
                    <a:pt x="199" y="51"/>
                    <a:pt x="828" y="301"/>
                    <a:pt x="1194" y="306"/>
                  </a:cubicBezTo>
                  <a:cubicBezTo>
                    <a:pt x="1536" y="318"/>
                    <a:pt x="1987" y="88"/>
                    <a:pt x="2196" y="3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8479" name="Group 129"/>
            <p:cNvGrpSpPr>
              <a:grpSpLocks/>
            </p:cNvGrpSpPr>
            <p:nvPr/>
          </p:nvGrpSpPr>
          <p:grpSpPr bwMode="auto">
            <a:xfrm>
              <a:off x="3083" y="2589"/>
              <a:ext cx="214" cy="231"/>
              <a:chOff x="618" y="3500"/>
              <a:chExt cx="214" cy="231"/>
            </a:xfrm>
          </p:grpSpPr>
          <p:sp>
            <p:nvSpPr>
              <p:cNvPr id="18480" name="Oval 130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81" name="Text Box 131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2</a:t>
                </a:r>
              </a:p>
            </p:txBody>
          </p:sp>
        </p:grpSp>
      </p:grpSp>
      <p:grpSp>
        <p:nvGrpSpPr>
          <p:cNvPr id="17" name="Group 132"/>
          <p:cNvGrpSpPr>
            <a:grpSpLocks/>
          </p:cNvGrpSpPr>
          <p:nvPr/>
        </p:nvGrpSpPr>
        <p:grpSpPr bwMode="auto">
          <a:xfrm>
            <a:off x="4826000" y="3424238"/>
            <a:ext cx="3103563" cy="2016125"/>
            <a:chOff x="3040" y="2157"/>
            <a:chExt cx="1955" cy="1270"/>
          </a:xfrm>
        </p:grpSpPr>
        <p:sp>
          <p:nvSpPr>
            <p:cNvPr id="18474" name="Freeform 133"/>
            <p:cNvSpPr>
              <a:spLocks/>
            </p:cNvSpPr>
            <p:nvPr/>
          </p:nvSpPr>
          <p:spPr bwMode="auto">
            <a:xfrm>
              <a:off x="3040" y="2157"/>
              <a:ext cx="1955" cy="1270"/>
            </a:xfrm>
            <a:custGeom>
              <a:avLst/>
              <a:gdLst>
                <a:gd name="T0" fmla="*/ 1955 w 1955"/>
                <a:gd name="T1" fmla="*/ 0 h 1270"/>
                <a:gd name="T2" fmla="*/ 1077 w 1955"/>
                <a:gd name="T3" fmla="*/ 765 h 1270"/>
                <a:gd name="T4" fmla="*/ 0 w 1955"/>
                <a:gd name="T5" fmla="*/ 1270 h 1270"/>
                <a:gd name="T6" fmla="*/ 0 60000 65536"/>
                <a:gd name="T7" fmla="*/ 0 60000 65536"/>
                <a:gd name="T8" fmla="*/ 0 60000 65536"/>
                <a:gd name="T9" fmla="*/ 0 w 1955"/>
                <a:gd name="T10" fmla="*/ 0 h 1270"/>
                <a:gd name="T11" fmla="*/ 1955 w 1955"/>
                <a:gd name="T12" fmla="*/ 1270 h 12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5" h="1270">
                  <a:moveTo>
                    <a:pt x="1955" y="0"/>
                  </a:moveTo>
                  <a:cubicBezTo>
                    <a:pt x="1809" y="127"/>
                    <a:pt x="1425" y="536"/>
                    <a:pt x="1077" y="765"/>
                  </a:cubicBezTo>
                  <a:cubicBezTo>
                    <a:pt x="729" y="994"/>
                    <a:pt x="224" y="1165"/>
                    <a:pt x="0" y="1270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8475" name="Group 134"/>
            <p:cNvGrpSpPr>
              <a:grpSpLocks/>
            </p:cNvGrpSpPr>
            <p:nvPr/>
          </p:nvGrpSpPr>
          <p:grpSpPr bwMode="auto">
            <a:xfrm>
              <a:off x="3982" y="2835"/>
              <a:ext cx="214" cy="231"/>
              <a:chOff x="618" y="3500"/>
              <a:chExt cx="214" cy="231"/>
            </a:xfrm>
          </p:grpSpPr>
          <p:sp>
            <p:nvSpPr>
              <p:cNvPr id="18476" name="Oval 135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7" name="Text Box 136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20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4</a:t>
                </a:r>
              </a:p>
            </p:txBody>
          </p:sp>
        </p:grpSp>
      </p:grpSp>
      <p:grpSp>
        <p:nvGrpSpPr>
          <p:cNvPr id="19" name="Group 137"/>
          <p:cNvGrpSpPr>
            <a:grpSpLocks/>
          </p:cNvGrpSpPr>
          <p:nvPr/>
        </p:nvGrpSpPr>
        <p:grpSpPr bwMode="auto">
          <a:xfrm>
            <a:off x="2986088" y="3889375"/>
            <a:ext cx="1357312" cy="1298575"/>
            <a:chOff x="1881" y="2450"/>
            <a:chExt cx="855" cy="818"/>
          </a:xfrm>
        </p:grpSpPr>
        <p:sp>
          <p:nvSpPr>
            <p:cNvPr id="18470" name="Line 138"/>
            <p:cNvSpPr>
              <a:spLocks noChangeShapeType="1"/>
            </p:cNvSpPr>
            <p:nvPr/>
          </p:nvSpPr>
          <p:spPr bwMode="auto">
            <a:xfrm flipH="1" flipV="1">
              <a:off x="1881" y="2450"/>
              <a:ext cx="855" cy="81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 wrap="none"/>
            <a:lstStyle/>
            <a:p>
              <a:endParaRPr lang="en-US"/>
            </a:p>
          </p:txBody>
        </p:sp>
        <p:grpSp>
          <p:nvGrpSpPr>
            <p:cNvPr id="18471" name="Group 139"/>
            <p:cNvGrpSpPr>
              <a:grpSpLocks/>
            </p:cNvGrpSpPr>
            <p:nvPr/>
          </p:nvGrpSpPr>
          <p:grpSpPr bwMode="auto">
            <a:xfrm>
              <a:off x="2172" y="2702"/>
              <a:ext cx="202" cy="231"/>
              <a:chOff x="618" y="3500"/>
              <a:chExt cx="202" cy="231"/>
            </a:xfrm>
          </p:grpSpPr>
          <p:sp>
            <p:nvSpPr>
              <p:cNvPr id="18472" name="Oval 140"/>
              <p:cNvSpPr>
                <a:spLocks noChangeArrowheads="1"/>
              </p:cNvSpPr>
              <p:nvPr/>
            </p:nvSpPr>
            <p:spPr bwMode="auto">
              <a:xfrm>
                <a:off x="618" y="3520"/>
                <a:ext cx="202" cy="201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473" name="Text Box 141"/>
              <p:cNvSpPr txBox="1">
                <a:spLocks noChangeArrowheads="1"/>
              </p:cNvSpPr>
              <p:nvPr/>
            </p:nvSpPr>
            <p:spPr bwMode="auto">
              <a:xfrm>
                <a:off x="628" y="3500"/>
                <a:ext cx="181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l" eaLnBrk="0" hangingPunct="0"/>
                <a:r>
                  <a:rPr lang="en-US" sz="1800" b="0">
                    <a:solidFill>
                      <a:srgbClr val="FF0000"/>
                    </a:solidFill>
                    <a:latin typeface="Comic Sans MS" pitchFamily="66" charset="0"/>
                  </a:rPr>
                  <a:t>1</a:t>
                </a:r>
              </a:p>
            </p:txBody>
          </p:sp>
        </p:grpSp>
      </p:grpSp>
      <p:grpSp>
        <p:nvGrpSpPr>
          <p:cNvPr id="21" name="Group 142"/>
          <p:cNvGrpSpPr>
            <a:grpSpLocks/>
          </p:cNvGrpSpPr>
          <p:nvPr/>
        </p:nvGrpSpPr>
        <p:grpSpPr bwMode="auto">
          <a:xfrm>
            <a:off x="908050" y="4598988"/>
            <a:ext cx="2535238" cy="1198562"/>
            <a:chOff x="572" y="2897"/>
            <a:chExt cx="1597" cy="755"/>
          </a:xfrm>
        </p:grpSpPr>
        <p:sp>
          <p:nvSpPr>
            <p:cNvPr id="18468" name="Text Box 143"/>
            <p:cNvSpPr txBox="1">
              <a:spLocks noChangeArrowheads="1"/>
            </p:cNvSpPr>
            <p:nvPr/>
          </p:nvSpPr>
          <p:spPr bwMode="auto">
            <a:xfrm>
              <a:off x="572" y="2902"/>
              <a:ext cx="1597" cy="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correspondent addresses packets using home address of mobile</a:t>
              </a:r>
            </a:p>
          </p:txBody>
        </p:sp>
        <p:sp>
          <p:nvSpPr>
            <p:cNvPr id="18469" name="Line 144"/>
            <p:cNvSpPr>
              <a:spLocks noChangeShapeType="1"/>
            </p:cNvSpPr>
            <p:nvPr/>
          </p:nvSpPr>
          <p:spPr bwMode="auto">
            <a:xfrm flipV="1">
              <a:off x="1703" y="2897"/>
              <a:ext cx="465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2" name="Group 145"/>
          <p:cNvGrpSpPr>
            <a:grpSpLocks/>
          </p:cNvGrpSpPr>
          <p:nvPr/>
        </p:nvGrpSpPr>
        <p:grpSpPr bwMode="auto">
          <a:xfrm>
            <a:off x="2506663" y="1882775"/>
            <a:ext cx="2794000" cy="2168525"/>
            <a:chOff x="1579" y="1186"/>
            <a:chExt cx="1760" cy="1366"/>
          </a:xfrm>
        </p:grpSpPr>
        <p:sp>
          <p:nvSpPr>
            <p:cNvPr id="18466" name="Text Box 146"/>
            <p:cNvSpPr txBox="1">
              <a:spLocks noChangeArrowheads="1"/>
            </p:cNvSpPr>
            <p:nvPr/>
          </p:nvSpPr>
          <p:spPr bwMode="auto">
            <a:xfrm>
              <a:off x="1579" y="1186"/>
              <a:ext cx="1760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home agent intercepts packets, forwards to foreign agent</a:t>
              </a:r>
            </a:p>
          </p:txBody>
        </p:sp>
        <p:sp>
          <p:nvSpPr>
            <p:cNvPr id="18467" name="Line 147"/>
            <p:cNvSpPr>
              <a:spLocks noChangeShapeType="1"/>
            </p:cNvSpPr>
            <p:nvPr/>
          </p:nvSpPr>
          <p:spPr bwMode="auto">
            <a:xfrm>
              <a:off x="2652" y="1698"/>
              <a:ext cx="466" cy="8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3" name="Group 148"/>
          <p:cNvGrpSpPr>
            <a:grpSpLocks/>
          </p:cNvGrpSpPr>
          <p:nvPr/>
        </p:nvGrpSpPr>
        <p:grpSpPr bwMode="auto">
          <a:xfrm>
            <a:off x="5432425" y="1387475"/>
            <a:ext cx="2338388" cy="1924050"/>
            <a:chOff x="3422" y="874"/>
            <a:chExt cx="1473" cy="1212"/>
          </a:xfrm>
        </p:grpSpPr>
        <p:sp>
          <p:nvSpPr>
            <p:cNvPr id="18464" name="Text Box 149"/>
            <p:cNvSpPr txBox="1">
              <a:spLocks noChangeArrowheads="1"/>
            </p:cNvSpPr>
            <p:nvPr/>
          </p:nvSpPr>
          <p:spPr bwMode="auto">
            <a:xfrm>
              <a:off x="3422" y="874"/>
              <a:ext cx="1473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foreign agent receives packets, forwards to mobile</a:t>
              </a:r>
            </a:p>
          </p:txBody>
        </p:sp>
        <p:sp>
          <p:nvSpPr>
            <p:cNvPr id="18465" name="Line 150"/>
            <p:cNvSpPr>
              <a:spLocks noChangeShapeType="1"/>
            </p:cNvSpPr>
            <p:nvPr/>
          </p:nvSpPr>
          <p:spPr bwMode="auto">
            <a:xfrm>
              <a:off x="4211" y="1420"/>
              <a:ext cx="377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4" name="Group 151"/>
          <p:cNvGrpSpPr>
            <a:grpSpLocks/>
          </p:cNvGrpSpPr>
          <p:nvPr/>
        </p:nvGrpSpPr>
        <p:grpSpPr bwMode="auto">
          <a:xfrm>
            <a:off x="6653213" y="4776788"/>
            <a:ext cx="2247900" cy="1165225"/>
            <a:chOff x="4191" y="3009"/>
            <a:chExt cx="1416" cy="734"/>
          </a:xfrm>
        </p:grpSpPr>
        <p:sp>
          <p:nvSpPr>
            <p:cNvPr id="18462" name="Text Box 152"/>
            <p:cNvSpPr txBox="1">
              <a:spLocks noChangeArrowheads="1"/>
            </p:cNvSpPr>
            <p:nvPr/>
          </p:nvSpPr>
          <p:spPr bwMode="auto">
            <a:xfrm>
              <a:off x="4332" y="3166"/>
              <a:ext cx="1275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mobile replies directly to correspondent</a:t>
              </a:r>
            </a:p>
          </p:txBody>
        </p:sp>
        <p:sp>
          <p:nvSpPr>
            <p:cNvPr id="18463" name="Line 153"/>
            <p:cNvSpPr>
              <a:spLocks noChangeShapeType="1"/>
            </p:cNvSpPr>
            <p:nvPr/>
          </p:nvSpPr>
          <p:spPr bwMode="auto">
            <a:xfrm flipH="1" flipV="1">
              <a:off x="4191" y="3009"/>
              <a:ext cx="248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C14666B-9E51-4E92-A41E-B931E26626F0}" type="slidenum">
              <a:rPr lang="en-US" smtClean="0"/>
              <a:pPr>
                <a:defRPr/>
              </a:pPr>
              <a:t>47</a:t>
            </a:fld>
            <a:endParaRPr lang="en-US" smtClean="0"/>
          </a:p>
        </p:txBody>
      </p:sp>
      <p:sp>
        <p:nvSpPr>
          <p:cNvPr id="19462" name="Rectangle 14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Indirect Routing: Efficiency Issues</a:t>
            </a:r>
          </a:p>
        </p:txBody>
      </p:sp>
      <p:sp>
        <p:nvSpPr>
          <p:cNvPr id="19463" name="Rectangle 14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Mobile uses two addresses</a:t>
            </a:r>
          </a:p>
          <a:p>
            <a:pPr lvl="1"/>
            <a:r>
              <a:rPr lang="en-US" smtClean="0"/>
              <a:t>Permanent address: used by correspondent (making mobile’s location is transparent to correspondent)</a:t>
            </a:r>
          </a:p>
          <a:p>
            <a:pPr lvl="1"/>
            <a:r>
              <a:rPr lang="en-US" smtClean="0"/>
              <a:t>Care-of-address: used by the home agent to forward datagrams to the mobile</a:t>
            </a:r>
          </a:p>
          <a:p>
            <a:r>
              <a:rPr lang="en-US" smtClean="0"/>
              <a:t>Mobile may perform the foreign agent functions </a:t>
            </a:r>
          </a:p>
          <a:p>
            <a:r>
              <a:rPr lang="en-US" smtClean="0"/>
              <a:t>Triangle routing is inefficient</a:t>
            </a:r>
          </a:p>
          <a:p>
            <a:pPr lvl="1"/>
            <a:r>
              <a:rPr lang="en-US" smtClean="0"/>
              <a:t>E.g., correspondent and mobile in the same network</a:t>
            </a:r>
          </a:p>
        </p:txBody>
      </p:sp>
      <p:grpSp>
        <p:nvGrpSpPr>
          <p:cNvPr id="19464" name="Group 4"/>
          <p:cNvGrpSpPr>
            <a:grpSpLocks/>
          </p:cNvGrpSpPr>
          <p:nvPr/>
        </p:nvGrpSpPr>
        <p:grpSpPr bwMode="auto">
          <a:xfrm>
            <a:off x="2882900" y="5041900"/>
            <a:ext cx="3154363" cy="1449388"/>
            <a:chOff x="958" y="1566"/>
            <a:chExt cx="4242" cy="2155"/>
          </a:xfrm>
        </p:grpSpPr>
        <p:sp>
          <p:nvSpPr>
            <p:cNvPr id="19465" name="Freeform 5"/>
            <p:cNvSpPr>
              <a:spLocks/>
            </p:cNvSpPr>
            <p:nvPr/>
          </p:nvSpPr>
          <p:spPr bwMode="auto">
            <a:xfrm>
              <a:off x="1016" y="1648"/>
              <a:ext cx="1176" cy="1001"/>
            </a:xfrm>
            <a:custGeom>
              <a:avLst/>
              <a:gdLst>
                <a:gd name="T0" fmla="*/ 483 w 1340"/>
                <a:gd name="T1" fmla="*/ 35 h 1191"/>
                <a:gd name="T2" fmla="*/ 72 w 1340"/>
                <a:gd name="T3" fmla="*/ 50 h 1191"/>
                <a:gd name="T4" fmla="*/ 51 w 1340"/>
                <a:gd name="T5" fmla="*/ 338 h 1191"/>
                <a:gd name="T6" fmla="*/ 25 w 1340"/>
                <a:gd name="T7" fmla="*/ 605 h 1191"/>
                <a:gd name="T8" fmla="*/ 98 w 1340"/>
                <a:gd name="T9" fmla="*/ 731 h 1191"/>
                <a:gd name="T10" fmla="*/ 472 w 1340"/>
                <a:gd name="T11" fmla="*/ 736 h 1191"/>
                <a:gd name="T12" fmla="*/ 562 w 1340"/>
                <a:gd name="T13" fmla="*/ 948 h 1191"/>
                <a:gd name="T14" fmla="*/ 1083 w 1340"/>
                <a:gd name="T15" fmla="*/ 923 h 1191"/>
                <a:gd name="T16" fmla="*/ 1120 w 1340"/>
                <a:gd name="T17" fmla="*/ 479 h 1191"/>
                <a:gd name="T18" fmla="*/ 1057 w 1340"/>
                <a:gd name="T19" fmla="*/ 287 h 1191"/>
                <a:gd name="T20" fmla="*/ 667 w 1340"/>
                <a:gd name="T21" fmla="*/ 242 h 1191"/>
                <a:gd name="T22" fmla="*/ 483 w 1340"/>
                <a:gd name="T23" fmla="*/ 35 h 119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340"/>
                <a:gd name="T37" fmla="*/ 0 h 1191"/>
                <a:gd name="T38" fmla="*/ 1340 w 1340"/>
                <a:gd name="T39" fmla="*/ 1191 h 119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340" h="1191">
                  <a:moveTo>
                    <a:pt x="550" y="42"/>
                  </a:moveTo>
                  <a:cubicBezTo>
                    <a:pt x="437" y="4"/>
                    <a:pt x="164" y="0"/>
                    <a:pt x="82" y="60"/>
                  </a:cubicBezTo>
                  <a:cubicBezTo>
                    <a:pt x="0" y="120"/>
                    <a:pt x="67" y="292"/>
                    <a:pt x="58" y="402"/>
                  </a:cubicBezTo>
                  <a:cubicBezTo>
                    <a:pt x="49" y="512"/>
                    <a:pt x="19" y="642"/>
                    <a:pt x="28" y="720"/>
                  </a:cubicBezTo>
                  <a:cubicBezTo>
                    <a:pt x="37" y="798"/>
                    <a:pt x="27" y="844"/>
                    <a:pt x="112" y="870"/>
                  </a:cubicBezTo>
                  <a:cubicBezTo>
                    <a:pt x="197" y="896"/>
                    <a:pt x="450" y="833"/>
                    <a:pt x="538" y="876"/>
                  </a:cubicBezTo>
                  <a:cubicBezTo>
                    <a:pt x="626" y="919"/>
                    <a:pt x="524" y="1091"/>
                    <a:pt x="640" y="1128"/>
                  </a:cubicBezTo>
                  <a:cubicBezTo>
                    <a:pt x="756" y="1165"/>
                    <a:pt x="1128" y="1191"/>
                    <a:pt x="1234" y="1098"/>
                  </a:cubicBezTo>
                  <a:cubicBezTo>
                    <a:pt x="1340" y="1005"/>
                    <a:pt x="1281" y="696"/>
                    <a:pt x="1276" y="570"/>
                  </a:cubicBezTo>
                  <a:cubicBezTo>
                    <a:pt x="1271" y="444"/>
                    <a:pt x="1290" y="389"/>
                    <a:pt x="1204" y="342"/>
                  </a:cubicBezTo>
                  <a:cubicBezTo>
                    <a:pt x="1118" y="295"/>
                    <a:pt x="868" y="338"/>
                    <a:pt x="760" y="288"/>
                  </a:cubicBezTo>
                  <a:cubicBezTo>
                    <a:pt x="652" y="238"/>
                    <a:pt x="663" y="80"/>
                    <a:pt x="550" y="42"/>
                  </a:cubicBezTo>
                  <a:close/>
                </a:path>
              </a:pathLst>
            </a:cu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66" name="Group 6"/>
            <p:cNvGrpSpPr>
              <a:grpSpLocks/>
            </p:cNvGrpSpPr>
            <p:nvPr/>
          </p:nvGrpSpPr>
          <p:grpSpPr bwMode="auto">
            <a:xfrm>
              <a:off x="1681" y="2274"/>
              <a:ext cx="316" cy="147"/>
              <a:chOff x="3600" y="219"/>
              <a:chExt cx="360" cy="175"/>
            </a:xfrm>
          </p:grpSpPr>
          <p:sp>
            <p:nvSpPr>
              <p:cNvPr id="19585" name="Oval 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86" name="Line 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87" name="Line 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88" name="Rectangle 10"/>
              <p:cNvSpPr>
                <a:spLocks noChangeArrowheads="1"/>
              </p:cNvSpPr>
              <p:nvPr/>
            </p:nvSpPr>
            <p:spPr bwMode="auto">
              <a:xfrm>
                <a:off x="3603" y="284"/>
                <a:ext cx="231" cy="69"/>
              </a:xfrm>
              <a:prstGeom prst="rect">
                <a:avLst/>
              </a:prstGeom>
              <a:solidFill>
                <a:srgbClr val="CC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 sz="1800" b="0">
                  <a:latin typeface="Comic Sans MS" pitchFamily="66" charset="0"/>
                </a:endParaRPr>
              </a:p>
            </p:txBody>
          </p:sp>
          <p:sp>
            <p:nvSpPr>
              <p:cNvPr id="19589" name="Oval 1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590" name="Group 1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959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96" name="Line 1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97" name="Line 1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591" name="Group 1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9592" name="Line 1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93" name="Line 1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94" name="Line 1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grpSp>
          <p:nvGrpSpPr>
            <p:cNvPr id="19467" name="Group 20"/>
            <p:cNvGrpSpPr>
              <a:grpSpLocks/>
            </p:cNvGrpSpPr>
            <p:nvPr/>
          </p:nvGrpSpPr>
          <p:grpSpPr bwMode="auto">
            <a:xfrm>
              <a:off x="1116" y="2056"/>
              <a:ext cx="840" cy="216"/>
              <a:chOff x="8025" y="5070"/>
              <a:chExt cx="2100" cy="540"/>
            </a:xfrm>
          </p:grpSpPr>
          <p:sp>
            <p:nvSpPr>
              <p:cNvPr id="19582" name="Line 21"/>
              <p:cNvSpPr>
                <a:spLocks noChangeShapeType="1"/>
              </p:cNvSpPr>
              <p:nvPr/>
            </p:nvSpPr>
            <p:spPr bwMode="auto">
              <a:xfrm>
                <a:off x="8025" y="5325"/>
                <a:ext cx="21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3" name="Line 22"/>
              <p:cNvSpPr>
                <a:spLocks noChangeShapeType="1"/>
              </p:cNvSpPr>
              <p:nvPr/>
            </p:nvSpPr>
            <p:spPr bwMode="auto">
              <a:xfrm>
                <a:off x="8355" y="5070"/>
                <a:ext cx="0" cy="2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584" name="Line 23"/>
              <p:cNvSpPr>
                <a:spLocks noChangeShapeType="1"/>
              </p:cNvSpPr>
              <p:nvPr/>
            </p:nvSpPr>
            <p:spPr bwMode="auto">
              <a:xfrm>
                <a:off x="9765" y="5340"/>
                <a:ext cx="0" cy="27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9468" name="Group 24"/>
            <p:cNvGrpSpPr>
              <a:grpSpLocks/>
            </p:cNvGrpSpPr>
            <p:nvPr/>
          </p:nvGrpSpPr>
          <p:grpSpPr bwMode="auto">
            <a:xfrm>
              <a:off x="958" y="1778"/>
              <a:ext cx="576" cy="372"/>
              <a:chOff x="10665" y="3225"/>
              <a:chExt cx="1440" cy="930"/>
            </a:xfrm>
          </p:grpSpPr>
          <p:sp>
            <p:nvSpPr>
              <p:cNvPr id="19512" name="Oval 25"/>
              <p:cNvSpPr>
                <a:spLocks noChangeArrowheads="1"/>
              </p:cNvSpPr>
              <p:nvPr/>
            </p:nvSpPr>
            <p:spPr bwMode="auto">
              <a:xfrm>
                <a:off x="10665" y="3225"/>
                <a:ext cx="1440" cy="930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513" name="Group 26"/>
              <p:cNvGrpSpPr>
                <a:grpSpLocks/>
              </p:cNvGrpSpPr>
              <p:nvPr/>
            </p:nvGrpSpPr>
            <p:grpSpPr bwMode="auto">
              <a:xfrm>
                <a:off x="11038" y="3281"/>
                <a:ext cx="618" cy="667"/>
                <a:chOff x="8023" y="4451"/>
                <a:chExt cx="618" cy="667"/>
              </a:xfrm>
            </p:grpSpPr>
            <p:sp>
              <p:nvSpPr>
                <p:cNvPr id="19514" name="Freeform 27"/>
                <p:cNvSpPr>
                  <a:spLocks/>
                </p:cNvSpPr>
                <p:nvPr/>
              </p:nvSpPr>
              <p:spPr bwMode="auto">
                <a:xfrm>
                  <a:off x="8279" y="4653"/>
                  <a:ext cx="263" cy="380"/>
                </a:xfrm>
                <a:custGeom>
                  <a:avLst/>
                  <a:gdLst>
                    <a:gd name="T0" fmla="*/ 99 w 788"/>
                    <a:gd name="T1" fmla="*/ 0 h 1138"/>
                    <a:gd name="T2" fmla="*/ 88 w 788"/>
                    <a:gd name="T3" fmla="*/ 0 h 1138"/>
                    <a:gd name="T4" fmla="*/ 73 w 788"/>
                    <a:gd name="T5" fmla="*/ 1 h 1138"/>
                    <a:gd name="T6" fmla="*/ 56 w 788"/>
                    <a:gd name="T7" fmla="*/ 4 h 1138"/>
                    <a:gd name="T8" fmla="*/ 39 w 788"/>
                    <a:gd name="T9" fmla="*/ 8 h 1138"/>
                    <a:gd name="T10" fmla="*/ 22 w 788"/>
                    <a:gd name="T11" fmla="*/ 15 h 1138"/>
                    <a:gd name="T12" fmla="*/ 10 w 788"/>
                    <a:gd name="T13" fmla="*/ 24 h 1138"/>
                    <a:gd name="T14" fmla="*/ 2 w 788"/>
                    <a:gd name="T15" fmla="*/ 36 h 1138"/>
                    <a:gd name="T16" fmla="*/ 0 w 788"/>
                    <a:gd name="T17" fmla="*/ 46 h 1138"/>
                    <a:gd name="T18" fmla="*/ 1 w 788"/>
                    <a:gd name="T19" fmla="*/ 51 h 1138"/>
                    <a:gd name="T20" fmla="*/ 4 w 788"/>
                    <a:gd name="T21" fmla="*/ 66 h 1138"/>
                    <a:gd name="T22" fmla="*/ 13 w 788"/>
                    <a:gd name="T23" fmla="*/ 97 h 1138"/>
                    <a:gd name="T24" fmla="*/ 25 w 788"/>
                    <a:gd name="T25" fmla="*/ 137 h 1138"/>
                    <a:gd name="T26" fmla="*/ 41 w 788"/>
                    <a:gd name="T27" fmla="*/ 181 h 1138"/>
                    <a:gd name="T28" fmla="*/ 59 w 788"/>
                    <a:gd name="T29" fmla="*/ 228 h 1138"/>
                    <a:gd name="T30" fmla="*/ 78 w 788"/>
                    <a:gd name="T31" fmla="*/ 274 h 1138"/>
                    <a:gd name="T32" fmla="*/ 98 w 788"/>
                    <a:gd name="T33" fmla="*/ 317 h 1138"/>
                    <a:gd name="T34" fmla="*/ 117 w 788"/>
                    <a:gd name="T35" fmla="*/ 352 h 1138"/>
                    <a:gd name="T36" fmla="*/ 130 w 788"/>
                    <a:gd name="T37" fmla="*/ 370 h 1138"/>
                    <a:gd name="T38" fmla="*/ 136 w 788"/>
                    <a:gd name="T39" fmla="*/ 377 h 1138"/>
                    <a:gd name="T40" fmla="*/ 146 w 788"/>
                    <a:gd name="T41" fmla="*/ 377 h 1138"/>
                    <a:gd name="T42" fmla="*/ 163 w 788"/>
                    <a:gd name="T43" fmla="*/ 371 h 1138"/>
                    <a:gd name="T44" fmla="*/ 183 w 788"/>
                    <a:gd name="T45" fmla="*/ 363 h 1138"/>
                    <a:gd name="T46" fmla="*/ 203 w 788"/>
                    <a:gd name="T47" fmla="*/ 355 h 1138"/>
                    <a:gd name="T48" fmla="*/ 223 w 788"/>
                    <a:gd name="T49" fmla="*/ 346 h 1138"/>
                    <a:gd name="T50" fmla="*/ 241 w 788"/>
                    <a:gd name="T51" fmla="*/ 338 h 1138"/>
                    <a:gd name="T52" fmla="*/ 254 w 788"/>
                    <a:gd name="T53" fmla="*/ 330 h 1138"/>
                    <a:gd name="T54" fmla="*/ 262 w 788"/>
                    <a:gd name="T55" fmla="*/ 323 h 1138"/>
                    <a:gd name="T56" fmla="*/ 252 w 788"/>
                    <a:gd name="T57" fmla="*/ 306 h 1138"/>
                    <a:gd name="T58" fmla="*/ 229 w 788"/>
                    <a:gd name="T59" fmla="*/ 271 h 1138"/>
                    <a:gd name="T60" fmla="*/ 204 w 788"/>
                    <a:gd name="T61" fmla="*/ 231 h 1138"/>
                    <a:gd name="T62" fmla="*/ 179 w 788"/>
                    <a:gd name="T63" fmla="*/ 187 h 1138"/>
                    <a:gd name="T64" fmla="*/ 156 w 788"/>
                    <a:gd name="T65" fmla="*/ 141 h 1138"/>
                    <a:gd name="T66" fmla="*/ 135 w 788"/>
                    <a:gd name="T67" fmla="*/ 96 h 1138"/>
                    <a:gd name="T68" fmla="*/ 117 w 788"/>
                    <a:gd name="T69" fmla="*/ 54 h 1138"/>
                    <a:gd name="T70" fmla="*/ 106 w 788"/>
                    <a:gd name="T71" fmla="*/ 16 h 1138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788"/>
                    <a:gd name="T109" fmla="*/ 0 h 1138"/>
                    <a:gd name="T110" fmla="*/ 788 w 788"/>
                    <a:gd name="T111" fmla="*/ 1138 h 1138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788" h="1138">
                      <a:moveTo>
                        <a:pt x="310" y="2"/>
                      </a:moveTo>
                      <a:lnTo>
                        <a:pt x="298" y="0"/>
                      </a:lnTo>
                      <a:lnTo>
                        <a:pt x="282" y="0"/>
                      </a:lnTo>
                      <a:lnTo>
                        <a:pt x="263" y="0"/>
                      </a:lnTo>
                      <a:lnTo>
                        <a:pt x="242" y="2"/>
                      </a:lnTo>
                      <a:lnTo>
                        <a:pt x="219" y="4"/>
                      </a:lnTo>
                      <a:lnTo>
                        <a:pt x="192" y="7"/>
                      </a:lnTo>
                      <a:lnTo>
                        <a:pt x="167" y="12"/>
                      </a:lnTo>
                      <a:lnTo>
                        <a:pt x="141" y="17"/>
                      </a:lnTo>
                      <a:lnTo>
                        <a:pt x="116" y="25"/>
                      </a:lnTo>
                      <a:lnTo>
                        <a:pt x="91" y="35"/>
                      </a:lnTo>
                      <a:lnTo>
                        <a:pt x="67" y="45"/>
                      </a:lnTo>
                      <a:lnTo>
                        <a:pt x="47" y="58"/>
                      </a:lnTo>
                      <a:lnTo>
                        <a:pt x="29" y="73"/>
                      </a:lnTo>
                      <a:lnTo>
                        <a:pt x="16" y="91"/>
                      </a:lnTo>
                      <a:lnTo>
                        <a:pt x="6" y="109"/>
                      </a:lnTo>
                      <a:lnTo>
                        <a:pt x="0" y="131"/>
                      </a:lnTo>
                      <a:lnTo>
                        <a:pt x="0" y="137"/>
                      </a:lnTo>
                      <a:lnTo>
                        <a:pt x="1" y="144"/>
                      </a:lnTo>
                      <a:lnTo>
                        <a:pt x="3" y="152"/>
                      </a:lnTo>
                      <a:lnTo>
                        <a:pt x="4" y="162"/>
                      </a:lnTo>
                      <a:lnTo>
                        <a:pt x="13" y="197"/>
                      </a:lnTo>
                      <a:lnTo>
                        <a:pt x="25" y="240"/>
                      </a:lnTo>
                      <a:lnTo>
                        <a:pt x="39" y="290"/>
                      </a:lnTo>
                      <a:lnTo>
                        <a:pt x="57" y="348"/>
                      </a:lnTo>
                      <a:lnTo>
                        <a:pt x="76" y="410"/>
                      </a:lnTo>
                      <a:lnTo>
                        <a:pt x="100" y="474"/>
                      </a:lnTo>
                      <a:lnTo>
                        <a:pt x="123" y="543"/>
                      </a:lnTo>
                      <a:lnTo>
                        <a:pt x="150" y="612"/>
                      </a:lnTo>
                      <a:lnTo>
                        <a:pt x="176" y="684"/>
                      </a:lnTo>
                      <a:lnTo>
                        <a:pt x="205" y="753"/>
                      </a:lnTo>
                      <a:lnTo>
                        <a:pt x="235" y="822"/>
                      </a:lnTo>
                      <a:lnTo>
                        <a:pt x="264" y="887"/>
                      </a:lnTo>
                      <a:lnTo>
                        <a:pt x="293" y="949"/>
                      </a:lnTo>
                      <a:lnTo>
                        <a:pt x="323" y="1005"/>
                      </a:lnTo>
                      <a:lnTo>
                        <a:pt x="352" y="1055"/>
                      </a:lnTo>
                      <a:lnTo>
                        <a:pt x="381" y="1098"/>
                      </a:lnTo>
                      <a:lnTo>
                        <a:pt x="389" y="1109"/>
                      </a:lnTo>
                      <a:lnTo>
                        <a:pt x="398" y="1120"/>
                      </a:lnTo>
                      <a:lnTo>
                        <a:pt x="406" y="1130"/>
                      </a:lnTo>
                      <a:lnTo>
                        <a:pt x="414" y="1138"/>
                      </a:lnTo>
                      <a:lnTo>
                        <a:pt x="436" y="1130"/>
                      </a:lnTo>
                      <a:lnTo>
                        <a:pt x="461" y="1121"/>
                      </a:lnTo>
                      <a:lnTo>
                        <a:pt x="487" y="1111"/>
                      </a:lnTo>
                      <a:lnTo>
                        <a:pt x="517" y="1099"/>
                      </a:lnTo>
                      <a:lnTo>
                        <a:pt x="547" y="1088"/>
                      </a:lnTo>
                      <a:lnTo>
                        <a:pt x="578" y="1075"/>
                      </a:lnTo>
                      <a:lnTo>
                        <a:pt x="609" y="1062"/>
                      </a:lnTo>
                      <a:lnTo>
                        <a:pt x="640" y="1049"/>
                      </a:lnTo>
                      <a:lnTo>
                        <a:pt x="669" y="1036"/>
                      </a:lnTo>
                      <a:lnTo>
                        <a:pt x="697" y="1023"/>
                      </a:lnTo>
                      <a:lnTo>
                        <a:pt x="722" y="1012"/>
                      </a:lnTo>
                      <a:lnTo>
                        <a:pt x="744" y="999"/>
                      </a:lnTo>
                      <a:lnTo>
                        <a:pt x="762" y="987"/>
                      </a:lnTo>
                      <a:lnTo>
                        <a:pt x="775" y="977"/>
                      </a:lnTo>
                      <a:lnTo>
                        <a:pt x="785" y="967"/>
                      </a:lnTo>
                      <a:lnTo>
                        <a:pt x="788" y="959"/>
                      </a:lnTo>
                      <a:lnTo>
                        <a:pt x="756" y="915"/>
                      </a:lnTo>
                      <a:lnTo>
                        <a:pt x="722" y="868"/>
                      </a:lnTo>
                      <a:lnTo>
                        <a:pt x="687" y="813"/>
                      </a:lnTo>
                      <a:lnTo>
                        <a:pt x="650" y="755"/>
                      </a:lnTo>
                      <a:lnTo>
                        <a:pt x="612" y="693"/>
                      </a:lnTo>
                      <a:lnTo>
                        <a:pt x="575" y="627"/>
                      </a:lnTo>
                      <a:lnTo>
                        <a:pt x="537" y="561"/>
                      </a:lnTo>
                      <a:lnTo>
                        <a:pt x="500" y="492"/>
                      </a:lnTo>
                      <a:lnTo>
                        <a:pt x="467" y="423"/>
                      </a:lnTo>
                      <a:lnTo>
                        <a:pt x="433" y="354"/>
                      </a:lnTo>
                      <a:lnTo>
                        <a:pt x="404" y="287"/>
                      </a:lnTo>
                      <a:lnTo>
                        <a:pt x="376" y="223"/>
                      </a:lnTo>
                      <a:lnTo>
                        <a:pt x="352" y="161"/>
                      </a:lnTo>
                      <a:lnTo>
                        <a:pt x="333" y="102"/>
                      </a:lnTo>
                      <a:lnTo>
                        <a:pt x="318" y="49"/>
                      </a:lnTo>
                      <a:lnTo>
                        <a:pt x="310" y="2"/>
                      </a:lnTo>
                      <a:close/>
                    </a:path>
                  </a:pathLst>
                </a:custGeom>
                <a:solidFill>
                  <a:srgbClr val="F4FCEA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5" name="Freeform 28"/>
                <p:cNvSpPr>
                  <a:spLocks/>
                </p:cNvSpPr>
                <p:nvPr/>
              </p:nvSpPr>
              <p:spPr bwMode="auto">
                <a:xfrm>
                  <a:off x="8264" y="4707"/>
                  <a:ext cx="142" cy="312"/>
                </a:xfrm>
                <a:custGeom>
                  <a:avLst/>
                  <a:gdLst>
                    <a:gd name="T0" fmla="*/ 16 w 425"/>
                    <a:gd name="T1" fmla="*/ 0 h 936"/>
                    <a:gd name="T2" fmla="*/ 16 w 425"/>
                    <a:gd name="T3" fmla="*/ 1 h 936"/>
                    <a:gd name="T4" fmla="*/ 16 w 425"/>
                    <a:gd name="T5" fmla="*/ 2 h 936"/>
                    <a:gd name="T6" fmla="*/ 16 w 425"/>
                    <a:gd name="T7" fmla="*/ 4 h 936"/>
                    <a:gd name="T8" fmla="*/ 15 w 425"/>
                    <a:gd name="T9" fmla="*/ 6 h 936"/>
                    <a:gd name="T10" fmla="*/ 13 w 425"/>
                    <a:gd name="T11" fmla="*/ 12 h 936"/>
                    <a:gd name="T12" fmla="*/ 11 w 425"/>
                    <a:gd name="T13" fmla="*/ 18 h 936"/>
                    <a:gd name="T14" fmla="*/ 7 w 425"/>
                    <a:gd name="T15" fmla="*/ 27 h 936"/>
                    <a:gd name="T16" fmla="*/ 2 w 425"/>
                    <a:gd name="T17" fmla="*/ 39 h 936"/>
                    <a:gd name="T18" fmla="*/ 0 w 425"/>
                    <a:gd name="T19" fmla="*/ 47 h 936"/>
                    <a:gd name="T20" fmla="*/ 0 w 425"/>
                    <a:gd name="T21" fmla="*/ 59 h 936"/>
                    <a:gd name="T22" fmla="*/ 1 w 425"/>
                    <a:gd name="T23" fmla="*/ 73 h 936"/>
                    <a:gd name="T24" fmla="*/ 4 w 425"/>
                    <a:gd name="T25" fmla="*/ 90 h 936"/>
                    <a:gd name="T26" fmla="*/ 9 w 425"/>
                    <a:gd name="T27" fmla="*/ 108 h 936"/>
                    <a:gd name="T28" fmla="*/ 14 w 425"/>
                    <a:gd name="T29" fmla="*/ 129 h 936"/>
                    <a:gd name="T30" fmla="*/ 19 w 425"/>
                    <a:gd name="T31" fmla="*/ 149 h 936"/>
                    <a:gd name="T32" fmla="*/ 26 w 425"/>
                    <a:gd name="T33" fmla="*/ 170 h 936"/>
                    <a:gd name="T34" fmla="*/ 33 w 425"/>
                    <a:gd name="T35" fmla="*/ 190 h 936"/>
                    <a:gd name="T36" fmla="*/ 40 w 425"/>
                    <a:gd name="T37" fmla="*/ 209 h 936"/>
                    <a:gd name="T38" fmla="*/ 46 w 425"/>
                    <a:gd name="T39" fmla="*/ 228 h 936"/>
                    <a:gd name="T40" fmla="*/ 52 w 425"/>
                    <a:gd name="T41" fmla="*/ 244 h 936"/>
                    <a:gd name="T42" fmla="*/ 58 w 425"/>
                    <a:gd name="T43" fmla="*/ 258 h 936"/>
                    <a:gd name="T44" fmla="*/ 63 w 425"/>
                    <a:gd name="T45" fmla="*/ 269 h 936"/>
                    <a:gd name="T46" fmla="*/ 67 w 425"/>
                    <a:gd name="T47" fmla="*/ 277 h 936"/>
                    <a:gd name="T48" fmla="*/ 70 w 425"/>
                    <a:gd name="T49" fmla="*/ 281 h 936"/>
                    <a:gd name="T50" fmla="*/ 75 w 425"/>
                    <a:gd name="T51" fmla="*/ 284 h 936"/>
                    <a:gd name="T52" fmla="*/ 80 w 425"/>
                    <a:gd name="T53" fmla="*/ 287 h 936"/>
                    <a:gd name="T54" fmla="*/ 86 w 425"/>
                    <a:gd name="T55" fmla="*/ 291 h 936"/>
                    <a:gd name="T56" fmla="*/ 94 w 425"/>
                    <a:gd name="T57" fmla="*/ 294 h 936"/>
                    <a:gd name="T58" fmla="*/ 104 w 425"/>
                    <a:gd name="T59" fmla="*/ 299 h 936"/>
                    <a:gd name="T60" fmla="*/ 114 w 425"/>
                    <a:gd name="T61" fmla="*/ 302 h 936"/>
                    <a:gd name="T62" fmla="*/ 127 w 425"/>
                    <a:gd name="T63" fmla="*/ 307 h 936"/>
                    <a:gd name="T64" fmla="*/ 142 w 425"/>
                    <a:gd name="T65" fmla="*/ 312 h 936"/>
                    <a:gd name="T66" fmla="*/ 132 w 425"/>
                    <a:gd name="T67" fmla="*/ 298 h 936"/>
                    <a:gd name="T68" fmla="*/ 123 w 425"/>
                    <a:gd name="T69" fmla="*/ 281 h 936"/>
                    <a:gd name="T70" fmla="*/ 113 w 425"/>
                    <a:gd name="T71" fmla="*/ 262 h 936"/>
                    <a:gd name="T72" fmla="*/ 103 w 425"/>
                    <a:gd name="T73" fmla="*/ 242 h 936"/>
                    <a:gd name="T74" fmla="*/ 93 w 425"/>
                    <a:gd name="T75" fmla="*/ 220 h 936"/>
                    <a:gd name="T76" fmla="*/ 83 w 425"/>
                    <a:gd name="T77" fmla="*/ 197 h 936"/>
                    <a:gd name="T78" fmla="*/ 74 w 425"/>
                    <a:gd name="T79" fmla="*/ 174 h 936"/>
                    <a:gd name="T80" fmla="*/ 65 w 425"/>
                    <a:gd name="T81" fmla="*/ 150 h 936"/>
                    <a:gd name="T82" fmla="*/ 56 w 425"/>
                    <a:gd name="T83" fmla="*/ 127 h 936"/>
                    <a:gd name="T84" fmla="*/ 48 w 425"/>
                    <a:gd name="T85" fmla="*/ 104 h 936"/>
                    <a:gd name="T86" fmla="*/ 40 w 425"/>
                    <a:gd name="T87" fmla="*/ 83 h 936"/>
                    <a:gd name="T88" fmla="*/ 34 w 425"/>
                    <a:gd name="T89" fmla="*/ 62 h 936"/>
                    <a:gd name="T90" fmla="*/ 28 w 425"/>
                    <a:gd name="T91" fmla="*/ 43 h 936"/>
                    <a:gd name="T92" fmla="*/ 23 w 425"/>
                    <a:gd name="T93" fmla="*/ 26 h 936"/>
                    <a:gd name="T94" fmla="*/ 19 w 425"/>
                    <a:gd name="T95" fmla="*/ 12 h 936"/>
                    <a:gd name="T96" fmla="*/ 16 w 425"/>
                    <a:gd name="T97" fmla="*/ 0 h 9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425"/>
                    <a:gd name="T148" fmla="*/ 0 h 936"/>
                    <a:gd name="T149" fmla="*/ 425 w 425"/>
                    <a:gd name="T150" fmla="*/ 936 h 936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425" h="936">
                      <a:moveTo>
                        <a:pt x="48" y="0"/>
                      </a:moveTo>
                      <a:lnTo>
                        <a:pt x="48" y="2"/>
                      </a:lnTo>
                      <a:lnTo>
                        <a:pt x="48" y="5"/>
                      </a:lnTo>
                      <a:lnTo>
                        <a:pt x="47" y="11"/>
                      </a:lnTo>
                      <a:lnTo>
                        <a:pt x="44" y="19"/>
                      </a:lnTo>
                      <a:lnTo>
                        <a:pt x="39" y="35"/>
                      </a:lnTo>
                      <a:lnTo>
                        <a:pt x="32" y="55"/>
                      </a:lnTo>
                      <a:lnTo>
                        <a:pt x="20" y="82"/>
                      </a:lnTo>
                      <a:lnTo>
                        <a:pt x="6" y="117"/>
                      </a:lnTo>
                      <a:lnTo>
                        <a:pt x="0" y="141"/>
                      </a:lnTo>
                      <a:lnTo>
                        <a:pt x="0" y="177"/>
                      </a:lnTo>
                      <a:lnTo>
                        <a:pt x="4" y="220"/>
                      </a:lnTo>
                      <a:lnTo>
                        <a:pt x="13" y="271"/>
                      </a:lnTo>
                      <a:lnTo>
                        <a:pt x="26" y="325"/>
                      </a:lnTo>
                      <a:lnTo>
                        <a:pt x="41" y="386"/>
                      </a:lnTo>
                      <a:lnTo>
                        <a:pt x="58" y="446"/>
                      </a:lnTo>
                      <a:lnTo>
                        <a:pt x="78" y="509"/>
                      </a:lnTo>
                      <a:lnTo>
                        <a:pt x="98" y="570"/>
                      </a:lnTo>
                      <a:lnTo>
                        <a:pt x="119" y="628"/>
                      </a:lnTo>
                      <a:lnTo>
                        <a:pt x="138" y="683"/>
                      </a:lnTo>
                      <a:lnTo>
                        <a:pt x="157" y="733"/>
                      </a:lnTo>
                      <a:lnTo>
                        <a:pt x="174" y="775"/>
                      </a:lnTo>
                      <a:lnTo>
                        <a:pt x="189" y="808"/>
                      </a:lnTo>
                      <a:lnTo>
                        <a:pt x="201" y="831"/>
                      </a:lnTo>
                      <a:lnTo>
                        <a:pt x="210" y="843"/>
                      </a:lnTo>
                      <a:lnTo>
                        <a:pt x="223" y="853"/>
                      </a:lnTo>
                      <a:lnTo>
                        <a:pt x="239" y="861"/>
                      </a:lnTo>
                      <a:lnTo>
                        <a:pt x="258" y="873"/>
                      </a:lnTo>
                      <a:lnTo>
                        <a:pt x="282" y="883"/>
                      </a:lnTo>
                      <a:lnTo>
                        <a:pt x="310" y="896"/>
                      </a:lnTo>
                      <a:lnTo>
                        <a:pt x="342" y="907"/>
                      </a:lnTo>
                      <a:lnTo>
                        <a:pt x="380" y="922"/>
                      </a:lnTo>
                      <a:lnTo>
                        <a:pt x="425" y="936"/>
                      </a:lnTo>
                      <a:lnTo>
                        <a:pt x="396" y="893"/>
                      </a:lnTo>
                      <a:lnTo>
                        <a:pt x="367" y="843"/>
                      </a:lnTo>
                      <a:lnTo>
                        <a:pt x="337" y="787"/>
                      </a:lnTo>
                      <a:lnTo>
                        <a:pt x="308" y="725"/>
                      </a:lnTo>
                      <a:lnTo>
                        <a:pt x="279" y="660"/>
                      </a:lnTo>
                      <a:lnTo>
                        <a:pt x="249" y="591"/>
                      </a:lnTo>
                      <a:lnTo>
                        <a:pt x="220" y="522"/>
                      </a:lnTo>
                      <a:lnTo>
                        <a:pt x="194" y="450"/>
                      </a:lnTo>
                      <a:lnTo>
                        <a:pt x="167" y="381"/>
                      </a:lnTo>
                      <a:lnTo>
                        <a:pt x="144" y="312"/>
                      </a:lnTo>
                      <a:lnTo>
                        <a:pt x="120" y="248"/>
                      </a:lnTo>
                      <a:lnTo>
                        <a:pt x="101" y="186"/>
                      </a:lnTo>
                      <a:lnTo>
                        <a:pt x="83" y="128"/>
                      </a:lnTo>
                      <a:lnTo>
                        <a:pt x="69" y="78"/>
                      </a:lnTo>
                      <a:lnTo>
                        <a:pt x="57" y="35"/>
                      </a:lnTo>
                      <a:lnTo>
                        <a:pt x="48" y="0"/>
                      </a:lnTo>
                      <a:close/>
                    </a:path>
                  </a:pathLst>
                </a:custGeom>
                <a:solidFill>
                  <a:srgbClr val="CCEF72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6" name="Freeform 29"/>
                <p:cNvSpPr>
                  <a:spLocks/>
                </p:cNvSpPr>
                <p:nvPr/>
              </p:nvSpPr>
              <p:spPr bwMode="auto">
                <a:xfrm>
                  <a:off x="8310" y="4696"/>
                  <a:ext cx="64" cy="69"/>
                </a:xfrm>
                <a:custGeom>
                  <a:avLst/>
                  <a:gdLst>
                    <a:gd name="T0" fmla="*/ 9 w 192"/>
                    <a:gd name="T1" fmla="*/ 4 h 208"/>
                    <a:gd name="T2" fmla="*/ 4 w 192"/>
                    <a:gd name="T3" fmla="*/ 8 h 208"/>
                    <a:gd name="T4" fmla="*/ 1 w 192"/>
                    <a:gd name="T5" fmla="*/ 14 h 208"/>
                    <a:gd name="T6" fmla="*/ 0 w 192"/>
                    <a:gd name="T7" fmla="*/ 22 h 208"/>
                    <a:gd name="T8" fmla="*/ 0 w 192"/>
                    <a:gd name="T9" fmla="*/ 31 h 208"/>
                    <a:gd name="T10" fmla="*/ 1 w 192"/>
                    <a:gd name="T11" fmla="*/ 40 h 208"/>
                    <a:gd name="T12" fmla="*/ 3 w 192"/>
                    <a:gd name="T13" fmla="*/ 49 h 208"/>
                    <a:gd name="T14" fmla="*/ 7 w 192"/>
                    <a:gd name="T15" fmla="*/ 57 h 208"/>
                    <a:gd name="T16" fmla="*/ 12 w 192"/>
                    <a:gd name="T17" fmla="*/ 63 h 208"/>
                    <a:gd name="T18" fmla="*/ 17 w 192"/>
                    <a:gd name="T19" fmla="*/ 67 h 208"/>
                    <a:gd name="T20" fmla="*/ 23 w 192"/>
                    <a:gd name="T21" fmla="*/ 68 h 208"/>
                    <a:gd name="T22" fmla="*/ 30 w 192"/>
                    <a:gd name="T23" fmla="*/ 69 h 208"/>
                    <a:gd name="T24" fmla="*/ 37 w 192"/>
                    <a:gd name="T25" fmla="*/ 68 h 208"/>
                    <a:gd name="T26" fmla="*/ 43 w 192"/>
                    <a:gd name="T27" fmla="*/ 65 h 208"/>
                    <a:gd name="T28" fmla="*/ 49 w 192"/>
                    <a:gd name="T29" fmla="*/ 62 h 208"/>
                    <a:gd name="T30" fmla="*/ 54 w 192"/>
                    <a:gd name="T31" fmla="*/ 58 h 208"/>
                    <a:gd name="T32" fmla="*/ 58 w 192"/>
                    <a:gd name="T33" fmla="*/ 54 h 208"/>
                    <a:gd name="T34" fmla="*/ 63 w 192"/>
                    <a:gd name="T35" fmla="*/ 43 h 208"/>
                    <a:gd name="T36" fmla="*/ 64 w 192"/>
                    <a:gd name="T37" fmla="*/ 30 h 208"/>
                    <a:gd name="T38" fmla="*/ 62 w 192"/>
                    <a:gd name="T39" fmla="*/ 17 h 208"/>
                    <a:gd name="T40" fmla="*/ 55 w 192"/>
                    <a:gd name="T41" fmla="*/ 9 h 208"/>
                    <a:gd name="T42" fmla="*/ 51 w 192"/>
                    <a:gd name="T43" fmla="*/ 7 h 208"/>
                    <a:gd name="T44" fmla="*/ 46 w 192"/>
                    <a:gd name="T45" fmla="*/ 5 h 208"/>
                    <a:gd name="T46" fmla="*/ 41 w 192"/>
                    <a:gd name="T47" fmla="*/ 3 h 208"/>
                    <a:gd name="T48" fmla="*/ 35 w 192"/>
                    <a:gd name="T49" fmla="*/ 1 h 208"/>
                    <a:gd name="T50" fmla="*/ 28 w 192"/>
                    <a:gd name="T51" fmla="*/ 0 h 208"/>
                    <a:gd name="T52" fmla="*/ 22 w 192"/>
                    <a:gd name="T53" fmla="*/ 0 h 208"/>
                    <a:gd name="T54" fmla="*/ 16 w 192"/>
                    <a:gd name="T55" fmla="*/ 1 h 208"/>
                    <a:gd name="T56" fmla="*/ 9 w 192"/>
                    <a:gd name="T57" fmla="*/ 4 h 20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192"/>
                    <a:gd name="T88" fmla="*/ 0 h 208"/>
                    <a:gd name="T89" fmla="*/ 192 w 192"/>
                    <a:gd name="T90" fmla="*/ 208 h 208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192" h="208">
                      <a:moveTo>
                        <a:pt x="26" y="11"/>
                      </a:moveTo>
                      <a:lnTo>
                        <a:pt x="13" y="24"/>
                      </a:lnTo>
                      <a:lnTo>
                        <a:pt x="4" y="43"/>
                      </a:lnTo>
                      <a:lnTo>
                        <a:pt x="0" y="67"/>
                      </a:lnTo>
                      <a:lnTo>
                        <a:pt x="0" y="93"/>
                      </a:lnTo>
                      <a:lnTo>
                        <a:pt x="3" y="120"/>
                      </a:lnTo>
                      <a:lnTo>
                        <a:pt x="10" y="148"/>
                      </a:lnTo>
                      <a:lnTo>
                        <a:pt x="20" y="171"/>
                      </a:lnTo>
                      <a:lnTo>
                        <a:pt x="35" y="189"/>
                      </a:lnTo>
                      <a:lnTo>
                        <a:pt x="51" y="201"/>
                      </a:lnTo>
                      <a:lnTo>
                        <a:pt x="70" y="206"/>
                      </a:lnTo>
                      <a:lnTo>
                        <a:pt x="91" y="208"/>
                      </a:lnTo>
                      <a:lnTo>
                        <a:pt x="111" y="204"/>
                      </a:lnTo>
                      <a:lnTo>
                        <a:pt x="130" y="196"/>
                      </a:lnTo>
                      <a:lnTo>
                        <a:pt x="148" y="186"/>
                      </a:lnTo>
                      <a:lnTo>
                        <a:pt x="163" y="176"/>
                      </a:lnTo>
                      <a:lnTo>
                        <a:pt x="174" y="163"/>
                      </a:lnTo>
                      <a:lnTo>
                        <a:pt x="189" y="130"/>
                      </a:lnTo>
                      <a:lnTo>
                        <a:pt x="192" y="89"/>
                      </a:lnTo>
                      <a:lnTo>
                        <a:pt x="185" y="50"/>
                      </a:lnTo>
                      <a:lnTo>
                        <a:pt x="166" y="27"/>
                      </a:lnTo>
                      <a:lnTo>
                        <a:pt x="152" y="21"/>
                      </a:lnTo>
                      <a:lnTo>
                        <a:pt x="138" y="14"/>
                      </a:lnTo>
                      <a:lnTo>
                        <a:pt x="122" y="8"/>
                      </a:lnTo>
                      <a:lnTo>
                        <a:pt x="104" y="2"/>
                      </a:lnTo>
                      <a:lnTo>
                        <a:pt x="85" y="0"/>
                      </a:lnTo>
                      <a:lnTo>
                        <a:pt x="66" y="0"/>
                      </a:lnTo>
                      <a:lnTo>
                        <a:pt x="47" y="2"/>
                      </a:lnTo>
                      <a:lnTo>
                        <a:pt x="26" y="11"/>
                      </a:lnTo>
                      <a:close/>
                    </a:path>
                  </a:pathLst>
                </a:custGeom>
                <a:solidFill>
                  <a:srgbClr val="CCEF72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7" name="Freeform 30"/>
                <p:cNvSpPr>
                  <a:spLocks/>
                </p:cNvSpPr>
                <p:nvPr/>
              </p:nvSpPr>
              <p:spPr bwMode="auto">
                <a:xfrm>
                  <a:off x="8406" y="4895"/>
                  <a:ext cx="82" cy="84"/>
                </a:xfrm>
                <a:custGeom>
                  <a:avLst/>
                  <a:gdLst>
                    <a:gd name="T0" fmla="*/ 11 w 247"/>
                    <a:gd name="T1" fmla="*/ 10 h 251"/>
                    <a:gd name="T2" fmla="*/ 7 w 247"/>
                    <a:gd name="T3" fmla="*/ 15 h 251"/>
                    <a:gd name="T4" fmla="*/ 4 w 247"/>
                    <a:gd name="T5" fmla="*/ 20 h 251"/>
                    <a:gd name="T6" fmla="*/ 2 w 247"/>
                    <a:gd name="T7" fmla="*/ 26 h 251"/>
                    <a:gd name="T8" fmla="*/ 0 w 247"/>
                    <a:gd name="T9" fmla="*/ 32 h 251"/>
                    <a:gd name="T10" fmla="*/ 0 w 247"/>
                    <a:gd name="T11" fmla="*/ 39 h 251"/>
                    <a:gd name="T12" fmla="*/ 2 w 247"/>
                    <a:gd name="T13" fmla="*/ 45 h 251"/>
                    <a:gd name="T14" fmla="*/ 4 w 247"/>
                    <a:gd name="T15" fmla="*/ 51 h 251"/>
                    <a:gd name="T16" fmla="*/ 8 w 247"/>
                    <a:gd name="T17" fmla="*/ 57 h 251"/>
                    <a:gd name="T18" fmla="*/ 14 w 247"/>
                    <a:gd name="T19" fmla="*/ 63 h 251"/>
                    <a:gd name="T20" fmla="*/ 19 w 247"/>
                    <a:gd name="T21" fmla="*/ 68 h 251"/>
                    <a:gd name="T22" fmla="*/ 26 w 247"/>
                    <a:gd name="T23" fmla="*/ 74 h 251"/>
                    <a:gd name="T24" fmla="*/ 32 w 247"/>
                    <a:gd name="T25" fmla="*/ 78 h 251"/>
                    <a:gd name="T26" fmla="*/ 38 w 247"/>
                    <a:gd name="T27" fmla="*/ 82 h 251"/>
                    <a:gd name="T28" fmla="*/ 44 w 247"/>
                    <a:gd name="T29" fmla="*/ 84 h 251"/>
                    <a:gd name="T30" fmla="*/ 49 w 247"/>
                    <a:gd name="T31" fmla="*/ 84 h 251"/>
                    <a:gd name="T32" fmla="*/ 55 w 247"/>
                    <a:gd name="T33" fmla="*/ 82 h 251"/>
                    <a:gd name="T34" fmla="*/ 60 w 247"/>
                    <a:gd name="T35" fmla="*/ 79 h 251"/>
                    <a:gd name="T36" fmla="*/ 65 w 247"/>
                    <a:gd name="T37" fmla="*/ 76 h 251"/>
                    <a:gd name="T38" fmla="*/ 69 w 247"/>
                    <a:gd name="T39" fmla="*/ 74 h 251"/>
                    <a:gd name="T40" fmla="*/ 74 w 247"/>
                    <a:gd name="T41" fmla="*/ 71 h 251"/>
                    <a:gd name="T42" fmla="*/ 77 w 247"/>
                    <a:gd name="T43" fmla="*/ 68 h 251"/>
                    <a:gd name="T44" fmla="*/ 80 w 247"/>
                    <a:gd name="T45" fmla="*/ 64 h 251"/>
                    <a:gd name="T46" fmla="*/ 82 w 247"/>
                    <a:gd name="T47" fmla="*/ 60 h 251"/>
                    <a:gd name="T48" fmla="*/ 82 w 247"/>
                    <a:gd name="T49" fmla="*/ 54 h 251"/>
                    <a:gd name="T50" fmla="*/ 81 w 247"/>
                    <a:gd name="T51" fmla="*/ 48 h 251"/>
                    <a:gd name="T52" fmla="*/ 79 w 247"/>
                    <a:gd name="T53" fmla="*/ 40 h 251"/>
                    <a:gd name="T54" fmla="*/ 76 w 247"/>
                    <a:gd name="T55" fmla="*/ 32 h 251"/>
                    <a:gd name="T56" fmla="*/ 71 w 247"/>
                    <a:gd name="T57" fmla="*/ 24 h 251"/>
                    <a:gd name="T58" fmla="*/ 66 w 247"/>
                    <a:gd name="T59" fmla="*/ 17 h 251"/>
                    <a:gd name="T60" fmla="*/ 61 w 247"/>
                    <a:gd name="T61" fmla="*/ 10 h 251"/>
                    <a:gd name="T62" fmla="*/ 55 w 247"/>
                    <a:gd name="T63" fmla="*/ 5 h 251"/>
                    <a:gd name="T64" fmla="*/ 49 w 247"/>
                    <a:gd name="T65" fmla="*/ 2 h 251"/>
                    <a:gd name="T66" fmla="*/ 43 w 247"/>
                    <a:gd name="T67" fmla="*/ 1 h 251"/>
                    <a:gd name="T68" fmla="*/ 37 w 247"/>
                    <a:gd name="T69" fmla="*/ 0 h 251"/>
                    <a:gd name="T70" fmla="*/ 31 w 247"/>
                    <a:gd name="T71" fmla="*/ 0 h 251"/>
                    <a:gd name="T72" fmla="*/ 27 w 247"/>
                    <a:gd name="T73" fmla="*/ 1 h 251"/>
                    <a:gd name="T74" fmla="*/ 22 w 247"/>
                    <a:gd name="T75" fmla="*/ 2 h 251"/>
                    <a:gd name="T76" fmla="*/ 17 w 247"/>
                    <a:gd name="T77" fmla="*/ 4 h 251"/>
                    <a:gd name="T78" fmla="*/ 14 w 247"/>
                    <a:gd name="T79" fmla="*/ 7 h 251"/>
                    <a:gd name="T80" fmla="*/ 11 w 247"/>
                    <a:gd name="T81" fmla="*/ 10 h 251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247"/>
                    <a:gd name="T124" fmla="*/ 0 h 251"/>
                    <a:gd name="T125" fmla="*/ 247 w 247"/>
                    <a:gd name="T126" fmla="*/ 251 h 251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247" h="251">
                      <a:moveTo>
                        <a:pt x="33" y="29"/>
                      </a:moveTo>
                      <a:lnTo>
                        <a:pt x="21" y="44"/>
                      </a:lnTo>
                      <a:lnTo>
                        <a:pt x="12" y="60"/>
                      </a:lnTo>
                      <a:lnTo>
                        <a:pt x="5" y="79"/>
                      </a:lnTo>
                      <a:lnTo>
                        <a:pt x="0" y="97"/>
                      </a:lnTo>
                      <a:lnTo>
                        <a:pt x="0" y="116"/>
                      </a:lnTo>
                      <a:lnTo>
                        <a:pt x="5" y="135"/>
                      </a:lnTo>
                      <a:lnTo>
                        <a:pt x="12" y="152"/>
                      </a:lnTo>
                      <a:lnTo>
                        <a:pt x="25" y="169"/>
                      </a:lnTo>
                      <a:lnTo>
                        <a:pt x="42" y="187"/>
                      </a:lnTo>
                      <a:lnTo>
                        <a:pt x="58" y="202"/>
                      </a:lnTo>
                      <a:lnTo>
                        <a:pt x="77" y="220"/>
                      </a:lnTo>
                      <a:lnTo>
                        <a:pt x="96" y="233"/>
                      </a:lnTo>
                      <a:lnTo>
                        <a:pt x="114" y="244"/>
                      </a:lnTo>
                      <a:lnTo>
                        <a:pt x="133" y="251"/>
                      </a:lnTo>
                      <a:lnTo>
                        <a:pt x="149" y="251"/>
                      </a:lnTo>
                      <a:lnTo>
                        <a:pt x="165" y="246"/>
                      </a:lnTo>
                      <a:lnTo>
                        <a:pt x="180" y="237"/>
                      </a:lnTo>
                      <a:lnTo>
                        <a:pt x="196" y="228"/>
                      </a:lnTo>
                      <a:lnTo>
                        <a:pt x="209" y="220"/>
                      </a:lnTo>
                      <a:lnTo>
                        <a:pt x="222" y="212"/>
                      </a:lnTo>
                      <a:lnTo>
                        <a:pt x="232" y="202"/>
                      </a:lnTo>
                      <a:lnTo>
                        <a:pt x="240" y="191"/>
                      </a:lnTo>
                      <a:lnTo>
                        <a:pt x="246" y="178"/>
                      </a:lnTo>
                      <a:lnTo>
                        <a:pt x="247" y="162"/>
                      </a:lnTo>
                      <a:lnTo>
                        <a:pt x="244" y="142"/>
                      </a:lnTo>
                      <a:lnTo>
                        <a:pt x="238" y="120"/>
                      </a:lnTo>
                      <a:lnTo>
                        <a:pt x="228" y="96"/>
                      </a:lnTo>
                      <a:lnTo>
                        <a:pt x="215" y="72"/>
                      </a:lnTo>
                      <a:lnTo>
                        <a:pt x="200" y="50"/>
                      </a:lnTo>
                      <a:lnTo>
                        <a:pt x="184" y="30"/>
                      </a:lnTo>
                      <a:lnTo>
                        <a:pt x="165" y="16"/>
                      </a:lnTo>
                      <a:lnTo>
                        <a:pt x="147" y="7"/>
                      </a:lnTo>
                      <a:lnTo>
                        <a:pt x="130" y="3"/>
                      </a:lnTo>
                      <a:lnTo>
                        <a:pt x="112" y="0"/>
                      </a:lnTo>
                      <a:lnTo>
                        <a:pt x="94" y="1"/>
                      </a:lnTo>
                      <a:lnTo>
                        <a:pt x="80" y="3"/>
                      </a:lnTo>
                      <a:lnTo>
                        <a:pt x="65" y="7"/>
                      </a:lnTo>
                      <a:lnTo>
                        <a:pt x="52" y="13"/>
                      </a:lnTo>
                      <a:lnTo>
                        <a:pt x="42" y="20"/>
                      </a:lnTo>
                      <a:lnTo>
                        <a:pt x="33" y="29"/>
                      </a:lnTo>
                      <a:close/>
                    </a:path>
                  </a:pathLst>
                </a:custGeom>
                <a:solidFill>
                  <a:srgbClr val="CCEF72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8" name="Freeform 31"/>
                <p:cNvSpPr>
                  <a:spLocks/>
                </p:cNvSpPr>
                <p:nvPr/>
              </p:nvSpPr>
              <p:spPr bwMode="auto">
                <a:xfrm>
                  <a:off x="8313" y="4687"/>
                  <a:ext cx="75" cy="80"/>
                </a:xfrm>
                <a:custGeom>
                  <a:avLst/>
                  <a:gdLst>
                    <a:gd name="T0" fmla="*/ 38 w 226"/>
                    <a:gd name="T1" fmla="*/ 1 h 240"/>
                    <a:gd name="T2" fmla="*/ 31 w 226"/>
                    <a:gd name="T3" fmla="*/ 0 h 240"/>
                    <a:gd name="T4" fmla="*/ 22 w 226"/>
                    <a:gd name="T5" fmla="*/ 1 h 240"/>
                    <a:gd name="T6" fmla="*/ 14 w 226"/>
                    <a:gd name="T7" fmla="*/ 4 h 240"/>
                    <a:gd name="T8" fmla="*/ 5 w 226"/>
                    <a:gd name="T9" fmla="*/ 12 h 240"/>
                    <a:gd name="T10" fmla="*/ 0 w 226"/>
                    <a:gd name="T11" fmla="*/ 26 h 240"/>
                    <a:gd name="T12" fmla="*/ 1 w 226"/>
                    <a:gd name="T13" fmla="*/ 41 h 240"/>
                    <a:gd name="T14" fmla="*/ 5 w 226"/>
                    <a:gd name="T15" fmla="*/ 56 h 240"/>
                    <a:gd name="T16" fmla="*/ 11 w 226"/>
                    <a:gd name="T17" fmla="*/ 67 h 240"/>
                    <a:gd name="T18" fmla="*/ 19 w 226"/>
                    <a:gd name="T19" fmla="*/ 74 h 240"/>
                    <a:gd name="T20" fmla="*/ 28 w 226"/>
                    <a:gd name="T21" fmla="*/ 79 h 240"/>
                    <a:gd name="T22" fmla="*/ 38 w 226"/>
                    <a:gd name="T23" fmla="*/ 80 h 240"/>
                    <a:gd name="T24" fmla="*/ 50 w 226"/>
                    <a:gd name="T25" fmla="*/ 76 h 240"/>
                    <a:gd name="T26" fmla="*/ 63 w 226"/>
                    <a:gd name="T27" fmla="*/ 68 h 240"/>
                    <a:gd name="T28" fmla="*/ 72 w 226"/>
                    <a:gd name="T29" fmla="*/ 57 h 240"/>
                    <a:gd name="T30" fmla="*/ 75 w 226"/>
                    <a:gd name="T31" fmla="*/ 44 h 240"/>
                    <a:gd name="T32" fmla="*/ 74 w 226"/>
                    <a:gd name="T33" fmla="*/ 35 h 240"/>
                    <a:gd name="T34" fmla="*/ 71 w 226"/>
                    <a:gd name="T35" fmla="*/ 32 h 240"/>
                    <a:gd name="T36" fmla="*/ 67 w 226"/>
                    <a:gd name="T37" fmla="*/ 32 h 240"/>
                    <a:gd name="T38" fmla="*/ 64 w 226"/>
                    <a:gd name="T39" fmla="*/ 35 h 240"/>
                    <a:gd name="T40" fmla="*/ 63 w 226"/>
                    <a:gd name="T41" fmla="*/ 42 h 240"/>
                    <a:gd name="T42" fmla="*/ 60 w 226"/>
                    <a:gd name="T43" fmla="*/ 53 h 240"/>
                    <a:gd name="T44" fmla="*/ 54 w 226"/>
                    <a:gd name="T45" fmla="*/ 61 h 240"/>
                    <a:gd name="T46" fmla="*/ 43 w 226"/>
                    <a:gd name="T47" fmla="*/ 66 h 240"/>
                    <a:gd name="T48" fmla="*/ 30 w 226"/>
                    <a:gd name="T49" fmla="*/ 66 h 240"/>
                    <a:gd name="T50" fmla="*/ 20 w 226"/>
                    <a:gd name="T51" fmla="*/ 59 h 240"/>
                    <a:gd name="T52" fmla="*/ 15 w 226"/>
                    <a:gd name="T53" fmla="*/ 48 h 240"/>
                    <a:gd name="T54" fmla="*/ 11 w 226"/>
                    <a:gd name="T55" fmla="*/ 35 h 240"/>
                    <a:gd name="T56" fmla="*/ 11 w 226"/>
                    <a:gd name="T57" fmla="*/ 25 h 240"/>
                    <a:gd name="T58" fmla="*/ 14 w 226"/>
                    <a:gd name="T59" fmla="*/ 19 h 240"/>
                    <a:gd name="T60" fmla="*/ 18 w 226"/>
                    <a:gd name="T61" fmla="*/ 13 h 240"/>
                    <a:gd name="T62" fmla="*/ 25 w 226"/>
                    <a:gd name="T63" fmla="*/ 9 h 240"/>
                    <a:gd name="T64" fmla="*/ 29 w 226"/>
                    <a:gd name="T65" fmla="*/ 8 h 240"/>
                    <a:gd name="T66" fmla="*/ 35 w 226"/>
                    <a:gd name="T67" fmla="*/ 8 h 240"/>
                    <a:gd name="T68" fmla="*/ 42 w 226"/>
                    <a:gd name="T69" fmla="*/ 8 h 240"/>
                    <a:gd name="T70" fmla="*/ 43 w 226"/>
                    <a:gd name="T71" fmla="*/ 4 h 240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w 226"/>
                    <a:gd name="T109" fmla="*/ 0 h 240"/>
                    <a:gd name="T110" fmla="*/ 226 w 226"/>
                    <a:gd name="T111" fmla="*/ 240 h 240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T108" t="T109" r="T110" b="T111"/>
                  <a:pathLst>
                    <a:path w="226" h="240">
                      <a:moveTo>
                        <a:pt x="125" y="6"/>
                      </a:moveTo>
                      <a:lnTo>
                        <a:pt x="115" y="3"/>
                      </a:lnTo>
                      <a:lnTo>
                        <a:pt x="104" y="0"/>
                      </a:lnTo>
                      <a:lnTo>
                        <a:pt x="93" y="0"/>
                      </a:lnTo>
                      <a:lnTo>
                        <a:pt x="79" y="0"/>
                      </a:lnTo>
                      <a:lnTo>
                        <a:pt x="66" y="2"/>
                      </a:lnTo>
                      <a:lnTo>
                        <a:pt x="54" y="6"/>
                      </a:lnTo>
                      <a:lnTo>
                        <a:pt x="43" y="12"/>
                      </a:lnTo>
                      <a:lnTo>
                        <a:pt x="32" y="19"/>
                      </a:lnTo>
                      <a:lnTo>
                        <a:pt x="16" y="37"/>
                      </a:lnTo>
                      <a:lnTo>
                        <a:pt x="6" y="58"/>
                      </a:lnTo>
                      <a:lnTo>
                        <a:pt x="0" y="79"/>
                      </a:lnTo>
                      <a:lnTo>
                        <a:pt x="0" y="101"/>
                      </a:lnTo>
                      <a:lnTo>
                        <a:pt x="2" y="124"/>
                      </a:lnTo>
                      <a:lnTo>
                        <a:pt x="7" y="145"/>
                      </a:lnTo>
                      <a:lnTo>
                        <a:pt x="15" y="168"/>
                      </a:lnTo>
                      <a:lnTo>
                        <a:pt x="24" y="188"/>
                      </a:lnTo>
                      <a:lnTo>
                        <a:pt x="32" y="201"/>
                      </a:lnTo>
                      <a:lnTo>
                        <a:pt x="43" y="213"/>
                      </a:lnTo>
                      <a:lnTo>
                        <a:pt x="56" y="223"/>
                      </a:lnTo>
                      <a:lnTo>
                        <a:pt x="69" y="231"/>
                      </a:lnTo>
                      <a:lnTo>
                        <a:pt x="84" y="237"/>
                      </a:lnTo>
                      <a:lnTo>
                        <a:pt x="98" y="240"/>
                      </a:lnTo>
                      <a:lnTo>
                        <a:pt x="113" y="240"/>
                      </a:lnTo>
                      <a:lnTo>
                        <a:pt x="129" y="237"/>
                      </a:lnTo>
                      <a:lnTo>
                        <a:pt x="151" y="229"/>
                      </a:lnTo>
                      <a:lnTo>
                        <a:pt x="172" y="219"/>
                      </a:lnTo>
                      <a:lnTo>
                        <a:pt x="189" y="204"/>
                      </a:lnTo>
                      <a:lnTo>
                        <a:pt x="206" y="188"/>
                      </a:lnTo>
                      <a:lnTo>
                        <a:pt x="216" y="171"/>
                      </a:lnTo>
                      <a:lnTo>
                        <a:pt x="223" y="152"/>
                      </a:lnTo>
                      <a:lnTo>
                        <a:pt x="226" y="131"/>
                      </a:lnTo>
                      <a:lnTo>
                        <a:pt x="223" y="109"/>
                      </a:lnTo>
                      <a:lnTo>
                        <a:pt x="222" y="104"/>
                      </a:lnTo>
                      <a:lnTo>
                        <a:pt x="219" y="98"/>
                      </a:lnTo>
                      <a:lnTo>
                        <a:pt x="213" y="95"/>
                      </a:lnTo>
                      <a:lnTo>
                        <a:pt x="207" y="95"/>
                      </a:lnTo>
                      <a:lnTo>
                        <a:pt x="201" y="96"/>
                      </a:lnTo>
                      <a:lnTo>
                        <a:pt x="197" y="99"/>
                      </a:lnTo>
                      <a:lnTo>
                        <a:pt x="194" y="105"/>
                      </a:lnTo>
                      <a:lnTo>
                        <a:pt x="192" y="111"/>
                      </a:lnTo>
                      <a:lnTo>
                        <a:pt x="191" y="127"/>
                      </a:lnTo>
                      <a:lnTo>
                        <a:pt x="188" y="142"/>
                      </a:lnTo>
                      <a:lnTo>
                        <a:pt x="182" y="158"/>
                      </a:lnTo>
                      <a:lnTo>
                        <a:pt x="173" y="171"/>
                      </a:lnTo>
                      <a:lnTo>
                        <a:pt x="162" y="183"/>
                      </a:lnTo>
                      <a:lnTo>
                        <a:pt x="147" y="191"/>
                      </a:lnTo>
                      <a:lnTo>
                        <a:pt x="131" y="197"/>
                      </a:lnTo>
                      <a:lnTo>
                        <a:pt x="110" y="200"/>
                      </a:lnTo>
                      <a:lnTo>
                        <a:pt x="90" y="197"/>
                      </a:lnTo>
                      <a:lnTo>
                        <a:pt x="74" y="190"/>
                      </a:lnTo>
                      <a:lnTo>
                        <a:pt x="60" y="177"/>
                      </a:lnTo>
                      <a:lnTo>
                        <a:pt x="51" y="161"/>
                      </a:lnTo>
                      <a:lnTo>
                        <a:pt x="44" y="144"/>
                      </a:lnTo>
                      <a:lnTo>
                        <a:pt x="38" y="124"/>
                      </a:lnTo>
                      <a:lnTo>
                        <a:pt x="34" y="105"/>
                      </a:lnTo>
                      <a:lnTo>
                        <a:pt x="32" y="86"/>
                      </a:lnTo>
                      <a:lnTo>
                        <a:pt x="32" y="76"/>
                      </a:lnTo>
                      <a:lnTo>
                        <a:pt x="35" y="66"/>
                      </a:lnTo>
                      <a:lnTo>
                        <a:pt x="41" y="56"/>
                      </a:lnTo>
                      <a:lnTo>
                        <a:pt x="47" y="46"/>
                      </a:lnTo>
                      <a:lnTo>
                        <a:pt x="54" y="39"/>
                      </a:lnTo>
                      <a:lnTo>
                        <a:pt x="63" y="32"/>
                      </a:lnTo>
                      <a:lnTo>
                        <a:pt x="74" y="26"/>
                      </a:lnTo>
                      <a:lnTo>
                        <a:pt x="84" y="25"/>
                      </a:lnTo>
                      <a:lnTo>
                        <a:pt x="87" y="25"/>
                      </a:lnTo>
                      <a:lnTo>
                        <a:pt x="94" y="23"/>
                      </a:lnTo>
                      <a:lnTo>
                        <a:pt x="106" y="25"/>
                      </a:lnTo>
                      <a:lnTo>
                        <a:pt x="119" y="26"/>
                      </a:lnTo>
                      <a:lnTo>
                        <a:pt x="126" y="25"/>
                      </a:lnTo>
                      <a:lnTo>
                        <a:pt x="131" y="19"/>
                      </a:lnTo>
                      <a:lnTo>
                        <a:pt x="129" y="12"/>
                      </a:lnTo>
                      <a:lnTo>
                        <a:pt x="125" y="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19" name="Freeform 32"/>
                <p:cNvSpPr>
                  <a:spLocks/>
                </p:cNvSpPr>
                <p:nvPr/>
              </p:nvSpPr>
              <p:spPr bwMode="auto">
                <a:xfrm>
                  <a:off x="8412" y="4892"/>
                  <a:ext cx="93" cy="90"/>
                </a:xfrm>
                <a:custGeom>
                  <a:avLst/>
                  <a:gdLst>
                    <a:gd name="T0" fmla="*/ 20 w 279"/>
                    <a:gd name="T1" fmla="*/ 3 h 270"/>
                    <a:gd name="T2" fmla="*/ 11 w 279"/>
                    <a:gd name="T3" fmla="*/ 9 h 270"/>
                    <a:gd name="T4" fmla="*/ 5 w 279"/>
                    <a:gd name="T5" fmla="*/ 17 h 270"/>
                    <a:gd name="T6" fmla="*/ 1 w 279"/>
                    <a:gd name="T7" fmla="*/ 27 h 270"/>
                    <a:gd name="T8" fmla="*/ 0 w 279"/>
                    <a:gd name="T9" fmla="*/ 37 h 270"/>
                    <a:gd name="T10" fmla="*/ 2 w 279"/>
                    <a:gd name="T11" fmla="*/ 48 h 270"/>
                    <a:gd name="T12" fmla="*/ 6 w 279"/>
                    <a:gd name="T13" fmla="*/ 58 h 270"/>
                    <a:gd name="T14" fmla="*/ 12 w 279"/>
                    <a:gd name="T15" fmla="*/ 68 h 270"/>
                    <a:gd name="T16" fmla="*/ 22 w 279"/>
                    <a:gd name="T17" fmla="*/ 77 h 270"/>
                    <a:gd name="T18" fmla="*/ 34 w 279"/>
                    <a:gd name="T19" fmla="*/ 86 h 270"/>
                    <a:gd name="T20" fmla="*/ 47 w 279"/>
                    <a:gd name="T21" fmla="*/ 90 h 270"/>
                    <a:gd name="T22" fmla="*/ 62 w 279"/>
                    <a:gd name="T23" fmla="*/ 88 h 270"/>
                    <a:gd name="T24" fmla="*/ 73 w 279"/>
                    <a:gd name="T25" fmla="*/ 80 h 270"/>
                    <a:gd name="T26" fmla="*/ 81 w 279"/>
                    <a:gd name="T27" fmla="*/ 72 h 270"/>
                    <a:gd name="T28" fmla="*/ 88 w 279"/>
                    <a:gd name="T29" fmla="*/ 63 h 270"/>
                    <a:gd name="T30" fmla="*/ 92 w 279"/>
                    <a:gd name="T31" fmla="*/ 53 h 270"/>
                    <a:gd name="T32" fmla="*/ 93 w 279"/>
                    <a:gd name="T33" fmla="*/ 44 h 270"/>
                    <a:gd name="T34" fmla="*/ 91 w 279"/>
                    <a:gd name="T35" fmla="*/ 40 h 270"/>
                    <a:gd name="T36" fmla="*/ 86 w 279"/>
                    <a:gd name="T37" fmla="*/ 39 h 270"/>
                    <a:gd name="T38" fmla="*/ 82 w 279"/>
                    <a:gd name="T39" fmla="*/ 41 h 270"/>
                    <a:gd name="T40" fmla="*/ 80 w 279"/>
                    <a:gd name="T41" fmla="*/ 44 h 270"/>
                    <a:gd name="T42" fmla="*/ 78 w 279"/>
                    <a:gd name="T43" fmla="*/ 50 h 270"/>
                    <a:gd name="T44" fmla="*/ 73 w 279"/>
                    <a:gd name="T45" fmla="*/ 59 h 270"/>
                    <a:gd name="T46" fmla="*/ 66 w 279"/>
                    <a:gd name="T47" fmla="*/ 67 h 270"/>
                    <a:gd name="T48" fmla="*/ 51 w 279"/>
                    <a:gd name="T49" fmla="*/ 70 h 270"/>
                    <a:gd name="T50" fmla="*/ 33 w 279"/>
                    <a:gd name="T51" fmla="*/ 66 h 270"/>
                    <a:gd name="T52" fmla="*/ 20 w 279"/>
                    <a:gd name="T53" fmla="*/ 54 h 270"/>
                    <a:gd name="T54" fmla="*/ 13 w 279"/>
                    <a:gd name="T55" fmla="*/ 38 h 270"/>
                    <a:gd name="T56" fmla="*/ 15 w 279"/>
                    <a:gd name="T57" fmla="*/ 24 h 270"/>
                    <a:gd name="T58" fmla="*/ 20 w 279"/>
                    <a:gd name="T59" fmla="*/ 17 h 270"/>
                    <a:gd name="T60" fmla="*/ 27 w 279"/>
                    <a:gd name="T61" fmla="*/ 10 h 270"/>
                    <a:gd name="T62" fmla="*/ 34 w 279"/>
                    <a:gd name="T63" fmla="*/ 5 h 270"/>
                    <a:gd name="T64" fmla="*/ 36 w 279"/>
                    <a:gd name="T65" fmla="*/ 1 h 270"/>
                    <a:gd name="T66" fmla="*/ 29 w 279"/>
                    <a:gd name="T67" fmla="*/ 0 h 270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279"/>
                    <a:gd name="T103" fmla="*/ 0 h 270"/>
                    <a:gd name="T104" fmla="*/ 279 w 279"/>
                    <a:gd name="T105" fmla="*/ 270 h 270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279" h="270">
                      <a:moveTo>
                        <a:pt x="75" y="3"/>
                      </a:moveTo>
                      <a:lnTo>
                        <a:pt x="60" y="8"/>
                      </a:lnTo>
                      <a:lnTo>
                        <a:pt x="47" y="17"/>
                      </a:lnTo>
                      <a:lnTo>
                        <a:pt x="34" y="27"/>
                      </a:lnTo>
                      <a:lnTo>
                        <a:pt x="24" y="39"/>
                      </a:lnTo>
                      <a:lnTo>
                        <a:pt x="15" y="50"/>
                      </a:lnTo>
                      <a:lnTo>
                        <a:pt x="7" y="64"/>
                      </a:lnTo>
                      <a:lnTo>
                        <a:pt x="3" y="80"/>
                      </a:lnTo>
                      <a:lnTo>
                        <a:pt x="0" y="96"/>
                      </a:lnTo>
                      <a:lnTo>
                        <a:pt x="0" y="112"/>
                      </a:lnTo>
                      <a:lnTo>
                        <a:pt x="2" y="129"/>
                      </a:lnTo>
                      <a:lnTo>
                        <a:pt x="6" y="145"/>
                      </a:lnTo>
                      <a:lnTo>
                        <a:pt x="12" y="161"/>
                      </a:lnTo>
                      <a:lnTo>
                        <a:pt x="18" y="175"/>
                      </a:lnTo>
                      <a:lnTo>
                        <a:pt x="27" y="189"/>
                      </a:lnTo>
                      <a:lnTo>
                        <a:pt x="37" y="204"/>
                      </a:lnTo>
                      <a:lnTo>
                        <a:pt x="49" y="217"/>
                      </a:lnTo>
                      <a:lnTo>
                        <a:pt x="65" y="231"/>
                      </a:lnTo>
                      <a:lnTo>
                        <a:pt x="82" y="244"/>
                      </a:lnTo>
                      <a:lnTo>
                        <a:pt x="101" y="257"/>
                      </a:lnTo>
                      <a:lnTo>
                        <a:pt x="122" y="266"/>
                      </a:lnTo>
                      <a:lnTo>
                        <a:pt x="142" y="270"/>
                      </a:lnTo>
                      <a:lnTo>
                        <a:pt x="165" y="270"/>
                      </a:lnTo>
                      <a:lnTo>
                        <a:pt x="185" y="263"/>
                      </a:lnTo>
                      <a:lnTo>
                        <a:pt x="206" y="250"/>
                      </a:lnTo>
                      <a:lnTo>
                        <a:pt x="219" y="240"/>
                      </a:lnTo>
                      <a:lnTo>
                        <a:pt x="232" y="228"/>
                      </a:lnTo>
                      <a:lnTo>
                        <a:pt x="244" y="215"/>
                      </a:lnTo>
                      <a:lnTo>
                        <a:pt x="254" y="202"/>
                      </a:lnTo>
                      <a:lnTo>
                        <a:pt x="263" y="188"/>
                      </a:lnTo>
                      <a:lnTo>
                        <a:pt x="270" y="174"/>
                      </a:lnTo>
                      <a:lnTo>
                        <a:pt x="276" y="158"/>
                      </a:lnTo>
                      <a:lnTo>
                        <a:pt x="279" y="141"/>
                      </a:lnTo>
                      <a:lnTo>
                        <a:pt x="279" y="133"/>
                      </a:lnTo>
                      <a:lnTo>
                        <a:pt x="278" y="126"/>
                      </a:lnTo>
                      <a:lnTo>
                        <a:pt x="273" y="120"/>
                      </a:lnTo>
                      <a:lnTo>
                        <a:pt x="266" y="116"/>
                      </a:lnTo>
                      <a:lnTo>
                        <a:pt x="258" y="116"/>
                      </a:lnTo>
                      <a:lnTo>
                        <a:pt x="251" y="118"/>
                      </a:lnTo>
                      <a:lnTo>
                        <a:pt x="245" y="122"/>
                      </a:lnTo>
                      <a:lnTo>
                        <a:pt x="241" y="129"/>
                      </a:lnTo>
                      <a:lnTo>
                        <a:pt x="241" y="132"/>
                      </a:lnTo>
                      <a:lnTo>
                        <a:pt x="238" y="139"/>
                      </a:lnTo>
                      <a:lnTo>
                        <a:pt x="235" y="151"/>
                      </a:lnTo>
                      <a:lnTo>
                        <a:pt x="229" y="164"/>
                      </a:lnTo>
                      <a:lnTo>
                        <a:pt x="220" y="176"/>
                      </a:lnTo>
                      <a:lnTo>
                        <a:pt x="210" y="191"/>
                      </a:lnTo>
                      <a:lnTo>
                        <a:pt x="198" y="201"/>
                      </a:lnTo>
                      <a:lnTo>
                        <a:pt x="182" y="210"/>
                      </a:lnTo>
                      <a:lnTo>
                        <a:pt x="154" y="211"/>
                      </a:lnTo>
                      <a:lnTo>
                        <a:pt x="126" y="207"/>
                      </a:lnTo>
                      <a:lnTo>
                        <a:pt x="100" y="197"/>
                      </a:lnTo>
                      <a:lnTo>
                        <a:pt x="78" y="181"/>
                      </a:lnTo>
                      <a:lnTo>
                        <a:pt x="59" y="162"/>
                      </a:lnTo>
                      <a:lnTo>
                        <a:pt x="46" y="139"/>
                      </a:lnTo>
                      <a:lnTo>
                        <a:pt x="40" y="113"/>
                      </a:lnTo>
                      <a:lnTo>
                        <a:pt x="40" y="86"/>
                      </a:lnTo>
                      <a:lnTo>
                        <a:pt x="44" y="73"/>
                      </a:lnTo>
                      <a:lnTo>
                        <a:pt x="50" y="62"/>
                      </a:lnTo>
                      <a:lnTo>
                        <a:pt x="60" y="50"/>
                      </a:lnTo>
                      <a:lnTo>
                        <a:pt x="71" y="39"/>
                      </a:lnTo>
                      <a:lnTo>
                        <a:pt x="81" y="30"/>
                      </a:lnTo>
                      <a:lnTo>
                        <a:pt x="93" y="21"/>
                      </a:lnTo>
                      <a:lnTo>
                        <a:pt x="103" y="16"/>
                      </a:lnTo>
                      <a:lnTo>
                        <a:pt x="112" y="11"/>
                      </a:lnTo>
                      <a:lnTo>
                        <a:pt x="109" y="4"/>
                      </a:lnTo>
                      <a:lnTo>
                        <a:pt x="100" y="0"/>
                      </a:lnTo>
                      <a:lnTo>
                        <a:pt x="88" y="0"/>
                      </a:lnTo>
                      <a:lnTo>
                        <a:pt x="75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0" name="Freeform 33"/>
                <p:cNvSpPr>
                  <a:spLocks/>
                </p:cNvSpPr>
                <p:nvPr/>
              </p:nvSpPr>
              <p:spPr bwMode="auto">
                <a:xfrm>
                  <a:off x="8347" y="4786"/>
                  <a:ext cx="24" cy="25"/>
                </a:xfrm>
                <a:custGeom>
                  <a:avLst/>
                  <a:gdLst>
                    <a:gd name="T0" fmla="*/ 2 w 72"/>
                    <a:gd name="T1" fmla="*/ 22 h 75"/>
                    <a:gd name="T2" fmla="*/ 5 w 72"/>
                    <a:gd name="T3" fmla="*/ 24 h 75"/>
                    <a:gd name="T4" fmla="*/ 8 w 72"/>
                    <a:gd name="T5" fmla="*/ 25 h 75"/>
                    <a:gd name="T6" fmla="*/ 11 w 72"/>
                    <a:gd name="T7" fmla="*/ 25 h 75"/>
                    <a:gd name="T8" fmla="*/ 12 w 72"/>
                    <a:gd name="T9" fmla="*/ 24 h 75"/>
                    <a:gd name="T10" fmla="*/ 13 w 72"/>
                    <a:gd name="T11" fmla="*/ 24 h 75"/>
                    <a:gd name="T12" fmla="*/ 16 w 72"/>
                    <a:gd name="T13" fmla="*/ 24 h 75"/>
                    <a:gd name="T14" fmla="*/ 19 w 72"/>
                    <a:gd name="T15" fmla="*/ 22 h 75"/>
                    <a:gd name="T16" fmla="*/ 21 w 72"/>
                    <a:gd name="T17" fmla="*/ 20 h 75"/>
                    <a:gd name="T18" fmla="*/ 23 w 72"/>
                    <a:gd name="T19" fmla="*/ 19 h 75"/>
                    <a:gd name="T20" fmla="*/ 24 w 72"/>
                    <a:gd name="T21" fmla="*/ 17 h 75"/>
                    <a:gd name="T22" fmla="*/ 24 w 72"/>
                    <a:gd name="T23" fmla="*/ 16 h 75"/>
                    <a:gd name="T24" fmla="*/ 23 w 72"/>
                    <a:gd name="T25" fmla="*/ 15 h 75"/>
                    <a:gd name="T26" fmla="*/ 22 w 72"/>
                    <a:gd name="T27" fmla="*/ 13 h 75"/>
                    <a:gd name="T28" fmla="*/ 21 w 72"/>
                    <a:gd name="T29" fmla="*/ 13 h 75"/>
                    <a:gd name="T30" fmla="*/ 20 w 72"/>
                    <a:gd name="T31" fmla="*/ 13 h 75"/>
                    <a:gd name="T32" fmla="*/ 18 w 72"/>
                    <a:gd name="T33" fmla="*/ 13 h 75"/>
                    <a:gd name="T34" fmla="*/ 16 w 72"/>
                    <a:gd name="T35" fmla="*/ 14 h 75"/>
                    <a:gd name="T36" fmla="*/ 13 w 72"/>
                    <a:gd name="T37" fmla="*/ 15 h 75"/>
                    <a:gd name="T38" fmla="*/ 11 w 72"/>
                    <a:gd name="T39" fmla="*/ 17 h 75"/>
                    <a:gd name="T40" fmla="*/ 10 w 72"/>
                    <a:gd name="T41" fmla="*/ 17 h 75"/>
                    <a:gd name="T42" fmla="*/ 9 w 72"/>
                    <a:gd name="T43" fmla="*/ 14 h 75"/>
                    <a:gd name="T44" fmla="*/ 7 w 72"/>
                    <a:gd name="T45" fmla="*/ 8 h 75"/>
                    <a:gd name="T46" fmla="*/ 4 w 72"/>
                    <a:gd name="T47" fmla="*/ 2 h 75"/>
                    <a:gd name="T48" fmla="*/ 0 w 72"/>
                    <a:gd name="T49" fmla="*/ 0 h 75"/>
                    <a:gd name="T50" fmla="*/ 0 w 72"/>
                    <a:gd name="T51" fmla="*/ 6 h 75"/>
                    <a:gd name="T52" fmla="*/ 1 w 72"/>
                    <a:gd name="T53" fmla="*/ 13 h 75"/>
                    <a:gd name="T54" fmla="*/ 2 w 72"/>
                    <a:gd name="T55" fmla="*/ 19 h 75"/>
                    <a:gd name="T56" fmla="*/ 2 w 72"/>
                    <a:gd name="T57" fmla="*/ 22 h 75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2"/>
                    <a:gd name="T88" fmla="*/ 0 h 75"/>
                    <a:gd name="T89" fmla="*/ 72 w 72"/>
                    <a:gd name="T90" fmla="*/ 75 h 75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2" h="75">
                      <a:moveTo>
                        <a:pt x="7" y="65"/>
                      </a:moveTo>
                      <a:lnTo>
                        <a:pt x="15" y="72"/>
                      </a:lnTo>
                      <a:lnTo>
                        <a:pt x="25" y="75"/>
                      </a:lnTo>
                      <a:lnTo>
                        <a:pt x="32" y="75"/>
                      </a:lnTo>
                      <a:lnTo>
                        <a:pt x="37" y="73"/>
                      </a:lnTo>
                      <a:lnTo>
                        <a:pt x="39" y="72"/>
                      </a:lnTo>
                      <a:lnTo>
                        <a:pt x="47" y="71"/>
                      </a:lnTo>
                      <a:lnTo>
                        <a:pt x="56" y="66"/>
                      </a:lnTo>
                      <a:lnTo>
                        <a:pt x="64" y="60"/>
                      </a:lnTo>
                      <a:lnTo>
                        <a:pt x="69" y="56"/>
                      </a:lnTo>
                      <a:lnTo>
                        <a:pt x="72" y="52"/>
                      </a:lnTo>
                      <a:lnTo>
                        <a:pt x="72" y="49"/>
                      </a:lnTo>
                      <a:lnTo>
                        <a:pt x="70" y="45"/>
                      </a:lnTo>
                      <a:lnTo>
                        <a:pt x="67" y="40"/>
                      </a:lnTo>
                      <a:lnTo>
                        <a:pt x="63" y="39"/>
                      </a:lnTo>
                      <a:lnTo>
                        <a:pt x="59" y="38"/>
                      </a:lnTo>
                      <a:lnTo>
                        <a:pt x="54" y="39"/>
                      </a:lnTo>
                      <a:lnTo>
                        <a:pt x="48" y="42"/>
                      </a:lnTo>
                      <a:lnTo>
                        <a:pt x="39" y="46"/>
                      </a:lnTo>
                      <a:lnTo>
                        <a:pt x="32" y="50"/>
                      </a:lnTo>
                      <a:lnTo>
                        <a:pt x="29" y="52"/>
                      </a:lnTo>
                      <a:lnTo>
                        <a:pt x="26" y="43"/>
                      </a:lnTo>
                      <a:lnTo>
                        <a:pt x="20" y="25"/>
                      </a:lnTo>
                      <a:lnTo>
                        <a:pt x="12" y="7"/>
                      </a:lnTo>
                      <a:lnTo>
                        <a:pt x="1" y="0"/>
                      </a:lnTo>
                      <a:lnTo>
                        <a:pt x="0" y="17"/>
                      </a:lnTo>
                      <a:lnTo>
                        <a:pt x="3" y="39"/>
                      </a:lnTo>
                      <a:lnTo>
                        <a:pt x="6" y="58"/>
                      </a:lnTo>
                      <a:lnTo>
                        <a:pt x="7" y="6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1" name="Freeform 34"/>
                <p:cNvSpPr>
                  <a:spLocks/>
                </p:cNvSpPr>
                <p:nvPr/>
              </p:nvSpPr>
              <p:spPr bwMode="auto">
                <a:xfrm>
                  <a:off x="8370" y="4780"/>
                  <a:ext cx="23" cy="20"/>
                </a:xfrm>
                <a:custGeom>
                  <a:avLst/>
                  <a:gdLst>
                    <a:gd name="T0" fmla="*/ 5 w 70"/>
                    <a:gd name="T1" fmla="*/ 18 h 59"/>
                    <a:gd name="T2" fmla="*/ 5 w 70"/>
                    <a:gd name="T3" fmla="*/ 19 h 59"/>
                    <a:gd name="T4" fmla="*/ 7 w 70"/>
                    <a:gd name="T5" fmla="*/ 19 h 59"/>
                    <a:gd name="T6" fmla="*/ 8 w 70"/>
                    <a:gd name="T7" fmla="*/ 20 h 59"/>
                    <a:gd name="T8" fmla="*/ 9 w 70"/>
                    <a:gd name="T9" fmla="*/ 20 h 59"/>
                    <a:gd name="T10" fmla="*/ 12 w 70"/>
                    <a:gd name="T11" fmla="*/ 20 h 59"/>
                    <a:gd name="T12" fmla="*/ 15 w 70"/>
                    <a:gd name="T13" fmla="*/ 19 h 59"/>
                    <a:gd name="T14" fmla="*/ 18 w 70"/>
                    <a:gd name="T15" fmla="*/ 19 h 59"/>
                    <a:gd name="T16" fmla="*/ 21 w 70"/>
                    <a:gd name="T17" fmla="*/ 17 h 59"/>
                    <a:gd name="T18" fmla="*/ 22 w 70"/>
                    <a:gd name="T19" fmla="*/ 16 h 59"/>
                    <a:gd name="T20" fmla="*/ 23 w 70"/>
                    <a:gd name="T21" fmla="*/ 15 h 59"/>
                    <a:gd name="T22" fmla="*/ 23 w 70"/>
                    <a:gd name="T23" fmla="*/ 14 h 59"/>
                    <a:gd name="T24" fmla="*/ 23 w 70"/>
                    <a:gd name="T25" fmla="*/ 13 h 59"/>
                    <a:gd name="T26" fmla="*/ 18 w 70"/>
                    <a:gd name="T27" fmla="*/ 11 h 59"/>
                    <a:gd name="T28" fmla="*/ 14 w 70"/>
                    <a:gd name="T29" fmla="*/ 11 h 59"/>
                    <a:gd name="T30" fmla="*/ 11 w 70"/>
                    <a:gd name="T31" fmla="*/ 13 h 59"/>
                    <a:gd name="T32" fmla="*/ 9 w 70"/>
                    <a:gd name="T33" fmla="*/ 14 h 59"/>
                    <a:gd name="T34" fmla="*/ 7 w 70"/>
                    <a:gd name="T35" fmla="*/ 10 h 59"/>
                    <a:gd name="T36" fmla="*/ 5 w 70"/>
                    <a:gd name="T37" fmla="*/ 5 h 59"/>
                    <a:gd name="T38" fmla="*/ 3 w 70"/>
                    <a:gd name="T39" fmla="*/ 1 h 59"/>
                    <a:gd name="T40" fmla="*/ 1 w 70"/>
                    <a:gd name="T41" fmla="*/ 0 h 59"/>
                    <a:gd name="T42" fmla="*/ 0 w 70"/>
                    <a:gd name="T43" fmla="*/ 6 h 59"/>
                    <a:gd name="T44" fmla="*/ 1 w 70"/>
                    <a:gd name="T45" fmla="*/ 12 h 59"/>
                    <a:gd name="T46" fmla="*/ 4 w 70"/>
                    <a:gd name="T47" fmla="*/ 17 h 59"/>
                    <a:gd name="T48" fmla="*/ 5 w 70"/>
                    <a:gd name="T49" fmla="*/ 18 h 59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70"/>
                    <a:gd name="T76" fmla="*/ 0 h 59"/>
                    <a:gd name="T77" fmla="*/ 70 w 70"/>
                    <a:gd name="T78" fmla="*/ 59 h 59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70" h="59">
                      <a:moveTo>
                        <a:pt x="15" y="53"/>
                      </a:moveTo>
                      <a:lnTo>
                        <a:pt x="16" y="55"/>
                      </a:lnTo>
                      <a:lnTo>
                        <a:pt x="20" y="57"/>
                      </a:lnTo>
                      <a:lnTo>
                        <a:pt x="25" y="59"/>
                      </a:lnTo>
                      <a:lnTo>
                        <a:pt x="26" y="59"/>
                      </a:lnTo>
                      <a:lnTo>
                        <a:pt x="35" y="59"/>
                      </a:lnTo>
                      <a:lnTo>
                        <a:pt x="45" y="56"/>
                      </a:lnTo>
                      <a:lnTo>
                        <a:pt x="54" y="55"/>
                      </a:lnTo>
                      <a:lnTo>
                        <a:pt x="63" y="50"/>
                      </a:lnTo>
                      <a:lnTo>
                        <a:pt x="66" y="47"/>
                      </a:lnTo>
                      <a:lnTo>
                        <a:pt x="69" y="44"/>
                      </a:lnTo>
                      <a:lnTo>
                        <a:pt x="70" y="40"/>
                      </a:lnTo>
                      <a:lnTo>
                        <a:pt x="69" y="37"/>
                      </a:lnTo>
                      <a:lnTo>
                        <a:pt x="56" y="32"/>
                      </a:lnTo>
                      <a:lnTo>
                        <a:pt x="42" y="33"/>
                      </a:lnTo>
                      <a:lnTo>
                        <a:pt x="32" y="37"/>
                      </a:lnTo>
                      <a:lnTo>
                        <a:pt x="28" y="40"/>
                      </a:lnTo>
                      <a:lnTo>
                        <a:pt x="20" y="30"/>
                      </a:lnTo>
                      <a:lnTo>
                        <a:pt x="16" y="14"/>
                      </a:lnTo>
                      <a:lnTo>
                        <a:pt x="10" y="3"/>
                      </a:lnTo>
                      <a:lnTo>
                        <a:pt x="3" y="0"/>
                      </a:lnTo>
                      <a:lnTo>
                        <a:pt x="0" y="19"/>
                      </a:lnTo>
                      <a:lnTo>
                        <a:pt x="4" y="36"/>
                      </a:lnTo>
                      <a:lnTo>
                        <a:pt x="12" y="49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2" name="Freeform 35"/>
                <p:cNvSpPr>
                  <a:spLocks/>
                </p:cNvSpPr>
                <p:nvPr/>
              </p:nvSpPr>
              <p:spPr bwMode="auto">
                <a:xfrm>
                  <a:off x="8390" y="4771"/>
                  <a:ext cx="22" cy="20"/>
                </a:xfrm>
                <a:custGeom>
                  <a:avLst/>
                  <a:gdLst>
                    <a:gd name="T0" fmla="*/ 1 w 65"/>
                    <a:gd name="T1" fmla="*/ 15 h 60"/>
                    <a:gd name="T2" fmla="*/ 3 w 65"/>
                    <a:gd name="T3" fmla="*/ 19 h 60"/>
                    <a:gd name="T4" fmla="*/ 7 w 65"/>
                    <a:gd name="T5" fmla="*/ 20 h 60"/>
                    <a:gd name="T6" fmla="*/ 10 w 65"/>
                    <a:gd name="T7" fmla="*/ 20 h 60"/>
                    <a:gd name="T8" fmla="*/ 12 w 65"/>
                    <a:gd name="T9" fmla="*/ 20 h 60"/>
                    <a:gd name="T10" fmla="*/ 15 w 65"/>
                    <a:gd name="T11" fmla="*/ 19 h 60"/>
                    <a:gd name="T12" fmla="*/ 18 w 65"/>
                    <a:gd name="T13" fmla="*/ 17 h 60"/>
                    <a:gd name="T14" fmla="*/ 21 w 65"/>
                    <a:gd name="T15" fmla="*/ 15 h 60"/>
                    <a:gd name="T16" fmla="*/ 22 w 65"/>
                    <a:gd name="T17" fmla="*/ 13 h 60"/>
                    <a:gd name="T18" fmla="*/ 21 w 65"/>
                    <a:gd name="T19" fmla="*/ 12 h 60"/>
                    <a:gd name="T20" fmla="*/ 20 w 65"/>
                    <a:gd name="T21" fmla="*/ 11 h 60"/>
                    <a:gd name="T22" fmla="*/ 19 w 65"/>
                    <a:gd name="T23" fmla="*/ 11 h 60"/>
                    <a:gd name="T24" fmla="*/ 17 w 65"/>
                    <a:gd name="T25" fmla="*/ 11 h 60"/>
                    <a:gd name="T26" fmla="*/ 9 w 65"/>
                    <a:gd name="T27" fmla="*/ 12 h 60"/>
                    <a:gd name="T28" fmla="*/ 8 w 65"/>
                    <a:gd name="T29" fmla="*/ 10 h 60"/>
                    <a:gd name="T30" fmla="*/ 6 w 65"/>
                    <a:gd name="T31" fmla="*/ 5 h 60"/>
                    <a:gd name="T32" fmla="*/ 3 w 65"/>
                    <a:gd name="T33" fmla="*/ 1 h 60"/>
                    <a:gd name="T34" fmla="*/ 0 w 65"/>
                    <a:gd name="T35" fmla="*/ 0 h 60"/>
                    <a:gd name="T36" fmla="*/ 0 w 65"/>
                    <a:gd name="T37" fmla="*/ 5 h 60"/>
                    <a:gd name="T38" fmla="*/ 1 w 65"/>
                    <a:gd name="T39" fmla="*/ 10 h 60"/>
                    <a:gd name="T40" fmla="*/ 1 w 65"/>
                    <a:gd name="T41" fmla="*/ 14 h 60"/>
                    <a:gd name="T42" fmla="*/ 1 w 65"/>
                    <a:gd name="T43" fmla="*/ 15 h 60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65"/>
                    <a:gd name="T67" fmla="*/ 0 h 60"/>
                    <a:gd name="T68" fmla="*/ 65 w 65"/>
                    <a:gd name="T69" fmla="*/ 60 h 60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65" h="60">
                      <a:moveTo>
                        <a:pt x="4" y="46"/>
                      </a:moveTo>
                      <a:lnTo>
                        <a:pt x="9" y="56"/>
                      </a:lnTo>
                      <a:lnTo>
                        <a:pt x="21" y="60"/>
                      </a:lnTo>
                      <a:lnTo>
                        <a:pt x="31" y="60"/>
                      </a:lnTo>
                      <a:lnTo>
                        <a:pt x="35" y="60"/>
                      </a:lnTo>
                      <a:lnTo>
                        <a:pt x="44" y="57"/>
                      </a:lnTo>
                      <a:lnTo>
                        <a:pt x="54" y="51"/>
                      </a:lnTo>
                      <a:lnTo>
                        <a:pt x="62" y="46"/>
                      </a:lnTo>
                      <a:lnTo>
                        <a:pt x="65" y="40"/>
                      </a:lnTo>
                      <a:lnTo>
                        <a:pt x="63" y="36"/>
                      </a:lnTo>
                      <a:lnTo>
                        <a:pt x="60" y="34"/>
                      </a:lnTo>
                      <a:lnTo>
                        <a:pt x="56" y="33"/>
                      </a:lnTo>
                      <a:lnTo>
                        <a:pt x="51" y="33"/>
                      </a:lnTo>
                      <a:lnTo>
                        <a:pt x="26" y="37"/>
                      </a:lnTo>
                      <a:lnTo>
                        <a:pt x="24" y="30"/>
                      </a:lnTo>
                      <a:lnTo>
                        <a:pt x="18" y="15"/>
                      </a:lnTo>
                      <a:lnTo>
                        <a:pt x="9" y="2"/>
                      </a:lnTo>
                      <a:lnTo>
                        <a:pt x="0" y="0"/>
                      </a:lnTo>
                      <a:lnTo>
                        <a:pt x="0" y="14"/>
                      </a:lnTo>
                      <a:lnTo>
                        <a:pt x="2" y="30"/>
                      </a:lnTo>
                      <a:lnTo>
                        <a:pt x="3" y="41"/>
                      </a:lnTo>
                      <a:lnTo>
                        <a:pt x="4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3" name="Freeform 36"/>
                <p:cNvSpPr>
                  <a:spLocks/>
                </p:cNvSpPr>
                <p:nvPr/>
              </p:nvSpPr>
              <p:spPr bwMode="auto">
                <a:xfrm>
                  <a:off x="8362" y="4825"/>
                  <a:ext cx="23" cy="16"/>
                </a:xfrm>
                <a:custGeom>
                  <a:avLst/>
                  <a:gdLst>
                    <a:gd name="T0" fmla="*/ 3 w 69"/>
                    <a:gd name="T1" fmla="*/ 16 h 47"/>
                    <a:gd name="T2" fmla="*/ 4 w 69"/>
                    <a:gd name="T3" fmla="*/ 16 h 47"/>
                    <a:gd name="T4" fmla="*/ 5 w 69"/>
                    <a:gd name="T5" fmla="*/ 16 h 47"/>
                    <a:gd name="T6" fmla="*/ 7 w 69"/>
                    <a:gd name="T7" fmla="*/ 16 h 47"/>
                    <a:gd name="T8" fmla="*/ 8 w 69"/>
                    <a:gd name="T9" fmla="*/ 16 h 47"/>
                    <a:gd name="T10" fmla="*/ 10 w 69"/>
                    <a:gd name="T11" fmla="*/ 16 h 47"/>
                    <a:gd name="T12" fmla="*/ 13 w 69"/>
                    <a:gd name="T13" fmla="*/ 15 h 47"/>
                    <a:gd name="T14" fmla="*/ 16 w 69"/>
                    <a:gd name="T15" fmla="*/ 14 h 47"/>
                    <a:gd name="T16" fmla="*/ 19 w 69"/>
                    <a:gd name="T17" fmla="*/ 13 h 47"/>
                    <a:gd name="T18" fmla="*/ 21 w 69"/>
                    <a:gd name="T19" fmla="*/ 12 h 47"/>
                    <a:gd name="T20" fmla="*/ 22 w 69"/>
                    <a:gd name="T21" fmla="*/ 10 h 47"/>
                    <a:gd name="T22" fmla="*/ 23 w 69"/>
                    <a:gd name="T23" fmla="*/ 9 h 47"/>
                    <a:gd name="T24" fmla="*/ 22 w 69"/>
                    <a:gd name="T25" fmla="*/ 7 h 47"/>
                    <a:gd name="T26" fmla="*/ 21 w 69"/>
                    <a:gd name="T27" fmla="*/ 6 h 47"/>
                    <a:gd name="T28" fmla="*/ 19 w 69"/>
                    <a:gd name="T29" fmla="*/ 6 h 47"/>
                    <a:gd name="T30" fmla="*/ 16 w 69"/>
                    <a:gd name="T31" fmla="*/ 6 h 47"/>
                    <a:gd name="T32" fmla="*/ 13 w 69"/>
                    <a:gd name="T33" fmla="*/ 6 h 47"/>
                    <a:gd name="T34" fmla="*/ 11 w 69"/>
                    <a:gd name="T35" fmla="*/ 7 h 47"/>
                    <a:gd name="T36" fmla="*/ 9 w 69"/>
                    <a:gd name="T37" fmla="*/ 8 h 47"/>
                    <a:gd name="T38" fmla="*/ 7 w 69"/>
                    <a:gd name="T39" fmla="*/ 9 h 47"/>
                    <a:gd name="T40" fmla="*/ 7 w 69"/>
                    <a:gd name="T41" fmla="*/ 9 h 47"/>
                    <a:gd name="T42" fmla="*/ 6 w 69"/>
                    <a:gd name="T43" fmla="*/ 7 h 47"/>
                    <a:gd name="T44" fmla="*/ 5 w 69"/>
                    <a:gd name="T45" fmla="*/ 5 h 47"/>
                    <a:gd name="T46" fmla="*/ 4 w 69"/>
                    <a:gd name="T47" fmla="*/ 2 h 47"/>
                    <a:gd name="T48" fmla="*/ 3 w 69"/>
                    <a:gd name="T49" fmla="*/ 1 h 47"/>
                    <a:gd name="T50" fmla="*/ 2 w 69"/>
                    <a:gd name="T51" fmla="*/ 0 h 47"/>
                    <a:gd name="T52" fmla="*/ 2 w 69"/>
                    <a:gd name="T53" fmla="*/ 0 h 47"/>
                    <a:gd name="T54" fmla="*/ 1 w 69"/>
                    <a:gd name="T55" fmla="*/ 0 h 47"/>
                    <a:gd name="T56" fmla="*/ 0 w 69"/>
                    <a:gd name="T57" fmla="*/ 1 h 47"/>
                    <a:gd name="T58" fmla="*/ 0 w 69"/>
                    <a:gd name="T59" fmla="*/ 4 h 47"/>
                    <a:gd name="T60" fmla="*/ 1 w 69"/>
                    <a:gd name="T61" fmla="*/ 9 h 47"/>
                    <a:gd name="T62" fmla="*/ 2 w 69"/>
                    <a:gd name="T63" fmla="*/ 14 h 47"/>
                    <a:gd name="T64" fmla="*/ 3 w 69"/>
                    <a:gd name="T65" fmla="*/ 16 h 47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69"/>
                    <a:gd name="T100" fmla="*/ 0 h 47"/>
                    <a:gd name="T101" fmla="*/ 69 w 69"/>
                    <a:gd name="T102" fmla="*/ 47 h 47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69" h="47">
                      <a:moveTo>
                        <a:pt x="9" y="46"/>
                      </a:moveTo>
                      <a:lnTo>
                        <a:pt x="12" y="47"/>
                      </a:lnTo>
                      <a:lnTo>
                        <a:pt x="16" y="47"/>
                      </a:lnTo>
                      <a:lnTo>
                        <a:pt x="22" y="47"/>
                      </a:lnTo>
                      <a:lnTo>
                        <a:pt x="23" y="47"/>
                      </a:lnTo>
                      <a:lnTo>
                        <a:pt x="31" y="46"/>
                      </a:lnTo>
                      <a:lnTo>
                        <a:pt x="40" y="45"/>
                      </a:lnTo>
                      <a:lnTo>
                        <a:pt x="48" y="42"/>
                      </a:lnTo>
                      <a:lnTo>
                        <a:pt x="56" y="37"/>
                      </a:lnTo>
                      <a:lnTo>
                        <a:pt x="63" y="34"/>
                      </a:lnTo>
                      <a:lnTo>
                        <a:pt x="67" y="30"/>
                      </a:lnTo>
                      <a:lnTo>
                        <a:pt x="69" y="26"/>
                      </a:lnTo>
                      <a:lnTo>
                        <a:pt x="66" y="20"/>
                      </a:lnTo>
                      <a:lnTo>
                        <a:pt x="62" y="17"/>
                      </a:lnTo>
                      <a:lnTo>
                        <a:pt x="56" y="17"/>
                      </a:lnTo>
                      <a:lnTo>
                        <a:pt x="48" y="17"/>
                      </a:lnTo>
                      <a:lnTo>
                        <a:pt x="40" y="19"/>
                      </a:lnTo>
                      <a:lnTo>
                        <a:pt x="32" y="22"/>
                      </a:lnTo>
                      <a:lnTo>
                        <a:pt x="26" y="23"/>
                      </a:lnTo>
                      <a:lnTo>
                        <a:pt x="22" y="26"/>
                      </a:lnTo>
                      <a:lnTo>
                        <a:pt x="20" y="26"/>
                      </a:lnTo>
                      <a:lnTo>
                        <a:pt x="19" y="22"/>
                      </a:lnTo>
                      <a:lnTo>
                        <a:pt x="16" y="14"/>
                      </a:lnTo>
                      <a:lnTo>
                        <a:pt x="12" y="7"/>
                      </a:lnTo>
                      <a:lnTo>
                        <a:pt x="10" y="4"/>
                      </a:lnTo>
                      <a:lnTo>
                        <a:pt x="7" y="1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0" y="3"/>
                      </a:lnTo>
                      <a:lnTo>
                        <a:pt x="0" y="11"/>
                      </a:lnTo>
                      <a:lnTo>
                        <a:pt x="3" y="26"/>
                      </a:lnTo>
                      <a:lnTo>
                        <a:pt x="7" y="40"/>
                      </a:lnTo>
                      <a:lnTo>
                        <a:pt x="9" y="46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4" name="Freeform 37"/>
                <p:cNvSpPr>
                  <a:spLocks/>
                </p:cNvSpPr>
                <p:nvPr/>
              </p:nvSpPr>
              <p:spPr bwMode="auto">
                <a:xfrm>
                  <a:off x="8390" y="4813"/>
                  <a:ext cx="20" cy="20"/>
                </a:xfrm>
                <a:custGeom>
                  <a:avLst/>
                  <a:gdLst>
                    <a:gd name="T0" fmla="*/ 4 w 60"/>
                    <a:gd name="T1" fmla="*/ 18 h 58"/>
                    <a:gd name="T2" fmla="*/ 7 w 60"/>
                    <a:gd name="T3" fmla="*/ 19 h 58"/>
                    <a:gd name="T4" fmla="*/ 11 w 60"/>
                    <a:gd name="T5" fmla="*/ 20 h 58"/>
                    <a:gd name="T6" fmla="*/ 15 w 60"/>
                    <a:gd name="T7" fmla="*/ 19 h 58"/>
                    <a:gd name="T8" fmla="*/ 18 w 60"/>
                    <a:gd name="T9" fmla="*/ 17 h 58"/>
                    <a:gd name="T10" fmla="*/ 19 w 60"/>
                    <a:gd name="T11" fmla="*/ 17 h 58"/>
                    <a:gd name="T12" fmla="*/ 20 w 60"/>
                    <a:gd name="T13" fmla="*/ 16 h 58"/>
                    <a:gd name="T14" fmla="*/ 20 w 60"/>
                    <a:gd name="T15" fmla="*/ 14 h 58"/>
                    <a:gd name="T16" fmla="*/ 20 w 60"/>
                    <a:gd name="T17" fmla="*/ 13 h 58"/>
                    <a:gd name="T18" fmla="*/ 19 w 60"/>
                    <a:gd name="T19" fmla="*/ 12 h 58"/>
                    <a:gd name="T20" fmla="*/ 18 w 60"/>
                    <a:gd name="T21" fmla="*/ 11 h 58"/>
                    <a:gd name="T22" fmla="*/ 16 w 60"/>
                    <a:gd name="T23" fmla="*/ 11 h 58"/>
                    <a:gd name="T24" fmla="*/ 15 w 60"/>
                    <a:gd name="T25" fmla="*/ 11 h 58"/>
                    <a:gd name="T26" fmla="*/ 12 w 60"/>
                    <a:gd name="T27" fmla="*/ 12 h 58"/>
                    <a:gd name="T28" fmla="*/ 9 w 60"/>
                    <a:gd name="T29" fmla="*/ 12 h 58"/>
                    <a:gd name="T30" fmla="*/ 7 w 60"/>
                    <a:gd name="T31" fmla="*/ 12 h 58"/>
                    <a:gd name="T32" fmla="*/ 6 w 60"/>
                    <a:gd name="T33" fmla="*/ 12 h 58"/>
                    <a:gd name="T34" fmla="*/ 6 w 60"/>
                    <a:gd name="T35" fmla="*/ 10 h 58"/>
                    <a:gd name="T36" fmla="*/ 6 w 60"/>
                    <a:gd name="T37" fmla="*/ 6 h 58"/>
                    <a:gd name="T38" fmla="*/ 5 w 60"/>
                    <a:gd name="T39" fmla="*/ 1 h 58"/>
                    <a:gd name="T40" fmla="*/ 2 w 60"/>
                    <a:gd name="T41" fmla="*/ 0 h 58"/>
                    <a:gd name="T42" fmla="*/ 0 w 60"/>
                    <a:gd name="T43" fmla="*/ 4 h 58"/>
                    <a:gd name="T44" fmla="*/ 0 w 60"/>
                    <a:gd name="T45" fmla="*/ 9 h 58"/>
                    <a:gd name="T46" fmla="*/ 1 w 60"/>
                    <a:gd name="T47" fmla="*/ 14 h 58"/>
                    <a:gd name="T48" fmla="*/ 4 w 60"/>
                    <a:gd name="T49" fmla="*/ 18 h 58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60"/>
                    <a:gd name="T76" fmla="*/ 0 h 58"/>
                    <a:gd name="T77" fmla="*/ 60 w 60"/>
                    <a:gd name="T78" fmla="*/ 58 h 58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60" h="58">
                      <a:moveTo>
                        <a:pt x="13" y="52"/>
                      </a:moveTo>
                      <a:lnTo>
                        <a:pt x="20" y="55"/>
                      </a:lnTo>
                      <a:lnTo>
                        <a:pt x="32" y="58"/>
                      </a:lnTo>
                      <a:lnTo>
                        <a:pt x="45" y="56"/>
                      </a:lnTo>
                      <a:lnTo>
                        <a:pt x="55" y="50"/>
                      </a:lnTo>
                      <a:lnTo>
                        <a:pt x="58" y="49"/>
                      </a:lnTo>
                      <a:lnTo>
                        <a:pt x="60" y="46"/>
                      </a:lnTo>
                      <a:lnTo>
                        <a:pt x="60" y="42"/>
                      </a:lnTo>
                      <a:lnTo>
                        <a:pt x="60" y="39"/>
                      </a:lnTo>
                      <a:lnTo>
                        <a:pt x="58" y="36"/>
                      </a:lnTo>
                      <a:lnTo>
                        <a:pt x="54" y="33"/>
                      </a:lnTo>
                      <a:lnTo>
                        <a:pt x="49" y="32"/>
                      </a:lnTo>
                      <a:lnTo>
                        <a:pt x="45" y="32"/>
                      </a:lnTo>
                      <a:lnTo>
                        <a:pt x="36" y="35"/>
                      </a:lnTo>
                      <a:lnTo>
                        <a:pt x="27" y="36"/>
                      </a:lnTo>
                      <a:lnTo>
                        <a:pt x="20" y="35"/>
                      </a:lnTo>
                      <a:lnTo>
                        <a:pt x="17" y="35"/>
                      </a:lnTo>
                      <a:lnTo>
                        <a:pt x="17" y="29"/>
                      </a:lnTo>
                      <a:lnTo>
                        <a:pt x="17" y="16"/>
                      </a:lnTo>
                      <a:lnTo>
                        <a:pt x="14" y="3"/>
                      </a:lnTo>
                      <a:lnTo>
                        <a:pt x="5" y="0"/>
                      </a:lnTo>
                      <a:lnTo>
                        <a:pt x="1" y="12"/>
                      </a:lnTo>
                      <a:lnTo>
                        <a:pt x="0" y="26"/>
                      </a:lnTo>
                      <a:lnTo>
                        <a:pt x="3" y="40"/>
                      </a:lnTo>
                      <a:lnTo>
                        <a:pt x="13" y="5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5" name="Freeform 38"/>
                <p:cNvSpPr>
                  <a:spLocks/>
                </p:cNvSpPr>
                <p:nvPr/>
              </p:nvSpPr>
              <p:spPr bwMode="auto">
                <a:xfrm>
                  <a:off x="8411" y="4806"/>
                  <a:ext cx="20" cy="18"/>
                </a:xfrm>
                <a:custGeom>
                  <a:avLst/>
                  <a:gdLst>
                    <a:gd name="T0" fmla="*/ 6 w 59"/>
                    <a:gd name="T1" fmla="*/ 17 h 55"/>
                    <a:gd name="T2" fmla="*/ 11 w 59"/>
                    <a:gd name="T3" fmla="*/ 18 h 55"/>
                    <a:gd name="T4" fmla="*/ 15 w 59"/>
                    <a:gd name="T5" fmla="*/ 18 h 55"/>
                    <a:gd name="T6" fmla="*/ 18 w 59"/>
                    <a:gd name="T7" fmla="*/ 15 h 55"/>
                    <a:gd name="T8" fmla="*/ 20 w 59"/>
                    <a:gd name="T9" fmla="*/ 11 h 55"/>
                    <a:gd name="T10" fmla="*/ 19 w 59"/>
                    <a:gd name="T11" fmla="*/ 10 h 55"/>
                    <a:gd name="T12" fmla="*/ 18 w 59"/>
                    <a:gd name="T13" fmla="*/ 9 h 55"/>
                    <a:gd name="T14" fmla="*/ 17 w 59"/>
                    <a:gd name="T15" fmla="*/ 9 h 55"/>
                    <a:gd name="T16" fmla="*/ 15 w 59"/>
                    <a:gd name="T17" fmla="*/ 9 h 55"/>
                    <a:gd name="T18" fmla="*/ 14 w 59"/>
                    <a:gd name="T19" fmla="*/ 10 h 55"/>
                    <a:gd name="T20" fmla="*/ 13 w 59"/>
                    <a:gd name="T21" fmla="*/ 11 h 55"/>
                    <a:gd name="T22" fmla="*/ 12 w 59"/>
                    <a:gd name="T23" fmla="*/ 12 h 55"/>
                    <a:gd name="T24" fmla="*/ 11 w 59"/>
                    <a:gd name="T25" fmla="*/ 13 h 55"/>
                    <a:gd name="T26" fmla="*/ 9 w 59"/>
                    <a:gd name="T27" fmla="*/ 10 h 55"/>
                    <a:gd name="T28" fmla="*/ 7 w 59"/>
                    <a:gd name="T29" fmla="*/ 6 h 55"/>
                    <a:gd name="T30" fmla="*/ 3 w 59"/>
                    <a:gd name="T31" fmla="*/ 2 h 55"/>
                    <a:gd name="T32" fmla="*/ 0 w 59"/>
                    <a:gd name="T33" fmla="*/ 0 h 55"/>
                    <a:gd name="T34" fmla="*/ 1 w 59"/>
                    <a:gd name="T35" fmla="*/ 6 h 55"/>
                    <a:gd name="T36" fmla="*/ 3 w 59"/>
                    <a:gd name="T37" fmla="*/ 11 h 55"/>
                    <a:gd name="T38" fmla="*/ 5 w 59"/>
                    <a:gd name="T39" fmla="*/ 15 h 55"/>
                    <a:gd name="T40" fmla="*/ 6 w 59"/>
                    <a:gd name="T41" fmla="*/ 17 h 55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59"/>
                    <a:gd name="T64" fmla="*/ 0 h 55"/>
                    <a:gd name="T65" fmla="*/ 59 w 59"/>
                    <a:gd name="T66" fmla="*/ 55 h 55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59" h="55">
                      <a:moveTo>
                        <a:pt x="19" y="52"/>
                      </a:moveTo>
                      <a:lnTo>
                        <a:pt x="31" y="55"/>
                      </a:lnTo>
                      <a:lnTo>
                        <a:pt x="43" y="54"/>
                      </a:lnTo>
                      <a:lnTo>
                        <a:pt x="53" y="46"/>
                      </a:lnTo>
                      <a:lnTo>
                        <a:pt x="59" y="35"/>
                      </a:lnTo>
                      <a:lnTo>
                        <a:pt x="57" y="31"/>
                      </a:lnTo>
                      <a:lnTo>
                        <a:pt x="54" y="29"/>
                      </a:lnTo>
                      <a:lnTo>
                        <a:pt x="49" y="28"/>
                      </a:lnTo>
                      <a:lnTo>
                        <a:pt x="44" y="29"/>
                      </a:lnTo>
                      <a:lnTo>
                        <a:pt x="41" y="32"/>
                      </a:lnTo>
                      <a:lnTo>
                        <a:pt x="38" y="35"/>
                      </a:lnTo>
                      <a:lnTo>
                        <a:pt x="34" y="36"/>
                      </a:lnTo>
                      <a:lnTo>
                        <a:pt x="31" y="39"/>
                      </a:lnTo>
                      <a:lnTo>
                        <a:pt x="28" y="32"/>
                      </a:lnTo>
                      <a:lnTo>
                        <a:pt x="21" y="18"/>
                      </a:lnTo>
                      <a:lnTo>
                        <a:pt x="10" y="5"/>
                      </a:lnTo>
                      <a:lnTo>
                        <a:pt x="0" y="0"/>
                      </a:lnTo>
                      <a:lnTo>
                        <a:pt x="2" y="18"/>
                      </a:lnTo>
                      <a:lnTo>
                        <a:pt x="9" y="35"/>
                      </a:lnTo>
                      <a:lnTo>
                        <a:pt x="16" y="46"/>
                      </a:lnTo>
                      <a:lnTo>
                        <a:pt x="19" y="52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6" name="Freeform 39"/>
                <p:cNvSpPr>
                  <a:spLocks/>
                </p:cNvSpPr>
                <p:nvPr/>
              </p:nvSpPr>
              <p:spPr bwMode="auto">
                <a:xfrm>
                  <a:off x="8374" y="4857"/>
                  <a:ext cx="27" cy="25"/>
                </a:xfrm>
                <a:custGeom>
                  <a:avLst/>
                  <a:gdLst>
                    <a:gd name="T0" fmla="*/ 11 w 82"/>
                    <a:gd name="T1" fmla="*/ 25 h 76"/>
                    <a:gd name="T2" fmla="*/ 13 w 82"/>
                    <a:gd name="T3" fmla="*/ 25 h 76"/>
                    <a:gd name="T4" fmla="*/ 14 w 82"/>
                    <a:gd name="T5" fmla="*/ 25 h 76"/>
                    <a:gd name="T6" fmla="*/ 16 w 82"/>
                    <a:gd name="T7" fmla="*/ 25 h 76"/>
                    <a:gd name="T8" fmla="*/ 19 w 82"/>
                    <a:gd name="T9" fmla="*/ 25 h 76"/>
                    <a:gd name="T10" fmla="*/ 20 w 82"/>
                    <a:gd name="T11" fmla="*/ 24 h 76"/>
                    <a:gd name="T12" fmla="*/ 22 w 82"/>
                    <a:gd name="T13" fmla="*/ 22 h 76"/>
                    <a:gd name="T14" fmla="*/ 24 w 82"/>
                    <a:gd name="T15" fmla="*/ 21 h 76"/>
                    <a:gd name="T16" fmla="*/ 25 w 82"/>
                    <a:gd name="T17" fmla="*/ 19 h 76"/>
                    <a:gd name="T18" fmla="*/ 26 w 82"/>
                    <a:gd name="T19" fmla="*/ 18 h 76"/>
                    <a:gd name="T20" fmla="*/ 27 w 82"/>
                    <a:gd name="T21" fmla="*/ 17 h 76"/>
                    <a:gd name="T22" fmla="*/ 27 w 82"/>
                    <a:gd name="T23" fmla="*/ 15 h 76"/>
                    <a:gd name="T24" fmla="*/ 26 w 82"/>
                    <a:gd name="T25" fmla="*/ 14 h 76"/>
                    <a:gd name="T26" fmla="*/ 23 w 82"/>
                    <a:gd name="T27" fmla="*/ 13 h 76"/>
                    <a:gd name="T28" fmla="*/ 21 w 82"/>
                    <a:gd name="T29" fmla="*/ 12 h 76"/>
                    <a:gd name="T30" fmla="*/ 18 w 82"/>
                    <a:gd name="T31" fmla="*/ 13 h 76"/>
                    <a:gd name="T32" fmla="*/ 15 w 82"/>
                    <a:gd name="T33" fmla="*/ 13 h 76"/>
                    <a:gd name="T34" fmla="*/ 13 w 82"/>
                    <a:gd name="T35" fmla="*/ 14 h 76"/>
                    <a:gd name="T36" fmla="*/ 12 w 82"/>
                    <a:gd name="T37" fmla="*/ 16 h 76"/>
                    <a:gd name="T38" fmla="*/ 11 w 82"/>
                    <a:gd name="T39" fmla="*/ 16 h 76"/>
                    <a:gd name="T40" fmla="*/ 10 w 82"/>
                    <a:gd name="T41" fmla="*/ 17 h 76"/>
                    <a:gd name="T42" fmla="*/ 10 w 82"/>
                    <a:gd name="T43" fmla="*/ 14 h 76"/>
                    <a:gd name="T44" fmla="*/ 8 w 82"/>
                    <a:gd name="T45" fmla="*/ 8 h 76"/>
                    <a:gd name="T46" fmla="*/ 5 w 82"/>
                    <a:gd name="T47" fmla="*/ 2 h 76"/>
                    <a:gd name="T48" fmla="*/ 1 w 82"/>
                    <a:gd name="T49" fmla="*/ 0 h 76"/>
                    <a:gd name="T50" fmla="*/ 0 w 82"/>
                    <a:gd name="T51" fmla="*/ 6 h 76"/>
                    <a:gd name="T52" fmla="*/ 0 w 82"/>
                    <a:gd name="T53" fmla="*/ 10 h 76"/>
                    <a:gd name="T54" fmla="*/ 1 w 82"/>
                    <a:gd name="T55" fmla="*/ 14 h 76"/>
                    <a:gd name="T56" fmla="*/ 4 w 82"/>
                    <a:gd name="T57" fmla="*/ 18 h 76"/>
                    <a:gd name="T58" fmla="*/ 6 w 82"/>
                    <a:gd name="T59" fmla="*/ 21 h 76"/>
                    <a:gd name="T60" fmla="*/ 8 w 82"/>
                    <a:gd name="T61" fmla="*/ 23 h 76"/>
                    <a:gd name="T62" fmla="*/ 10 w 82"/>
                    <a:gd name="T63" fmla="*/ 24 h 76"/>
                    <a:gd name="T64" fmla="*/ 11 w 82"/>
                    <a:gd name="T65" fmla="*/ 25 h 7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82"/>
                    <a:gd name="T100" fmla="*/ 0 h 76"/>
                    <a:gd name="T101" fmla="*/ 82 w 82"/>
                    <a:gd name="T102" fmla="*/ 76 h 7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82" h="76">
                      <a:moveTo>
                        <a:pt x="32" y="75"/>
                      </a:moveTo>
                      <a:lnTo>
                        <a:pt x="38" y="76"/>
                      </a:lnTo>
                      <a:lnTo>
                        <a:pt x="44" y="76"/>
                      </a:lnTo>
                      <a:lnTo>
                        <a:pt x="50" y="76"/>
                      </a:lnTo>
                      <a:lnTo>
                        <a:pt x="57" y="75"/>
                      </a:lnTo>
                      <a:lnTo>
                        <a:pt x="61" y="72"/>
                      </a:lnTo>
                      <a:lnTo>
                        <a:pt x="67" y="67"/>
                      </a:lnTo>
                      <a:lnTo>
                        <a:pt x="72" y="64"/>
                      </a:lnTo>
                      <a:lnTo>
                        <a:pt x="76" y="59"/>
                      </a:lnTo>
                      <a:lnTo>
                        <a:pt x="80" y="56"/>
                      </a:lnTo>
                      <a:lnTo>
                        <a:pt x="82" y="52"/>
                      </a:lnTo>
                      <a:lnTo>
                        <a:pt x="82" y="47"/>
                      </a:lnTo>
                      <a:lnTo>
                        <a:pt x="79" y="43"/>
                      </a:lnTo>
                      <a:lnTo>
                        <a:pt x="70" y="39"/>
                      </a:lnTo>
                      <a:lnTo>
                        <a:pt x="63" y="37"/>
                      </a:lnTo>
                      <a:lnTo>
                        <a:pt x="54" y="39"/>
                      </a:lnTo>
                      <a:lnTo>
                        <a:pt x="47" y="41"/>
                      </a:lnTo>
                      <a:lnTo>
                        <a:pt x="39" y="44"/>
                      </a:lnTo>
                      <a:lnTo>
                        <a:pt x="35" y="49"/>
                      </a:lnTo>
                      <a:lnTo>
                        <a:pt x="32" y="50"/>
                      </a:lnTo>
                      <a:lnTo>
                        <a:pt x="30" y="52"/>
                      </a:lnTo>
                      <a:lnTo>
                        <a:pt x="29" y="43"/>
                      </a:lnTo>
                      <a:lnTo>
                        <a:pt x="23" y="23"/>
                      </a:lnTo>
                      <a:lnTo>
                        <a:pt x="14" y="6"/>
                      </a:lnTo>
                      <a:lnTo>
                        <a:pt x="4" y="0"/>
                      </a:lnTo>
                      <a:lnTo>
                        <a:pt x="0" y="17"/>
                      </a:lnTo>
                      <a:lnTo>
                        <a:pt x="0" y="31"/>
                      </a:lnTo>
                      <a:lnTo>
                        <a:pt x="4" y="44"/>
                      </a:lnTo>
                      <a:lnTo>
                        <a:pt x="11" y="54"/>
                      </a:lnTo>
                      <a:lnTo>
                        <a:pt x="19" y="63"/>
                      </a:lnTo>
                      <a:lnTo>
                        <a:pt x="25" y="70"/>
                      </a:lnTo>
                      <a:lnTo>
                        <a:pt x="30" y="73"/>
                      </a:lnTo>
                      <a:lnTo>
                        <a:pt x="32" y="75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7" name="Freeform 40"/>
                <p:cNvSpPr>
                  <a:spLocks/>
                </p:cNvSpPr>
                <p:nvPr/>
              </p:nvSpPr>
              <p:spPr bwMode="auto">
                <a:xfrm>
                  <a:off x="8404" y="4847"/>
                  <a:ext cx="25" cy="22"/>
                </a:xfrm>
                <a:custGeom>
                  <a:avLst/>
                  <a:gdLst>
                    <a:gd name="T0" fmla="*/ 4 w 75"/>
                    <a:gd name="T1" fmla="*/ 18 h 66"/>
                    <a:gd name="T2" fmla="*/ 5 w 75"/>
                    <a:gd name="T3" fmla="*/ 19 h 66"/>
                    <a:gd name="T4" fmla="*/ 6 w 75"/>
                    <a:gd name="T5" fmla="*/ 20 h 66"/>
                    <a:gd name="T6" fmla="*/ 8 w 75"/>
                    <a:gd name="T7" fmla="*/ 21 h 66"/>
                    <a:gd name="T8" fmla="*/ 9 w 75"/>
                    <a:gd name="T9" fmla="*/ 21 h 66"/>
                    <a:gd name="T10" fmla="*/ 11 w 75"/>
                    <a:gd name="T11" fmla="*/ 22 h 66"/>
                    <a:gd name="T12" fmla="*/ 13 w 75"/>
                    <a:gd name="T13" fmla="*/ 22 h 66"/>
                    <a:gd name="T14" fmla="*/ 16 w 75"/>
                    <a:gd name="T15" fmla="*/ 22 h 66"/>
                    <a:gd name="T16" fmla="*/ 19 w 75"/>
                    <a:gd name="T17" fmla="*/ 22 h 66"/>
                    <a:gd name="T18" fmla="*/ 22 w 75"/>
                    <a:gd name="T19" fmla="*/ 21 h 66"/>
                    <a:gd name="T20" fmla="*/ 24 w 75"/>
                    <a:gd name="T21" fmla="*/ 20 h 66"/>
                    <a:gd name="T22" fmla="*/ 25 w 75"/>
                    <a:gd name="T23" fmla="*/ 18 h 66"/>
                    <a:gd name="T24" fmla="*/ 25 w 75"/>
                    <a:gd name="T25" fmla="*/ 15 h 66"/>
                    <a:gd name="T26" fmla="*/ 24 w 75"/>
                    <a:gd name="T27" fmla="*/ 13 h 66"/>
                    <a:gd name="T28" fmla="*/ 22 w 75"/>
                    <a:gd name="T29" fmla="*/ 12 h 66"/>
                    <a:gd name="T30" fmla="*/ 20 w 75"/>
                    <a:gd name="T31" fmla="*/ 11 h 66"/>
                    <a:gd name="T32" fmla="*/ 17 w 75"/>
                    <a:gd name="T33" fmla="*/ 11 h 66"/>
                    <a:gd name="T34" fmla="*/ 14 w 75"/>
                    <a:gd name="T35" fmla="*/ 12 h 66"/>
                    <a:gd name="T36" fmla="*/ 11 w 75"/>
                    <a:gd name="T37" fmla="*/ 12 h 66"/>
                    <a:gd name="T38" fmla="*/ 9 w 75"/>
                    <a:gd name="T39" fmla="*/ 13 h 66"/>
                    <a:gd name="T40" fmla="*/ 9 w 75"/>
                    <a:gd name="T41" fmla="*/ 13 h 66"/>
                    <a:gd name="T42" fmla="*/ 8 w 75"/>
                    <a:gd name="T43" fmla="*/ 11 h 66"/>
                    <a:gd name="T44" fmla="*/ 6 w 75"/>
                    <a:gd name="T45" fmla="*/ 5 h 66"/>
                    <a:gd name="T46" fmla="*/ 3 w 75"/>
                    <a:gd name="T47" fmla="*/ 1 h 66"/>
                    <a:gd name="T48" fmla="*/ 0 w 75"/>
                    <a:gd name="T49" fmla="*/ 0 h 66"/>
                    <a:gd name="T50" fmla="*/ 0 w 75"/>
                    <a:gd name="T51" fmla="*/ 7 h 66"/>
                    <a:gd name="T52" fmla="*/ 2 w 75"/>
                    <a:gd name="T53" fmla="*/ 13 h 66"/>
                    <a:gd name="T54" fmla="*/ 3 w 75"/>
                    <a:gd name="T55" fmla="*/ 16 h 66"/>
                    <a:gd name="T56" fmla="*/ 4 w 75"/>
                    <a:gd name="T57" fmla="*/ 18 h 6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5"/>
                    <a:gd name="T88" fmla="*/ 0 h 66"/>
                    <a:gd name="T89" fmla="*/ 75 w 75"/>
                    <a:gd name="T90" fmla="*/ 66 h 6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5" h="66">
                      <a:moveTo>
                        <a:pt x="12" y="53"/>
                      </a:moveTo>
                      <a:lnTo>
                        <a:pt x="15" y="56"/>
                      </a:lnTo>
                      <a:lnTo>
                        <a:pt x="19" y="60"/>
                      </a:lnTo>
                      <a:lnTo>
                        <a:pt x="25" y="62"/>
                      </a:lnTo>
                      <a:lnTo>
                        <a:pt x="27" y="63"/>
                      </a:lnTo>
                      <a:lnTo>
                        <a:pt x="32" y="65"/>
                      </a:lnTo>
                      <a:lnTo>
                        <a:pt x="40" y="65"/>
                      </a:lnTo>
                      <a:lnTo>
                        <a:pt x="49" y="66"/>
                      </a:lnTo>
                      <a:lnTo>
                        <a:pt x="57" y="65"/>
                      </a:lnTo>
                      <a:lnTo>
                        <a:pt x="65" y="63"/>
                      </a:lnTo>
                      <a:lnTo>
                        <a:pt x="71" y="60"/>
                      </a:lnTo>
                      <a:lnTo>
                        <a:pt x="75" y="55"/>
                      </a:lnTo>
                      <a:lnTo>
                        <a:pt x="75" y="46"/>
                      </a:lnTo>
                      <a:lnTo>
                        <a:pt x="72" y="39"/>
                      </a:lnTo>
                      <a:lnTo>
                        <a:pt x="66" y="35"/>
                      </a:lnTo>
                      <a:lnTo>
                        <a:pt x="59" y="33"/>
                      </a:lnTo>
                      <a:lnTo>
                        <a:pt x="50" y="33"/>
                      </a:lnTo>
                      <a:lnTo>
                        <a:pt x="41" y="35"/>
                      </a:lnTo>
                      <a:lnTo>
                        <a:pt x="34" y="36"/>
                      </a:lnTo>
                      <a:lnTo>
                        <a:pt x="28" y="39"/>
                      </a:lnTo>
                      <a:lnTo>
                        <a:pt x="27" y="39"/>
                      </a:lnTo>
                      <a:lnTo>
                        <a:pt x="25" y="32"/>
                      </a:lnTo>
                      <a:lnTo>
                        <a:pt x="19" y="16"/>
                      </a:lnTo>
                      <a:lnTo>
                        <a:pt x="10" y="3"/>
                      </a:ln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5" y="39"/>
                      </a:lnTo>
                      <a:lnTo>
                        <a:pt x="9" y="49"/>
                      </a:lnTo>
                      <a:lnTo>
                        <a:pt x="12" y="5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8" name="Freeform 41"/>
                <p:cNvSpPr>
                  <a:spLocks/>
                </p:cNvSpPr>
                <p:nvPr/>
              </p:nvSpPr>
              <p:spPr bwMode="auto">
                <a:xfrm>
                  <a:off x="8434" y="4844"/>
                  <a:ext cx="25" cy="21"/>
                </a:xfrm>
                <a:custGeom>
                  <a:avLst/>
                  <a:gdLst>
                    <a:gd name="T0" fmla="*/ 1 w 75"/>
                    <a:gd name="T1" fmla="*/ 14 h 63"/>
                    <a:gd name="T2" fmla="*/ 1 w 75"/>
                    <a:gd name="T3" fmla="*/ 15 h 63"/>
                    <a:gd name="T4" fmla="*/ 3 w 75"/>
                    <a:gd name="T5" fmla="*/ 17 h 63"/>
                    <a:gd name="T6" fmla="*/ 5 w 75"/>
                    <a:gd name="T7" fmla="*/ 19 h 63"/>
                    <a:gd name="T8" fmla="*/ 5 w 75"/>
                    <a:gd name="T9" fmla="*/ 19 h 63"/>
                    <a:gd name="T10" fmla="*/ 8 w 75"/>
                    <a:gd name="T11" fmla="*/ 20 h 63"/>
                    <a:gd name="T12" fmla="*/ 11 w 75"/>
                    <a:gd name="T13" fmla="*/ 21 h 63"/>
                    <a:gd name="T14" fmla="*/ 14 w 75"/>
                    <a:gd name="T15" fmla="*/ 21 h 63"/>
                    <a:gd name="T16" fmla="*/ 18 w 75"/>
                    <a:gd name="T17" fmla="*/ 20 h 63"/>
                    <a:gd name="T18" fmla="*/ 21 w 75"/>
                    <a:gd name="T19" fmla="*/ 19 h 63"/>
                    <a:gd name="T20" fmla="*/ 24 w 75"/>
                    <a:gd name="T21" fmla="*/ 18 h 63"/>
                    <a:gd name="T22" fmla="*/ 25 w 75"/>
                    <a:gd name="T23" fmla="*/ 16 h 63"/>
                    <a:gd name="T24" fmla="*/ 24 w 75"/>
                    <a:gd name="T25" fmla="*/ 13 h 63"/>
                    <a:gd name="T26" fmla="*/ 22 w 75"/>
                    <a:gd name="T27" fmla="*/ 11 h 63"/>
                    <a:gd name="T28" fmla="*/ 20 w 75"/>
                    <a:gd name="T29" fmla="*/ 10 h 63"/>
                    <a:gd name="T30" fmla="*/ 18 w 75"/>
                    <a:gd name="T31" fmla="*/ 9 h 63"/>
                    <a:gd name="T32" fmla="*/ 15 w 75"/>
                    <a:gd name="T33" fmla="*/ 10 h 63"/>
                    <a:gd name="T34" fmla="*/ 12 w 75"/>
                    <a:gd name="T35" fmla="*/ 10 h 63"/>
                    <a:gd name="T36" fmla="*/ 10 w 75"/>
                    <a:gd name="T37" fmla="*/ 11 h 63"/>
                    <a:gd name="T38" fmla="*/ 9 w 75"/>
                    <a:gd name="T39" fmla="*/ 12 h 63"/>
                    <a:gd name="T40" fmla="*/ 8 w 75"/>
                    <a:gd name="T41" fmla="*/ 12 h 63"/>
                    <a:gd name="T42" fmla="*/ 8 w 75"/>
                    <a:gd name="T43" fmla="*/ 10 h 63"/>
                    <a:gd name="T44" fmla="*/ 6 w 75"/>
                    <a:gd name="T45" fmla="*/ 5 h 63"/>
                    <a:gd name="T46" fmla="*/ 3 w 75"/>
                    <a:gd name="T47" fmla="*/ 1 h 63"/>
                    <a:gd name="T48" fmla="*/ 0 w 75"/>
                    <a:gd name="T49" fmla="*/ 0 h 63"/>
                    <a:gd name="T50" fmla="*/ 0 w 75"/>
                    <a:gd name="T51" fmla="*/ 5 h 63"/>
                    <a:gd name="T52" fmla="*/ 0 w 75"/>
                    <a:gd name="T53" fmla="*/ 9 h 63"/>
                    <a:gd name="T54" fmla="*/ 1 w 75"/>
                    <a:gd name="T55" fmla="*/ 13 h 63"/>
                    <a:gd name="T56" fmla="*/ 1 w 75"/>
                    <a:gd name="T57" fmla="*/ 14 h 63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5"/>
                    <a:gd name="T88" fmla="*/ 0 h 63"/>
                    <a:gd name="T89" fmla="*/ 75 w 75"/>
                    <a:gd name="T90" fmla="*/ 63 h 63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5" h="63">
                      <a:moveTo>
                        <a:pt x="3" y="41"/>
                      </a:moveTo>
                      <a:lnTo>
                        <a:pt x="4" y="46"/>
                      </a:lnTo>
                      <a:lnTo>
                        <a:pt x="10" y="50"/>
                      </a:lnTo>
                      <a:lnTo>
                        <a:pt x="14" y="56"/>
                      </a:lnTo>
                      <a:lnTo>
                        <a:pt x="16" y="57"/>
                      </a:lnTo>
                      <a:lnTo>
                        <a:pt x="23" y="60"/>
                      </a:lnTo>
                      <a:lnTo>
                        <a:pt x="32" y="63"/>
                      </a:lnTo>
                      <a:lnTo>
                        <a:pt x="42" y="63"/>
                      </a:lnTo>
                      <a:lnTo>
                        <a:pt x="54" y="61"/>
                      </a:lnTo>
                      <a:lnTo>
                        <a:pt x="64" y="58"/>
                      </a:lnTo>
                      <a:lnTo>
                        <a:pt x="72" y="54"/>
                      </a:lnTo>
                      <a:lnTo>
                        <a:pt x="75" y="47"/>
                      </a:lnTo>
                      <a:lnTo>
                        <a:pt x="73" y="40"/>
                      </a:lnTo>
                      <a:lnTo>
                        <a:pt x="67" y="34"/>
                      </a:lnTo>
                      <a:lnTo>
                        <a:pt x="60" y="30"/>
                      </a:lnTo>
                      <a:lnTo>
                        <a:pt x="53" y="28"/>
                      </a:lnTo>
                      <a:lnTo>
                        <a:pt x="45" y="30"/>
                      </a:lnTo>
                      <a:lnTo>
                        <a:pt x="36" y="31"/>
                      </a:lnTo>
                      <a:lnTo>
                        <a:pt x="31" y="33"/>
                      </a:lnTo>
                      <a:lnTo>
                        <a:pt x="26" y="36"/>
                      </a:lnTo>
                      <a:lnTo>
                        <a:pt x="25" y="36"/>
                      </a:lnTo>
                      <a:lnTo>
                        <a:pt x="23" y="30"/>
                      </a:lnTo>
                      <a:lnTo>
                        <a:pt x="17" y="15"/>
                      </a:lnTo>
                      <a:lnTo>
                        <a:pt x="10" y="2"/>
                      </a:lnTo>
                      <a:lnTo>
                        <a:pt x="0" y="0"/>
                      </a:lnTo>
                      <a:lnTo>
                        <a:pt x="0" y="15"/>
                      </a:lnTo>
                      <a:lnTo>
                        <a:pt x="1" y="28"/>
                      </a:lnTo>
                      <a:lnTo>
                        <a:pt x="3" y="38"/>
                      </a:lnTo>
                      <a:lnTo>
                        <a:pt x="3" y="4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29" name="Freeform 42"/>
                <p:cNvSpPr>
                  <a:spLocks/>
                </p:cNvSpPr>
                <p:nvPr/>
              </p:nvSpPr>
              <p:spPr bwMode="auto">
                <a:xfrm>
                  <a:off x="8126" y="4482"/>
                  <a:ext cx="83" cy="97"/>
                </a:xfrm>
                <a:custGeom>
                  <a:avLst/>
                  <a:gdLst>
                    <a:gd name="T0" fmla="*/ 29 w 250"/>
                    <a:gd name="T1" fmla="*/ 12 h 290"/>
                    <a:gd name="T2" fmla="*/ 23 w 250"/>
                    <a:gd name="T3" fmla="*/ 16 h 290"/>
                    <a:gd name="T4" fmla="*/ 18 w 250"/>
                    <a:gd name="T5" fmla="*/ 21 h 290"/>
                    <a:gd name="T6" fmla="*/ 13 w 250"/>
                    <a:gd name="T7" fmla="*/ 26 h 290"/>
                    <a:gd name="T8" fmla="*/ 8 w 250"/>
                    <a:gd name="T9" fmla="*/ 32 h 290"/>
                    <a:gd name="T10" fmla="*/ 5 w 250"/>
                    <a:gd name="T11" fmla="*/ 38 h 290"/>
                    <a:gd name="T12" fmla="*/ 3 w 250"/>
                    <a:gd name="T13" fmla="*/ 45 h 290"/>
                    <a:gd name="T14" fmla="*/ 1 w 250"/>
                    <a:gd name="T15" fmla="*/ 53 h 290"/>
                    <a:gd name="T16" fmla="*/ 0 w 250"/>
                    <a:gd name="T17" fmla="*/ 60 h 290"/>
                    <a:gd name="T18" fmla="*/ 1 w 250"/>
                    <a:gd name="T19" fmla="*/ 70 h 290"/>
                    <a:gd name="T20" fmla="*/ 5 w 250"/>
                    <a:gd name="T21" fmla="*/ 78 h 290"/>
                    <a:gd name="T22" fmla="*/ 11 w 250"/>
                    <a:gd name="T23" fmla="*/ 85 h 290"/>
                    <a:gd name="T24" fmla="*/ 19 w 250"/>
                    <a:gd name="T25" fmla="*/ 90 h 290"/>
                    <a:gd name="T26" fmla="*/ 28 w 250"/>
                    <a:gd name="T27" fmla="*/ 95 h 290"/>
                    <a:gd name="T28" fmla="*/ 37 w 250"/>
                    <a:gd name="T29" fmla="*/ 97 h 290"/>
                    <a:gd name="T30" fmla="*/ 46 w 250"/>
                    <a:gd name="T31" fmla="*/ 97 h 290"/>
                    <a:gd name="T32" fmla="*/ 56 w 250"/>
                    <a:gd name="T33" fmla="*/ 96 h 290"/>
                    <a:gd name="T34" fmla="*/ 58 w 250"/>
                    <a:gd name="T35" fmla="*/ 96 h 290"/>
                    <a:gd name="T36" fmla="*/ 59 w 250"/>
                    <a:gd name="T37" fmla="*/ 95 h 290"/>
                    <a:gd name="T38" fmla="*/ 61 w 250"/>
                    <a:gd name="T39" fmla="*/ 93 h 290"/>
                    <a:gd name="T40" fmla="*/ 61 w 250"/>
                    <a:gd name="T41" fmla="*/ 91 h 290"/>
                    <a:gd name="T42" fmla="*/ 60 w 250"/>
                    <a:gd name="T43" fmla="*/ 89 h 290"/>
                    <a:gd name="T44" fmla="*/ 58 w 250"/>
                    <a:gd name="T45" fmla="*/ 87 h 290"/>
                    <a:gd name="T46" fmla="*/ 56 w 250"/>
                    <a:gd name="T47" fmla="*/ 85 h 290"/>
                    <a:gd name="T48" fmla="*/ 54 w 250"/>
                    <a:gd name="T49" fmla="*/ 84 h 290"/>
                    <a:gd name="T50" fmla="*/ 49 w 250"/>
                    <a:gd name="T51" fmla="*/ 83 h 290"/>
                    <a:gd name="T52" fmla="*/ 44 w 250"/>
                    <a:gd name="T53" fmla="*/ 82 h 290"/>
                    <a:gd name="T54" fmla="*/ 39 w 250"/>
                    <a:gd name="T55" fmla="*/ 81 h 290"/>
                    <a:gd name="T56" fmla="*/ 35 w 250"/>
                    <a:gd name="T57" fmla="*/ 80 h 290"/>
                    <a:gd name="T58" fmla="*/ 30 w 250"/>
                    <a:gd name="T59" fmla="*/ 78 h 290"/>
                    <a:gd name="T60" fmla="*/ 26 w 250"/>
                    <a:gd name="T61" fmla="*/ 77 h 290"/>
                    <a:gd name="T62" fmla="*/ 22 w 250"/>
                    <a:gd name="T63" fmla="*/ 74 h 290"/>
                    <a:gd name="T64" fmla="*/ 18 w 250"/>
                    <a:gd name="T65" fmla="*/ 70 h 290"/>
                    <a:gd name="T66" fmla="*/ 17 w 250"/>
                    <a:gd name="T67" fmla="*/ 54 h 290"/>
                    <a:gd name="T68" fmla="*/ 21 w 250"/>
                    <a:gd name="T69" fmla="*/ 40 h 290"/>
                    <a:gd name="T70" fmla="*/ 28 w 250"/>
                    <a:gd name="T71" fmla="*/ 30 h 290"/>
                    <a:gd name="T72" fmla="*/ 39 w 250"/>
                    <a:gd name="T73" fmla="*/ 21 h 290"/>
                    <a:gd name="T74" fmla="*/ 51 w 250"/>
                    <a:gd name="T75" fmla="*/ 14 h 290"/>
                    <a:gd name="T76" fmla="*/ 63 w 250"/>
                    <a:gd name="T77" fmla="*/ 9 h 290"/>
                    <a:gd name="T78" fmla="*/ 74 w 250"/>
                    <a:gd name="T79" fmla="*/ 5 h 290"/>
                    <a:gd name="T80" fmla="*/ 83 w 250"/>
                    <a:gd name="T81" fmla="*/ 2 h 290"/>
                    <a:gd name="T82" fmla="*/ 78 w 250"/>
                    <a:gd name="T83" fmla="*/ 1 h 290"/>
                    <a:gd name="T84" fmla="*/ 72 w 250"/>
                    <a:gd name="T85" fmla="*/ 0 h 290"/>
                    <a:gd name="T86" fmla="*/ 65 w 250"/>
                    <a:gd name="T87" fmla="*/ 1 h 290"/>
                    <a:gd name="T88" fmla="*/ 58 w 250"/>
                    <a:gd name="T89" fmla="*/ 2 h 290"/>
                    <a:gd name="T90" fmla="*/ 50 w 250"/>
                    <a:gd name="T91" fmla="*/ 4 h 290"/>
                    <a:gd name="T92" fmla="*/ 43 w 250"/>
                    <a:gd name="T93" fmla="*/ 7 h 290"/>
                    <a:gd name="T94" fmla="*/ 36 w 250"/>
                    <a:gd name="T95" fmla="*/ 10 h 290"/>
                    <a:gd name="T96" fmla="*/ 29 w 250"/>
                    <a:gd name="T97" fmla="*/ 12 h 290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w 250"/>
                    <a:gd name="T148" fmla="*/ 0 h 290"/>
                    <a:gd name="T149" fmla="*/ 250 w 250"/>
                    <a:gd name="T150" fmla="*/ 290 h 290"/>
                  </a:gdLst>
                  <a:ahLst/>
                  <a:cxnLst>
                    <a:cxn ang="T98">
                      <a:pos x="T0" y="T1"/>
                    </a:cxn>
                    <a:cxn ang="T99">
                      <a:pos x="T2" y="T3"/>
                    </a:cxn>
                    <a:cxn ang="T100">
                      <a:pos x="T4" y="T5"/>
                    </a:cxn>
                    <a:cxn ang="T101">
                      <a:pos x="T6" y="T7"/>
                    </a:cxn>
                    <a:cxn ang="T102">
                      <a:pos x="T8" y="T9"/>
                    </a:cxn>
                    <a:cxn ang="T103">
                      <a:pos x="T10" y="T11"/>
                    </a:cxn>
                    <a:cxn ang="T104">
                      <a:pos x="T12" y="T13"/>
                    </a:cxn>
                    <a:cxn ang="T105">
                      <a:pos x="T14" y="T15"/>
                    </a:cxn>
                    <a:cxn ang="T106">
                      <a:pos x="T16" y="T17"/>
                    </a:cxn>
                    <a:cxn ang="T107">
                      <a:pos x="T18" y="T19"/>
                    </a:cxn>
                    <a:cxn ang="T108">
                      <a:pos x="T20" y="T21"/>
                    </a:cxn>
                    <a:cxn ang="T109">
                      <a:pos x="T22" y="T23"/>
                    </a:cxn>
                    <a:cxn ang="T110">
                      <a:pos x="T24" y="T25"/>
                    </a:cxn>
                    <a:cxn ang="T111">
                      <a:pos x="T26" y="T27"/>
                    </a:cxn>
                    <a:cxn ang="T112">
                      <a:pos x="T28" y="T29"/>
                    </a:cxn>
                    <a:cxn ang="T113">
                      <a:pos x="T30" y="T31"/>
                    </a:cxn>
                    <a:cxn ang="T114">
                      <a:pos x="T32" y="T33"/>
                    </a:cxn>
                    <a:cxn ang="T115">
                      <a:pos x="T34" y="T35"/>
                    </a:cxn>
                    <a:cxn ang="T116">
                      <a:pos x="T36" y="T37"/>
                    </a:cxn>
                    <a:cxn ang="T117">
                      <a:pos x="T38" y="T39"/>
                    </a:cxn>
                    <a:cxn ang="T118">
                      <a:pos x="T40" y="T41"/>
                    </a:cxn>
                    <a:cxn ang="T119">
                      <a:pos x="T42" y="T43"/>
                    </a:cxn>
                    <a:cxn ang="T120">
                      <a:pos x="T44" y="T45"/>
                    </a:cxn>
                    <a:cxn ang="T121">
                      <a:pos x="T46" y="T47"/>
                    </a:cxn>
                    <a:cxn ang="T122">
                      <a:pos x="T48" y="T49"/>
                    </a:cxn>
                    <a:cxn ang="T123">
                      <a:pos x="T50" y="T51"/>
                    </a:cxn>
                    <a:cxn ang="T124">
                      <a:pos x="T52" y="T53"/>
                    </a:cxn>
                    <a:cxn ang="T125">
                      <a:pos x="T54" y="T55"/>
                    </a:cxn>
                    <a:cxn ang="T126">
                      <a:pos x="T56" y="T57"/>
                    </a:cxn>
                    <a:cxn ang="T127">
                      <a:pos x="T58" y="T59"/>
                    </a:cxn>
                    <a:cxn ang="T128">
                      <a:pos x="T60" y="T61"/>
                    </a:cxn>
                    <a:cxn ang="T129">
                      <a:pos x="T62" y="T63"/>
                    </a:cxn>
                    <a:cxn ang="T130">
                      <a:pos x="T64" y="T65"/>
                    </a:cxn>
                    <a:cxn ang="T131">
                      <a:pos x="T66" y="T67"/>
                    </a:cxn>
                    <a:cxn ang="T132">
                      <a:pos x="T68" y="T69"/>
                    </a:cxn>
                    <a:cxn ang="T133">
                      <a:pos x="T70" y="T71"/>
                    </a:cxn>
                    <a:cxn ang="T134">
                      <a:pos x="T72" y="T73"/>
                    </a:cxn>
                    <a:cxn ang="T135">
                      <a:pos x="T74" y="T75"/>
                    </a:cxn>
                    <a:cxn ang="T136">
                      <a:pos x="T76" y="T77"/>
                    </a:cxn>
                    <a:cxn ang="T137">
                      <a:pos x="T78" y="T79"/>
                    </a:cxn>
                    <a:cxn ang="T138">
                      <a:pos x="T80" y="T81"/>
                    </a:cxn>
                    <a:cxn ang="T139">
                      <a:pos x="T82" y="T83"/>
                    </a:cxn>
                    <a:cxn ang="T140">
                      <a:pos x="T84" y="T85"/>
                    </a:cxn>
                    <a:cxn ang="T141">
                      <a:pos x="T86" y="T87"/>
                    </a:cxn>
                    <a:cxn ang="T142">
                      <a:pos x="T88" y="T89"/>
                    </a:cxn>
                    <a:cxn ang="T143">
                      <a:pos x="T90" y="T91"/>
                    </a:cxn>
                    <a:cxn ang="T144">
                      <a:pos x="T92" y="T93"/>
                    </a:cxn>
                    <a:cxn ang="T145">
                      <a:pos x="T94" y="T95"/>
                    </a:cxn>
                    <a:cxn ang="T146">
                      <a:pos x="T96" y="T97"/>
                    </a:cxn>
                  </a:cxnLst>
                  <a:rect l="T147" t="T148" r="T149" b="T150"/>
                  <a:pathLst>
                    <a:path w="250" h="290">
                      <a:moveTo>
                        <a:pt x="88" y="37"/>
                      </a:moveTo>
                      <a:lnTo>
                        <a:pt x="69" y="49"/>
                      </a:lnTo>
                      <a:lnTo>
                        <a:pt x="53" y="63"/>
                      </a:lnTo>
                      <a:lnTo>
                        <a:pt x="39" y="79"/>
                      </a:lnTo>
                      <a:lnTo>
                        <a:pt x="25" y="96"/>
                      </a:lnTo>
                      <a:lnTo>
                        <a:pt x="15" y="115"/>
                      </a:lnTo>
                      <a:lnTo>
                        <a:pt x="8" y="135"/>
                      </a:lnTo>
                      <a:lnTo>
                        <a:pt x="3" y="157"/>
                      </a:lnTo>
                      <a:lnTo>
                        <a:pt x="0" y="178"/>
                      </a:lnTo>
                      <a:lnTo>
                        <a:pt x="3" y="208"/>
                      </a:lnTo>
                      <a:lnTo>
                        <a:pt x="15" y="233"/>
                      </a:lnTo>
                      <a:lnTo>
                        <a:pt x="33" y="254"/>
                      </a:lnTo>
                      <a:lnTo>
                        <a:pt x="56" y="270"/>
                      </a:lnTo>
                      <a:lnTo>
                        <a:pt x="83" y="283"/>
                      </a:lnTo>
                      <a:lnTo>
                        <a:pt x="110" y="289"/>
                      </a:lnTo>
                      <a:lnTo>
                        <a:pt x="140" y="290"/>
                      </a:lnTo>
                      <a:lnTo>
                        <a:pt x="168" y="286"/>
                      </a:lnTo>
                      <a:lnTo>
                        <a:pt x="174" y="286"/>
                      </a:lnTo>
                      <a:lnTo>
                        <a:pt x="179" y="283"/>
                      </a:lnTo>
                      <a:lnTo>
                        <a:pt x="184" y="279"/>
                      </a:lnTo>
                      <a:lnTo>
                        <a:pt x="185" y="273"/>
                      </a:lnTo>
                      <a:lnTo>
                        <a:pt x="182" y="266"/>
                      </a:lnTo>
                      <a:lnTo>
                        <a:pt x="176" y="260"/>
                      </a:lnTo>
                      <a:lnTo>
                        <a:pt x="169" y="254"/>
                      </a:lnTo>
                      <a:lnTo>
                        <a:pt x="162" y="252"/>
                      </a:lnTo>
                      <a:lnTo>
                        <a:pt x="147" y="247"/>
                      </a:lnTo>
                      <a:lnTo>
                        <a:pt x="132" y="244"/>
                      </a:lnTo>
                      <a:lnTo>
                        <a:pt x="118" y="242"/>
                      </a:lnTo>
                      <a:lnTo>
                        <a:pt x="105" y="239"/>
                      </a:lnTo>
                      <a:lnTo>
                        <a:pt x="91" y="234"/>
                      </a:lnTo>
                      <a:lnTo>
                        <a:pt x="78" y="229"/>
                      </a:lnTo>
                      <a:lnTo>
                        <a:pt x="66" y="221"/>
                      </a:lnTo>
                      <a:lnTo>
                        <a:pt x="55" y="210"/>
                      </a:lnTo>
                      <a:lnTo>
                        <a:pt x="50" y="161"/>
                      </a:lnTo>
                      <a:lnTo>
                        <a:pt x="62" y="121"/>
                      </a:lnTo>
                      <a:lnTo>
                        <a:pt x="85" y="89"/>
                      </a:lnTo>
                      <a:lnTo>
                        <a:pt x="118" y="63"/>
                      </a:lnTo>
                      <a:lnTo>
                        <a:pt x="153" y="43"/>
                      </a:lnTo>
                      <a:lnTo>
                        <a:pt x="190" y="27"/>
                      </a:lnTo>
                      <a:lnTo>
                        <a:pt x="223" y="16"/>
                      </a:lnTo>
                      <a:lnTo>
                        <a:pt x="250" y="6"/>
                      </a:lnTo>
                      <a:lnTo>
                        <a:pt x="234" y="2"/>
                      </a:lnTo>
                      <a:lnTo>
                        <a:pt x="216" y="0"/>
                      </a:lnTo>
                      <a:lnTo>
                        <a:pt x="196" y="3"/>
                      </a:lnTo>
                      <a:lnTo>
                        <a:pt x="174" y="6"/>
                      </a:lnTo>
                      <a:lnTo>
                        <a:pt x="152" y="13"/>
                      </a:lnTo>
                      <a:lnTo>
                        <a:pt x="130" y="20"/>
                      </a:lnTo>
                      <a:lnTo>
                        <a:pt x="107" y="29"/>
                      </a:lnTo>
                      <a:lnTo>
                        <a:pt x="88" y="37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0" name="Freeform 43"/>
                <p:cNvSpPr>
                  <a:spLocks/>
                </p:cNvSpPr>
                <p:nvPr/>
              </p:nvSpPr>
              <p:spPr bwMode="auto">
                <a:xfrm>
                  <a:off x="8268" y="4481"/>
                  <a:ext cx="53" cy="75"/>
                </a:xfrm>
                <a:custGeom>
                  <a:avLst/>
                  <a:gdLst>
                    <a:gd name="T0" fmla="*/ 45 w 160"/>
                    <a:gd name="T1" fmla="*/ 24 h 225"/>
                    <a:gd name="T2" fmla="*/ 47 w 160"/>
                    <a:gd name="T3" fmla="*/ 32 h 225"/>
                    <a:gd name="T4" fmla="*/ 46 w 160"/>
                    <a:gd name="T5" fmla="*/ 39 h 225"/>
                    <a:gd name="T6" fmla="*/ 43 w 160"/>
                    <a:gd name="T7" fmla="*/ 45 h 225"/>
                    <a:gd name="T8" fmla="*/ 38 w 160"/>
                    <a:gd name="T9" fmla="*/ 50 h 225"/>
                    <a:gd name="T10" fmla="*/ 32 w 160"/>
                    <a:gd name="T11" fmla="*/ 55 h 225"/>
                    <a:gd name="T12" fmla="*/ 25 w 160"/>
                    <a:gd name="T13" fmla="*/ 60 h 225"/>
                    <a:gd name="T14" fmla="*/ 19 w 160"/>
                    <a:gd name="T15" fmla="*/ 64 h 225"/>
                    <a:gd name="T16" fmla="*/ 13 w 160"/>
                    <a:gd name="T17" fmla="*/ 68 h 225"/>
                    <a:gd name="T18" fmla="*/ 12 w 160"/>
                    <a:gd name="T19" fmla="*/ 70 h 225"/>
                    <a:gd name="T20" fmla="*/ 11 w 160"/>
                    <a:gd name="T21" fmla="*/ 71 h 225"/>
                    <a:gd name="T22" fmla="*/ 11 w 160"/>
                    <a:gd name="T23" fmla="*/ 72 h 225"/>
                    <a:gd name="T24" fmla="*/ 12 w 160"/>
                    <a:gd name="T25" fmla="*/ 74 h 225"/>
                    <a:gd name="T26" fmla="*/ 13 w 160"/>
                    <a:gd name="T27" fmla="*/ 75 h 225"/>
                    <a:gd name="T28" fmla="*/ 15 w 160"/>
                    <a:gd name="T29" fmla="*/ 75 h 225"/>
                    <a:gd name="T30" fmla="*/ 16 w 160"/>
                    <a:gd name="T31" fmla="*/ 75 h 225"/>
                    <a:gd name="T32" fmla="*/ 17 w 160"/>
                    <a:gd name="T33" fmla="*/ 75 h 225"/>
                    <a:gd name="T34" fmla="*/ 25 w 160"/>
                    <a:gd name="T35" fmla="*/ 70 h 225"/>
                    <a:gd name="T36" fmla="*/ 32 w 160"/>
                    <a:gd name="T37" fmla="*/ 66 h 225"/>
                    <a:gd name="T38" fmla="*/ 39 w 160"/>
                    <a:gd name="T39" fmla="*/ 60 h 225"/>
                    <a:gd name="T40" fmla="*/ 45 w 160"/>
                    <a:gd name="T41" fmla="*/ 54 h 225"/>
                    <a:gd name="T42" fmla="*/ 50 w 160"/>
                    <a:gd name="T43" fmla="*/ 47 h 225"/>
                    <a:gd name="T44" fmla="*/ 53 w 160"/>
                    <a:gd name="T45" fmla="*/ 40 h 225"/>
                    <a:gd name="T46" fmla="*/ 53 w 160"/>
                    <a:gd name="T47" fmla="*/ 32 h 225"/>
                    <a:gd name="T48" fmla="*/ 51 w 160"/>
                    <a:gd name="T49" fmla="*/ 23 h 225"/>
                    <a:gd name="T50" fmla="*/ 47 w 160"/>
                    <a:gd name="T51" fmla="*/ 16 h 225"/>
                    <a:gd name="T52" fmla="*/ 40 w 160"/>
                    <a:gd name="T53" fmla="*/ 10 h 225"/>
                    <a:gd name="T54" fmla="*/ 32 w 160"/>
                    <a:gd name="T55" fmla="*/ 6 h 225"/>
                    <a:gd name="T56" fmla="*/ 24 w 160"/>
                    <a:gd name="T57" fmla="*/ 3 h 225"/>
                    <a:gd name="T58" fmla="*/ 15 w 160"/>
                    <a:gd name="T59" fmla="*/ 1 h 225"/>
                    <a:gd name="T60" fmla="*/ 8 w 160"/>
                    <a:gd name="T61" fmla="*/ 0 h 225"/>
                    <a:gd name="T62" fmla="*/ 2 w 160"/>
                    <a:gd name="T63" fmla="*/ 0 h 225"/>
                    <a:gd name="T64" fmla="*/ 0 w 160"/>
                    <a:gd name="T65" fmla="*/ 1 h 225"/>
                    <a:gd name="T66" fmla="*/ 6 w 160"/>
                    <a:gd name="T67" fmla="*/ 4 h 225"/>
                    <a:gd name="T68" fmla="*/ 12 w 160"/>
                    <a:gd name="T69" fmla="*/ 6 h 225"/>
                    <a:gd name="T70" fmla="*/ 19 w 160"/>
                    <a:gd name="T71" fmla="*/ 8 h 225"/>
                    <a:gd name="T72" fmla="*/ 25 w 160"/>
                    <a:gd name="T73" fmla="*/ 10 h 225"/>
                    <a:gd name="T74" fmla="*/ 31 w 160"/>
                    <a:gd name="T75" fmla="*/ 12 h 225"/>
                    <a:gd name="T76" fmla="*/ 37 w 160"/>
                    <a:gd name="T77" fmla="*/ 15 h 225"/>
                    <a:gd name="T78" fmla="*/ 41 w 160"/>
                    <a:gd name="T79" fmla="*/ 19 h 225"/>
                    <a:gd name="T80" fmla="*/ 45 w 160"/>
                    <a:gd name="T81" fmla="*/ 24 h 225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60"/>
                    <a:gd name="T124" fmla="*/ 0 h 225"/>
                    <a:gd name="T125" fmla="*/ 160 w 160"/>
                    <a:gd name="T126" fmla="*/ 225 h 225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60" h="225">
                      <a:moveTo>
                        <a:pt x="135" y="73"/>
                      </a:moveTo>
                      <a:lnTo>
                        <a:pt x="141" y="96"/>
                      </a:lnTo>
                      <a:lnTo>
                        <a:pt x="140" y="118"/>
                      </a:lnTo>
                      <a:lnTo>
                        <a:pt x="129" y="135"/>
                      </a:lnTo>
                      <a:lnTo>
                        <a:pt x="115" y="151"/>
                      </a:lnTo>
                      <a:lnTo>
                        <a:pt x="97" y="165"/>
                      </a:lnTo>
                      <a:lnTo>
                        <a:pt x="76" y="179"/>
                      </a:lnTo>
                      <a:lnTo>
                        <a:pt x="56" y="192"/>
                      </a:lnTo>
                      <a:lnTo>
                        <a:pt x="38" y="205"/>
                      </a:lnTo>
                      <a:lnTo>
                        <a:pt x="35" y="210"/>
                      </a:lnTo>
                      <a:lnTo>
                        <a:pt x="34" y="212"/>
                      </a:lnTo>
                      <a:lnTo>
                        <a:pt x="34" y="217"/>
                      </a:lnTo>
                      <a:lnTo>
                        <a:pt x="35" y="221"/>
                      </a:lnTo>
                      <a:lnTo>
                        <a:pt x="40" y="224"/>
                      </a:lnTo>
                      <a:lnTo>
                        <a:pt x="44" y="225"/>
                      </a:lnTo>
                      <a:lnTo>
                        <a:pt x="47" y="225"/>
                      </a:lnTo>
                      <a:lnTo>
                        <a:pt x="51" y="224"/>
                      </a:lnTo>
                      <a:lnTo>
                        <a:pt x="75" y="211"/>
                      </a:lnTo>
                      <a:lnTo>
                        <a:pt x="97" y="197"/>
                      </a:lnTo>
                      <a:lnTo>
                        <a:pt x="117" y="181"/>
                      </a:lnTo>
                      <a:lnTo>
                        <a:pt x="137" y="162"/>
                      </a:lnTo>
                      <a:lnTo>
                        <a:pt x="150" y="142"/>
                      </a:lnTo>
                      <a:lnTo>
                        <a:pt x="159" y="119"/>
                      </a:lnTo>
                      <a:lnTo>
                        <a:pt x="160" y="95"/>
                      </a:lnTo>
                      <a:lnTo>
                        <a:pt x="154" y="69"/>
                      </a:lnTo>
                      <a:lnTo>
                        <a:pt x="141" y="49"/>
                      </a:lnTo>
                      <a:lnTo>
                        <a:pt x="122" y="31"/>
                      </a:lnTo>
                      <a:lnTo>
                        <a:pt x="98" y="18"/>
                      </a:lnTo>
                      <a:lnTo>
                        <a:pt x="72" y="8"/>
                      </a:lnTo>
                      <a:lnTo>
                        <a:pt x="46" y="3"/>
                      </a:lnTo>
                      <a:lnTo>
                        <a:pt x="24" y="0"/>
                      </a:lnTo>
                      <a:lnTo>
                        <a:pt x="7" y="0"/>
                      </a:lnTo>
                      <a:lnTo>
                        <a:pt x="0" y="4"/>
                      </a:lnTo>
                      <a:lnTo>
                        <a:pt x="18" y="11"/>
                      </a:lnTo>
                      <a:lnTo>
                        <a:pt x="37" y="17"/>
                      </a:lnTo>
                      <a:lnTo>
                        <a:pt x="57" y="23"/>
                      </a:lnTo>
                      <a:lnTo>
                        <a:pt x="76" y="29"/>
                      </a:lnTo>
                      <a:lnTo>
                        <a:pt x="95" y="36"/>
                      </a:lnTo>
                      <a:lnTo>
                        <a:pt x="112" y="46"/>
                      </a:lnTo>
                      <a:lnTo>
                        <a:pt x="125" y="57"/>
                      </a:lnTo>
                      <a:lnTo>
                        <a:pt x="135" y="73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1" name="Freeform 44"/>
                <p:cNvSpPr>
                  <a:spLocks/>
                </p:cNvSpPr>
                <p:nvPr/>
              </p:nvSpPr>
              <p:spPr bwMode="auto">
                <a:xfrm>
                  <a:off x="8073" y="4463"/>
                  <a:ext cx="135" cy="158"/>
                </a:xfrm>
                <a:custGeom>
                  <a:avLst/>
                  <a:gdLst>
                    <a:gd name="T0" fmla="*/ 42 w 404"/>
                    <a:gd name="T1" fmla="*/ 29 h 472"/>
                    <a:gd name="T2" fmla="*/ 23 w 404"/>
                    <a:gd name="T3" fmla="*/ 48 h 472"/>
                    <a:gd name="T4" fmla="*/ 7 w 404"/>
                    <a:gd name="T5" fmla="*/ 70 h 472"/>
                    <a:gd name="T6" fmla="*/ 0 w 404"/>
                    <a:gd name="T7" fmla="*/ 95 h 472"/>
                    <a:gd name="T8" fmla="*/ 2 w 404"/>
                    <a:gd name="T9" fmla="*/ 111 h 472"/>
                    <a:gd name="T10" fmla="*/ 4 w 404"/>
                    <a:gd name="T11" fmla="*/ 118 h 472"/>
                    <a:gd name="T12" fmla="*/ 8 w 404"/>
                    <a:gd name="T13" fmla="*/ 125 h 472"/>
                    <a:gd name="T14" fmla="*/ 14 w 404"/>
                    <a:gd name="T15" fmla="*/ 130 h 472"/>
                    <a:gd name="T16" fmla="*/ 24 w 404"/>
                    <a:gd name="T17" fmla="*/ 136 h 472"/>
                    <a:gd name="T18" fmla="*/ 36 w 404"/>
                    <a:gd name="T19" fmla="*/ 142 h 472"/>
                    <a:gd name="T20" fmla="*/ 50 w 404"/>
                    <a:gd name="T21" fmla="*/ 147 h 472"/>
                    <a:gd name="T22" fmla="*/ 64 w 404"/>
                    <a:gd name="T23" fmla="*/ 150 h 472"/>
                    <a:gd name="T24" fmla="*/ 78 w 404"/>
                    <a:gd name="T25" fmla="*/ 153 h 472"/>
                    <a:gd name="T26" fmla="*/ 92 w 404"/>
                    <a:gd name="T27" fmla="*/ 155 h 472"/>
                    <a:gd name="T28" fmla="*/ 107 w 404"/>
                    <a:gd name="T29" fmla="*/ 157 h 472"/>
                    <a:gd name="T30" fmla="*/ 121 w 404"/>
                    <a:gd name="T31" fmla="*/ 158 h 472"/>
                    <a:gd name="T32" fmla="*/ 131 w 404"/>
                    <a:gd name="T33" fmla="*/ 158 h 472"/>
                    <a:gd name="T34" fmla="*/ 134 w 404"/>
                    <a:gd name="T35" fmla="*/ 155 h 472"/>
                    <a:gd name="T36" fmla="*/ 135 w 404"/>
                    <a:gd name="T37" fmla="*/ 151 h 472"/>
                    <a:gd name="T38" fmla="*/ 132 w 404"/>
                    <a:gd name="T39" fmla="*/ 148 h 472"/>
                    <a:gd name="T40" fmla="*/ 123 w 404"/>
                    <a:gd name="T41" fmla="*/ 145 h 472"/>
                    <a:gd name="T42" fmla="*/ 111 w 404"/>
                    <a:gd name="T43" fmla="*/ 143 h 472"/>
                    <a:gd name="T44" fmla="*/ 97 w 404"/>
                    <a:gd name="T45" fmla="*/ 141 h 472"/>
                    <a:gd name="T46" fmla="*/ 84 w 404"/>
                    <a:gd name="T47" fmla="*/ 139 h 472"/>
                    <a:gd name="T48" fmla="*/ 71 w 404"/>
                    <a:gd name="T49" fmla="*/ 137 h 472"/>
                    <a:gd name="T50" fmla="*/ 58 w 404"/>
                    <a:gd name="T51" fmla="*/ 133 h 472"/>
                    <a:gd name="T52" fmla="*/ 46 w 404"/>
                    <a:gd name="T53" fmla="*/ 129 h 472"/>
                    <a:gd name="T54" fmla="*/ 34 w 404"/>
                    <a:gd name="T55" fmla="*/ 125 h 472"/>
                    <a:gd name="T56" fmla="*/ 23 w 404"/>
                    <a:gd name="T57" fmla="*/ 118 h 472"/>
                    <a:gd name="T58" fmla="*/ 16 w 404"/>
                    <a:gd name="T59" fmla="*/ 108 h 472"/>
                    <a:gd name="T60" fmla="*/ 14 w 404"/>
                    <a:gd name="T61" fmla="*/ 97 h 472"/>
                    <a:gd name="T62" fmla="*/ 16 w 404"/>
                    <a:gd name="T63" fmla="*/ 84 h 472"/>
                    <a:gd name="T64" fmla="*/ 22 w 404"/>
                    <a:gd name="T65" fmla="*/ 71 h 472"/>
                    <a:gd name="T66" fmla="*/ 30 w 404"/>
                    <a:gd name="T67" fmla="*/ 58 h 472"/>
                    <a:gd name="T68" fmla="*/ 40 w 404"/>
                    <a:gd name="T69" fmla="*/ 46 h 472"/>
                    <a:gd name="T70" fmla="*/ 51 w 404"/>
                    <a:gd name="T71" fmla="*/ 34 h 472"/>
                    <a:gd name="T72" fmla="*/ 64 w 404"/>
                    <a:gd name="T73" fmla="*/ 24 h 472"/>
                    <a:gd name="T74" fmla="*/ 82 w 404"/>
                    <a:gd name="T75" fmla="*/ 16 h 472"/>
                    <a:gd name="T76" fmla="*/ 100 w 404"/>
                    <a:gd name="T77" fmla="*/ 8 h 472"/>
                    <a:gd name="T78" fmla="*/ 111 w 404"/>
                    <a:gd name="T79" fmla="*/ 3 h 472"/>
                    <a:gd name="T80" fmla="*/ 108 w 404"/>
                    <a:gd name="T81" fmla="*/ 0 h 472"/>
                    <a:gd name="T82" fmla="*/ 93 w 404"/>
                    <a:gd name="T83" fmla="*/ 2 h 472"/>
                    <a:gd name="T84" fmla="*/ 76 w 404"/>
                    <a:gd name="T85" fmla="*/ 8 h 472"/>
                    <a:gd name="T86" fmla="*/ 59 w 404"/>
                    <a:gd name="T87" fmla="*/ 16 h 472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w 404"/>
                    <a:gd name="T133" fmla="*/ 0 h 472"/>
                    <a:gd name="T134" fmla="*/ 404 w 404"/>
                    <a:gd name="T135" fmla="*/ 472 h 472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T132" t="T133" r="T134" b="T135"/>
                  <a:pathLst>
                    <a:path w="404" h="472">
                      <a:moveTo>
                        <a:pt x="157" y="61"/>
                      </a:moveTo>
                      <a:lnTo>
                        <a:pt x="127" y="87"/>
                      </a:lnTo>
                      <a:lnTo>
                        <a:pt x="96" y="113"/>
                      </a:lnTo>
                      <a:lnTo>
                        <a:pt x="68" y="143"/>
                      </a:lnTo>
                      <a:lnTo>
                        <a:pt x="43" y="175"/>
                      </a:lnTo>
                      <a:lnTo>
                        <a:pt x="22" y="208"/>
                      </a:lnTo>
                      <a:lnTo>
                        <a:pt x="8" y="244"/>
                      </a:lnTo>
                      <a:lnTo>
                        <a:pt x="0" y="283"/>
                      </a:lnTo>
                      <a:lnTo>
                        <a:pt x="2" y="323"/>
                      </a:lnTo>
                      <a:lnTo>
                        <a:pt x="5" y="333"/>
                      </a:lnTo>
                      <a:lnTo>
                        <a:pt x="8" y="344"/>
                      </a:lnTo>
                      <a:lnTo>
                        <a:pt x="12" y="353"/>
                      </a:lnTo>
                      <a:lnTo>
                        <a:pt x="18" y="363"/>
                      </a:lnTo>
                      <a:lnTo>
                        <a:pt x="25" y="372"/>
                      </a:lnTo>
                      <a:lnTo>
                        <a:pt x="34" y="380"/>
                      </a:lnTo>
                      <a:lnTo>
                        <a:pt x="41" y="388"/>
                      </a:lnTo>
                      <a:lnTo>
                        <a:pt x="52" y="393"/>
                      </a:lnTo>
                      <a:lnTo>
                        <a:pt x="71" y="405"/>
                      </a:lnTo>
                      <a:lnTo>
                        <a:pt x="90" y="415"/>
                      </a:lnTo>
                      <a:lnTo>
                        <a:pt x="109" y="424"/>
                      </a:lnTo>
                      <a:lnTo>
                        <a:pt x="129" y="431"/>
                      </a:lnTo>
                      <a:lnTo>
                        <a:pt x="150" y="438"/>
                      </a:lnTo>
                      <a:lnTo>
                        <a:pt x="171" y="444"/>
                      </a:lnTo>
                      <a:lnTo>
                        <a:pt x="191" y="449"/>
                      </a:lnTo>
                      <a:lnTo>
                        <a:pt x="212" y="454"/>
                      </a:lnTo>
                      <a:lnTo>
                        <a:pt x="234" y="458"/>
                      </a:lnTo>
                      <a:lnTo>
                        <a:pt x="254" y="461"/>
                      </a:lnTo>
                      <a:lnTo>
                        <a:pt x="276" y="464"/>
                      </a:lnTo>
                      <a:lnTo>
                        <a:pt x="298" y="467"/>
                      </a:lnTo>
                      <a:lnTo>
                        <a:pt x="319" y="468"/>
                      </a:lnTo>
                      <a:lnTo>
                        <a:pt x="341" y="470"/>
                      </a:lnTo>
                      <a:lnTo>
                        <a:pt x="363" y="471"/>
                      </a:lnTo>
                      <a:lnTo>
                        <a:pt x="383" y="472"/>
                      </a:lnTo>
                      <a:lnTo>
                        <a:pt x="391" y="472"/>
                      </a:lnTo>
                      <a:lnTo>
                        <a:pt x="397" y="470"/>
                      </a:lnTo>
                      <a:lnTo>
                        <a:pt x="401" y="464"/>
                      </a:lnTo>
                      <a:lnTo>
                        <a:pt x="404" y="458"/>
                      </a:lnTo>
                      <a:lnTo>
                        <a:pt x="404" y="451"/>
                      </a:lnTo>
                      <a:lnTo>
                        <a:pt x="401" y="445"/>
                      </a:lnTo>
                      <a:lnTo>
                        <a:pt x="395" y="441"/>
                      </a:lnTo>
                      <a:lnTo>
                        <a:pt x="388" y="438"/>
                      </a:lnTo>
                      <a:lnTo>
                        <a:pt x="369" y="434"/>
                      </a:lnTo>
                      <a:lnTo>
                        <a:pt x="350" y="431"/>
                      </a:lnTo>
                      <a:lnTo>
                        <a:pt x="331" y="426"/>
                      </a:lnTo>
                      <a:lnTo>
                        <a:pt x="310" y="424"/>
                      </a:lnTo>
                      <a:lnTo>
                        <a:pt x="291" y="421"/>
                      </a:lnTo>
                      <a:lnTo>
                        <a:pt x="272" y="418"/>
                      </a:lnTo>
                      <a:lnTo>
                        <a:pt x="251" y="415"/>
                      </a:lnTo>
                      <a:lnTo>
                        <a:pt x="232" y="411"/>
                      </a:lnTo>
                      <a:lnTo>
                        <a:pt x="213" y="408"/>
                      </a:lnTo>
                      <a:lnTo>
                        <a:pt x="194" y="403"/>
                      </a:lnTo>
                      <a:lnTo>
                        <a:pt x="175" y="398"/>
                      </a:lnTo>
                      <a:lnTo>
                        <a:pt x="156" y="393"/>
                      </a:lnTo>
                      <a:lnTo>
                        <a:pt x="138" y="386"/>
                      </a:lnTo>
                      <a:lnTo>
                        <a:pt x="119" y="379"/>
                      </a:lnTo>
                      <a:lnTo>
                        <a:pt x="102" y="372"/>
                      </a:lnTo>
                      <a:lnTo>
                        <a:pt x="84" y="362"/>
                      </a:lnTo>
                      <a:lnTo>
                        <a:pt x="69" y="352"/>
                      </a:lnTo>
                      <a:lnTo>
                        <a:pt x="58" y="339"/>
                      </a:lnTo>
                      <a:lnTo>
                        <a:pt x="49" y="324"/>
                      </a:lnTo>
                      <a:lnTo>
                        <a:pt x="44" y="307"/>
                      </a:lnTo>
                      <a:lnTo>
                        <a:pt x="43" y="290"/>
                      </a:lnTo>
                      <a:lnTo>
                        <a:pt x="44" y="270"/>
                      </a:lnTo>
                      <a:lnTo>
                        <a:pt x="49" y="250"/>
                      </a:lnTo>
                      <a:lnTo>
                        <a:pt x="55" y="234"/>
                      </a:lnTo>
                      <a:lnTo>
                        <a:pt x="65" y="212"/>
                      </a:lnTo>
                      <a:lnTo>
                        <a:pt x="77" y="191"/>
                      </a:lnTo>
                      <a:lnTo>
                        <a:pt x="90" y="172"/>
                      </a:lnTo>
                      <a:lnTo>
                        <a:pt x="104" y="155"/>
                      </a:lnTo>
                      <a:lnTo>
                        <a:pt x="119" y="138"/>
                      </a:lnTo>
                      <a:lnTo>
                        <a:pt x="135" y="120"/>
                      </a:lnTo>
                      <a:lnTo>
                        <a:pt x="154" y="103"/>
                      </a:lnTo>
                      <a:lnTo>
                        <a:pt x="173" y="86"/>
                      </a:lnTo>
                      <a:lnTo>
                        <a:pt x="193" y="71"/>
                      </a:lnTo>
                      <a:lnTo>
                        <a:pt x="218" y="59"/>
                      </a:lnTo>
                      <a:lnTo>
                        <a:pt x="245" y="47"/>
                      </a:lnTo>
                      <a:lnTo>
                        <a:pt x="273" y="36"/>
                      </a:lnTo>
                      <a:lnTo>
                        <a:pt x="298" y="25"/>
                      </a:lnTo>
                      <a:lnTo>
                        <a:pt x="319" y="17"/>
                      </a:lnTo>
                      <a:lnTo>
                        <a:pt x="332" y="8"/>
                      </a:lnTo>
                      <a:lnTo>
                        <a:pt x="336" y="2"/>
                      </a:lnTo>
                      <a:lnTo>
                        <a:pt x="322" y="0"/>
                      </a:lnTo>
                      <a:lnTo>
                        <a:pt x="301" y="1"/>
                      </a:lnTo>
                      <a:lnTo>
                        <a:pt x="278" y="5"/>
                      </a:lnTo>
                      <a:lnTo>
                        <a:pt x="253" y="13"/>
                      </a:lnTo>
                      <a:lnTo>
                        <a:pt x="226" y="23"/>
                      </a:lnTo>
                      <a:lnTo>
                        <a:pt x="201" y="34"/>
                      </a:lnTo>
                      <a:lnTo>
                        <a:pt x="178" y="47"/>
                      </a:lnTo>
                      <a:lnTo>
                        <a:pt x="157" y="61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2" name="Freeform 45"/>
                <p:cNvSpPr>
                  <a:spLocks/>
                </p:cNvSpPr>
                <p:nvPr/>
              </p:nvSpPr>
              <p:spPr bwMode="auto">
                <a:xfrm>
                  <a:off x="8263" y="4458"/>
                  <a:ext cx="118" cy="105"/>
                </a:xfrm>
                <a:custGeom>
                  <a:avLst/>
                  <a:gdLst>
                    <a:gd name="T0" fmla="*/ 98 w 354"/>
                    <a:gd name="T1" fmla="*/ 32 h 315"/>
                    <a:gd name="T2" fmla="*/ 103 w 354"/>
                    <a:gd name="T3" fmla="*/ 38 h 315"/>
                    <a:gd name="T4" fmla="*/ 107 w 354"/>
                    <a:gd name="T5" fmla="*/ 44 h 315"/>
                    <a:gd name="T6" fmla="*/ 108 w 354"/>
                    <a:gd name="T7" fmla="*/ 52 h 315"/>
                    <a:gd name="T8" fmla="*/ 108 w 354"/>
                    <a:gd name="T9" fmla="*/ 59 h 315"/>
                    <a:gd name="T10" fmla="*/ 107 w 354"/>
                    <a:gd name="T11" fmla="*/ 66 h 315"/>
                    <a:gd name="T12" fmla="*/ 105 w 354"/>
                    <a:gd name="T13" fmla="*/ 71 h 315"/>
                    <a:gd name="T14" fmla="*/ 102 w 354"/>
                    <a:gd name="T15" fmla="*/ 76 h 315"/>
                    <a:gd name="T16" fmla="*/ 98 w 354"/>
                    <a:gd name="T17" fmla="*/ 80 h 315"/>
                    <a:gd name="T18" fmla="*/ 94 w 354"/>
                    <a:gd name="T19" fmla="*/ 85 h 315"/>
                    <a:gd name="T20" fmla="*/ 90 w 354"/>
                    <a:gd name="T21" fmla="*/ 89 h 315"/>
                    <a:gd name="T22" fmla="*/ 85 w 354"/>
                    <a:gd name="T23" fmla="*/ 93 h 315"/>
                    <a:gd name="T24" fmla="*/ 81 w 354"/>
                    <a:gd name="T25" fmla="*/ 98 h 315"/>
                    <a:gd name="T26" fmla="*/ 80 w 354"/>
                    <a:gd name="T27" fmla="*/ 99 h 315"/>
                    <a:gd name="T28" fmla="*/ 80 w 354"/>
                    <a:gd name="T29" fmla="*/ 101 h 315"/>
                    <a:gd name="T30" fmla="*/ 80 w 354"/>
                    <a:gd name="T31" fmla="*/ 102 h 315"/>
                    <a:gd name="T32" fmla="*/ 81 w 354"/>
                    <a:gd name="T33" fmla="*/ 103 h 315"/>
                    <a:gd name="T34" fmla="*/ 82 w 354"/>
                    <a:gd name="T35" fmla="*/ 104 h 315"/>
                    <a:gd name="T36" fmla="*/ 84 w 354"/>
                    <a:gd name="T37" fmla="*/ 105 h 315"/>
                    <a:gd name="T38" fmla="*/ 86 w 354"/>
                    <a:gd name="T39" fmla="*/ 104 h 315"/>
                    <a:gd name="T40" fmla="*/ 87 w 354"/>
                    <a:gd name="T41" fmla="*/ 103 h 315"/>
                    <a:gd name="T42" fmla="*/ 97 w 354"/>
                    <a:gd name="T43" fmla="*/ 97 h 315"/>
                    <a:gd name="T44" fmla="*/ 105 w 354"/>
                    <a:gd name="T45" fmla="*/ 89 h 315"/>
                    <a:gd name="T46" fmla="*/ 112 w 354"/>
                    <a:gd name="T47" fmla="*/ 80 h 315"/>
                    <a:gd name="T48" fmla="*/ 116 w 354"/>
                    <a:gd name="T49" fmla="*/ 69 h 315"/>
                    <a:gd name="T50" fmla="*/ 118 w 354"/>
                    <a:gd name="T51" fmla="*/ 59 h 315"/>
                    <a:gd name="T52" fmla="*/ 117 w 354"/>
                    <a:gd name="T53" fmla="*/ 48 h 315"/>
                    <a:gd name="T54" fmla="*/ 113 w 354"/>
                    <a:gd name="T55" fmla="*/ 38 h 315"/>
                    <a:gd name="T56" fmla="*/ 105 w 354"/>
                    <a:gd name="T57" fmla="*/ 29 h 315"/>
                    <a:gd name="T58" fmla="*/ 99 w 354"/>
                    <a:gd name="T59" fmla="*/ 24 h 315"/>
                    <a:gd name="T60" fmla="*/ 93 w 354"/>
                    <a:gd name="T61" fmla="*/ 20 h 315"/>
                    <a:gd name="T62" fmla="*/ 85 w 354"/>
                    <a:gd name="T63" fmla="*/ 16 h 315"/>
                    <a:gd name="T64" fmla="*/ 77 w 354"/>
                    <a:gd name="T65" fmla="*/ 13 h 315"/>
                    <a:gd name="T66" fmla="*/ 69 w 354"/>
                    <a:gd name="T67" fmla="*/ 10 h 315"/>
                    <a:gd name="T68" fmla="*/ 60 w 354"/>
                    <a:gd name="T69" fmla="*/ 7 h 315"/>
                    <a:gd name="T70" fmla="*/ 52 w 354"/>
                    <a:gd name="T71" fmla="*/ 5 h 315"/>
                    <a:gd name="T72" fmla="*/ 43 w 354"/>
                    <a:gd name="T73" fmla="*/ 3 h 315"/>
                    <a:gd name="T74" fmla="*/ 35 w 354"/>
                    <a:gd name="T75" fmla="*/ 2 h 315"/>
                    <a:gd name="T76" fmla="*/ 28 w 354"/>
                    <a:gd name="T77" fmla="*/ 1 h 315"/>
                    <a:gd name="T78" fmla="*/ 20 w 354"/>
                    <a:gd name="T79" fmla="*/ 0 h 315"/>
                    <a:gd name="T80" fmla="*/ 14 w 354"/>
                    <a:gd name="T81" fmla="*/ 0 h 315"/>
                    <a:gd name="T82" fmla="*/ 9 w 354"/>
                    <a:gd name="T83" fmla="*/ 0 h 315"/>
                    <a:gd name="T84" fmla="*/ 5 w 354"/>
                    <a:gd name="T85" fmla="*/ 0 h 315"/>
                    <a:gd name="T86" fmla="*/ 2 w 354"/>
                    <a:gd name="T87" fmla="*/ 1 h 315"/>
                    <a:gd name="T88" fmla="*/ 0 w 354"/>
                    <a:gd name="T89" fmla="*/ 2 h 315"/>
                    <a:gd name="T90" fmla="*/ 5 w 354"/>
                    <a:gd name="T91" fmla="*/ 3 h 315"/>
                    <a:gd name="T92" fmla="*/ 10 w 354"/>
                    <a:gd name="T93" fmla="*/ 3 h 315"/>
                    <a:gd name="T94" fmla="*/ 16 w 354"/>
                    <a:gd name="T95" fmla="*/ 4 h 315"/>
                    <a:gd name="T96" fmla="*/ 22 w 354"/>
                    <a:gd name="T97" fmla="*/ 5 h 315"/>
                    <a:gd name="T98" fmla="*/ 28 w 354"/>
                    <a:gd name="T99" fmla="*/ 7 h 315"/>
                    <a:gd name="T100" fmla="*/ 34 w 354"/>
                    <a:gd name="T101" fmla="*/ 8 h 315"/>
                    <a:gd name="T102" fmla="*/ 41 w 354"/>
                    <a:gd name="T103" fmla="*/ 9 h 315"/>
                    <a:gd name="T104" fmla="*/ 48 w 354"/>
                    <a:gd name="T105" fmla="*/ 10 h 315"/>
                    <a:gd name="T106" fmla="*/ 54 w 354"/>
                    <a:gd name="T107" fmla="*/ 12 h 315"/>
                    <a:gd name="T108" fmla="*/ 61 w 354"/>
                    <a:gd name="T109" fmla="*/ 14 h 315"/>
                    <a:gd name="T110" fmla="*/ 68 w 354"/>
                    <a:gd name="T111" fmla="*/ 16 h 315"/>
                    <a:gd name="T112" fmla="*/ 74 w 354"/>
                    <a:gd name="T113" fmla="*/ 19 h 315"/>
                    <a:gd name="T114" fmla="*/ 80 w 354"/>
                    <a:gd name="T115" fmla="*/ 21 h 315"/>
                    <a:gd name="T116" fmla="*/ 87 w 354"/>
                    <a:gd name="T117" fmla="*/ 25 h 315"/>
                    <a:gd name="T118" fmla="*/ 93 w 354"/>
                    <a:gd name="T119" fmla="*/ 28 h 315"/>
                    <a:gd name="T120" fmla="*/ 98 w 354"/>
                    <a:gd name="T121" fmla="*/ 32 h 315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w 354"/>
                    <a:gd name="T184" fmla="*/ 0 h 315"/>
                    <a:gd name="T185" fmla="*/ 354 w 354"/>
                    <a:gd name="T186" fmla="*/ 315 h 315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T183" t="T184" r="T185" b="T186"/>
                  <a:pathLst>
                    <a:path w="354" h="315">
                      <a:moveTo>
                        <a:pt x="294" y="96"/>
                      </a:moveTo>
                      <a:lnTo>
                        <a:pt x="310" y="113"/>
                      </a:lnTo>
                      <a:lnTo>
                        <a:pt x="320" y="133"/>
                      </a:lnTo>
                      <a:lnTo>
                        <a:pt x="325" y="155"/>
                      </a:lnTo>
                      <a:lnTo>
                        <a:pt x="325" y="178"/>
                      </a:lnTo>
                      <a:lnTo>
                        <a:pt x="322" y="197"/>
                      </a:lnTo>
                      <a:lnTo>
                        <a:pt x="316" y="212"/>
                      </a:lnTo>
                      <a:lnTo>
                        <a:pt x="306" y="228"/>
                      </a:lnTo>
                      <a:lnTo>
                        <a:pt x="295" y="241"/>
                      </a:lnTo>
                      <a:lnTo>
                        <a:pt x="282" y="256"/>
                      </a:lnTo>
                      <a:lnTo>
                        <a:pt x="269" y="267"/>
                      </a:lnTo>
                      <a:lnTo>
                        <a:pt x="256" y="280"/>
                      </a:lnTo>
                      <a:lnTo>
                        <a:pt x="243" y="293"/>
                      </a:lnTo>
                      <a:lnTo>
                        <a:pt x="240" y="297"/>
                      </a:lnTo>
                      <a:lnTo>
                        <a:pt x="240" y="302"/>
                      </a:lnTo>
                      <a:lnTo>
                        <a:pt x="240" y="306"/>
                      </a:lnTo>
                      <a:lnTo>
                        <a:pt x="243" y="310"/>
                      </a:lnTo>
                      <a:lnTo>
                        <a:pt x="247" y="313"/>
                      </a:lnTo>
                      <a:lnTo>
                        <a:pt x="253" y="315"/>
                      </a:lnTo>
                      <a:lnTo>
                        <a:pt x="257" y="313"/>
                      </a:lnTo>
                      <a:lnTo>
                        <a:pt x="262" y="310"/>
                      </a:lnTo>
                      <a:lnTo>
                        <a:pt x="291" y="292"/>
                      </a:lnTo>
                      <a:lnTo>
                        <a:pt x="316" y="267"/>
                      </a:lnTo>
                      <a:lnTo>
                        <a:pt x="335" y="240"/>
                      </a:lnTo>
                      <a:lnTo>
                        <a:pt x="348" y="208"/>
                      </a:lnTo>
                      <a:lnTo>
                        <a:pt x="354" y="177"/>
                      </a:lnTo>
                      <a:lnTo>
                        <a:pt x="351" y="143"/>
                      </a:lnTo>
                      <a:lnTo>
                        <a:pt x="339" y="113"/>
                      </a:lnTo>
                      <a:lnTo>
                        <a:pt x="316" y="86"/>
                      </a:lnTo>
                      <a:lnTo>
                        <a:pt x="298" y="72"/>
                      </a:lnTo>
                      <a:lnTo>
                        <a:pt x="278" y="60"/>
                      </a:lnTo>
                      <a:lnTo>
                        <a:pt x="256" y="49"/>
                      </a:lnTo>
                      <a:lnTo>
                        <a:pt x="231" y="39"/>
                      </a:lnTo>
                      <a:lnTo>
                        <a:pt x="206" y="29"/>
                      </a:lnTo>
                      <a:lnTo>
                        <a:pt x="181" y="21"/>
                      </a:lnTo>
                      <a:lnTo>
                        <a:pt x="155" y="16"/>
                      </a:lnTo>
                      <a:lnTo>
                        <a:pt x="130" y="10"/>
                      </a:lnTo>
                      <a:lnTo>
                        <a:pt x="105" y="6"/>
                      </a:lnTo>
                      <a:lnTo>
                        <a:pt x="83" y="3"/>
                      </a:lnTo>
                      <a:lnTo>
                        <a:pt x="61" y="0"/>
                      </a:lnTo>
                      <a:lnTo>
                        <a:pt x="43" y="0"/>
                      </a:lnTo>
                      <a:lnTo>
                        <a:pt x="27" y="0"/>
                      </a:lnTo>
                      <a:lnTo>
                        <a:pt x="14" y="0"/>
                      </a:lnTo>
                      <a:lnTo>
                        <a:pt x="5" y="3"/>
                      </a:lnTo>
                      <a:lnTo>
                        <a:pt x="0" y="6"/>
                      </a:lnTo>
                      <a:lnTo>
                        <a:pt x="15" y="8"/>
                      </a:lnTo>
                      <a:lnTo>
                        <a:pt x="30" y="10"/>
                      </a:lnTo>
                      <a:lnTo>
                        <a:pt x="47" y="13"/>
                      </a:lnTo>
                      <a:lnTo>
                        <a:pt x="65" y="16"/>
                      </a:lnTo>
                      <a:lnTo>
                        <a:pt x="83" y="20"/>
                      </a:lnTo>
                      <a:lnTo>
                        <a:pt x="103" y="23"/>
                      </a:lnTo>
                      <a:lnTo>
                        <a:pt x="122" y="27"/>
                      </a:lnTo>
                      <a:lnTo>
                        <a:pt x="143" y="31"/>
                      </a:lnTo>
                      <a:lnTo>
                        <a:pt x="162" y="37"/>
                      </a:lnTo>
                      <a:lnTo>
                        <a:pt x="182" y="43"/>
                      </a:lnTo>
                      <a:lnTo>
                        <a:pt x="203" y="49"/>
                      </a:lnTo>
                      <a:lnTo>
                        <a:pt x="222" y="56"/>
                      </a:lnTo>
                      <a:lnTo>
                        <a:pt x="241" y="64"/>
                      </a:lnTo>
                      <a:lnTo>
                        <a:pt x="260" y="75"/>
                      </a:lnTo>
                      <a:lnTo>
                        <a:pt x="278" y="85"/>
                      </a:lnTo>
                      <a:lnTo>
                        <a:pt x="294" y="96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6350" cmpd="sng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3" name="Freeform 46"/>
                <p:cNvSpPr>
                  <a:spLocks/>
                </p:cNvSpPr>
                <p:nvPr/>
              </p:nvSpPr>
              <p:spPr bwMode="auto">
                <a:xfrm>
                  <a:off x="8023" y="4506"/>
                  <a:ext cx="47" cy="99"/>
                </a:xfrm>
                <a:custGeom>
                  <a:avLst/>
                  <a:gdLst>
                    <a:gd name="T0" fmla="*/ 0 w 143"/>
                    <a:gd name="T1" fmla="*/ 54 h 297"/>
                    <a:gd name="T2" fmla="*/ 0 w 143"/>
                    <a:gd name="T3" fmla="*/ 62 h 297"/>
                    <a:gd name="T4" fmla="*/ 2 w 143"/>
                    <a:gd name="T5" fmla="*/ 70 h 297"/>
                    <a:gd name="T6" fmla="*/ 5 w 143"/>
                    <a:gd name="T7" fmla="*/ 77 h 297"/>
                    <a:gd name="T8" fmla="*/ 10 w 143"/>
                    <a:gd name="T9" fmla="*/ 83 h 297"/>
                    <a:gd name="T10" fmla="*/ 16 w 143"/>
                    <a:gd name="T11" fmla="*/ 89 h 297"/>
                    <a:gd name="T12" fmla="*/ 23 w 143"/>
                    <a:gd name="T13" fmla="*/ 93 h 297"/>
                    <a:gd name="T14" fmla="*/ 30 w 143"/>
                    <a:gd name="T15" fmla="*/ 97 h 297"/>
                    <a:gd name="T16" fmla="*/ 38 w 143"/>
                    <a:gd name="T17" fmla="*/ 99 h 297"/>
                    <a:gd name="T18" fmla="*/ 40 w 143"/>
                    <a:gd name="T19" fmla="*/ 99 h 297"/>
                    <a:gd name="T20" fmla="*/ 43 w 143"/>
                    <a:gd name="T21" fmla="*/ 98 h 297"/>
                    <a:gd name="T22" fmla="*/ 45 w 143"/>
                    <a:gd name="T23" fmla="*/ 97 h 297"/>
                    <a:gd name="T24" fmla="*/ 46 w 143"/>
                    <a:gd name="T25" fmla="*/ 95 h 297"/>
                    <a:gd name="T26" fmla="*/ 46 w 143"/>
                    <a:gd name="T27" fmla="*/ 92 h 297"/>
                    <a:gd name="T28" fmla="*/ 45 w 143"/>
                    <a:gd name="T29" fmla="*/ 90 h 297"/>
                    <a:gd name="T30" fmla="*/ 44 w 143"/>
                    <a:gd name="T31" fmla="*/ 88 h 297"/>
                    <a:gd name="T32" fmla="*/ 41 w 143"/>
                    <a:gd name="T33" fmla="*/ 87 h 297"/>
                    <a:gd name="T34" fmla="*/ 34 w 143"/>
                    <a:gd name="T35" fmla="*/ 84 h 297"/>
                    <a:gd name="T36" fmla="*/ 26 w 143"/>
                    <a:gd name="T37" fmla="*/ 80 h 297"/>
                    <a:gd name="T38" fmla="*/ 21 w 143"/>
                    <a:gd name="T39" fmla="*/ 75 h 297"/>
                    <a:gd name="T40" fmla="*/ 16 w 143"/>
                    <a:gd name="T41" fmla="*/ 69 h 297"/>
                    <a:gd name="T42" fmla="*/ 13 w 143"/>
                    <a:gd name="T43" fmla="*/ 62 h 297"/>
                    <a:gd name="T44" fmla="*/ 12 w 143"/>
                    <a:gd name="T45" fmla="*/ 55 h 297"/>
                    <a:gd name="T46" fmla="*/ 12 w 143"/>
                    <a:gd name="T47" fmla="*/ 46 h 297"/>
                    <a:gd name="T48" fmla="*/ 14 w 143"/>
                    <a:gd name="T49" fmla="*/ 38 h 297"/>
                    <a:gd name="T50" fmla="*/ 17 w 143"/>
                    <a:gd name="T51" fmla="*/ 32 h 297"/>
                    <a:gd name="T52" fmla="*/ 21 w 143"/>
                    <a:gd name="T53" fmla="*/ 26 h 297"/>
                    <a:gd name="T54" fmla="*/ 25 w 143"/>
                    <a:gd name="T55" fmla="*/ 21 h 297"/>
                    <a:gd name="T56" fmla="*/ 30 w 143"/>
                    <a:gd name="T57" fmla="*/ 16 h 297"/>
                    <a:gd name="T58" fmla="*/ 35 w 143"/>
                    <a:gd name="T59" fmla="*/ 11 h 297"/>
                    <a:gd name="T60" fmla="*/ 39 w 143"/>
                    <a:gd name="T61" fmla="*/ 8 h 297"/>
                    <a:gd name="T62" fmla="*/ 44 w 143"/>
                    <a:gd name="T63" fmla="*/ 4 h 297"/>
                    <a:gd name="T64" fmla="*/ 47 w 143"/>
                    <a:gd name="T65" fmla="*/ 0 h 297"/>
                    <a:gd name="T66" fmla="*/ 44 w 143"/>
                    <a:gd name="T67" fmla="*/ 0 h 297"/>
                    <a:gd name="T68" fmla="*/ 38 w 143"/>
                    <a:gd name="T69" fmla="*/ 2 h 297"/>
                    <a:gd name="T70" fmla="*/ 31 w 143"/>
                    <a:gd name="T71" fmla="*/ 8 h 297"/>
                    <a:gd name="T72" fmla="*/ 23 w 143"/>
                    <a:gd name="T73" fmla="*/ 15 h 297"/>
                    <a:gd name="T74" fmla="*/ 15 w 143"/>
                    <a:gd name="T75" fmla="*/ 24 h 297"/>
                    <a:gd name="T76" fmla="*/ 8 w 143"/>
                    <a:gd name="T77" fmla="*/ 34 h 297"/>
                    <a:gd name="T78" fmla="*/ 3 w 143"/>
                    <a:gd name="T79" fmla="*/ 44 h 297"/>
                    <a:gd name="T80" fmla="*/ 0 w 143"/>
                    <a:gd name="T81" fmla="*/ 54 h 297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143"/>
                    <a:gd name="T124" fmla="*/ 0 h 297"/>
                    <a:gd name="T125" fmla="*/ 143 w 143"/>
                    <a:gd name="T126" fmla="*/ 297 h 297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143" h="297">
                      <a:moveTo>
                        <a:pt x="0" y="162"/>
                      </a:moveTo>
                      <a:lnTo>
                        <a:pt x="0" y="187"/>
                      </a:lnTo>
                      <a:lnTo>
                        <a:pt x="5" y="210"/>
                      </a:lnTo>
                      <a:lnTo>
                        <a:pt x="16" y="231"/>
                      </a:lnTo>
                      <a:lnTo>
                        <a:pt x="30" y="250"/>
                      </a:lnTo>
                      <a:lnTo>
                        <a:pt x="48" y="266"/>
                      </a:lnTo>
                      <a:lnTo>
                        <a:pt x="69" y="280"/>
                      </a:lnTo>
                      <a:lnTo>
                        <a:pt x="92" y="290"/>
                      </a:lnTo>
                      <a:lnTo>
                        <a:pt x="116" y="296"/>
                      </a:lnTo>
                      <a:lnTo>
                        <a:pt x="123" y="297"/>
                      </a:lnTo>
                      <a:lnTo>
                        <a:pt x="130" y="295"/>
                      </a:lnTo>
                      <a:lnTo>
                        <a:pt x="136" y="290"/>
                      </a:lnTo>
                      <a:lnTo>
                        <a:pt x="139" y="284"/>
                      </a:lnTo>
                      <a:lnTo>
                        <a:pt x="139" y="277"/>
                      </a:lnTo>
                      <a:lnTo>
                        <a:pt x="138" y="270"/>
                      </a:lnTo>
                      <a:lnTo>
                        <a:pt x="133" y="264"/>
                      </a:lnTo>
                      <a:lnTo>
                        <a:pt x="126" y="261"/>
                      </a:lnTo>
                      <a:lnTo>
                        <a:pt x="102" y="253"/>
                      </a:lnTo>
                      <a:lnTo>
                        <a:pt x="80" y="241"/>
                      </a:lnTo>
                      <a:lnTo>
                        <a:pt x="63" y="226"/>
                      </a:lnTo>
                      <a:lnTo>
                        <a:pt x="50" y="208"/>
                      </a:lnTo>
                      <a:lnTo>
                        <a:pt x="41" y="187"/>
                      </a:lnTo>
                      <a:lnTo>
                        <a:pt x="36" y="164"/>
                      </a:lnTo>
                      <a:lnTo>
                        <a:pt x="36" y="139"/>
                      </a:lnTo>
                      <a:lnTo>
                        <a:pt x="44" y="113"/>
                      </a:lnTo>
                      <a:lnTo>
                        <a:pt x="52" y="95"/>
                      </a:lnTo>
                      <a:lnTo>
                        <a:pt x="64" y="78"/>
                      </a:lnTo>
                      <a:lnTo>
                        <a:pt x="77" y="62"/>
                      </a:lnTo>
                      <a:lnTo>
                        <a:pt x="92" y="47"/>
                      </a:lnTo>
                      <a:lnTo>
                        <a:pt x="105" y="34"/>
                      </a:lnTo>
                      <a:lnTo>
                        <a:pt x="120" y="23"/>
                      </a:lnTo>
                      <a:lnTo>
                        <a:pt x="133" y="11"/>
                      </a:lnTo>
                      <a:lnTo>
                        <a:pt x="143" y="1"/>
                      </a:lnTo>
                      <a:lnTo>
                        <a:pt x="133" y="0"/>
                      </a:lnTo>
                      <a:lnTo>
                        <a:pt x="117" y="7"/>
                      </a:lnTo>
                      <a:lnTo>
                        <a:pt x="95" y="23"/>
                      </a:lnTo>
                      <a:lnTo>
                        <a:pt x="70" y="44"/>
                      </a:lnTo>
                      <a:lnTo>
                        <a:pt x="47" y="72"/>
                      </a:lnTo>
                      <a:lnTo>
                        <a:pt x="25" y="101"/>
                      </a:lnTo>
                      <a:lnTo>
                        <a:pt x="8" y="132"/>
                      </a:lnTo>
                      <a:lnTo>
                        <a:pt x="0" y="162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4" name="Freeform 47"/>
                <p:cNvSpPr>
                  <a:spLocks/>
                </p:cNvSpPr>
                <p:nvPr/>
              </p:nvSpPr>
              <p:spPr bwMode="auto">
                <a:xfrm>
                  <a:off x="8360" y="4451"/>
                  <a:ext cx="103" cy="129"/>
                </a:xfrm>
                <a:custGeom>
                  <a:avLst/>
                  <a:gdLst>
                    <a:gd name="T0" fmla="*/ 87 w 309"/>
                    <a:gd name="T1" fmla="*/ 52 h 388"/>
                    <a:gd name="T2" fmla="*/ 92 w 309"/>
                    <a:gd name="T3" fmla="*/ 60 h 388"/>
                    <a:gd name="T4" fmla="*/ 94 w 309"/>
                    <a:gd name="T5" fmla="*/ 68 h 388"/>
                    <a:gd name="T6" fmla="*/ 93 w 309"/>
                    <a:gd name="T7" fmla="*/ 78 h 388"/>
                    <a:gd name="T8" fmla="*/ 87 w 309"/>
                    <a:gd name="T9" fmla="*/ 87 h 388"/>
                    <a:gd name="T10" fmla="*/ 79 w 309"/>
                    <a:gd name="T11" fmla="*/ 95 h 388"/>
                    <a:gd name="T12" fmla="*/ 70 w 309"/>
                    <a:gd name="T13" fmla="*/ 102 h 388"/>
                    <a:gd name="T14" fmla="*/ 60 w 309"/>
                    <a:gd name="T15" fmla="*/ 110 h 388"/>
                    <a:gd name="T16" fmla="*/ 54 w 309"/>
                    <a:gd name="T17" fmla="*/ 116 h 388"/>
                    <a:gd name="T18" fmla="*/ 52 w 309"/>
                    <a:gd name="T19" fmla="*/ 119 h 388"/>
                    <a:gd name="T20" fmla="*/ 51 w 309"/>
                    <a:gd name="T21" fmla="*/ 123 h 388"/>
                    <a:gd name="T22" fmla="*/ 51 w 309"/>
                    <a:gd name="T23" fmla="*/ 127 h 388"/>
                    <a:gd name="T24" fmla="*/ 54 w 309"/>
                    <a:gd name="T25" fmla="*/ 129 h 388"/>
                    <a:gd name="T26" fmla="*/ 58 w 309"/>
                    <a:gd name="T27" fmla="*/ 129 h 388"/>
                    <a:gd name="T28" fmla="*/ 65 w 309"/>
                    <a:gd name="T29" fmla="*/ 122 h 388"/>
                    <a:gd name="T30" fmla="*/ 76 w 309"/>
                    <a:gd name="T31" fmla="*/ 112 h 388"/>
                    <a:gd name="T32" fmla="*/ 87 w 309"/>
                    <a:gd name="T33" fmla="*/ 102 h 388"/>
                    <a:gd name="T34" fmla="*/ 97 w 309"/>
                    <a:gd name="T35" fmla="*/ 91 h 388"/>
                    <a:gd name="T36" fmla="*/ 102 w 309"/>
                    <a:gd name="T37" fmla="*/ 78 h 388"/>
                    <a:gd name="T38" fmla="*/ 101 w 309"/>
                    <a:gd name="T39" fmla="*/ 64 h 388"/>
                    <a:gd name="T40" fmla="*/ 95 w 309"/>
                    <a:gd name="T41" fmla="*/ 50 h 388"/>
                    <a:gd name="T42" fmla="*/ 84 w 309"/>
                    <a:gd name="T43" fmla="*/ 39 h 388"/>
                    <a:gd name="T44" fmla="*/ 74 w 309"/>
                    <a:gd name="T45" fmla="*/ 31 h 388"/>
                    <a:gd name="T46" fmla="*/ 64 w 309"/>
                    <a:gd name="T47" fmla="*/ 25 h 388"/>
                    <a:gd name="T48" fmla="*/ 53 w 309"/>
                    <a:gd name="T49" fmla="*/ 18 h 388"/>
                    <a:gd name="T50" fmla="*/ 41 w 309"/>
                    <a:gd name="T51" fmla="*/ 12 h 388"/>
                    <a:gd name="T52" fmla="*/ 31 w 309"/>
                    <a:gd name="T53" fmla="*/ 7 h 388"/>
                    <a:gd name="T54" fmla="*/ 20 w 309"/>
                    <a:gd name="T55" fmla="*/ 3 h 388"/>
                    <a:gd name="T56" fmla="*/ 10 w 309"/>
                    <a:gd name="T57" fmla="*/ 1 h 388"/>
                    <a:gd name="T58" fmla="*/ 3 w 309"/>
                    <a:gd name="T59" fmla="*/ 1 h 388"/>
                    <a:gd name="T60" fmla="*/ 4 w 309"/>
                    <a:gd name="T61" fmla="*/ 2 h 388"/>
                    <a:gd name="T62" fmla="*/ 12 w 309"/>
                    <a:gd name="T63" fmla="*/ 6 h 388"/>
                    <a:gd name="T64" fmla="*/ 22 w 309"/>
                    <a:gd name="T65" fmla="*/ 10 h 388"/>
                    <a:gd name="T66" fmla="*/ 33 w 309"/>
                    <a:gd name="T67" fmla="*/ 15 h 388"/>
                    <a:gd name="T68" fmla="*/ 45 w 309"/>
                    <a:gd name="T69" fmla="*/ 22 h 388"/>
                    <a:gd name="T70" fmla="*/ 56 w 309"/>
                    <a:gd name="T71" fmla="*/ 29 h 388"/>
                    <a:gd name="T72" fmla="*/ 68 w 309"/>
                    <a:gd name="T73" fmla="*/ 36 h 388"/>
                    <a:gd name="T74" fmla="*/ 78 w 309"/>
                    <a:gd name="T75" fmla="*/ 44 h 388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309"/>
                    <a:gd name="T115" fmla="*/ 0 h 388"/>
                    <a:gd name="T116" fmla="*/ 309 w 309"/>
                    <a:gd name="T117" fmla="*/ 388 h 388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309" h="388">
                      <a:moveTo>
                        <a:pt x="250" y="145"/>
                      </a:moveTo>
                      <a:lnTo>
                        <a:pt x="260" y="155"/>
                      </a:lnTo>
                      <a:lnTo>
                        <a:pt x="269" y="167"/>
                      </a:lnTo>
                      <a:lnTo>
                        <a:pt x="275" y="180"/>
                      </a:lnTo>
                      <a:lnTo>
                        <a:pt x="281" y="193"/>
                      </a:lnTo>
                      <a:lnTo>
                        <a:pt x="282" y="206"/>
                      </a:lnTo>
                      <a:lnTo>
                        <a:pt x="282" y="220"/>
                      </a:lnTo>
                      <a:lnTo>
                        <a:pt x="278" y="234"/>
                      </a:lnTo>
                      <a:lnTo>
                        <a:pt x="272" y="247"/>
                      </a:lnTo>
                      <a:lnTo>
                        <a:pt x="262" y="262"/>
                      </a:lnTo>
                      <a:lnTo>
                        <a:pt x="250" y="275"/>
                      </a:lnTo>
                      <a:lnTo>
                        <a:pt x="237" y="286"/>
                      </a:lnTo>
                      <a:lnTo>
                        <a:pt x="222" y="298"/>
                      </a:lnTo>
                      <a:lnTo>
                        <a:pt x="209" y="308"/>
                      </a:lnTo>
                      <a:lnTo>
                        <a:pt x="194" y="319"/>
                      </a:lnTo>
                      <a:lnTo>
                        <a:pt x="180" y="331"/>
                      </a:lnTo>
                      <a:lnTo>
                        <a:pt x="166" y="344"/>
                      </a:lnTo>
                      <a:lnTo>
                        <a:pt x="162" y="348"/>
                      </a:lnTo>
                      <a:lnTo>
                        <a:pt x="159" y="354"/>
                      </a:lnTo>
                      <a:lnTo>
                        <a:pt x="156" y="359"/>
                      </a:lnTo>
                      <a:lnTo>
                        <a:pt x="153" y="365"/>
                      </a:lnTo>
                      <a:lnTo>
                        <a:pt x="152" y="371"/>
                      </a:lnTo>
                      <a:lnTo>
                        <a:pt x="152" y="377"/>
                      </a:lnTo>
                      <a:lnTo>
                        <a:pt x="153" y="382"/>
                      </a:lnTo>
                      <a:lnTo>
                        <a:pt x="158" y="387"/>
                      </a:lnTo>
                      <a:lnTo>
                        <a:pt x="163" y="388"/>
                      </a:lnTo>
                      <a:lnTo>
                        <a:pt x="169" y="388"/>
                      </a:lnTo>
                      <a:lnTo>
                        <a:pt x="175" y="387"/>
                      </a:lnTo>
                      <a:lnTo>
                        <a:pt x="180" y="382"/>
                      </a:lnTo>
                      <a:lnTo>
                        <a:pt x="194" y="367"/>
                      </a:lnTo>
                      <a:lnTo>
                        <a:pt x="210" y="351"/>
                      </a:lnTo>
                      <a:lnTo>
                        <a:pt x="227" y="337"/>
                      </a:lnTo>
                      <a:lnTo>
                        <a:pt x="244" y="322"/>
                      </a:lnTo>
                      <a:lnTo>
                        <a:pt x="260" y="308"/>
                      </a:lnTo>
                      <a:lnTo>
                        <a:pt x="275" y="292"/>
                      </a:lnTo>
                      <a:lnTo>
                        <a:pt x="290" y="275"/>
                      </a:lnTo>
                      <a:lnTo>
                        <a:pt x="300" y="256"/>
                      </a:lnTo>
                      <a:lnTo>
                        <a:pt x="307" y="234"/>
                      </a:lnTo>
                      <a:lnTo>
                        <a:pt x="309" y="213"/>
                      </a:lnTo>
                      <a:lnTo>
                        <a:pt x="304" y="191"/>
                      </a:lnTo>
                      <a:lnTo>
                        <a:pt x="297" y="171"/>
                      </a:lnTo>
                      <a:lnTo>
                        <a:pt x="285" y="151"/>
                      </a:lnTo>
                      <a:lnTo>
                        <a:pt x="271" y="134"/>
                      </a:lnTo>
                      <a:lnTo>
                        <a:pt x="253" y="118"/>
                      </a:lnTo>
                      <a:lnTo>
                        <a:pt x="235" y="104"/>
                      </a:lnTo>
                      <a:lnTo>
                        <a:pt x="222" y="94"/>
                      </a:lnTo>
                      <a:lnTo>
                        <a:pt x="207" y="85"/>
                      </a:lnTo>
                      <a:lnTo>
                        <a:pt x="191" y="75"/>
                      </a:lnTo>
                      <a:lnTo>
                        <a:pt x="175" y="65"/>
                      </a:lnTo>
                      <a:lnTo>
                        <a:pt x="159" y="55"/>
                      </a:lnTo>
                      <a:lnTo>
                        <a:pt x="141" y="45"/>
                      </a:lnTo>
                      <a:lnTo>
                        <a:pt x="124" y="36"/>
                      </a:lnTo>
                      <a:lnTo>
                        <a:pt x="108" y="28"/>
                      </a:lnTo>
                      <a:lnTo>
                        <a:pt x="92" y="20"/>
                      </a:lnTo>
                      <a:lnTo>
                        <a:pt x="75" y="13"/>
                      </a:lnTo>
                      <a:lnTo>
                        <a:pt x="59" y="9"/>
                      </a:lnTo>
                      <a:lnTo>
                        <a:pt x="45" y="5"/>
                      </a:lnTo>
                      <a:lnTo>
                        <a:pt x="31" y="2"/>
                      </a:lnTo>
                      <a:lnTo>
                        <a:pt x="20" y="0"/>
                      </a:lnTo>
                      <a:lnTo>
                        <a:pt x="9" y="2"/>
                      </a:lnTo>
                      <a:lnTo>
                        <a:pt x="0" y="5"/>
                      </a:lnTo>
                      <a:lnTo>
                        <a:pt x="11" y="7"/>
                      </a:lnTo>
                      <a:lnTo>
                        <a:pt x="23" y="12"/>
                      </a:lnTo>
                      <a:lnTo>
                        <a:pt x="36" y="17"/>
                      </a:lnTo>
                      <a:lnTo>
                        <a:pt x="49" y="23"/>
                      </a:lnTo>
                      <a:lnTo>
                        <a:pt x="65" y="30"/>
                      </a:lnTo>
                      <a:lnTo>
                        <a:pt x="81" y="38"/>
                      </a:lnTo>
                      <a:lnTo>
                        <a:pt x="99" y="46"/>
                      </a:lnTo>
                      <a:lnTo>
                        <a:pt x="116" y="55"/>
                      </a:lnTo>
                      <a:lnTo>
                        <a:pt x="134" y="65"/>
                      </a:lnTo>
                      <a:lnTo>
                        <a:pt x="152" y="75"/>
                      </a:lnTo>
                      <a:lnTo>
                        <a:pt x="169" y="86"/>
                      </a:lnTo>
                      <a:lnTo>
                        <a:pt x="187" y="98"/>
                      </a:lnTo>
                      <a:lnTo>
                        <a:pt x="205" y="109"/>
                      </a:lnTo>
                      <a:lnTo>
                        <a:pt x="221" y="121"/>
                      </a:lnTo>
                      <a:lnTo>
                        <a:pt x="235" y="132"/>
                      </a:lnTo>
                      <a:lnTo>
                        <a:pt x="250" y="145"/>
                      </a:lnTo>
                      <a:close/>
                    </a:path>
                  </a:pathLst>
                </a:custGeom>
                <a:solidFill>
                  <a:srgbClr val="C9E8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5" name="Freeform 48"/>
                <p:cNvSpPr>
                  <a:spLocks/>
                </p:cNvSpPr>
                <p:nvPr/>
              </p:nvSpPr>
              <p:spPr bwMode="auto">
                <a:xfrm>
                  <a:off x="8279" y="4648"/>
                  <a:ext cx="135" cy="97"/>
                </a:xfrm>
                <a:custGeom>
                  <a:avLst/>
                  <a:gdLst>
                    <a:gd name="T0" fmla="*/ 110 w 406"/>
                    <a:gd name="T1" fmla="*/ 22 h 292"/>
                    <a:gd name="T2" fmla="*/ 117 w 406"/>
                    <a:gd name="T3" fmla="*/ 41 h 292"/>
                    <a:gd name="T4" fmla="*/ 124 w 406"/>
                    <a:gd name="T5" fmla="*/ 60 h 292"/>
                    <a:gd name="T6" fmla="*/ 131 w 406"/>
                    <a:gd name="T7" fmla="*/ 79 h 292"/>
                    <a:gd name="T8" fmla="*/ 135 w 406"/>
                    <a:gd name="T9" fmla="*/ 91 h 292"/>
                    <a:gd name="T10" fmla="*/ 134 w 406"/>
                    <a:gd name="T11" fmla="*/ 94 h 292"/>
                    <a:gd name="T12" fmla="*/ 131 w 406"/>
                    <a:gd name="T13" fmla="*/ 97 h 292"/>
                    <a:gd name="T14" fmla="*/ 127 w 406"/>
                    <a:gd name="T15" fmla="*/ 96 h 292"/>
                    <a:gd name="T16" fmla="*/ 121 w 406"/>
                    <a:gd name="T17" fmla="*/ 83 h 292"/>
                    <a:gd name="T18" fmla="*/ 113 w 406"/>
                    <a:gd name="T19" fmla="*/ 57 h 292"/>
                    <a:gd name="T20" fmla="*/ 106 w 406"/>
                    <a:gd name="T21" fmla="*/ 31 h 292"/>
                    <a:gd name="T22" fmla="*/ 102 w 406"/>
                    <a:gd name="T23" fmla="*/ 14 h 292"/>
                    <a:gd name="T24" fmla="*/ 94 w 406"/>
                    <a:gd name="T25" fmla="*/ 11 h 292"/>
                    <a:gd name="T26" fmla="*/ 79 w 406"/>
                    <a:gd name="T27" fmla="*/ 13 h 292"/>
                    <a:gd name="T28" fmla="*/ 64 w 406"/>
                    <a:gd name="T29" fmla="*/ 17 h 292"/>
                    <a:gd name="T30" fmla="*/ 49 w 406"/>
                    <a:gd name="T31" fmla="*/ 22 h 292"/>
                    <a:gd name="T32" fmla="*/ 35 w 406"/>
                    <a:gd name="T33" fmla="*/ 28 h 292"/>
                    <a:gd name="T34" fmla="*/ 22 w 406"/>
                    <a:gd name="T35" fmla="*/ 34 h 292"/>
                    <a:gd name="T36" fmla="*/ 11 w 406"/>
                    <a:gd name="T37" fmla="*/ 41 h 292"/>
                    <a:gd name="T38" fmla="*/ 3 w 406"/>
                    <a:gd name="T39" fmla="*/ 47 h 292"/>
                    <a:gd name="T40" fmla="*/ 0 w 406"/>
                    <a:gd name="T41" fmla="*/ 44 h 292"/>
                    <a:gd name="T42" fmla="*/ 6 w 406"/>
                    <a:gd name="T43" fmla="*/ 34 h 292"/>
                    <a:gd name="T44" fmla="*/ 18 w 406"/>
                    <a:gd name="T45" fmla="*/ 23 h 292"/>
                    <a:gd name="T46" fmla="*/ 31 w 406"/>
                    <a:gd name="T47" fmla="*/ 14 h 292"/>
                    <a:gd name="T48" fmla="*/ 46 w 406"/>
                    <a:gd name="T49" fmla="*/ 8 h 292"/>
                    <a:gd name="T50" fmla="*/ 70 w 406"/>
                    <a:gd name="T51" fmla="*/ 3 h 292"/>
                    <a:gd name="T52" fmla="*/ 92 w 406"/>
                    <a:gd name="T53" fmla="*/ 0 h 292"/>
                    <a:gd name="T54" fmla="*/ 107 w 406"/>
                    <a:gd name="T55" fmla="*/ 0 h 292"/>
                    <a:gd name="T56" fmla="*/ 112 w 406"/>
                    <a:gd name="T57" fmla="*/ 0 h 292"/>
                    <a:gd name="T58" fmla="*/ 115 w 406"/>
                    <a:gd name="T59" fmla="*/ 4 h 292"/>
                    <a:gd name="T60" fmla="*/ 115 w 406"/>
                    <a:gd name="T61" fmla="*/ 9 h 292"/>
                    <a:gd name="T62" fmla="*/ 111 w 406"/>
                    <a:gd name="T63" fmla="*/ 11 h 292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406"/>
                    <a:gd name="T97" fmla="*/ 0 h 292"/>
                    <a:gd name="T98" fmla="*/ 406 w 406"/>
                    <a:gd name="T99" fmla="*/ 292 h 292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406" h="292">
                      <a:moveTo>
                        <a:pt x="326" y="36"/>
                      </a:moveTo>
                      <a:lnTo>
                        <a:pt x="332" y="65"/>
                      </a:lnTo>
                      <a:lnTo>
                        <a:pt x="340" y="93"/>
                      </a:lnTo>
                      <a:lnTo>
                        <a:pt x="351" y="123"/>
                      </a:lnTo>
                      <a:lnTo>
                        <a:pt x="361" y="152"/>
                      </a:lnTo>
                      <a:lnTo>
                        <a:pt x="373" y="181"/>
                      </a:lnTo>
                      <a:lnTo>
                        <a:pt x="384" y="210"/>
                      </a:lnTo>
                      <a:lnTo>
                        <a:pt x="395" y="237"/>
                      </a:lnTo>
                      <a:lnTo>
                        <a:pt x="405" y="266"/>
                      </a:lnTo>
                      <a:lnTo>
                        <a:pt x="406" y="273"/>
                      </a:lnTo>
                      <a:lnTo>
                        <a:pt x="406" y="279"/>
                      </a:lnTo>
                      <a:lnTo>
                        <a:pt x="404" y="284"/>
                      </a:lnTo>
                      <a:lnTo>
                        <a:pt x="399" y="289"/>
                      </a:lnTo>
                      <a:lnTo>
                        <a:pt x="393" y="292"/>
                      </a:lnTo>
                      <a:lnTo>
                        <a:pt x="387" y="292"/>
                      </a:lnTo>
                      <a:lnTo>
                        <a:pt x="381" y="289"/>
                      </a:lnTo>
                      <a:lnTo>
                        <a:pt x="377" y="283"/>
                      </a:lnTo>
                      <a:lnTo>
                        <a:pt x="364" y="251"/>
                      </a:lnTo>
                      <a:lnTo>
                        <a:pt x="352" y="213"/>
                      </a:lnTo>
                      <a:lnTo>
                        <a:pt x="339" y="171"/>
                      </a:lnTo>
                      <a:lnTo>
                        <a:pt x="329" y="131"/>
                      </a:lnTo>
                      <a:lnTo>
                        <a:pt x="318" y="93"/>
                      </a:lnTo>
                      <a:lnTo>
                        <a:pt x="311" y="63"/>
                      </a:lnTo>
                      <a:lnTo>
                        <a:pt x="307" y="42"/>
                      </a:lnTo>
                      <a:lnTo>
                        <a:pt x="305" y="34"/>
                      </a:lnTo>
                      <a:lnTo>
                        <a:pt x="283" y="34"/>
                      </a:lnTo>
                      <a:lnTo>
                        <a:pt x="261" y="36"/>
                      </a:lnTo>
                      <a:lnTo>
                        <a:pt x="239" y="39"/>
                      </a:lnTo>
                      <a:lnTo>
                        <a:pt x="216" y="43"/>
                      </a:lnTo>
                      <a:lnTo>
                        <a:pt x="192" y="50"/>
                      </a:lnTo>
                      <a:lnTo>
                        <a:pt x="170" y="57"/>
                      </a:lnTo>
                      <a:lnTo>
                        <a:pt x="148" y="65"/>
                      </a:lnTo>
                      <a:lnTo>
                        <a:pt x="126" y="73"/>
                      </a:lnTo>
                      <a:lnTo>
                        <a:pt x="106" y="83"/>
                      </a:lnTo>
                      <a:lnTo>
                        <a:pt x="85" y="93"/>
                      </a:lnTo>
                      <a:lnTo>
                        <a:pt x="67" y="103"/>
                      </a:lnTo>
                      <a:lnTo>
                        <a:pt x="50" y="113"/>
                      </a:lnTo>
                      <a:lnTo>
                        <a:pt x="34" y="122"/>
                      </a:lnTo>
                      <a:lnTo>
                        <a:pt x="20" y="132"/>
                      </a:lnTo>
                      <a:lnTo>
                        <a:pt x="9" y="141"/>
                      </a:lnTo>
                      <a:lnTo>
                        <a:pt x="0" y="148"/>
                      </a:lnTo>
                      <a:lnTo>
                        <a:pt x="0" y="133"/>
                      </a:lnTo>
                      <a:lnTo>
                        <a:pt x="7" y="118"/>
                      </a:lnTo>
                      <a:lnTo>
                        <a:pt x="19" y="102"/>
                      </a:lnTo>
                      <a:lnTo>
                        <a:pt x="35" y="86"/>
                      </a:lnTo>
                      <a:lnTo>
                        <a:pt x="53" y="70"/>
                      </a:lnTo>
                      <a:lnTo>
                        <a:pt x="73" y="54"/>
                      </a:lnTo>
                      <a:lnTo>
                        <a:pt x="92" y="43"/>
                      </a:lnTo>
                      <a:lnTo>
                        <a:pt x="111" y="33"/>
                      </a:lnTo>
                      <a:lnTo>
                        <a:pt x="139" y="23"/>
                      </a:lnTo>
                      <a:lnTo>
                        <a:pt x="173" y="14"/>
                      </a:lnTo>
                      <a:lnTo>
                        <a:pt x="210" y="8"/>
                      </a:lnTo>
                      <a:lnTo>
                        <a:pt x="245" y="4"/>
                      </a:lnTo>
                      <a:lnTo>
                        <a:pt x="277" y="1"/>
                      </a:lnTo>
                      <a:lnTo>
                        <a:pt x="304" y="0"/>
                      </a:lnTo>
                      <a:lnTo>
                        <a:pt x="321" y="0"/>
                      </a:lnTo>
                      <a:lnTo>
                        <a:pt x="329" y="0"/>
                      </a:lnTo>
                      <a:lnTo>
                        <a:pt x="336" y="1"/>
                      </a:lnTo>
                      <a:lnTo>
                        <a:pt x="342" y="6"/>
                      </a:lnTo>
                      <a:lnTo>
                        <a:pt x="345" y="11"/>
                      </a:lnTo>
                      <a:lnTo>
                        <a:pt x="346" y="19"/>
                      </a:lnTo>
                      <a:lnTo>
                        <a:pt x="345" y="26"/>
                      </a:lnTo>
                      <a:lnTo>
                        <a:pt x="340" y="31"/>
                      </a:lnTo>
                      <a:lnTo>
                        <a:pt x="335" y="34"/>
                      </a:lnTo>
                      <a:lnTo>
                        <a:pt x="326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6" name="Freeform 49"/>
                <p:cNvSpPr>
                  <a:spLocks/>
                </p:cNvSpPr>
                <p:nvPr/>
              </p:nvSpPr>
              <p:spPr bwMode="auto">
                <a:xfrm>
                  <a:off x="8272" y="4697"/>
                  <a:ext cx="146" cy="320"/>
                </a:xfrm>
                <a:custGeom>
                  <a:avLst/>
                  <a:gdLst>
                    <a:gd name="T0" fmla="*/ 27 w 439"/>
                    <a:gd name="T1" fmla="*/ 96 h 960"/>
                    <a:gd name="T2" fmla="*/ 29 w 439"/>
                    <a:gd name="T3" fmla="*/ 105 h 960"/>
                    <a:gd name="T4" fmla="*/ 36 w 439"/>
                    <a:gd name="T5" fmla="*/ 125 h 960"/>
                    <a:gd name="T6" fmla="*/ 47 w 439"/>
                    <a:gd name="T7" fmla="*/ 152 h 960"/>
                    <a:gd name="T8" fmla="*/ 58 w 439"/>
                    <a:gd name="T9" fmla="*/ 178 h 960"/>
                    <a:gd name="T10" fmla="*/ 70 w 439"/>
                    <a:gd name="T11" fmla="*/ 204 h 960"/>
                    <a:gd name="T12" fmla="*/ 82 w 439"/>
                    <a:gd name="T13" fmla="*/ 229 h 960"/>
                    <a:gd name="T14" fmla="*/ 95 w 439"/>
                    <a:gd name="T15" fmla="*/ 254 h 960"/>
                    <a:gd name="T16" fmla="*/ 108 w 439"/>
                    <a:gd name="T17" fmla="*/ 280 h 960"/>
                    <a:gd name="T18" fmla="*/ 122 w 439"/>
                    <a:gd name="T19" fmla="*/ 305 h 960"/>
                    <a:gd name="T20" fmla="*/ 130 w 439"/>
                    <a:gd name="T21" fmla="*/ 319 h 960"/>
                    <a:gd name="T22" fmla="*/ 134 w 439"/>
                    <a:gd name="T23" fmla="*/ 320 h 960"/>
                    <a:gd name="T24" fmla="*/ 140 w 439"/>
                    <a:gd name="T25" fmla="*/ 320 h 960"/>
                    <a:gd name="T26" fmla="*/ 144 w 439"/>
                    <a:gd name="T27" fmla="*/ 319 h 960"/>
                    <a:gd name="T28" fmla="*/ 146 w 439"/>
                    <a:gd name="T29" fmla="*/ 316 h 960"/>
                    <a:gd name="T30" fmla="*/ 145 w 439"/>
                    <a:gd name="T31" fmla="*/ 312 h 960"/>
                    <a:gd name="T32" fmla="*/ 138 w 439"/>
                    <a:gd name="T33" fmla="*/ 301 h 960"/>
                    <a:gd name="T34" fmla="*/ 126 w 439"/>
                    <a:gd name="T35" fmla="*/ 281 h 960"/>
                    <a:gd name="T36" fmla="*/ 116 w 439"/>
                    <a:gd name="T37" fmla="*/ 261 h 960"/>
                    <a:gd name="T38" fmla="*/ 104 w 439"/>
                    <a:gd name="T39" fmla="*/ 241 h 960"/>
                    <a:gd name="T40" fmla="*/ 89 w 439"/>
                    <a:gd name="T41" fmla="*/ 213 h 960"/>
                    <a:gd name="T42" fmla="*/ 72 w 439"/>
                    <a:gd name="T43" fmla="*/ 177 h 960"/>
                    <a:gd name="T44" fmla="*/ 56 w 439"/>
                    <a:gd name="T45" fmla="*/ 141 h 960"/>
                    <a:gd name="T46" fmla="*/ 43 w 439"/>
                    <a:gd name="T47" fmla="*/ 104 h 960"/>
                    <a:gd name="T48" fmla="*/ 30 w 439"/>
                    <a:gd name="T49" fmla="*/ 73 h 960"/>
                    <a:gd name="T50" fmla="*/ 20 w 439"/>
                    <a:gd name="T51" fmla="*/ 46 h 960"/>
                    <a:gd name="T52" fmla="*/ 12 w 439"/>
                    <a:gd name="T53" fmla="*/ 21 h 960"/>
                    <a:gd name="T54" fmla="*/ 5 w 439"/>
                    <a:gd name="T55" fmla="*/ 3 h 960"/>
                    <a:gd name="T56" fmla="*/ 2 w 439"/>
                    <a:gd name="T57" fmla="*/ 0 h 960"/>
                    <a:gd name="T58" fmla="*/ 0 w 439"/>
                    <a:gd name="T59" fmla="*/ 3 h 960"/>
                    <a:gd name="T60" fmla="*/ 2 w 439"/>
                    <a:gd name="T61" fmla="*/ 16 h 960"/>
                    <a:gd name="T62" fmla="*/ 5 w 439"/>
                    <a:gd name="T63" fmla="*/ 38 h 960"/>
                    <a:gd name="T64" fmla="*/ 11 w 439"/>
                    <a:gd name="T65" fmla="*/ 60 h 960"/>
                    <a:gd name="T66" fmla="*/ 19 w 439"/>
                    <a:gd name="T67" fmla="*/ 80 h 960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439"/>
                    <a:gd name="T103" fmla="*/ 0 h 960"/>
                    <a:gd name="T104" fmla="*/ 439 w 439"/>
                    <a:gd name="T105" fmla="*/ 960 h 960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439" h="960">
                      <a:moveTo>
                        <a:pt x="72" y="270"/>
                      </a:moveTo>
                      <a:lnTo>
                        <a:pt x="82" y="289"/>
                      </a:lnTo>
                      <a:lnTo>
                        <a:pt x="85" y="302"/>
                      </a:lnTo>
                      <a:lnTo>
                        <a:pt x="87" y="316"/>
                      </a:lnTo>
                      <a:lnTo>
                        <a:pt x="93" y="336"/>
                      </a:lnTo>
                      <a:lnTo>
                        <a:pt x="107" y="376"/>
                      </a:lnTo>
                      <a:lnTo>
                        <a:pt x="124" y="417"/>
                      </a:lnTo>
                      <a:lnTo>
                        <a:pt x="141" y="455"/>
                      </a:lnTo>
                      <a:lnTo>
                        <a:pt x="157" y="494"/>
                      </a:lnTo>
                      <a:lnTo>
                        <a:pt x="175" y="533"/>
                      </a:lnTo>
                      <a:lnTo>
                        <a:pt x="193" y="572"/>
                      </a:lnTo>
                      <a:lnTo>
                        <a:pt x="210" y="611"/>
                      </a:lnTo>
                      <a:lnTo>
                        <a:pt x="229" y="649"/>
                      </a:lnTo>
                      <a:lnTo>
                        <a:pt x="248" y="687"/>
                      </a:lnTo>
                      <a:lnTo>
                        <a:pt x="267" y="726"/>
                      </a:lnTo>
                      <a:lnTo>
                        <a:pt x="287" y="763"/>
                      </a:lnTo>
                      <a:lnTo>
                        <a:pt x="307" y="802"/>
                      </a:lnTo>
                      <a:lnTo>
                        <a:pt x="326" y="839"/>
                      </a:lnTo>
                      <a:lnTo>
                        <a:pt x="347" y="878"/>
                      </a:lnTo>
                      <a:lnTo>
                        <a:pt x="367" y="915"/>
                      </a:lnTo>
                      <a:lnTo>
                        <a:pt x="388" y="954"/>
                      </a:lnTo>
                      <a:lnTo>
                        <a:pt x="391" y="957"/>
                      </a:lnTo>
                      <a:lnTo>
                        <a:pt x="397" y="958"/>
                      </a:lnTo>
                      <a:lnTo>
                        <a:pt x="404" y="960"/>
                      </a:lnTo>
                      <a:lnTo>
                        <a:pt x="413" y="960"/>
                      </a:lnTo>
                      <a:lnTo>
                        <a:pt x="420" y="960"/>
                      </a:lnTo>
                      <a:lnTo>
                        <a:pt x="427" y="958"/>
                      </a:lnTo>
                      <a:lnTo>
                        <a:pt x="433" y="957"/>
                      </a:lnTo>
                      <a:lnTo>
                        <a:pt x="436" y="954"/>
                      </a:lnTo>
                      <a:lnTo>
                        <a:pt x="439" y="948"/>
                      </a:lnTo>
                      <a:lnTo>
                        <a:pt x="439" y="943"/>
                      </a:lnTo>
                      <a:lnTo>
                        <a:pt x="436" y="937"/>
                      </a:lnTo>
                      <a:lnTo>
                        <a:pt x="432" y="932"/>
                      </a:lnTo>
                      <a:lnTo>
                        <a:pt x="414" y="902"/>
                      </a:lnTo>
                      <a:lnTo>
                        <a:pt x="398" y="874"/>
                      </a:lnTo>
                      <a:lnTo>
                        <a:pt x="380" y="843"/>
                      </a:lnTo>
                      <a:lnTo>
                        <a:pt x="364" y="813"/>
                      </a:lnTo>
                      <a:lnTo>
                        <a:pt x="348" y="784"/>
                      </a:lnTo>
                      <a:lnTo>
                        <a:pt x="332" y="754"/>
                      </a:lnTo>
                      <a:lnTo>
                        <a:pt x="314" y="724"/>
                      </a:lnTo>
                      <a:lnTo>
                        <a:pt x="298" y="694"/>
                      </a:lnTo>
                      <a:lnTo>
                        <a:pt x="269" y="638"/>
                      </a:lnTo>
                      <a:lnTo>
                        <a:pt x="242" y="585"/>
                      </a:lnTo>
                      <a:lnTo>
                        <a:pt x="216" y="532"/>
                      </a:lnTo>
                      <a:lnTo>
                        <a:pt x="193" y="477"/>
                      </a:lnTo>
                      <a:lnTo>
                        <a:pt x="169" y="424"/>
                      </a:lnTo>
                      <a:lnTo>
                        <a:pt x="149" y="369"/>
                      </a:lnTo>
                      <a:lnTo>
                        <a:pt x="128" y="312"/>
                      </a:lnTo>
                      <a:lnTo>
                        <a:pt x="107" y="253"/>
                      </a:lnTo>
                      <a:lnTo>
                        <a:pt x="91" y="220"/>
                      </a:lnTo>
                      <a:lnTo>
                        <a:pt x="75" y="181"/>
                      </a:lnTo>
                      <a:lnTo>
                        <a:pt x="60" y="139"/>
                      </a:lnTo>
                      <a:lnTo>
                        <a:pt x="47" y="99"/>
                      </a:lnTo>
                      <a:lnTo>
                        <a:pt x="35" y="62"/>
                      </a:lnTo>
                      <a:lnTo>
                        <a:pt x="25" y="31"/>
                      </a:lnTo>
                      <a:lnTo>
                        <a:pt x="15" y="10"/>
                      </a:lnTo>
                      <a:lnTo>
                        <a:pt x="8" y="0"/>
                      </a:lnTo>
                      <a:lnTo>
                        <a:pt x="5" y="1"/>
                      </a:lnTo>
                      <a:lnTo>
                        <a:pt x="2" y="4"/>
                      </a:lnTo>
                      <a:lnTo>
                        <a:pt x="0" y="10"/>
                      </a:lnTo>
                      <a:lnTo>
                        <a:pt x="0" y="14"/>
                      </a:lnTo>
                      <a:lnTo>
                        <a:pt x="6" y="47"/>
                      </a:lnTo>
                      <a:lnTo>
                        <a:pt x="11" y="82"/>
                      </a:lnTo>
                      <a:lnTo>
                        <a:pt x="16" y="115"/>
                      </a:lnTo>
                      <a:lnTo>
                        <a:pt x="24" y="146"/>
                      </a:lnTo>
                      <a:lnTo>
                        <a:pt x="33" y="179"/>
                      </a:lnTo>
                      <a:lnTo>
                        <a:pt x="43" y="211"/>
                      </a:lnTo>
                      <a:lnTo>
                        <a:pt x="56" y="241"/>
                      </a:lnTo>
                      <a:lnTo>
                        <a:pt x="72" y="2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7" name="Freeform 50"/>
                <p:cNvSpPr>
                  <a:spLocks/>
                </p:cNvSpPr>
                <p:nvPr/>
              </p:nvSpPr>
              <p:spPr bwMode="auto">
                <a:xfrm>
                  <a:off x="8416" y="4972"/>
                  <a:ext cx="128" cy="66"/>
                </a:xfrm>
                <a:custGeom>
                  <a:avLst/>
                  <a:gdLst>
                    <a:gd name="T0" fmla="*/ 1 w 382"/>
                    <a:gd name="T1" fmla="*/ 61 h 198"/>
                    <a:gd name="T2" fmla="*/ 0 w 382"/>
                    <a:gd name="T3" fmla="*/ 62 h 198"/>
                    <a:gd name="T4" fmla="*/ 0 w 382"/>
                    <a:gd name="T5" fmla="*/ 64 h 198"/>
                    <a:gd name="T6" fmla="*/ 1 w 382"/>
                    <a:gd name="T7" fmla="*/ 65 h 198"/>
                    <a:gd name="T8" fmla="*/ 2 w 382"/>
                    <a:gd name="T9" fmla="*/ 66 h 198"/>
                    <a:gd name="T10" fmla="*/ 10 w 382"/>
                    <a:gd name="T11" fmla="*/ 62 h 198"/>
                    <a:gd name="T12" fmla="*/ 17 w 382"/>
                    <a:gd name="T13" fmla="*/ 59 h 198"/>
                    <a:gd name="T14" fmla="*/ 25 w 382"/>
                    <a:gd name="T15" fmla="*/ 55 h 198"/>
                    <a:gd name="T16" fmla="*/ 33 w 382"/>
                    <a:gd name="T17" fmla="*/ 52 h 198"/>
                    <a:gd name="T18" fmla="*/ 42 w 382"/>
                    <a:gd name="T19" fmla="*/ 49 h 198"/>
                    <a:gd name="T20" fmla="*/ 49 w 382"/>
                    <a:gd name="T21" fmla="*/ 46 h 198"/>
                    <a:gd name="T22" fmla="*/ 57 w 382"/>
                    <a:gd name="T23" fmla="*/ 43 h 198"/>
                    <a:gd name="T24" fmla="*/ 65 w 382"/>
                    <a:gd name="T25" fmla="*/ 40 h 198"/>
                    <a:gd name="T26" fmla="*/ 73 w 382"/>
                    <a:gd name="T27" fmla="*/ 36 h 198"/>
                    <a:gd name="T28" fmla="*/ 81 w 382"/>
                    <a:gd name="T29" fmla="*/ 33 h 198"/>
                    <a:gd name="T30" fmla="*/ 89 w 382"/>
                    <a:gd name="T31" fmla="*/ 30 h 198"/>
                    <a:gd name="T32" fmla="*/ 96 w 382"/>
                    <a:gd name="T33" fmla="*/ 26 h 198"/>
                    <a:gd name="T34" fmla="*/ 104 w 382"/>
                    <a:gd name="T35" fmla="*/ 22 h 198"/>
                    <a:gd name="T36" fmla="*/ 111 w 382"/>
                    <a:gd name="T37" fmla="*/ 18 h 198"/>
                    <a:gd name="T38" fmla="*/ 119 w 382"/>
                    <a:gd name="T39" fmla="*/ 14 h 198"/>
                    <a:gd name="T40" fmla="*/ 126 w 382"/>
                    <a:gd name="T41" fmla="*/ 9 h 198"/>
                    <a:gd name="T42" fmla="*/ 128 w 382"/>
                    <a:gd name="T43" fmla="*/ 8 h 198"/>
                    <a:gd name="T44" fmla="*/ 128 w 382"/>
                    <a:gd name="T45" fmla="*/ 6 h 198"/>
                    <a:gd name="T46" fmla="*/ 128 w 382"/>
                    <a:gd name="T47" fmla="*/ 4 h 198"/>
                    <a:gd name="T48" fmla="*/ 127 w 382"/>
                    <a:gd name="T49" fmla="*/ 2 h 198"/>
                    <a:gd name="T50" fmla="*/ 126 w 382"/>
                    <a:gd name="T51" fmla="*/ 1 h 198"/>
                    <a:gd name="T52" fmla="*/ 124 w 382"/>
                    <a:gd name="T53" fmla="*/ 0 h 198"/>
                    <a:gd name="T54" fmla="*/ 122 w 382"/>
                    <a:gd name="T55" fmla="*/ 0 h 198"/>
                    <a:gd name="T56" fmla="*/ 120 w 382"/>
                    <a:gd name="T57" fmla="*/ 1 h 198"/>
                    <a:gd name="T58" fmla="*/ 112 w 382"/>
                    <a:gd name="T59" fmla="*/ 5 h 198"/>
                    <a:gd name="T60" fmla="*/ 104 w 382"/>
                    <a:gd name="T61" fmla="*/ 9 h 198"/>
                    <a:gd name="T62" fmla="*/ 94 w 382"/>
                    <a:gd name="T63" fmla="*/ 14 h 198"/>
                    <a:gd name="T64" fmla="*/ 85 w 382"/>
                    <a:gd name="T65" fmla="*/ 19 h 198"/>
                    <a:gd name="T66" fmla="*/ 75 w 382"/>
                    <a:gd name="T67" fmla="*/ 23 h 198"/>
                    <a:gd name="T68" fmla="*/ 65 w 382"/>
                    <a:gd name="T69" fmla="*/ 28 h 198"/>
                    <a:gd name="T70" fmla="*/ 55 w 382"/>
                    <a:gd name="T71" fmla="*/ 32 h 198"/>
                    <a:gd name="T72" fmla="*/ 45 w 382"/>
                    <a:gd name="T73" fmla="*/ 37 h 198"/>
                    <a:gd name="T74" fmla="*/ 36 w 382"/>
                    <a:gd name="T75" fmla="*/ 42 h 198"/>
                    <a:gd name="T76" fmla="*/ 28 w 382"/>
                    <a:gd name="T77" fmla="*/ 45 h 198"/>
                    <a:gd name="T78" fmla="*/ 20 w 382"/>
                    <a:gd name="T79" fmla="*/ 49 h 198"/>
                    <a:gd name="T80" fmla="*/ 13 w 382"/>
                    <a:gd name="T81" fmla="*/ 53 h 198"/>
                    <a:gd name="T82" fmla="*/ 8 w 382"/>
                    <a:gd name="T83" fmla="*/ 55 h 198"/>
                    <a:gd name="T84" fmla="*/ 4 w 382"/>
                    <a:gd name="T85" fmla="*/ 58 h 198"/>
                    <a:gd name="T86" fmla="*/ 2 w 382"/>
                    <a:gd name="T87" fmla="*/ 60 h 198"/>
                    <a:gd name="T88" fmla="*/ 1 w 382"/>
                    <a:gd name="T89" fmla="*/ 61 h 198"/>
                    <a:gd name="T90" fmla="*/ 1 w 382"/>
                    <a:gd name="T91" fmla="*/ 61 h 198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w 382"/>
                    <a:gd name="T139" fmla="*/ 0 h 198"/>
                    <a:gd name="T140" fmla="*/ 382 w 382"/>
                    <a:gd name="T141" fmla="*/ 198 h 198"/>
                  </a:gdLst>
                  <a:ahLst/>
                  <a:cxnLst>
                    <a:cxn ang="T92">
                      <a:pos x="T0" y="T1"/>
                    </a:cxn>
                    <a:cxn ang="T93">
                      <a:pos x="T2" y="T3"/>
                    </a:cxn>
                    <a:cxn ang="T94">
                      <a:pos x="T4" y="T5"/>
                    </a:cxn>
                    <a:cxn ang="T95">
                      <a:pos x="T6" y="T7"/>
                    </a:cxn>
                    <a:cxn ang="T96">
                      <a:pos x="T8" y="T9"/>
                    </a:cxn>
                    <a:cxn ang="T97">
                      <a:pos x="T10" y="T11"/>
                    </a:cxn>
                    <a:cxn ang="T98">
                      <a:pos x="T12" y="T13"/>
                    </a:cxn>
                    <a:cxn ang="T99">
                      <a:pos x="T14" y="T15"/>
                    </a:cxn>
                    <a:cxn ang="T100">
                      <a:pos x="T16" y="T17"/>
                    </a:cxn>
                    <a:cxn ang="T101">
                      <a:pos x="T18" y="T19"/>
                    </a:cxn>
                    <a:cxn ang="T102">
                      <a:pos x="T20" y="T21"/>
                    </a:cxn>
                    <a:cxn ang="T103">
                      <a:pos x="T22" y="T23"/>
                    </a:cxn>
                    <a:cxn ang="T104">
                      <a:pos x="T24" y="T25"/>
                    </a:cxn>
                    <a:cxn ang="T105">
                      <a:pos x="T26" y="T27"/>
                    </a:cxn>
                    <a:cxn ang="T106">
                      <a:pos x="T28" y="T29"/>
                    </a:cxn>
                    <a:cxn ang="T107">
                      <a:pos x="T30" y="T31"/>
                    </a:cxn>
                    <a:cxn ang="T108">
                      <a:pos x="T32" y="T33"/>
                    </a:cxn>
                    <a:cxn ang="T109">
                      <a:pos x="T34" y="T35"/>
                    </a:cxn>
                    <a:cxn ang="T110">
                      <a:pos x="T36" y="T37"/>
                    </a:cxn>
                    <a:cxn ang="T111">
                      <a:pos x="T38" y="T39"/>
                    </a:cxn>
                    <a:cxn ang="T112">
                      <a:pos x="T40" y="T41"/>
                    </a:cxn>
                    <a:cxn ang="T113">
                      <a:pos x="T42" y="T43"/>
                    </a:cxn>
                    <a:cxn ang="T114">
                      <a:pos x="T44" y="T45"/>
                    </a:cxn>
                    <a:cxn ang="T115">
                      <a:pos x="T46" y="T47"/>
                    </a:cxn>
                    <a:cxn ang="T116">
                      <a:pos x="T48" y="T49"/>
                    </a:cxn>
                    <a:cxn ang="T117">
                      <a:pos x="T50" y="T51"/>
                    </a:cxn>
                    <a:cxn ang="T118">
                      <a:pos x="T52" y="T53"/>
                    </a:cxn>
                    <a:cxn ang="T119">
                      <a:pos x="T54" y="T55"/>
                    </a:cxn>
                    <a:cxn ang="T120">
                      <a:pos x="T56" y="T57"/>
                    </a:cxn>
                    <a:cxn ang="T121">
                      <a:pos x="T58" y="T59"/>
                    </a:cxn>
                    <a:cxn ang="T122">
                      <a:pos x="T60" y="T61"/>
                    </a:cxn>
                    <a:cxn ang="T123">
                      <a:pos x="T62" y="T63"/>
                    </a:cxn>
                    <a:cxn ang="T124">
                      <a:pos x="T64" y="T65"/>
                    </a:cxn>
                    <a:cxn ang="T125">
                      <a:pos x="T66" y="T67"/>
                    </a:cxn>
                    <a:cxn ang="T126">
                      <a:pos x="T68" y="T69"/>
                    </a:cxn>
                    <a:cxn ang="T127">
                      <a:pos x="T70" y="T71"/>
                    </a:cxn>
                    <a:cxn ang="T128">
                      <a:pos x="T72" y="T73"/>
                    </a:cxn>
                    <a:cxn ang="T129">
                      <a:pos x="T74" y="T75"/>
                    </a:cxn>
                    <a:cxn ang="T130">
                      <a:pos x="T76" y="T77"/>
                    </a:cxn>
                    <a:cxn ang="T131">
                      <a:pos x="T78" y="T79"/>
                    </a:cxn>
                    <a:cxn ang="T132">
                      <a:pos x="T80" y="T81"/>
                    </a:cxn>
                    <a:cxn ang="T133">
                      <a:pos x="T82" y="T83"/>
                    </a:cxn>
                    <a:cxn ang="T134">
                      <a:pos x="T84" y="T85"/>
                    </a:cxn>
                    <a:cxn ang="T135">
                      <a:pos x="T86" y="T87"/>
                    </a:cxn>
                    <a:cxn ang="T136">
                      <a:pos x="T88" y="T89"/>
                    </a:cxn>
                    <a:cxn ang="T137">
                      <a:pos x="T90" y="T91"/>
                    </a:cxn>
                  </a:cxnLst>
                  <a:rect l="T138" t="T139" r="T140" b="T141"/>
                  <a:pathLst>
                    <a:path w="382" h="198">
                      <a:moveTo>
                        <a:pt x="2" y="182"/>
                      </a:moveTo>
                      <a:lnTo>
                        <a:pt x="0" y="187"/>
                      </a:lnTo>
                      <a:lnTo>
                        <a:pt x="0" y="191"/>
                      </a:lnTo>
                      <a:lnTo>
                        <a:pt x="2" y="195"/>
                      </a:lnTo>
                      <a:lnTo>
                        <a:pt x="6" y="198"/>
                      </a:lnTo>
                      <a:lnTo>
                        <a:pt x="30" y="187"/>
                      </a:lnTo>
                      <a:lnTo>
                        <a:pt x="52" y="176"/>
                      </a:lnTo>
                      <a:lnTo>
                        <a:pt x="75" y="166"/>
                      </a:lnTo>
                      <a:lnTo>
                        <a:pt x="99" y="156"/>
                      </a:lnTo>
                      <a:lnTo>
                        <a:pt x="124" y="146"/>
                      </a:lnTo>
                      <a:lnTo>
                        <a:pt x="147" y="138"/>
                      </a:lnTo>
                      <a:lnTo>
                        <a:pt x="171" y="128"/>
                      </a:lnTo>
                      <a:lnTo>
                        <a:pt x="194" y="119"/>
                      </a:lnTo>
                      <a:lnTo>
                        <a:pt x="218" y="109"/>
                      </a:lnTo>
                      <a:lnTo>
                        <a:pt x="241" y="99"/>
                      </a:lnTo>
                      <a:lnTo>
                        <a:pt x="265" y="89"/>
                      </a:lnTo>
                      <a:lnTo>
                        <a:pt x="287" y="77"/>
                      </a:lnTo>
                      <a:lnTo>
                        <a:pt x="310" y="66"/>
                      </a:lnTo>
                      <a:lnTo>
                        <a:pt x="332" y="54"/>
                      </a:lnTo>
                      <a:lnTo>
                        <a:pt x="354" y="41"/>
                      </a:lnTo>
                      <a:lnTo>
                        <a:pt x="376" y="27"/>
                      </a:lnTo>
                      <a:lnTo>
                        <a:pt x="381" y="23"/>
                      </a:lnTo>
                      <a:lnTo>
                        <a:pt x="382" y="17"/>
                      </a:lnTo>
                      <a:lnTo>
                        <a:pt x="382" y="11"/>
                      </a:lnTo>
                      <a:lnTo>
                        <a:pt x="379" y="7"/>
                      </a:lnTo>
                      <a:lnTo>
                        <a:pt x="375" y="3"/>
                      </a:lnTo>
                      <a:lnTo>
                        <a:pt x="369" y="0"/>
                      </a:lnTo>
                      <a:lnTo>
                        <a:pt x="363" y="0"/>
                      </a:lnTo>
                      <a:lnTo>
                        <a:pt x="359" y="3"/>
                      </a:lnTo>
                      <a:lnTo>
                        <a:pt x="335" y="16"/>
                      </a:lnTo>
                      <a:lnTo>
                        <a:pt x="309" y="28"/>
                      </a:lnTo>
                      <a:lnTo>
                        <a:pt x="281" y="41"/>
                      </a:lnTo>
                      <a:lnTo>
                        <a:pt x="253" y="56"/>
                      </a:lnTo>
                      <a:lnTo>
                        <a:pt x="223" y="70"/>
                      </a:lnTo>
                      <a:lnTo>
                        <a:pt x="193" y="84"/>
                      </a:lnTo>
                      <a:lnTo>
                        <a:pt x="163" y="97"/>
                      </a:lnTo>
                      <a:lnTo>
                        <a:pt x="135" y="112"/>
                      </a:lnTo>
                      <a:lnTo>
                        <a:pt x="107" y="125"/>
                      </a:lnTo>
                      <a:lnTo>
                        <a:pt x="83" y="136"/>
                      </a:lnTo>
                      <a:lnTo>
                        <a:pt x="61" y="148"/>
                      </a:lnTo>
                      <a:lnTo>
                        <a:pt x="40" y="158"/>
                      </a:lnTo>
                      <a:lnTo>
                        <a:pt x="24" y="166"/>
                      </a:lnTo>
                      <a:lnTo>
                        <a:pt x="12" y="174"/>
                      </a:lnTo>
                      <a:lnTo>
                        <a:pt x="5" y="179"/>
                      </a:lnTo>
                      <a:lnTo>
                        <a:pt x="2" y="18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8" name="Freeform 51"/>
                <p:cNvSpPr>
                  <a:spLocks/>
                </p:cNvSpPr>
                <p:nvPr/>
              </p:nvSpPr>
              <p:spPr bwMode="auto">
                <a:xfrm>
                  <a:off x="8304" y="4693"/>
                  <a:ext cx="76" cy="80"/>
                </a:xfrm>
                <a:custGeom>
                  <a:avLst/>
                  <a:gdLst>
                    <a:gd name="T0" fmla="*/ 39 w 229"/>
                    <a:gd name="T1" fmla="*/ 1 h 240"/>
                    <a:gd name="T2" fmla="*/ 35 w 229"/>
                    <a:gd name="T3" fmla="*/ 0 h 240"/>
                    <a:gd name="T4" fmla="*/ 31 w 229"/>
                    <a:gd name="T5" fmla="*/ 0 h 240"/>
                    <a:gd name="T6" fmla="*/ 25 w 229"/>
                    <a:gd name="T7" fmla="*/ 0 h 240"/>
                    <a:gd name="T8" fmla="*/ 19 w 229"/>
                    <a:gd name="T9" fmla="*/ 1 h 240"/>
                    <a:gd name="T10" fmla="*/ 14 w 229"/>
                    <a:gd name="T11" fmla="*/ 4 h 240"/>
                    <a:gd name="T12" fmla="*/ 6 w 229"/>
                    <a:gd name="T13" fmla="*/ 11 h 240"/>
                    <a:gd name="T14" fmla="*/ 0 w 229"/>
                    <a:gd name="T15" fmla="*/ 25 h 240"/>
                    <a:gd name="T16" fmla="*/ 1 w 229"/>
                    <a:gd name="T17" fmla="*/ 40 h 240"/>
                    <a:gd name="T18" fmla="*/ 5 w 229"/>
                    <a:gd name="T19" fmla="*/ 56 h 240"/>
                    <a:gd name="T20" fmla="*/ 12 w 229"/>
                    <a:gd name="T21" fmla="*/ 67 h 240"/>
                    <a:gd name="T22" fmla="*/ 19 w 229"/>
                    <a:gd name="T23" fmla="*/ 74 h 240"/>
                    <a:gd name="T24" fmla="*/ 28 w 229"/>
                    <a:gd name="T25" fmla="*/ 79 h 240"/>
                    <a:gd name="T26" fmla="*/ 38 w 229"/>
                    <a:gd name="T27" fmla="*/ 80 h 240"/>
                    <a:gd name="T28" fmla="*/ 51 w 229"/>
                    <a:gd name="T29" fmla="*/ 76 h 240"/>
                    <a:gd name="T30" fmla="*/ 64 w 229"/>
                    <a:gd name="T31" fmla="*/ 68 h 240"/>
                    <a:gd name="T32" fmla="*/ 72 w 229"/>
                    <a:gd name="T33" fmla="*/ 57 h 240"/>
                    <a:gd name="T34" fmla="*/ 76 w 229"/>
                    <a:gd name="T35" fmla="*/ 44 h 240"/>
                    <a:gd name="T36" fmla="*/ 74 w 229"/>
                    <a:gd name="T37" fmla="*/ 34 h 240"/>
                    <a:gd name="T38" fmla="*/ 71 w 229"/>
                    <a:gd name="T39" fmla="*/ 32 h 240"/>
                    <a:gd name="T40" fmla="*/ 68 w 229"/>
                    <a:gd name="T41" fmla="*/ 32 h 240"/>
                    <a:gd name="T42" fmla="*/ 65 w 229"/>
                    <a:gd name="T43" fmla="*/ 35 h 240"/>
                    <a:gd name="T44" fmla="*/ 64 w 229"/>
                    <a:gd name="T45" fmla="*/ 42 h 240"/>
                    <a:gd name="T46" fmla="*/ 61 w 229"/>
                    <a:gd name="T47" fmla="*/ 53 h 240"/>
                    <a:gd name="T48" fmla="*/ 54 w 229"/>
                    <a:gd name="T49" fmla="*/ 60 h 240"/>
                    <a:gd name="T50" fmla="*/ 44 w 229"/>
                    <a:gd name="T51" fmla="*/ 65 h 240"/>
                    <a:gd name="T52" fmla="*/ 31 w 229"/>
                    <a:gd name="T53" fmla="*/ 66 h 240"/>
                    <a:gd name="T54" fmla="*/ 21 w 229"/>
                    <a:gd name="T55" fmla="*/ 59 h 240"/>
                    <a:gd name="T56" fmla="*/ 16 w 229"/>
                    <a:gd name="T57" fmla="*/ 47 h 240"/>
                    <a:gd name="T58" fmla="*/ 12 w 229"/>
                    <a:gd name="T59" fmla="*/ 34 h 240"/>
                    <a:gd name="T60" fmla="*/ 12 w 229"/>
                    <a:gd name="T61" fmla="*/ 24 h 240"/>
                    <a:gd name="T62" fmla="*/ 14 w 229"/>
                    <a:gd name="T63" fmla="*/ 17 h 240"/>
                    <a:gd name="T64" fmla="*/ 18 w 229"/>
                    <a:gd name="T65" fmla="*/ 11 h 240"/>
                    <a:gd name="T66" fmla="*/ 26 w 229"/>
                    <a:gd name="T67" fmla="*/ 7 h 240"/>
                    <a:gd name="T68" fmla="*/ 32 w 229"/>
                    <a:gd name="T69" fmla="*/ 6 h 240"/>
                    <a:gd name="T70" fmla="*/ 40 w 229"/>
                    <a:gd name="T71" fmla="*/ 6 h 240"/>
                    <a:gd name="T72" fmla="*/ 46 w 229"/>
                    <a:gd name="T73" fmla="*/ 7 h 240"/>
                    <a:gd name="T74" fmla="*/ 44 w 229"/>
                    <a:gd name="T75" fmla="*/ 3 h 240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w 229"/>
                    <a:gd name="T115" fmla="*/ 0 h 240"/>
                    <a:gd name="T116" fmla="*/ 229 w 229"/>
                    <a:gd name="T117" fmla="*/ 240 h 240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T114" t="T115" r="T116" b="T117"/>
                  <a:pathLst>
                    <a:path w="229" h="240">
                      <a:moveTo>
                        <a:pt x="126" y="4"/>
                      </a:moveTo>
                      <a:lnTo>
                        <a:pt x="119" y="3"/>
                      </a:lnTo>
                      <a:lnTo>
                        <a:pt x="111" y="3"/>
                      </a:lnTo>
                      <a:lnTo>
                        <a:pt x="105" y="1"/>
                      </a:lnTo>
                      <a:lnTo>
                        <a:pt x="102" y="1"/>
                      </a:lnTo>
                      <a:lnTo>
                        <a:pt x="94" y="0"/>
                      </a:lnTo>
                      <a:lnTo>
                        <a:pt x="83" y="0"/>
                      </a:lnTo>
                      <a:lnTo>
                        <a:pt x="75" y="1"/>
                      </a:lnTo>
                      <a:lnTo>
                        <a:pt x="66" y="3"/>
                      </a:lnTo>
                      <a:lnTo>
                        <a:pt x="57" y="4"/>
                      </a:lnTo>
                      <a:lnTo>
                        <a:pt x="48" y="9"/>
                      </a:lnTo>
                      <a:lnTo>
                        <a:pt x="41" y="13"/>
                      </a:lnTo>
                      <a:lnTo>
                        <a:pt x="33" y="17"/>
                      </a:lnTo>
                      <a:lnTo>
                        <a:pt x="17" y="34"/>
                      </a:lnTo>
                      <a:lnTo>
                        <a:pt x="6" y="55"/>
                      </a:lnTo>
                      <a:lnTo>
                        <a:pt x="1" y="76"/>
                      </a:lnTo>
                      <a:lnTo>
                        <a:pt x="0" y="98"/>
                      </a:lnTo>
                      <a:lnTo>
                        <a:pt x="3" y="121"/>
                      </a:lnTo>
                      <a:lnTo>
                        <a:pt x="8" y="144"/>
                      </a:lnTo>
                      <a:lnTo>
                        <a:pt x="16" y="167"/>
                      </a:lnTo>
                      <a:lnTo>
                        <a:pt x="26" y="187"/>
                      </a:lnTo>
                      <a:lnTo>
                        <a:pt x="35" y="200"/>
                      </a:lnTo>
                      <a:lnTo>
                        <a:pt x="45" y="213"/>
                      </a:lnTo>
                      <a:lnTo>
                        <a:pt x="57" y="223"/>
                      </a:lnTo>
                      <a:lnTo>
                        <a:pt x="70" y="230"/>
                      </a:lnTo>
                      <a:lnTo>
                        <a:pt x="85" y="236"/>
                      </a:lnTo>
                      <a:lnTo>
                        <a:pt x="101" y="240"/>
                      </a:lnTo>
                      <a:lnTo>
                        <a:pt x="116" y="240"/>
                      </a:lnTo>
                      <a:lnTo>
                        <a:pt x="132" y="237"/>
                      </a:lnTo>
                      <a:lnTo>
                        <a:pt x="154" y="228"/>
                      </a:lnTo>
                      <a:lnTo>
                        <a:pt x="174" y="218"/>
                      </a:lnTo>
                      <a:lnTo>
                        <a:pt x="192" y="204"/>
                      </a:lnTo>
                      <a:lnTo>
                        <a:pt x="208" y="188"/>
                      </a:lnTo>
                      <a:lnTo>
                        <a:pt x="218" y="171"/>
                      </a:lnTo>
                      <a:lnTo>
                        <a:pt x="226" y="151"/>
                      </a:lnTo>
                      <a:lnTo>
                        <a:pt x="229" y="131"/>
                      </a:lnTo>
                      <a:lnTo>
                        <a:pt x="226" y="109"/>
                      </a:lnTo>
                      <a:lnTo>
                        <a:pt x="224" y="103"/>
                      </a:lnTo>
                      <a:lnTo>
                        <a:pt x="221" y="98"/>
                      </a:lnTo>
                      <a:lnTo>
                        <a:pt x="215" y="95"/>
                      </a:lnTo>
                      <a:lnTo>
                        <a:pt x="210" y="93"/>
                      </a:lnTo>
                      <a:lnTo>
                        <a:pt x="204" y="95"/>
                      </a:lnTo>
                      <a:lnTo>
                        <a:pt x="198" y="99"/>
                      </a:lnTo>
                      <a:lnTo>
                        <a:pt x="195" y="105"/>
                      </a:lnTo>
                      <a:lnTo>
                        <a:pt x="195" y="111"/>
                      </a:lnTo>
                      <a:lnTo>
                        <a:pt x="193" y="126"/>
                      </a:lnTo>
                      <a:lnTo>
                        <a:pt x="189" y="142"/>
                      </a:lnTo>
                      <a:lnTo>
                        <a:pt x="183" y="158"/>
                      </a:lnTo>
                      <a:lnTo>
                        <a:pt x="174" y="171"/>
                      </a:lnTo>
                      <a:lnTo>
                        <a:pt x="164" y="181"/>
                      </a:lnTo>
                      <a:lnTo>
                        <a:pt x="149" y="190"/>
                      </a:lnTo>
                      <a:lnTo>
                        <a:pt x="133" y="195"/>
                      </a:lnTo>
                      <a:lnTo>
                        <a:pt x="113" y="198"/>
                      </a:lnTo>
                      <a:lnTo>
                        <a:pt x="92" y="197"/>
                      </a:lnTo>
                      <a:lnTo>
                        <a:pt x="76" y="188"/>
                      </a:lnTo>
                      <a:lnTo>
                        <a:pt x="63" y="177"/>
                      </a:lnTo>
                      <a:lnTo>
                        <a:pt x="54" y="161"/>
                      </a:lnTo>
                      <a:lnTo>
                        <a:pt x="47" y="142"/>
                      </a:lnTo>
                      <a:lnTo>
                        <a:pt x="41" y="124"/>
                      </a:lnTo>
                      <a:lnTo>
                        <a:pt x="36" y="103"/>
                      </a:lnTo>
                      <a:lnTo>
                        <a:pt x="35" y="85"/>
                      </a:lnTo>
                      <a:lnTo>
                        <a:pt x="35" y="73"/>
                      </a:lnTo>
                      <a:lnTo>
                        <a:pt x="36" y="62"/>
                      </a:lnTo>
                      <a:lnTo>
                        <a:pt x="41" y="50"/>
                      </a:lnTo>
                      <a:lnTo>
                        <a:pt x="48" y="40"/>
                      </a:lnTo>
                      <a:lnTo>
                        <a:pt x="55" y="33"/>
                      </a:lnTo>
                      <a:lnTo>
                        <a:pt x="66" y="26"/>
                      </a:lnTo>
                      <a:lnTo>
                        <a:pt x="77" y="21"/>
                      </a:lnTo>
                      <a:lnTo>
                        <a:pt x="92" y="19"/>
                      </a:lnTo>
                      <a:lnTo>
                        <a:pt x="97" y="19"/>
                      </a:lnTo>
                      <a:lnTo>
                        <a:pt x="105" y="19"/>
                      </a:lnTo>
                      <a:lnTo>
                        <a:pt x="120" y="19"/>
                      </a:lnTo>
                      <a:lnTo>
                        <a:pt x="135" y="21"/>
                      </a:lnTo>
                      <a:lnTo>
                        <a:pt x="139" y="20"/>
                      </a:lnTo>
                      <a:lnTo>
                        <a:pt x="139" y="14"/>
                      </a:lnTo>
                      <a:lnTo>
                        <a:pt x="133" y="9"/>
                      </a:lnTo>
                      <a:lnTo>
                        <a:pt x="126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39" name="Freeform 52"/>
                <p:cNvSpPr>
                  <a:spLocks/>
                </p:cNvSpPr>
                <p:nvPr/>
              </p:nvSpPr>
              <p:spPr bwMode="auto">
                <a:xfrm>
                  <a:off x="8401" y="4895"/>
                  <a:ext cx="93" cy="90"/>
                </a:xfrm>
                <a:custGeom>
                  <a:avLst/>
                  <a:gdLst>
                    <a:gd name="T0" fmla="*/ 20 w 281"/>
                    <a:gd name="T1" fmla="*/ 3 h 270"/>
                    <a:gd name="T2" fmla="*/ 11 w 281"/>
                    <a:gd name="T3" fmla="*/ 9 h 270"/>
                    <a:gd name="T4" fmla="*/ 5 w 281"/>
                    <a:gd name="T5" fmla="*/ 17 h 270"/>
                    <a:gd name="T6" fmla="*/ 1 w 281"/>
                    <a:gd name="T7" fmla="*/ 27 h 270"/>
                    <a:gd name="T8" fmla="*/ 0 w 281"/>
                    <a:gd name="T9" fmla="*/ 38 h 270"/>
                    <a:gd name="T10" fmla="*/ 2 w 281"/>
                    <a:gd name="T11" fmla="*/ 48 h 270"/>
                    <a:gd name="T12" fmla="*/ 6 w 281"/>
                    <a:gd name="T13" fmla="*/ 59 h 270"/>
                    <a:gd name="T14" fmla="*/ 12 w 281"/>
                    <a:gd name="T15" fmla="*/ 68 h 270"/>
                    <a:gd name="T16" fmla="*/ 22 w 281"/>
                    <a:gd name="T17" fmla="*/ 77 h 270"/>
                    <a:gd name="T18" fmla="*/ 34 w 281"/>
                    <a:gd name="T19" fmla="*/ 86 h 270"/>
                    <a:gd name="T20" fmla="*/ 47 w 281"/>
                    <a:gd name="T21" fmla="*/ 90 h 270"/>
                    <a:gd name="T22" fmla="*/ 61 w 281"/>
                    <a:gd name="T23" fmla="*/ 88 h 270"/>
                    <a:gd name="T24" fmla="*/ 72 w 281"/>
                    <a:gd name="T25" fmla="*/ 80 h 270"/>
                    <a:gd name="T26" fmla="*/ 81 w 281"/>
                    <a:gd name="T27" fmla="*/ 72 h 270"/>
                    <a:gd name="T28" fmla="*/ 87 w 281"/>
                    <a:gd name="T29" fmla="*/ 63 h 270"/>
                    <a:gd name="T30" fmla="*/ 91 w 281"/>
                    <a:gd name="T31" fmla="*/ 53 h 270"/>
                    <a:gd name="T32" fmla="*/ 93 w 281"/>
                    <a:gd name="T33" fmla="*/ 45 h 270"/>
                    <a:gd name="T34" fmla="*/ 91 w 281"/>
                    <a:gd name="T35" fmla="*/ 40 h 270"/>
                    <a:gd name="T36" fmla="*/ 86 w 281"/>
                    <a:gd name="T37" fmla="*/ 39 h 270"/>
                    <a:gd name="T38" fmla="*/ 81 w 281"/>
                    <a:gd name="T39" fmla="*/ 41 h 270"/>
                    <a:gd name="T40" fmla="*/ 80 w 281"/>
                    <a:gd name="T41" fmla="*/ 44 h 270"/>
                    <a:gd name="T42" fmla="*/ 78 w 281"/>
                    <a:gd name="T43" fmla="*/ 50 h 270"/>
                    <a:gd name="T44" fmla="*/ 73 w 281"/>
                    <a:gd name="T45" fmla="*/ 60 h 270"/>
                    <a:gd name="T46" fmla="*/ 66 w 281"/>
                    <a:gd name="T47" fmla="*/ 68 h 270"/>
                    <a:gd name="T48" fmla="*/ 51 w 281"/>
                    <a:gd name="T49" fmla="*/ 71 h 270"/>
                    <a:gd name="T50" fmla="*/ 33 w 281"/>
                    <a:gd name="T51" fmla="*/ 66 h 270"/>
                    <a:gd name="T52" fmla="*/ 20 w 281"/>
                    <a:gd name="T53" fmla="*/ 54 h 270"/>
                    <a:gd name="T54" fmla="*/ 13 w 281"/>
                    <a:gd name="T55" fmla="*/ 38 h 270"/>
                    <a:gd name="T56" fmla="*/ 15 w 281"/>
                    <a:gd name="T57" fmla="*/ 25 h 270"/>
                    <a:gd name="T58" fmla="*/ 20 w 281"/>
                    <a:gd name="T59" fmla="*/ 17 h 270"/>
                    <a:gd name="T60" fmla="*/ 26 w 281"/>
                    <a:gd name="T61" fmla="*/ 10 h 270"/>
                    <a:gd name="T62" fmla="*/ 34 w 281"/>
                    <a:gd name="T63" fmla="*/ 6 h 270"/>
                    <a:gd name="T64" fmla="*/ 36 w 281"/>
                    <a:gd name="T65" fmla="*/ 2 h 270"/>
                    <a:gd name="T66" fmla="*/ 29 w 281"/>
                    <a:gd name="T67" fmla="*/ 1 h 270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281"/>
                    <a:gd name="T103" fmla="*/ 0 h 270"/>
                    <a:gd name="T104" fmla="*/ 281 w 281"/>
                    <a:gd name="T105" fmla="*/ 270 h 270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281" h="270">
                      <a:moveTo>
                        <a:pt x="75" y="5"/>
                      </a:moveTo>
                      <a:lnTo>
                        <a:pt x="61" y="10"/>
                      </a:lnTo>
                      <a:lnTo>
                        <a:pt x="47" y="19"/>
                      </a:lnTo>
                      <a:lnTo>
                        <a:pt x="34" y="28"/>
                      </a:lnTo>
                      <a:lnTo>
                        <a:pt x="24" y="39"/>
                      </a:lnTo>
                      <a:lnTo>
                        <a:pt x="15" y="52"/>
                      </a:lnTo>
                      <a:lnTo>
                        <a:pt x="8" y="65"/>
                      </a:lnTo>
                      <a:lnTo>
                        <a:pt x="3" y="81"/>
                      </a:lnTo>
                      <a:lnTo>
                        <a:pt x="0" y="97"/>
                      </a:lnTo>
                      <a:lnTo>
                        <a:pt x="0" y="114"/>
                      </a:lnTo>
                      <a:lnTo>
                        <a:pt x="2" y="130"/>
                      </a:lnTo>
                      <a:lnTo>
                        <a:pt x="6" y="145"/>
                      </a:lnTo>
                      <a:lnTo>
                        <a:pt x="12" y="161"/>
                      </a:lnTo>
                      <a:lnTo>
                        <a:pt x="18" y="176"/>
                      </a:lnTo>
                      <a:lnTo>
                        <a:pt x="27" y="191"/>
                      </a:lnTo>
                      <a:lnTo>
                        <a:pt x="37" y="204"/>
                      </a:lnTo>
                      <a:lnTo>
                        <a:pt x="49" y="217"/>
                      </a:lnTo>
                      <a:lnTo>
                        <a:pt x="65" y="232"/>
                      </a:lnTo>
                      <a:lnTo>
                        <a:pt x="83" y="245"/>
                      </a:lnTo>
                      <a:lnTo>
                        <a:pt x="102" y="258"/>
                      </a:lnTo>
                      <a:lnTo>
                        <a:pt x="122" y="266"/>
                      </a:lnTo>
                      <a:lnTo>
                        <a:pt x="143" y="270"/>
                      </a:lnTo>
                      <a:lnTo>
                        <a:pt x="165" y="270"/>
                      </a:lnTo>
                      <a:lnTo>
                        <a:pt x="185" y="265"/>
                      </a:lnTo>
                      <a:lnTo>
                        <a:pt x="206" y="252"/>
                      </a:lnTo>
                      <a:lnTo>
                        <a:pt x="219" y="240"/>
                      </a:lnTo>
                      <a:lnTo>
                        <a:pt x="232" y="229"/>
                      </a:lnTo>
                      <a:lnTo>
                        <a:pt x="244" y="216"/>
                      </a:lnTo>
                      <a:lnTo>
                        <a:pt x="254" y="203"/>
                      </a:lnTo>
                      <a:lnTo>
                        <a:pt x="263" y="189"/>
                      </a:lnTo>
                      <a:lnTo>
                        <a:pt x="270" y="174"/>
                      </a:lnTo>
                      <a:lnTo>
                        <a:pt x="276" y="158"/>
                      </a:lnTo>
                      <a:lnTo>
                        <a:pt x="279" y="141"/>
                      </a:lnTo>
                      <a:lnTo>
                        <a:pt x="281" y="134"/>
                      </a:lnTo>
                      <a:lnTo>
                        <a:pt x="279" y="127"/>
                      </a:lnTo>
                      <a:lnTo>
                        <a:pt x="275" y="121"/>
                      </a:lnTo>
                      <a:lnTo>
                        <a:pt x="268" y="117"/>
                      </a:lnTo>
                      <a:lnTo>
                        <a:pt x="259" y="117"/>
                      </a:lnTo>
                      <a:lnTo>
                        <a:pt x="251" y="118"/>
                      </a:lnTo>
                      <a:lnTo>
                        <a:pt x="245" y="122"/>
                      </a:lnTo>
                      <a:lnTo>
                        <a:pt x="243" y="130"/>
                      </a:lnTo>
                      <a:lnTo>
                        <a:pt x="243" y="133"/>
                      </a:lnTo>
                      <a:lnTo>
                        <a:pt x="240" y="140"/>
                      </a:lnTo>
                      <a:lnTo>
                        <a:pt x="235" y="151"/>
                      </a:lnTo>
                      <a:lnTo>
                        <a:pt x="229" y="164"/>
                      </a:lnTo>
                      <a:lnTo>
                        <a:pt x="222" y="179"/>
                      </a:lnTo>
                      <a:lnTo>
                        <a:pt x="210" y="191"/>
                      </a:lnTo>
                      <a:lnTo>
                        <a:pt x="199" y="203"/>
                      </a:lnTo>
                      <a:lnTo>
                        <a:pt x="182" y="210"/>
                      </a:lnTo>
                      <a:lnTo>
                        <a:pt x="154" y="212"/>
                      </a:lnTo>
                      <a:lnTo>
                        <a:pt x="127" y="207"/>
                      </a:lnTo>
                      <a:lnTo>
                        <a:pt x="100" y="197"/>
                      </a:lnTo>
                      <a:lnTo>
                        <a:pt x="78" y="181"/>
                      </a:lnTo>
                      <a:lnTo>
                        <a:pt x="59" y="163"/>
                      </a:lnTo>
                      <a:lnTo>
                        <a:pt x="46" y="140"/>
                      </a:lnTo>
                      <a:lnTo>
                        <a:pt x="40" y="114"/>
                      </a:lnTo>
                      <a:lnTo>
                        <a:pt x="40" y="87"/>
                      </a:lnTo>
                      <a:lnTo>
                        <a:pt x="44" y="74"/>
                      </a:lnTo>
                      <a:lnTo>
                        <a:pt x="50" y="62"/>
                      </a:lnTo>
                      <a:lnTo>
                        <a:pt x="59" y="51"/>
                      </a:lnTo>
                      <a:lnTo>
                        <a:pt x="69" y="41"/>
                      </a:lnTo>
                      <a:lnTo>
                        <a:pt x="80" y="31"/>
                      </a:lnTo>
                      <a:lnTo>
                        <a:pt x="91" y="23"/>
                      </a:lnTo>
                      <a:lnTo>
                        <a:pt x="102" y="19"/>
                      </a:lnTo>
                      <a:lnTo>
                        <a:pt x="112" y="16"/>
                      </a:lnTo>
                      <a:lnTo>
                        <a:pt x="110" y="5"/>
                      </a:lnTo>
                      <a:lnTo>
                        <a:pt x="102" y="0"/>
                      </a:lnTo>
                      <a:lnTo>
                        <a:pt x="88" y="2"/>
                      </a:lnTo>
                      <a:lnTo>
                        <a:pt x="75" y="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0" name="Freeform 53"/>
                <p:cNvSpPr>
                  <a:spLocks/>
                </p:cNvSpPr>
                <p:nvPr/>
              </p:nvSpPr>
              <p:spPr bwMode="auto">
                <a:xfrm>
                  <a:off x="8431" y="4921"/>
                  <a:ext cx="5" cy="4"/>
                </a:xfrm>
                <a:custGeom>
                  <a:avLst/>
                  <a:gdLst>
                    <a:gd name="T0" fmla="*/ 0 w 15"/>
                    <a:gd name="T1" fmla="*/ 2 h 13"/>
                    <a:gd name="T2" fmla="*/ 1 w 15"/>
                    <a:gd name="T3" fmla="*/ 3 h 13"/>
                    <a:gd name="T4" fmla="*/ 1 w 15"/>
                    <a:gd name="T5" fmla="*/ 3 h 13"/>
                    <a:gd name="T6" fmla="*/ 2 w 15"/>
                    <a:gd name="T7" fmla="*/ 4 h 13"/>
                    <a:gd name="T8" fmla="*/ 3 w 15"/>
                    <a:gd name="T9" fmla="*/ 4 h 13"/>
                    <a:gd name="T10" fmla="*/ 4 w 15"/>
                    <a:gd name="T11" fmla="*/ 4 h 13"/>
                    <a:gd name="T12" fmla="*/ 5 w 15"/>
                    <a:gd name="T13" fmla="*/ 3 h 13"/>
                    <a:gd name="T14" fmla="*/ 5 w 15"/>
                    <a:gd name="T15" fmla="*/ 3 h 13"/>
                    <a:gd name="T16" fmla="*/ 5 w 15"/>
                    <a:gd name="T17" fmla="*/ 2 h 13"/>
                    <a:gd name="T18" fmla="*/ 5 w 15"/>
                    <a:gd name="T19" fmla="*/ 1 h 13"/>
                    <a:gd name="T20" fmla="*/ 5 w 15"/>
                    <a:gd name="T21" fmla="*/ 0 h 13"/>
                    <a:gd name="T22" fmla="*/ 4 w 15"/>
                    <a:gd name="T23" fmla="*/ 0 h 13"/>
                    <a:gd name="T24" fmla="*/ 3 w 15"/>
                    <a:gd name="T25" fmla="*/ 0 h 13"/>
                    <a:gd name="T26" fmla="*/ 2 w 15"/>
                    <a:gd name="T27" fmla="*/ 0 h 13"/>
                    <a:gd name="T28" fmla="*/ 1 w 15"/>
                    <a:gd name="T29" fmla="*/ 0 h 13"/>
                    <a:gd name="T30" fmla="*/ 1 w 15"/>
                    <a:gd name="T31" fmla="*/ 1 h 13"/>
                    <a:gd name="T32" fmla="*/ 0 w 15"/>
                    <a:gd name="T33" fmla="*/ 2 h 13"/>
                    <a:gd name="T34" fmla="*/ 0 w 15"/>
                    <a:gd name="T35" fmla="*/ 2 h 1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5"/>
                    <a:gd name="T55" fmla="*/ 0 h 13"/>
                    <a:gd name="T56" fmla="*/ 15 w 15"/>
                    <a:gd name="T57" fmla="*/ 13 h 13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5" h="13">
                      <a:moveTo>
                        <a:pt x="0" y="6"/>
                      </a:moveTo>
                      <a:lnTo>
                        <a:pt x="2" y="9"/>
                      </a:lnTo>
                      <a:lnTo>
                        <a:pt x="3" y="11"/>
                      </a:lnTo>
                      <a:lnTo>
                        <a:pt x="5" y="13"/>
                      </a:lnTo>
                      <a:lnTo>
                        <a:pt x="8" y="13"/>
                      </a:lnTo>
                      <a:lnTo>
                        <a:pt x="11" y="13"/>
                      </a:lnTo>
                      <a:lnTo>
                        <a:pt x="14" y="11"/>
                      </a:lnTo>
                      <a:lnTo>
                        <a:pt x="15" y="9"/>
                      </a:lnTo>
                      <a:lnTo>
                        <a:pt x="15" y="6"/>
                      </a:lnTo>
                      <a:lnTo>
                        <a:pt x="15" y="4"/>
                      </a:lnTo>
                      <a:lnTo>
                        <a:pt x="14" y="1"/>
                      </a:lnTo>
                      <a:lnTo>
                        <a:pt x="11" y="0"/>
                      </a:lnTo>
                      <a:lnTo>
                        <a:pt x="8" y="0"/>
                      </a:lnTo>
                      <a:lnTo>
                        <a:pt x="5" y="0"/>
                      </a:lnTo>
                      <a:lnTo>
                        <a:pt x="3" y="1"/>
                      </a:lnTo>
                      <a:lnTo>
                        <a:pt x="2" y="4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1" name="Freeform 54"/>
                <p:cNvSpPr>
                  <a:spLocks/>
                </p:cNvSpPr>
                <p:nvPr/>
              </p:nvSpPr>
              <p:spPr bwMode="auto">
                <a:xfrm>
                  <a:off x="8447" y="4911"/>
                  <a:ext cx="6" cy="6"/>
                </a:xfrm>
                <a:custGeom>
                  <a:avLst/>
                  <a:gdLst>
                    <a:gd name="T0" fmla="*/ 0 w 17"/>
                    <a:gd name="T1" fmla="*/ 3 h 17"/>
                    <a:gd name="T2" fmla="*/ 0 w 17"/>
                    <a:gd name="T3" fmla="*/ 5 h 17"/>
                    <a:gd name="T4" fmla="*/ 1 w 17"/>
                    <a:gd name="T5" fmla="*/ 5 h 17"/>
                    <a:gd name="T6" fmla="*/ 2 w 17"/>
                    <a:gd name="T7" fmla="*/ 6 h 17"/>
                    <a:gd name="T8" fmla="*/ 3 w 17"/>
                    <a:gd name="T9" fmla="*/ 6 h 17"/>
                    <a:gd name="T10" fmla="*/ 5 w 17"/>
                    <a:gd name="T11" fmla="*/ 6 h 17"/>
                    <a:gd name="T12" fmla="*/ 6 w 17"/>
                    <a:gd name="T13" fmla="*/ 5 h 17"/>
                    <a:gd name="T14" fmla="*/ 6 w 17"/>
                    <a:gd name="T15" fmla="*/ 5 h 17"/>
                    <a:gd name="T16" fmla="*/ 6 w 17"/>
                    <a:gd name="T17" fmla="*/ 3 h 17"/>
                    <a:gd name="T18" fmla="*/ 6 w 17"/>
                    <a:gd name="T19" fmla="*/ 2 h 17"/>
                    <a:gd name="T20" fmla="*/ 6 w 17"/>
                    <a:gd name="T21" fmla="*/ 1 h 17"/>
                    <a:gd name="T22" fmla="*/ 5 w 17"/>
                    <a:gd name="T23" fmla="*/ 1 h 17"/>
                    <a:gd name="T24" fmla="*/ 3 w 17"/>
                    <a:gd name="T25" fmla="*/ 0 h 17"/>
                    <a:gd name="T26" fmla="*/ 2 w 17"/>
                    <a:gd name="T27" fmla="*/ 1 h 17"/>
                    <a:gd name="T28" fmla="*/ 1 w 17"/>
                    <a:gd name="T29" fmla="*/ 1 h 17"/>
                    <a:gd name="T30" fmla="*/ 0 w 17"/>
                    <a:gd name="T31" fmla="*/ 2 h 17"/>
                    <a:gd name="T32" fmla="*/ 0 w 17"/>
                    <a:gd name="T33" fmla="*/ 3 h 17"/>
                    <a:gd name="T34" fmla="*/ 0 w 17"/>
                    <a:gd name="T35" fmla="*/ 3 h 1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7"/>
                    <a:gd name="T55" fmla="*/ 0 h 17"/>
                    <a:gd name="T56" fmla="*/ 17 w 17"/>
                    <a:gd name="T57" fmla="*/ 17 h 17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7" h="17">
                      <a:moveTo>
                        <a:pt x="0" y="9"/>
                      </a:moveTo>
                      <a:lnTo>
                        <a:pt x="1" y="13"/>
                      </a:lnTo>
                      <a:lnTo>
                        <a:pt x="3" y="15"/>
                      </a:lnTo>
                      <a:lnTo>
                        <a:pt x="6" y="17"/>
                      </a:lnTo>
                      <a:lnTo>
                        <a:pt x="9" y="17"/>
                      </a:lnTo>
                      <a:lnTo>
                        <a:pt x="13" y="17"/>
                      </a:lnTo>
                      <a:lnTo>
                        <a:pt x="16" y="15"/>
                      </a:lnTo>
                      <a:lnTo>
                        <a:pt x="17" y="13"/>
                      </a:lnTo>
                      <a:lnTo>
                        <a:pt x="17" y="9"/>
                      </a:lnTo>
                      <a:lnTo>
                        <a:pt x="17" y="6"/>
                      </a:lnTo>
                      <a:lnTo>
                        <a:pt x="16" y="3"/>
                      </a:lnTo>
                      <a:lnTo>
                        <a:pt x="13" y="2"/>
                      </a:lnTo>
                      <a:lnTo>
                        <a:pt x="9" y="0"/>
                      </a:lnTo>
                      <a:lnTo>
                        <a:pt x="6" y="2"/>
                      </a:lnTo>
                      <a:lnTo>
                        <a:pt x="3" y="3"/>
                      </a:lnTo>
                      <a:lnTo>
                        <a:pt x="1" y="6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2" name="Freeform 55"/>
                <p:cNvSpPr>
                  <a:spLocks/>
                </p:cNvSpPr>
                <p:nvPr/>
              </p:nvSpPr>
              <p:spPr bwMode="auto">
                <a:xfrm>
                  <a:off x="8468" y="4904"/>
                  <a:ext cx="3" cy="3"/>
                </a:xfrm>
                <a:custGeom>
                  <a:avLst/>
                  <a:gdLst>
                    <a:gd name="T0" fmla="*/ 0 w 9"/>
                    <a:gd name="T1" fmla="*/ 1 h 9"/>
                    <a:gd name="T2" fmla="*/ 0 w 9"/>
                    <a:gd name="T3" fmla="*/ 2 h 9"/>
                    <a:gd name="T4" fmla="*/ 0 w 9"/>
                    <a:gd name="T5" fmla="*/ 2 h 9"/>
                    <a:gd name="T6" fmla="*/ 1 w 9"/>
                    <a:gd name="T7" fmla="*/ 3 h 9"/>
                    <a:gd name="T8" fmla="*/ 1 w 9"/>
                    <a:gd name="T9" fmla="*/ 3 h 9"/>
                    <a:gd name="T10" fmla="*/ 2 w 9"/>
                    <a:gd name="T11" fmla="*/ 3 h 9"/>
                    <a:gd name="T12" fmla="*/ 2 w 9"/>
                    <a:gd name="T13" fmla="*/ 2 h 9"/>
                    <a:gd name="T14" fmla="*/ 3 w 9"/>
                    <a:gd name="T15" fmla="*/ 2 h 9"/>
                    <a:gd name="T16" fmla="*/ 3 w 9"/>
                    <a:gd name="T17" fmla="*/ 1 h 9"/>
                    <a:gd name="T18" fmla="*/ 3 w 9"/>
                    <a:gd name="T19" fmla="*/ 1 h 9"/>
                    <a:gd name="T20" fmla="*/ 2 w 9"/>
                    <a:gd name="T21" fmla="*/ 1 h 9"/>
                    <a:gd name="T22" fmla="*/ 2 w 9"/>
                    <a:gd name="T23" fmla="*/ 0 h 9"/>
                    <a:gd name="T24" fmla="*/ 1 w 9"/>
                    <a:gd name="T25" fmla="*/ 0 h 9"/>
                    <a:gd name="T26" fmla="*/ 1 w 9"/>
                    <a:gd name="T27" fmla="*/ 0 h 9"/>
                    <a:gd name="T28" fmla="*/ 0 w 9"/>
                    <a:gd name="T29" fmla="*/ 1 h 9"/>
                    <a:gd name="T30" fmla="*/ 0 w 9"/>
                    <a:gd name="T31" fmla="*/ 1 h 9"/>
                    <a:gd name="T32" fmla="*/ 0 w 9"/>
                    <a:gd name="T33" fmla="*/ 1 h 9"/>
                    <a:gd name="T34" fmla="*/ 0 w 9"/>
                    <a:gd name="T35" fmla="*/ 1 h 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9"/>
                    <a:gd name="T55" fmla="*/ 0 h 9"/>
                    <a:gd name="T56" fmla="*/ 9 w 9"/>
                    <a:gd name="T57" fmla="*/ 9 h 9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9" h="9">
                      <a:moveTo>
                        <a:pt x="0" y="4"/>
                      </a:move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3" y="9"/>
                      </a:lnTo>
                      <a:lnTo>
                        <a:pt x="4" y="9"/>
                      </a:lnTo>
                      <a:lnTo>
                        <a:pt x="6" y="9"/>
                      </a:lnTo>
                      <a:lnTo>
                        <a:pt x="7" y="7"/>
                      </a:lnTo>
                      <a:lnTo>
                        <a:pt x="9" y="6"/>
                      </a:lnTo>
                      <a:lnTo>
                        <a:pt x="9" y="4"/>
                      </a:lnTo>
                      <a:lnTo>
                        <a:pt x="9" y="3"/>
                      </a:lnTo>
                      <a:lnTo>
                        <a:pt x="7" y="2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3" name="Freeform 56"/>
                <p:cNvSpPr>
                  <a:spLocks/>
                </p:cNvSpPr>
                <p:nvPr/>
              </p:nvSpPr>
              <p:spPr bwMode="auto">
                <a:xfrm>
                  <a:off x="8459" y="4927"/>
                  <a:ext cx="2" cy="3"/>
                </a:xfrm>
                <a:custGeom>
                  <a:avLst/>
                  <a:gdLst>
                    <a:gd name="T0" fmla="*/ 0 w 7"/>
                    <a:gd name="T1" fmla="*/ 2 h 8"/>
                    <a:gd name="T2" fmla="*/ 0 w 7"/>
                    <a:gd name="T3" fmla="*/ 2 h 8"/>
                    <a:gd name="T4" fmla="*/ 0 w 7"/>
                    <a:gd name="T5" fmla="*/ 3 h 8"/>
                    <a:gd name="T6" fmla="*/ 1 w 7"/>
                    <a:gd name="T7" fmla="*/ 3 h 8"/>
                    <a:gd name="T8" fmla="*/ 1 w 7"/>
                    <a:gd name="T9" fmla="*/ 3 h 8"/>
                    <a:gd name="T10" fmla="*/ 2 w 7"/>
                    <a:gd name="T11" fmla="*/ 3 h 8"/>
                    <a:gd name="T12" fmla="*/ 2 w 7"/>
                    <a:gd name="T13" fmla="*/ 3 h 8"/>
                    <a:gd name="T14" fmla="*/ 2 w 7"/>
                    <a:gd name="T15" fmla="*/ 2 h 8"/>
                    <a:gd name="T16" fmla="*/ 2 w 7"/>
                    <a:gd name="T17" fmla="*/ 2 h 8"/>
                    <a:gd name="T18" fmla="*/ 2 w 7"/>
                    <a:gd name="T19" fmla="*/ 1 h 8"/>
                    <a:gd name="T20" fmla="*/ 2 w 7"/>
                    <a:gd name="T21" fmla="*/ 0 h 8"/>
                    <a:gd name="T22" fmla="*/ 2 w 7"/>
                    <a:gd name="T23" fmla="*/ 0 h 8"/>
                    <a:gd name="T24" fmla="*/ 1 w 7"/>
                    <a:gd name="T25" fmla="*/ 0 h 8"/>
                    <a:gd name="T26" fmla="*/ 1 w 7"/>
                    <a:gd name="T27" fmla="*/ 0 h 8"/>
                    <a:gd name="T28" fmla="*/ 0 w 7"/>
                    <a:gd name="T29" fmla="*/ 0 h 8"/>
                    <a:gd name="T30" fmla="*/ 0 w 7"/>
                    <a:gd name="T31" fmla="*/ 1 h 8"/>
                    <a:gd name="T32" fmla="*/ 0 w 7"/>
                    <a:gd name="T33" fmla="*/ 2 h 8"/>
                    <a:gd name="T34" fmla="*/ 0 w 7"/>
                    <a:gd name="T35" fmla="*/ 2 h 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7"/>
                    <a:gd name="T55" fmla="*/ 0 h 8"/>
                    <a:gd name="T56" fmla="*/ 7 w 7"/>
                    <a:gd name="T57" fmla="*/ 8 h 8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7" h="8">
                      <a:moveTo>
                        <a:pt x="0" y="4"/>
                      </a:moveTo>
                      <a:lnTo>
                        <a:pt x="0" y="5"/>
                      </a:lnTo>
                      <a:lnTo>
                        <a:pt x="1" y="7"/>
                      </a:lnTo>
                      <a:lnTo>
                        <a:pt x="3" y="8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6" y="7"/>
                      </a:lnTo>
                      <a:lnTo>
                        <a:pt x="7" y="5"/>
                      </a:lnTo>
                      <a:lnTo>
                        <a:pt x="7" y="4"/>
                      </a:lnTo>
                      <a:lnTo>
                        <a:pt x="7" y="2"/>
                      </a:lnTo>
                      <a:lnTo>
                        <a:pt x="6" y="1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0" y="2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4" name="Freeform 57"/>
                <p:cNvSpPr>
                  <a:spLocks/>
                </p:cNvSpPr>
                <p:nvPr/>
              </p:nvSpPr>
              <p:spPr bwMode="auto">
                <a:xfrm>
                  <a:off x="8443" y="4936"/>
                  <a:ext cx="2" cy="3"/>
                </a:xfrm>
                <a:custGeom>
                  <a:avLst/>
                  <a:gdLst>
                    <a:gd name="T0" fmla="*/ 0 w 7"/>
                    <a:gd name="T1" fmla="*/ 1 h 9"/>
                    <a:gd name="T2" fmla="*/ 0 w 7"/>
                    <a:gd name="T3" fmla="*/ 2 h 9"/>
                    <a:gd name="T4" fmla="*/ 0 w 7"/>
                    <a:gd name="T5" fmla="*/ 2 h 9"/>
                    <a:gd name="T6" fmla="*/ 1 w 7"/>
                    <a:gd name="T7" fmla="*/ 3 h 9"/>
                    <a:gd name="T8" fmla="*/ 1 w 7"/>
                    <a:gd name="T9" fmla="*/ 3 h 9"/>
                    <a:gd name="T10" fmla="*/ 1 w 7"/>
                    <a:gd name="T11" fmla="*/ 3 h 9"/>
                    <a:gd name="T12" fmla="*/ 1 w 7"/>
                    <a:gd name="T13" fmla="*/ 2 h 9"/>
                    <a:gd name="T14" fmla="*/ 2 w 7"/>
                    <a:gd name="T15" fmla="*/ 2 h 9"/>
                    <a:gd name="T16" fmla="*/ 2 w 7"/>
                    <a:gd name="T17" fmla="*/ 1 h 9"/>
                    <a:gd name="T18" fmla="*/ 2 w 7"/>
                    <a:gd name="T19" fmla="*/ 1 h 9"/>
                    <a:gd name="T20" fmla="*/ 1 w 7"/>
                    <a:gd name="T21" fmla="*/ 0 h 9"/>
                    <a:gd name="T22" fmla="*/ 1 w 7"/>
                    <a:gd name="T23" fmla="*/ 0 h 9"/>
                    <a:gd name="T24" fmla="*/ 1 w 7"/>
                    <a:gd name="T25" fmla="*/ 0 h 9"/>
                    <a:gd name="T26" fmla="*/ 1 w 7"/>
                    <a:gd name="T27" fmla="*/ 0 h 9"/>
                    <a:gd name="T28" fmla="*/ 0 w 7"/>
                    <a:gd name="T29" fmla="*/ 0 h 9"/>
                    <a:gd name="T30" fmla="*/ 0 w 7"/>
                    <a:gd name="T31" fmla="*/ 1 h 9"/>
                    <a:gd name="T32" fmla="*/ 0 w 7"/>
                    <a:gd name="T33" fmla="*/ 1 h 9"/>
                    <a:gd name="T34" fmla="*/ 0 w 7"/>
                    <a:gd name="T35" fmla="*/ 1 h 9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7"/>
                    <a:gd name="T55" fmla="*/ 0 h 9"/>
                    <a:gd name="T56" fmla="*/ 7 w 7"/>
                    <a:gd name="T57" fmla="*/ 9 h 9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7" h="9">
                      <a:moveTo>
                        <a:pt x="0" y="4"/>
                      </a:moveTo>
                      <a:lnTo>
                        <a:pt x="0" y="6"/>
                      </a:lnTo>
                      <a:lnTo>
                        <a:pt x="1" y="7"/>
                      </a:lnTo>
                      <a:lnTo>
                        <a:pt x="3" y="9"/>
                      </a:lnTo>
                      <a:lnTo>
                        <a:pt x="4" y="9"/>
                      </a:lnTo>
                      <a:lnTo>
                        <a:pt x="5" y="9"/>
                      </a:lnTo>
                      <a:lnTo>
                        <a:pt x="5" y="7"/>
                      </a:lnTo>
                      <a:lnTo>
                        <a:pt x="7" y="6"/>
                      </a:lnTo>
                      <a:lnTo>
                        <a:pt x="7" y="4"/>
                      </a:lnTo>
                      <a:lnTo>
                        <a:pt x="7" y="3"/>
                      </a:lnTo>
                      <a:lnTo>
                        <a:pt x="5" y="1"/>
                      </a:lnTo>
                      <a:lnTo>
                        <a:pt x="5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0" y="3"/>
                      </a:lnTo>
                      <a:lnTo>
                        <a:pt x="0" y="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5" name="Freeform 58"/>
                <p:cNvSpPr>
                  <a:spLocks/>
                </p:cNvSpPr>
                <p:nvPr/>
              </p:nvSpPr>
              <p:spPr bwMode="auto">
                <a:xfrm>
                  <a:off x="8474" y="4919"/>
                  <a:ext cx="7" cy="6"/>
                </a:xfrm>
                <a:custGeom>
                  <a:avLst/>
                  <a:gdLst>
                    <a:gd name="T0" fmla="*/ 0 w 20"/>
                    <a:gd name="T1" fmla="*/ 3 h 20"/>
                    <a:gd name="T2" fmla="*/ 0 w 20"/>
                    <a:gd name="T3" fmla="*/ 4 h 20"/>
                    <a:gd name="T4" fmla="*/ 1 w 20"/>
                    <a:gd name="T5" fmla="*/ 5 h 20"/>
                    <a:gd name="T6" fmla="*/ 2 w 20"/>
                    <a:gd name="T7" fmla="*/ 6 h 20"/>
                    <a:gd name="T8" fmla="*/ 4 w 20"/>
                    <a:gd name="T9" fmla="*/ 6 h 20"/>
                    <a:gd name="T10" fmla="*/ 5 w 20"/>
                    <a:gd name="T11" fmla="*/ 6 h 20"/>
                    <a:gd name="T12" fmla="*/ 6 w 20"/>
                    <a:gd name="T13" fmla="*/ 5 h 20"/>
                    <a:gd name="T14" fmla="*/ 7 w 20"/>
                    <a:gd name="T15" fmla="*/ 4 h 20"/>
                    <a:gd name="T16" fmla="*/ 7 w 20"/>
                    <a:gd name="T17" fmla="*/ 3 h 20"/>
                    <a:gd name="T18" fmla="*/ 7 w 20"/>
                    <a:gd name="T19" fmla="*/ 2 h 20"/>
                    <a:gd name="T20" fmla="*/ 6 w 20"/>
                    <a:gd name="T21" fmla="*/ 1 h 20"/>
                    <a:gd name="T22" fmla="*/ 5 w 20"/>
                    <a:gd name="T23" fmla="*/ 0 h 20"/>
                    <a:gd name="T24" fmla="*/ 4 w 20"/>
                    <a:gd name="T25" fmla="*/ 0 h 20"/>
                    <a:gd name="T26" fmla="*/ 2 w 20"/>
                    <a:gd name="T27" fmla="*/ 0 h 20"/>
                    <a:gd name="T28" fmla="*/ 1 w 20"/>
                    <a:gd name="T29" fmla="*/ 1 h 20"/>
                    <a:gd name="T30" fmla="*/ 0 w 20"/>
                    <a:gd name="T31" fmla="*/ 2 h 20"/>
                    <a:gd name="T32" fmla="*/ 0 w 20"/>
                    <a:gd name="T33" fmla="*/ 3 h 20"/>
                    <a:gd name="T34" fmla="*/ 0 w 20"/>
                    <a:gd name="T35" fmla="*/ 3 h 20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20"/>
                    <a:gd name="T55" fmla="*/ 0 h 20"/>
                    <a:gd name="T56" fmla="*/ 20 w 20"/>
                    <a:gd name="T57" fmla="*/ 20 h 20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20" h="20">
                      <a:moveTo>
                        <a:pt x="0" y="10"/>
                      </a:moveTo>
                      <a:lnTo>
                        <a:pt x="0" y="15"/>
                      </a:lnTo>
                      <a:lnTo>
                        <a:pt x="2" y="17"/>
                      </a:lnTo>
                      <a:lnTo>
                        <a:pt x="5" y="20"/>
                      </a:lnTo>
                      <a:lnTo>
                        <a:pt x="10" y="20"/>
                      </a:lnTo>
                      <a:lnTo>
                        <a:pt x="14" y="20"/>
                      </a:lnTo>
                      <a:lnTo>
                        <a:pt x="17" y="17"/>
                      </a:lnTo>
                      <a:lnTo>
                        <a:pt x="20" y="15"/>
                      </a:lnTo>
                      <a:lnTo>
                        <a:pt x="20" y="10"/>
                      </a:lnTo>
                      <a:lnTo>
                        <a:pt x="20" y="6"/>
                      </a:lnTo>
                      <a:lnTo>
                        <a:pt x="17" y="3"/>
                      </a:lnTo>
                      <a:lnTo>
                        <a:pt x="14" y="0"/>
                      </a:lnTo>
                      <a:lnTo>
                        <a:pt x="10" y="0"/>
                      </a:lnTo>
                      <a:lnTo>
                        <a:pt x="5" y="0"/>
                      </a:lnTo>
                      <a:lnTo>
                        <a:pt x="2" y="3"/>
                      </a:lnTo>
                      <a:lnTo>
                        <a:pt x="0" y="6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6" name="Freeform 59"/>
                <p:cNvSpPr>
                  <a:spLocks/>
                </p:cNvSpPr>
                <p:nvPr/>
              </p:nvSpPr>
              <p:spPr bwMode="auto">
                <a:xfrm>
                  <a:off x="8332" y="4713"/>
                  <a:ext cx="4" cy="4"/>
                </a:xfrm>
                <a:custGeom>
                  <a:avLst/>
                  <a:gdLst>
                    <a:gd name="T0" fmla="*/ 0 w 12"/>
                    <a:gd name="T1" fmla="*/ 2 h 13"/>
                    <a:gd name="T2" fmla="*/ 0 w 12"/>
                    <a:gd name="T3" fmla="*/ 3 h 13"/>
                    <a:gd name="T4" fmla="*/ 1 w 12"/>
                    <a:gd name="T5" fmla="*/ 4 h 13"/>
                    <a:gd name="T6" fmla="*/ 1 w 12"/>
                    <a:gd name="T7" fmla="*/ 4 h 13"/>
                    <a:gd name="T8" fmla="*/ 2 w 12"/>
                    <a:gd name="T9" fmla="*/ 4 h 13"/>
                    <a:gd name="T10" fmla="*/ 3 w 12"/>
                    <a:gd name="T11" fmla="*/ 4 h 13"/>
                    <a:gd name="T12" fmla="*/ 4 w 12"/>
                    <a:gd name="T13" fmla="*/ 4 h 13"/>
                    <a:gd name="T14" fmla="*/ 4 w 12"/>
                    <a:gd name="T15" fmla="*/ 3 h 13"/>
                    <a:gd name="T16" fmla="*/ 4 w 12"/>
                    <a:gd name="T17" fmla="*/ 2 h 13"/>
                    <a:gd name="T18" fmla="*/ 4 w 12"/>
                    <a:gd name="T19" fmla="*/ 2 h 13"/>
                    <a:gd name="T20" fmla="*/ 4 w 12"/>
                    <a:gd name="T21" fmla="*/ 1 h 13"/>
                    <a:gd name="T22" fmla="*/ 3 w 12"/>
                    <a:gd name="T23" fmla="*/ 0 h 13"/>
                    <a:gd name="T24" fmla="*/ 2 w 12"/>
                    <a:gd name="T25" fmla="*/ 0 h 13"/>
                    <a:gd name="T26" fmla="*/ 1 w 12"/>
                    <a:gd name="T27" fmla="*/ 0 h 13"/>
                    <a:gd name="T28" fmla="*/ 1 w 12"/>
                    <a:gd name="T29" fmla="*/ 1 h 13"/>
                    <a:gd name="T30" fmla="*/ 0 w 12"/>
                    <a:gd name="T31" fmla="*/ 2 h 13"/>
                    <a:gd name="T32" fmla="*/ 0 w 12"/>
                    <a:gd name="T33" fmla="*/ 2 h 13"/>
                    <a:gd name="T34" fmla="*/ 0 w 12"/>
                    <a:gd name="T35" fmla="*/ 2 h 13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2"/>
                    <a:gd name="T55" fmla="*/ 0 h 13"/>
                    <a:gd name="T56" fmla="*/ 12 w 12"/>
                    <a:gd name="T57" fmla="*/ 13 h 13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2" h="13">
                      <a:moveTo>
                        <a:pt x="0" y="7"/>
                      </a:moveTo>
                      <a:lnTo>
                        <a:pt x="0" y="9"/>
                      </a:lnTo>
                      <a:lnTo>
                        <a:pt x="2" y="12"/>
                      </a:lnTo>
                      <a:lnTo>
                        <a:pt x="3" y="13"/>
                      </a:lnTo>
                      <a:lnTo>
                        <a:pt x="6" y="13"/>
                      </a:lnTo>
                      <a:lnTo>
                        <a:pt x="9" y="13"/>
                      </a:lnTo>
                      <a:lnTo>
                        <a:pt x="11" y="12"/>
                      </a:lnTo>
                      <a:lnTo>
                        <a:pt x="12" y="9"/>
                      </a:lnTo>
                      <a:lnTo>
                        <a:pt x="12" y="7"/>
                      </a:lnTo>
                      <a:lnTo>
                        <a:pt x="12" y="5"/>
                      </a:lnTo>
                      <a:lnTo>
                        <a:pt x="11" y="2"/>
                      </a:lnTo>
                      <a:lnTo>
                        <a:pt x="9" y="0"/>
                      </a:lnTo>
                      <a:lnTo>
                        <a:pt x="6" y="0"/>
                      </a:lnTo>
                      <a:lnTo>
                        <a:pt x="3" y="0"/>
                      </a:lnTo>
                      <a:lnTo>
                        <a:pt x="2" y="2"/>
                      </a:lnTo>
                      <a:lnTo>
                        <a:pt x="0" y="5"/>
                      </a:lnTo>
                      <a:lnTo>
                        <a:pt x="0" y="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7" name="Freeform 60"/>
                <p:cNvSpPr>
                  <a:spLocks/>
                </p:cNvSpPr>
                <p:nvPr/>
              </p:nvSpPr>
              <p:spPr bwMode="auto">
                <a:xfrm>
                  <a:off x="8349" y="4708"/>
                  <a:ext cx="5" cy="4"/>
                </a:xfrm>
                <a:custGeom>
                  <a:avLst/>
                  <a:gdLst>
                    <a:gd name="T0" fmla="*/ 0 w 13"/>
                    <a:gd name="T1" fmla="*/ 2 h 12"/>
                    <a:gd name="T2" fmla="*/ 0 w 13"/>
                    <a:gd name="T3" fmla="*/ 3 h 12"/>
                    <a:gd name="T4" fmla="*/ 1 w 13"/>
                    <a:gd name="T5" fmla="*/ 3 h 12"/>
                    <a:gd name="T6" fmla="*/ 2 w 13"/>
                    <a:gd name="T7" fmla="*/ 4 h 12"/>
                    <a:gd name="T8" fmla="*/ 3 w 13"/>
                    <a:gd name="T9" fmla="*/ 4 h 12"/>
                    <a:gd name="T10" fmla="*/ 3 w 13"/>
                    <a:gd name="T11" fmla="*/ 4 h 12"/>
                    <a:gd name="T12" fmla="*/ 5 w 13"/>
                    <a:gd name="T13" fmla="*/ 3 h 12"/>
                    <a:gd name="T14" fmla="*/ 5 w 13"/>
                    <a:gd name="T15" fmla="*/ 3 h 12"/>
                    <a:gd name="T16" fmla="*/ 5 w 13"/>
                    <a:gd name="T17" fmla="*/ 2 h 12"/>
                    <a:gd name="T18" fmla="*/ 5 w 13"/>
                    <a:gd name="T19" fmla="*/ 1 h 12"/>
                    <a:gd name="T20" fmla="*/ 5 w 13"/>
                    <a:gd name="T21" fmla="*/ 1 h 12"/>
                    <a:gd name="T22" fmla="*/ 3 w 13"/>
                    <a:gd name="T23" fmla="*/ 0 h 12"/>
                    <a:gd name="T24" fmla="*/ 3 w 13"/>
                    <a:gd name="T25" fmla="*/ 0 h 12"/>
                    <a:gd name="T26" fmla="*/ 2 w 13"/>
                    <a:gd name="T27" fmla="*/ 0 h 12"/>
                    <a:gd name="T28" fmla="*/ 1 w 13"/>
                    <a:gd name="T29" fmla="*/ 1 h 12"/>
                    <a:gd name="T30" fmla="*/ 0 w 13"/>
                    <a:gd name="T31" fmla="*/ 1 h 12"/>
                    <a:gd name="T32" fmla="*/ 0 w 13"/>
                    <a:gd name="T33" fmla="*/ 2 h 12"/>
                    <a:gd name="T34" fmla="*/ 0 w 13"/>
                    <a:gd name="T35" fmla="*/ 2 h 1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3"/>
                    <a:gd name="T55" fmla="*/ 0 h 12"/>
                    <a:gd name="T56" fmla="*/ 13 w 13"/>
                    <a:gd name="T57" fmla="*/ 12 h 12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3" h="12">
                      <a:moveTo>
                        <a:pt x="0" y="6"/>
                      </a:moveTo>
                      <a:lnTo>
                        <a:pt x="0" y="8"/>
                      </a:lnTo>
                      <a:lnTo>
                        <a:pt x="2" y="10"/>
                      </a:lnTo>
                      <a:lnTo>
                        <a:pt x="5" y="12"/>
                      </a:lnTo>
                      <a:lnTo>
                        <a:pt x="8" y="12"/>
                      </a:lnTo>
                      <a:lnTo>
                        <a:pt x="9" y="12"/>
                      </a:lnTo>
                      <a:lnTo>
                        <a:pt x="12" y="10"/>
                      </a:lnTo>
                      <a:lnTo>
                        <a:pt x="13" y="8"/>
                      </a:lnTo>
                      <a:lnTo>
                        <a:pt x="13" y="6"/>
                      </a:lnTo>
                      <a:lnTo>
                        <a:pt x="13" y="3"/>
                      </a:lnTo>
                      <a:lnTo>
                        <a:pt x="12" y="2"/>
                      </a:lnTo>
                      <a:lnTo>
                        <a:pt x="9" y="0"/>
                      </a:lnTo>
                      <a:lnTo>
                        <a:pt x="8" y="0"/>
                      </a:lnTo>
                      <a:lnTo>
                        <a:pt x="5" y="0"/>
                      </a:lnTo>
                      <a:lnTo>
                        <a:pt x="2" y="2"/>
                      </a:lnTo>
                      <a:lnTo>
                        <a:pt x="0" y="3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8" name="Freeform 61"/>
                <p:cNvSpPr>
                  <a:spLocks/>
                </p:cNvSpPr>
                <p:nvPr/>
              </p:nvSpPr>
              <p:spPr bwMode="auto">
                <a:xfrm>
                  <a:off x="8366" y="4704"/>
                  <a:ext cx="2" cy="2"/>
                </a:xfrm>
                <a:custGeom>
                  <a:avLst/>
                  <a:gdLst>
                    <a:gd name="T0" fmla="*/ 0 w 8"/>
                    <a:gd name="T1" fmla="*/ 1 h 7"/>
                    <a:gd name="T2" fmla="*/ 0 w 8"/>
                    <a:gd name="T3" fmla="*/ 1 h 7"/>
                    <a:gd name="T4" fmla="*/ 0 w 8"/>
                    <a:gd name="T5" fmla="*/ 2 h 7"/>
                    <a:gd name="T6" fmla="*/ 1 w 8"/>
                    <a:gd name="T7" fmla="*/ 2 h 7"/>
                    <a:gd name="T8" fmla="*/ 1 w 8"/>
                    <a:gd name="T9" fmla="*/ 2 h 7"/>
                    <a:gd name="T10" fmla="*/ 1 w 8"/>
                    <a:gd name="T11" fmla="*/ 2 h 7"/>
                    <a:gd name="T12" fmla="*/ 2 w 8"/>
                    <a:gd name="T13" fmla="*/ 2 h 7"/>
                    <a:gd name="T14" fmla="*/ 2 w 8"/>
                    <a:gd name="T15" fmla="*/ 1 h 7"/>
                    <a:gd name="T16" fmla="*/ 2 w 8"/>
                    <a:gd name="T17" fmla="*/ 1 h 7"/>
                    <a:gd name="T18" fmla="*/ 2 w 8"/>
                    <a:gd name="T19" fmla="*/ 0 h 7"/>
                    <a:gd name="T20" fmla="*/ 2 w 8"/>
                    <a:gd name="T21" fmla="*/ 0 h 7"/>
                    <a:gd name="T22" fmla="*/ 1 w 8"/>
                    <a:gd name="T23" fmla="*/ 0 h 7"/>
                    <a:gd name="T24" fmla="*/ 1 w 8"/>
                    <a:gd name="T25" fmla="*/ 0 h 7"/>
                    <a:gd name="T26" fmla="*/ 1 w 8"/>
                    <a:gd name="T27" fmla="*/ 0 h 7"/>
                    <a:gd name="T28" fmla="*/ 0 w 8"/>
                    <a:gd name="T29" fmla="*/ 0 h 7"/>
                    <a:gd name="T30" fmla="*/ 0 w 8"/>
                    <a:gd name="T31" fmla="*/ 0 h 7"/>
                    <a:gd name="T32" fmla="*/ 0 w 8"/>
                    <a:gd name="T33" fmla="*/ 1 h 7"/>
                    <a:gd name="T34" fmla="*/ 0 w 8"/>
                    <a:gd name="T35" fmla="*/ 1 h 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8"/>
                    <a:gd name="T55" fmla="*/ 0 h 7"/>
                    <a:gd name="T56" fmla="*/ 8 w 8"/>
                    <a:gd name="T57" fmla="*/ 7 h 7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8" h="7">
                      <a:moveTo>
                        <a:pt x="0" y="3"/>
                      </a:moveTo>
                      <a:lnTo>
                        <a:pt x="0" y="4"/>
                      </a:lnTo>
                      <a:lnTo>
                        <a:pt x="1" y="6"/>
                      </a:lnTo>
                      <a:lnTo>
                        <a:pt x="3" y="7"/>
                      </a:lnTo>
                      <a:lnTo>
                        <a:pt x="4" y="7"/>
                      </a:lnTo>
                      <a:lnTo>
                        <a:pt x="6" y="7"/>
                      </a:lnTo>
                      <a:lnTo>
                        <a:pt x="7" y="6"/>
                      </a:lnTo>
                      <a:lnTo>
                        <a:pt x="8" y="4"/>
                      </a:lnTo>
                      <a:lnTo>
                        <a:pt x="8" y="3"/>
                      </a:lnTo>
                      <a:lnTo>
                        <a:pt x="8" y="1"/>
                      </a:lnTo>
                      <a:lnTo>
                        <a:pt x="7" y="1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1"/>
                      </a:lnTo>
                      <a:lnTo>
                        <a:pt x="0" y="1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49" name="Freeform 62"/>
                <p:cNvSpPr>
                  <a:spLocks/>
                </p:cNvSpPr>
                <p:nvPr/>
              </p:nvSpPr>
              <p:spPr bwMode="auto">
                <a:xfrm>
                  <a:off x="8338" y="4730"/>
                  <a:ext cx="2" cy="3"/>
                </a:xfrm>
                <a:custGeom>
                  <a:avLst/>
                  <a:gdLst>
                    <a:gd name="T0" fmla="*/ 0 w 7"/>
                    <a:gd name="T1" fmla="*/ 1 h 8"/>
                    <a:gd name="T2" fmla="*/ 0 w 7"/>
                    <a:gd name="T3" fmla="*/ 2 h 8"/>
                    <a:gd name="T4" fmla="*/ 0 w 7"/>
                    <a:gd name="T5" fmla="*/ 2 h 8"/>
                    <a:gd name="T6" fmla="*/ 1 w 7"/>
                    <a:gd name="T7" fmla="*/ 3 h 8"/>
                    <a:gd name="T8" fmla="*/ 1 w 7"/>
                    <a:gd name="T9" fmla="*/ 3 h 8"/>
                    <a:gd name="T10" fmla="*/ 2 w 7"/>
                    <a:gd name="T11" fmla="*/ 3 h 8"/>
                    <a:gd name="T12" fmla="*/ 2 w 7"/>
                    <a:gd name="T13" fmla="*/ 2 h 8"/>
                    <a:gd name="T14" fmla="*/ 2 w 7"/>
                    <a:gd name="T15" fmla="*/ 2 h 8"/>
                    <a:gd name="T16" fmla="*/ 2 w 7"/>
                    <a:gd name="T17" fmla="*/ 1 h 8"/>
                    <a:gd name="T18" fmla="*/ 2 w 7"/>
                    <a:gd name="T19" fmla="*/ 1 h 8"/>
                    <a:gd name="T20" fmla="*/ 2 w 7"/>
                    <a:gd name="T21" fmla="*/ 1 h 8"/>
                    <a:gd name="T22" fmla="*/ 2 w 7"/>
                    <a:gd name="T23" fmla="*/ 0 h 8"/>
                    <a:gd name="T24" fmla="*/ 1 w 7"/>
                    <a:gd name="T25" fmla="*/ 0 h 8"/>
                    <a:gd name="T26" fmla="*/ 1 w 7"/>
                    <a:gd name="T27" fmla="*/ 0 h 8"/>
                    <a:gd name="T28" fmla="*/ 0 w 7"/>
                    <a:gd name="T29" fmla="*/ 1 h 8"/>
                    <a:gd name="T30" fmla="*/ 0 w 7"/>
                    <a:gd name="T31" fmla="*/ 1 h 8"/>
                    <a:gd name="T32" fmla="*/ 0 w 7"/>
                    <a:gd name="T33" fmla="*/ 1 h 8"/>
                    <a:gd name="T34" fmla="*/ 0 w 7"/>
                    <a:gd name="T35" fmla="*/ 1 h 8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7"/>
                    <a:gd name="T55" fmla="*/ 0 h 8"/>
                    <a:gd name="T56" fmla="*/ 7 w 7"/>
                    <a:gd name="T57" fmla="*/ 8 h 8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7" h="8">
                      <a:moveTo>
                        <a:pt x="0" y="3"/>
                      </a:moveTo>
                      <a:lnTo>
                        <a:pt x="0" y="5"/>
                      </a:lnTo>
                      <a:lnTo>
                        <a:pt x="1" y="6"/>
                      </a:lnTo>
                      <a:lnTo>
                        <a:pt x="3" y="8"/>
                      </a:lnTo>
                      <a:lnTo>
                        <a:pt x="4" y="8"/>
                      </a:lnTo>
                      <a:lnTo>
                        <a:pt x="6" y="8"/>
                      </a:lnTo>
                      <a:lnTo>
                        <a:pt x="6" y="6"/>
                      </a:lnTo>
                      <a:lnTo>
                        <a:pt x="7" y="5"/>
                      </a:lnTo>
                      <a:lnTo>
                        <a:pt x="7" y="3"/>
                      </a:lnTo>
                      <a:lnTo>
                        <a:pt x="7" y="2"/>
                      </a:lnTo>
                      <a:lnTo>
                        <a:pt x="6" y="2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3" y="0"/>
                      </a:lnTo>
                      <a:lnTo>
                        <a:pt x="1" y="2"/>
                      </a:lnTo>
                      <a:lnTo>
                        <a:pt x="0" y="2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0" name="Freeform 63"/>
                <p:cNvSpPr>
                  <a:spLocks/>
                </p:cNvSpPr>
                <p:nvPr/>
              </p:nvSpPr>
              <p:spPr bwMode="auto">
                <a:xfrm>
                  <a:off x="8370" y="4713"/>
                  <a:ext cx="6" cy="6"/>
                </a:xfrm>
                <a:custGeom>
                  <a:avLst/>
                  <a:gdLst>
                    <a:gd name="T0" fmla="*/ 0 w 16"/>
                    <a:gd name="T1" fmla="*/ 3 h 17"/>
                    <a:gd name="T2" fmla="*/ 0 w 16"/>
                    <a:gd name="T3" fmla="*/ 4 h 17"/>
                    <a:gd name="T4" fmla="*/ 1 w 16"/>
                    <a:gd name="T5" fmla="*/ 5 h 17"/>
                    <a:gd name="T6" fmla="*/ 2 w 16"/>
                    <a:gd name="T7" fmla="*/ 6 h 17"/>
                    <a:gd name="T8" fmla="*/ 3 w 16"/>
                    <a:gd name="T9" fmla="*/ 6 h 17"/>
                    <a:gd name="T10" fmla="*/ 4 w 16"/>
                    <a:gd name="T11" fmla="*/ 6 h 17"/>
                    <a:gd name="T12" fmla="*/ 6 w 16"/>
                    <a:gd name="T13" fmla="*/ 5 h 17"/>
                    <a:gd name="T14" fmla="*/ 6 w 16"/>
                    <a:gd name="T15" fmla="*/ 4 h 17"/>
                    <a:gd name="T16" fmla="*/ 6 w 16"/>
                    <a:gd name="T17" fmla="*/ 3 h 17"/>
                    <a:gd name="T18" fmla="*/ 6 w 16"/>
                    <a:gd name="T19" fmla="*/ 2 h 17"/>
                    <a:gd name="T20" fmla="*/ 6 w 16"/>
                    <a:gd name="T21" fmla="*/ 1 h 17"/>
                    <a:gd name="T22" fmla="*/ 4 w 16"/>
                    <a:gd name="T23" fmla="*/ 0 h 17"/>
                    <a:gd name="T24" fmla="*/ 3 w 16"/>
                    <a:gd name="T25" fmla="*/ 0 h 17"/>
                    <a:gd name="T26" fmla="*/ 2 w 16"/>
                    <a:gd name="T27" fmla="*/ 0 h 17"/>
                    <a:gd name="T28" fmla="*/ 1 w 16"/>
                    <a:gd name="T29" fmla="*/ 1 h 17"/>
                    <a:gd name="T30" fmla="*/ 0 w 16"/>
                    <a:gd name="T31" fmla="*/ 2 h 17"/>
                    <a:gd name="T32" fmla="*/ 0 w 16"/>
                    <a:gd name="T33" fmla="*/ 3 h 17"/>
                    <a:gd name="T34" fmla="*/ 0 w 16"/>
                    <a:gd name="T35" fmla="*/ 3 h 17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6"/>
                    <a:gd name="T55" fmla="*/ 0 h 17"/>
                    <a:gd name="T56" fmla="*/ 16 w 16"/>
                    <a:gd name="T57" fmla="*/ 17 h 17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6" h="17">
                      <a:moveTo>
                        <a:pt x="0" y="8"/>
                      </a:moveTo>
                      <a:lnTo>
                        <a:pt x="0" y="11"/>
                      </a:lnTo>
                      <a:lnTo>
                        <a:pt x="3" y="14"/>
                      </a:lnTo>
                      <a:lnTo>
                        <a:pt x="5" y="16"/>
                      </a:lnTo>
                      <a:lnTo>
                        <a:pt x="9" y="17"/>
                      </a:lnTo>
                      <a:lnTo>
                        <a:pt x="12" y="16"/>
                      </a:lnTo>
                      <a:lnTo>
                        <a:pt x="15" y="14"/>
                      </a:lnTo>
                      <a:lnTo>
                        <a:pt x="16" y="11"/>
                      </a:lnTo>
                      <a:lnTo>
                        <a:pt x="16" y="8"/>
                      </a:lnTo>
                      <a:lnTo>
                        <a:pt x="16" y="5"/>
                      </a:lnTo>
                      <a:lnTo>
                        <a:pt x="15" y="3"/>
                      </a:lnTo>
                      <a:lnTo>
                        <a:pt x="12" y="1"/>
                      </a:lnTo>
                      <a:lnTo>
                        <a:pt x="9" y="0"/>
                      </a:lnTo>
                      <a:lnTo>
                        <a:pt x="5" y="1"/>
                      </a:lnTo>
                      <a:lnTo>
                        <a:pt x="3" y="3"/>
                      </a:lnTo>
                      <a:lnTo>
                        <a:pt x="0" y="5"/>
                      </a:lnTo>
                      <a:lnTo>
                        <a:pt x="0" y="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1" name="Freeform 64"/>
                <p:cNvSpPr>
                  <a:spLocks/>
                </p:cNvSpPr>
                <p:nvPr/>
              </p:nvSpPr>
              <p:spPr bwMode="auto">
                <a:xfrm>
                  <a:off x="8353" y="4721"/>
                  <a:ext cx="4" cy="4"/>
                </a:xfrm>
                <a:custGeom>
                  <a:avLst/>
                  <a:gdLst>
                    <a:gd name="T0" fmla="*/ 0 w 12"/>
                    <a:gd name="T1" fmla="*/ 2 h 12"/>
                    <a:gd name="T2" fmla="*/ 0 w 12"/>
                    <a:gd name="T3" fmla="*/ 2 h 12"/>
                    <a:gd name="T4" fmla="*/ 0 w 12"/>
                    <a:gd name="T5" fmla="*/ 3 h 12"/>
                    <a:gd name="T6" fmla="*/ 1 w 12"/>
                    <a:gd name="T7" fmla="*/ 4 h 12"/>
                    <a:gd name="T8" fmla="*/ 2 w 12"/>
                    <a:gd name="T9" fmla="*/ 4 h 12"/>
                    <a:gd name="T10" fmla="*/ 2 w 12"/>
                    <a:gd name="T11" fmla="*/ 4 h 12"/>
                    <a:gd name="T12" fmla="*/ 3 w 12"/>
                    <a:gd name="T13" fmla="*/ 3 h 12"/>
                    <a:gd name="T14" fmla="*/ 4 w 12"/>
                    <a:gd name="T15" fmla="*/ 2 h 12"/>
                    <a:gd name="T16" fmla="*/ 4 w 12"/>
                    <a:gd name="T17" fmla="*/ 2 h 12"/>
                    <a:gd name="T18" fmla="*/ 4 w 12"/>
                    <a:gd name="T19" fmla="*/ 1 h 12"/>
                    <a:gd name="T20" fmla="*/ 3 w 12"/>
                    <a:gd name="T21" fmla="*/ 1 h 12"/>
                    <a:gd name="T22" fmla="*/ 2 w 12"/>
                    <a:gd name="T23" fmla="*/ 0 h 12"/>
                    <a:gd name="T24" fmla="*/ 2 w 12"/>
                    <a:gd name="T25" fmla="*/ 0 h 12"/>
                    <a:gd name="T26" fmla="*/ 1 w 12"/>
                    <a:gd name="T27" fmla="*/ 0 h 12"/>
                    <a:gd name="T28" fmla="*/ 0 w 12"/>
                    <a:gd name="T29" fmla="*/ 1 h 12"/>
                    <a:gd name="T30" fmla="*/ 0 w 12"/>
                    <a:gd name="T31" fmla="*/ 1 h 12"/>
                    <a:gd name="T32" fmla="*/ 0 w 12"/>
                    <a:gd name="T33" fmla="*/ 2 h 12"/>
                    <a:gd name="T34" fmla="*/ 0 w 12"/>
                    <a:gd name="T35" fmla="*/ 2 h 12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w 12"/>
                    <a:gd name="T55" fmla="*/ 0 h 12"/>
                    <a:gd name="T56" fmla="*/ 12 w 12"/>
                    <a:gd name="T57" fmla="*/ 12 h 12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T54" t="T55" r="T56" b="T57"/>
                  <a:pathLst>
                    <a:path w="12" h="12">
                      <a:moveTo>
                        <a:pt x="0" y="6"/>
                      </a:moveTo>
                      <a:lnTo>
                        <a:pt x="0" y="7"/>
                      </a:lnTo>
                      <a:lnTo>
                        <a:pt x="1" y="10"/>
                      </a:lnTo>
                      <a:lnTo>
                        <a:pt x="4" y="12"/>
                      </a:lnTo>
                      <a:lnTo>
                        <a:pt x="6" y="12"/>
                      </a:lnTo>
                      <a:lnTo>
                        <a:pt x="7" y="12"/>
                      </a:lnTo>
                      <a:lnTo>
                        <a:pt x="10" y="10"/>
                      </a:lnTo>
                      <a:lnTo>
                        <a:pt x="12" y="7"/>
                      </a:lnTo>
                      <a:lnTo>
                        <a:pt x="12" y="6"/>
                      </a:lnTo>
                      <a:lnTo>
                        <a:pt x="12" y="4"/>
                      </a:lnTo>
                      <a:lnTo>
                        <a:pt x="10" y="2"/>
                      </a:lnTo>
                      <a:lnTo>
                        <a:pt x="7" y="0"/>
                      </a:lnTo>
                      <a:lnTo>
                        <a:pt x="6" y="0"/>
                      </a:lnTo>
                      <a:lnTo>
                        <a:pt x="4" y="0"/>
                      </a:lnTo>
                      <a:lnTo>
                        <a:pt x="1" y="2"/>
                      </a:lnTo>
                      <a:lnTo>
                        <a:pt x="0" y="4"/>
                      </a:lnTo>
                      <a:lnTo>
                        <a:pt x="0" y="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2" name="Freeform 65"/>
                <p:cNvSpPr>
                  <a:spLocks/>
                </p:cNvSpPr>
                <p:nvPr/>
              </p:nvSpPr>
              <p:spPr bwMode="auto">
                <a:xfrm>
                  <a:off x="8343" y="4794"/>
                  <a:ext cx="25" cy="25"/>
                </a:xfrm>
                <a:custGeom>
                  <a:avLst/>
                  <a:gdLst>
                    <a:gd name="T0" fmla="*/ 2 w 74"/>
                    <a:gd name="T1" fmla="*/ 22 h 75"/>
                    <a:gd name="T2" fmla="*/ 5 w 74"/>
                    <a:gd name="T3" fmla="*/ 24 h 75"/>
                    <a:gd name="T4" fmla="*/ 8 w 74"/>
                    <a:gd name="T5" fmla="*/ 25 h 75"/>
                    <a:gd name="T6" fmla="*/ 11 w 74"/>
                    <a:gd name="T7" fmla="*/ 25 h 75"/>
                    <a:gd name="T8" fmla="*/ 13 w 74"/>
                    <a:gd name="T9" fmla="*/ 24 h 75"/>
                    <a:gd name="T10" fmla="*/ 13 w 74"/>
                    <a:gd name="T11" fmla="*/ 24 h 75"/>
                    <a:gd name="T12" fmla="*/ 15 w 74"/>
                    <a:gd name="T13" fmla="*/ 24 h 75"/>
                    <a:gd name="T14" fmla="*/ 17 w 74"/>
                    <a:gd name="T15" fmla="*/ 23 h 75"/>
                    <a:gd name="T16" fmla="*/ 20 w 74"/>
                    <a:gd name="T17" fmla="*/ 22 h 75"/>
                    <a:gd name="T18" fmla="*/ 22 w 74"/>
                    <a:gd name="T19" fmla="*/ 20 h 75"/>
                    <a:gd name="T20" fmla="*/ 24 w 74"/>
                    <a:gd name="T21" fmla="*/ 19 h 75"/>
                    <a:gd name="T22" fmla="*/ 25 w 74"/>
                    <a:gd name="T23" fmla="*/ 17 h 75"/>
                    <a:gd name="T24" fmla="*/ 24 w 74"/>
                    <a:gd name="T25" fmla="*/ 15 h 75"/>
                    <a:gd name="T26" fmla="*/ 20 w 74"/>
                    <a:gd name="T27" fmla="*/ 12 h 75"/>
                    <a:gd name="T28" fmla="*/ 16 w 74"/>
                    <a:gd name="T29" fmla="*/ 13 h 75"/>
                    <a:gd name="T30" fmla="*/ 12 w 74"/>
                    <a:gd name="T31" fmla="*/ 16 h 75"/>
                    <a:gd name="T32" fmla="*/ 10 w 74"/>
                    <a:gd name="T33" fmla="*/ 17 h 75"/>
                    <a:gd name="T34" fmla="*/ 10 w 74"/>
                    <a:gd name="T35" fmla="*/ 14 h 75"/>
                    <a:gd name="T36" fmla="*/ 8 w 74"/>
                    <a:gd name="T37" fmla="*/ 9 h 75"/>
                    <a:gd name="T38" fmla="*/ 4 w 74"/>
                    <a:gd name="T39" fmla="*/ 2 h 75"/>
                    <a:gd name="T40" fmla="*/ 1 w 74"/>
                    <a:gd name="T41" fmla="*/ 0 h 75"/>
                    <a:gd name="T42" fmla="*/ 0 w 74"/>
                    <a:gd name="T43" fmla="*/ 6 h 75"/>
                    <a:gd name="T44" fmla="*/ 1 w 74"/>
                    <a:gd name="T45" fmla="*/ 13 h 75"/>
                    <a:gd name="T46" fmla="*/ 2 w 74"/>
                    <a:gd name="T47" fmla="*/ 19 h 75"/>
                    <a:gd name="T48" fmla="*/ 2 w 74"/>
                    <a:gd name="T49" fmla="*/ 22 h 75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74"/>
                    <a:gd name="T76" fmla="*/ 0 h 75"/>
                    <a:gd name="T77" fmla="*/ 74 w 74"/>
                    <a:gd name="T78" fmla="*/ 75 h 75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74" h="75">
                      <a:moveTo>
                        <a:pt x="7" y="65"/>
                      </a:moveTo>
                      <a:lnTo>
                        <a:pt x="15" y="72"/>
                      </a:lnTo>
                      <a:lnTo>
                        <a:pt x="25" y="75"/>
                      </a:lnTo>
                      <a:lnTo>
                        <a:pt x="32" y="75"/>
                      </a:lnTo>
                      <a:lnTo>
                        <a:pt x="37" y="73"/>
                      </a:lnTo>
                      <a:lnTo>
                        <a:pt x="38" y="73"/>
                      </a:lnTo>
                      <a:lnTo>
                        <a:pt x="44" y="71"/>
                      </a:lnTo>
                      <a:lnTo>
                        <a:pt x="50" y="69"/>
                      </a:lnTo>
                      <a:lnTo>
                        <a:pt x="59" y="65"/>
                      </a:lnTo>
                      <a:lnTo>
                        <a:pt x="65" y="60"/>
                      </a:lnTo>
                      <a:lnTo>
                        <a:pt x="71" y="56"/>
                      </a:lnTo>
                      <a:lnTo>
                        <a:pt x="74" y="50"/>
                      </a:lnTo>
                      <a:lnTo>
                        <a:pt x="72" y="45"/>
                      </a:lnTo>
                      <a:lnTo>
                        <a:pt x="59" y="35"/>
                      </a:lnTo>
                      <a:lnTo>
                        <a:pt x="46" y="39"/>
                      </a:lnTo>
                      <a:lnTo>
                        <a:pt x="35" y="48"/>
                      </a:lnTo>
                      <a:lnTo>
                        <a:pt x="31" y="52"/>
                      </a:lnTo>
                      <a:lnTo>
                        <a:pt x="29" y="43"/>
                      </a:lnTo>
                      <a:lnTo>
                        <a:pt x="24" y="26"/>
                      </a:lnTo>
                      <a:lnTo>
                        <a:pt x="13" y="7"/>
                      </a:lnTo>
                      <a:lnTo>
                        <a:pt x="2" y="0"/>
                      </a:lnTo>
                      <a:lnTo>
                        <a:pt x="0" y="19"/>
                      </a:lnTo>
                      <a:lnTo>
                        <a:pt x="3" y="40"/>
                      </a:lnTo>
                      <a:lnTo>
                        <a:pt x="6" y="58"/>
                      </a:lnTo>
                      <a:lnTo>
                        <a:pt x="7" y="6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3" name="Freeform 66"/>
                <p:cNvSpPr>
                  <a:spLocks/>
                </p:cNvSpPr>
                <p:nvPr/>
              </p:nvSpPr>
              <p:spPr bwMode="auto">
                <a:xfrm>
                  <a:off x="8367" y="4788"/>
                  <a:ext cx="23" cy="20"/>
                </a:xfrm>
                <a:custGeom>
                  <a:avLst/>
                  <a:gdLst>
                    <a:gd name="T0" fmla="*/ 8 w 69"/>
                    <a:gd name="T1" fmla="*/ 20 h 59"/>
                    <a:gd name="T2" fmla="*/ 10 w 69"/>
                    <a:gd name="T3" fmla="*/ 20 h 59"/>
                    <a:gd name="T4" fmla="*/ 13 w 69"/>
                    <a:gd name="T5" fmla="*/ 19 h 59"/>
                    <a:gd name="T6" fmla="*/ 16 w 69"/>
                    <a:gd name="T7" fmla="*/ 19 h 59"/>
                    <a:gd name="T8" fmla="*/ 19 w 69"/>
                    <a:gd name="T9" fmla="*/ 18 h 59"/>
                    <a:gd name="T10" fmla="*/ 21 w 69"/>
                    <a:gd name="T11" fmla="*/ 18 h 59"/>
                    <a:gd name="T12" fmla="*/ 23 w 69"/>
                    <a:gd name="T13" fmla="*/ 16 h 59"/>
                    <a:gd name="T14" fmla="*/ 23 w 69"/>
                    <a:gd name="T15" fmla="*/ 15 h 59"/>
                    <a:gd name="T16" fmla="*/ 22 w 69"/>
                    <a:gd name="T17" fmla="*/ 13 h 59"/>
                    <a:gd name="T18" fmla="*/ 18 w 69"/>
                    <a:gd name="T19" fmla="*/ 11 h 59"/>
                    <a:gd name="T20" fmla="*/ 14 w 69"/>
                    <a:gd name="T21" fmla="*/ 11 h 59"/>
                    <a:gd name="T22" fmla="*/ 10 w 69"/>
                    <a:gd name="T23" fmla="*/ 13 h 59"/>
                    <a:gd name="T24" fmla="*/ 8 w 69"/>
                    <a:gd name="T25" fmla="*/ 14 h 59"/>
                    <a:gd name="T26" fmla="*/ 7 w 69"/>
                    <a:gd name="T27" fmla="*/ 10 h 59"/>
                    <a:gd name="T28" fmla="*/ 6 w 69"/>
                    <a:gd name="T29" fmla="*/ 4 h 59"/>
                    <a:gd name="T30" fmla="*/ 5 w 69"/>
                    <a:gd name="T31" fmla="*/ 0 h 59"/>
                    <a:gd name="T32" fmla="*/ 0 w 69"/>
                    <a:gd name="T33" fmla="*/ 0 h 59"/>
                    <a:gd name="T34" fmla="*/ 0 w 69"/>
                    <a:gd name="T35" fmla="*/ 9 h 59"/>
                    <a:gd name="T36" fmla="*/ 3 w 69"/>
                    <a:gd name="T37" fmla="*/ 15 h 59"/>
                    <a:gd name="T38" fmla="*/ 6 w 69"/>
                    <a:gd name="T39" fmla="*/ 19 h 59"/>
                    <a:gd name="T40" fmla="*/ 8 w 69"/>
                    <a:gd name="T41" fmla="*/ 20 h 59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69"/>
                    <a:gd name="T64" fmla="*/ 0 h 59"/>
                    <a:gd name="T65" fmla="*/ 69 w 69"/>
                    <a:gd name="T66" fmla="*/ 59 h 59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69" h="59">
                      <a:moveTo>
                        <a:pt x="24" y="59"/>
                      </a:moveTo>
                      <a:lnTo>
                        <a:pt x="29" y="59"/>
                      </a:lnTo>
                      <a:lnTo>
                        <a:pt x="38" y="57"/>
                      </a:lnTo>
                      <a:lnTo>
                        <a:pt x="47" y="56"/>
                      </a:lnTo>
                      <a:lnTo>
                        <a:pt x="56" y="54"/>
                      </a:lnTo>
                      <a:lnTo>
                        <a:pt x="63" y="52"/>
                      </a:lnTo>
                      <a:lnTo>
                        <a:pt x="68" y="47"/>
                      </a:lnTo>
                      <a:lnTo>
                        <a:pt x="69" y="43"/>
                      </a:lnTo>
                      <a:lnTo>
                        <a:pt x="66" y="37"/>
                      </a:lnTo>
                      <a:lnTo>
                        <a:pt x="54" y="32"/>
                      </a:lnTo>
                      <a:lnTo>
                        <a:pt x="41" y="33"/>
                      </a:lnTo>
                      <a:lnTo>
                        <a:pt x="29" y="37"/>
                      </a:lnTo>
                      <a:lnTo>
                        <a:pt x="25" y="40"/>
                      </a:lnTo>
                      <a:lnTo>
                        <a:pt x="21" y="29"/>
                      </a:lnTo>
                      <a:lnTo>
                        <a:pt x="19" y="13"/>
                      </a:lnTo>
                      <a:lnTo>
                        <a:pt x="15" y="1"/>
                      </a:ln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9" y="44"/>
                      </a:lnTo>
                      <a:lnTo>
                        <a:pt x="19" y="56"/>
                      </a:lnTo>
                      <a:lnTo>
                        <a:pt x="24" y="5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4" name="Freeform 67"/>
                <p:cNvSpPr>
                  <a:spLocks/>
                </p:cNvSpPr>
                <p:nvPr/>
              </p:nvSpPr>
              <p:spPr bwMode="auto">
                <a:xfrm>
                  <a:off x="8386" y="4779"/>
                  <a:ext cx="23" cy="20"/>
                </a:xfrm>
                <a:custGeom>
                  <a:avLst/>
                  <a:gdLst>
                    <a:gd name="T0" fmla="*/ 2 w 69"/>
                    <a:gd name="T1" fmla="*/ 15 h 60"/>
                    <a:gd name="T2" fmla="*/ 5 w 69"/>
                    <a:gd name="T3" fmla="*/ 18 h 60"/>
                    <a:gd name="T4" fmla="*/ 7 w 69"/>
                    <a:gd name="T5" fmla="*/ 20 h 60"/>
                    <a:gd name="T6" fmla="*/ 10 w 69"/>
                    <a:gd name="T7" fmla="*/ 20 h 60"/>
                    <a:gd name="T8" fmla="*/ 13 w 69"/>
                    <a:gd name="T9" fmla="*/ 20 h 60"/>
                    <a:gd name="T10" fmla="*/ 15 w 69"/>
                    <a:gd name="T11" fmla="*/ 20 h 60"/>
                    <a:gd name="T12" fmla="*/ 17 w 69"/>
                    <a:gd name="T13" fmla="*/ 19 h 60"/>
                    <a:gd name="T14" fmla="*/ 19 w 69"/>
                    <a:gd name="T15" fmla="*/ 18 h 60"/>
                    <a:gd name="T16" fmla="*/ 20 w 69"/>
                    <a:gd name="T17" fmla="*/ 17 h 60"/>
                    <a:gd name="T18" fmla="*/ 21 w 69"/>
                    <a:gd name="T19" fmla="*/ 17 h 60"/>
                    <a:gd name="T20" fmla="*/ 22 w 69"/>
                    <a:gd name="T21" fmla="*/ 16 h 60"/>
                    <a:gd name="T22" fmla="*/ 23 w 69"/>
                    <a:gd name="T23" fmla="*/ 14 h 60"/>
                    <a:gd name="T24" fmla="*/ 22 w 69"/>
                    <a:gd name="T25" fmla="*/ 13 h 60"/>
                    <a:gd name="T26" fmla="*/ 18 w 69"/>
                    <a:gd name="T27" fmla="*/ 10 h 60"/>
                    <a:gd name="T28" fmla="*/ 14 w 69"/>
                    <a:gd name="T29" fmla="*/ 10 h 60"/>
                    <a:gd name="T30" fmla="*/ 11 w 69"/>
                    <a:gd name="T31" fmla="*/ 11 h 60"/>
                    <a:gd name="T32" fmla="*/ 9 w 69"/>
                    <a:gd name="T33" fmla="*/ 12 h 60"/>
                    <a:gd name="T34" fmla="*/ 9 w 69"/>
                    <a:gd name="T35" fmla="*/ 10 h 60"/>
                    <a:gd name="T36" fmla="*/ 7 w 69"/>
                    <a:gd name="T37" fmla="*/ 5 h 60"/>
                    <a:gd name="T38" fmla="*/ 4 w 69"/>
                    <a:gd name="T39" fmla="*/ 1 h 60"/>
                    <a:gd name="T40" fmla="*/ 0 w 69"/>
                    <a:gd name="T41" fmla="*/ 0 h 60"/>
                    <a:gd name="T42" fmla="*/ 0 w 69"/>
                    <a:gd name="T43" fmla="*/ 5 h 60"/>
                    <a:gd name="T44" fmla="*/ 0 w 69"/>
                    <a:gd name="T45" fmla="*/ 10 h 60"/>
                    <a:gd name="T46" fmla="*/ 1 w 69"/>
                    <a:gd name="T47" fmla="*/ 14 h 60"/>
                    <a:gd name="T48" fmla="*/ 2 w 69"/>
                    <a:gd name="T49" fmla="*/ 15 h 60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69"/>
                    <a:gd name="T76" fmla="*/ 0 h 60"/>
                    <a:gd name="T77" fmla="*/ 69 w 69"/>
                    <a:gd name="T78" fmla="*/ 60 h 60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69" h="60">
                      <a:moveTo>
                        <a:pt x="6" y="46"/>
                      </a:moveTo>
                      <a:lnTo>
                        <a:pt x="15" y="54"/>
                      </a:lnTo>
                      <a:lnTo>
                        <a:pt x="22" y="59"/>
                      </a:lnTo>
                      <a:lnTo>
                        <a:pt x="31" y="60"/>
                      </a:lnTo>
                      <a:lnTo>
                        <a:pt x="38" y="60"/>
                      </a:lnTo>
                      <a:lnTo>
                        <a:pt x="45" y="59"/>
                      </a:lnTo>
                      <a:lnTo>
                        <a:pt x="51" y="56"/>
                      </a:lnTo>
                      <a:lnTo>
                        <a:pt x="57" y="53"/>
                      </a:lnTo>
                      <a:lnTo>
                        <a:pt x="60" y="51"/>
                      </a:lnTo>
                      <a:lnTo>
                        <a:pt x="64" y="50"/>
                      </a:lnTo>
                      <a:lnTo>
                        <a:pt x="67" y="47"/>
                      </a:lnTo>
                      <a:lnTo>
                        <a:pt x="69" y="43"/>
                      </a:lnTo>
                      <a:lnTo>
                        <a:pt x="67" y="40"/>
                      </a:lnTo>
                      <a:lnTo>
                        <a:pt x="54" y="31"/>
                      </a:lnTo>
                      <a:lnTo>
                        <a:pt x="41" y="31"/>
                      </a:lnTo>
                      <a:lnTo>
                        <a:pt x="32" y="34"/>
                      </a:lnTo>
                      <a:lnTo>
                        <a:pt x="28" y="37"/>
                      </a:lnTo>
                      <a:lnTo>
                        <a:pt x="26" y="30"/>
                      </a:lnTo>
                      <a:lnTo>
                        <a:pt x="20" y="15"/>
                      </a:lnTo>
                      <a:lnTo>
                        <a:pt x="12" y="2"/>
                      </a:lnTo>
                      <a:lnTo>
                        <a:pt x="1" y="0"/>
                      </a:lnTo>
                      <a:lnTo>
                        <a:pt x="0" y="14"/>
                      </a:lnTo>
                      <a:lnTo>
                        <a:pt x="1" y="30"/>
                      </a:lnTo>
                      <a:lnTo>
                        <a:pt x="4" y="41"/>
                      </a:lnTo>
                      <a:lnTo>
                        <a:pt x="6" y="4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5" name="Freeform 68"/>
                <p:cNvSpPr>
                  <a:spLocks/>
                </p:cNvSpPr>
                <p:nvPr/>
              </p:nvSpPr>
              <p:spPr bwMode="auto">
                <a:xfrm>
                  <a:off x="8357" y="4833"/>
                  <a:ext cx="25" cy="16"/>
                </a:xfrm>
                <a:custGeom>
                  <a:avLst/>
                  <a:gdLst>
                    <a:gd name="T0" fmla="*/ 4 w 75"/>
                    <a:gd name="T1" fmla="*/ 15 h 48"/>
                    <a:gd name="T2" fmla="*/ 6 w 75"/>
                    <a:gd name="T3" fmla="*/ 15 h 48"/>
                    <a:gd name="T4" fmla="*/ 10 w 75"/>
                    <a:gd name="T5" fmla="*/ 16 h 48"/>
                    <a:gd name="T6" fmla="*/ 14 w 75"/>
                    <a:gd name="T7" fmla="*/ 16 h 48"/>
                    <a:gd name="T8" fmla="*/ 19 w 75"/>
                    <a:gd name="T9" fmla="*/ 15 h 48"/>
                    <a:gd name="T10" fmla="*/ 22 w 75"/>
                    <a:gd name="T11" fmla="*/ 14 h 48"/>
                    <a:gd name="T12" fmla="*/ 25 w 75"/>
                    <a:gd name="T13" fmla="*/ 12 h 48"/>
                    <a:gd name="T14" fmla="*/ 25 w 75"/>
                    <a:gd name="T15" fmla="*/ 10 h 48"/>
                    <a:gd name="T16" fmla="*/ 24 w 75"/>
                    <a:gd name="T17" fmla="*/ 6 h 48"/>
                    <a:gd name="T18" fmla="*/ 22 w 75"/>
                    <a:gd name="T19" fmla="*/ 5 h 48"/>
                    <a:gd name="T20" fmla="*/ 20 w 75"/>
                    <a:gd name="T21" fmla="*/ 5 h 48"/>
                    <a:gd name="T22" fmla="*/ 17 w 75"/>
                    <a:gd name="T23" fmla="*/ 5 h 48"/>
                    <a:gd name="T24" fmla="*/ 14 w 75"/>
                    <a:gd name="T25" fmla="*/ 6 h 48"/>
                    <a:gd name="T26" fmla="*/ 12 w 75"/>
                    <a:gd name="T27" fmla="*/ 6 h 48"/>
                    <a:gd name="T28" fmla="*/ 10 w 75"/>
                    <a:gd name="T29" fmla="*/ 7 h 48"/>
                    <a:gd name="T30" fmla="*/ 8 w 75"/>
                    <a:gd name="T31" fmla="*/ 8 h 48"/>
                    <a:gd name="T32" fmla="*/ 8 w 75"/>
                    <a:gd name="T33" fmla="*/ 8 h 48"/>
                    <a:gd name="T34" fmla="*/ 7 w 75"/>
                    <a:gd name="T35" fmla="*/ 7 h 48"/>
                    <a:gd name="T36" fmla="*/ 6 w 75"/>
                    <a:gd name="T37" fmla="*/ 4 h 48"/>
                    <a:gd name="T38" fmla="*/ 5 w 75"/>
                    <a:gd name="T39" fmla="*/ 2 h 48"/>
                    <a:gd name="T40" fmla="*/ 5 w 75"/>
                    <a:gd name="T41" fmla="*/ 1 h 48"/>
                    <a:gd name="T42" fmla="*/ 4 w 75"/>
                    <a:gd name="T43" fmla="*/ 0 h 48"/>
                    <a:gd name="T44" fmla="*/ 3 w 75"/>
                    <a:gd name="T45" fmla="*/ 0 h 48"/>
                    <a:gd name="T46" fmla="*/ 1 w 75"/>
                    <a:gd name="T47" fmla="*/ 1 h 48"/>
                    <a:gd name="T48" fmla="*/ 0 w 75"/>
                    <a:gd name="T49" fmla="*/ 2 h 48"/>
                    <a:gd name="T50" fmla="*/ 0 w 75"/>
                    <a:gd name="T51" fmla="*/ 4 h 48"/>
                    <a:gd name="T52" fmla="*/ 2 w 75"/>
                    <a:gd name="T53" fmla="*/ 9 h 48"/>
                    <a:gd name="T54" fmla="*/ 3 w 75"/>
                    <a:gd name="T55" fmla="*/ 13 h 48"/>
                    <a:gd name="T56" fmla="*/ 4 w 75"/>
                    <a:gd name="T57" fmla="*/ 15 h 48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5"/>
                    <a:gd name="T88" fmla="*/ 0 h 48"/>
                    <a:gd name="T89" fmla="*/ 75 w 75"/>
                    <a:gd name="T90" fmla="*/ 48 h 48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5" h="48">
                      <a:moveTo>
                        <a:pt x="12" y="44"/>
                      </a:moveTo>
                      <a:lnTo>
                        <a:pt x="19" y="46"/>
                      </a:lnTo>
                      <a:lnTo>
                        <a:pt x="31" y="48"/>
                      </a:lnTo>
                      <a:lnTo>
                        <a:pt x="43" y="48"/>
                      </a:lnTo>
                      <a:lnTo>
                        <a:pt x="56" y="46"/>
                      </a:lnTo>
                      <a:lnTo>
                        <a:pt x="66" y="42"/>
                      </a:lnTo>
                      <a:lnTo>
                        <a:pt x="74" y="36"/>
                      </a:lnTo>
                      <a:lnTo>
                        <a:pt x="75" y="29"/>
                      </a:lnTo>
                      <a:lnTo>
                        <a:pt x="71" y="19"/>
                      </a:lnTo>
                      <a:lnTo>
                        <a:pt x="66" y="16"/>
                      </a:lnTo>
                      <a:lnTo>
                        <a:pt x="59" y="15"/>
                      </a:lnTo>
                      <a:lnTo>
                        <a:pt x="52" y="15"/>
                      </a:lnTo>
                      <a:lnTo>
                        <a:pt x="43" y="18"/>
                      </a:lnTo>
                      <a:lnTo>
                        <a:pt x="35" y="19"/>
                      </a:lnTo>
                      <a:lnTo>
                        <a:pt x="30" y="22"/>
                      </a:lnTo>
                      <a:lnTo>
                        <a:pt x="25" y="23"/>
                      </a:lnTo>
                      <a:lnTo>
                        <a:pt x="24" y="25"/>
                      </a:lnTo>
                      <a:lnTo>
                        <a:pt x="22" y="21"/>
                      </a:lnTo>
                      <a:lnTo>
                        <a:pt x="19" y="13"/>
                      </a:lnTo>
                      <a:lnTo>
                        <a:pt x="16" y="5"/>
                      </a:lnTo>
                      <a:lnTo>
                        <a:pt x="15" y="2"/>
                      </a:lnTo>
                      <a:lnTo>
                        <a:pt x="12" y="0"/>
                      </a:lnTo>
                      <a:lnTo>
                        <a:pt x="8" y="0"/>
                      </a:lnTo>
                      <a:lnTo>
                        <a:pt x="3" y="2"/>
                      </a:lnTo>
                      <a:lnTo>
                        <a:pt x="0" y="5"/>
                      </a:lnTo>
                      <a:lnTo>
                        <a:pt x="0" y="13"/>
                      </a:lnTo>
                      <a:lnTo>
                        <a:pt x="5" y="26"/>
                      </a:lnTo>
                      <a:lnTo>
                        <a:pt x="9" y="38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6" name="Freeform 69"/>
                <p:cNvSpPr>
                  <a:spLocks/>
                </p:cNvSpPr>
                <p:nvPr/>
              </p:nvSpPr>
              <p:spPr bwMode="auto">
                <a:xfrm>
                  <a:off x="8385" y="4821"/>
                  <a:ext cx="21" cy="19"/>
                </a:xfrm>
                <a:custGeom>
                  <a:avLst/>
                  <a:gdLst>
                    <a:gd name="T0" fmla="*/ 5 w 63"/>
                    <a:gd name="T1" fmla="*/ 18 h 57"/>
                    <a:gd name="T2" fmla="*/ 7 w 63"/>
                    <a:gd name="T3" fmla="*/ 18 h 57"/>
                    <a:gd name="T4" fmla="*/ 11 w 63"/>
                    <a:gd name="T5" fmla="*/ 19 h 57"/>
                    <a:gd name="T6" fmla="*/ 16 w 63"/>
                    <a:gd name="T7" fmla="*/ 19 h 57"/>
                    <a:gd name="T8" fmla="*/ 19 w 63"/>
                    <a:gd name="T9" fmla="*/ 17 h 57"/>
                    <a:gd name="T10" fmla="*/ 20 w 63"/>
                    <a:gd name="T11" fmla="*/ 16 h 57"/>
                    <a:gd name="T12" fmla="*/ 21 w 63"/>
                    <a:gd name="T13" fmla="*/ 15 h 57"/>
                    <a:gd name="T14" fmla="*/ 21 w 63"/>
                    <a:gd name="T15" fmla="*/ 14 h 57"/>
                    <a:gd name="T16" fmla="*/ 21 w 63"/>
                    <a:gd name="T17" fmla="*/ 13 h 57"/>
                    <a:gd name="T18" fmla="*/ 20 w 63"/>
                    <a:gd name="T19" fmla="*/ 12 h 57"/>
                    <a:gd name="T20" fmla="*/ 19 w 63"/>
                    <a:gd name="T21" fmla="*/ 11 h 57"/>
                    <a:gd name="T22" fmla="*/ 18 w 63"/>
                    <a:gd name="T23" fmla="*/ 10 h 57"/>
                    <a:gd name="T24" fmla="*/ 16 w 63"/>
                    <a:gd name="T25" fmla="*/ 11 h 57"/>
                    <a:gd name="T26" fmla="*/ 13 w 63"/>
                    <a:gd name="T27" fmla="*/ 12 h 57"/>
                    <a:gd name="T28" fmla="*/ 10 w 63"/>
                    <a:gd name="T29" fmla="*/ 12 h 57"/>
                    <a:gd name="T30" fmla="*/ 8 w 63"/>
                    <a:gd name="T31" fmla="*/ 12 h 57"/>
                    <a:gd name="T32" fmla="*/ 7 w 63"/>
                    <a:gd name="T33" fmla="*/ 12 h 57"/>
                    <a:gd name="T34" fmla="*/ 7 w 63"/>
                    <a:gd name="T35" fmla="*/ 10 h 57"/>
                    <a:gd name="T36" fmla="*/ 7 w 63"/>
                    <a:gd name="T37" fmla="*/ 6 h 57"/>
                    <a:gd name="T38" fmla="*/ 6 w 63"/>
                    <a:gd name="T39" fmla="*/ 1 h 57"/>
                    <a:gd name="T40" fmla="*/ 3 w 63"/>
                    <a:gd name="T41" fmla="*/ 0 h 57"/>
                    <a:gd name="T42" fmla="*/ 0 w 63"/>
                    <a:gd name="T43" fmla="*/ 6 h 57"/>
                    <a:gd name="T44" fmla="*/ 0 w 63"/>
                    <a:gd name="T45" fmla="*/ 11 h 57"/>
                    <a:gd name="T46" fmla="*/ 2 w 63"/>
                    <a:gd name="T47" fmla="*/ 15 h 57"/>
                    <a:gd name="T48" fmla="*/ 5 w 63"/>
                    <a:gd name="T49" fmla="*/ 18 h 5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63"/>
                    <a:gd name="T76" fmla="*/ 0 h 57"/>
                    <a:gd name="T77" fmla="*/ 63 w 63"/>
                    <a:gd name="T78" fmla="*/ 57 h 5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63" h="57">
                      <a:moveTo>
                        <a:pt x="15" y="53"/>
                      </a:moveTo>
                      <a:lnTo>
                        <a:pt x="22" y="54"/>
                      </a:lnTo>
                      <a:lnTo>
                        <a:pt x="34" y="57"/>
                      </a:lnTo>
                      <a:lnTo>
                        <a:pt x="47" y="56"/>
                      </a:lnTo>
                      <a:lnTo>
                        <a:pt x="58" y="50"/>
                      </a:lnTo>
                      <a:lnTo>
                        <a:pt x="61" y="48"/>
                      </a:lnTo>
                      <a:lnTo>
                        <a:pt x="62" y="46"/>
                      </a:lnTo>
                      <a:lnTo>
                        <a:pt x="63" y="43"/>
                      </a:lnTo>
                      <a:lnTo>
                        <a:pt x="62" y="40"/>
                      </a:lnTo>
                      <a:lnTo>
                        <a:pt x="61" y="36"/>
                      </a:lnTo>
                      <a:lnTo>
                        <a:pt x="58" y="33"/>
                      </a:lnTo>
                      <a:lnTo>
                        <a:pt x="53" y="31"/>
                      </a:lnTo>
                      <a:lnTo>
                        <a:pt x="47" y="33"/>
                      </a:lnTo>
                      <a:lnTo>
                        <a:pt x="39" y="36"/>
                      </a:lnTo>
                      <a:lnTo>
                        <a:pt x="30" y="36"/>
                      </a:lnTo>
                      <a:lnTo>
                        <a:pt x="24" y="36"/>
                      </a:lnTo>
                      <a:lnTo>
                        <a:pt x="21" y="36"/>
                      </a:lnTo>
                      <a:lnTo>
                        <a:pt x="21" y="30"/>
                      </a:lnTo>
                      <a:lnTo>
                        <a:pt x="21" y="17"/>
                      </a:lnTo>
                      <a:lnTo>
                        <a:pt x="17" y="4"/>
                      </a:lnTo>
                      <a:lnTo>
                        <a:pt x="8" y="0"/>
                      </a:lnTo>
                      <a:lnTo>
                        <a:pt x="0" y="18"/>
                      </a:lnTo>
                      <a:lnTo>
                        <a:pt x="0" y="34"/>
                      </a:lnTo>
                      <a:lnTo>
                        <a:pt x="6" y="46"/>
                      </a:lnTo>
                      <a:lnTo>
                        <a:pt x="15" y="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7" name="Freeform 70"/>
                <p:cNvSpPr>
                  <a:spLocks/>
                </p:cNvSpPr>
                <p:nvPr/>
              </p:nvSpPr>
              <p:spPr bwMode="auto">
                <a:xfrm>
                  <a:off x="8406" y="4814"/>
                  <a:ext cx="21" cy="19"/>
                </a:xfrm>
                <a:custGeom>
                  <a:avLst/>
                  <a:gdLst>
                    <a:gd name="T0" fmla="*/ 8 w 65"/>
                    <a:gd name="T1" fmla="*/ 17 h 57"/>
                    <a:gd name="T2" fmla="*/ 10 w 65"/>
                    <a:gd name="T3" fmla="*/ 19 h 57"/>
                    <a:gd name="T4" fmla="*/ 13 w 65"/>
                    <a:gd name="T5" fmla="*/ 18 h 57"/>
                    <a:gd name="T6" fmla="*/ 16 w 65"/>
                    <a:gd name="T7" fmla="*/ 17 h 57"/>
                    <a:gd name="T8" fmla="*/ 19 w 65"/>
                    <a:gd name="T9" fmla="*/ 16 h 57"/>
                    <a:gd name="T10" fmla="*/ 20 w 65"/>
                    <a:gd name="T11" fmla="*/ 15 h 57"/>
                    <a:gd name="T12" fmla="*/ 21 w 65"/>
                    <a:gd name="T13" fmla="*/ 14 h 57"/>
                    <a:gd name="T14" fmla="*/ 21 w 65"/>
                    <a:gd name="T15" fmla="*/ 13 h 57"/>
                    <a:gd name="T16" fmla="*/ 20 w 65"/>
                    <a:gd name="T17" fmla="*/ 11 h 57"/>
                    <a:gd name="T18" fmla="*/ 17 w 65"/>
                    <a:gd name="T19" fmla="*/ 9 h 57"/>
                    <a:gd name="T20" fmla="*/ 15 w 65"/>
                    <a:gd name="T21" fmla="*/ 10 h 57"/>
                    <a:gd name="T22" fmla="*/ 13 w 65"/>
                    <a:gd name="T23" fmla="*/ 12 h 57"/>
                    <a:gd name="T24" fmla="*/ 11 w 65"/>
                    <a:gd name="T25" fmla="*/ 13 h 57"/>
                    <a:gd name="T26" fmla="*/ 10 w 65"/>
                    <a:gd name="T27" fmla="*/ 11 h 57"/>
                    <a:gd name="T28" fmla="*/ 8 w 65"/>
                    <a:gd name="T29" fmla="*/ 6 h 57"/>
                    <a:gd name="T30" fmla="*/ 5 w 65"/>
                    <a:gd name="T31" fmla="*/ 2 h 57"/>
                    <a:gd name="T32" fmla="*/ 2 w 65"/>
                    <a:gd name="T33" fmla="*/ 0 h 57"/>
                    <a:gd name="T34" fmla="*/ 0 w 65"/>
                    <a:gd name="T35" fmla="*/ 7 h 57"/>
                    <a:gd name="T36" fmla="*/ 2 w 65"/>
                    <a:gd name="T37" fmla="*/ 12 h 57"/>
                    <a:gd name="T38" fmla="*/ 6 w 65"/>
                    <a:gd name="T39" fmla="*/ 16 h 57"/>
                    <a:gd name="T40" fmla="*/ 8 w 65"/>
                    <a:gd name="T41" fmla="*/ 17 h 57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w 65"/>
                    <a:gd name="T64" fmla="*/ 0 h 57"/>
                    <a:gd name="T65" fmla="*/ 65 w 65"/>
                    <a:gd name="T66" fmla="*/ 57 h 57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T63" t="T64" r="T65" b="T66"/>
                  <a:pathLst>
                    <a:path w="65" h="57">
                      <a:moveTo>
                        <a:pt x="24" y="52"/>
                      </a:moveTo>
                      <a:lnTo>
                        <a:pt x="32" y="57"/>
                      </a:lnTo>
                      <a:lnTo>
                        <a:pt x="41" y="55"/>
                      </a:lnTo>
                      <a:lnTo>
                        <a:pt x="50" y="52"/>
                      </a:lnTo>
                      <a:lnTo>
                        <a:pt x="59" y="48"/>
                      </a:lnTo>
                      <a:lnTo>
                        <a:pt x="63" y="45"/>
                      </a:lnTo>
                      <a:lnTo>
                        <a:pt x="65" y="42"/>
                      </a:lnTo>
                      <a:lnTo>
                        <a:pt x="65" y="38"/>
                      </a:lnTo>
                      <a:lnTo>
                        <a:pt x="63" y="34"/>
                      </a:lnTo>
                      <a:lnTo>
                        <a:pt x="53" y="28"/>
                      </a:lnTo>
                      <a:lnTo>
                        <a:pt x="46" y="29"/>
                      </a:lnTo>
                      <a:lnTo>
                        <a:pt x="40" y="35"/>
                      </a:lnTo>
                      <a:lnTo>
                        <a:pt x="35" y="39"/>
                      </a:lnTo>
                      <a:lnTo>
                        <a:pt x="32" y="32"/>
                      </a:lnTo>
                      <a:lnTo>
                        <a:pt x="25" y="18"/>
                      </a:lnTo>
                      <a:lnTo>
                        <a:pt x="16" y="5"/>
                      </a:lnTo>
                      <a:lnTo>
                        <a:pt x="6" y="0"/>
                      </a:lnTo>
                      <a:lnTo>
                        <a:pt x="0" y="21"/>
                      </a:lnTo>
                      <a:lnTo>
                        <a:pt x="7" y="36"/>
                      </a:lnTo>
                      <a:lnTo>
                        <a:pt x="18" y="48"/>
                      </a:lnTo>
                      <a:lnTo>
                        <a:pt x="24" y="5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8" name="Freeform 71"/>
                <p:cNvSpPr>
                  <a:spLocks/>
                </p:cNvSpPr>
                <p:nvPr/>
              </p:nvSpPr>
              <p:spPr bwMode="auto">
                <a:xfrm>
                  <a:off x="8371" y="4865"/>
                  <a:ext cx="26" cy="26"/>
                </a:xfrm>
                <a:custGeom>
                  <a:avLst/>
                  <a:gdLst>
                    <a:gd name="T0" fmla="*/ 5 w 79"/>
                    <a:gd name="T1" fmla="*/ 22 h 80"/>
                    <a:gd name="T2" fmla="*/ 6 w 79"/>
                    <a:gd name="T3" fmla="*/ 23 h 80"/>
                    <a:gd name="T4" fmla="*/ 8 w 79"/>
                    <a:gd name="T5" fmla="*/ 24 h 80"/>
                    <a:gd name="T6" fmla="*/ 10 w 79"/>
                    <a:gd name="T7" fmla="*/ 25 h 80"/>
                    <a:gd name="T8" fmla="*/ 13 w 79"/>
                    <a:gd name="T9" fmla="*/ 26 h 80"/>
                    <a:gd name="T10" fmla="*/ 15 w 79"/>
                    <a:gd name="T11" fmla="*/ 26 h 80"/>
                    <a:gd name="T12" fmla="*/ 19 w 79"/>
                    <a:gd name="T13" fmla="*/ 25 h 80"/>
                    <a:gd name="T14" fmla="*/ 22 w 79"/>
                    <a:gd name="T15" fmla="*/ 23 h 80"/>
                    <a:gd name="T16" fmla="*/ 24 w 79"/>
                    <a:gd name="T17" fmla="*/ 19 h 80"/>
                    <a:gd name="T18" fmla="*/ 25 w 79"/>
                    <a:gd name="T19" fmla="*/ 18 h 80"/>
                    <a:gd name="T20" fmla="*/ 26 w 79"/>
                    <a:gd name="T21" fmla="*/ 16 h 80"/>
                    <a:gd name="T22" fmla="*/ 26 w 79"/>
                    <a:gd name="T23" fmla="*/ 15 h 80"/>
                    <a:gd name="T24" fmla="*/ 26 w 79"/>
                    <a:gd name="T25" fmla="*/ 14 h 80"/>
                    <a:gd name="T26" fmla="*/ 23 w 79"/>
                    <a:gd name="T27" fmla="*/ 13 h 80"/>
                    <a:gd name="T28" fmla="*/ 20 w 79"/>
                    <a:gd name="T29" fmla="*/ 12 h 80"/>
                    <a:gd name="T30" fmla="*/ 17 w 79"/>
                    <a:gd name="T31" fmla="*/ 13 h 80"/>
                    <a:gd name="T32" fmla="*/ 15 w 79"/>
                    <a:gd name="T33" fmla="*/ 13 h 80"/>
                    <a:gd name="T34" fmla="*/ 13 w 79"/>
                    <a:gd name="T35" fmla="*/ 14 h 80"/>
                    <a:gd name="T36" fmla="*/ 11 w 79"/>
                    <a:gd name="T37" fmla="*/ 15 h 80"/>
                    <a:gd name="T38" fmla="*/ 10 w 79"/>
                    <a:gd name="T39" fmla="*/ 16 h 80"/>
                    <a:gd name="T40" fmla="*/ 10 w 79"/>
                    <a:gd name="T41" fmla="*/ 17 h 80"/>
                    <a:gd name="T42" fmla="*/ 9 w 79"/>
                    <a:gd name="T43" fmla="*/ 14 h 80"/>
                    <a:gd name="T44" fmla="*/ 7 w 79"/>
                    <a:gd name="T45" fmla="*/ 8 h 80"/>
                    <a:gd name="T46" fmla="*/ 4 w 79"/>
                    <a:gd name="T47" fmla="*/ 2 h 80"/>
                    <a:gd name="T48" fmla="*/ 0 w 79"/>
                    <a:gd name="T49" fmla="*/ 0 h 80"/>
                    <a:gd name="T50" fmla="*/ 0 w 79"/>
                    <a:gd name="T51" fmla="*/ 8 h 80"/>
                    <a:gd name="T52" fmla="*/ 2 w 79"/>
                    <a:gd name="T53" fmla="*/ 15 h 80"/>
                    <a:gd name="T54" fmla="*/ 4 w 79"/>
                    <a:gd name="T55" fmla="*/ 20 h 80"/>
                    <a:gd name="T56" fmla="*/ 5 w 79"/>
                    <a:gd name="T57" fmla="*/ 22 h 80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9"/>
                    <a:gd name="T88" fmla="*/ 0 h 80"/>
                    <a:gd name="T89" fmla="*/ 79 w 79"/>
                    <a:gd name="T90" fmla="*/ 80 h 80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9" h="80">
                      <a:moveTo>
                        <a:pt x="16" y="67"/>
                      </a:moveTo>
                      <a:lnTo>
                        <a:pt x="19" y="70"/>
                      </a:lnTo>
                      <a:lnTo>
                        <a:pt x="23" y="73"/>
                      </a:lnTo>
                      <a:lnTo>
                        <a:pt x="31" y="77"/>
                      </a:lnTo>
                      <a:lnTo>
                        <a:pt x="38" y="79"/>
                      </a:lnTo>
                      <a:lnTo>
                        <a:pt x="47" y="80"/>
                      </a:lnTo>
                      <a:lnTo>
                        <a:pt x="57" y="77"/>
                      </a:lnTo>
                      <a:lnTo>
                        <a:pt x="66" y="70"/>
                      </a:lnTo>
                      <a:lnTo>
                        <a:pt x="73" y="59"/>
                      </a:lnTo>
                      <a:lnTo>
                        <a:pt x="76" y="54"/>
                      </a:lnTo>
                      <a:lnTo>
                        <a:pt x="78" y="50"/>
                      </a:lnTo>
                      <a:lnTo>
                        <a:pt x="79" y="46"/>
                      </a:lnTo>
                      <a:lnTo>
                        <a:pt x="78" y="43"/>
                      </a:lnTo>
                      <a:lnTo>
                        <a:pt x="70" y="39"/>
                      </a:lnTo>
                      <a:lnTo>
                        <a:pt x="61" y="37"/>
                      </a:lnTo>
                      <a:lnTo>
                        <a:pt x="53" y="39"/>
                      </a:lnTo>
                      <a:lnTo>
                        <a:pt x="45" y="40"/>
                      </a:lnTo>
                      <a:lnTo>
                        <a:pt x="39" y="44"/>
                      </a:lnTo>
                      <a:lnTo>
                        <a:pt x="34" y="47"/>
                      </a:lnTo>
                      <a:lnTo>
                        <a:pt x="31" y="50"/>
                      </a:lnTo>
                      <a:lnTo>
                        <a:pt x="29" y="52"/>
                      </a:lnTo>
                      <a:lnTo>
                        <a:pt x="28" y="43"/>
                      </a:lnTo>
                      <a:lnTo>
                        <a:pt x="22" y="24"/>
                      </a:lnTo>
                      <a:lnTo>
                        <a:pt x="13" y="6"/>
                      </a:lnTo>
                      <a:lnTo>
                        <a:pt x="1" y="0"/>
                      </a:lnTo>
                      <a:lnTo>
                        <a:pt x="0" y="24"/>
                      </a:lnTo>
                      <a:lnTo>
                        <a:pt x="6" y="46"/>
                      </a:lnTo>
                      <a:lnTo>
                        <a:pt x="13" y="62"/>
                      </a:lnTo>
                      <a:lnTo>
                        <a:pt x="16" y="6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59" name="Freeform 72"/>
                <p:cNvSpPr>
                  <a:spLocks/>
                </p:cNvSpPr>
                <p:nvPr/>
              </p:nvSpPr>
              <p:spPr bwMode="auto">
                <a:xfrm>
                  <a:off x="8399" y="4855"/>
                  <a:ext cx="27" cy="22"/>
                </a:xfrm>
                <a:custGeom>
                  <a:avLst/>
                  <a:gdLst>
                    <a:gd name="T0" fmla="*/ 4 w 79"/>
                    <a:gd name="T1" fmla="*/ 18 h 67"/>
                    <a:gd name="T2" fmla="*/ 5 w 79"/>
                    <a:gd name="T3" fmla="*/ 18 h 67"/>
                    <a:gd name="T4" fmla="*/ 7 w 79"/>
                    <a:gd name="T5" fmla="*/ 19 h 67"/>
                    <a:gd name="T6" fmla="*/ 9 w 79"/>
                    <a:gd name="T7" fmla="*/ 20 h 67"/>
                    <a:gd name="T8" fmla="*/ 12 w 79"/>
                    <a:gd name="T9" fmla="*/ 21 h 67"/>
                    <a:gd name="T10" fmla="*/ 14 w 79"/>
                    <a:gd name="T11" fmla="*/ 22 h 67"/>
                    <a:gd name="T12" fmla="*/ 17 w 79"/>
                    <a:gd name="T13" fmla="*/ 22 h 67"/>
                    <a:gd name="T14" fmla="*/ 20 w 79"/>
                    <a:gd name="T15" fmla="*/ 22 h 67"/>
                    <a:gd name="T16" fmla="*/ 23 w 79"/>
                    <a:gd name="T17" fmla="*/ 21 h 67"/>
                    <a:gd name="T18" fmla="*/ 25 w 79"/>
                    <a:gd name="T19" fmla="*/ 20 h 67"/>
                    <a:gd name="T20" fmla="*/ 26 w 79"/>
                    <a:gd name="T21" fmla="*/ 19 h 67"/>
                    <a:gd name="T22" fmla="*/ 27 w 79"/>
                    <a:gd name="T23" fmla="*/ 17 h 67"/>
                    <a:gd name="T24" fmla="*/ 27 w 79"/>
                    <a:gd name="T25" fmla="*/ 15 h 67"/>
                    <a:gd name="T26" fmla="*/ 25 w 79"/>
                    <a:gd name="T27" fmla="*/ 13 h 67"/>
                    <a:gd name="T28" fmla="*/ 22 w 79"/>
                    <a:gd name="T29" fmla="*/ 12 h 67"/>
                    <a:gd name="T30" fmla="*/ 19 w 79"/>
                    <a:gd name="T31" fmla="*/ 12 h 67"/>
                    <a:gd name="T32" fmla="*/ 16 w 79"/>
                    <a:gd name="T33" fmla="*/ 12 h 67"/>
                    <a:gd name="T34" fmla="*/ 14 w 79"/>
                    <a:gd name="T35" fmla="*/ 12 h 67"/>
                    <a:gd name="T36" fmla="*/ 12 w 79"/>
                    <a:gd name="T37" fmla="*/ 12 h 67"/>
                    <a:gd name="T38" fmla="*/ 10 w 79"/>
                    <a:gd name="T39" fmla="*/ 13 h 67"/>
                    <a:gd name="T40" fmla="*/ 10 w 79"/>
                    <a:gd name="T41" fmla="*/ 13 h 67"/>
                    <a:gd name="T42" fmla="*/ 9 w 79"/>
                    <a:gd name="T43" fmla="*/ 11 h 67"/>
                    <a:gd name="T44" fmla="*/ 8 w 79"/>
                    <a:gd name="T45" fmla="*/ 6 h 67"/>
                    <a:gd name="T46" fmla="*/ 5 w 79"/>
                    <a:gd name="T47" fmla="*/ 1 h 67"/>
                    <a:gd name="T48" fmla="*/ 1 w 79"/>
                    <a:gd name="T49" fmla="*/ 0 h 67"/>
                    <a:gd name="T50" fmla="*/ 0 w 79"/>
                    <a:gd name="T51" fmla="*/ 7 h 67"/>
                    <a:gd name="T52" fmla="*/ 1 w 79"/>
                    <a:gd name="T53" fmla="*/ 12 h 67"/>
                    <a:gd name="T54" fmla="*/ 3 w 79"/>
                    <a:gd name="T55" fmla="*/ 16 h 67"/>
                    <a:gd name="T56" fmla="*/ 4 w 79"/>
                    <a:gd name="T57" fmla="*/ 18 h 67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w 79"/>
                    <a:gd name="T88" fmla="*/ 0 h 67"/>
                    <a:gd name="T89" fmla="*/ 79 w 79"/>
                    <a:gd name="T90" fmla="*/ 67 h 67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T87" t="T88" r="T89" b="T90"/>
                  <a:pathLst>
                    <a:path w="79" h="67">
                      <a:moveTo>
                        <a:pt x="13" y="54"/>
                      </a:moveTo>
                      <a:lnTo>
                        <a:pt x="16" y="56"/>
                      </a:lnTo>
                      <a:lnTo>
                        <a:pt x="20" y="59"/>
                      </a:lnTo>
                      <a:lnTo>
                        <a:pt x="26" y="61"/>
                      </a:lnTo>
                      <a:lnTo>
                        <a:pt x="34" y="64"/>
                      </a:lnTo>
                      <a:lnTo>
                        <a:pt x="41" y="67"/>
                      </a:lnTo>
                      <a:lnTo>
                        <a:pt x="50" y="67"/>
                      </a:lnTo>
                      <a:lnTo>
                        <a:pt x="59" y="67"/>
                      </a:lnTo>
                      <a:lnTo>
                        <a:pt x="66" y="64"/>
                      </a:lnTo>
                      <a:lnTo>
                        <a:pt x="72" y="61"/>
                      </a:lnTo>
                      <a:lnTo>
                        <a:pt x="76" y="57"/>
                      </a:lnTo>
                      <a:lnTo>
                        <a:pt x="79" y="53"/>
                      </a:lnTo>
                      <a:lnTo>
                        <a:pt x="78" y="47"/>
                      </a:lnTo>
                      <a:lnTo>
                        <a:pt x="72" y="41"/>
                      </a:lnTo>
                      <a:lnTo>
                        <a:pt x="65" y="37"/>
                      </a:lnTo>
                      <a:lnTo>
                        <a:pt x="56" y="36"/>
                      </a:lnTo>
                      <a:lnTo>
                        <a:pt x="48" y="36"/>
                      </a:lnTo>
                      <a:lnTo>
                        <a:pt x="40" y="37"/>
                      </a:lnTo>
                      <a:lnTo>
                        <a:pt x="34" y="38"/>
                      </a:lnTo>
                      <a:lnTo>
                        <a:pt x="29" y="40"/>
                      </a:lnTo>
                      <a:lnTo>
                        <a:pt x="28" y="40"/>
                      </a:lnTo>
                      <a:lnTo>
                        <a:pt x="26" y="33"/>
                      </a:lnTo>
                      <a:lnTo>
                        <a:pt x="22" y="17"/>
                      </a:lnTo>
                      <a:lnTo>
                        <a:pt x="15" y="4"/>
                      </a:lnTo>
                      <a:lnTo>
                        <a:pt x="3" y="0"/>
                      </a:lnTo>
                      <a:lnTo>
                        <a:pt x="0" y="21"/>
                      </a:lnTo>
                      <a:lnTo>
                        <a:pt x="4" y="38"/>
                      </a:lnTo>
                      <a:lnTo>
                        <a:pt x="10" y="50"/>
                      </a:lnTo>
                      <a:lnTo>
                        <a:pt x="13" y="5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0" name="Freeform 73"/>
                <p:cNvSpPr>
                  <a:spLocks/>
                </p:cNvSpPr>
                <p:nvPr/>
              </p:nvSpPr>
              <p:spPr bwMode="auto">
                <a:xfrm>
                  <a:off x="8429" y="4851"/>
                  <a:ext cx="26" cy="20"/>
                </a:xfrm>
                <a:custGeom>
                  <a:avLst/>
                  <a:gdLst>
                    <a:gd name="T0" fmla="*/ 3 w 77"/>
                    <a:gd name="T1" fmla="*/ 19 h 62"/>
                    <a:gd name="T2" fmla="*/ 6 w 77"/>
                    <a:gd name="T3" fmla="*/ 19 h 62"/>
                    <a:gd name="T4" fmla="*/ 9 w 77"/>
                    <a:gd name="T5" fmla="*/ 20 h 62"/>
                    <a:gd name="T6" fmla="*/ 14 w 77"/>
                    <a:gd name="T7" fmla="*/ 20 h 62"/>
                    <a:gd name="T8" fmla="*/ 18 w 77"/>
                    <a:gd name="T9" fmla="*/ 19 h 62"/>
                    <a:gd name="T10" fmla="*/ 22 w 77"/>
                    <a:gd name="T11" fmla="*/ 19 h 62"/>
                    <a:gd name="T12" fmla="*/ 24 w 77"/>
                    <a:gd name="T13" fmla="*/ 18 h 62"/>
                    <a:gd name="T14" fmla="*/ 26 w 77"/>
                    <a:gd name="T15" fmla="*/ 16 h 62"/>
                    <a:gd name="T16" fmla="*/ 25 w 77"/>
                    <a:gd name="T17" fmla="*/ 14 h 62"/>
                    <a:gd name="T18" fmla="*/ 23 w 77"/>
                    <a:gd name="T19" fmla="*/ 12 h 62"/>
                    <a:gd name="T20" fmla="*/ 21 w 77"/>
                    <a:gd name="T21" fmla="*/ 11 h 62"/>
                    <a:gd name="T22" fmla="*/ 18 w 77"/>
                    <a:gd name="T23" fmla="*/ 10 h 62"/>
                    <a:gd name="T24" fmla="*/ 16 w 77"/>
                    <a:gd name="T25" fmla="*/ 10 h 62"/>
                    <a:gd name="T26" fmla="*/ 13 w 77"/>
                    <a:gd name="T27" fmla="*/ 11 h 62"/>
                    <a:gd name="T28" fmla="*/ 11 w 77"/>
                    <a:gd name="T29" fmla="*/ 11 h 62"/>
                    <a:gd name="T30" fmla="*/ 9 w 77"/>
                    <a:gd name="T31" fmla="*/ 12 h 62"/>
                    <a:gd name="T32" fmla="*/ 9 w 77"/>
                    <a:gd name="T33" fmla="*/ 12 h 62"/>
                    <a:gd name="T34" fmla="*/ 8 w 77"/>
                    <a:gd name="T35" fmla="*/ 10 h 62"/>
                    <a:gd name="T36" fmla="*/ 7 w 77"/>
                    <a:gd name="T37" fmla="*/ 5 h 62"/>
                    <a:gd name="T38" fmla="*/ 5 w 77"/>
                    <a:gd name="T39" fmla="*/ 1 h 62"/>
                    <a:gd name="T40" fmla="*/ 1 w 77"/>
                    <a:gd name="T41" fmla="*/ 0 h 62"/>
                    <a:gd name="T42" fmla="*/ 0 w 77"/>
                    <a:gd name="T43" fmla="*/ 5 h 62"/>
                    <a:gd name="T44" fmla="*/ 1 w 77"/>
                    <a:gd name="T45" fmla="*/ 12 h 62"/>
                    <a:gd name="T46" fmla="*/ 3 w 77"/>
                    <a:gd name="T47" fmla="*/ 17 h 62"/>
                    <a:gd name="T48" fmla="*/ 3 w 77"/>
                    <a:gd name="T49" fmla="*/ 19 h 62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77"/>
                    <a:gd name="T76" fmla="*/ 0 h 62"/>
                    <a:gd name="T77" fmla="*/ 77 w 77"/>
                    <a:gd name="T78" fmla="*/ 62 h 62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77" h="62">
                      <a:moveTo>
                        <a:pt x="9" y="58"/>
                      </a:moveTo>
                      <a:lnTo>
                        <a:pt x="17" y="60"/>
                      </a:lnTo>
                      <a:lnTo>
                        <a:pt x="27" y="62"/>
                      </a:lnTo>
                      <a:lnTo>
                        <a:pt x="40" y="62"/>
                      </a:lnTo>
                      <a:lnTo>
                        <a:pt x="53" y="60"/>
                      </a:lnTo>
                      <a:lnTo>
                        <a:pt x="65" y="58"/>
                      </a:lnTo>
                      <a:lnTo>
                        <a:pt x="72" y="55"/>
                      </a:lnTo>
                      <a:lnTo>
                        <a:pt x="77" y="49"/>
                      </a:lnTo>
                      <a:lnTo>
                        <a:pt x="75" y="42"/>
                      </a:lnTo>
                      <a:lnTo>
                        <a:pt x="69" y="36"/>
                      </a:lnTo>
                      <a:lnTo>
                        <a:pt x="62" y="33"/>
                      </a:lnTo>
                      <a:lnTo>
                        <a:pt x="53" y="32"/>
                      </a:lnTo>
                      <a:lnTo>
                        <a:pt x="46" y="32"/>
                      </a:lnTo>
                      <a:lnTo>
                        <a:pt x="39" y="33"/>
                      </a:lnTo>
                      <a:lnTo>
                        <a:pt x="33" y="35"/>
                      </a:lnTo>
                      <a:lnTo>
                        <a:pt x="28" y="37"/>
                      </a:lnTo>
                      <a:lnTo>
                        <a:pt x="27" y="37"/>
                      </a:lnTo>
                      <a:lnTo>
                        <a:pt x="25" y="30"/>
                      </a:lnTo>
                      <a:lnTo>
                        <a:pt x="21" y="16"/>
                      </a:lnTo>
                      <a:lnTo>
                        <a:pt x="14" y="3"/>
                      </a:lnTo>
                      <a:lnTo>
                        <a:pt x="2" y="0"/>
                      </a:lnTo>
                      <a:lnTo>
                        <a:pt x="0" y="17"/>
                      </a:lnTo>
                      <a:lnTo>
                        <a:pt x="3" y="36"/>
                      </a:lnTo>
                      <a:lnTo>
                        <a:pt x="8" y="52"/>
                      </a:lnTo>
                      <a:lnTo>
                        <a:pt x="9" y="5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1" name="Freeform 74"/>
                <p:cNvSpPr>
                  <a:spLocks/>
                </p:cNvSpPr>
                <p:nvPr/>
              </p:nvSpPr>
              <p:spPr bwMode="auto">
                <a:xfrm>
                  <a:off x="8258" y="4730"/>
                  <a:ext cx="122" cy="281"/>
                </a:xfrm>
                <a:custGeom>
                  <a:avLst/>
                  <a:gdLst>
                    <a:gd name="T0" fmla="*/ 4 w 366"/>
                    <a:gd name="T1" fmla="*/ 50 h 845"/>
                    <a:gd name="T2" fmla="*/ 5 w 366"/>
                    <a:gd name="T3" fmla="*/ 80 h 845"/>
                    <a:gd name="T4" fmla="*/ 15 w 366"/>
                    <a:gd name="T5" fmla="*/ 115 h 845"/>
                    <a:gd name="T6" fmla="*/ 28 w 366"/>
                    <a:gd name="T7" fmla="*/ 155 h 845"/>
                    <a:gd name="T8" fmla="*/ 41 w 366"/>
                    <a:gd name="T9" fmla="*/ 194 h 845"/>
                    <a:gd name="T10" fmla="*/ 54 w 366"/>
                    <a:gd name="T11" fmla="*/ 232 h 845"/>
                    <a:gd name="T12" fmla="*/ 65 w 366"/>
                    <a:gd name="T13" fmla="*/ 259 h 845"/>
                    <a:gd name="T14" fmla="*/ 76 w 366"/>
                    <a:gd name="T15" fmla="*/ 269 h 845"/>
                    <a:gd name="T16" fmla="*/ 90 w 366"/>
                    <a:gd name="T17" fmla="*/ 276 h 845"/>
                    <a:gd name="T18" fmla="*/ 105 w 366"/>
                    <a:gd name="T19" fmla="*/ 280 h 845"/>
                    <a:gd name="T20" fmla="*/ 116 w 366"/>
                    <a:gd name="T21" fmla="*/ 280 h 845"/>
                    <a:gd name="T22" fmla="*/ 120 w 366"/>
                    <a:gd name="T23" fmla="*/ 277 h 845"/>
                    <a:gd name="T24" fmla="*/ 122 w 366"/>
                    <a:gd name="T25" fmla="*/ 271 h 845"/>
                    <a:gd name="T26" fmla="*/ 118 w 366"/>
                    <a:gd name="T27" fmla="*/ 267 h 845"/>
                    <a:gd name="T28" fmla="*/ 110 w 366"/>
                    <a:gd name="T29" fmla="*/ 265 h 845"/>
                    <a:gd name="T30" fmla="*/ 98 w 366"/>
                    <a:gd name="T31" fmla="*/ 262 h 845"/>
                    <a:gd name="T32" fmla="*/ 88 w 366"/>
                    <a:gd name="T33" fmla="*/ 259 h 845"/>
                    <a:gd name="T34" fmla="*/ 80 w 366"/>
                    <a:gd name="T35" fmla="*/ 252 h 845"/>
                    <a:gd name="T36" fmla="*/ 72 w 366"/>
                    <a:gd name="T37" fmla="*/ 235 h 845"/>
                    <a:gd name="T38" fmla="*/ 65 w 366"/>
                    <a:gd name="T39" fmla="*/ 214 h 845"/>
                    <a:gd name="T40" fmla="*/ 57 w 366"/>
                    <a:gd name="T41" fmla="*/ 192 h 845"/>
                    <a:gd name="T42" fmla="*/ 50 w 366"/>
                    <a:gd name="T43" fmla="*/ 170 h 845"/>
                    <a:gd name="T44" fmla="*/ 42 w 366"/>
                    <a:gd name="T45" fmla="*/ 145 h 845"/>
                    <a:gd name="T46" fmla="*/ 31 w 366"/>
                    <a:gd name="T47" fmla="*/ 116 h 845"/>
                    <a:gd name="T48" fmla="*/ 22 w 366"/>
                    <a:gd name="T49" fmla="*/ 87 h 845"/>
                    <a:gd name="T50" fmla="*/ 16 w 366"/>
                    <a:gd name="T51" fmla="*/ 58 h 845"/>
                    <a:gd name="T52" fmla="*/ 15 w 366"/>
                    <a:gd name="T53" fmla="*/ 37 h 845"/>
                    <a:gd name="T54" fmla="*/ 12 w 366"/>
                    <a:gd name="T55" fmla="*/ 22 h 845"/>
                    <a:gd name="T56" fmla="*/ 7 w 366"/>
                    <a:gd name="T57" fmla="*/ 9 h 845"/>
                    <a:gd name="T58" fmla="*/ 2 w 366"/>
                    <a:gd name="T59" fmla="*/ 0 h 845"/>
                    <a:gd name="T60" fmla="*/ 2 w 366"/>
                    <a:gd name="T61" fmla="*/ 6 h 845"/>
                    <a:gd name="T62" fmla="*/ 4 w 366"/>
                    <a:gd name="T63" fmla="*/ 25 h 845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w 366"/>
                    <a:gd name="T97" fmla="*/ 0 h 845"/>
                    <a:gd name="T98" fmla="*/ 366 w 366"/>
                    <a:gd name="T99" fmla="*/ 845 h 845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T96" t="T97" r="T98" b="T99"/>
                  <a:pathLst>
                    <a:path w="366" h="845">
                      <a:moveTo>
                        <a:pt x="15" y="104"/>
                      </a:moveTo>
                      <a:lnTo>
                        <a:pt x="12" y="150"/>
                      </a:lnTo>
                      <a:lnTo>
                        <a:pt x="12" y="196"/>
                      </a:lnTo>
                      <a:lnTo>
                        <a:pt x="16" y="241"/>
                      </a:lnTo>
                      <a:lnTo>
                        <a:pt x="27" y="286"/>
                      </a:lnTo>
                      <a:lnTo>
                        <a:pt x="46" y="346"/>
                      </a:lnTo>
                      <a:lnTo>
                        <a:pt x="65" y="406"/>
                      </a:lnTo>
                      <a:lnTo>
                        <a:pt x="84" y="465"/>
                      </a:lnTo>
                      <a:lnTo>
                        <a:pt x="103" y="524"/>
                      </a:lnTo>
                      <a:lnTo>
                        <a:pt x="122" y="583"/>
                      </a:lnTo>
                      <a:lnTo>
                        <a:pt x="143" y="640"/>
                      </a:lnTo>
                      <a:lnTo>
                        <a:pt x="163" y="699"/>
                      </a:lnTo>
                      <a:lnTo>
                        <a:pt x="185" y="758"/>
                      </a:lnTo>
                      <a:lnTo>
                        <a:pt x="195" y="778"/>
                      </a:lnTo>
                      <a:lnTo>
                        <a:pt x="210" y="796"/>
                      </a:lnTo>
                      <a:lnTo>
                        <a:pt x="228" y="810"/>
                      </a:lnTo>
                      <a:lnTo>
                        <a:pt x="247" y="822"/>
                      </a:lnTo>
                      <a:lnTo>
                        <a:pt x="269" y="830"/>
                      </a:lnTo>
                      <a:lnTo>
                        <a:pt x="292" y="837"/>
                      </a:lnTo>
                      <a:lnTo>
                        <a:pt x="316" y="842"/>
                      </a:lnTo>
                      <a:lnTo>
                        <a:pt x="339" y="845"/>
                      </a:lnTo>
                      <a:lnTo>
                        <a:pt x="348" y="843"/>
                      </a:lnTo>
                      <a:lnTo>
                        <a:pt x="355" y="840"/>
                      </a:lnTo>
                      <a:lnTo>
                        <a:pt x="361" y="833"/>
                      </a:lnTo>
                      <a:lnTo>
                        <a:pt x="366" y="824"/>
                      </a:lnTo>
                      <a:lnTo>
                        <a:pt x="366" y="816"/>
                      </a:lnTo>
                      <a:lnTo>
                        <a:pt x="361" y="809"/>
                      </a:lnTo>
                      <a:lnTo>
                        <a:pt x="354" y="803"/>
                      </a:lnTo>
                      <a:lnTo>
                        <a:pt x="345" y="800"/>
                      </a:lnTo>
                      <a:lnTo>
                        <a:pt x="329" y="796"/>
                      </a:lnTo>
                      <a:lnTo>
                        <a:pt x="313" y="793"/>
                      </a:lnTo>
                      <a:lnTo>
                        <a:pt x="295" y="788"/>
                      </a:lnTo>
                      <a:lnTo>
                        <a:pt x="279" y="784"/>
                      </a:lnTo>
                      <a:lnTo>
                        <a:pt x="264" y="778"/>
                      </a:lnTo>
                      <a:lnTo>
                        <a:pt x="251" y="768"/>
                      </a:lnTo>
                      <a:lnTo>
                        <a:pt x="239" y="757"/>
                      </a:lnTo>
                      <a:lnTo>
                        <a:pt x="231" y="741"/>
                      </a:lnTo>
                      <a:lnTo>
                        <a:pt x="217" y="708"/>
                      </a:lnTo>
                      <a:lnTo>
                        <a:pt x="206" y="676"/>
                      </a:lnTo>
                      <a:lnTo>
                        <a:pt x="194" y="643"/>
                      </a:lnTo>
                      <a:lnTo>
                        <a:pt x="184" y="610"/>
                      </a:lnTo>
                      <a:lnTo>
                        <a:pt x="172" y="577"/>
                      </a:lnTo>
                      <a:lnTo>
                        <a:pt x="162" y="544"/>
                      </a:lnTo>
                      <a:lnTo>
                        <a:pt x="151" y="511"/>
                      </a:lnTo>
                      <a:lnTo>
                        <a:pt x="141" y="478"/>
                      </a:lnTo>
                      <a:lnTo>
                        <a:pt x="126" y="435"/>
                      </a:lnTo>
                      <a:lnTo>
                        <a:pt x="110" y="392"/>
                      </a:lnTo>
                      <a:lnTo>
                        <a:pt x="94" y="349"/>
                      </a:lnTo>
                      <a:lnTo>
                        <a:pt x="79" y="306"/>
                      </a:lnTo>
                      <a:lnTo>
                        <a:pt x="65" y="263"/>
                      </a:lnTo>
                      <a:lnTo>
                        <a:pt x="54" y="219"/>
                      </a:lnTo>
                      <a:lnTo>
                        <a:pt x="49" y="175"/>
                      </a:lnTo>
                      <a:lnTo>
                        <a:pt x="47" y="129"/>
                      </a:lnTo>
                      <a:lnTo>
                        <a:pt x="46" y="110"/>
                      </a:lnTo>
                      <a:lnTo>
                        <a:pt x="41" y="89"/>
                      </a:lnTo>
                      <a:lnTo>
                        <a:pt x="35" y="67"/>
                      </a:lnTo>
                      <a:lnTo>
                        <a:pt x="28" y="46"/>
                      </a:lnTo>
                      <a:lnTo>
                        <a:pt x="21" y="27"/>
                      </a:lnTo>
                      <a:lnTo>
                        <a:pt x="13" y="11"/>
                      </a:lnTo>
                      <a:lnTo>
                        <a:pt x="6" y="1"/>
                      </a:lnTo>
                      <a:lnTo>
                        <a:pt x="0" y="0"/>
                      </a:lnTo>
                      <a:lnTo>
                        <a:pt x="5" y="17"/>
                      </a:lnTo>
                      <a:lnTo>
                        <a:pt x="10" y="44"/>
                      </a:lnTo>
                      <a:lnTo>
                        <a:pt x="13" y="76"/>
                      </a:lnTo>
                      <a:lnTo>
                        <a:pt x="15" y="104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2" name="Freeform 75"/>
                <p:cNvSpPr>
                  <a:spLocks/>
                </p:cNvSpPr>
                <p:nvPr/>
              </p:nvSpPr>
              <p:spPr bwMode="auto">
                <a:xfrm>
                  <a:off x="8517" y="4850"/>
                  <a:ext cx="29" cy="29"/>
                </a:xfrm>
                <a:custGeom>
                  <a:avLst/>
                  <a:gdLst>
                    <a:gd name="T0" fmla="*/ 28 w 88"/>
                    <a:gd name="T1" fmla="*/ 8 h 87"/>
                    <a:gd name="T2" fmla="*/ 29 w 88"/>
                    <a:gd name="T3" fmla="*/ 6 h 87"/>
                    <a:gd name="T4" fmla="*/ 29 w 88"/>
                    <a:gd name="T5" fmla="*/ 4 h 87"/>
                    <a:gd name="T6" fmla="*/ 28 w 88"/>
                    <a:gd name="T7" fmla="*/ 2 h 87"/>
                    <a:gd name="T8" fmla="*/ 25 w 88"/>
                    <a:gd name="T9" fmla="*/ 1 h 87"/>
                    <a:gd name="T10" fmla="*/ 23 w 88"/>
                    <a:gd name="T11" fmla="*/ 0 h 87"/>
                    <a:gd name="T12" fmla="*/ 20 w 88"/>
                    <a:gd name="T13" fmla="*/ 0 h 87"/>
                    <a:gd name="T14" fmla="*/ 18 w 88"/>
                    <a:gd name="T15" fmla="*/ 0 h 87"/>
                    <a:gd name="T16" fmla="*/ 15 w 88"/>
                    <a:gd name="T17" fmla="*/ 2 h 87"/>
                    <a:gd name="T18" fmla="*/ 14 w 88"/>
                    <a:gd name="T19" fmla="*/ 4 h 87"/>
                    <a:gd name="T20" fmla="*/ 11 w 88"/>
                    <a:gd name="T21" fmla="*/ 7 h 87"/>
                    <a:gd name="T22" fmla="*/ 8 w 88"/>
                    <a:gd name="T23" fmla="*/ 10 h 87"/>
                    <a:gd name="T24" fmla="*/ 5 w 88"/>
                    <a:gd name="T25" fmla="*/ 14 h 87"/>
                    <a:gd name="T26" fmla="*/ 3 w 88"/>
                    <a:gd name="T27" fmla="*/ 19 h 87"/>
                    <a:gd name="T28" fmla="*/ 1 w 88"/>
                    <a:gd name="T29" fmla="*/ 23 h 87"/>
                    <a:gd name="T30" fmla="*/ 0 w 88"/>
                    <a:gd name="T31" fmla="*/ 26 h 87"/>
                    <a:gd name="T32" fmla="*/ 1 w 88"/>
                    <a:gd name="T33" fmla="*/ 29 h 87"/>
                    <a:gd name="T34" fmla="*/ 5 w 88"/>
                    <a:gd name="T35" fmla="*/ 27 h 87"/>
                    <a:gd name="T36" fmla="*/ 9 w 88"/>
                    <a:gd name="T37" fmla="*/ 23 h 87"/>
                    <a:gd name="T38" fmla="*/ 13 w 88"/>
                    <a:gd name="T39" fmla="*/ 20 h 87"/>
                    <a:gd name="T40" fmla="*/ 17 w 88"/>
                    <a:gd name="T41" fmla="*/ 17 h 87"/>
                    <a:gd name="T42" fmla="*/ 21 w 88"/>
                    <a:gd name="T43" fmla="*/ 14 h 87"/>
                    <a:gd name="T44" fmla="*/ 24 w 88"/>
                    <a:gd name="T45" fmla="*/ 11 h 87"/>
                    <a:gd name="T46" fmla="*/ 26 w 88"/>
                    <a:gd name="T47" fmla="*/ 9 h 87"/>
                    <a:gd name="T48" fmla="*/ 28 w 88"/>
                    <a:gd name="T49" fmla="*/ 8 h 87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88"/>
                    <a:gd name="T76" fmla="*/ 0 h 87"/>
                    <a:gd name="T77" fmla="*/ 88 w 88"/>
                    <a:gd name="T78" fmla="*/ 87 h 87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88" h="87">
                      <a:moveTo>
                        <a:pt x="84" y="23"/>
                      </a:moveTo>
                      <a:lnTo>
                        <a:pt x="88" y="18"/>
                      </a:lnTo>
                      <a:lnTo>
                        <a:pt x="87" y="13"/>
                      </a:lnTo>
                      <a:lnTo>
                        <a:pt x="84" y="7"/>
                      </a:lnTo>
                      <a:lnTo>
                        <a:pt x="77" y="3"/>
                      </a:lnTo>
                      <a:lnTo>
                        <a:pt x="71" y="0"/>
                      </a:lnTo>
                      <a:lnTo>
                        <a:pt x="62" y="0"/>
                      </a:lnTo>
                      <a:lnTo>
                        <a:pt x="55" y="1"/>
                      </a:lnTo>
                      <a:lnTo>
                        <a:pt x="47" y="5"/>
                      </a:lnTo>
                      <a:lnTo>
                        <a:pt x="41" y="11"/>
                      </a:lnTo>
                      <a:lnTo>
                        <a:pt x="34" y="20"/>
                      </a:lnTo>
                      <a:lnTo>
                        <a:pt x="25" y="31"/>
                      </a:lnTo>
                      <a:lnTo>
                        <a:pt x="16" y="43"/>
                      </a:lnTo>
                      <a:lnTo>
                        <a:pt x="9" y="56"/>
                      </a:lnTo>
                      <a:lnTo>
                        <a:pt x="3" y="69"/>
                      </a:lnTo>
                      <a:lnTo>
                        <a:pt x="0" y="79"/>
                      </a:lnTo>
                      <a:lnTo>
                        <a:pt x="3" y="87"/>
                      </a:lnTo>
                      <a:lnTo>
                        <a:pt x="15" y="80"/>
                      </a:lnTo>
                      <a:lnTo>
                        <a:pt x="27" y="70"/>
                      </a:lnTo>
                      <a:lnTo>
                        <a:pt x="40" y="60"/>
                      </a:lnTo>
                      <a:lnTo>
                        <a:pt x="52" y="50"/>
                      </a:lnTo>
                      <a:lnTo>
                        <a:pt x="63" y="41"/>
                      </a:lnTo>
                      <a:lnTo>
                        <a:pt x="72" y="33"/>
                      </a:lnTo>
                      <a:lnTo>
                        <a:pt x="80" y="27"/>
                      </a:lnTo>
                      <a:lnTo>
                        <a:pt x="84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3" name="Freeform 76"/>
                <p:cNvSpPr>
                  <a:spLocks/>
                </p:cNvSpPr>
                <p:nvPr/>
              </p:nvSpPr>
              <p:spPr bwMode="auto">
                <a:xfrm>
                  <a:off x="8536" y="4890"/>
                  <a:ext cx="34" cy="9"/>
                </a:xfrm>
                <a:custGeom>
                  <a:avLst/>
                  <a:gdLst>
                    <a:gd name="T0" fmla="*/ 31 w 102"/>
                    <a:gd name="T1" fmla="*/ 7 h 28"/>
                    <a:gd name="T2" fmla="*/ 32 w 102"/>
                    <a:gd name="T3" fmla="*/ 7 h 28"/>
                    <a:gd name="T4" fmla="*/ 33 w 102"/>
                    <a:gd name="T5" fmla="*/ 6 h 28"/>
                    <a:gd name="T6" fmla="*/ 34 w 102"/>
                    <a:gd name="T7" fmla="*/ 5 h 28"/>
                    <a:gd name="T8" fmla="*/ 34 w 102"/>
                    <a:gd name="T9" fmla="*/ 3 h 28"/>
                    <a:gd name="T10" fmla="*/ 34 w 102"/>
                    <a:gd name="T11" fmla="*/ 2 h 28"/>
                    <a:gd name="T12" fmla="*/ 33 w 102"/>
                    <a:gd name="T13" fmla="*/ 0 h 28"/>
                    <a:gd name="T14" fmla="*/ 31 w 102"/>
                    <a:gd name="T15" fmla="*/ 0 h 28"/>
                    <a:gd name="T16" fmla="*/ 29 w 102"/>
                    <a:gd name="T17" fmla="*/ 0 h 28"/>
                    <a:gd name="T18" fmla="*/ 25 w 102"/>
                    <a:gd name="T19" fmla="*/ 1 h 28"/>
                    <a:gd name="T20" fmla="*/ 20 w 102"/>
                    <a:gd name="T21" fmla="*/ 2 h 28"/>
                    <a:gd name="T22" fmla="*/ 15 w 102"/>
                    <a:gd name="T23" fmla="*/ 3 h 28"/>
                    <a:gd name="T24" fmla="*/ 11 w 102"/>
                    <a:gd name="T25" fmla="*/ 4 h 28"/>
                    <a:gd name="T26" fmla="*/ 7 w 102"/>
                    <a:gd name="T27" fmla="*/ 5 h 28"/>
                    <a:gd name="T28" fmla="*/ 3 w 102"/>
                    <a:gd name="T29" fmla="*/ 6 h 28"/>
                    <a:gd name="T30" fmla="*/ 1 w 102"/>
                    <a:gd name="T31" fmla="*/ 7 h 28"/>
                    <a:gd name="T32" fmla="*/ 0 w 102"/>
                    <a:gd name="T33" fmla="*/ 9 h 28"/>
                    <a:gd name="T34" fmla="*/ 3 w 102"/>
                    <a:gd name="T35" fmla="*/ 9 h 28"/>
                    <a:gd name="T36" fmla="*/ 7 w 102"/>
                    <a:gd name="T37" fmla="*/ 9 h 28"/>
                    <a:gd name="T38" fmla="*/ 11 w 102"/>
                    <a:gd name="T39" fmla="*/ 9 h 28"/>
                    <a:gd name="T40" fmla="*/ 15 w 102"/>
                    <a:gd name="T41" fmla="*/ 9 h 28"/>
                    <a:gd name="T42" fmla="*/ 18 w 102"/>
                    <a:gd name="T43" fmla="*/ 8 h 28"/>
                    <a:gd name="T44" fmla="*/ 22 w 102"/>
                    <a:gd name="T45" fmla="*/ 8 h 28"/>
                    <a:gd name="T46" fmla="*/ 27 w 102"/>
                    <a:gd name="T47" fmla="*/ 8 h 28"/>
                    <a:gd name="T48" fmla="*/ 31 w 102"/>
                    <a:gd name="T49" fmla="*/ 7 h 28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02"/>
                    <a:gd name="T76" fmla="*/ 0 h 28"/>
                    <a:gd name="T77" fmla="*/ 102 w 102"/>
                    <a:gd name="T78" fmla="*/ 28 h 28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02" h="28">
                      <a:moveTo>
                        <a:pt x="92" y="23"/>
                      </a:moveTo>
                      <a:lnTo>
                        <a:pt x="96" y="21"/>
                      </a:lnTo>
                      <a:lnTo>
                        <a:pt x="99" y="18"/>
                      </a:lnTo>
                      <a:lnTo>
                        <a:pt x="101" y="14"/>
                      </a:lnTo>
                      <a:lnTo>
                        <a:pt x="102" y="10"/>
                      </a:lnTo>
                      <a:lnTo>
                        <a:pt x="101" y="5"/>
                      </a:lnTo>
                      <a:lnTo>
                        <a:pt x="98" y="1"/>
                      </a:lnTo>
                      <a:lnTo>
                        <a:pt x="93" y="0"/>
                      </a:lnTo>
                      <a:lnTo>
                        <a:pt x="88" y="0"/>
                      </a:lnTo>
                      <a:lnTo>
                        <a:pt x="76" y="2"/>
                      </a:lnTo>
                      <a:lnTo>
                        <a:pt x="61" y="7"/>
                      </a:lnTo>
                      <a:lnTo>
                        <a:pt x="46" y="10"/>
                      </a:lnTo>
                      <a:lnTo>
                        <a:pt x="33" y="11"/>
                      </a:lnTo>
                      <a:lnTo>
                        <a:pt x="20" y="15"/>
                      </a:lnTo>
                      <a:lnTo>
                        <a:pt x="10" y="18"/>
                      </a:lnTo>
                      <a:lnTo>
                        <a:pt x="2" y="23"/>
                      </a:lnTo>
                      <a:lnTo>
                        <a:pt x="0" y="28"/>
                      </a:lnTo>
                      <a:lnTo>
                        <a:pt x="10" y="28"/>
                      </a:lnTo>
                      <a:lnTo>
                        <a:pt x="20" y="28"/>
                      </a:lnTo>
                      <a:lnTo>
                        <a:pt x="32" y="27"/>
                      </a:lnTo>
                      <a:lnTo>
                        <a:pt x="44" y="27"/>
                      </a:lnTo>
                      <a:lnTo>
                        <a:pt x="55" y="25"/>
                      </a:lnTo>
                      <a:lnTo>
                        <a:pt x="67" y="24"/>
                      </a:lnTo>
                      <a:lnTo>
                        <a:pt x="80" y="24"/>
                      </a:lnTo>
                      <a:lnTo>
                        <a:pt x="92" y="2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4" name="Freeform 77"/>
                <p:cNvSpPr>
                  <a:spLocks/>
                </p:cNvSpPr>
                <p:nvPr/>
              </p:nvSpPr>
              <p:spPr bwMode="auto">
                <a:xfrm>
                  <a:off x="8550" y="4921"/>
                  <a:ext cx="47" cy="12"/>
                </a:xfrm>
                <a:custGeom>
                  <a:avLst/>
                  <a:gdLst>
                    <a:gd name="T0" fmla="*/ 41 w 142"/>
                    <a:gd name="T1" fmla="*/ 12 h 36"/>
                    <a:gd name="T2" fmla="*/ 43 w 142"/>
                    <a:gd name="T3" fmla="*/ 12 h 36"/>
                    <a:gd name="T4" fmla="*/ 45 w 142"/>
                    <a:gd name="T5" fmla="*/ 11 h 36"/>
                    <a:gd name="T6" fmla="*/ 46 w 142"/>
                    <a:gd name="T7" fmla="*/ 9 h 36"/>
                    <a:gd name="T8" fmla="*/ 47 w 142"/>
                    <a:gd name="T9" fmla="*/ 7 h 36"/>
                    <a:gd name="T10" fmla="*/ 47 w 142"/>
                    <a:gd name="T11" fmla="*/ 5 h 36"/>
                    <a:gd name="T12" fmla="*/ 46 w 142"/>
                    <a:gd name="T13" fmla="*/ 3 h 36"/>
                    <a:gd name="T14" fmla="*/ 44 w 142"/>
                    <a:gd name="T15" fmla="*/ 2 h 36"/>
                    <a:gd name="T16" fmla="*/ 42 w 142"/>
                    <a:gd name="T17" fmla="*/ 1 h 36"/>
                    <a:gd name="T18" fmla="*/ 36 w 142"/>
                    <a:gd name="T19" fmla="*/ 1 h 36"/>
                    <a:gd name="T20" fmla="*/ 29 w 142"/>
                    <a:gd name="T21" fmla="*/ 1 h 36"/>
                    <a:gd name="T22" fmla="*/ 22 w 142"/>
                    <a:gd name="T23" fmla="*/ 1 h 36"/>
                    <a:gd name="T24" fmla="*/ 16 w 142"/>
                    <a:gd name="T25" fmla="*/ 1 h 36"/>
                    <a:gd name="T26" fmla="*/ 10 w 142"/>
                    <a:gd name="T27" fmla="*/ 0 h 36"/>
                    <a:gd name="T28" fmla="*/ 4 w 142"/>
                    <a:gd name="T29" fmla="*/ 1 h 36"/>
                    <a:gd name="T30" fmla="*/ 1 w 142"/>
                    <a:gd name="T31" fmla="*/ 2 h 36"/>
                    <a:gd name="T32" fmla="*/ 0 w 142"/>
                    <a:gd name="T33" fmla="*/ 3 h 36"/>
                    <a:gd name="T34" fmla="*/ 3 w 142"/>
                    <a:gd name="T35" fmla="*/ 4 h 36"/>
                    <a:gd name="T36" fmla="*/ 7 w 142"/>
                    <a:gd name="T37" fmla="*/ 5 h 36"/>
                    <a:gd name="T38" fmla="*/ 13 w 142"/>
                    <a:gd name="T39" fmla="*/ 6 h 36"/>
                    <a:gd name="T40" fmla="*/ 18 w 142"/>
                    <a:gd name="T41" fmla="*/ 7 h 36"/>
                    <a:gd name="T42" fmla="*/ 24 w 142"/>
                    <a:gd name="T43" fmla="*/ 8 h 36"/>
                    <a:gd name="T44" fmla="*/ 29 w 142"/>
                    <a:gd name="T45" fmla="*/ 10 h 36"/>
                    <a:gd name="T46" fmla="*/ 35 w 142"/>
                    <a:gd name="T47" fmla="*/ 11 h 36"/>
                    <a:gd name="T48" fmla="*/ 41 w 142"/>
                    <a:gd name="T49" fmla="*/ 12 h 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w 142"/>
                    <a:gd name="T76" fmla="*/ 0 h 36"/>
                    <a:gd name="T77" fmla="*/ 142 w 142"/>
                    <a:gd name="T78" fmla="*/ 36 h 36"/>
                  </a:gdLst>
                  <a:ahLst/>
                  <a:cxnLst>
                    <a:cxn ang="T50">
                      <a:pos x="T0" y="T1"/>
                    </a:cxn>
                    <a:cxn ang="T51">
                      <a:pos x="T2" y="T3"/>
                    </a:cxn>
                    <a:cxn ang="T52">
                      <a:pos x="T4" y="T5"/>
                    </a:cxn>
                    <a:cxn ang="T53">
                      <a:pos x="T6" y="T7"/>
                    </a:cxn>
                    <a:cxn ang="T54">
                      <a:pos x="T8" y="T9"/>
                    </a:cxn>
                    <a:cxn ang="T55">
                      <a:pos x="T10" y="T11"/>
                    </a:cxn>
                    <a:cxn ang="T56">
                      <a:pos x="T12" y="T13"/>
                    </a:cxn>
                    <a:cxn ang="T57">
                      <a:pos x="T14" y="T15"/>
                    </a:cxn>
                    <a:cxn ang="T58">
                      <a:pos x="T16" y="T17"/>
                    </a:cxn>
                    <a:cxn ang="T59">
                      <a:pos x="T18" y="T19"/>
                    </a:cxn>
                    <a:cxn ang="T60">
                      <a:pos x="T20" y="T21"/>
                    </a:cxn>
                    <a:cxn ang="T61">
                      <a:pos x="T22" y="T23"/>
                    </a:cxn>
                    <a:cxn ang="T62">
                      <a:pos x="T24" y="T25"/>
                    </a:cxn>
                    <a:cxn ang="T63">
                      <a:pos x="T26" y="T27"/>
                    </a:cxn>
                    <a:cxn ang="T64">
                      <a:pos x="T28" y="T29"/>
                    </a:cxn>
                    <a:cxn ang="T65">
                      <a:pos x="T30" y="T31"/>
                    </a:cxn>
                    <a:cxn ang="T66">
                      <a:pos x="T32" y="T33"/>
                    </a:cxn>
                    <a:cxn ang="T67">
                      <a:pos x="T34" y="T35"/>
                    </a:cxn>
                    <a:cxn ang="T68">
                      <a:pos x="T36" y="T37"/>
                    </a:cxn>
                    <a:cxn ang="T69">
                      <a:pos x="T38" y="T39"/>
                    </a:cxn>
                    <a:cxn ang="T70">
                      <a:pos x="T40" y="T41"/>
                    </a:cxn>
                    <a:cxn ang="T71">
                      <a:pos x="T42" y="T43"/>
                    </a:cxn>
                    <a:cxn ang="T72">
                      <a:pos x="T44" y="T45"/>
                    </a:cxn>
                    <a:cxn ang="T73">
                      <a:pos x="T46" y="T47"/>
                    </a:cxn>
                    <a:cxn ang="T74">
                      <a:pos x="T48" y="T49"/>
                    </a:cxn>
                  </a:cxnLst>
                  <a:rect l="T75" t="T76" r="T77" b="T78"/>
                  <a:pathLst>
                    <a:path w="142" h="36">
                      <a:moveTo>
                        <a:pt x="123" y="36"/>
                      </a:moveTo>
                      <a:lnTo>
                        <a:pt x="129" y="36"/>
                      </a:lnTo>
                      <a:lnTo>
                        <a:pt x="135" y="32"/>
                      </a:lnTo>
                      <a:lnTo>
                        <a:pt x="139" y="28"/>
                      </a:lnTo>
                      <a:lnTo>
                        <a:pt x="142" y="20"/>
                      </a:lnTo>
                      <a:lnTo>
                        <a:pt x="141" y="15"/>
                      </a:lnTo>
                      <a:lnTo>
                        <a:pt x="138" y="9"/>
                      </a:lnTo>
                      <a:lnTo>
                        <a:pt x="133" y="5"/>
                      </a:lnTo>
                      <a:lnTo>
                        <a:pt x="126" y="3"/>
                      </a:lnTo>
                      <a:lnTo>
                        <a:pt x="108" y="3"/>
                      </a:lnTo>
                      <a:lnTo>
                        <a:pt x="88" y="3"/>
                      </a:lnTo>
                      <a:lnTo>
                        <a:pt x="67" y="2"/>
                      </a:lnTo>
                      <a:lnTo>
                        <a:pt x="47" y="2"/>
                      </a:lnTo>
                      <a:lnTo>
                        <a:pt x="29" y="0"/>
                      </a:lnTo>
                      <a:lnTo>
                        <a:pt x="13" y="2"/>
                      </a:lnTo>
                      <a:lnTo>
                        <a:pt x="4" y="5"/>
                      </a:lnTo>
                      <a:lnTo>
                        <a:pt x="0" y="9"/>
                      </a:lnTo>
                      <a:lnTo>
                        <a:pt x="10" y="12"/>
                      </a:lnTo>
                      <a:lnTo>
                        <a:pt x="22" y="16"/>
                      </a:lnTo>
                      <a:lnTo>
                        <a:pt x="38" y="19"/>
                      </a:lnTo>
                      <a:lnTo>
                        <a:pt x="54" y="22"/>
                      </a:lnTo>
                      <a:lnTo>
                        <a:pt x="72" y="25"/>
                      </a:lnTo>
                      <a:lnTo>
                        <a:pt x="89" y="29"/>
                      </a:lnTo>
                      <a:lnTo>
                        <a:pt x="107" y="32"/>
                      </a:lnTo>
                      <a:lnTo>
                        <a:pt x="123" y="3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5" name="Freeform 78"/>
                <p:cNvSpPr>
                  <a:spLocks/>
                </p:cNvSpPr>
                <p:nvPr/>
              </p:nvSpPr>
              <p:spPr bwMode="auto">
                <a:xfrm>
                  <a:off x="8416" y="4751"/>
                  <a:ext cx="117" cy="200"/>
                </a:xfrm>
                <a:custGeom>
                  <a:avLst/>
                  <a:gdLst>
                    <a:gd name="T0" fmla="*/ 36 w 351"/>
                    <a:gd name="T1" fmla="*/ 99 h 601"/>
                    <a:gd name="T2" fmla="*/ 44 w 351"/>
                    <a:gd name="T3" fmla="*/ 112 h 601"/>
                    <a:gd name="T4" fmla="*/ 52 w 351"/>
                    <a:gd name="T5" fmla="*/ 125 h 601"/>
                    <a:gd name="T6" fmla="*/ 61 w 351"/>
                    <a:gd name="T7" fmla="*/ 138 h 601"/>
                    <a:gd name="T8" fmla="*/ 69 w 351"/>
                    <a:gd name="T9" fmla="*/ 150 h 601"/>
                    <a:gd name="T10" fmla="*/ 78 w 351"/>
                    <a:gd name="T11" fmla="*/ 162 h 601"/>
                    <a:gd name="T12" fmla="*/ 88 w 351"/>
                    <a:gd name="T13" fmla="*/ 174 h 601"/>
                    <a:gd name="T14" fmla="*/ 97 w 351"/>
                    <a:gd name="T15" fmla="*/ 186 h 601"/>
                    <a:gd name="T16" fmla="*/ 107 w 351"/>
                    <a:gd name="T17" fmla="*/ 198 h 601"/>
                    <a:gd name="T18" fmla="*/ 109 w 351"/>
                    <a:gd name="T19" fmla="*/ 199 h 601"/>
                    <a:gd name="T20" fmla="*/ 111 w 351"/>
                    <a:gd name="T21" fmla="*/ 200 h 601"/>
                    <a:gd name="T22" fmla="*/ 112 w 351"/>
                    <a:gd name="T23" fmla="*/ 200 h 601"/>
                    <a:gd name="T24" fmla="*/ 114 w 351"/>
                    <a:gd name="T25" fmla="*/ 199 h 601"/>
                    <a:gd name="T26" fmla="*/ 116 w 351"/>
                    <a:gd name="T27" fmla="*/ 198 h 601"/>
                    <a:gd name="T28" fmla="*/ 117 w 351"/>
                    <a:gd name="T29" fmla="*/ 196 h 601"/>
                    <a:gd name="T30" fmla="*/ 117 w 351"/>
                    <a:gd name="T31" fmla="*/ 194 h 601"/>
                    <a:gd name="T32" fmla="*/ 116 w 351"/>
                    <a:gd name="T33" fmla="*/ 192 h 601"/>
                    <a:gd name="T34" fmla="*/ 109 w 351"/>
                    <a:gd name="T35" fmla="*/ 179 h 601"/>
                    <a:gd name="T36" fmla="*/ 101 w 351"/>
                    <a:gd name="T37" fmla="*/ 166 h 601"/>
                    <a:gd name="T38" fmla="*/ 93 w 351"/>
                    <a:gd name="T39" fmla="*/ 154 h 601"/>
                    <a:gd name="T40" fmla="*/ 84 w 351"/>
                    <a:gd name="T41" fmla="*/ 142 h 601"/>
                    <a:gd name="T42" fmla="*/ 75 w 351"/>
                    <a:gd name="T43" fmla="*/ 130 h 601"/>
                    <a:gd name="T44" fmla="*/ 66 w 351"/>
                    <a:gd name="T45" fmla="*/ 118 h 601"/>
                    <a:gd name="T46" fmla="*/ 57 w 351"/>
                    <a:gd name="T47" fmla="*/ 106 h 601"/>
                    <a:gd name="T48" fmla="*/ 49 w 351"/>
                    <a:gd name="T49" fmla="*/ 93 h 601"/>
                    <a:gd name="T50" fmla="*/ 42 w 351"/>
                    <a:gd name="T51" fmla="*/ 81 h 601"/>
                    <a:gd name="T52" fmla="*/ 34 w 351"/>
                    <a:gd name="T53" fmla="*/ 66 h 601"/>
                    <a:gd name="T54" fmla="*/ 26 w 351"/>
                    <a:gd name="T55" fmla="*/ 50 h 601"/>
                    <a:gd name="T56" fmla="*/ 20 w 351"/>
                    <a:gd name="T57" fmla="*/ 35 h 601"/>
                    <a:gd name="T58" fmla="*/ 13 w 351"/>
                    <a:gd name="T59" fmla="*/ 21 h 601"/>
                    <a:gd name="T60" fmla="*/ 7 w 351"/>
                    <a:gd name="T61" fmla="*/ 10 h 601"/>
                    <a:gd name="T62" fmla="*/ 3 w 351"/>
                    <a:gd name="T63" fmla="*/ 2 h 601"/>
                    <a:gd name="T64" fmla="*/ 0 w 351"/>
                    <a:gd name="T65" fmla="*/ 0 h 601"/>
                    <a:gd name="T66" fmla="*/ 1 w 351"/>
                    <a:gd name="T67" fmla="*/ 6 h 601"/>
                    <a:gd name="T68" fmla="*/ 4 w 351"/>
                    <a:gd name="T69" fmla="*/ 15 h 601"/>
                    <a:gd name="T70" fmla="*/ 8 w 351"/>
                    <a:gd name="T71" fmla="*/ 27 h 601"/>
                    <a:gd name="T72" fmla="*/ 13 w 351"/>
                    <a:gd name="T73" fmla="*/ 41 h 601"/>
                    <a:gd name="T74" fmla="*/ 18 w 351"/>
                    <a:gd name="T75" fmla="*/ 57 h 601"/>
                    <a:gd name="T76" fmla="*/ 23 w 351"/>
                    <a:gd name="T77" fmla="*/ 72 h 601"/>
                    <a:gd name="T78" fmla="*/ 30 w 351"/>
                    <a:gd name="T79" fmla="*/ 86 h 601"/>
                    <a:gd name="T80" fmla="*/ 36 w 351"/>
                    <a:gd name="T81" fmla="*/ 99 h 601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w 351"/>
                    <a:gd name="T124" fmla="*/ 0 h 601"/>
                    <a:gd name="T125" fmla="*/ 351 w 351"/>
                    <a:gd name="T126" fmla="*/ 601 h 601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T123" t="T124" r="T125" b="T126"/>
                  <a:pathLst>
                    <a:path w="351" h="601">
                      <a:moveTo>
                        <a:pt x="108" y="298"/>
                      </a:moveTo>
                      <a:lnTo>
                        <a:pt x="132" y="338"/>
                      </a:lnTo>
                      <a:lnTo>
                        <a:pt x="157" y="377"/>
                      </a:lnTo>
                      <a:lnTo>
                        <a:pt x="182" y="414"/>
                      </a:lnTo>
                      <a:lnTo>
                        <a:pt x="208" y="451"/>
                      </a:lnTo>
                      <a:lnTo>
                        <a:pt x="235" y="487"/>
                      </a:lnTo>
                      <a:lnTo>
                        <a:pt x="263" y="523"/>
                      </a:lnTo>
                      <a:lnTo>
                        <a:pt x="292" y="559"/>
                      </a:lnTo>
                      <a:lnTo>
                        <a:pt x="321" y="594"/>
                      </a:lnTo>
                      <a:lnTo>
                        <a:pt x="326" y="598"/>
                      </a:lnTo>
                      <a:lnTo>
                        <a:pt x="332" y="601"/>
                      </a:lnTo>
                      <a:lnTo>
                        <a:pt x="337" y="601"/>
                      </a:lnTo>
                      <a:lnTo>
                        <a:pt x="343" y="598"/>
                      </a:lnTo>
                      <a:lnTo>
                        <a:pt x="349" y="594"/>
                      </a:lnTo>
                      <a:lnTo>
                        <a:pt x="351" y="588"/>
                      </a:lnTo>
                      <a:lnTo>
                        <a:pt x="351" y="582"/>
                      </a:lnTo>
                      <a:lnTo>
                        <a:pt x="349" y="576"/>
                      </a:lnTo>
                      <a:lnTo>
                        <a:pt x="327" y="538"/>
                      </a:lnTo>
                      <a:lnTo>
                        <a:pt x="304" y="499"/>
                      </a:lnTo>
                      <a:lnTo>
                        <a:pt x="279" y="463"/>
                      </a:lnTo>
                      <a:lnTo>
                        <a:pt x="252" y="427"/>
                      </a:lnTo>
                      <a:lnTo>
                        <a:pt x="224" y="391"/>
                      </a:lnTo>
                      <a:lnTo>
                        <a:pt x="198" y="355"/>
                      </a:lnTo>
                      <a:lnTo>
                        <a:pt x="172" y="319"/>
                      </a:lnTo>
                      <a:lnTo>
                        <a:pt x="147" y="280"/>
                      </a:lnTo>
                      <a:lnTo>
                        <a:pt x="125" y="242"/>
                      </a:lnTo>
                      <a:lnTo>
                        <a:pt x="101" y="197"/>
                      </a:lnTo>
                      <a:lnTo>
                        <a:pt x="79" y="150"/>
                      </a:lnTo>
                      <a:lnTo>
                        <a:pt x="59" y="104"/>
                      </a:lnTo>
                      <a:lnTo>
                        <a:pt x="38" y="62"/>
                      </a:lnTo>
                      <a:lnTo>
                        <a:pt x="22" y="29"/>
                      </a:lnTo>
                      <a:lnTo>
                        <a:pt x="9" y="7"/>
                      </a:lnTo>
                      <a:lnTo>
                        <a:pt x="0" y="0"/>
                      </a:lnTo>
                      <a:lnTo>
                        <a:pt x="4" y="17"/>
                      </a:lnTo>
                      <a:lnTo>
                        <a:pt x="13" y="45"/>
                      </a:lnTo>
                      <a:lnTo>
                        <a:pt x="23" y="82"/>
                      </a:lnTo>
                      <a:lnTo>
                        <a:pt x="38" y="124"/>
                      </a:lnTo>
                      <a:lnTo>
                        <a:pt x="54" y="170"/>
                      </a:lnTo>
                      <a:lnTo>
                        <a:pt x="70" y="216"/>
                      </a:lnTo>
                      <a:lnTo>
                        <a:pt x="89" y="259"/>
                      </a:lnTo>
                      <a:lnTo>
                        <a:pt x="108" y="29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6" name="Freeform 79"/>
                <p:cNvSpPr>
                  <a:spLocks/>
                </p:cNvSpPr>
                <p:nvPr/>
              </p:nvSpPr>
              <p:spPr bwMode="auto">
                <a:xfrm>
                  <a:off x="8100" y="4623"/>
                  <a:ext cx="541" cy="495"/>
                </a:xfrm>
                <a:custGeom>
                  <a:avLst/>
                  <a:gdLst>
                    <a:gd name="T0" fmla="*/ 186 w 2164"/>
                    <a:gd name="T1" fmla="*/ 0 h 1979"/>
                    <a:gd name="T2" fmla="*/ 191 w 2164"/>
                    <a:gd name="T3" fmla="*/ 0 h 1979"/>
                    <a:gd name="T4" fmla="*/ 199 w 2164"/>
                    <a:gd name="T5" fmla="*/ 0 h 1979"/>
                    <a:gd name="T6" fmla="*/ 212 w 2164"/>
                    <a:gd name="T7" fmla="*/ 1 h 1979"/>
                    <a:gd name="T8" fmla="*/ 228 w 2164"/>
                    <a:gd name="T9" fmla="*/ 1 h 1979"/>
                    <a:gd name="T10" fmla="*/ 247 w 2164"/>
                    <a:gd name="T11" fmla="*/ 3 h 1979"/>
                    <a:gd name="T12" fmla="*/ 269 w 2164"/>
                    <a:gd name="T13" fmla="*/ 4 h 1979"/>
                    <a:gd name="T14" fmla="*/ 293 w 2164"/>
                    <a:gd name="T15" fmla="*/ 7 h 1979"/>
                    <a:gd name="T16" fmla="*/ 319 w 2164"/>
                    <a:gd name="T17" fmla="*/ 10 h 1979"/>
                    <a:gd name="T18" fmla="*/ 346 w 2164"/>
                    <a:gd name="T19" fmla="*/ 14 h 1979"/>
                    <a:gd name="T20" fmla="*/ 375 w 2164"/>
                    <a:gd name="T21" fmla="*/ 19 h 1979"/>
                    <a:gd name="T22" fmla="*/ 405 w 2164"/>
                    <a:gd name="T23" fmla="*/ 25 h 1979"/>
                    <a:gd name="T24" fmla="*/ 435 w 2164"/>
                    <a:gd name="T25" fmla="*/ 32 h 1979"/>
                    <a:gd name="T26" fmla="*/ 466 w 2164"/>
                    <a:gd name="T27" fmla="*/ 41 h 1979"/>
                    <a:gd name="T28" fmla="*/ 497 w 2164"/>
                    <a:gd name="T29" fmla="*/ 51 h 1979"/>
                    <a:gd name="T30" fmla="*/ 526 w 2164"/>
                    <a:gd name="T31" fmla="*/ 63 h 1979"/>
                    <a:gd name="T32" fmla="*/ 494 w 2164"/>
                    <a:gd name="T33" fmla="*/ 296 h 1979"/>
                    <a:gd name="T34" fmla="*/ 497 w 2164"/>
                    <a:gd name="T35" fmla="*/ 298 h 1979"/>
                    <a:gd name="T36" fmla="*/ 505 w 2164"/>
                    <a:gd name="T37" fmla="*/ 305 h 1979"/>
                    <a:gd name="T38" fmla="*/ 509 w 2164"/>
                    <a:gd name="T39" fmla="*/ 321 h 1979"/>
                    <a:gd name="T40" fmla="*/ 503 w 2164"/>
                    <a:gd name="T41" fmla="*/ 349 h 1979"/>
                    <a:gd name="T42" fmla="*/ 409 w 2164"/>
                    <a:gd name="T43" fmla="*/ 459 h 1979"/>
                    <a:gd name="T44" fmla="*/ 377 w 2164"/>
                    <a:gd name="T45" fmla="*/ 495 h 1979"/>
                    <a:gd name="T46" fmla="*/ 372 w 2164"/>
                    <a:gd name="T47" fmla="*/ 494 h 1979"/>
                    <a:gd name="T48" fmla="*/ 363 w 2164"/>
                    <a:gd name="T49" fmla="*/ 493 h 1979"/>
                    <a:gd name="T50" fmla="*/ 349 w 2164"/>
                    <a:gd name="T51" fmla="*/ 491 h 1979"/>
                    <a:gd name="T52" fmla="*/ 332 w 2164"/>
                    <a:gd name="T53" fmla="*/ 489 h 1979"/>
                    <a:gd name="T54" fmla="*/ 311 w 2164"/>
                    <a:gd name="T55" fmla="*/ 486 h 1979"/>
                    <a:gd name="T56" fmla="*/ 288 w 2164"/>
                    <a:gd name="T57" fmla="*/ 482 h 1979"/>
                    <a:gd name="T58" fmla="*/ 262 w 2164"/>
                    <a:gd name="T59" fmla="*/ 477 h 1979"/>
                    <a:gd name="T60" fmla="*/ 234 w 2164"/>
                    <a:gd name="T61" fmla="*/ 471 h 1979"/>
                    <a:gd name="T62" fmla="*/ 204 w 2164"/>
                    <a:gd name="T63" fmla="*/ 464 h 1979"/>
                    <a:gd name="T64" fmla="*/ 174 w 2164"/>
                    <a:gd name="T65" fmla="*/ 456 h 1979"/>
                    <a:gd name="T66" fmla="*/ 143 w 2164"/>
                    <a:gd name="T67" fmla="*/ 447 h 1979"/>
                    <a:gd name="T68" fmla="*/ 111 w 2164"/>
                    <a:gd name="T69" fmla="*/ 437 h 1979"/>
                    <a:gd name="T70" fmla="*/ 80 w 2164"/>
                    <a:gd name="T71" fmla="*/ 425 h 1979"/>
                    <a:gd name="T72" fmla="*/ 49 w 2164"/>
                    <a:gd name="T73" fmla="*/ 412 h 1979"/>
                    <a:gd name="T74" fmla="*/ 19 w 2164"/>
                    <a:gd name="T75" fmla="*/ 398 h 1979"/>
                    <a:gd name="T76" fmla="*/ 4 w 2164"/>
                    <a:gd name="T77" fmla="*/ 389 h 1979"/>
                    <a:gd name="T78" fmla="*/ 2 w 2164"/>
                    <a:gd name="T79" fmla="*/ 379 h 1979"/>
                    <a:gd name="T80" fmla="*/ 0 w 2164"/>
                    <a:gd name="T81" fmla="*/ 364 h 1979"/>
                    <a:gd name="T82" fmla="*/ 1 w 2164"/>
                    <a:gd name="T83" fmla="*/ 349 h 1979"/>
                    <a:gd name="T84" fmla="*/ 111 w 2164"/>
                    <a:gd name="T85" fmla="*/ 251 h 1979"/>
                    <a:gd name="T86" fmla="*/ 110 w 2164"/>
                    <a:gd name="T87" fmla="*/ 247 h 1979"/>
                    <a:gd name="T88" fmla="*/ 111 w 2164"/>
                    <a:gd name="T89" fmla="*/ 238 h 1979"/>
                    <a:gd name="T90" fmla="*/ 118 w 2164"/>
                    <a:gd name="T91" fmla="*/ 226 h 1979"/>
                    <a:gd name="T92" fmla="*/ 134 w 2164"/>
                    <a:gd name="T93" fmla="*/ 211 h 1979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w 2164"/>
                    <a:gd name="T142" fmla="*/ 0 h 1979"/>
                    <a:gd name="T143" fmla="*/ 2164 w 2164"/>
                    <a:gd name="T144" fmla="*/ 1979 h 1979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T141" t="T142" r="T143" b="T144"/>
                  <a:pathLst>
                    <a:path w="2164" h="1979">
                      <a:moveTo>
                        <a:pt x="743" y="0"/>
                      </a:moveTo>
                      <a:lnTo>
                        <a:pt x="746" y="0"/>
                      </a:lnTo>
                      <a:lnTo>
                        <a:pt x="753" y="0"/>
                      </a:lnTo>
                      <a:lnTo>
                        <a:pt x="763" y="0"/>
                      </a:lnTo>
                      <a:lnTo>
                        <a:pt x="778" y="0"/>
                      </a:lnTo>
                      <a:lnTo>
                        <a:pt x="798" y="1"/>
                      </a:lnTo>
                      <a:lnTo>
                        <a:pt x="822" y="1"/>
                      </a:lnTo>
                      <a:lnTo>
                        <a:pt x="848" y="2"/>
                      </a:lnTo>
                      <a:lnTo>
                        <a:pt x="878" y="3"/>
                      </a:lnTo>
                      <a:lnTo>
                        <a:pt x="912" y="5"/>
                      </a:lnTo>
                      <a:lnTo>
                        <a:pt x="949" y="7"/>
                      </a:lnTo>
                      <a:lnTo>
                        <a:pt x="987" y="10"/>
                      </a:lnTo>
                      <a:lnTo>
                        <a:pt x="1030" y="13"/>
                      </a:lnTo>
                      <a:lnTo>
                        <a:pt x="1074" y="16"/>
                      </a:lnTo>
                      <a:lnTo>
                        <a:pt x="1121" y="21"/>
                      </a:lnTo>
                      <a:lnTo>
                        <a:pt x="1171" y="27"/>
                      </a:lnTo>
                      <a:lnTo>
                        <a:pt x="1222" y="32"/>
                      </a:lnTo>
                      <a:lnTo>
                        <a:pt x="1275" y="39"/>
                      </a:lnTo>
                      <a:lnTo>
                        <a:pt x="1329" y="47"/>
                      </a:lnTo>
                      <a:lnTo>
                        <a:pt x="1386" y="56"/>
                      </a:lnTo>
                      <a:lnTo>
                        <a:pt x="1443" y="65"/>
                      </a:lnTo>
                      <a:lnTo>
                        <a:pt x="1502" y="75"/>
                      </a:lnTo>
                      <a:lnTo>
                        <a:pt x="1560" y="87"/>
                      </a:lnTo>
                      <a:lnTo>
                        <a:pt x="1620" y="100"/>
                      </a:lnTo>
                      <a:lnTo>
                        <a:pt x="1681" y="115"/>
                      </a:lnTo>
                      <a:lnTo>
                        <a:pt x="1742" y="129"/>
                      </a:lnTo>
                      <a:lnTo>
                        <a:pt x="1804" y="146"/>
                      </a:lnTo>
                      <a:lnTo>
                        <a:pt x="1865" y="164"/>
                      </a:lnTo>
                      <a:lnTo>
                        <a:pt x="1926" y="183"/>
                      </a:lnTo>
                      <a:lnTo>
                        <a:pt x="1987" y="204"/>
                      </a:lnTo>
                      <a:lnTo>
                        <a:pt x="2047" y="226"/>
                      </a:lnTo>
                      <a:lnTo>
                        <a:pt x="2105" y="250"/>
                      </a:lnTo>
                      <a:lnTo>
                        <a:pt x="2164" y="276"/>
                      </a:lnTo>
                      <a:lnTo>
                        <a:pt x="1975" y="1184"/>
                      </a:lnTo>
                      <a:lnTo>
                        <a:pt x="1980" y="1185"/>
                      </a:lnTo>
                      <a:lnTo>
                        <a:pt x="1990" y="1191"/>
                      </a:lnTo>
                      <a:lnTo>
                        <a:pt x="2005" y="1201"/>
                      </a:lnTo>
                      <a:lnTo>
                        <a:pt x="2020" y="1219"/>
                      </a:lnTo>
                      <a:lnTo>
                        <a:pt x="2031" y="1246"/>
                      </a:lnTo>
                      <a:lnTo>
                        <a:pt x="2035" y="1282"/>
                      </a:lnTo>
                      <a:lnTo>
                        <a:pt x="2030" y="1332"/>
                      </a:lnTo>
                      <a:lnTo>
                        <a:pt x="2011" y="1394"/>
                      </a:lnTo>
                      <a:lnTo>
                        <a:pt x="1681" y="1835"/>
                      </a:lnTo>
                      <a:lnTo>
                        <a:pt x="1636" y="1835"/>
                      </a:lnTo>
                      <a:lnTo>
                        <a:pt x="1512" y="1979"/>
                      </a:lnTo>
                      <a:lnTo>
                        <a:pt x="1510" y="1979"/>
                      </a:lnTo>
                      <a:lnTo>
                        <a:pt x="1502" y="1978"/>
                      </a:lnTo>
                      <a:lnTo>
                        <a:pt x="1490" y="1977"/>
                      </a:lnTo>
                      <a:lnTo>
                        <a:pt x="1474" y="1974"/>
                      </a:lnTo>
                      <a:lnTo>
                        <a:pt x="1451" y="1972"/>
                      </a:lnTo>
                      <a:lnTo>
                        <a:pt x="1427" y="1969"/>
                      </a:lnTo>
                      <a:lnTo>
                        <a:pt x="1397" y="1965"/>
                      </a:lnTo>
                      <a:lnTo>
                        <a:pt x="1364" y="1961"/>
                      </a:lnTo>
                      <a:lnTo>
                        <a:pt x="1328" y="1955"/>
                      </a:lnTo>
                      <a:lnTo>
                        <a:pt x="1288" y="1950"/>
                      </a:lnTo>
                      <a:lnTo>
                        <a:pt x="1246" y="1943"/>
                      </a:lnTo>
                      <a:lnTo>
                        <a:pt x="1200" y="1935"/>
                      </a:lnTo>
                      <a:lnTo>
                        <a:pt x="1152" y="1927"/>
                      </a:lnTo>
                      <a:lnTo>
                        <a:pt x="1101" y="1918"/>
                      </a:lnTo>
                      <a:lnTo>
                        <a:pt x="1049" y="1907"/>
                      </a:lnTo>
                      <a:lnTo>
                        <a:pt x="993" y="1896"/>
                      </a:lnTo>
                      <a:lnTo>
                        <a:pt x="937" y="1884"/>
                      </a:lnTo>
                      <a:lnTo>
                        <a:pt x="878" y="1871"/>
                      </a:lnTo>
                      <a:lnTo>
                        <a:pt x="818" y="1856"/>
                      </a:lnTo>
                      <a:lnTo>
                        <a:pt x="758" y="1841"/>
                      </a:lnTo>
                      <a:lnTo>
                        <a:pt x="696" y="1824"/>
                      </a:lnTo>
                      <a:lnTo>
                        <a:pt x="634" y="1806"/>
                      </a:lnTo>
                      <a:lnTo>
                        <a:pt x="572" y="1787"/>
                      </a:lnTo>
                      <a:lnTo>
                        <a:pt x="508" y="1768"/>
                      </a:lnTo>
                      <a:lnTo>
                        <a:pt x="445" y="1747"/>
                      </a:lnTo>
                      <a:lnTo>
                        <a:pt x="382" y="1724"/>
                      </a:lnTo>
                      <a:lnTo>
                        <a:pt x="319" y="1700"/>
                      </a:lnTo>
                      <a:lnTo>
                        <a:pt x="257" y="1674"/>
                      </a:lnTo>
                      <a:lnTo>
                        <a:pt x="196" y="1647"/>
                      </a:lnTo>
                      <a:lnTo>
                        <a:pt x="135" y="1620"/>
                      </a:lnTo>
                      <a:lnTo>
                        <a:pt x="76" y="1590"/>
                      </a:lnTo>
                      <a:lnTo>
                        <a:pt x="19" y="1559"/>
                      </a:lnTo>
                      <a:lnTo>
                        <a:pt x="18" y="1554"/>
                      </a:lnTo>
                      <a:lnTo>
                        <a:pt x="13" y="1538"/>
                      </a:lnTo>
                      <a:lnTo>
                        <a:pt x="8" y="1514"/>
                      </a:lnTo>
                      <a:lnTo>
                        <a:pt x="3" y="1486"/>
                      </a:lnTo>
                      <a:lnTo>
                        <a:pt x="0" y="1456"/>
                      </a:lnTo>
                      <a:lnTo>
                        <a:pt x="0" y="1424"/>
                      </a:lnTo>
                      <a:lnTo>
                        <a:pt x="3" y="1396"/>
                      </a:lnTo>
                      <a:lnTo>
                        <a:pt x="13" y="1371"/>
                      </a:lnTo>
                      <a:lnTo>
                        <a:pt x="443" y="1002"/>
                      </a:lnTo>
                      <a:lnTo>
                        <a:pt x="441" y="999"/>
                      </a:lnTo>
                      <a:lnTo>
                        <a:pt x="440" y="989"/>
                      </a:lnTo>
                      <a:lnTo>
                        <a:pt x="440" y="973"/>
                      </a:lnTo>
                      <a:lnTo>
                        <a:pt x="445" y="953"/>
                      </a:lnTo>
                      <a:lnTo>
                        <a:pt x="453" y="928"/>
                      </a:lnTo>
                      <a:lnTo>
                        <a:pt x="471" y="902"/>
                      </a:lnTo>
                      <a:lnTo>
                        <a:pt x="497" y="874"/>
                      </a:lnTo>
                      <a:lnTo>
                        <a:pt x="534" y="845"/>
                      </a:lnTo>
                      <a:lnTo>
                        <a:pt x="743" y="0"/>
                      </a:lnTo>
                      <a:close/>
                    </a:path>
                  </a:pathLst>
                </a:custGeom>
                <a:solidFill>
                  <a:srgbClr val="80808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7" name="Freeform 80"/>
                <p:cNvSpPr>
                  <a:spLocks/>
                </p:cNvSpPr>
                <p:nvPr/>
              </p:nvSpPr>
              <p:spPr bwMode="auto">
                <a:xfrm>
                  <a:off x="8279" y="4656"/>
                  <a:ext cx="311" cy="233"/>
                </a:xfrm>
                <a:custGeom>
                  <a:avLst/>
                  <a:gdLst>
                    <a:gd name="T0" fmla="*/ 41 w 1244"/>
                    <a:gd name="T1" fmla="*/ 0 h 930"/>
                    <a:gd name="T2" fmla="*/ 311 w 1244"/>
                    <a:gd name="T3" fmla="*/ 54 h 930"/>
                    <a:gd name="T4" fmla="*/ 267 w 1244"/>
                    <a:gd name="T5" fmla="*/ 233 h 930"/>
                    <a:gd name="T6" fmla="*/ 0 w 1244"/>
                    <a:gd name="T7" fmla="*/ 172 h 930"/>
                    <a:gd name="T8" fmla="*/ 41 w 1244"/>
                    <a:gd name="T9" fmla="*/ 0 h 9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44"/>
                    <a:gd name="T16" fmla="*/ 0 h 930"/>
                    <a:gd name="T17" fmla="*/ 1244 w 1244"/>
                    <a:gd name="T18" fmla="*/ 930 h 93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44" h="930">
                      <a:moveTo>
                        <a:pt x="164" y="0"/>
                      </a:moveTo>
                      <a:lnTo>
                        <a:pt x="1244" y="214"/>
                      </a:lnTo>
                      <a:lnTo>
                        <a:pt x="1067" y="930"/>
                      </a:lnTo>
                      <a:lnTo>
                        <a:pt x="0" y="688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8" name="Freeform 81"/>
                <p:cNvSpPr>
                  <a:spLocks/>
                </p:cNvSpPr>
                <p:nvPr/>
              </p:nvSpPr>
              <p:spPr bwMode="auto">
                <a:xfrm>
                  <a:off x="8300" y="4672"/>
                  <a:ext cx="237" cy="91"/>
                </a:xfrm>
                <a:custGeom>
                  <a:avLst/>
                  <a:gdLst>
                    <a:gd name="T0" fmla="*/ 28 w 952"/>
                    <a:gd name="T1" fmla="*/ 0 h 366"/>
                    <a:gd name="T2" fmla="*/ 237 w 952"/>
                    <a:gd name="T3" fmla="*/ 38 h 366"/>
                    <a:gd name="T4" fmla="*/ 50 w 952"/>
                    <a:gd name="T5" fmla="*/ 27 h 366"/>
                    <a:gd name="T6" fmla="*/ 0 w 952"/>
                    <a:gd name="T7" fmla="*/ 91 h 366"/>
                    <a:gd name="T8" fmla="*/ 28 w 952"/>
                    <a:gd name="T9" fmla="*/ 0 h 3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52"/>
                    <a:gd name="T16" fmla="*/ 0 h 366"/>
                    <a:gd name="T17" fmla="*/ 952 w 952"/>
                    <a:gd name="T18" fmla="*/ 366 h 36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52" h="366">
                      <a:moveTo>
                        <a:pt x="112" y="0"/>
                      </a:moveTo>
                      <a:lnTo>
                        <a:pt x="952" y="153"/>
                      </a:lnTo>
                      <a:lnTo>
                        <a:pt x="200" y="108"/>
                      </a:lnTo>
                      <a:lnTo>
                        <a:pt x="0" y="366"/>
                      </a:lnTo>
                      <a:lnTo>
                        <a:pt x="112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69" name="Freeform 82"/>
                <p:cNvSpPr>
                  <a:spLocks/>
                </p:cNvSpPr>
                <p:nvPr/>
              </p:nvSpPr>
              <p:spPr bwMode="auto">
                <a:xfrm>
                  <a:off x="8222" y="4885"/>
                  <a:ext cx="315" cy="84"/>
                </a:xfrm>
                <a:custGeom>
                  <a:avLst/>
                  <a:gdLst>
                    <a:gd name="T0" fmla="*/ 10 w 1259"/>
                    <a:gd name="T1" fmla="*/ 0 h 337"/>
                    <a:gd name="T2" fmla="*/ 315 w 1259"/>
                    <a:gd name="T3" fmla="*/ 72 h 337"/>
                    <a:gd name="T4" fmla="*/ 307 w 1259"/>
                    <a:gd name="T5" fmla="*/ 84 h 337"/>
                    <a:gd name="T6" fmla="*/ 0 w 1259"/>
                    <a:gd name="T7" fmla="*/ 8 h 337"/>
                    <a:gd name="T8" fmla="*/ 10 w 1259"/>
                    <a:gd name="T9" fmla="*/ 0 h 3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59"/>
                    <a:gd name="T16" fmla="*/ 0 h 337"/>
                    <a:gd name="T17" fmla="*/ 1259 w 1259"/>
                    <a:gd name="T18" fmla="*/ 337 h 33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59" h="337">
                      <a:moveTo>
                        <a:pt x="40" y="0"/>
                      </a:moveTo>
                      <a:lnTo>
                        <a:pt x="1259" y="288"/>
                      </a:lnTo>
                      <a:lnTo>
                        <a:pt x="1226" y="337"/>
                      </a:lnTo>
                      <a:lnTo>
                        <a:pt x="0" y="32"/>
                      </a:lnTo>
                      <a:lnTo>
                        <a:pt x="40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0" name="Freeform 83"/>
                <p:cNvSpPr>
                  <a:spLocks/>
                </p:cNvSpPr>
                <p:nvPr/>
              </p:nvSpPr>
              <p:spPr bwMode="auto">
                <a:xfrm>
                  <a:off x="8193" y="4910"/>
                  <a:ext cx="316" cy="86"/>
                </a:xfrm>
                <a:custGeom>
                  <a:avLst/>
                  <a:gdLst>
                    <a:gd name="T0" fmla="*/ 11 w 1265"/>
                    <a:gd name="T1" fmla="*/ 0 h 342"/>
                    <a:gd name="T2" fmla="*/ 316 w 1265"/>
                    <a:gd name="T3" fmla="*/ 72 h 342"/>
                    <a:gd name="T4" fmla="*/ 306 w 1265"/>
                    <a:gd name="T5" fmla="*/ 86 h 342"/>
                    <a:gd name="T6" fmla="*/ 0 w 1265"/>
                    <a:gd name="T7" fmla="*/ 9 h 342"/>
                    <a:gd name="T8" fmla="*/ 11 w 1265"/>
                    <a:gd name="T9" fmla="*/ 0 h 3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5"/>
                    <a:gd name="T16" fmla="*/ 0 h 342"/>
                    <a:gd name="T17" fmla="*/ 1265 w 1265"/>
                    <a:gd name="T18" fmla="*/ 342 h 3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5" h="342">
                      <a:moveTo>
                        <a:pt x="46" y="0"/>
                      </a:moveTo>
                      <a:lnTo>
                        <a:pt x="1265" y="286"/>
                      </a:lnTo>
                      <a:lnTo>
                        <a:pt x="1226" y="342"/>
                      </a:lnTo>
                      <a:lnTo>
                        <a:pt x="0" y="37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1" name="Freeform 84"/>
                <p:cNvSpPr>
                  <a:spLocks/>
                </p:cNvSpPr>
                <p:nvPr/>
              </p:nvSpPr>
              <p:spPr bwMode="auto">
                <a:xfrm>
                  <a:off x="8165" y="4936"/>
                  <a:ext cx="316" cy="86"/>
                </a:xfrm>
                <a:custGeom>
                  <a:avLst/>
                  <a:gdLst>
                    <a:gd name="T0" fmla="*/ 11 w 1264"/>
                    <a:gd name="T1" fmla="*/ 0 h 344"/>
                    <a:gd name="T2" fmla="*/ 316 w 1264"/>
                    <a:gd name="T3" fmla="*/ 72 h 344"/>
                    <a:gd name="T4" fmla="*/ 306 w 1264"/>
                    <a:gd name="T5" fmla="*/ 86 h 344"/>
                    <a:gd name="T6" fmla="*/ 0 w 1264"/>
                    <a:gd name="T7" fmla="*/ 9 h 344"/>
                    <a:gd name="T8" fmla="*/ 11 w 1264"/>
                    <a:gd name="T9" fmla="*/ 0 h 34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264"/>
                    <a:gd name="T16" fmla="*/ 0 h 344"/>
                    <a:gd name="T17" fmla="*/ 1264 w 1264"/>
                    <a:gd name="T18" fmla="*/ 344 h 34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264" h="344">
                      <a:moveTo>
                        <a:pt x="45" y="0"/>
                      </a:moveTo>
                      <a:lnTo>
                        <a:pt x="1264" y="287"/>
                      </a:lnTo>
                      <a:lnTo>
                        <a:pt x="1224" y="344"/>
                      </a:lnTo>
                      <a:lnTo>
                        <a:pt x="0" y="37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7F7F7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2" name="Freeform 85"/>
                <p:cNvSpPr>
                  <a:spLocks/>
                </p:cNvSpPr>
                <p:nvPr/>
              </p:nvSpPr>
              <p:spPr bwMode="auto">
                <a:xfrm>
                  <a:off x="8243" y="4989"/>
                  <a:ext cx="48" cy="19"/>
                </a:xfrm>
                <a:custGeom>
                  <a:avLst/>
                  <a:gdLst>
                    <a:gd name="T0" fmla="*/ 5 w 190"/>
                    <a:gd name="T1" fmla="*/ 0 h 79"/>
                    <a:gd name="T2" fmla="*/ 6 w 190"/>
                    <a:gd name="T3" fmla="*/ 0 h 79"/>
                    <a:gd name="T4" fmla="*/ 10 w 190"/>
                    <a:gd name="T5" fmla="*/ 0 h 79"/>
                    <a:gd name="T6" fmla="*/ 16 w 190"/>
                    <a:gd name="T7" fmla="*/ 0 h 79"/>
                    <a:gd name="T8" fmla="*/ 23 w 190"/>
                    <a:gd name="T9" fmla="*/ 1 h 79"/>
                    <a:gd name="T10" fmla="*/ 30 w 190"/>
                    <a:gd name="T11" fmla="*/ 2 h 79"/>
                    <a:gd name="T12" fmla="*/ 37 w 190"/>
                    <a:gd name="T13" fmla="*/ 4 h 79"/>
                    <a:gd name="T14" fmla="*/ 44 w 190"/>
                    <a:gd name="T15" fmla="*/ 8 h 79"/>
                    <a:gd name="T16" fmla="*/ 48 w 190"/>
                    <a:gd name="T17" fmla="*/ 14 h 79"/>
                    <a:gd name="T18" fmla="*/ 48 w 190"/>
                    <a:gd name="T19" fmla="*/ 14 h 79"/>
                    <a:gd name="T20" fmla="*/ 48 w 190"/>
                    <a:gd name="T21" fmla="*/ 15 h 79"/>
                    <a:gd name="T22" fmla="*/ 48 w 190"/>
                    <a:gd name="T23" fmla="*/ 16 h 79"/>
                    <a:gd name="T24" fmla="*/ 47 w 190"/>
                    <a:gd name="T25" fmla="*/ 18 h 79"/>
                    <a:gd name="T26" fmla="*/ 46 w 190"/>
                    <a:gd name="T27" fmla="*/ 19 h 79"/>
                    <a:gd name="T28" fmla="*/ 44 w 190"/>
                    <a:gd name="T29" fmla="*/ 19 h 79"/>
                    <a:gd name="T30" fmla="*/ 40 w 190"/>
                    <a:gd name="T31" fmla="*/ 19 h 79"/>
                    <a:gd name="T32" fmla="*/ 36 w 190"/>
                    <a:gd name="T33" fmla="*/ 17 h 79"/>
                    <a:gd name="T34" fmla="*/ 36 w 190"/>
                    <a:gd name="T35" fmla="*/ 17 h 79"/>
                    <a:gd name="T36" fmla="*/ 36 w 190"/>
                    <a:gd name="T37" fmla="*/ 16 h 79"/>
                    <a:gd name="T38" fmla="*/ 35 w 190"/>
                    <a:gd name="T39" fmla="*/ 14 h 79"/>
                    <a:gd name="T40" fmla="*/ 33 w 190"/>
                    <a:gd name="T41" fmla="*/ 12 h 79"/>
                    <a:gd name="T42" fmla="*/ 29 w 190"/>
                    <a:gd name="T43" fmla="*/ 10 h 79"/>
                    <a:gd name="T44" fmla="*/ 24 w 190"/>
                    <a:gd name="T45" fmla="*/ 8 h 79"/>
                    <a:gd name="T46" fmla="*/ 16 w 190"/>
                    <a:gd name="T47" fmla="*/ 8 h 79"/>
                    <a:gd name="T48" fmla="*/ 6 w 190"/>
                    <a:gd name="T49" fmla="*/ 8 h 79"/>
                    <a:gd name="T50" fmla="*/ 5 w 190"/>
                    <a:gd name="T51" fmla="*/ 8 h 79"/>
                    <a:gd name="T52" fmla="*/ 4 w 190"/>
                    <a:gd name="T53" fmla="*/ 7 h 79"/>
                    <a:gd name="T54" fmla="*/ 2 w 190"/>
                    <a:gd name="T55" fmla="*/ 6 h 79"/>
                    <a:gd name="T56" fmla="*/ 1 w 190"/>
                    <a:gd name="T57" fmla="*/ 6 h 79"/>
                    <a:gd name="T58" fmla="*/ 0 w 190"/>
                    <a:gd name="T59" fmla="*/ 5 h 79"/>
                    <a:gd name="T60" fmla="*/ 0 w 190"/>
                    <a:gd name="T61" fmla="*/ 4 h 79"/>
                    <a:gd name="T62" fmla="*/ 2 w 190"/>
                    <a:gd name="T63" fmla="*/ 2 h 79"/>
                    <a:gd name="T64" fmla="*/ 5 w 190"/>
                    <a:gd name="T65" fmla="*/ 0 h 79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90"/>
                    <a:gd name="T100" fmla="*/ 0 h 79"/>
                    <a:gd name="T101" fmla="*/ 190 w 190"/>
                    <a:gd name="T102" fmla="*/ 79 h 79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90" h="79">
                      <a:moveTo>
                        <a:pt x="18" y="1"/>
                      </a:moveTo>
                      <a:lnTo>
                        <a:pt x="23" y="1"/>
                      </a:lnTo>
                      <a:lnTo>
                        <a:pt x="40" y="0"/>
                      </a:lnTo>
                      <a:lnTo>
                        <a:pt x="62" y="0"/>
                      </a:lnTo>
                      <a:lnTo>
                        <a:pt x="90" y="3"/>
                      </a:lnTo>
                      <a:lnTo>
                        <a:pt x="120" y="8"/>
                      </a:lnTo>
                      <a:lnTo>
                        <a:pt x="148" y="18"/>
                      </a:lnTo>
                      <a:lnTo>
                        <a:pt x="173" y="34"/>
                      </a:lnTo>
                      <a:lnTo>
                        <a:pt x="190" y="57"/>
                      </a:lnTo>
                      <a:lnTo>
                        <a:pt x="190" y="58"/>
                      </a:lnTo>
                      <a:lnTo>
                        <a:pt x="190" y="62"/>
                      </a:lnTo>
                      <a:lnTo>
                        <a:pt x="189" y="68"/>
                      </a:lnTo>
                      <a:lnTo>
                        <a:pt x="187" y="74"/>
                      </a:lnTo>
                      <a:lnTo>
                        <a:pt x="181" y="78"/>
                      </a:lnTo>
                      <a:lnTo>
                        <a:pt x="173" y="79"/>
                      </a:lnTo>
                      <a:lnTo>
                        <a:pt x="160" y="78"/>
                      </a:lnTo>
                      <a:lnTo>
                        <a:pt x="143" y="71"/>
                      </a:lnTo>
                      <a:lnTo>
                        <a:pt x="143" y="69"/>
                      </a:lnTo>
                      <a:lnTo>
                        <a:pt x="142" y="65"/>
                      </a:lnTo>
                      <a:lnTo>
                        <a:pt x="139" y="58"/>
                      </a:lnTo>
                      <a:lnTo>
                        <a:pt x="130" y="50"/>
                      </a:lnTo>
                      <a:lnTo>
                        <a:pt x="116" y="42"/>
                      </a:lnTo>
                      <a:lnTo>
                        <a:pt x="94" y="35"/>
                      </a:lnTo>
                      <a:lnTo>
                        <a:pt x="63" y="32"/>
                      </a:lnTo>
                      <a:lnTo>
                        <a:pt x="22" y="32"/>
                      </a:lnTo>
                      <a:lnTo>
                        <a:pt x="20" y="32"/>
                      </a:lnTo>
                      <a:lnTo>
                        <a:pt x="15" y="30"/>
                      </a:lnTo>
                      <a:lnTo>
                        <a:pt x="9" y="27"/>
                      </a:lnTo>
                      <a:lnTo>
                        <a:pt x="5" y="24"/>
                      </a:lnTo>
                      <a:lnTo>
                        <a:pt x="0" y="19"/>
                      </a:lnTo>
                      <a:lnTo>
                        <a:pt x="0" y="15"/>
                      </a:lnTo>
                      <a:lnTo>
                        <a:pt x="6" y="8"/>
                      </a:lnTo>
                      <a:lnTo>
                        <a:pt x="18" y="1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3" name="Freeform 86"/>
                <p:cNvSpPr>
                  <a:spLocks/>
                </p:cNvSpPr>
                <p:nvPr/>
              </p:nvSpPr>
              <p:spPr bwMode="auto">
                <a:xfrm>
                  <a:off x="8246" y="5003"/>
                  <a:ext cx="27" cy="15"/>
                </a:xfrm>
                <a:custGeom>
                  <a:avLst/>
                  <a:gdLst>
                    <a:gd name="T0" fmla="*/ 11 w 107"/>
                    <a:gd name="T1" fmla="*/ 14 h 63"/>
                    <a:gd name="T2" fmla="*/ 14 w 107"/>
                    <a:gd name="T3" fmla="*/ 15 h 63"/>
                    <a:gd name="T4" fmla="*/ 16 w 107"/>
                    <a:gd name="T5" fmla="*/ 15 h 63"/>
                    <a:gd name="T6" fmla="*/ 19 w 107"/>
                    <a:gd name="T7" fmla="*/ 15 h 63"/>
                    <a:gd name="T8" fmla="*/ 21 w 107"/>
                    <a:gd name="T9" fmla="*/ 15 h 63"/>
                    <a:gd name="T10" fmla="*/ 23 w 107"/>
                    <a:gd name="T11" fmla="*/ 15 h 63"/>
                    <a:gd name="T12" fmla="*/ 24 w 107"/>
                    <a:gd name="T13" fmla="*/ 14 h 63"/>
                    <a:gd name="T14" fmla="*/ 26 w 107"/>
                    <a:gd name="T15" fmla="*/ 13 h 63"/>
                    <a:gd name="T16" fmla="*/ 27 w 107"/>
                    <a:gd name="T17" fmla="*/ 11 h 63"/>
                    <a:gd name="T18" fmla="*/ 27 w 107"/>
                    <a:gd name="T19" fmla="*/ 10 h 63"/>
                    <a:gd name="T20" fmla="*/ 27 w 107"/>
                    <a:gd name="T21" fmla="*/ 9 h 63"/>
                    <a:gd name="T22" fmla="*/ 26 w 107"/>
                    <a:gd name="T23" fmla="*/ 7 h 63"/>
                    <a:gd name="T24" fmla="*/ 24 w 107"/>
                    <a:gd name="T25" fmla="*/ 6 h 63"/>
                    <a:gd name="T26" fmla="*/ 23 w 107"/>
                    <a:gd name="T27" fmla="*/ 5 h 63"/>
                    <a:gd name="T28" fmla="*/ 21 w 107"/>
                    <a:gd name="T29" fmla="*/ 3 h 63"/>
                    <a:gd name="T30" fmla="*/ 19 w 107"/>
                    <a:gd name="T31" fmla="*/ 2 h 63"/>
                    <a:gd name="T32" fmla="*/ 16 w 107"/>
                    <a:gd name="T33" fmla="*/ 1 h 63"/>
                    <a:gd name="T34" fmla="*/ 13 w 107"/>
                    <a:gd name="T35" fmla="*/ 0 h 63"/>
                    <a:gd name="T36" fmla="*/ 11 w 107"/>
                    <a:gd name="T37" fmla="*/ 0 h 63"/>
                    <a:gd name="T38" fmla="*/ 8 w 107"/>
                    <a:gd name="T39" fmla="*/ 0 h 63"/>
                    <a:gd name="T40" fmla="*/ 6 w 107"/>
                    <a:gd name="T41" fmla="*/ 0 h 63"/>
                    <a:gd name="T42" fmla="*/ 4 w 107"/>
                    <a:gd name="T43" fmla="*/ 0 h 63"/>
                    <a:gd name="T44" fmla="*/ 2 w 107"/>
                    <a:gd name="T45" fmla="*/ 1 h 63"/>
                    <a:gd name="T46" fmla="*/ 1 w 107"/>
                    <a:gd name="T47" fmla="*/ 2 h 63"/>
                    <a:gd name="T48" fmla="*/ 0 w 107"/>
                    <a:gd name="T49" fmla="*/ 3 h 63"/>
                    <a:gd name="T50" fmla="*/ 0 w 107"/>
                    <a:gd name="T51" fmla="*/ 5 h 63"/>
                    <a:gd name="T52" fmla="*/ 0 w 107"/>
                    <a:gd name="T53" fmla="*/ 6 h 63"/>
                    <a:gd name="T54" fmla="*/ 1 w 107"/>
                    <a:gd name="T55" fmla="*/ 8 h 63"/>
                    <a:gd name="T56" fmla="*/ 2 w 107"/>
                    <a:gd name="T57" fmla="*/ 9 h 63"/>
                    <a:gd name="T58" fmla="*/ 4 w 107"/>
                    <a:gd name="T59" fmla="*/ 10 h 63"/>
                    <a:gd name="T60" fmla="*/ 6 w 107"/>
                    <a:gd name="T61" fmla="*/ 12 h 63"/>
                    <a:gd name="T62" fmla="*/ 8 w 107"/>
                    <a:gd name="T63" fmla="*/ 13 h 63"/>
                    <a:gd name="T64" fmla="*/ 11 w 107"/>
                    <a:gd name="T65" fmla="*/ 14 h 63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w 107"/>
                    <a:gd name="T100" fmla="*/ 0 h 63"/>
                    <a:gd name="T101" fmla="*/ 107 w 107"/>
                    <a:gd name="T102" fmla="*/ 63 h 63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T99" t="T100" r="T101" b="T102"/>
                  <a:pathLst>
                    <a:path w="107" h="63">
                      <a:moveTo>
                        <a:pt x="43" y="58"/>
                      </a:moveTo>
                      <a:lnTo>
                        <a:pt x="54" y="61"/>
                      </a:lnTo>
                      <a:lnTo>
                        <a:pt x="64" y="63"/>
                      </a:lnTo>
                      <a:lnTo>
                        <a:pt x="74" y="63"/>
                      </a:lnTo>
                      <a:lnTo>
                        <a:pt x="83" y="63"/>
                      </a:lnTo>
                      <a:lnTo>
                        <a:pt x="91" y="61"/>
                      </a:lnTo>
                      <a:lnTo>
                        <a:pt x="97" y="57"/>
                      </a:lnTo>
                      <a:lnTo>
                        <a:pt x="102" y="54"/>
                      </a:lnTo>
                      <a:lnTo>
                        <a:pt x="106" y="48"/>
                      </a:lnTo>
                      <a:lnTo>
                        <a:pt x="107" y="43"/>
                      </a:lnTo>
                      <a:lnTo>
                        <a:pt x="106" y="37"/>
                      </a:lnTo>
                      <a:lnTo>
                        <a:pt x="102" y="30"/>
                      </a:lnTo>
                      <a:lnTo>
                        <a:pt x="97" y="24"/>
                      </a:lnTo>
                      <a:lnTo>
                        <a:pt x="90" y="19"/>
                      </a:lnTo>
                      <a:lnTo>
                        <a:pt x="82" y="13"/>
                      </a:lnTo>
                      <a:lnTo>
                        <a:pt x="74" y="9"/>
                      </a:lnTo>
                      <a:lnTo>
                        <a:pt x="63" y="4"/>
                      </a:lnTo>
                      <a:lnTo>
                        <a:pt x="53" y="2"/>
                      </a:lnTo>
                      <a:lnTo>
                        <a:pt x="42" y="0"/>
                      </a:lnTo>
                      <a:lnTo>
                        <a:pt x="32" y="0"/>
                      </a:lnTo>
                      <a:lnTo>
                        <a:pt x="23" y="1"/>
                      </a:lnTo>
                      <a:lnTo>
                        <a:pt x="15" y="2"/>
                      </a:lnTo>
                      <a:lnTo>
                        <a:pt x="8" y="5"/>
                      </a:lnTo>
                      <a:lnTo>
                        <a:pt x="3" y="10"/>
                      </a:lnTo>
                      <a:lnTo>
                        <a:pt x="1" y="14"/>
                      </a:lnTo>
                      <a:lnTo>
                        <a:pt x="0" y="20"/>
                      </a:lnTo>
                      <a:lnTo>
                        <a:pt x="1" y="26"/>
                      </a:lnTo>
                      <a:lnTo>
                        <a:pt x="5" y="32"/>
                      </a:lnTo>
                      <a:lnTo>
                        <a:pt x="9" y="38"/>
                      </a:lnTo>
                      <a:lnTo>
                        <a:pt x="16" y="44"/>
                      </a:lnTo>
                      <a:lnTo>
                        <a:pt x="25" y="49"/>
                      </a:lnTo>
                      <a:lnTo>
                        <a:pt x="33" y="54"/>
                      </a:lnTo>
                      <a:lnTo>
                        <a:pt x="43" y="58"/>
                      </a:lnTo>
                      <a:close/>
                    </a:path>
                  </a:pathLst>
                </a:custGeom>
                <a:solidFill>
                  <a:srgbClr val="BFB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4" name="Freeform 87"/>
                <p:cNvSpPr>
                  <a:spLocks/>
                </p:cNvSpPr>
                <p:nvPr/>
              </p:nvSpPr>
              <p:spPr bwMode="auto">
                <a:xfrm>
                  <a:off x="8113" y="4974"/>
                  <a:ext cx="367" cy="131"/>
                </a:xfrm>
                <a:custGeom>
                  <a:avLst/>
                  <a:gdLst>
                    <a:gd name="T0" fmla="*/ 366 w 1469"/>
                    <a:gd name="T1" fmla="*/ 102 h 525"/>
                    <a:gd name="T2" fmla="*/ 361 w 1469"/>
                    <a:gd name="T3" fmla="*/ 101 h 525"/>
                    <a:gd name="T4" fmla="*/ 352 w 1469"/>
                    <a:gd name="T5" fmla="*/ 100 h 525"/>
                    <a:gd name="T6" fmla="*/ 338 w 1469"/>
                    <a:gd name="T7" fmla="*/ 98 h 525"/>
                    <a:gd name="T8" fmla="*/ 321 w 1469"/>
                    <a:gd name="T9" fmla="*/ 96 h 525"/>
                    <a:gd name="T10" fmla="*/ 301 w 1469"/>
                    <a:gd name="T11" fmla="*/ 92 h 525"/>
                    <a:gd name="T12" fmla="*/ 277 w 1469"/>
                    <a:gd name="T13" fmla="*/ 88 h 525"/>
                    <a:gd name="T14" fmla="*/ 252 w 1469"/>
                    <a:gd name="T15" fmla="*/ 84 h 525"/>
                    <a:gd name="T16" fmla="*/ 224 w 1469"/>
                    <a:gd name="T17" fmla="*/ 78 h 525"/>
                    <a:gd name="T18" fmla="*/ 195 w 1469"/>
                    <a:gd name="T19" fmla="*/ 71 h 525"/>
                    <a:gd name="T20" fmla="*/ 166 w 1469"/>
                    <a:gd name="T21" fmla="*/ 63 h 525"/>
                    <a:gd name="T22" fmla="*/ 135 w 1469"/>
                    <a:gd name="T23" fmla="*/ 54 h 525"/>
                    <a:gd name="T24" fmla="*/ 104 w 1469"/>
                    <a:gd name="T25" fmla="*/ 44 h 525"/>
                    <a:gd name="T26" fmla="*/ 74 w 1469"/>
                    <a:gd name="T27" fmla="*/ 33 h 525"/>
                    <a:gd name="T28" fmla="*/ 44 w 1469"/>
                    <a:gd name="T29" fmla="*/ 21 h 525"/>
                    <a:gd name="T30" fmla="*/ 16 w 1469"/>
                    <a:gd name="T31" fmla="*/ 7 h 525"/>
                    <a:gd name="T32" fmla="*/ 2 w 1469"/>
                    <a:gd name="T33" fmla="*/ 1 h 525"/>
                    <a:gd name="T34" fmla="*/ 1 w 1469"/>
                    <a:gd name="T35" fmla="*/ 8 h 525"/>
                    <a:gd name="T36" fmla="*/ 0 w 1469"/>
                    <a:gd name="T37" fmla="*/ 20 h 525"/>
                    <a:gd name="T38" fmla="*/ 2 w 1469"/>
                    <a:gd name="T39" fmla="*/ 31 h 525"/>
                    <a:gd name="T40" fmla="*/ 6 w 1469"/>
                    <a:gd name="T41" fmla="*/ 36 h 525"/>
                    <a:gd name="T42" fmla="*/ 8 w 1469"/>
                    <a:gd name="T43" fmla="*/ 37 h 525"/>
                    <a:gd name="T44" fmla="*/ 13 w 1469"/>
                    <a:gd name="T45" fmla="*/ 40 h 525"/>
                    <a:gd name="T46" fmla="*/ 21 w 1469"/>
                    <a:gd name="T47" fmla="*/ 44 h 525"/>
                    <a:gd name="T48" fmla="*/ 32 w 1469"/>
                    <a:gd name="T49" fmla="*/ 49 h 525"/>
                    <a:gd name="T50" fmla="*/ 45 w 1469"/>
                    <a:gd name="T51" fmla="*/ 55 h 525"/>
                    <a:gd name="T52" fmla="*/ 62 w 1469"/>
                    <a:gd name="T53" fmla="*/ 62 h 525"/>
                    <a:gd name="T54" fmla="*/ 80 w 1469"/>
                    <a:gd name="T55" fmla="*/ 69 h 525"/>
                    <a:gd name="T56" fmla="*/ 102 w 1469"/>
                    <a:gd name="T57" fmla="*/ 77 h 525"/>
                    <a:gd name="T58" fmla="*/ 127 w 1469"/>
                    <a:gd name="T59" fmla="*/ 85 h 525"/>
                    <a:gd name="T60" fmla="*/ 154 w 1469"/>
                    <a:gd name="T61" fmla="*/ 93 h 525"/>
                    <a:gd name="T62" fmla="*/ 185 w 1469"/>
                    <a:gd name="T63" fmla="*/ 100 h 525"/>
                    <a:gd name="T64" fmla="*/ 218 w 1469"/>
                    <a:gd name="T65" fmla="*/ 108 h 525"/>
                    <a:gd name="T66" fmla="*/ 254 w 1469"/>
                    <a:gd name="T67" fmla="*/ 115 h 525"/>
                    <a:gd name="T68" fmla="*/ 294 w 1469"/>
                    <a:gd name="T69" fmla="*/ 122 h 525"/>
                    <a:gd name="T70" fmla="*/ 336 w 1469"/>
                    <a:gd name="T71" fmla="*/ 128 h 525"/>
                    <a:gd name="T72" fmla="*/ 359 w 1469"/>
                    <a:gd name="T73" fmla="*/ 131 h 525"/>
                    <a:gd name="T74" fmla="*/ 362 w 1469"/>
                    <a:gd name="T75" fmla="*/ 126 h 525"/>
                    <a:gd name="T76" fmla="*/ 365 w 1469"/>
                    <a:gd name="T77" fmla="*/ 118 h 525"/>
                    <a:gd name="T78" fmla="*/ 367 w 1469"/>
                    <a:gd name="T79" fmla="*/ 108 h 525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w 1469"/>
                    <a:gd name="T121" fmla="*/ 0 h 525"/>
                    <a:gd name="T122" fmla="*/ 1469 w 1469"/>
                    <a:gd name="T123" fmla="*/ 525 h 525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T120" t="T121" r="T122" b="T123"/>
                  <a:pathLst>
                    <a:path w="1469" h="525">
                      <a:moveTo>
                        <a:pt x="1468" y="407"/>
                      </a:moveTo>
                      <a:lnTo>
                        <a:pt x="1466" y="407"/>
                      </a:lnTo>
                      <a:lnTo>
                        <a:pt x="1458" y="406"/>
                      </a:lnTo>
                      <a:lnTo>
                        <a:pt x="1446" y="405"/>
                      </a:lnTo>
                      <a:lnTo>
                        <a:pt x="1429" y="402"/>
                      </a:lnTo>
                      <a:lnTo>
                        <a:pt x="1408" y="400"/>
                      </a:lnTo>
                      <a:lnTo>
                        <a:pt x="1382" y="397"/>
                      </a:lnTo>
                      <a:lnTo>
                        <a:pt x="1353" y="393"/>
                      </a:lnTo>
                      <a:lnTo>
                        <a:pt x="1321" y="389"/>
                      </a:lnTo>
                      <a:lnTo>
                        <a:pt x="1285" y="383"/>
                      </a:lnTo>
                      <a:lnTo>
                        <a:pt x="1245" y="376"/>
                      </a:lnTo>
                      <a:lnTo>
                        <a:pt x="1203" y="370"/>
                      </a:lnTo>
                      <a:lnTo>
                        <a:pt x="1158" y="363"/>
                      </a:lnTo>
                      <a:lnTo>
                        <a:pt x="1110" y="354"/>
                      </a:lnTo>
                      <a:lnTo>
                        <a:pt x="1060" y="345"/>
                      </a:lnTo>
                      <a:lnTo>
                        <a:pt x="1008" y="335"/>
                      </a:lnTo>
                      <a:lnTo>
                        <a:pt x="954" y="323"/>
                      </a:lnTo>
                      <a:lnTo>
                        <a:pt x="898" y="311"/>
                      </a:lnTo>
                      <a:lnTo>
                        <a:pt x="841" y="299"/>
                      </a:lnTo>
                      <a:lnTo>
                        <a:pt x="782" y="284"/>
                      </a:lnTo>
                      <a:lnTo>
                        <a:pt x="723" y="269"/>
                      </a:lnTo>
                      <a:lnTo>
                        <a:pt x="663" y="253"/>
                      </a:lnTo>
                      <a:lnTo>
                        <a:pt x="602" y="236"/>
                      </a:lnTo>
                      <a:lnTo>
                        <a:pt x="541" y="217"/>
                      </a:lnTo>
                      <a:lnTo>
                        <a:pt x="480" y="198"/>
                      </a:lnTo>
                      <a:lnTo>
                        <a:pt x="417" y="178"/>
                      </a:lnTo>
                      <a:lnTo>
                        <a:pt x="356" y="156"/>
                      </a:lnTo>
                      <a:lnTo>
                        <a:pt x="296" y="133"/>
                      </a:lnTo>
                      <a:lnTo>
                        <a:pt x="236" y="109"/>
                      </a:lnTo>
                      <a:lnTo>
                        <a:pt x="178" y="84"/>
                      </a:lnTo>
                      <a:lnTo>
                        <a:pt x="120" y="57"/>
                      </a:lnTo>
                      <a:lnTo>
                        <a:pt x="64" y="29"/>
                      </a:lnTo>
                      <a:lnTo>
                        <a:pt x="9" y="0"/>
                      </a:lnTo>
                      <a:lnTo>
                        <a:pt x="7" y="4"/>
                      </a:lnTo>
                      <a:lnTo>
                        <a:pt x="5" y="15"/>
                      </a:lnTo>
                      <a:lnTo>
                        <a:pt x="3" y="33"/>
                      </a:lnTo>
                      <a:lnTo>
                        <a:pt x="0" y="55"/>
                      </a:lnTo>
                      <a:lnTo>
                        <a:pt x="0" y="79"/>
                      </a:lnTo>
                      <a:lnTo>
                        <a:pt x="3" y="102"/>
                      </a:lnTo>
                      <a:lnTo>
                        <a:pt x="10" y="125"/>
                      </a:lnTo>
                      <a:lnTo>
                        <a:pt x="22" y="143"/>
                      </a:lnTo>
                      <a:lnTo>
                        <a:pt x="23" y="144"/>
                      </a:lnTo>
                      <a:lnTo>
                        <a:pt x="26" y="146"/>
                      </a:lnTo>
                      <a:lnTo>
                        <a:pt x="33" y="150"/>
                      </a:lnTo>
                      <a:lnTo>
                        <a:pt x="43" y="154"/>
                      </a:lnTo>
                      <a:lnTo>
                        <a:pt x="54" y="161"/>
                      </a:lnTo>
                      <a:lnTo>
                        <a:pt x="69" y="169"/>
                      </a:lnTo>
                      <a:lnTo>
                        <a:pt x="86" y="177"/>
                      </a:lnTo>
                      <a:lnTo>
                        <a:pt x="106" y="187"/>
                      </a:lnTo>
                      <a:lnTo>
                        <a:pt x="128" y="197"/>
                      </a:lnTo>
                      <a:lnTo>
                        <a:pt x="154" y="208"/>
                      </a:lnTo>
                      <a:lnTo>
                        <a:pt x="182" y="221"/>
                      </a:lnTo>
                      <a:lnTo>
                        <a:pt x="213" y="234"/>
                      </a:lnTo>
                      <a:lnTo>
                        <a:pt x="247" y="248"/>
                      </a:lnTo>
                      <a:lnTo>
                        <a:pt x="283" y="262"/>
                      </a:lnTo>
                      <a:lnTo>
                        <a:pt x="322" y="277"/>
                      </a:lnTo>
                      <a:lnTo>
                        <a:pt x="364" y="292"/>
                      </a:lnTo>
                      <a:lnTo>
                        <a:pt x="410" y="308"/>
                      </a:lnTo>
                      <a:lnTo>
                        <a:pt x="457" y="323"/>
                      </a:lnTo>
                      <a:lnTo>
                        <a:pt x="508" y="339"/>
                      </a:lnTo>
                      <a:lnTo>
                        <a:pt x="562" y="355"/>
                      </a:lnTo>
                      <a:lnTo>
                        <a:pt x="618" y="371"/>
                      </a:lnTo>
                      <a:lnTo>
                        <a:pt x="678" y="387"/>
                      </a:lnTo>
                      <a:lnTo>
                        <a:pt x="740" y="402"/>
                      </a:lnTo>
                      <a:lnTo>
                        <a:pt x="805" y="418"/>
                      </a:lnTo>
                      <a:lnTo>
                        <a:pt x="874" y="433"/>
                      </a:lnTo>
                      <a:lnTo>
                        <a:pt x="945" y="449"/>
                      </a:lnTo>
                      <a:lnTo>
                        <a:pt x="1018" y="462"/>
                      </a:lnTo>
                      <a:lnTo>
                        <a:pt x="1096" y="477"/>
                      </a:lnTo>
                      <a:lnTo>
                        <a:pt x="1176" y="490"/>
                      </a:lnTo>
                      <a:lnTo>
                        <a:pt x="1259" y="503"/>
                      </a:lnTo>
                      <a:lnTo>
                        <a:pt x="1346" y="514"/>
                      </a:lnTo>
                      <a:lnTo>
                        <a:pt x="1435" y="525"/>
                      </a:lnTo>
                      <a:lnTo>
                        <a:pt x="1436" y="523"/>
                      </a:lnTo>
                      <a:lnTo>
                        <a:pt x="1441" y="516"/>
                      </a:lnTo>
                      <a:lnTo>
                        <a:pt x="1447" y="506"/>
                      </a:lnTo>
                      <a:lnTo>
                        <a:pt x="1454" y="491"/>
                      </a:lnTo>
                      <a:lnTo>
                        <a:pt x="1461" y="474"/>
                      </a:lnTo>
                      <a:lnTo>
                        <a:pt x="1466" y="454"/>
                      </a:lnTo>
                      <a:lnTo>
                        <a:pt x="1469" y="432"/>
                      </a:lnTo>
                      <a:lnTo>
                        <a:pt x="1468" y="407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5" name="Freeform 88"/>
                <p:cNvSpPr>
                  <a:spLocks/>
                </p:cNvSpPr>
                <p:nvPr/>
              </p:nvSpPr>
              <p:spPr bwMode="auto">
                <a:xfrm>
                  <a:off x="8253" y="4846"/>
                  <a:ext cx="42" cy="29"/>
                </a:xfrm>
                <a:custGeom>
                  <a:avLst/>
                  <a:gdLst>
                    <a:gd name="T0" fmla="*/ 13 w 170"/>
                    <a:gd name="T1" fmla="*/ 0 h 120"/>
                    <a:gd name="T2" fmla="*/ 12 w 170"/>
                    <a:gd name="T3" fmla="*/ 0 h 120"/>
                    <a:gd name="T4" fmla="*/ 10 w 170"/>
                    <a:gd name="T5" fmla="*/ 1 h 120"/>
                    <a:gd name="T6" fmla="*/ 7 w 170"/>
                    <a:gd name="T7" fmla="*/ 2 h 120"/>
                    <a:gd name="T8" fmla="*/ 4 w 170"/>
                    <a:gd name="T9" fmla="*/ 4 h 120"/>
                    <a:gd name="T10" fmla="*/ 2 w 170"/>
                    <a:gd name="T11" fmla="*/ 6 h 120"/>
                    <a:gd name="T12" fmla="*/ 0 w 170"/>
                    <a:gd name="T13" fmla="*/ 10 h 120"/>
                    <a:gd name="T14" fmla="*/ 0 w 170"/>
                    <a:gd name="T15" fmla="*/ 16 h 120"/>
                    <a:gd name="T16" fmla="*/ 2 w 170"/>
                    <a:gd name="T17" fmla="*/ 23 h 120"/>
                    <a:gd name="T18" fmla="*/ 24 w 170"/>
                    <a:gd name="T19" fmla="*/ 29 h 120"/>
                    <a:gd name="T20" fmla="*/ 24 w 170"/>
                    <a:gd name="T21" fmla="*/ 28 h 120"/>
                    <a:gd name="T22" fmla="*/ 24 w 170"/>
                    <a:gd name="T23" fmla="*/ 25 h 120"/>
                    <a:gd name="T24" fmla="*/ 24 w 170"/>
                    <a:gd name="T25" fmla="*/ 20 h 120"/>
                    <a:gd name="T26" fmla="*/ 25 w 170"/>
                    <a:gd name="T27" fmla="*/ 15 h 120"/>
                    <a:gd name="T28" fmla="*/ 27 w 170"/>
                    <a:gd name="T29" fmla="*/ 11 h 120"/>
                    <a:gd name="T30" fmla="*/ 30 w 170"/>
                    <a:gd name="T31" fmla="*/ 7 h 120"/>
                    <a:gd name="T32" fmla="*/ 35 w 170"/>
                    <a:gd name="T33" fmla="*/ 5 h 120"/>
                    <a:gd name="T34" fmla="*/ 42 w 170"/>
                    <a:gd name="T35" fmla="*/ 6 h 120"/>
                    <a:gd name="T36" fmla="*/ 13 w 170"/>
                    <a:gd name="T37" fmla="*/ 0 h 120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0"/>
                    <a:gd name="T58" fmla="*/ 0 h 120"/>
                    <a:gd name="T59" fmla="*/ 170 w 170"/>
                    <a:gd name="T60" fmla="*/ 120 h 120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0" h="120">
                      <a:moveTo>
                        <a:pt x="53" y="0"/>
                      </a:moveTo>
                      <a:lnTo>
                        <a:pt x="49" y="0"/>
                      </a:lnTo>
                      <a:lnTo>
                        <a:pt x="41" y="3"/>
                      </a:lnTo>
                      <a:lnTo>
                        <a:pt x="30" y="7"/>
                      </a:lnTo>
                      <a:lnTo>
                        <a:pt x="17" y="15"/>
                      </a:lnTo>
                      <a:lnTo>
                        <a:pt x="7" y="26"/>
                      </a:lnTo>
                      <a:lnTo>
                        <a:pt x="1" y="43"/>
                      </a:lnTo>
                      <a:lnTo>
                        <a:pt x="0" y="65"/>
                      </a:lnTo>
                      <a:lnTo>
                        <a:pt x="7" y="94"/>
                      </a:lnTo>
                      <a:lnTo>
                        <a:pt x="98" y="120"/>
                      </a:lnTo>
                      <a:lnTo>
                        <a:pt x="97" y="114"/>
                      </a:lnTo>
                      <a:lnTo>
                        <a:pt x="97" y="102"/>
                      </a:lnTo>
                      <a:lnTo>
                        <a:pt x="97" y="84"/>
                      </a:lnTo>
                      <a:lnTo>
                        <a:pt x="101" y="64"/>
                      </a:lnTo>
                      <a:lnTo>
                        <a:pt x="108" y="44"/>
                      </a:lnTo>
                      <a:lnTo>
                        <a:pt x="121" y="30"/>
                      </a:lnTo>
                      <a:lnTo>
                        <a:pt x="141" y="22"/>
                      </a:lnTo>
                      <a:lnTo>
                        <a:pt x="170" y="2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6" name="Freeform 89"/>
                <p:cNvSpPr>
                  <a:spLocks/>
                </p:cNvSpPr>
                <p:nvPr/>
              </p:nvSpPr>
              <p:spPr bwMode="auto">
                <a:xfrm>
                  <a:off x="8494" y="4901"/>
                  <a:ext cx="43" cy="29"/>
                </a:xfrm>
                <a:custGeom>
                  <a:avLst/>
                  <a:gdLst>
                    <a:gd name="T0" fmla="*/ 13 w 170"/>
                    <a:gd name="T1" fmla="*/ 0 h 119"/>
                    <a:gd name="T2" fmla="*/ 12 w 170"/>
                    <a:gd name="T3" fmla="*/ 0 h 119"/>
                    <a:gd name="T4" fmla="*/ 10 w 170"/>
                    <a:gd name="T5" fmla="*/ 1 h 119"/>
                    <a:gd name="T6" fmla="*/ 7 w 170"/>
                    <a:gd name="T7" fmla="*/ 2 h 119"/>
                    <a:gd name="T8" fmla="*/ 5 w 170"/>
                    <a:gd name="T9" fmla="*/ 3 h 119"/>
                    <a:gd name="T10" fmla="*/ 2 w 170"/>
                    <a:gd name="T11" fmla="*/ 6 h 119"/>
                    <a:gd name="T12" fmla="*/ 0 w 170"/>
                    <a:gd name="T13" fmla="*/ 10 h 119"/>
                    <a:gd name="T14" fmla="*/ 0 w 170"/>
                    <a:gd name="T15" fmla="*/ 16 h 119"/>
                    <a:gd name="T16" fmla="*/ 2 w 170"/>
                    <a:gd name="T17" fmla="*/ 23 h 119"/>
                    <a:gd name="T18" fmla="*/ 25 w 170"/>
                    <a:gd name="T19" fmla="*/ 29 h 119"/>
                    <a:gd name="T20" fmla="*/ 24 w 170"/>
                    <a:gd name="T21" fmla="*/ 28 h 119"/>
                    <a:gd name="T22" fmla="*/ 24 w 170"/>
                    <a:gd name="T23" fmla="*/ 25 h 119"/>
                    <a:gd name="T24" fmla="*/ 24 w 170"/>
                    <a:gd name="T25" fmla="*/ 20 h 119"/>
                    <a:gd name="T26" fmla="*/ 25 w 170"/>
                    <a:gd name="T27" fmla="*/ 15 h 119"/>
                    <a:gd name="T28" fmla="*/ 27 w 170"/>
                    <a:gd name="T29" fmla="*/ 11 h 119"/>
                    <a:gd name="T30" fmla="*/ 30 w 170"/>
                    <a:gd name="T31" fmla="*/ 7 h 119"/>
                    <a:gd name="T32" fmla="*/ 36 w 170"/>
                    <a:gd name="T33" fmla="*/ 5 h 119"/>
                    <a:gd name="T34" fmla="*/ 43 w 170"/>
                    <a:gd name="T35" fmla="*/ 6 h 119"/>
                    <a:gd name="T36" fmla="*/ 13 w 170"/>
                    <a:gd name="T37" fmla="*/ 0 h 11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w 170"/>
                    <a:gd name="T58" fmla="*/ 0 h 119"/>
                    <a:gd name="T59" fmla="*/ 170 w 170"/>
                    <a:gd name="T60" fmla="*/ 119 h 119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T57" t="T58" r="T59" b="T60"/>
                  <a:pathLst>
                    <a:path w="170" h="119">
                      <a:moveTo>
                        <a:pt x="53" y="0"/>
                      </a:moveTo>
                      <a:lnTo>
                        <a:pt x="49" y="0"/>
                      </a:lnTo>
                      <a:lnTo>
                        <a:pt x="41" y="3"/>
                      </a:lnTo>
                      <a:lnTo>
                        <a:pt x="29" y="7"/>
                      </a:lnTo>
                      <a:lnTo>
                        <a:pt x="18" y="14"/>
                      </a:lnTo>
                      <a:lnTo>
                        <a:pt x="7" y="25"/>
                      </a:lnTo>
                      <a:lnTo>
                        <a:pt x="0" y="42"/>
                      </a:lnTo>
                      <a:lnTo>
                        <a:pt x="0" y="65"/>
                      </a:lnTo>
                      <a:lnTo>
                        <a:pt x="7" y="94"/>
                      </a:lnTo>
                      <a:lnTo>
                        <a:pt x="97" y="119"/>
                      </a:lnTo>
                      <a:lnTo>
                        <a:pt x="96" y="114"/>
                      </a:lnTo>
                      <a:lnTo>
                        <a:pt x="96" y="101"/>
                      </a:lnTo>
                      <a:lnTo>
                        <a:pt x="96" y="83"/>
                      </a:lnTo>
                      <a:lnTo>
                        <a:pt x="100" y="62"/>
                      </a:lnTo>
                      <a:lnTo>
                        <a:pt x="107" y="44"/>
                      </a:lnTo>
                      <a:lnTo>
                        <a:pt x="120" y="30"/>
                      </a:lnTo>
                      <a:lnTo>
                        <a:pt x="141" y="22"/>
                      </a:lnTo>
                      <a:lnTo>
                        <a:pt x="170" y="25"/>
                      </a:lnTo>
                      <a:lnTo>
                        <a:pt x="53" y="0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7" name="Freeform 90"/>
                <p:cNvSpPr>
                  <a:spLocks/>
                </p:cNvSpPr>
                <p:nvPr/>
              </p:nvSpPr>
              <p:spPr bwMode="auto">
                <a:xfrm>
                  <a:off x="8299" y="4855"/>
                  <a:ext cx="182" cy="50"/>
                </a:xfrm>
                <a:custGeom>
                  <a:avLst/>
                  <a:gdLst>
                    <a:gd name="T0" fmla="*/ 0 w 730"/>
                    <a:gd name="T1" fmla="*/ 11 h 200"/>
                    <a:gd name="T2" fmla="*/ 174 w 730"/>
                    <a:gd name="T3" fmla="*/ 50 h 200"/>
                    <a:gd name="T4" fmla="*/ 182 w 730"/>
                    <a:gd name="T5" fmla="*/ 39 h 200"/>
                    <a:gd name="T6" fmla="*/ 8 w 730"/>
                    <a:gd name="T7" fmla="*/ 0 h 200"/>
                    <a:gd name="T8" fmla="*/ 0 w 730"/>
                    <a:gd name="T9" fmla="*/ 11 h 2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30"/>
                    <a:gd name="T16" fmla="*/ 0 h 200"/>
                    <a:gd name="T17" fmla="*/ 730 w 730"/>
                    <a:gd name="T18" fmla="*/ 200 h 2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30" h="200">
                      <a:moveTo>
                        <a:pt x="0" y="44"/>
                      </a:moveTo>
                      <a:lnTo>
                        <a:pt x="697" y="200"/>
                      </a:lnTo>
                      <a:lnTo>
                        <a:pt x="730" y="156"/>
                      </a:lnTo>
                      <a:lnTo>
                        <a:pt x="33" y="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8" name="Freeform 91"/>
                <p:cNvSpPr>
                  <a:spLocks/>
                </p:cNvSpPr>
                <p:nvPr/>
              </p:nvSpPr>
              <p:spPr bwMode="auto">
                <a:xfrm>
                  <a:off x="8297" y="4875"/>
                  <a:ext cx="176" cy="47"/>
                </a:xfrm>
                <a:custGeom>
                  <a:avLst/>
                  <a:gdLst>
                    <a:gd name="T0" fmla="*/ 0 w 703"/>
                    <a:gd name="T1" fmla="*/ 8 h 187"/>
                    <a:gd name="T2" fmla="*/ 174 w 703"/>
                    <a:gd name="T3" fmla="*/ 47 h 187"/>
                    <a:gd name="T4" fmla="*/ 176 w 703"/>
                    <a:gd name="T5" fmla="*/ 39 h 187"/>
                    <a:gd name="T6" fmla="*/ 2 w 703"/>
                    <a:gd name="T7" fmla="*/ 0 h 187"/>
                    <a:gd name="T8" fmla="*/ 0 w 703"/>
                    <a:gd name="T9" fmla="*/ 8 h 18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3"/>
                    <a:gd name="T16" fmla="*/ 0 h 187"/>
                    <a:gd name="T17" fmla="*/ 703 w 703"/>
                    <a:gd name="T18" fmla="*/ 187 h 18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3" h="187">
                      <a:moveTo>
                        <a:pt x="0" y="30"/>
                      </a:moveTo>
                      <a:lnTo>
                        <a:pt x="696" y="187"/>
                      </a:lnTo>
                      <a:lnTo>
                        <a:pt x="703" y="157"/>
                      </a:lnTo>
                      <a:lnTo>
                        <a:pt x="6" y="0"/>
                      </a:lnTo>
                      <a:lnTo>
                        <a:pt x="0" y="30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79" name="Freeform 92"/>
                <p:cNvSpPr>
                  <a:spLocks/>
                </p:cNvSpPr>
                <p:nvPr/>
              </p:nvSpPr>
              <p:spPr bwMode="auto">
                <a:xfrm>
                  <a:off x="8486" y="4969"/>
                  <a:ext cx="106" cy="127"/>
                </a:xfrm>
                <a:custGeom>
                  <a:avLst/>
                  <a:gdLst>
                    <a:gd name="T0" fmla="*/ 0 w 424"/>
                    <a:gd name="T1" fmla="*/ 127 h 508"/>
                    <a:gd name="T2" fmla="*/ 22 w 424"/>
                    <a:gd name="T3" fmla="*/ 97 h 508"/>
                    <a:gd name="T4" fmla="*/ 31 w 424"/>
                    <a:gd name="T5" fmla="*/ 97 h 508"/>
                    <a:gd name="T6" fmla="*/ 106 w 424"/>
                    <a:gd name="T7" fmla="*/ 0 h 508"/>
                    <a:gd name="T8" fmla="*/ 33 w 424"/>
                    <a:gd name="T9" fmla="*/ 71 h 508"/>
                    <a:gd name="T10" fmla="*/ 17 w 424"/>
                    <a:gd name="T11" fmla="*/ 72 h 508"/>
                    <a:gd name="T12" fmla="*/ 0 w 424"/>
                    <a:gd name="T13" fmla="*/ 90 h 508"/>
                    <a:gd name="T14" fmla="*/ 0 w 424"/>
                    <a:gd name="T15" fmla="*/ 127 h 50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424"/>
                    <a:gd name="T25" fmla="*/ 0 h 508"/>
                    <a:gd name="T26" fmla="*/ 424 w 424"/>
                    <a:gd name="T27" fmla="*/ 508 h 508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424" h="508">
                      <a:moveTo>
                        <a:pt x="0" y="508"/>
                      </a:moveTo>
                      <a:lnTo>
                        <a:pt x="86" y="388"/>
                      </a:lnTo>
                      <a:lnTo>
                        <a:pt x="124" y="388"/>
                      </a:lnTo>
                      <a:lnTo>
                        <a:pt x="424" y="0"/>
                      </a:lnTo>
                      <a:lnTo>
                        <a:pt x="130" y="282"/>
                      </a:lnTo>
                      <a:lnTo>
                        <a:pt x="66" y="289"/>
                      </a:lnTo>
                      <a:lnTo>
                        <a:pt x="0" y="358"/>
                      </a:lnTo>
                      <a:lnTo>
                        <a:pt x="0" y="508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0" name="Freeform 93"/>
                <p:cNvSpPr>
                  <a:spLocks/>
                </p:cNvSpPr>
                <p:nvPr/>
              </p:nvSpPr>
              <p:spPr bwMode="auto">
                <a:xfrm>
                  <a:off x="8312" y="4637"/>
                  <a:ext cx="296" cy="61"/>
                </a:xfrm>
                <a:custGeom>
                  <a:avLst/>
                  <a:gdLst>
                    <a:gd name="T0" fmla="*/ 0 w 1186"/>
                    <a:gd name="T1" fmla="*/ 0 h 245"/>
                    <a:gd name="T2" fmla="*/ 296 w 1186"/>
                    <a:gd name="T3" fmla="*/ 61 h 245"/>
                    <a:gd name="T4" fmla="*/ 296 w 1186"/>
                    <a:gd name="T5" fmla="*/ 61 h 245"/>
                    <a:gd name="T6" fmla="*/ 295 w 1186"/>
                    <a:gd name="T7" fmla="*/ 60 h 245"/>
                    <a:gd name="T8" fmla="*/ 293 w 1186"/>
                    <a:gd name="T9" fmla="*/ 60 h 245"/>
                    <a:gd name="T10" fmla="*/ 290 w 1186"/>
                    <a:gd name="T11" fmla="*/ 58 h 245"/>
                    <a:gd name="T12" fmla="*/ 286 w 1186"/>
                    <a:gd name="T13" fmla="*/ 57 h 245"/>
                    <a:gd name="T14" fmla="*/ 282 w 1186"/>
                    <a:gd name="T15" fmla="*/ 55 h 245"/>
                    <a:gd name="T16" fmla="*/ 278 w 1186"/>
                    <a:gd name="T17" fmla="*/ 53 h 245"/>
                    <a:gd name="T18" fmla="*/ 272 w 1186"/>
                    <a:gd name="T19" fmla="*/ 51 h 245"/>
                    <a:gd name="T20" fmla="*/ 266 w 1186"/>
                    <a:gd name="T21" fmla="*/ 49 h 245"/>
                    <a:gd name="T22" fmla="*/ 259 w 1186"/>
                    <a:gd name="T23" fmla="*/ 47 h 245"/>
                    <a:gd name="T24" fmla="*/ 252 w 1186"/>
                    <a:gd name="T25" fmla="*/ 44 h 245"/>
                    <a:gd name="T26" fmla="*/ 244 w 1186"/>
                    <a:gd name="T27" fmla="*/ 41 h 245"/>
                    <a:gd name="T28" fmla="*/ 236 w 1186"/>
                    <a:gd name="T29" fmla="*/ 38 h 245"/>
                    <a:gd name="T30" fmla="*/ 227 w 1186"/>
                    <a:gd name="T31" fmla="*/ 36 h 245"/>
                    <a:gd name="T32" fmla="*/ 217 w 1186"/>
                    <a:gd name="T33" fmla="*/ 33 h 245"/>
                    <a:gd name="T34" fmla="*/ 208 w 1186"/>
                    <a:gd name="T35" fmla="*/ 30 h 245"/>
                    <a:gd name="T36" fmla="*/ 197 w 1186"/>
                    <a:gd name="T37" fmla="*/ 27 h 245"/>
                    <a:gd name="T38" fmla="*/ 186 w 1186"/>
                    <a:gd name="T39" fmla="*/ 24 h 245"/>
                    <a:gd name="T40" fmla="*/ 175 w 1186"/>
                    <a:gd name="T41" fmla="*/ 21 h 245"/>
                    <a:gd name="T42" fmla="*/ 163 w 1186"/>
                    <a:gd name="T43" fmla="*/ 18 h 245"/>
                    <a:gd name="T44" fmla="*/ 151 w 1186"/>
                    <a:gd name="T45" fmla="*/ 16 h 245"/>
                    <a:gd name="T46" fmla="*/ 139 w 1186"/>
                    <a:gd name="T47" fmla="*/ 13 h 245"/>
                    <a:gd name="T48" fmla="*/ 126 w 1186"/>
                    <a:gd name="T49" fmla="*/ 11 h 245"/>
                    <a:gd name="T50" fmla="*/ 113 w 1186"/>
                    <a:gd name="T51" fmla="*/ 9 h 245"/>
                    <a:gd name="T52" fmla="*/ 100 w 1186"/>
                    <a:gd name="T53" fmla="*/ 7 h 245"/>
                    <a:gd name="T54" fmla="*/ 86 w 1186"/>
                    <a:gd name="T55" fmla="*/ 5 h 245"/>
                    <a:gd name="T56" fmla="*/ 72 w 1186"/>
                    <a:gd name="T57" fmla="*/ 4 h 245"/>
                    <a:gd name="T58" fmla="*/ 58 w 1186"/>
                    <a:gd name="T59" fmla="*/ 2 h 245"/>
                    <a:gd name="T60" fmla="*/ 44 w 1186"/>
                    <a:gd name="T61" fmla="*/ 1 h 245"/>
                    <a:gd name="T62" fmla="*/ 29 w 1186"/>
                    <a:gd name="T63" fmla="*/ 0 h 245"/>
                    <a:gd name="T64" fmla="*/ 15 w 1186"/>
                    <a:gd name="T65" fmla="*/ 0 h 245"/>
                    <a:gd name="T66" fmla="*/ 0 w 1186"/>
                    <a:gd name="T67" fmla="*/ 0 h 245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w 1186"/>
                    <a:gd name="T103" fmla="*/ 0 h 245"/>
                    <a:gd name="T104" fmla="*/ 1186 w 1186"/>
                    <a:gd name="T105" fmla="*/ 245 h 245"/>
                  </a:gdLst>
                  <a:ahLst/>
                  <a:cxnLst>
                    <a:cxn ang="T68">
                      <a:pos x="T0" y="T1"/>
                    </a:cxn>
                    <a:cxn ang="T69">
                      <a:pos x="T2" y="T3"/>
                    </a:cxn>
                    <a:cxn ang="T70">
                      <a:pos x="T4" y="T5"/>
                    </a:cxn>
                    <a:cxn ang="T71">
                      <a:pos x="T6" y="T7"/>
                    </a:cxn>
                    <a:cxn ang="T72">
                      <a:pos x="T8" y="T9"/>
                    </a:cxn>
                    <a:cxn ang="T73">
                      <a:pos x="T10" y="T11"/>
                    </a:cxn>
                    <a:cxn ang="T74">
                      <a:pos x="T12" y="T13"/>
                    </a:cxn>
                    <a:cxn ang="T75">
                      <a:pos x="T14" y="T15"/>
                    </a:cxn>
                    <a:cxn ang="T76">
                      <a:pos x="T16" y="T17"/>
                    </a:cxn>
                    <a:cxn ang="T77">
                      <a:pos x="T18" y="T19"/>
                    </a:cxn>
                    <a:cxn ang="T78">
                      <a:pos x="T20" y="T21"/>
                    </a:cxn>
                    <a:cxn ang="T79">
                      <a:pos x="T22" y="T23"/>
                    </a:cxn>
                    <a:cxn ang="T80">
                      <a:pos x="T24" y="T25"/>
                    </a:cxn>
                    <a:cxn ang="T81">
                      <a:pos x="T26" y="T27"/>
                    </a:cxn>
                    <a:cxn ang="T82">
                      <a:pos x="T28" y="T29"/>
                    </a:cxn>
                    <a:cxn ang="T83">
                      <a:pos x="T30" y="T31"/>
                    </a:cxn>
                    <a:cxn ang="T84">
                      <a:pos x="T32" y="T33"/>
                    </a:cxn>
                    <a:cxn ang="T85">
                      <a:pos x="T34" y="T35"/>
                    </a:cxn>
                    <a:cxn ang="T86">
                      <a:pos x="T36" y="T37"/>
                    </a:cxn>
                    <a:cxn ang="T87">
                      <a:pos x="T38" y="T39"/>
                    </a:cxn>
                    <a:cxn ang="T88">
                      <a:pos x="T40" y="T41"/>
                    </a:cxn>
                    <a:cxn ang="T89">
                      <a:pos x="T42" y="T43"/>
                    </a:cxn>
                    <a:cxn ang="T90">
                      <a:pos x="T44" y="T45"/>
                    </a:cxn>
                    <a:cxn ang="T91">
                      <a:pos x="T46" y="T47"/>
                    </a:cxn>
                    <a:cxn ang="T92">
                      <a:pos x="T48" y="T49"/>
                    </a:cxn>
                    <a:cxn ang="T93">
                      <a:pos x="T50" y="T51"/>
                    </a:cxn>
                    <a:cxn ang="T94">
                      <a:pos x="T52" y="T53"/>
                    </a:cxn>
                    <a:cxn ang="T95">
                      <a:pos x="T54" y="T55"/>
                    </a:cxn>
                    <a:cxn ang="T96">
                      <a:pos x="T56" y="T57"/>
                    </a:cxn>
                    <a:cxn ang="T97">
                      <a:pos x="T58" y="T59"/>
                    </a:cxn>
                    <a:cxn ang="T98">
                      <a:pos x="T60" y="T61"/>
                    </a:cxn>
                    <a:cxn ang="T99">
                      <a:pos x="T62" y="T63"/>
                    </a:cxn>
                    <a:cxn ang="T100">
                      <a:pos x="T64" y="T65"/>
                    </a:cxn>
                    <a:cxn ang="T101">
                      <a:pos x="T66" y="T67"/>
                    </a:cxn>
                  </a:cxnLst>
                  <a:rect l="T102" t="T103" r="T104" b="T105"/>
                  <a:pathLst>
                    <a:path w="1186" h="245">
                      <a:moveTo>
                        <a:pt x="0" y="0"/>
                      </a:moveTo>
                      <a:lnTo>
                        <a:pt x="1186" y="245"/>
                      </a:lnTo>
                      <a:lnTo>
                        <a:pt x="1184" y="244"/>
                      </a:lnTo>
                      <a:lnTo>
                        <a:pt x="1180" y="242"/>
                      </a:lnTo>
                      <a:lnTo>
                        <a:pt x="1172" y="239"/>
                      </a:lnTo>
                      <a:lnTo>
                        <a:pt x="1161" y="233"/>
                      </a:lnTo>
                      <a:lnTo>
                        <a:pt x="1147" y="228"/>
                      </a:lnTo>
                      <a:lnTo>
                        <a:pt x="1130" y="222"/>
                      </a:lnTo>
                      <a:lnTo>
                        <a:pt x="1112" y="214"/>
                      </a:lnTo>
                      <a:lnTo>
                        <a:pt x="1091" y="205"/>
                      </a:lnTo>
                      <a:lnTo>
                        <a:pt x="1066" y="196"/>
                      </a:lnTo>
                      <a:lnTo>
                        <a:pt x="1039" y="187"/>
                      </a:lnTo>
                      <a:lnTo>
                        <a:pt x="1010" y="177"/>
                      </a:lnTo>
                      <a:lnTo>
                        <a:pt x="979" y="166"/>
                      </a:lnTo>
                      <a:lnTo>
                        <a:pt x="945" y="154"/>
                      </a:lnTo>
                      <a:lnTo>
                        <a:pt x="910" y="143"/>
                      </a:lnTo>
                      <a:lnTo>
                        <a:pt x="871" y="132"/>
                      </a:lnTo>
                      <a:lnTo>
                        <a:pt x="832" y="121"/>
                      </a:lnTo>
                      <a:lnTo>
                        <a:pt x="790" y="108"/>
                      </a:lnTo>
                      <a:lnTo>
                        <a:pt x="747" y="97"/>
                      </a:lnTo>
                      <a:lnTo>
                        <a:pt x="702" y="86"/>
                      </a:lnTo>
                      <a:lnTo>
                        <a:pt x="655" y="74"/>
                      </a:lnTo>
                      <a:lnTo>
                        <a:pt x="607" y="64"/>
                      </a:lnTo>
                      <a:lnTo>
                        <a:pt x="557" y="54"/>
                      </a:lnTo>
                      <a:lnTo>
                        <a:pt x="506" y="45"/>
                      </a:lnTo>
                      <a:lnTo>
                        <a:pt x="454" y="36"/>
                      </a:lnTo>
                      <a:lnTo>
                        <a:pt x="400" y="28"/>
                      </a:lnTo>
                      <a:lnTo>
                        <a:pt x="346" y="20"/>
                      </a:lnTo>
                      <a:lnTo>
                        <a:pt x="290" y="15"/>
                      </a:lnTo>
                      <a:lnTo>
                        <a:pt x="233" y="9"/>
                      </a:lnTo>
                      <a:lnTo>
                        <a:pt x="176" y="4"/>
                      </a:lnTo>
                      <a:lnTo>
                        <a:pt x="118" y="2"/>
                      </a:lnTo>
                      <a:lnTo>
                        <a:pt x="6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81" name="Freeform 94"/>
                <p:cNvSpPr>
                  <a:spLocks/>
                </p:cNvSpPr>
                <p:nvPr/>
              </p:nvSpPr>
              <p:spPr bwMode="auto">
                <a:xfrm>
                  <a:off x="8250" y="4639"/>
                  <a:ext cx="60" cy="185"/>
                </a:xfrm>
                <a:custGeom>
                  <a:avLst/>
                  <a:gdLst>
                    <a:gd name="T0" fmla="*/ 60 w 241"/>
                    <a:gd name="T1" fmla="*/ 0 h 738"/>
                    <a:gd name="T2" fmla="*/ 13 w 241"/>
                    <a:gd name="T3" fmla="*/ 185 h 738"/>
                    <a:gd name="T4" fmla="*/ 0 w 241"/>
                    <a:gd name="T5" fmla="*/ 182 h 738"/>
                    <a:gd name="T6" fmla="*/ 42 w 241"/>
                    <a:gd name="T7" fmla="*/ 0 h 738"/>
                    <a:gd name="T8" fmla="*/ 60 w 241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1"/>
                    <a:gd name="T16" fmla="*/ 0 h 738"/>
                    <a:gd name="T17" fmla="*/ 241 w 241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1" h="738">
                      <a:moveTo>
                        <a:pt x="241" y="0"/>
                      </a:moveTo>
                      <a:lnTo>
                        <a:pt x="52" y="738"/>
                      </a:lnTo>
                      <a:lnTo>
                        <a:pt x="0" y="726"/>
                      </a:lnTo>
                      <a:lnTo>
                        <a:pt x="169" y="0"/>
                      </a:lnTo>
                      <a:lnTo>
                        <a:pt x="241" y="0"/>
                      </a:lnTo>
                      <a:close/>
                    </a:path>
                  </a:pathLst>
                </a:custGeom>
                <a:solidFill>
                  <a:srgbClr val="F2E5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sp>
          <p:nvSpPr>
            <p:cNvPr id="19469" name="Freeform 95"/>
            <p:cNvSpPr>
              <a:spLocks/>
            </p:cNvSpPr>
            <p:nvPr/>
          </p:nvSpPr>
          <p:spPr bwMode="auto">
            <a:xfrm>
              <a:off x="4040" y="1566"/>
              <a:ext cx="1158" cy="1078"/>
            </a:xfrm>
            <a:custGeom>
              <a:avLst/>
              <a:gdLst>
                <a:gd name="T0" fmla="*/ 2 w 2894"/>
                <a:gd name="T1" fmla="*/ 533 h 2693"/>
                <a:gd name="T2" fmla="*/ 140 w 2894"/>
                <a:gd name="T3" fmla="*/ 204 h 2693"/>
                <a:gd name="T4" fmla="*/ 554 w 2894"/>
                <a:gd name="T5" fmla="*/ 138 h 2693"/>
                <a:gd name="T6" fmla="*/ 1039 w 2894"/>
                <a:gd name="T7" fmla="*/ 68 h 2693"/>
                <a:gd name="T8" fmla="*/ 1154 w 2894"/>
                <a:gd name="T9" fmla="*/ 546 h 2693"/>
                <a:gd name="T10" fmla="*/ 1064 w 2894"/>
                <a:gd name="T11" fmla="*/ 858 h 2693"/>
                <a:gd name="T12" fmla="*/ 842 w 2894"/>
                <a:gd name="T13" fmla="*/ 1002 h 2693"/>
                <a:gd name="T14" fmla="*/ 656 w 2894"/>
                <a:gd name="T15" fmla="*/ 1032 h 2693"/>
                <a:gd name="T16" fmla="*/ 418 w 2894"/>
                <a:gd name="T17" fmla="*/ 1053 h 2693"/>
                <a:gd name="T18" fmla="*/ 138 w 2894"/>
                <a:gd name="T19" fmla="*/ 881 h 2693"/>
                <a:gd name="T20" fmla="*/ 2 w 2894"/>
                <a:gd name="T21" fmla="*/ 533 h 26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94"/>
                <a:gd name="T34" fmla="*/ 0 h 2693"/>
                <a:gd name="T35" fmla="*/ 2894 w 2894"/>
                <a:gd name="T36" fmla="*/ 2693 h 269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94" h="2693">
                  <a:moveTo>
                    <a:pt x="4" y="1331"/>
                  </a:moveTo>
                  <a:cubicBezTo>
                    <a:pt x="4" y="1049"/>
                    <a:pt x="119" y="673"/>
                    <a:pt x="349" y="509"/>
                  </a:cubicBezTo>
                  <a:cubicBezTo>
                    <a:pt x="579" y="345"/>
                    <a:pt x="1010" y="400"/>
                    <a:pt x="1384" y="344"/>
                  </a:cubicBezTo>
                  <a:cubicBezTo>
                    <a:pt x="1758" y="288"/>
                    <a:pt x="2346" y="0"/>
                    <a:pt x="2596" y="170"/>
                  </a:cubicBezTo>
                  <a:cubicBezTo>
                    <a:pt x="2846" y="340"/>
                    <a:pt x="2874" y="1035"/>
                    <a:pt x="2884" y="1364"/>
                  </a:cubicBezTo>
                  <a:cubicBezTo>
                    <a:pt x="2894" y="1693"/>
                    <a:pt x="2789" y="1954"/>
                    <a:pt x="2659" y="2144"/>
                  </a:cubicBezTo>
                  <a:cubicBezTo>
                    <a:pt x="2529" y="2334"/>
                    <a:pt x="2274" y="2432"/>
                    <a:pt x="2104" y="2504"/>
                  </a:cubicBezTo>
                  <a:cubicBezTo>
                    <a:pt x="1934" y="2576"/>
                    <a:pt x="1816" y="2558"/>
                    <a:pt x="1639" y="2579"/>
                  </a:cubicBezTo>
                  <a:cubicBezTo>
                    <a:pt x="1462" y="2600"/>
                    <a:pt x="1259" y="2693"/>
                    <a:pt x="1044" y="2630"/>
                  </a:cubicBezTo>
                  <a:cubicBezTo>
                    <a:pt x="829" y="2567"/>
                    <a:pt x="520" y="2418"/>
                    <a:pt x="346" y="2201"/>
                  </a:cubicBezTo>
                  <a:cubicBezTo>
                    <a:pt x="173" y="1985"/>
                    <a:pt x="0" y="1682"/>
                    <a:pt x="4" y="1331"/>
                  </a:cubicBezTo>
                  <a:close/>
                </a:path>
              </a:pathLst>
            </a:cu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70" name="Group 96"/>
            <p:cNvGrpSpPr>
              <a:grpSpLocks/>
            </p:cNvGrpSpPr>
            <p:nvPr/>
          </p:nvGrpSpPr>
          <p:grpSpPr bwMode="auto">
            <a:xfrm>
              <a:off x="4224" y="2346"/>
              <a:ext cx="316" cy="147"/>
              <a:chOff x="3600" y="219"/>
              <a:chExt cx="360" cy="175"/>
            </a:xfrm>
          </p:grpSpPr>
          <p:sp>
            <p:nvSpPr>
              <p:cNvPr id="19499" name="Oval 97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00" name="Line 98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01" name="Line 99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502" name="Rectangle 100"/>
              <p:cNvSpPr>
                <a:spLocks noChangeArrowheads="1"/>
              </p:cNvSpPr>
              <p:nvPr/>
            </p:nvSpPr>
            <p:spPr bwMode="auto">
              <a:xfrm>
                <a:off x="3603" y="284"/>
                <a:ext cx="231" cy="69"/>
              </a:xfrm>
              <a:prstGeom prst="rect">
                <a:avLst/>
              </a:prstGeom>
              <a:solidFill>
                <a:srgbClr val="CCCCFF"/>
              </a:solidFill>
              <a:ln w="12700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eaLnBrk="0" hangingPunct="0"/>
                <a:endParaRPr lang="en-US" sz="1800" b="0">
                  <a:latin typeface="Comic Sans MS" pitchFamily="66" charset="0"/>
                </a:endParaRPr>
              </a:p>
            </p:txBody>
          </p:sp>
          <p:sp>
            <p:nvSpPr>
              <p:cNvPr id="19503" name="Oval 101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rgbClr val="CCCCF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9504" name="Group 102"/>
              <p:cNvGrpSpPr>
                <a:grpSpLocks/>
              </p:cNvGrpSpPr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19509" name="Line 103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10" name="Line 104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11" name="Line 105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9505" name="Group 106"/>
              <p:cNvGrpSpPr>
                <a:grpSpLocks/>
              </p:cNvGrpSpPr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19506" name="Line 107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7" name="Line 108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508" name="Line 109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19471" name="Line 110"/>
            <p:cNvSpPr>
              <a:spLocks noChangeShapeType="1"/>
            </p:cNvSpPr>
            <p:nvPr/>
          </p:nvSpPr>
          <p:spPr bwMode="auto">
            <a:xfrm>
              <a:off x="4243" y="2238"/>
              <a:ext cx="84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Line 111"/>
            <p:cNvSpPr>
              <a:spLocks noChangeShapeType="1"/>
            </p:cNvSpPr>
            <p:nvPr/>
          </p:nvSpPr>
          <p:spPr bwMode="auto">
            <a:xfrm>
              <a:off x="4375" y="2238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3" name="Line 112"/>
            <p:cNvSpPr>
              <a:spLocks noChangeShapeType="1"/>
            </p:cNvSpPr>
            <p:nvPr/>
          </p:nvSpPr>
          <p:spPr bwMode="auto">
            <a:xfrm>
              <a:off x="4912" y="2133"/>
              <a:ext cx="0" cy="10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19474" name="Group 113"/>
            <p:cNvGrpSpPr>
              <a:grpSpLocks/>
            </p:cNvGrpSpPr>
            <p:nvPr/>
          </p:nvGrpSpPr>
          <p:grpSpPr bwMode="auto">
            <a:xfrm>
              <a:off x="4624" y="1836"/>
              <a:ext cx="576" cy="372"/>
              <a:chOff x="10665" y="3225"/>
              <a:chExt cx="1440" cy="930"/>
            </a:xfrm>
          </p:grpSpPr>
          <p:sp>
            <p:nvSpPr>
              <p:cNvPr id="19497" name="Oval 114"/>
              <p:cNvSpPr>
                <a:spLocks noChangeArrowheads="1"/>
              </p:cNvSpPr>
              <p:nvPr/>
            </p:nvSpPr>
            <p:spPr bwMode="auto">
              <a:xfrm>
                <a:off x="10665" y="3225"/>
                <a:ext cx="1440" cy="930"/>
              </a:xfrm>
              <a:prstGeom prst="ellipse">
                <a:avLst/>
              </a:prstGeom>
              <a:gradFill rotWithShape="1">
                <a:gsLst>
                  <a:gs pos="0">
                    <a:srgbClr val="FF0000"/>
                  </a:gs>
                  <a:gs pos="100000">
                    <a:srgbClr val="FFFFFF">
                      <a:alpha val="0"/>
                    </a:srgb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9498" name="Group 115"/>
              <p:cNvGrpSpPr>
                <a:grpSpLocks/>
              </p:cNvGrpSpPr>
              <p:nvPr/>
            </p:nvGrpSpPr>
            <p:grpSpPr bwMode="auto">
              <a:xfrm>
                <a:off x="11031" y="3335"/>
                <a:ext cx="565" cy="643"/>
                <a:chOff x="2870" y="1518"/>
                <a:chExt cx="292" cy="320"/>
              </a:xfrm>
            </p:grpSpPr>
            <p:graphicFrame>
              <p:nvGraphicFramePr>
                <p:cNvPr id="19459" name="Object 116"/>
                <p:cNvGraphicFramePr>
                  <a:graphicFrameLocks noChangeAspect="1"/>
                </p:cNvGraphicFramePr>
                <p:nvPr/>
              </p:nvGraphicFramePr>
              <p:xfrm>
                <a:off x="2870" y="1518"/>
                <a:ext cx="272" cy="282"/>
              </p:xfrm>
              <a:graphic>
                <a:graphicData uri="http://schemas.openxmlformats.org/presentationml/2006/ole">
                  <p:oleObj spid="_x0000_s19459" r:id="rId4" imgW="819000" imgH="847800" progId="">
                    <p:embed/>
                  </p:oleObj>
                </a:graphicData>
              </a:graphic>
            </p:graphicFrame>
            <p:graphicFrame>
              <p:nvGraphicFramePr>
                <p:cNvPr id="19460" name="Object 117"/>
                <p:cNvGraphicFramePr>
                  <a:graphicFrameLocks noChangeAspect="1"/>
                </p:cNvGraphicFramePr>
                <p:nvPr/>
              </p:nvGraphicFramePr>
              <p:xfrm>
                <a:off x="2913" y="1602"/>
                <a:ext cx="249" cy="236"/>
              </p:xfrm>
              <a:graphic>
                <a:graphicData uri="http://schemas.openxmlformats.org/presentationml/2006/ole">
                  <p:oleObj spid="_x0000_s19460" r:id="rId5" imgW="1266840" imgH="1200240" progId="">
                    <p:embed/>
                  </p:oleObj>
                </a:graphicData>
              </a:graphic>
            </p:graphicFrame>
          </p:grpSp>
        </p:grpSp>
        <p:sp>
          <p:nvSpPr>
            <p:cNvPr id="19475" name="Freeform 118"/>
            <p:cNvSpPr>
              <a:spLocks/>
            </p:cNvSpPr>
            <p:nvPr/>
          </p:nvSpPr>
          <p:spPr bwMode="auto">
            <a:xfrm>
              <a:off x="2491" y="2162"/>
              <a:ext cx="1329" cy="788"/>
            </a:xfrm>
            <a:custGeom>
              <a:avLst/>
              <a:gdLst>
                <a:gd name="T0" fmla="*/ 238 w 3324"/>
                <a:gd name="T1" fmla="*/ 6 h 1971"/>
                <a:gd name="T2" fmla="*/ 60 w 3324"/>
                <a:gd name="T3" fmla="*/ 132 h 1971"/>
                <a:gd name="T4" fmla="*/ 1 w 3324"/>
                <a:gd name="T5" fmla="*/ 426 h 1971"/>
                <a:gd name="T6" fmla="*/ 67 w 3324"/>
                <a:gd name="T7" fmla="*/ 642 h 1971"/>
                <a:gd name="T8" fmla="*/ 243 w 3324"/>
                <a:gd name="T9" fmla="*/ 732 h 1971"/>
                <a:gd name="T10" fmla="*/ 433 w 3324"/>
                <a:gd name="T11" fmla="*/ 690 h 1971"/>
                <a:gd name="T12" fmla="*/ 619 w 3324"/>
                <a:gd name="T13" fmla="*/ 750 h 1971"/>
                <a:gd name="T14" fmla="*/ 949 w 3324"/>
                <a:gd name="T15" fmla="*/ 768 h 1971"/>
                <a:gd name="T16" fmla="*/ 1297 w 3324"/>
                <a:gd name="T17" fmla="*/ 630 h 1971"/>
                <a:gd name="T18" fmla="*/ 1143 w 3324"/>
                <a:gd name="T19" fmla="*/ 374 h 1971"/>
                <a:gd name="T20" fmla="*/ 1085 w 3324"/>
                <a:gd name="T21" fmla="*/ 178 h 1971"/>
                <a:gd name="T22" fmla="*/ 685 w 3324"/>
                <a:gd name="T23" fmla="*/ 97 h 1971"/>
                <a:gd name="T24" fmla="*/ 238 w 3324"/>
                <a:gd name="T25" fmla="*/ 6 h 197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324"/>
                <a:gd name="T40" fmla="*/ 0 h 1971"/>
                <a:gd name="T41" fmla="*/ 3324 w 3324"/>
                <a:gd name="T42" fmla="*/ 1971 h 197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324" h="1971">
                  <a:moveTo>
                    <a:pt x="596" y="15"/>
                  </a:moveTo>
                  <a:cubicBezTo>
                    <a:pt x="335" y="29"/>
                    <a:pt x="248" y="155"/>
                    <a:pt x="149" y="330"/>
                  </a:cubicBezTo>
                  <a:cubicBezTo>
                    <a:pt x="50" y="505"/>
                    <a:pt x="0" y="853"/>
                    <a:pt x="3" y="1066"/>
                  </a:cubicBezTo>
                  <a:cubicBezTo>
                    <a:pt x="6" y="1279"/>
                    <a:pt x="67" y="1478"/>
                    <a:pt x="168" y="1606"/>
                  </a:cubicBezTo>
                  <a:cubicBezTo>
                    <a:pt x="269" y="1734"/>
                    <a:pt x="457" y="1811"/>
                    <a:pt x="609" y="1831"/>
                  </a:cubicBezTo>
                  <a:cubicBezTo>
                    <a:pt x="761" y="1851"/>
                    <a:pt x="927" y="1719"/>
                    <a:pt x="1083" y="1726"/>
                  </a:cubicBezTo>
                  <a:cubicBezTo>
                    <a:pt x="1239" y="1733"/>
                    <a:pt x="1333" y="1844"/>
                    <a:pt x="1548" y="1876"/>
                  </a:cubicBezTo>
                  <a:cubicBezTo>
                    <a:pt x="1763" y="1908"/>
                    <a:pt x="2091" y="1971"/>
                    <a:pt x="2373" y="1921"/>
                  </a:cubicBezTo>
                  <a:cubicBezTo>
                    <a:pt x="2655" y="1871"/>
                    <a:pt x="3162" y="1740"/>
                    <a:pt x="3243" y="1576"/>
                  </a:cubicBezTo>
                  <a:cubicBezTo>
                    <a:pt x="3324" y="1412"/>
                    <a:pt x="2947" y="1124"/>
                    <a:pt x="2859" y="935"/>
                  </a:cubicBezTo>
                  <a:cubicBezTo>
                    <a:pt x="2771" y="746"/>
                    <a:pt x="2905" y="559"/>
                    <a:pt x="2714" y="444"/>
                  </a:cubicBezTo>
                  <a:cubicBezTo>
                    <a:pt x="2523" y="328"/>
                    <a:pt x="2063" y="315"/>
                    <a:pt x="1714" y="242"/>
                  </a:cubicBezTo>
                  <a:cubicBezTo>
                    <a:pt x="1366" y="168"/>
                    <a:pt x="857" y="0"/>
                    <a:pt x="596" y="15"/>
                  </a:cubicBezTo>
                  <a:close/>
                </a:path>
              </a:pathLst>
            </a:cu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Freeform 119"/>
            <p:cNvSpPr>
              <a:spLocks/>
            </p:cNvSpPr>
            <p:nvPr/>
          </p:nvSpPr>
          <p:spPr bwMode="auto">
            <a:xfrm>
              <a:off x="2053" y="3147"/>
              <a:ext cx="1855" cy="574"/>
            </a:xfrm>
            <a:custGeom>
              <a:avLst/>
              <a:gdLst>
                <a:gd name="T0" fmla="*/ 136 w 4636"/>
                <a:gd name="T1" fmla="*/ 6 h 1435"/>
                <a:gd name="T2" fmla="*/ 76 w 4636"/>
                <a:gd name="T3" fmla="*/ 258 h 1435"/>
                <a:gd name="T4" fmla="*/ 322 w 4636"/>
                <a:gd name="T5" fmla="*/ 504 h 1435"/>
                <a:gd name="T6" fmla="*/ 784 w 4636"/>
                <a:gd name="T7" fmla="*/ 570 h 1435"/>
                <a:gd name="T8" fmla="*/ 1408 w 4636"/>
                <a:gd name="T9" fmla="*/ 528 h 1435"/>
                <a:gd name="T10" fmla="*/ 1570 w 4636"/>
                <a:gd name="T11" fmla="*/ 390 h 1435"/>
                <a:gd name="T12" fmla="*/ 1818 w 4636"/>
                <a:gd name="T13" fmla="*/ 308 h 1435"/>
                <a:gd name="T14" fmla="*/ 1700 w 4636"/>
                <a:gd name="T15" fmla="*/ 111 h 1435"/>
                <a:gd name="T16" fmla="*/ 889 w 4636"/>
                <a:gd name="T17" fmla="*/ 30 h 1435"/>
                <a:gd name="T18" fmla="*/ 136 w 4636"/>
                <a:gd name="T19" fmla="*/ 6 h 14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636"/>
                <a:gd name="T31" fmla="*/ 0 h 1435"/>
                <a:gd name="T32" fmla="*/ 4636 w 4636"/>
                <a:gd name="T33" fmla="*/ 1435 h 143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636" h="1435">
                  <a:moveTo>
                    <a:pt x="339" y="15"/>
                  </a:moveTo>
                  <a:cubicBezTo>
                    <a:pt x="0" y="110"/>
                    <a:pt x="112" y="438"/>
                    <a:pt x="189" y="645"/>
                  </a:cubicBezTo>
                  <a:cubicBezTo>
                    <a:pt x="266" y="852"/>
                    <a:pt x="509" y="1130"/>
                    <a:pt x="804" y="1260"/>
                  </a:cubicBezTo>
                  <a:cubicBezTo>
                    <a:pt x="1099" y="1390"/>
                    <a:pt x="1507" y="1415"/>
                    <a:pt x="1959" y="1425"/>
                  </a:cubicBezTo>
                  <a:cubicBezTo>
                    <a:pt x="2411" y="1435"/>
                    <a:pt x="3192" y="1395"/>
                    <a:pt x="3519" y="1320"/>
                  </a:cubicBezTo>
                  <a:cubicBezTo>
                    <a:pt x="3846" y="1245"/>
                    <a:pt x="3753" y="1067"/>
                    <a:pt x="3924" y="975"/>
                  </a:cubicBezTo>
                  <a:cubicBezTo>
                    <a:pt x="4095" y="883"/>
                    <a:pt x="4489" y="885"/>
                    <a:pt x="4543" y="769"/>
                  </a:cubicBezTo>
                  <a:cubicBezTo>
                    <a:pt x="4597" y="653"/>
                    <a:pt x="4636" y="393"/>
                    <a:pt x="4249" y="278"/>
                  </a:cubicBezTo>
                  <a:cubicBezTo>
                    <a:pt x="3863" y="162"/>
                    <a:pt x="2874" y="120"/>
                    <a:pt x="2222" y="76"/>
                  </a:cubicBezTo>
                  <a:cubicBezTo>
                    <a:pt x="1570" y="32"/>
                    <a:pt x="868" y="0"/>
                    <a:pt x="339" y="15"/>
                  </a:cubicBezTo>
                  <a:close/>
                </a:path>
              </a:pathLst>
            </a:custGeom>
            <a:solidFill>
              <a:srgbClr val="33CCCC"/>
            </a:solidFill>
            <a:ln w="9525">
              <a:noFill/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aphicFrame>
          <p:nvGraphicFramePr>
            <p:cNvPr id="19458" name="Object 120"/>
            <p:cNvGraphicFramePr>
              <a:graphicFrameLocks noChangeAspect="1"/>
            </p:cNvGraphicFramePr>
            <p:nvPr/>
          </p:nvGraphicFramePr>
          <p:xfrm>
            <a:off x="2767" y="3262"/>
            <a:ext cx="262" cy="200"/>
          </p:xfrm>
          <a:graphic>
            <a:graphicData uri="http://schemas.openxmlformats.org/presentationml/2006/ole">
              <p:oleObj spid="_x0000_s19458" r:id="rId6" imgW="1305000" imgH="1085760" progId="">
                <p:embed/>
              </p:oleObj>
            </a:graphicData>
          </a:graphic>
        </p:graphicFrame>
        <p:grpSp>
          <p:nvGrpSpPr>
            <p:cNvPr id="19477" name="Group 121"/>
            <p:cNvGrpSpPr>
              <a:grpSpLocks/>
            </p:cNvGrpSpPr>
            <p:nvPr/>
          </p:nvGrpSpPr>
          <p:grpSpPr bwMode="auto">
            <a:xfrm>
              <a:off x="4475" y="2095"/>
              <a:ext cx="320" cy="545"/>
              <a:chOff x="4475" y="2095"/>
              <a:chExt cx="320" cy="545"/>
            </a:xfrm>
          </p:grpSpPr>
          <p:sp>
            <p:nvSpPr>
              <p:cNvPr id="19493" name="Line 122"/>
              <p:cNvSpPr>
                <a:spLocks noChangeShapeType="1"/>
              </p:cNvSpPr>
              <p:nvPr/>
            </p:nvSpPr>
            <p:spPr bwMode="auto">
              <a:xfrm flipV="1">
                <a:off x="4485" y="2106"/>
                <a:ext cx="310" cy="21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19494" name="Group 123"/>
              <p:cNvGrpSpPr>
                <a:grpSpLocks/>
              </p:cNvGrpSpPr>
              <p:nvPr/>
            </p:nvGrpSpPr>
            <p:grpSpPr bwMode="auto">
              <a:xfrm>
                <a:off x="4475" y="2095"/>
                <a:ext cx="257" cy="545"/>
                <a:chOff x="563" y="3500"/>
                <a:chExt cx="257" cy="545"/>
              </a:xfrm>
            </p:grpSpPr>
            <p:sp>
              <p:nvSpPr>
                <p:cNvPr id="19495" name="Oval 124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6" name="Text Box 125"/>
                <p:cNvSpPr txBox="1">
                  <a:spLocks noChangeArrowheads="1"/>
                </p:cNvSpPr>
                <p:nvPr/>
              </p:nvSpPr>
              <p:spPr bwMode="auto">
                <a:xfrm>
                  <a:off x="563" y="3500"/>
                  <a:ext cx="246" cy="5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endParaRPr lang="en-US" sz="1800" b="0">
                    <a:solidFill>
                      <a:srgbClr val="FF0000"/>
                    </a:solidFill>
                    <a:latin typeface="Comic Sans MS" pitchFamily="66" charset="0"/>
                  </a:endParaRPr>
                </a:p>
              </p:txBody>
            </p:sp>
          </p:grpSp>
        </p:grpSp>
        <p:grpSp>
          <p:nvGrpSpPr>
            <p:cNvPr id="19478" name="Group 126"/>
            <p:cNvGrpSpPr>
              <a:grpSpLocks/>
            </p:cNvGrpSpPr>
            <p:nvPr/>
          </p:nvGrpSpPr>
          <p:grpSpPr bwMode="auto">
            <a:xfrm>
              <a:off x="2004" y="2418"/>
              <a:ext cx="2196" cy="716"/>
              <a:chOff x="2004" y="2418"/>
              <a:chExt cx="2196" cy="716"/>
            </a:xfrm>
          </p:grpSpPr>
          <p:sp>
            <p:nvSpPr>
              <p:cNvPr id="19489" name="Freeform 127"/>
              <p:cNvSpPr>
                <a:spLocks/>
              </p:cNvSpPr>
              <p:nvPr/>
            </p:nvSpPr>
            <p:spPr bwMode="auto">
              <a:xfrm>
                <a:off x="2004" y="2418"/>
                <a:ext cx="2196" cy="318"/>
              </a:xfrm>
              <a:custGeom>
                <a:avLst/>
                <a:gdLst>
                  <a:gd name="T0" fmla="*/ 0 w 2196"/>
                  <a:gd name="T1" fmla="*/ 0 h 318"/>
                  <a:gd name="T2" fmla="*/ 1194 w 2196"/>
                  <a:gd name="T3" fmla="*/ 306 h 318"/>
                  <a:gd name="T4" fmla="*/ 2196 w 2196"/>
                  <a:gd name="T5" fmla="*/ 30 h 318"/>
                  <a:gd name="T6" fmla="*/ 0 60000 65536"/>
                  <a:gd name="T7" fmla="*/ 0 60000 65536"/>
                  <a:gd name="T8" fmla="*/ 0 60000 65536"/>
                  <a:gd name="T9" fmla="*/ 0 w 2196"/>
                  <a:gd name="T10" fmla="*/ 0 h 318"/>
                  <a:gd name="T11" fmla="*/ 2196 w 2196"/>
                  <a:gd name="T12" fmla="*/ 318 h 3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6" h="318">
                    <a:moveTo>
                      <a:pt x="0" y="0"/>
                    </a:moveTo>
                    <a:cubicBezTo>
                      <a:pt x="199" y="51"/>
                      <a:pt x="828" y="301"/>
                      <a:pt x="1194" y="306"/>
                    </a:cubicBezTo>
                    <a:cubicBezTo>
                      <a:pt x="1536" y="318"/>
                      <a:pt x="1987" y="88"/>
                      <a:pt x="2196" y="3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19490" name="Group 128"/>
              <p:cNvGrpSpPr>
                <a:grpSpLocks/>
              </p:cNvGrpSpPr>
              <p:nvPr/>
            </p:nvGrpSpPr>
            <p:grpSpPr bwMode="auto">
              <a:xfrm>
                <a:off x="3027" y="2589"/>
                <a:ext cx="258" cy="545"/>
                <a:chOff x="562" y="3500"/>
                <a:chExt cx="258" cy="545"/>
              </a:xfrm>
            </p:grpSpPr>
            <p:sp>
              <p:nvSpPr>
                <p:cNvPr id="19491" name="Oval 129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92" name="Text Box 130"/>
                <p:cNvSpPr txBox="1">
                  <a:spLocks noChangeArrowheads="1"/>
                </p:cNvSpPr>
                <p:nvPr/>
              </p:nvSpPr>
              <p:spPr bwMode="auto">
                <a:xfrm>
                  <a:off x="562" y="3500"/>
                  <a:ext cx="249" cy="5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endParaRPr lang="en-US" sz="1800" b="0">
                    <a:solidFill>
                      <a:srgbClr val="FF0000"/>
                    </a:solidFill>
                    <a:latin typeface="Comic Sans MS" pitchFamily="66" charset="0"/>
                  </a:endParaRPr>
                </a:p>
              </p:txBody>
            </p:sp>
          </p:grpSp>
        </p:grpSp>
        <p:grpSp>
          <p:nvGrpSpPr>
            <p:cNvPr id="19479" name="Group 131"/>
            <p:cNvGrpSpPr>
              <a:grpSpLocks/>
            </p:cNvGrpSpPr>
            <p:nvPr/>
          </p:nvGrpSpPr>
          <p:grpSpPr bwMode="auto">
            <a:xfrm>
              <a:off x="3040" y="2157"/>
              <a:ext cx="1955" cy="1270"/>
              <a:chOff x="3040" y="2157"/>
              <a:chExt cx="1955" cy="1270"/>
            </a:xfrm>
          </p:grpSpPr>
          <p:sp>
            <p:nvSpPr>
              <p:cNvPr id="19485" name="Freeform 132"/>
              <p:cNvSpPr>
                <a:spLocks/>
              </p:cNvSpPr>
              <p:nvPr/>
            </p:nvSpPr>
            <p:spPr bwMode="auto">
              <a:xfrm>
                <a:off x="3040" y="2157"/>
                <a:ext cx="1955" cy="1270"/>
              </a:xfrm>
              <a:custGeom>
                <a:avLst/>
                <a:gdLst>
                  <a:gd name="T0" fmla="*/ 1955 w 1955"/>
                  <a:gd name="T1" fmla="*/ 0 h 1270"/>
                  <a:gd name="T2" fmla="*/ 1077 w 1955"/>
                  <a:gd name="T3" fmla="*/ 765 h 1270"/>
                  <a:gd name="T4" fmla="*/ 0 w 1955"/>
                  <a:gd name="T5" fmla="*/ 1270 h 1270"/>
                  <a:gd name="T6" fmla="*/ 0 60000 65536"/>
                  <a:gd name="T7" fmla="*/ 0 60000 65536"/>
                  <a:gd name="T8" fmla="*/ 0 60000 65536"/>
                  <a:gd name="T9" fmla="*/ 0 w 1955"/>
                  <a:gd name="T10" fmla="*/ 0 h 1270"/>
                  <a:gd name="T11" fmla="*/ 1955 w 1955"/>
                  <a:gd name="T12" fmla="*/ 1270 h 12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5" h="1270">
                    <a:moveTo>
                      <a:pt x="1955" y="0"/>
                    </a:moveTo>
                    <a:cubicBezTo>
                      <a:pt x="1809" y="127"/>
                      <a:pt x="1425" y="536"/>
                      <a:pt x="1077" y="765"/>
                    </a:cubicBezTo>
                    <a:cubicBezTo>
                      <a:pt x="729" y="994"/>
                      <a:pt x="224" y="1165"/>
                      <a:pt x="0" y="1270"/>
                    </a:cubicBezTo>
                  </a:path>
                </a:pathLst>
              </a:cu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19486" name="Group 133"/>
              <p:cNvGrpSpPr>
                <a:grpSpLocks/>
              </p:cNvGrpSpPr>
              <p:nvPr/>
            </p:nvGrpSpPr>
            <p:grpSpPr bwMode="auto">
              <a:xfrm>
                <a:off x="3927" y="2835"/>
                <a:ext cx="257" cy="545"/>
                <a:chOff x="563" y="3500"/>
                <a:chExt cx="257" cy="545"/>
              </a:xfrm>
            </p:grpSpPr>
            <p:sp>
              <p:nvSpPr>
                <p:cNvPr id="19487" name="Oval 134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88" name="Text Box 135"/>
                <p:cNvSpPr txBox="1">
                  <a:spLocks noChangeArrowheads="1"/>
                </p:cNvSpPr>
                <p:nvPr/>
              </p:nvSpPr>
              <p:spPr bwMode="auto">
                <a:xfrm>
                  <a:off x="563" y="3500"/>
                  <a:ext cx="246" cy="545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endParaRPr lang="en-US" sz="1800" b="0">
                    <a:solidFill>
                      <a:srgbClr val="FF0000"/>
                    </a:solidFill>
                    <a:latin typeface="Comic Sans MS" pitchFamily="66" charset="0"/>
                  </a:endParaRPr>
                </a:p>
              </p:txBody>
            </p:sp>
          </p:grpSp>
        </p:grpSp>
        <p:grpSp>
          <p:nvGrpSpPr>
            <p:cNvPr id="19480" name="Group 136"/>
            <p:cNvGrpSpPr>
              <a:grpSpLocks/>
            </p:cNvGrpSpPr>
            <p:nvPr/>
          </p:nvGrpSpPr>
          <p:grpSpPr bwMode="auto">
            <a:xfrm>
              <a:off x="1881" y="2450"/>
              <a:ext cx="855" cy="818"/>
              <a:chOff x="1881" y="2450"/>
              <a:chExt cx="855" cy="818"/>
            </a:xfrm>
          </p:grpSpPr>
          <p:sp>
            <p:nvSpPr>
              <p:cNvPr id="19481" name="Line 137"/>
              <p:cNvSpPr>
                <a:spLocks noChangeShapeType="1"/>
              </p:cNvSpPr>
              <p:nvPr/>
            </p:nvSpPr>
            <p:spPr bwMode="auto">
              <a:xfrm flipH="1" flipV="1">
                <a:off x="1881" y="2450"/>
                <a:ext cx="855" cy="8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</p:spPr>
            <p:txBody>
              <a:bodyPr wrap="none"/>
              <a:lstStyle/>
              <a:p>
                <a:endParaRPr lang="en-US"/>
              </a:p>
            </p:txBody>
          </p:sp>
          <p:grpSp>
            <p:nvGrpSpPr>
              <p:cNvPr id="19482" name="Group 138"/>
              <p:cNvGrpSpPr>
                <a:grpSpLocks/>
              </p:cNvGrpSpPr>
              <p:nvPr/>
            </p:nvGrpSpPr>
            <p:grpSpPr bwMode="auto">
              <a:xfrm>
                <a:off x="2117" y="2702"/>
                <a:ext cx="257" cy="550"/>
                <a:chOff x="563" y="3500"/>
                <a:chExt cx="257" cy="550"/>
              </a:xfrm>
            </p:grpSpPr>
            <p:sp>
              <p:nvSpPr>
                <p:cNvPr id="19483" name="Oval 139"/>
                <p:cNvSpPr>
                  <a:spLocks noChangeArrowheads="1"/>
                </p:cNvSpPr>
                <p:nvPr/>
              </p:nvSpPr>
              <p:spPr bwMode="auto">
                <a:xfrm>
                  <a:off x="618" y="3520"/>
                  <a:ext cx="202" cy="201"/>
                </a:xfrm>
                <a:prstGeom prst="ellipse">
                  <a:avLst/>
                </a:prstGeom>
                <a:solidFill>
                  <a:schemeClr val="bg1"/>
                </a:solidFill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484" name="Text Box 140"/>
                <p:cNvSpPr txBox="1">
                  <a:spLocks noChangeArrowheads="1"/>
                </p:cNvSpPr>
                <p:nvPr/>
              </p:nvSpPr>
              <p:spPr bwMode="auto">
                <a:xfrm>
                  <a:off x="563" y="3500"/>
                  <a:ext cx="246" cy="5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l" eaLnBrk="0" hangingPunct="0"/>
                  <a:endParaRPr lang="en-US" sz="1800" b="0">
                    <a:solidFill>
                      <a:srgbClr val="FF0000"/>
                    </a:solidFill>
                    <a:latin typeface="Comic Sans MS" pitchFamily="66" charset="0"/>
                  </a:endParaRPr>
                </a:p>
              </p:txBody>
            </p:sp>
          </p:grp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D270FED-6528-4B18-91B4-B9508FE9683A}" type="slidenum">
              <a:rPr lang="en-US" smtClean="0"/>
              <a:pPr>
                <a:defRPr/>
              </a:pPr>
              <a:t>48</a:t>
            </a:fld>
            <a:endParaRPr lang="en-US" smtClean="0"/>
          </a:p>
        </p:txBody>
      </p:sp>
      <p:sp>
        <p:nvSpPr>
          <p:cNvPr id="20486" name="Freeform 2"/>
          <p:cNvSpPr>
            <a:spLocks/>
          </p:cNvSpPr>
          <p:nvPr/>
        </p:nvSpPr>
        <p:spPr bwMode="auto">
          <a:xfrm>
            <a:off x="1612900" y="2616200"/>
            <a:ext cx="1866900" cy="1589088"/>
          </a:xfrm>
          <a:custGeom>
            <a:avLst/>
            <a:gdLst>
              <a:gd name="T0" fmla="*/ 766265 w 1340"/>
              <a:gd name="T1" fmla="*/ 56038 h 1191"/>
              <a:gd name="T2" fmla="*/ 114243 w 1340"/>
              <a:gd name="T3" fmla="*/ 80055 h 1191"/>
              <a:gd name="T4" fmla="*/ 80806 w 1340"/>
              <a:gd name="T5" fmla="*/ 536367 h 1191"/>
              <a:gd name="T6" fmla="*/ 39010 w 1340"/>
              <a:gd name="T7" fmla="*/ 960658 h 1191"/>
              <a:gd name="T8" fmla="*/ 156039 w 1340"/>
              <a:gd name="T9" fmla="*/ 1160795 h 1191"/>
              <a:gd name="T10" fmla="*/ 749546 w 1340"/>
              <a:gd name="T11" fmla="*/ 1168800 h 1191"/>
              <a:gd name="T12" fmla="*/ 891654 w 1340"/>
              <a:gd name="T13" fmla="*/ 1505030 h 1191"/>
              <a:gd name="T14" fmla="*/ 1719220 w 1340"/>
              <a:gd name="T15" fmla="*/ 1465003 h 1191"/>
              <a:gd name="T16" fmla="*/ 1777735 w 1340"/>
              <a:gd name="T17" fmla="*/ 760521 h 1191"/>
              <a:gd name="T18" fmla="*/ 1677424 w 1340"/>
              <a:gd name="T19" fmla="*/ 456312 h 1191"/>
              <a:gd name="T20" fmla="*/ 1058839 w 1340"/>
              <a:gd name="T21" fmla="*/ 384263 h 1191"/>
              <a:gd name="T22" fmla="*/ 766265 w 1340"/>
              <a:gd name="T23" fmla="*/ 56038 h 1191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340"/>
              <a:gd name="T37" fmla="*/ 0 h 1191"/>
              <a:gd name="T38" fmla="*/ 1340 w 1340"/>
              <a:gd name="T39" fmla="*/ 1191 h 1191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487" name="Group 3"/>
          <p:cNvGrpSpPr>
            <a:grpSpLocks/>
          </p:cNvGrpSpPr>
          <p:nvPr/>
        </p:nvGrpSpPr>
        <p:grpSpPr bwMode="auto">
          <a:xfrm>
            <a:off x="2668588" y="3609975"/>
            <a:ext cx="501650" cy="233363"/>
            <a:chOff x="3600" y="219"/>
            <a:chExt cx="360" cy="175"/>
          </a:xfrm>
        </p:grpSpPr>
        <p:sp>
          <p:nvSpPr>
            <p:cNvPr id="20622" name="Oval 4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23" name="Line 5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24" name="Line 6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625" name="Rectangle 7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626" name="Oval 8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627" name="Group 9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632" name="Line 10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33" name="Line 11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34" name="Line 12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628" name="Group 13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629" name="Line 14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30" name="Line 15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631" name="Line 16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20488" name="Group 17"/>
          <p:cNvGrpSpPr>
            <a:grpSpLocks/>
          </p:cNvGrpSpPr>
          <p:nvPr/>
        </p:nvGrpSpPr>
        <p:grpSpPr bwMode="auto">
          <a:xfrm>
            <a:off x="1771650" y="3263900"/>
            <a:ext cx="1333500" cy="342900"/>
            <a:chOff x="8025" y="5070"/>
            <a:chExt cx="2100" cy="540"/>
          </a:xfrm>
        </p:grpSpPr>
        <p:sp>
          <p:nvSpPr>
            <p:cNvPr id="20619" name="Line 18"/>
            <p:cNvSpPr>
              <a:spLocks noChangeShapeType="1"/>
            </p:cNvSpPr>
            <p:nvPr/>
          </p:nvSpPr>
          <p:spPr bwMode="auto">
            <a:xfrm>
              <a:off x="8025" y="5325"/>
              <a:ext cx="21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Line 19"/>
            <p:cNvSpPr>
              <a:spLocks noChangeShapeType="1"/>
            </p:cNvSpPr>
            <p:nvPr/>
          </p:nvSpPr>
          <p:spPr bwMode="auto">
            <a:xfrm>
              <a:off x="8355" y="507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Line 20"/>
            <p:cNvSpPr>
              <a:spLocks noChangeShapeType="1"/>
            </p:cNvSpPr>
            <p:nvPr/>
          </p:nvSpPr>
          <p:spPr bwMode="auto">
            <a:xfrm>
              <a:off x="9765" y="5340"/>
              <a:ext cx="0" cy="2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489" name="Rectangle 2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/>
              <a:t>Mobility via Direct Routing</a:t>
            </a:r>
          </a:p>
        </p:txBody>
      </p:sp>
      <p:grpSp>
        <p:nvGrpSpPr>
          <p:cNvPr id="20490" name="Group 22"/>
          <p:cNvGrpSpPr>
            <a:grpSpLocks/>
          </p:cNvGrpSpPr>
          <p:nvPr/>
        </p:nvGrpSpPr>
        <p:grpSpPr bwMode="auto">
          <a:xfrm>
            <a:off x="1520825" y="2822575"/>
            <a:ext cx="914400" cy="590550"/>
            <a:chOff x="10665" y="3225"/>
            <a:chExt cx="1440" cy="930"/>
          </a:xfrm>
        </p:grpSpPr>
        <p:sp>
          <p:nvSpPr>
            <p:cNvPr id="20549" name="Oval 23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50" name="Group 24"/>
            <p:cNvGrpSpPr>
              <a:grpSpLocks/>
            </p:cNvGrpSpPr>
            <p:nvPr/>
          </p:nvGrpSpPr>
          <p:grpSpPr bwMode="auto">
            <a:xfrm>
              <a:off x="11038" y="3281"/>
              <a:ext cx="618" cy="667"/>
              <a:chOff x="8023" y="4451"/>
              <a:chExt cx="618" cy="667"/>
            </a:xfrm>
          </p:grpSpPr>
          <p:sp>
            <p:nvSpPr>
              <p:cNvPr id="20551" name="Freeform 25"/>
              <p:cNvSpPr>
                <a:spLocks/>
              </p:cNvSpPr>
              <p:nvPr/>
            </p:nvSpPr>
            <p:spPr bwMode="auto">
              <a:xfrm>
                <a:off x="8279" y="4653"/>
                <a:ext cx="263" cy="380"/>
              </a:xfrm>
              <a:custGeom>
                <a:avLst/>
                <a:gdLst>
                  <a:gd name="T0" fmla="*/ 99 w 788"/>
                  <a:gd name="T1" fmla="*/ 0 h 1138"/>
                  <a:gd name="T2" fmla="*/ 88 w 788"/>
                  <a:gd name="T3" fmla="*/ 0 h 1138"/>
                  <a:gd name="T4" fmla="*/ 73 w 788"/>
                  <a:gd name="T5" fmla="*/ 1 h 1138"/>
                  <a:gd name="T6" fmla="*/ 56 w 788"/>
                  <a:gd name="T7" fmla="*/ 4 h 1138"/>
                  <a:gd name="T8" fmla="*/ 39 w 788"/>
                  <a:gd name="T9" fmla="*/ 8 h 1138"/>
                  <a:gd name="T10" fmla="*/ 22 w 788"/>
                  <a:gd name="T11" fmla="*/ 15 h 1138"/>
                  <a:gd name="T12" fmla="*/ 10 w 788"/>
                  <a:gd name="T13" fmla="*/ 24 h 1138"/>
                  <a:gd name="T14" fmla="*/ 2 w 788"/>
                  <a:gd name="T15" fmla="*/ 36 h 1138"/>
                  <a:gd name="T16" fmla="*/ 0 w 788"/>
                  <a:gd name="T17" fmla="*/ 46 h 1138"/>
                  <a:gd name="T18" fmla="*/ 1 w 788"/>
                  <a:gd name="T19" fmla="*/ 51 h 1138"/>
                  <a:gd name="T20" fmla="*/ 4 w 788"/>
                  <a:gd name="T21" fmla="*/ 66 h 1138"/>
                  <a:gd name="T22" fmla="*/ 13 w 788"/>
                  <a:gd name="T23" fmla="*/ 97 h 1138"/>
                  <a:gd name="T24" fmla="*/ 25 w 788"/>
                  <a:gd name="T25" fmla="*/ 137 h 1138"/>
                  <a:gd name="T26" fmla="*/ 41 w 788"/>
                  <a:gd name="T27" fmla="*/ 181 h 1138"/>
                  <a:gd name="T28" fmla="*/ 59 w 788"/>
                  <a:gd name="T29" fmla="*/ 228 h 1138"/>
                  <a:gd name="T30" fmla="*/ 78 w 788"/>
                  <a:gd name="T31" fmla="*/ 274 h 1138"/>
                  <a:gd name="T32" fmla="*/ 98 w 788"/>
                  <a:gd name="T33" fmla="*/ 317 h 1138"/>
                  <a:gd name="T34" fmla="*/ 117 w 788"/>
                  <a:gd name="T35" fmla="*/ 352 h 1138"/>
                  <a:gd name="T36" fmla="*/ 130 w 788"/>
                  <a:gd name="T37" fmla="*/ 370 h 1138"/>
                  <a:gd name="T38" fmla="*/ 136 w 788"/>
                  <a:gd name="T39" fmla="*/ 377 h 1138"/>
                  <a:gd name="T40" fmla="*/ 146 w 788"/>
                  <a:gd name="T41" fmla="*/ 377 h 1138"/>
                  <a:gd name="T42" fmla="*/ 163 w 788"/>
                  <a:gd name="T43" fmla="*/ 371 h 1138"/>
                  <a:gd name="T44" fmla="*/ 183 w 788"/>
                  <a:gd name="T45" fmla="*/ 363 h 1138"/>
                  <a:gd name="T46" fmla="*/ 203 w 788"/>
                  <a:gd name="T47" fmla="*/ 355 h 1138"/>
                  <a:gd name="T48" fmla="*/ 223 w 788"/>
                  <a:gd name="T49" fmla="*/ 346 h 1138"/>
                  <a:gd name="T50" fmla="*/ 241 w 788"/>
                  <a:gd name="T51" fmla="*/ 338 h 1138"/>
                  <a:gd name="T52" fmla="*/ 254 w 788"/>
                  <a:gd name="T53" fmla="*/ 330 h 1138"/>
                  <a:gd name="T54" fmla="*/ 262 w 788"/>
                  <a:gd name="T55" fmla="*/ 323 h 1138"/>
                  <a:gd name="T56" fmla="*/ 252 w 788"/>
                  <a:gd name="T57" fmla="*/ 306 h 1138"/>
                  <a:gd name="T58" fmla="*/ 229 w 788"/>
                  <a:gd name="T59" fmla="*/ 271 h 1138"/>
                  <a:gd name="T60" fmla="*/ 204 w 788"/>
                  <a:gd name="T61" fmla="*/ 231 h 1138"/>
                  <a:gd name="T62" fmla="*/ 179 w 788"/>
                  <a:gd name="T63" fmla="*/ 187 h 1138"/>
                  <a:gd name="T64" fmla="*/ 156 w 788"/>
                  <a:gd name="T65" fmla="*/ 141 h 1138"/>
                  <a:gd name="T66" fmla="*/ 135 w 788"/>
                  <a:gd name="T67" fmla="*/ 96 h 1138"/>
                  <a:gd name="T68" fmla="*/ 117 w 788"/>
                  <a:gd name="T69" fmla="*/ 54 h 1138"/>
                  <a:gd name="T70" fmla="*/ 106 w 788"/>
                  <a:gd name="T71" fmla="*/ 16 h 1138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788"/>
                  <a:gd name="T109" fmla="*/ 0 h 1138"/>
                  <a:gd name="T110" fmla="*/ 788 w 788"/>
                  <a:gd name="T111" fmla="*/ 1138 h 1138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788" h="1138">
                    <a:moveTo>
                      <a:pt x="310" y="2"/>
                    </a:moveTo>
                    <a:lnTo>
                      <a:pt x="298" y="0"/>
                    </a:lnTo>
                    <a:lnTo>
                      <a:pt x="282" y="0"/>
                    </a:lnTo>
                    <a:lnTo>
                      <a:pt x="263" y="0"/>
                    </a:lnTo>
                    <a:lnTo>
                      <a:pt x="242" y="2"/>
                    </a:lnTo>
                    <a:lnTo>
                      <a:pt x="219" y="4"/>
                    </a:lnTo>
                    <a:lnTo>
                      <a:pt x="192" y="7"/>
                    </a:lnTo>
                    <a:lnTo>
                      <a:pt x="167" y="12"/>
                    </a:lnTo>
                    <a:lnTo>
                      <a:pt x="141" y="17"/>
                    </a:lnTo>
                    <a:lnTo>
                      <a:pt x="116" y="25"/>
                    </a:lnTo>
                    <a:lnTo>
                      <a:pt x="91" y="35"/>
                    </a:lnTo>
                    <a:lnTo>
                      <a:pt x="67" y="45"/>
                    </a:lnTo>
                    <a:lnTo>
                      <a:pt x="47" y="58"/>
                    </a:lnTo>
                    <a:lnTo>
                      <a:pt x="29" y="73"/>
                    </a:lnTo>
                    <a:lnTo>
                      <a:pt x="16" y="91"/>
                    </a:lnTo>
                    <a:lnTo>
                      <a:pt x="6" y="109"/>
                    </a:lnTo>
                    <a:lnTo>
                      <a:pt x="0" y="131"/>
                    </a:lnTo>
                    <a:lnTo>
                      <a:pt x="0" y="137"/>
                    </a:lnTo>
                    <a:lnTo>
                      <a:pt x="1" y="144"/>
                    </a:lnTo>
                    <a:lnTo>
                      <a:pt x="3" y="152"/>
                    </a:lnTo>
                    <a:lnTo>
                      <a:pt x="4" y="162"/>
                    </a:lnTo>
                    <a:lnTo>
                      <a:pt x="13" y="197"/>
                    </a:lnTo>
                    <a:lnTo>
                      <a:pt x="25" y="240"/>
                    </a:lnTo>
                    <a:lnTo>
                      <a:pt x="39" y="290"/>
                    </a:lnTo>
                    <a:lnTo>
                      <a:pt x="57" y="348"/>
                    </a:lnTo>
                    <a:lnTo>
                      <a:pt x="76" y="410"/>
                    </a:lnTo>
                    <a:lnTo>
                      <a:pt x="100" y="474"/>
                    </a:lnTo>
                    <a:lnTo>
                      <a:pt x="123" y="543"/>
                    </a:lnTo>
                    <a:lnTo>
                      <a:pt x="150" y="612"/>
                    </a:lnTo>
                    <a:lnTo>
                      <a:pt x="176" y="684"/>
                    </a:lnTo>
                    <a:lnTo>
                      <a:pt x="205" y="753"/>
                    </a:lnTo>
                    <a:lnTo>
                      <a:pt x="235" y="822"/>
                    </a:lnTo>
                    <a:lnTo>
                      <a:pt x="264" y="887"/>
                    </a:lnTo>
                    <a:lnTo>
                      <a:pt x="293" y="949"/>
                    </a:lnTo>
                    <a:lnTo>
                      <a:pt x="323" y="1005"/>
                    </a:lnTo>
                    <a:lnTo>
                      <a:pt x="352" y="1055"/>
                    </a:lnTo>
                    <a:lnTo>
                      <a:pt x="381" y="1098"/>
                    </a:lnTo>
                    <a:lnTo>
                      <a:pt x="389" y="1109"/>
                    </a:lnTo>
                    <a:lnTo>
                      <a:pt x="398" y="1120"/>
                    </a:lnTo>
                    <a:lnTo>
                      <a:pt x="406" y="1130"/>
                    </a:lnTo>
                    <a:lnTo>
                      <a:pt x="414" y="1138"/>
                    </a:lnTo>
                    <a:lnTo>
                      <a:pt x="436" y="1130"/>
                    </a:lnTo>
                    <a:lnTo>
                      <a:pt x="461" y="1121"/>
                    </a:lnTo>
                    <a:lnTo>
                      <a:pt x="487" y="1111"/>
                    </a:lnTo>
                    <a:lnTo>
                      <a:pt x="517" y="1099"/>
                    </a:lnTo>
                    <a:lnTo>
                      <a:pt x="547" y="1088"/>
                    </a:lnTo>
                    <a:lnTo>
                      <a:pt x="578" y="1075"/>
                    </a:lnTo>
                    <a:lnTo>
                      <a:pt x="609" y="1062"/>
                    </a:lnTo>
                    <a:lnTo>
                      <a:pt x="640" y="1049"/>
                    </a:lnTo>
                    <a:lnTo>
                      <a:pt x="669" y="1036"/>
                    </a:lnTo>
                    <a:lnTo>
                      <a:pt x="697" y="1023"/>
                    </a:lnTo>
                    <a:lnTo>
                      <a:pt x="722" y="1012"/>
                    </a:lnTo>
                    <a:lnTo>
                      <a:pt x="744" y="999"/>
                    </a:lnTo>
                    <a:lnTo>
                      <a:pt x="762" y="987"/>
                    </a:lnTo>
                    <a:lnTo>
                      <a:pt x="775" y="977"/>
                    </a:lnTo>
                    <a:lnTo>
                      <a:pt x="785" y="967"/>
                    </a:lnTo>
                    <a:lnTo>
                      <a:pt x="788" y="959"/>
                    </a:lnTo>
                    <a:lnTo>
                      <a:pt x="756" y="915"/>
                    </a:lnTo>
                    <a:lnTo>
                      <a:pt x="722" y="868"/>
                    </a:lnTo>
                    <a:lnTo>
                      <a:pt x="687" y="813"/>
                    </a:lnTo>
                    <a:lnTo>
                      <a:pt x="650" y="755"/>
                    </a:lnTo>
                    <a:lnTo>
                      <a:pt x="612" y="693"/>
                    </a:lnTo>
                    <a:lnTo>
                      <a:pt x="575" y="627"/>
                    </a:lnTo>
                    <a:lnTo>
                      <a:pt x="537" y="561"/>
                    </a:lnTo>
                    <a:lnTo>
                      <a:pt x="500" y="492"/>
                    </a:lnTo>
                    <a:lnTo>
                      <a:pt x="467" y="423"/>
                    </a:lnTo>
                    <a:lnTo>
                      <a:pt x="433" y="354"/>
                    </a:lnTo>
                    <a:lnTo>
                      <a:pt x="404" y="287"/>
                    </a:lnTo>
                    <a:lnTo>
                      <a:pt x="376" y="223"/>
                    </a:lnTo>
                    <a:lnTo>
                      <a:pt x="352" y="161"/>
                    </a:lnTo>
                    <a:lnTo>
                      <a:pt x="333" y="102"/>
                    </a:lnTo>
                    <a:lnTo>
                      <a:pt x="318" y="49"/>
                    </a:lnTo>
                    <a:lnTo>
                      <a:pt x="310" y="2"/>
                    </a:lnTo>
                    <a:close/>
                  </a:path>
                </a:pathLst>
              </a:custGeom>
              <a:solidFill>
                <a:srgbClr val="F4FC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2" name="Freeform 26"/>
              <p:cNvSpPr>
                <a:spLocks/>
              </p:cNvSpPr>
              <p:nvPr/>
            </p:nvSpPr>
            <p:spPr bwMode="auto">
              <a:xfrm>
                <a:off x="8264" y="4707"/>
                <a:ext cx="142" cy="312"/>
              </a:xfrm>
              <a:custGeom>
                <a:avLst/>
                <a:gdLst>
                  <a:gd name="T0" fmla="*/ 16 w 425"/>
                  <a:gd name="T1" fmla="*/ 0 h 936"/>
                  <a:gd name="T2" fmla="*/ 16 w 425"/>
                  <a:gd name="T3" fmla="*/ 1 h 936"/>
                  <a:gd name="T4" fmla="*/ 16 w 425"/>
                  <a:gd name="T5" fmla="*/ 2 h 936"/>
                  <a:gd name="T6" fmla="*/ 16 w 425"/>
                  <a:gd name="T7" fmla="*/ 4 h 936"/>
                  <a:gd name="T8" fmla="*/ 15 w 425"/>
                  <a:gd name="T9" fmla="*/ 6 h 936"/>
                  <a:gd name="T10" fmla="*/ 13 w 425"/>
                  <a:gd name="T11" fmla="*/ 12 h 936"/>
                  <a:gd name="T12" fmla="*/ 11 w 425"/>
                  <a:gd name="T13" fmla="*/ 18 h 936"/>
                  <a:gd name="T14" fmla="*/ 7 w 425"/>
                  <a:gd name="T15" fmla="*/ 27 h 936"/>
                  <a:gd name="T16" fmla="*/ 2 w 425"/>
                  <a:gd name="T17" fmla="*/ 39 h 936"/>
                  <a:gd name="T18" fmla="*/ 0 w 425"/>
                  <a:gd name="T19" fmla="*/ 47 h 936"/>
                  <a:gd name="T20" fmla="*/ 0 w 425"/>
                  <a:gd name="T21" fmla="*/ 59 h 936"/>
                  <a:gd name="T22" fmla="*/ 1 w 425"/>
                  <a:gd name="T23" fmla="*/ 73 h 936"/>
                  <a:gd name="T24" fmla="*/ 4 w 425"/>
                  <a:gd name="T25" fmla="*/ 90 h 936"/>
                  <a:gd name="T26" fmla="*/ 9 w 425"/>
                  <a:gd name="T27" fmla="*/ 108 h 936"/>
                  <a:gd name="T28" fmla="*/ 14 w 425"/>
                  <a:gd name="T29" fmla="*/ 129 h 936"/>
                  <a:gd name="T30" fmla="*/ 19 w 425"/>
                  <a:gd name="T31" fmla="*/ 149 h 936"/>
                  <a:gd name="T32" fmla="*/ 26 w 425"/>
                  <a:gd name="T33" fmla="*/ 170 h 936"/>
                  <a:gd name="T34" fmla="*/ 33 w 425"/>
                  <a:gd name="T35" fmla="*/ 190 h 936"/>
                  <a:gd name="T36" fmla="*/ 40 w 425"/>
                  <a:gd name="T37" fmla="*/ 209 h 936"/>
                  <a:gd name="T38" fmla="*/ 46 w 425"/>
                  <a:gd name="T39" fmla="*/ 228 h 936"/>
                  <a:gd name="T40" fmla="*/ 52 w 425"/>
                  <a:gd name="T41" fmla="*/ 244 h 936"/>
                  <a:gd name="T42" fmla="*/ 58 w 425"/>
                  <a:gd name="T43" fmla="*/ 258 h 936"/>
                  <a:gd name="T44" fmla="*/ 63 w 425"/>
                  <a:gd name="T45" fmla="*/ 269 h 936"/>
                  <a:gd name="T46" fmla="*/ 67 w 425"/>
                  <a:gd name="T47" fmla="*/ 277 h 936"/>
                  <a:gd name="T48" fmla="*/ 70 w 425"/>
                  <a:gd name="T49" fmla="*/ 281 h 936"/>
                  <a:gd name="T50" fmla="*/ 75 w 425"/>
                  <a:gd name="T51" fmla="*/ 284 h 936"/>
                  <a:gd name="T52" fmla="*/ 80 w 425"/>
                  <a:gd name="T53" fmla="*/ 287 h 936"/>
                  <a:gd name="T54" fmla="*/ 86 w 425"/>
                  <a:gd name="T55" fmla="*/ 291 h 936"/>
                  <a:gd name="T56" fmla="*/ 94 w 425"/>
                  <a:gd name="T57" fmla="*/ 294 h 936"/>
                  <a:gd name="T58" fmla="*/ 104 w 425"/>
                  <a:gd name="T59" fmla="*/ 299 h 936"/>
                  <a:gd name="T60" fmla="*/ 114 w 425"/>
                  <a:gd name="T61" fmla="*/ 302 h 936"/>
                  <a:gd name="T62" fmla="*/ 127 w 425"/>
                  <a:gd name="T63" fmla="*/ 307 h 936"/>
                  <a:gd name="T64" fmla="*/ 142 w 425"/>
                  <a:gd name="T65" fmla="*/ 312 h 936"/>
                  <a:gd name="T66" fmla="*/ 132 w 425"/>
                  <a:gd name="T67" fmla="*/ 298 h 936"/>
                  <a:gd name="T68" fmla="*/ 123 w 425"/>
                  <a:gd name="T69" fmla="*/ 281 h 936"/>
                  <a:gd name="T70" fmla="*/ 113 w 425"/>
                  <a:gd name="T71" fmla="*/ 262 h 936"/>
                  <a:gd name="T72" fmla="*/ 103 w 425"/>
                  <a:gd name="T73" fmla="*/ 242 h 936"/>
                  <a:gd name="T74" fmla="*/ 93 w 425"/>
                  <a:gd name="T75" fmla="*/ 220 h 936"/>
                  <a:gd name="T76" fmla="*/ 83 w 425"/>
                  <a:gd name="T77" fmla="*/ 197 h 936"/>
                  <a:gd name="T78" fmla="*/ 74 w 425"/>
                  <a:gd name="T79" fmla="*/ 174 h 936"/>
                  <a:gd name="T80" fmla="*/ 65 w 425"/>
                  <a:gd name="T81" fmla="*/ 150 h 936"/>
                  <a:gd name="T82" fmla="*/ 56 w 425"/>
                  <a:gd name="T83" fmla="*/ 127 h 936"/>
                  <a:gd name="T84" fmla="*/ 48 w 425"/>
                  <a:gd name="T85" fmla="*/ 104 h 936"/>
                  <a:gd name="T86" fmla="*/ 40 w 425"/>
                  <a:gd name="T87" fmla="*/ 83 h 936"/>
                  <a:gd name="T88" fmla="*/ 34 w 425"/>
                  <a:gd name="T89" fmla="*/ 62 h 936"/>
                  <a:gd name="T90" fmla="*/ 28 w 425"/>
                  <a:gd name="T91" fmla="*/ 43 h 936"/>
                  <a:gd name="T92" fmla="*/ 23 w 425"/>
                  <a:gd name="T93" fmla="*/ 26 h 936"/>
                  <a:gd name="T94" fmla="*/ 19 w 425"/>
                  <a:gd name="T95" fmla="*/ 12 h 936"/>
                  <a:gd name="T96" fmla="*/ 16 w 425"/>
                  <a:gd name="T97" fmla="*/ 0 h 9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5"/>
                  <a:gd name="T148" fmla="*/ 0 h 936"/>
                  <a:gd name="T149" fmla="*/ 425 w 425"/>
                  <a:gd name="T150" fmla="*/ 936 h 936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5" h="936">
                    <a:moveTo>
                      <a:pt x="48" y="0"/>
                    </a:moveTo>
                    <a:lnTo>
                      <a:pt x="48" y="2"/>
                    </a:lnTo>
                    <a:lnTo>
                      <a:pt x="48" y="5"/>
                    </a:lnTo>
                    <a:lnTo>
                      <a:pt x="47" y="11"/>
                    </a:lnTo>
                    <a:lnTo>
                      <a:pt x="44" y="19"/>
                    </a:lnTo>
                    <a:lnTo>
                      <a:pt x="39" y="35"/>
                    </a:lnTo>
                    <a:lnTo>
                      <a:pt x="32" y="55"/>
                    </a:lnTo>
                    <a:lnTo>
                      <a:pt x="20" y="82"/>
                    </a:lnTo>
                    <a:lnTo>
                      <a:pt x="6" y="117"/>
                    </a:lnTo>
                    <a:lnTo>
                      <a:pt x="0" y="141"/>
                    </a:lnTo>
                    <a:lnTo>
                      <a:pt x="0" y="177"/>
                    </a:lnTo>
                    <a:lnTo>
                      <a:pt x="4" y="220"/>
                    </a:lnTo>
                    <a:lnTo>
                      <a:pt x="13" y="271"/>
                    </a:lnTo>
                    <a:lnTo>
                      <a:pt x="26" y="325"/>
                    </a:lnTo>
                    <a:lnTo>
                      <a:pt x="41" y="386"/>
                    </a:lnTo>
                    <a:lnTo>
                      <a:pt x="58" y="446"/>
                    </a:lnTo>
                    <a:lnTo>
                      <a:pt x="78" y="509"/>
                    </a:lnTo>
                    <a:lnTo>
                      <a:pt x="98" y="570"/>
                    </a:lnTo>
                    <a:lnTo>
                      <a:pt x="119" y="628"/>
                    </a:lnTo>
                    <a:lnTo>
                      <a:pt x="138" y="683"/>
                    </a:lnTo>
                    <a:lnTo>
                      <a:pt x="157" y="733"/>
                    </a:lnTo>
                    <a:lnTo>
                      <a:pt x="174" y="775"/>
                    </a:lnTo>
                    <a:lnTo>
                      <a:pt x="189" y="808"/>
                    </a:lnTo>
                    <a:lnTo>
                      <a:pt x="201" y="831"/>
                    </a:lnTo>
                    <a:lnTo>
                      <a:pt x="210" y="843"/>
                    </a:lnTo>
                    <a:lnTo>
                      <a:pt x="223" y="853"/>
                    </a:lnTo>
                    <a:lnTo>
                      <a:pt x="239" y="861"/>
                    </a:lnTo>
                    <a:lnTo>
                      <a:pt x="258" y="873"/>
                    </a:lnTo>
                    <a:lnTo>
                      <a:pt x="282" y="883"/>
                    </a:lnTo>
                    <a:lnTo>
                      <a:pt x="310" y="896"/>
                    </a:lnTo>
                    <a:lnTo>
                      <a:pt x="342" y="907"/>
                    </a:lnTo>
                    <a:lnTo>
                      <a:pt x="380" y="922"/>
                    </a:lnTo>
                    <a:lnTo>
                      <a:pt x="425" y="936"/>
                    </a:lnTo>
                    <a:lnTo>
                      <a:pt x="396" y="893"/>
                    </a:lnTo>
                    <a:lnTo>
                      <a:pt x="367" y="843"/>
                    </a:lnTo>
                    <a:lnTo>
                      <a:pt x="337" y="787"/>
                    </a:lnTo>
                    <a:lnTo>
                      <a:pt x="308" y="725"/>
                    </a:lnTo>
                    <a:lnTo>
                      <a:pt x="279" y="660"/>
                    </a:lnTo>
                    <a:lnTo>
                      <a:pt x="249" y="591"/>
                    </a:lnTo>
                    <a:lnTo>
                      <a:pt x="220" y="522"/>
                    </a:lnTo>
                    <a:lnTo>
                      <a:pt x="194" y="450"/>
                    </a:lnTo>
                    <a:lnTo>
                      <a:pt x="167" y="381"/>
                    </a:lnTo>
                    <a:lnTo>
                      <a:pt x="144" y="312"/>
                    </a:lnTo>
                    <a:lnTo>
                      <a:pt x="120" y="248"/>
                    </a:lnTo>
                    <a:lnTo>
                      <a:pt x="101" y="186"/>
                    </a:lnTo>
                    <a:lnTo>
                      <a:pt x="83" y="128"/>
                    </a:lnTo>
                    <a:lnTo>
                      <a:pt x="69" y="78"/>
                    </a:lnTo>
                    <a:lnTo>
                      <a:pt x="57" y="35"/>
                    </a:lnTo>
                    <a:lnTo>
                      <a:pt x="48" y="0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3" name="Freeform 27"/>
              <p:cNvSpPr>
                <a:spLocks/>
              </p:cNvSpPr>
              <p:nvPr/>
            </p:nvSpPr>
            <p:spPr bwMode="auto">
              <a:xfrm>
                <a:off x="8310" y="4696"/>
                <a:ext cx="64" cy="69"/>
              </a:xfrm>
              <a:custGeom>
                <a:avLst/>
                <a:gdLst>
                  <a:gd name="T0" fmla="*/ 9 w 192"/>
                  <a:gd name="T1" fmla="*/ 4 h 208"/>
                  <a:gd name="T2" fmla="*/ 4 w 192"/>
                  <a:gd name="T3" fmla="*/ 8 h 208"/>
                  <a:gd name="T4" fmla="*/ 1 w 192"/>
                  <a:gd name="T5" fmla="*/ 14 h 208"/>
                  <a:gd name="T6" fmla="*/ 0 w 192"/>
                  <a:gd name="T7" fmla="*/ 22 h 208"/>
                  <a:gd name="T8" fmla="*/ 0 w 192"/>
                  <a:gd name="T9" fmla="*/ 31 h 208"/>
                  <a:gd name="T10" fmla="*/ 1 w 192"/>
                  <a:gd name="T11" fmla="*/ 40 h 208"/>
                  <a:gd name="T12" fmla="*/ 3 w 192"/>
                  <a:gd name="T13" fmla="*/ 49 h 208"/>
                  <a:gd name="T14" fmla="*/ 7 w 192"/>
                  <a:gd name="T15" fmla="*/ 57 h 208"/>
                  <a:gd name="T16" fmla="*/ 12 w 192"/>
                  <a:gd name="T17" fmla="*/ 63 h 208"/>
                  <a:gd name="T18" fmla="*/ 17 w 192"/>
                  <a:gd name="T19" fmla="*/ 67 h 208"/>
                  <a:gd name="T20" fmla="*/ 23 w 192"/>
                  <a:gd name="T21" fmla="*/ 68 h 208"/>
                  <a:gd name="T22" fmla="*/ 30 w 192"/>
                  <a:gd name="T23" fmla="*/ 69 h 208"/>
                  <a:gd name="T24" fmla="*/ 37 w 192"/>
                  <a:gd name="T25" fmla="*/ 68 h 208"/>
                  <a:gd name="T26" fmla="*/ 43 w 192"/>
                  <a:gd name="T27" fmla="*/ 65 h 208"/>
                  <a:gd name="T28" fmla="*/ 49 w 192"/>
                  <a:gd name="T29" fmla="*/ 62 h 208"/>
                  <a:gd name="T30" fmla="*/ 54 w 192"/>
                  <a:gd name="T31" fmla="*/ 58 h 208"/>
                  <a:gd name="T32" fmla="*/ 58 w 192"/>
                  <a:gd name="T33" fmla="*/ 54 h 208"/>
                  <a:gd name="T34" fmla="*/ 63 w 192"/>
                  <a:gd name="T35" fmla="*/ 43 h 208"/>
                  <a:gd name="T36" fmla="*/ 64 w 192"/>
                  <a:gd name="T37" fmla="*/ 30 h 208"/>
                  <a:gd name="T38" fmla="*/ 62 w 192"/>
                  <a:gd name="T39" fmla="*/ 17 h 208"/>
                  <a:gd name="T40" fmla="*/ 55 w 192"/>
                  <a:gd name="T41" fmla="*/ 9 h 208"/>
                  <a:gd name="T42" fmla="*/ 51 w 192"/>
                  <a:gd name="T43" fmla="*/ 7 h 208"/>
                  <a:gd name="T44" fmla="*/ 46 w 192"/>
                  <a:gd name="T45" fmla="*/ 5 h 208"/>
                  <a:gd name="T46" fmla="*/ 41 w 192"/>
                  <a:gd name="T47" fmla="*/ 3 h 208"/>
                  <a:gd name="T48" fmla="*/ 35 w 192"/>
                  <a:gd name="T49" fmla="*/ 1 h 208"/>
                  <a:gd name="T50" fmla="*/ 28 w 192"/>
                  <a:gd name="T51" fmla="*/ 0 h 208"/>
                  <a:gd name="T52" fmla="*/ 22 w 192"/>
                  <a:gd name="T53" fmla="*/ 0 h 208"/>
                  <a:gd name="T54" fmla="*/ 16 w 192"/>
                  <a:gd name="T55" fmla="*/ 1 h 208"/>
                  <a:gd name="T56" fmla="*/ 9 w 192"/>
                  <a:gd name="T57" fmla="*/ 4 h 20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192"/>
                  <a:gd name="T88" fmla="*/ 0 h 208"/>
                  <a:gd name="T89" fmla="*/ 192 w 192"/>
                  <a:gd name="T90" fmla="*/ 208 h 20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192" h="208">
                    <a:moveTo>
                      <a:pt x="26" y="11"/>
                    </a:moveTo>
                    <a:lnTo>
                      <a:pt x="13" y="24"/>
                    </a:lnTo>
                    <a:lnTo>
                      <a:pt x="4" y="43"/>
                    </a:lnTo>
                    <a:lnTo>
                      <a:pt x="0" y="67"/>
                    </a:lnTo>
                    <a:lnTo>
                      <a:pt x="0" y="93"/>
                    </a:lnTo>
                    <a:lnTo>
                      <a:pt x="3" y="120"/>
                    </a:lnTo>
                    <a:lnTo>
                      <a:pt x="10" y="148"/>
                    </a:lnTo>
                    <a:lnTo>
                      <a:pt x="20" y="171"/>
                    </a:lnTo>
                    <a:lnTo>
                      <a:pt x="35" y="189"/>
                    </a:lnTo>
                    <a:lnTo>
                      <a:pt x="51" y="201"/>
                    </a:lnTo>
                    <a:lnTo>
                      <a:pt x="70" y="206"/>
                    </a:lnTo>
                    <a:lnTo>
                      <a:pt x="91" y="208"/>
                    </a:lnTo>
                    <a:lnTo>
                      <a:pt x="111" y="204"/>
                    </a:lnTo>
                    <a:lnTo>
                      <a:pt x="130" y="196"/>
                    </a:lnTo>
                    <a:lnTo>
                      <a:pt x="148" y="186"/>
                    </a:lnTo>
                    <a:lnTo>
                      <a:pt x="163" y="176"/>
                    </a:lnTo>
                    <a:lnTo>
                      <a:pt x="174" y="163"/>
                    </a:lnTo>
                    <a:lnTo>
                      <a:pt x="189" y="130"/>
                    </a:lnTo>
                    <a:lnTo>
                      <a:pt x="192" y="89"/>
                    </a:lnTo>
                    <a:lnTo>
                      <a:pt x="185" y="50"/>
                    </a:lnTo>
                    <a:lnTo>
                      <a:pt x="166" y="27"/>
                    </a:lnTo>
                    <a:lnTo>
                      <a:pt x="152" y="21"/>
                    </a:lnTo>
                    <a:lnTo>
                      <a:pt x="138" y="14"/>
                    </a:lnTo>
                    <a:lnTo>
                      <a:pt x="122" y="8"/>
                    </a:lnTo>
                    <a:lnTo>
                      <a:pt x="104" y="2"/>
                    </a:lnTo>
                    <a:lnTo>
                      <a:pt x="85" y="0"/>
                    </a:lnTo>
                    <a:lnTo>
                      <a:pt x="66" y="0"/>
                    </a:lnTo>
                    <a:lnTo>
                      <a:pt x="47" y="2"/>
                    </a:lnTo>
                    <a:lnTo>
                      <a:pt x="26" y="11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4" name="Freeform 28"/>
              <p:cNvSpPr>
                <a:spLocks/>
              </p:cNvSpPr>
              <p:nvPr/>
            </p:nvSpPr>
            <p:spPr bwMode="auto">
              <a:xfrm>
                <a:off x="8406" y="4895"/>
                <a:ext cx="82" cy="84"/>
              </a:xfrm>
              <a:custGeom>
                <a:avLst/>
                <a:gdLst>
                  <a:gd name="T0" fmla="*/ 11 w 247"/>
                  <a:gd name="T1" fmla="*/ 10 h 251"/>
                  <a:gd name="T2" fmla="*/ 7 w 247"/>
                  <a:gd name="T3" fmla="*/ 15 h 251"/>
                  <a:gd name="T4" fmla="*/ 4 w 247"/>
                  <a:gd name="T5" fmla="*/ 20 h 251"/>
                  <a:gd name="T6" fmla="*/ 2 w 247"/>
                  <a:gd name="T7" fmla="*/ 26 h 251"/>
                  <a:gd name="T8" fmla="*/ 0 w 247"/>
                  <a:gd name="T9" fmla="*/ 32 h 251"/>
                  <a:gd name="T10" fmla="*/ 0 w 247"/>
                  <a:gd name="T11" fmla="*/ 39 h 251"/>
                  <a:gd name="T12" fmla="*/ 2 w 247"/>
                  <a:gd name="T13" fmla="*/ 45 h 251"/>
                  <a:gd name="T14" fmla="*/ 4 w 247"/>
                  <a:gd name="T15" fmla="*/ 51 h 251"/>
                  <a:gd name="T16" fmla="*/ 8 w 247"/>
                  <a:gd name="T17" fmla="*/ 57 h 251"/>
                  <a:gd name="T18" fmla="*/ 14 w 247"/>
                  <a:gd name="T19" fmla="*/ 63 h 251"/>
                  <a:gd name="T20" fmla="*/ 19 w 247"/>
                  <a:gd name="T21" fmla="*/ 68 h 251"/>
                  <a:gd name="T22" fmla="*/ 26 w 247"/>
                  <a:gd name="T23" fmla="*/ 74 h 251"/>
                  <a:gd name="T24" fmla="*/ 32 w 247"/>
                  <a:gd name="T25" fmla="*/ 78 h 251"/>
                  <a:gd name="T26" fmla="*/ 38 w 247"/>
                  <a:gd name="T27" fmla="*/ 82 h 251"/>
                  <a:gd name="T28" fmla="*/ 44 w 247"/>
                  <a:gd name="T29" fmla="*/ 84 h 251"/>
                  <a:gd name="T30" fmla="*/ 49 w 247"/>
                  <a:gd name="T31" fmla="*/ 84 h 251"/>
                  <a:gd name="T32" fmla="*/ 55 w 247"/>
                  <a:gd name="T33" fmla="*/ 82 h 251"/>
                  <a:gd name="T34" fmla="*/ 60 w 247"/>
                  <a:gd name="T35" fmla="*/ 79 h 251"/>
                  <a:gd name="T36" fmla="*/ 65 w 247"/>
                  <a:gd name="T37" fmla="*/ 76 h 251"/>
                  <a:gd name="T38" fmla="*/ 69 w 247"/>
                  <a:gd name="T39" fmla="*/ 74 h 251"/>
                  <a:gd name="T40" fmla="*/ 74 w 247"/>
                  <a:gd name="T41" fmla="*/ 71 h 251"/>
                  <a:gd name="T42" fmla="*/ 77 w 247"/>
                  <a:gd name="T43" fmla="*/ 68 h 251"/>
                  <a:gd name="T44" fmla="*/ 80 w 247"/>
                  <a:gd name="T45" fmla="*/ 64 h 251"/>
                  <a:gd name="T46" fmla="*/ 82 w 247"/>
                  <a:gd name="T47" fmla="*/ 60 h 251"/>
                  <a:gd name="T48" fmla="*/ 82 w 247"/>
                  <a:gd name="T49" fmla="*/ 54 h 251"/>
                  <a:gd name="T50" fmla="*/ 81 w 247"/>
                  <a:gd name="T51" fmla="*/ 48 h 251"/>
                  <a:gd name="T52" fmla="*/ 79 w 247"/>
                  <a:gd name="T53" fmla="*/ 40 h 251"/>
                  <a:gd name="T54" fmla="*/ 76 w 247"/>
                  <a:gd name="T55" fmla="*/ 32 h 251"/>
                  <a:gd name="T56" fmla="*/ 71 w 247"/>
                  <a:gd name="T57" fmla="*/ 24 h 251"/>
                  <a:gd name="T58" fmla="*/ 66 w 247"/>
                  <a:gd name="T59" fmla="*/ 17 h 251"/>
                  <a:gd name="T60" fmla="*/ 61 w 247"/>
                  <a:gd name="T61" fmla="*/ 10 h 251"/>
                  <a:gd name="T62" fmla="*/ 55 w 247"/>
                  <a:gd name="T63" fmla="*/ 5 h 251"/>
                  <a:gd name="T64" fmla="*/ 49 w 247"/>
                  <a:gd name="T65" fmla="*/ 2 h 251"/>
                  <a:gd name="T66" fmla="*/ 43 w 247"/>
                  <a:gd name="T67" fmla="*/ 1 h 251"/>
                  <a:gd name="T68" fmla="*/ 37 w 247"/>
                  <a:gd name="T69" fmla="*/ 0 h 251"/>
                  <a:gd name="T70" fmla="*/ 31 w 247"/>
                  <a:gd name="T71" fmla="*/ 0 h 251"/>
                  <a:gd name="T72" fmla="*/ 27 w 247"/>
                  <a:gd name="T73" fmla="*/ 1 h 251"/>
                  <a:gd name="T74" fmla="*/ 22 w 247"/>
                  <a:gd name="T75" fmla="*/ 2 h 251"/>
                  <a:gd name="T76" fmla="*/ 17 w 247"/>
                  <a:gd name="T77" fmla="*/ 4 h 251"/>
                  <a:gd name="T78" fmla="*/ 14 w 247"/>
                  <a:gd name="T79" fmla="*/ 7 h 251"/>
                  <a:gd name="T80" fmla="*/ 11 w 247"/>
                  <a:gd name="T81" fmla="*/ 10 h 25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47"/>
                  <a:gd name="T124" fmla="*/ 0 h 251"/>
                  <a:gd name="T125" fmla="*/ 247 w 247"/>
                  <a:gd name="T126" fmla="*/ 251 h 25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47" h="251">
                    <a:moveTo>
                      <a:pt x="33" y="29"/>
                    </a:moveTo>
                    <a:lnTo>
                      <a:pt x="21" y="44"/>
                    </a:lnTo>
                    <a:lnTo>
                      <a:pt x="12" y="60"/>
                    </a:lnTo>
                    <a:lnTo>
                      <a:pt x="5" y="79"/>
                    </a:lnTo>
                    <a:lnTo>
                      <a:pt x="0" y="97"/>
                    </a:lnTo>
                    <a:lnTo>
                      <a:pt x="0" y="116"/>
                    </a:lnTo>
                    <a:lnTo>
                      <a:pt x="5" y="135"/>
                    </a:lnTo>
                    <a:lnTo>
                      <a:pt x="12" y="152"/>
                    </a:lnTo>
                    <a:lnTo>
                      <a:pt x="25" y="169"/>
                    </a:lnTo>
                    <a:lnTo>
                      <a:pt x="42" y="187"/>
                    </a:lnTo>
                    <a:lnTo>
                      <a:pt x="58" y="202"/>
                    </a:lnTo>
                    <a:lnTo>
                      <a:pt x="77" y="220"/>
                    </a:lnTo>
                    <a:lnTo>
                      <a:pt x="96" y="233"/>
                    </a:lnTo>
                    <a:lnTo>
                      <a:pt x="114" y="244"/>
                    </a:lnTo>
                    <a:lnTo>
                      <a:pt x="133" y="251"/>
                    </a:lnTo>
                    <a:lnTo>
                      <a:pt x="149" y="251"/>
                    </a:lnTo>
                    <a:lnTo>
                      <a:pt x="165" y="246"/>
                    </a:lnTo>
                    <a:lnTo>
                      <a:pt x="180" y="237"/>
                    </a:lnTo>
                    <a:lnTo>
                      <a:pt x="196" y="228"/>
                    </a:lnTo>
                    <a:lnTo>
                      <a:pt x="209" y="220"/>
                    </a:lnTo>
                    <a:lnTo>
                      <a:pt x="222" y="212"/>
                    </a:lnTo>
                    <a:lnTo>
                      <a:pt x="232" y="202"/>
                    </a:lnTo>
                    <a:lnTo>
                      <a:pt x="240" y="191"/>
                    </a:lnTo>
                    <a:lnTo>
                      <a:pt x="246" y="178"/>
                    </a:lnTo>
                    <a:lnTo>
                      <a:pt x="247" y="162"/>
                    </a:lnTo>
                    <a:lnTo>
                      <a:pt x="244" y="142"/>
                    </a:lnTo>
                    <a:lnTo>
                      <a:pt x="238" y="120"/>
                    </a:lnTo>
                    <a:lnTo>
                      <a:pt x="228" y="96"/>
                    </a:lnTo>
                    <a:lnTo>
                      <a:pt x="215" y="72"/>
                    </a:lnTo>
                    <a:lnTo>
                      <a:pt x="200" y="50"/>
                    </a:lnTo>
                    <a:lnTo>
                      <a:pt x="184" y="30"/>
                    </a:lnTo>
                    <a:lnTo>
                      <a:pt x="165" y="16"/>
                    </a:lnTo>
                    <a:lnTo>
                      <a:pt x="147" y="7"/>
                    </a:lnTo>
                    <a:lnTo>
                      <a:pt x="130" y="3"/>
                    </a:lnTo>
                    <a:lnTo>
                      <a:pt x="112" y="0"/>
                    </a:lnTo>
                    <a:lnTo>
                      <a:pt x="94" y="1"/>
                    </a:lnTo>
                    <a:lnTo>
                      <a:pt x="80" y="3"/>
                    </a:lnTo>
                    <a:lnTo>
                      <a:pt x="65" y="7"/>
                    </a:lnTo>
                    <a:lnTo>
                      <a:pt x="52" y="13"/>
                    </a:lnTo>
                    <a:lnTo>
                      <a:pt x="42" y="20"/>
                    </a:lnTo>
                    <a:lnTo>
                      <a:pt x="33" y="29"/>
                    </a:lnTo>
                    <a:close/>
                  </a:path>
                </a:pathLst>
              </a:custGeom>
              <a:solidFill>
                <a:srgbClr val="CCEF72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5" name="Freeform 29"/>
              <p:cNvSpPr>
                <a:spLocks/>
              </p:cNvSpPr>
              <p:nvPr/>
            </p:nvSpPr>
            <p:spPr bwMode="auto">
              <a:xfrm>
                <a:off x="8313" y="4687"/>
                <a:ext cx="75" cy="80"/>
              </a:xfrm>
              <a:custGeom>
                <a:avLst/>
                <a:gdLst>
                  <a:gd name="T0" fmla="*/ 38 w 226"/>
                  <a:gd name="T1" fmla="*/ 1 h 240"/>
                  <a:gd name="T2" fmla="*/ 31 w 226"/>
                  <a:gd name="T3" fmla="*/ 0 h 240"/>
                  <a:gd name="T4" fmla="*/ 22 w 226"/>
                  <a:gd name="T5" fmla="*/ 1 h 240"/>
                  <a:gd name="T6" fmla="*/ 14 w 226"/>
                  <a:gd name="T7" fmla="*/ 4 h 240"/>
                  <a:gd name="T8" fmla="*/ 5 w 226"/>
                  <a:gd name="T9" fmla="*/ 12 h 240"/>
                  <a:gd name="T10" fmla="*/ 0 w 226"/>
                  <a:gd name="T11" fmla="*/ 26 h 240"/>
                  <a:gd name="T12" fmla="*/ 1 w 226"/>
                  <a:gd name="T13" fmla="*/ 41 h 240"/>
                  <a:gd name="T14" fmla="*/ 5 w 226"/>
                  <a:gd name="T15" fmla="*/ 56 h 240"/>
                  <a:gd name="T16" fmla="*/ 11 w 226"/>
                  <a:gd name="T17" fmla="*/ 67 h 240"/>
                  <a:gd name="T18" fmla="*/ 19 w 226"/>
                  <a:gd name="T19" fmla="*/ 74 h 240"/>
                  <a:gd name="T20" fmla="*/ 28 w 226"/>
                  <a:gd name="T21" fmla="*/ 79 h 240"/>
                  <a:gd name="T22" fmla="*/ 38 w 226"/>
                  <a:gd name="T23" fmla="*/ 80 h 240"/>
                  <a:gd name="T24" fmla="*/ 50 w 226"/>
                  <a:gd name="T25" fmla="*/ 76 h 240"/>
                  <a:gd name="T26" fmla="*/ 63 w 226"/>
                  <a:gd name="T27" fmla="*/ 68 h 240"/>
                  <a:gd name="T28" fmla="*/ 72 w 226"/>
                  <a:gd name="T29" fmla="*/ 57 h 240"/>
                  <a:gd name="T30" fmla="*/ 75 w 226"/>
                  <a:gd name="T31" fmla="*/ 44 h 240"/>
                  <a:gd name="T32" fmla="*/ 74 w 226"/>
                  <a:gd name="T33" fmla="*/ 35 h 240"/>
                  <a:gd name="T34" fmla="*/ 71 w 226"/>
                  <a:gd name="T35" fmla="*/ 32 h 240"/>
                  <a:gd name="T36" fmla="*/ 67 w 226"/>
                  <a:gd name="T37" fmla="*/ 32 h 240"/>
                  <a:gd name="T38" fmla="*/ 64 w 226"/>
                  <a:gd name="T39" fmla="*/ 35 h 240"/>
                  <a:gd name="T40" fmla="*/ 63 w 226"/>
                  <a:gd name="T41" fmla="*/ 42 h 240"/>
                  <a:gd name="T42" fmla="*/ 60 w 226"/>
                  <a:gd name="T43" fmla="*/ 53 h 240"/>
                  <a:gd name="T44" fmla="*/ 54 w 226"/>
                  <a:gd name="T45" fmla="*/ 61 h 240"/>
                  <a:gd name="T46" fmla="*/ 43 w 226"/>
                  <a:gd name="T47" fmla="*/ 66 h 240"/>
                  <a:gd name="T48" fmla="*/ 30 w 226"/>
                  <a:gd name="T49" fmla="*/ 66 h 240"/>
                  <a:gd name="T50" fmla="*/ 20 w 226"/>
                  <a:gd name="T51" fmla="*/ 59 h 240"/>
                  <a:gd name="T52" fmla="*/ 15 w 226"/>
                  <a:gd name="T53" fmla="*/ 48 h 240"/>
                  <a:gd name="T54" fmla="*/ 11 w 226"/>
                  <a:gd name="T55" fmla="*/ 35 h 240"/>
                  <a:gd name="T56" fmla="*/ 11 w 226"/>
                  <a:gd name="T57" fmla="*/ 25 h 240"/>
                  <a:gd name="T58" fmla="*/ 14 w 226"/>
                  <a:gd name="T59" fmla="*/ 19 h 240"/>
                  <a:gd name="T60" fmla="*/ 18 w 226"/>
                  <a:gd name="T61" fmla="*/ 13 h 240"/>
                  <a:gd name="T62" fmla="*/ 25 w 226"/>
                  <a:gd name="T63" fmla="*/ 9 h 240"/>
                  <a:gd name="T64" fmla="*/ 29 w 226"/>
                  <a:gd name="T65" fmla="*/ 8 h 240"/>
                  <a:gd name="T66" fmla="*/ 35 w 226"/>
                  <a:gd name="T67" fmla="*/ 8 h 240"/>
                  <a:gd name="T68" fmla="*/ 42 w 226"/>
                  <a:gd name="T69" fmla="*/ 8 h 240"/>
                  <a:gd name="T70" fmla="*/ 43 w 226"/>
                  <a:gd name="T71" fmla="*/ 4 h 240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6"/>
                  <a:gd name="T109" fmla="*/ 0 h 240"/>
                  <a:gd name="T110" fmla="*/ 226 w 226"/>
                  <a:gd name="T111" fmla="*/ 240 h 240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6" h="240">
                    <a:moveTo>
                      <a:pt x="125" y="6"/>
                    </a:moveTo>
                    <a:lnTo>
                      <a:pt x="115" y="3"/>
                    </a:lnTo>
                    <a:lnTo>
                      <a:pt x="104" y="0"/>
                    </a:lnTo>
                    <a:lnTo>
                      <a:pt x="93" y="0"/>
                    </a:lnTo>
                    <a:lnTo>
                      <a:pt x="79" y="0"/>
                    </a:lnTo>
                    <a:lnTo>
                      <a:pt x="66" y="2"/>
                    </a:lnTo>
                    <a:lnTo>
                      <a:pt x="54" y="6"/>
                    </a:lnTo>
                    <a:lnTo>
                      <a:pt x="43" y="12"/>
                    </a:lnTo>
                    <a:lnTo>
                      <a:pt x="32" y="19"/>
                    </a:lnTo>
                    <a:lnTo>
                      <a:pt x="16" y="37"/>
                    </a:lnTo>
                    <a:lnTo>
                      <a:pt x="6" y="58"/>
                    </a:lnTo>
                    <a:lnTo>
                      <a:pt x="0" y="79"/>
                    </a:lnTo>
                    <a:lnTo>
                      <a:pt x="0" y="101"/>
                    </a:lnTo>
                    <a:lnTo>
                      <a:pt x="2" y="124"/>
                    </a:lnTo>
                    <a:lnTo>
                      <a:pt x="7" y="145"/>
                    </a:lnTo>
                    <a:lnTo>
                      <a:pt x="15" y="168"/>
                    </a:lnTo>
                    <a:lnTo>
                      <a:pt x="24" y="188"/>
                    </a:lnTo>
                    <a:lnTo>
                      <a:pt x="32" y="201"/>
                    </a:lnTo>
                    <a:lnTo>
                      <a:pt x="43" y="213"/>
                    </a:lnTo>
                    <a:lnTo>
                      <a:pt x="56" y="223"/>
                    </a:lnTo>
                    <a:lnTo>
                      <a:pt x="69" y="231"/>
                    </a:lnTo>
                    <a:lnTo>
                      <a:pt x="84" y="237"/>
                    </a:lnTo>
                    <a:lnTo>
                      <a:pt x="98" y="240"/>
                    </a:lnTo>
                    <a:lnTo>
                      <a:pt x="113" y="240"/>
                    </a:lnTo>
                    <a:lnTo>
                      <a:pt x="129" y="237"/>
                    </a:lnTo>
                    <a:lnTo>
                      <a:pt x="151" y="229"/>
                    </a:lnTo>
                    <a:lnTo>
                      <a:pt x="172" y="219"/>
                    </a:lnTo>
                    <a:lnTo>
                      <a:pt x="189" y="204"/>
                    </a:lnTo>
                    <a:lnTo>
                      <a:pt x="206" y="188"/>
                    </a:lnTo>
                    <a:lnTo>
                      <a:pt x="216" y="171"/>
                    </a:lnTo>
                    <a:lnTo>
                      <a:pt x="223" y="152"/>
                    </a:lnTo>
                    <a:lnTo>
                      <a:pt x="226" y="131"/>
                    </a:lnTo>
                    <a:lnTo>
                      <a:pt x="223" y="109"/>
                    </a:lnTo>
                    <a:lnTo>
                      <a:pt x="222" y="104"/>
                    </a:lnTo>
                    <a:lnTo>
                      <a:pt x="219" y="98"/>
                    </a:lnTo>
                    <a:lnTo>
                      <a:pt x="213" y="95"/>
                    </a:lnTo>
                    <a:lnTo>
                      <a:pt x="207" y="95"/>
                    </a:lnTo>
                    <a:lnTo>
                      <a:pt x="201" y="96"/>
                    </a:lnTo>
                    <a:lnTo>
                      <a:pt x="197" y="99"/>
                    </a:lnTo>
                    <a:lnTo>
                      <a:pt x="194" y="105"/>
                    </a:lnTo>
                    <a:lnTo>
                      <a:pt x="192" y="111"/>
                    </a:lnTo>
                    <a:lnTo>
                      <a:pt x="191" y="127"/>
                    </a:lnTo>
                    <a:lnTo>
                      <a:pt x="188" y="142"/>
                    </a:lnTo>
                    <a:lnTo>
                      <a:pt x="182" y="158"/>
                    </a:lnTo>
                    <a:lnTo>
                      <a:pt x="173" y="171"/>
                    </a:lnTo>
                    <a:lnTo>
                      <a:pt x="162" y="183"/>
                    </a:lnTo>
                    <a:lnTo>
                      <a:pt x="147" y="191"/>
                    </a:lnTo>
                    <a:lnTo>
                      <a:pt x="131" y="197"/>
                    </a:lnTo>
                    <a:lnTo>
                      <a:pt x="110" y="200"/>
                    </a:lnTo>
                    <a:lnTo>
                      <a:pt x="90" y="197"/>
                    </a:lnTo>
                    <a:lnTo>
                      <a:pt x="74" y="190"/>
                    </a:lnTo>
                    <a:lnTo>
                      <a:pt x="60" y="177"/>
                    </a:lnTo>
                    <a:lnTo>
                      <a:pt x="51" y="161"/>
                    </a:lnTo>
                    <a:lnTo>
                      <a:pt x="44" y="144"/>
                    </a:lnTo>
                    <a:lnTo>
                      <a:pt x="38" y="124"/>
                    </a:lnTo>
                    <a:lnTo>
                      <a:pt x="34" y="105"/>
                    </a:lnTo>
                    <a:lnTo>
                      <a:pt x="32" y="86"/>
                    </a:lnTo>
                    <a:lnTo>
                      <a:pt x="32" y="76"/>
                    </a:lnTo>
                    <a:lnTo>
                      <a:pt x="35" y="66"/>
                    </a:lnTo>
                    <a:lnTo>
                      <a:pt x="41" y="56"/>
                    </a:lnTo>
                    <a:lnTo>
                      <a:pt x="47" y="46"/>
                    </a:lnTo>
                    <a:lnTo>
                      <a:pt x="54" y="39"/>
                    </a:lnTo>
                    <a:lnTo>
                      <a:pt x="63" y="32"/>
                    </a:lnTo>
                    <a:lnTo>
                      <a:pt x="74" y="26"/>
                    </a:lnTo>
                    <a:lnTo>
                      <a:pt x="84" y="25"/>
                    </a:lnTo>
                    <a:lnTo>
                      <a:pt x="87" y="25"/>
                    </a:lnTo>
                    <a:lnTo>
                      <a:pt x="94" y="23"/>
                    </a:lnTo>
                    <a:lnTo>
                      <a:pt x="106" y="25"/>
                    </a:lnTo>
                    <a:lnTo>
                      <a:pt x="119" y="26"/>
                    </a:lnTo>
                    <a:lnTo>
                      <a:pt x="126" y="25"/>
                    </a:lnTo>
                    <a:lnTo>
                      <a:pt x="131" y="19"/>
                    </a:lnTo>
                    <a:lnTo>
                      <a:pt x="129" y="12"/>
                    </a:lnTo>
                    <a:lnTo>
                      <a:pt x="125" y="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6" name="Freeform 30"/>
              <p:cNvSpPr>
                <a:spLocks/>
              </p:cNvSpPr>
              <p:nvPr/>
            </p:nvSpPr>
            <p:spPr bwMode="auto">
              <a:xfrm>
                <a:off x="8412" y="4892"/>
                <a:ext cx="93" cy="90"/>
              </a:xfrm>
              <a:custGeom>
                <a:avLst/>
                <a:gdLst>
                  <a:gd name="T0" fmla="*/ 20 w 279"/>
                  <a:gd name="T1" fmla="*/ 3 h 270"/>
                  <a:gd name="T2" fmla="*/ 11 w 279"/>
                  <a:gd name="T3" fmla="*/ 9 h 270"/>
                  <a:gd name="T4" fmla="*/ 5 w 279"/>
                  <a:gd name="T5" fmla="*/ 17 h 270"/>
                  <a:gd name="T6" fmla="*/ 1 w 279"/>
                  <a:gd name="T7" fmla="*/ 27 h 270"/>
                  <a:gd name="T8" fmla="*/ 0 w 279"/>
                  <a:gd name="T9" fmla="*/ 37 h 270"/>
                  <a:gd name="T10" fmla="*/ 2 w 279"/>
                  <a:gd name="T11" fmla="*/ 48 h 270"/>
                  <a:gd name="T12" fmla="*/ 6 w 279"/>
                  <a:gd name="T13" fmla="*/ 58 h 270"/>
                  <a:gd name="T14" fmla="*/ 12 w 279"/>
                  <a:gd name="T15" fmla="*/ 68 h 270"/>
                  <a:gd name="T16" fmla="*/ 22 w 279"/>
                  <a:gd name="T17" fmla="*/ 77 h 270"/>
                  <a:gd name="T18" fmla="*/ 34 w 279"/>
                  <a:gd name="T19" fmla="*/ 86 h 270"/>
                  <a:gd name="T20" fmla="*/ 47 w 279"/>
                  <a:gd name="T21" fmla="*/ 90 h 270"/>
                  <a:gd name="T22" fmla="*/ 62 w 279"/>
                  <a:gd name="T23" fmla="*/ 88 h 270"/>
                  <a:gd name="T24" fmla="*/ 73 w 279"/>
                  <a:gd name="T25" fmla="*/ 80 h 270"/>
                  <a:gd name="T26" fmla="*/ 81 w 279"/>
                  <a:gd name="T27" fmla="*/ 72 h 270"/>
                  <a:gd name="T28" fmla="*/ 88 w 279"/>
                  <a:gd name="T29" fmla="*/ 63 h 270"/>
                  <a:gd name="T30" fmla="*/ 92 w 279"/>
                  <a:gd name="T31" fmla="*/ 53 h 270"/>
                  <a:gd name="T32" fmla="*/ 93 w 279"/>
                  <a:gd name="T33" fmla="*/ 44 h 270"/>
                  <a:gd name="T34" fmla="*/ 91 w 279"/>
                  <a:gd name="T35" fmla="*/ 40 h 270"/>
                  <a:gd name="T36" fmla="*/ 86 w 279"/>
                  <a:gd name="T37" fmla="*/ 39 h 270"/>
                  <a:gd name="T38" fmla="*/ 82 w 279"/>
                  <a:gd name="T39" fmla="*/ 41 h 270"/>
                  <a:gd name="T40" fmla="*/ 80 w 279"/>
                  <a:gd name="T41" fmla="*/ 44 h 270"/>
                  <a:gd name="T42" fmla="*/ 78 w 279"/>
                  <a:gd name="T43" fmla="*/ 50 h 270"/>
                  <a:gd name="T44" fmla="*/ 73 w 279"/>
                  <a:gd name="T45" fmla="*/ 59 h 270"/>
                  <a:gd name="T46" fmla="*/ 66 w 279"/>
                  <a:gd name="T47" fmla="*/ 67 h 270"/>
                  <a:gd name="T48" fmla="*/ 51 w 279"/>
                  <a:gd name="T49" fmla="*/ 70 h 270"/>
                  <a:gd name="T50" fmla="*/ 33 w 279"/>
                  <a:gd name="T51" fmla="*/ 66 h 270"/>
                  <a:gd name="T52" fmla="*/ 20 w 279"/>
                  <a:gd name="T53" fmla="*/ 54 h 270"/>
                  <a:gd name="T54" fmla="*/ 13 w 279"/>
                  <a:gd name="T55" fmla="*/ 38 h 270"/>
                  <a:gd name="T56" fmla="*/ 15 w 279"/>
                  <a:gd name="T57" fmla="*/ 24 h 270"/>
                  <a:gd name="T58" fmla="*/ 20 w 279"/>
                  <a:gd name="T59" fmla="*/ 17 h 270"/>
                  <a:gd name="T60" fmla="*/ 27 w 279"/>
                  <a:gd name="T61" fmla="*/ 10 h 270"/>
                  <a:gd name="T62" fmla="*/ 34 w 279"/>
                  <a:gd name="T63" fmla="*/ 5 h 270"/>
                  <a:gd name="T64" fmla="*/ 36 w 279"/>
                  <a:gd name="T65" fmla="*/ 1 h 270"/>
                  <a:gd name="T66" fmla="*/ 29 w 279"/>
                  <a:gd name="T67" fmla="*/ 0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79"/>
                  <a:gd name="T103" fmla="*/ 0 h 270"/>
                  <a:gd name="T104" fmla="*/ 279 w 279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79" h="270">
                    <a:moveTo>
                      <a:pt x="75" y="3"/>
                    </a:moveTo>
                    <a:lnTo>
                      <a:pt x="60" y="8"/>
                    </a:lnTo>
                    <a:lnTo>
                      <a:pt x="47" y="17"/>
                    </a:lnTo>
                    <a:lnTo>
                      <a:pt x="34" y="27"/>
                    </a:lnTo>
                    <a:lnTo>
                      <a:pt x="24" y="39"/>
                    </a:lnTo>
                    <a:lnTo>
                      <a:pt x="15" y="50"/>
                    </a:lnTo>
                    <a:lnTo>
                      <a:pt x="7" y="64"/>
                    </a:lnTo>
                    <a:lnTo>
                      <a:pt x="3" y="80"/>
                    </a:lnTo>
                    <a:lnTo>
                      <a:pt x="0" y="96"/>
                    </a:lnTo>
                    <a:lnTo>
                      <a:pt x="0" y="112"/>
                    </a:lnTo>
                    <a:lnTo>
                      <a:pt x="2" y="129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5"/>
                    </a:lnTo>
                    <a:lnTo>
                      <a:pt x="27" y="189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1"/>
                    </a:lnTo>
                    <a:lnTo>
                      <a:pt x="82" y="244"/>
                    </a:lnTo>
                    <a:lnTo>
                      <a:pt x="101" y="257"/>
                    </a:lnTo>
                    <a:lnTo>
                      <a:pt x="122" y="266"/>
                    </a:lnTo>
                    <a:lnTo>
                      <a:pt x="142" y="270"/>
                    </a:lnTo>
                    <a:lnTo>
                      <a:pt x="165" y="270"/>
                    </a:lnTo>
                    <a:lnTo>
                      <a:pt x="185" y="263"/>
                    </a:lnTo>
                    <a:lnTo>
                      <a:pt x="206" y="250"/>
                    </a:lnTo>
                    <a:lnTo>
                      <a:pt x="219" y="240"/>
                    </a:lnTo>
                    <a:lnTo>
                      <a:pt x="232" y="228"/>
                    </a:lnTo>
                    <a:lnTo>
                      <a:pt x="244" y="215"/>
                    </a:lnTo>
                    <a:lnTo>
                      <a:pt x="254" y="202"/>
                    </a:lnTo>
                    <a:lnTo>
                      <a:pt x="263" y="188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79" y="133"/>
                    </a:lnTo>
                    <a:lnTo>
                      <a:pt x="278" y="126"/>
                    </a:lnTo>
                    <a:lnTo>
                      <a:pt x="273" y="120"/>
                    </a:lnTo>
                    <a:lnTo>
                      <a:pt x="266" y="116"/>
                    </a:lnTo>
                    <a:lnTo>
                      <a:pt x="258" y="116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1" y="129"/>
                    </a:lnTo>
                    <a:lnTo>
                      <a:pt x="241" y="132"/>
                    </a:lnTo>
                    <a:lnTo>
                      <a:pt x="238" y="139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0" y="176"/>
                    </a:lnTo>
                    <a:lnTo>
                      <a:pt x="210" y="191"/>
                    </a:lnTo>
                    <a:lnTo>
                      <a:pt x="198" y="201"/>
                    </a:lnTo>
                    <a:lnTo>
                      <a:pt x="182" y="210"/>
                    </a:lnTo>
                    <a:lnTo>
                      <a:pt x="154" y="211"/>
                    </a:lnTo>
                    <a:lnTo>
                      <a:pt x="126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2"/>
                    </a:lnTo>
                    <a:lnTo>
                      <a:pt x="46" y="139"/>
                    </a:lnTo>
                    <a:lnTo>
                      <a:pt x="40" y="113"/>
                    </a:lnTo>
                    <a:lnTo>
                      <a:pt x="40" y="86"/>
                    </a:lnTo>
                    <a:lnTo>
                      <a:pt x="44" y="73"/>
                    </a:lnTo>
                    <a:lnTo>
                      <a:pt x="50" y="62"/>
                    </a:lnTo>
                    <a:lnTo>
                      <a:pt x="60" y="50"/>
                    </a:lnTo>
                    <a:lnTo>
                      <a:pt x="71" y="39"/>
                    </a:lnTo>
                    <a:lnTo>
                      <a:pt x="81" y="30"/>
                    </a:lnTo>
                    <a:lnTo>
                      <a:pt x="93" y="21"/>
                    </a:lnTo>
                    <a:lnTo>
                      <a:pt x="103" y="16"/>
                    </a:lnTo>
                    <a:lnTo>
                      <a:pt x="112" y="11"/>
                    </a:lnTo>
                    <a:lnTo>
                      <a:pt x="109" y="4"/>
                    </a:lnTo>
                    <a:lnTo>
                      <a:pt x="100" y="0"/>
                    </a:lnTo>
                    <a:lnTo>
                      <a:pt x="88" y="0"/>
                    </a:lnTo>
                    <a:lnTo>
                      <a:pt x="75" y="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7" name="Freeform 31"/>
              <p:cNvSpPr>
                <a:spLocks/>
              </p:cNvSpPr>
              <p:nvPr/>
            </p:nvSpPr>
            <p:spPr bwMode="auto">
              <a:xfrm>
                <a:off x="8347" y="4786"/>
                <a:ext cx="24" cy="25"/>
              </a:xfrm>
              <a:custGeom>
                <a:avLst/>
                <a:gdLst>
                  <a:gd name="T0" fmla="*/ 2 w 72"/>
                  <a:gd name="T1" fmla="*/ 22 h 75"/>
                  <a:gd name="T2" fmla="*/ 5 w 72"/>
                  <a:gd name="T3" fmla="*/ 24 h 75"/>
                  <a:gd name="T4" fmla="*/ 8 w 72"/>
                  <a:gd name="T5" fmla="*/ 25 h 75"/>
                  <a:gd name="T6" fmla="*/ 11 w 72"/>
                  <a:gd name="T7" fmla="*/ 25 h 75"/>
                  <a:gd name="T8" fmla="*/ 12 w 72"/>
                  <a:gd name="T9" fmla="*/ 24 h 75"/>
                  <a:gd name="T10" fmla="*/ 13 w 72"/>
                  <a:gd name="T11" fmla="*/ 24 h 75"/>
                  <a:gd name="T12" fmla="*/ 16 w 72"/>
                  <a:gd name="T13" fmla="*/ 24 h 75"/>
                  <a:gd name="T14" fmla="*/ 19 w 72"/>
                  <a:gd name="T15" fmla="*/ 22 h 75"/>
                  <a:gd name="T16" fmla="*/ 21 w 72"/>
                  <a:gd name="T17" fmla="*/ 20 h 75"/>
                  <a:gd name="T18" fmla="*/ 23 w 72"/>
                  <a:gd name="T19" fmla="*/ 19 h 75"/>
                  <a:gd name="T20" fmla="*/ 24 w 72"/>
                  <a:gd name="T21" fmla="*/ 17 h 75"/>
                  <a:gd name="T22" fmla="*/ 24 w 72"/>
                  <a:gd name="T23" fmla="*/ 16 h 75"/>
                  <a:gd name="T24" fmla="*/ 23 w 72"/>
                  <a:gd name="T25" fmla="*/ 15 h 75"/>
                  <a:gd name="T26" fmla="*/ 22 w 72"/>
                  <a:gd name="T27" fmla="*/ 13 h 75"/>
                  <a:gd name="T28" fmla="*/ 21 w 72"/>
                  <a:gd name="T29" fmla="*/ 13 h 75"/>
                  <a:gd name="T30" fmla="*/ 20 w 72"/>
                  <a:gd name="T31" fmla="*/ 13 h 75"/>
                  <a:gd name="T32" fmla="*/ 18 w 72"/>
                  <a:gd name="T33" fmla="*/ 13 h 75"/>
                  <a:gd name="T34" fmla="*/ 16 w 72"/>
                  <a:gd name="T35" fmla="*/ 14 h 75"/>
                  <a:gd name="T36" fmla="*/ 13 w 72"/>
                  <a:gd name="T37" fmla="*/ 15 h 75"/>
                  <a:gd name="T38" fmla="*/ 11 w 72"/>
                  <a:gd name="T39" fmla="*/ 17 h 75"/>
                  <a:gd name="T40" fmla="*/ 10 w 72"/>
                  <a:gd name="T41" fmla="*/ 17 h 75"/>
                  <a:gd name="T42" fmla="*/ 9 w 72"/>
                  <a:gd name="T43" fmla="*/ 14 h 75"/>
                  <a:gd name="T44" fmla="*/ 7 w 72"/>
                  <a:gd name="T45" fmla="*/ 8 h 75"/>
                  <a:gd name="T46" fmla="*/ 4 w 72"/>
                  <a:gd name="T47" fmla="*/ 2 h 75"/>
                  <a:gd name="T48" fmla="*/ 0 w 72"/>
                  <a:gd name="T49" fmla="*/ 0 h 75"/>
                  <a:gd name="T50" fmla="*/ 0 w 72"/>
                  <a:gd name="T51" fmla="*/ 6 h 75"/>
                  <a:gd name="T52" fmla="*/ 1 w 72"/>
                  <a:gd name="T53" fmla="*/ 13 h 75"/>
                  <a:gd name="T54" fmla="*/ 2 w 72"/>
                  <a:gd name="T55" fmla="*/ 19 h 75"/>
                  <a:gd name="T56" fmla="*/ 2 w 72"/>
                  <a:gd name="T57" fmla="*/ 22 h 75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2"/>
                  <a:gd name="T88" fmla="*/ 0 h 75"/>
                  <a:gd name="T89" fmla="*/ 72 w 72"/>
                  <a:gd name="T90" fmla="*/ 75 h 75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2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9" y="72"/>
                    </a:lnTo>
                    <a:lnTo>
                      <a:pt x="47" y="71"/>
                    </a:lnTo>
                    <a:lnTo>
                      <a:pt x="56" y="66"/>
                    </a:lnTo>
                    <a:lnTo>
                      <a:pt x="64" y="60"/>
                    </a:lnTo>
                    <a:lnTo>
                      <a:pt x="69" y="56"/>
                    </a:lnTo>
                    <a:lnTo>
                      <a:pt x="72" y="52"/>
                    </a:lnTo>
                    <a:lnTo>
                      <a:pt x="72" y="49"/>
                    </a:lnTo>
                    <a:lnTo>
                      <a:pt x="70" y="45"/>
                    </a:lnTo>
                    <a:lnTo>
                      <a:pt x="67" y="40"/>
                    </a:lnTo>
                    <a:lnTo>
                      <a:pt x="63" y="39"/>
                    </a:lnTo>
                    <a:lnTo>
                      <a:pt x="59" y="38"/>
                    </a:lnTo>
                    <a:lnTo>
                      <a:pt x="54" y="39"/>
                    </a:lnTo>
                    <a:lnTo>
                      <a:pt x="48" y="42"/>
                    </a:lnTo>
                    <a:lnTo>
                      <a:pt x="39" y="46"/>
                    </a:lnTo>
                    <a:lnTo>
                      <a:pt x="32" y="50"/>
                    </a:lnTo>
                    <a:lnTo>
                      <a:pt x="29" y="52"/>
                    </a:lnTo>
                    <a:lnTo>
                      <a:pt x="26" y="43"/>
                    </a:lnTo>
                    <a:lnTo>
                      <a:pt x="20" y="25"/>
                    </a:lnTo>
                    <a:lnTo>
                      <a:pt x="12" y="7"/>
                    </a:lnTo>
                    <a:lnTo>
                      <a:pt x="1" y="0"/>
                    </a:lnTo>
                    <a:lnTo>
                      <a:pt x="0" y="17"/>
                    </a:lnTo>
                    <a:lnTo>
                      <a:pt x="3" y="39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8" name="Freeform 32"/>
              <p:cNvSpPr>
                <a:spLocks/>
              </p:cNvSpPr>
              <p:nvPr/>
            </p:nvSpPr>
            <p:spPr bwMode="auto">
              <a:xfrm>
                <a:off x="8370" y="4780"/>
                <a:ext cx="23" cy="20"/>
              </a:xfrm>
              <a:custGeom>
                <a:avLst/>
                <a:gdLst>
                  <a:gd name="T0" fmla="*/ 5 w 70"/>
                  <a:gd name="T1" fmla="*/ 18 h 59"/>
                  <a:gd name="T2" fmla="*/ 5 w 70"/>
                  <a:gd name="T3" fmla="*/ 19 h 59"/>
                  <a:gd name="T4" fmla="*/ 7 w 70"/>
                  <a:gd name="T5" fmla="*/ 19 h 59"/>
                  <a:gd name="T6" fmla="*/ 8 w 70"/>
                  <a:gd name="T7" fmla="*/ 20 h 59"/>
                  <a:gd name="T8" fmla="*/ 9 w 70"/>
                  <a:gd name="T9" fmla="*/ 20 h 59"/>
                  <a:gd name="T10" fmla="*/ 12 w 70"/>
                  <a:gd name="T11" fmla="*/ 20 h 59"/>
                  <a:gd name="T12" fmla="*/ 15 w 70"/>
                  <a:gd name="T13" fmla="*/ 19 h 59"/>
                  <a:gd name="T14" fmla="*/ 18 w 70"/>
                  <a:gd name="T15" fmla="*/ 19 h 59"/>
                  <a:gd name="T16" fmla="*/ 21 w 70"/>
                  <a:gd name="T17" fmla="*/ 17 h 59"/>
                  <a:gd name="T18" fmla="*/ 22 w 70"/>
                  <a:gd name="T19" fmla="*/ 16 h 59"/>
                  <a:gd name="T20" fmla="*/ 23 w 70"/>
                  <a:gd name="T21" fmla="*/ 15 h 59"/>
                  <a:gd name="T22" fmla="*/ 23 w 70"/>
                  <a:gd name="T23" fmla="*/ 14 h 59"/>
                  <a:gd name="T24" fmla="*/ 23 w 70"/>
                  <a:gd name="T25" fmla="*/ 13 h 59"/>
                  <a:gd name="T26" fmla="*/ 18 w 70"/>
                  <a:gd name="T27" fmla="*/ 11 h 59"/>
                  <a:gd name="T28" fmla="*/ 14 w 70"/>
                  <a:gd name="T29" fmla="*/ 11 h 59"/>
                  <a:gd name="T30" fmla="*/ 11 w 70"/>
                  <a:gd name="T31" fmla="*/ 13 h 59"/>
                  <a:gd name="T32" fmla="*/ 9 w 70"/>
                  <a:gd name="T33" fmla="*/ 14 h 59"/>
                  <a:gd name="T34" fmla="*/ 7 w 70"/>
                  <a:gd name="T35" fmla="*/ 10 h 59"/>
                  <a:gd name="T36" fmla="*/ 5 w 70"/>
                  <a:gd name="T37" fmla="*/ 5 h 59"/>
                  <a:gd name="T38" fmla="*/ 3 w 70"/>
                  <a:gd name="T39" fmla="*/ 1 h 59"/>
                  <a:gd name="T40" fmla="*/ 1 w 70"/>
                  <a:gd name="T41" fmla="*/ 0 h 59"/>
                  <a:gd name="T42" fmla="*/ 0 w 70"/>
                  <a:gd name="T43" fmla="*/ 6 h 59"/>
                  <a:gd name="T44" fmla="*/ 1 w 70"/>
                  <a:gd name="T45" fmla="*/ 12 h 59"/>
                  <a:gd name="T46" fmla="*/ 4 w 70"/>
                  <a:gd name="T47" fmla="*/ 17 h 59"/>
                  <a:gd name="T48" fmla="*/ 5 w 70"/>
                  <a:gd name="T49" fmla="*/ 18 h 59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0"/>
                  <a:gd name="T76" fmla="*/ 0 h 59"/>
                  <a:gd name="T77" fmla="*/ 70 w 70"/>
                  <a:gd name="T78" fmla="*/ 59 h 59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0" h="59">
                    <a:moveTo>
                      <a:pt x="15" y="53"/>
                    </a:moveTo>
                    <a:lnTo>
                      <a:pt x="16" y="55"/>
                    </a:lnTo>
                    <a:lnTo>
                      <a:pt x="20" y="57"/>
                    </a:lnTo>
                    <a:lnTo>
                      <a:pt x="25" y="59"/>
                    </a:lnTo>
                    <a:lnTo>
                      <a:pt x="26" y="59"/>
                    </a:lnTo>
                    <a:lnTo>
                      <a:pt x="35" y="59"/>
                    </a:lnTo>
                    <a:lnTo>
                      <a:pt x="45" y="56"/>
                    </a:lnTo>
                    <a:lnTo>
                      <a:pt x="54" y="55"/>
                    </a:lnTo>
                    <a:lnTo>
                      <a:pt x="63" y="50"/>
                    </a:lnTo>
                    <a:lnTo>
                      <a:pt x="66" y="47"/>
                    </a:lnTo>
                    <a:lnTo>
                      <a:pt x="69" y="44"/>
                    </a:lnTo>
                    <a:lnTo>
                      <a:pt x="70" y="40"/>
                    </a:lnTo>
                    <a:lnTo>
                      <a:pt x="69" y="37"/>
                    </a:lnTo>
                    <a:lnTo>
                      <a:pt x="56" y="32"/>
                    </a:lnTo>
                    <a:lnTo>
                      <a:pt x="42" y="33"/>
                    </a:lnTo>
                    <a:lnTo>
                      <a:pt x="32" y="37"/>
                    </a:lnTo>
                    <a:lnTo>
                      <a:pt x="28" y="40"/>
                    </a:lnTo>
                    <a:lnTo>
                      <a:pt x="20" y="30"/>
                    </a:lnTo>
                    <a:lnTo>
                      <a:pt x="16" y="14"/>
                    </a:lnTo>
                    <a:lnTo>
                      <a:pt x="10" y="3"/>
                    </a:lnTo>
                    <a:lnTo>
                      <a:pt x="3" y="0"/>
                    </a:lnTo>
                    <a:lnTo>
                      <a:pt x="0" y="19"/>
                    </a:lnTo>
                    <a:lnTo>
                      <a:pt x="4" y="36"/>
                    </a:lnTo>
                    <a:lnTo>
                      <a:pt x="12" y="49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59" name="Freeform 33"/>
              <p:cNvSpPr>
                <a:spLocks/>
              </p:cNvSpPr>
              <p:nvPr/>
            </p:nvSpPr>
            <p:spPr bwMode="auto">
              <a:xfrm>
                <a:off x="8390" y="4771"/>
                <a:ext cx="22" cy="20"/>
              </a:xfrm>
              <a:custGeom>
                <a:avLst/>
                <a:gdLst>
                  <a:gd name="T0" fmla="*/ 1 w 65"/>
                  <a:gd name="T1" fmla="*/ 15 h 60"/>
                  <a:gd name="T2" fmla="*/ 3 w 65"/>
                  <a:gd name="T3" fmla="*/ 19 h 60"/>
                  <a:gd name="T4" fmla="*/ 7 w 65"/>
                  <a:gd name="T5" fmla="*/ 20 h 60"/>
                  <a:gd name="T6" fmla="*/ 10 w 65"/>
                  <a:gd name="T7" fmla="*/ 20 h 60"/>
                  <a:gd name="T8" fmla="*/ 12 w 65"/>
                  <a:gd name="T9" fmla="*/ 20 h 60"/>
                  <a:gd name="T10" fmla="*/ 15 w 65"/>
                  <a:gd name="T11" fmla="*/ 19 h 60"/>
                  <a:gd name="T12" fmla="*/ 18 w 65"/>
                  <a:gd name="T13" fmla="*/ 17 h 60"/>
                  <a:gd name="T14" fmla="*/ 21 w 65"/>
                  <a:gd name="T15" fmla="*/ 15 h 60"/>
                  <a:gd name="T16" fmla="*/ 22 w 65"/>
                  <a:gd name="T17" fmla="*/ 13 h 60"/>
                  <a:gd name="T18" fmla="*/ 21 w 65"/>
                  <a:gd name="T19" fmla="*/ 12 h 60"/>
                  <a:gd name="T20" fmla="*/ 20 w 65"/>
                  <a:gd name="T21" fmla="*/ 11 h 60"/>
                  <a:gd name="T22" fmla="*/ 19 w 65"/>
                  <a:gd name="T23" fmla="*/ 11 h 60"/>
                  <a:gd name="T24" fmla="*/ 17 w 65"/>
                  <a:gd name="T25" fmla="*/ 11 h 60"/>
                  <a:gd name="T26" fmla="*/ 9 w 65"/>
                  <a:gd name="T27" fmla="*/ 12 h 60"/>
                  <a:gd name="T28" fmla="*/ 8 w 65"/>
                  <a:gd name="T29" fmla="*/ 10 h 60"/>
                  <a:gd name="T30" fmla="*/ 6 w 65"/>
                  <a:gd name="T31" fmla="*/ 5 h 60"/>
                  <a:gd name="T32" fmla="*/ 3 w 65"/>
                  <a:gd name="T33" fmla="*/ 1 h 60"/>
                  <a:gd name="T34" fmla="*/ 0 w 65"/>
                  <a:gd name="T35" fmla="*/ 0 h 60"/>
                  <a:gd name="T36" fmla="*/ 0 w 65"/>
                  <a:gd name="T37" fmla="*/ 5 h 60"/>
                  <a:gd name="T38" fmla="*/ 1 w 65"/>
                  <a:gd name="T39" fmla="*/ 10 h 60"/>
                  <a:gd name="T40" fmla="*/ 1 w 65"/>
                  <a:gd name="T41" fmla="*/ 14 h 60"/>
                  <a:gd name="T42" fmla="*/ 1 w 65"/>
                  <a:gd name="T43" fmla="*/ 15 h 60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65"/>
                  <a:gd name="T67" fmla="*/ 0 h 60"/>
                  <a:gd name="T68" fmla="*/ 65 w 65"/>
                  <a:gd name="T69" fmla="*/ 60 h 60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65" h="60">
                    <a:moveTo>
                      <a:pt x="4" y="46"/>
                    </a:moveTo>
                    <a:lnTo>
                      <a:pt x="9" y="56"/>
                    </a:lnTo>
                    <a:lnTo>
                      <a:pt x="21" y="60"/>
                    </a:lnTo>
                    <a:lnTo>
                      <a:pt x="31" y="60"/>
                    </a:lnTo>
                    <a:lnTo>
                      <a:pt x="35" y="60"/>
                    </a:lnTo>
                    <a:lnTo>
                      <a:pt x="44" y="57"/>
                    </a:lnTo>
                    <a:lnTo>
                      <a:pt x="54" y="51"/>
                    </a:lnTo>
                    <a:lnTo>
                      <a:pt x="62" y="46"/>
                    </a:lnTo>
                    <a:lnTo>
                      <a:pt x="65" y="40"/>
                    </a:lnTo>
                    <a:lnTo>
                      <a:pt x="63" y="36"/>
                    </a:lnTo>
                    <a:lnTo>
                      <a:pt x="60" y="34"/>
                    </a:lnTo>
                    <a:lnTo>
                      <a:pt x="56" y="33"/>
                    </a:lnTo>
                    <a:lnTo>
                      <a:pt x="51" y="33"/>
                    </a:lnTo>
                    <a:lnTo>
                      <a:pt x="26" y="37"/>
                    </a:lnTo>
                    <a:lnTo>
                      <a:pt x="24" y="30"/>
                    </a:lnTo>
                    <a:lnTo>
                      <a:pt x="18" y="15"/>
                    </a:lnTo>
                    <a:lnTo>
                      <a:pt x="9" y="2"/>
                    </a:lnTo>
                    <a:lnTo>
                      <a:pt x="0" y="0"/>
                    </a:lnTo>
                    <a:lnTo>
                      <a:pt x="0" y="14"/>
                    </a:lnTo>
                    <a:lnTo>
                      <a:pt x="2" y="30"/>
                    </a:lnTo>
                    <a:lnTo>
                      <a:pt x="3" y="41"/>
                    </a:lnTo>
                    <a:lnTo>
                      <a:pt x="4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0" name="Freeform 34"/>
              <p:cNvSpPr>
                <a:spLocks/>
              </p:cNvSpPr>
              <p:nvPr/>
            </p:nvSpPr>
            <p:spPr bwMode="auto">
              <a:xfrm>
                <a:off x="8362" y="4825"/>
                <a:ext cx="23" cy="16"/>
              </a:xfrm>
              <a:custGeom>
                <a:avLst/>
                <a:gdLst>
                  <a:gd name="T0" fmla="*/ 3 w 69"/>
                  <a:gd name="T1" fmla="*/ 16 h 47"/>
                  <a:gd name="T2" fmla="*/ 4 w 69"/>
                  <a:gd name="T3" fmla="*/ 16 h 47"/>
                  <a:gd name="T4" fmla="*/ 5 w 69"/>
                  <a:gd name="T5" fmla="*/ 16 h 47"/>
                  <a:gd name="T6" fmla="*/ 7 w 69"/>
                  <a:gd name="T7" fmla="*/ 16 h 47"/>
                  <a:gd name="T8" fmla="*/ 8 w 69"/>
                  <a:gd name="T9" fmla="*/ 16 h 47"/>
                  <a:gd name="T10" fmla="*/ 10 w 69"/>
                  <a:gd name="T11" fmla="*/ 16 h 47"/>
                  <a:gd name="T12" fmla="*/ 13 w 69"/>
                  <a:gd name="T13" fmla="*/ 15 h 47"/>
                  <a:gd name="T14" fmla="*/ 16 w 69"/>
                  <a:gd name="T15" fmla="*/ 14 h 47"/>
                  <a:gd name="T16" fmla="*/ 19 w 69"/>
                  <a:gd name="T17" fmla="*/ 13 h 47"/>
                  <a:gd name="T18" fmla="*/ 21 w 69"/>
                  <a:gd name="T19" fmla="*/ 12 h 47"/>
                  <a:gd name="T20" fmla="*/ 22 w 69"/>
                  <a:gd name="T21" fmla="*/ 10 h 47"/>
                  <a:gd name="T22" fmla="*/ 23 w 69"/>
                  <a:gd name="T23" fmla="*/ 9 h 47"/>
                  <a:gd name="T24" fmla="*/ 22 w 69"/>
                  <a:gd name="T25" fmla="*/ 7 h 47"/>
                  <a:gd name="T26" fmla="*/ 21 w 69"/>
                  <a:gd name="T27" fmla="*/ 6 h 47"/>
                  <a:gd name="T28" fmla="*/ 19 w 69"/>
                  <a:gd name="T29" fmla="*/ 6 h 47"/>
                  <a:gd name="T30" fmla="*/ 16 w 69"/>
                  <a:gd name="T31" fmla="*/ 6 h 47"/>
                  <a:gd name="T32" fmla="*/ 13 w 69"/>
                  <a:gd name="T33" fmla="*/ 6 h 47"/>
                  <a:gd name="T34" fmla="*/ 11 w 69"/>
                  <a:gd name="T35" fmla="*/ 7 h 47"/>
                  <a:gd name="T36" fmla="*/ 9 w 69"/>
                  <a:gd name="T37" fmla="*/ 8 h 47"/>
                  <a:gd name="T38" fmla="*/ 7 w 69"/>
                  <a:gd name="T39" fmla="*/ 9 h 47"/>
                  <a:gd name="T40" fmla="*/ 7 w 69"/>
                  <a:gd name="T41" fmla="*/ 9 h 47"/>
                  <a:gd name="T42" fmla="*/ 6 w 69"/>
                  <a:gd name="T43" fmla="*/ 7 h 47"/>
                  <a:gd name="T44" fmla="*/ 5 w 69"/>
                  <a:gd name="T45" fmla="*/ 5 h 47"/>
                  <a:gd name="T46" fmla="*/ 4 w 69"/>
                  <a:gd name="T47" fmla="*/ 2 h 47"/>
                  <a:gd name="T48" fmla="*/ 3 w 69"/>
                  <a:gd name="T49" fmla="*/ 1 h 47"/>
                  <a:gd name="T50" fmla="*/ 2 w 69"/>
                  <a:gd name="T51" fmla="*/ 0 h 47"/>
                  <a:gd name="T52" fmla="*/ 2 w 69"/>
                  <a:gd name="T53" fmla="*/ 0 h 47"/>
                  <a:gd name="T54" fmla="*/ 1 w 69"/>
                  <a:gd name="T55" fmla="*/ 0 h 47"/>
                  <a:gd name="T56" fmla="*/ 0 w 69"/>
                  <a:gd name="T57" fmla="*/ 1 h 47"/>
                  <a:gd name="T58" fmla="*/ 0 w 69"/>
                  <a:gd name="T59" fmla="*/ 4 h 47"/>
                  <a:gd name="T60" fmla="*/ 1 w 69"/>
                  <a:gd name="T61" fmla="*/ 9 h 47"/>
                  <a:gd name="T62" fmla="*/ 2 w 69"/>
                  <a:gd name="T63" fmla="*/ 14 h 47"/>
                  <a:gd name="T64" fmla="*/ 3 w 69"/>
                  <a:gd name="T65" fmla="*/ 16 h 47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69"/>
                  <a:gd name="T100" fmla="*/ 0 h 47"/>
                  <a:gd name="T101" fmla="*/ 69 w 69"/>
                  <a:gd name="T102" fmla="*/ 47 h 47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69" h="47">
                    <a:moveTo>
                      <a:pt x="9" y="46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7"/>
                    </a:lnTo>
                    <a:lnTo>
                      <a:pt x="23" y="47"/>
                    </a:lnTo>
                    <a:lnTo>
                      <a:pt x="31" y="46"/>
                    </a:lnTo>
                    <a:lnTo>
                      <a:pt x="40" y="45"/>
                    </a:lnTo>
                    <a:lnTo>
                      <a:pt x="48" y="42"/>
                    </a:lnTo>
                    <a:lnTo>
                      <a:pt x="56" y="37"/>
                    </a:lnTo>
                    <a:lnTo>
                      <a:pt x="63" y="34"/>
                    </a:lnTo>
                    <a:lnTo>
                      <a:pt x="67" y="30"/>
                    </a:lnTo>
                    <a:lnTo>
                      <a:pt x="69" y="26"/>
                    </a:lnTo>
                    <a:lnTo>
                      <a:pt x="66" y="20"/>
                    </a:lnTo>
                    <a:lnTo>
                      <a:pt x="62" y="17"/>
                    </a:lnTo>
                    <a:lnTo>
                      <a:pt x="56" y="17"/>
                    </a:lnTo>
                    <a:lnTo>
                      <a:pt x="48" y="17"/>
                    </a:lnTo>
                    <a:lnTo>
                      <a:pt x="40" y="19"/>
                    </a:lnTo>
                    <a:lnTo>
                      <a:pt x="32" y="22"/>
                    </a:lnTo>
                    <a:lnTo>
                      <a:pt x="26" y="23"/>
                    </a:lnTo>
                    <a:lnTo>
                      <a:pt x="22" y="26"/>
                    </a:lnTo>
                    <a:lnTo>
                      <a:pt x="20" y="26"/>
                    </a:lnTo>
                    <a:lnTo>
                      <a:pt x="19" y="22"/>
                    </a:lnTo>
                    <a:lnTo>
                      <a:pt x="16" y="14"/>
                    </a:lnTo>
                    <a:lnTo>
                      <a:pt x="12" y="7"/>
                    </a:lnTo>
                    <a:lnTo>
                      <a:pt x="10" y="4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0" y="3"/>
                    </a:lnTo>
                    <a:lnTo>
                      <a:pt x="0" y="11"/>
                    </a:lnTo>
                    <a:lnTo>
                      <a:pt x="3" y="26"/>
                    </a:lnTo>
                    <a:lnTo>
                      <a:pt x="7" y="40"/>
                    </a:lnTo>
                    <a:lnTo>
                      <a:pt x="9" y="46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1" name="Freeform 35"/>
              <p:cNvSpPr>
                <a:spLocks/>
              </p:cNvSpPr>
              <p:nvPr/>
            </p:nvSpPr>
            <p:spPr bwMode="auto">
              <a:xfrm>
                <a:off x="8390" y="4813"/>
                <a:ext cx="20" cy="20"/>
              </a:xfrm>
              <a:custGeom>
                <a:avLst/>
                <a:gdLst>
                  <a:gd name="T0" fmla="*/ 4 w 60"/>
                  <a:gd name="T1" fmla="*/ 18 h 58"/>
                  <a:gd name="T2" fmla="*/ 7 w 60"/>
                  <a:gd name="T3" fmla="*/ 19 h 58"/>
                  <a:gd name="T4" fmla="*/ 11 w 60"/>
                  <a:gd name="T5" fmla="*/ 20 h 58"/>
                  <a:gd name="T6" fmla="*/ 15 w 60"/>
                  <a:gd name="T7" fmla="*/ 19 h 58"/>
                  <a:gd name="T8" fmla="*/ 18 w 60"/>
                  <a:gd name="T9" fmla="*/ 17 h 58"/>
                  <a:gd name="T10" fmla="*/ 19 w 60"/>
                  <a:gd name="T11" fmla="*/ 17 h 58"/>
                  <a:gd name="T12" fmla="*/ 20 w 60"/>
                  <a:gd name="T13" fmla="*/ 16 h 58"/>
                  <a:gd name="T14" fmla="*/ 20 w 60"/>
                  <a:gd name="T15" fmla="*/ 14 h 58"/>
                  <a:gd name="T16" fmla="*/ 20 w 60"/>
                  <a:gd name="T17" fmla="*/ 13 h 58"/>
                  <a:gd name="T18" fmla="*/ 19 w 60"/>
                  <a:gd name="T19" fmla="*/ 12 h 58"/>
                  <a:gd name="T20" fmla="*/ 18 w 60"/>
                  <a:gd name="T21" fmla="*/ 11 h 58"/>
                  <a:gd name="T22" fmla="*/ 16 w 60"/>
                  <a:gd name="T23" fmla="*/ 11 h 58"/>
                  <a:gd name="T24" fmla="*/ 15 w 60"/>
                  <a:gd name="T25" fmla="*/ 11 h 58"/>
                  <a:gd name="T26" fmla="*/ 12 w 60"/>
                  <a:gd name="T27" fmla="*/ 12 h 58"/>
                  <a:gd name="T28" fmla="*/ 9 w 60"/>
                  <a:gd name="T29" fmla="*/ 12 h 58"/>
                  <a:gd name="T30" fmla="*/ 7 w 60"/>
                  <a:gd name="T31" fmla="*/ 12 h 58"/>
                  <a:gd name="T32" fmla="*/ 6 w 60"/>
                  <a:gd name="T33" fmla="*/ 12 h 58"/>
                  <a:gd name="T34" fmla="*/ 6 w 60"/>
                  <a:gd name="T35" fmla="*/ 10 h 58"/>
                  <a:gd name="T36" fmla="*/ 6 w 60"/>
                  <a:gd name="T37" fmla="*/ 6 h 58"/>
                  <a:gd name="T38" fmla="*/ 5 w 60"/>
                  <a:gd name="T39" fmla="*/ 1 h 58"/>
                  <a:gd name="T40" fmla="*/ 2 w 60"/>
                  <a:gd name="T41" fmla="*/ 0 h 58"/>
                  <a:gd name="T42" fmla="*/ 0 w 60"/>
                  <a:gd name="T43" fmla="*/ 4 h 58"/>
                  <a:gd name="T44" fmla="*/ 0 w 60"/>
                  <a:gd name="T45" fmla="*/ 9 h 58"/>
                  <a:gd name="T46" fmla="*/ 1 w 60"/>
                  <a:gd name="T47" fmla="*/ 14 h 58"/>
                  <a:gd name="T48" fmla="*/ 4 w 60"/>
                  <a:gd name="T49" fmla="*/ 18 h 5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0"/>
                  <a:gd name="T76" fmla="*/ 0 h 58"/>
                  <a:gd name="T77" fmla="*/ 60 w 60"/>
                  <a:gd name="T78" fmla="*/ 58 h 5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0" h="58">
                    <a:moveTo>
                      <a:pt x="13" y="52"/>
                    </a:moveTo>
                    <a:lnTo>
                      <a:pt x="20" y="55"/>
                    </a:lnTo>
                    <a:lnTo>
                      <a:pt x="32" y="58"/>
                    </a:lnTo>
                    <a:lnTo>
                      <a:pt x="45" y="56"/>
                    </a:lnTo>
                    <a:lnTo>
                      <a:pt x="55" y="50"/>
                    </a:lnTo>
                    <a:lnTo>
                      <a:pt x="58" y="49"/>
                    </a:lnTo>
                    <a:lnTo>
                      <a:pt x="60" y="46"/>
                    </a:lnTo>
                    <a:lnTo>
                      <a:pt x="60" y="42"/>
                    </a:lnTo>
                    <a:lnTo>
                      <a:pt x="60" y="39"/>
                    </a:lnTo>
                    <a:lnTo>
                      <a:pt x="58" y="36"/>
                    </a:lnTo>
                    <a:lnTo>
                      <a:pt x="54" y="33"/>
                    </a:lnTo>
                    <a:lnTo>
                      <a:pt x="49" y="32"/>
                    </a:lnTo>
                    <a:lnTo>
                      <a:pt x="45" y="32"/>
                    </a:lnTo>
                    <a:lnTo>
                      <a:pt x="36" y="35"/>
                    </a:lnTo>
                    <a:lnTo>
                      <a:pt x="27" y="36"/>
                    </a:lnTo>
                    <a:lnTo>
                      <a:pt x="20" y="35"/>
                    </a:lnTo>
                    <a:lnTo>
                      <a:pt x="17" y="35"/>
                    </a:lnTo>
                    <a:lnTo>
                      <a:pt x="17" y="29"/>
                    </a:lnTo>
                    <a:lnTo>
                      <a:pt x="17" y="16"/>
                    </a:lnTo>
                    <a:lnTo>
                      <a:pt x="14" y="3"/>
                    </a:lnTo>
                    <a:lnTo>
                      <a:pt x="5" y="0"/>
                    </a:lnTo>
                    <a:lnTo>
                      <a:pt x="1" y="12"/>
                    </a:lnTo>
                    <a:lnTo>
                      <a:pt x="0" y="26"/>
                    </a:lnTo>
                    <a:lnTo>
                      <a:pt x="3" y="40"/>
                    </a:lnTo>
                    <a:lnTo>
                      <a:pt x="13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2" name="Freeform 36"/>
              <p:cNvSpPr>
                <a:spLocks/>
              </p:cNvSpPr>
              <p:nvPr/>
            </p:nvSpPr>
            <p:spPr bwMode="auto">
              <a:xfrm>
                <a:off x="8411" y="4806"/>
                <a:ext cx="20" cy="18"/>
              </a:xfrm>
              <a:custGeom>
                <a:avLst/>
                <a:gdLst>
                  <a:gd name="T0" fmla="*/ 6 w 59"/>
                  <a:gd name="T1" fmla="*/ 17 h 55"/>
                  <a:gd name="T2" fmla="*/ 11 w 59"/>
                  <a:gd name="T3" fmla="*/ 18 h 55"/>
                  <a:gd name="T4" fmla="*/ 15 w 59"/>
                  <a:gd name="T5" fmla="*/ 18 h 55"/>
                  <a:gd name="T6" fmla="*/ 18 w 59"/>
                  <a:gd name="T7" fmla="*/ 15 h 55"/>
                  <a:gd name="T8" fmla="*/ 20 w 59"/>
                  <a:gd name="T9" fmla="*/ 11 h 55"/>
                  <a:gd name="T10" fmla="*/ 19 w 59"/>
                  <a:gd name="T11" fmla="*/ 10 h 55"/>
                  <a:gd name="T12" fmla="*/ 18 w 59"/>
                  <a:gd name="T13" fmla="*/ 9 h 55"/>
                  <a:gd name="T14" fmla="*/ 17 w 59"/>
                  <a:gd name="T15" fmla="*/ 9 h 55"/>
                  <a:gd name="T16" fmla="*/ 15 w 59"/>
                  <a:gd name="T17" fmla="*/ 9 h 55"/>
                  <a:gd name="T18" fmla="*/ 14 w 59"/>
                  <a:gd name="T19" fmla="*/ 10 h 55"/>
                  <a:gd name="T20" fmla="*/ 13 w 59"/>
                  <a:gd name="T21" fmla="*/ 11 h 55"/>
                  <a:gd name="T22" fmla="*/ 12 w 59"/>
                  <a:gd name="T23" fmla="*/ 12 h 55"/>
                  <a:gd name="T24" fmla="*/ 11 w 59"/>
                  <a:gd name="T25" fmla="*/ 13 h 55"/>
                  <a:gd name="T26" fmla="*/ 9 w 59"/>
                  <a:gd name="T27" fmla="*/ 10 h 55"/>
                  <a:gd name="T28" fmla="*/ 7 w 59"/>
                  <a:gd name="T29" fmla="*/ 6 h 55"/>
                  <a:gd name="T30" fmla="*/ 3 w 59"/>
                  <a:gd name="T31" fmla="*/ 2 h 55"/>
                  <a:gd name="T32" fmla="*/ 0 w 59"/>
                  <a:gd name="T33" fmla="*/ 0 h 55"/>
                  <a:gd name="T34" fmla="*/ 1 w 59"/>
                  <a:gd name="T35" fmla="*/ 6 h 55"/>
                  <a:gd name="T36" fmla="*/ 3 w 59"/>
                  <a:gd name="T37" fmla="*/ 11 h 55"/>
                  <a:gd name="T38" fmla="*/ 5 w 59"/>
                  <a:gd name="T39" fmla="*/ 15 h 55"/>
                  <a:gd name="T40" fmla="*/ 6 w 59"/>
                  <a:gd name="T41" fmla="*/ 17 h 5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9"/>
                  <a:gd name="T64" fmla="*/ 0 h 55"/>
                  <a:gd name="T65" fmla="*/ 59 w 59"/>
                  <a:gd name="T66" fmla="*/ 55 h 5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9" h="55">
                    <a:moveTo>
                      <a:pt x="19" y="52"/>
                    </a:moveTo>
                    <a:lnTo>
                      <a:pt x="31" y="55"/>
                    </a:lnTo>
                    <a:lnTo>
                      <a:pt x="43" y="54"/>
                    </a:lnTo>
                    <a:lnTo>
                      <a:pt x="53" y="46"/>
                    </a:lnTo>
                    <a:lnTo>
                      <a:pt x="59" y="35"/>
                    </a:lnTo>
                    <a:lnTo>
                      <a:pt x="57" y="31"/>
                    </a:lnTo>
                    <a:lnTo>
                      <a:pt x="54" y="29"/>
                    </a:lnTo>
                    <a:lnTo>
                      <a:pt x="49" y="28"/>
                    </a:lnTo>
                    <a:lnTo>
                      <a:pt x="44" y="29"/>
                    </a:lnTo>
                    <a:lnTo>
                      <a:pt x="41" y="32"/>
                    </a:lnTo>
                    <a:lnTo>
                      <a:pt x="38" y="35"/>
                    </a:lnTo>
                    <a:lnTo>
                      <a:pt x="34" y="36"/>
                    </a:lnTo>
                    <a:lnTo>
                      <a:pt x="31" y="39"/>
                    </a:lnTo>
                    <a:lnTo>
                      <a:pt x="28" y="32"/>
                    </a:lnTo>
                    <a:lnTo>
                      <a:pt x="21" y="18"/>
                    </a:lnTo>
                    <a:lnTo>
                      <a:pt x="10" y="5"/>
                    </a:lnTo>
                    <a:lnTo>
                      <a:pt x="0" y="0"/>
                    </a:lnTo>
                    <a:lnTo>
                      <a:pt x="2" y="18"/>
                    </a:lnTo>
                    <a:lnTo>
                      <a:pt x="9" y="35"/>
                    </a:lnTo>
                    <a:lnTo>
                      <a:pt x="16" y="46"/>
                    </a:lnTo>
                    <a:lnTo>
                      <a:pt x="19" y="52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3" name="Freeform 37"/>
              <p:cNvSpPr>
                <a:spLocks/>
              </p:cNvSpPr>
              <p:nvPr/>
            </p:nvSpPr>
            <p:spPr bwMode="auto">
              <a:xfrm>
                <a:off x="8374" y="4857"/>
                <a:ext cx="27" cy="25"/>
              </a:xfrm>
              <a:custGeom>
                <a:avLst/>
                <a:gdLst>
                  <a:gd name="T0" fmla="*/ 11 w 82"/>
                  <a:gd name="T1" fmla="*/ 25 h 76"/>
                  <a:gd name="T2" fmla="*/ 13 w 82"/>
                  <a:gd name="T3" fmla="*/ 25 h 76"/>
                  <a:gd name="T4" fmla="*/ 14 w 82"/>
                  <a:gd name="T5" fmla="*/ 25 h 76"/>
                  <a:gd name="T6" fmla="*/ 16 w 82"/>
                  <a:gd name="T7" fmla="*/ 25 h 76"/>
                  <a:gd name="T8" fmla="*/ 19 w 82"/>
                  <a:gd name="T9" fmla="*/ 25 h 76"/>
                  <a:gd name="T10" fmla="*/ 20 w 82"/>
                  <a:gd name="T11" fmla="*/ 24 h 76"/>
                  <a:gd name="T12" fmla="*/ 22 w 82"/>
                  <a:gd name="T13" fmla="*/ 22 h 76"/>
                  <a:gd name="T14" fmla="*/ 24 w 82"/>
                  <a:gd name="T15" fmla="*/ 21 h 76"/>
                  <a:gd name="T16" fmla="*/ 25 w 82"/>
                  <a:gd name="T17" fmla="*/ 19 h 76"/>
                  <a:gd name="T18" fmla="*/ 26 w 82"/>
                  <a:gd name="T19" fmla="*/ 18 h 76"/>
                  <a:gd name="T20" fmla="*/ 27 w 82"/>
                  <a:gd name="T21" fmla="*/ 17 h 76"/>
                  <a:gd name="T22" fmla="*/ 27 w 82"/>
                  <a:gd name="T23" fmla="*/ 15 h 76"/>
                  <a:gd name="T24" fmla="*/ 26 w 82"/>
                  <a:gd name="T25" fmla="*/ 14 h 76"/>
                  <a:gd name="T26" fmla="*/ 23 w 82"/>
                  <a:gd name="T27" fmla="*/ 13 h 76"/>
                  <a:gd name="T28" fmla="*/ 21 w 82"/>
                  <a:gd name="T29" fmla="*/ 12 h 76"/>
                  <a:gd name="T30" fmla="*/ 18 w 82"/>
                  <a:gd name="T31" fmla="*/ 13 h 76"/>
                  <a:gd name="T32" fmla="*/ 15 w 82"/>
                  <a:gd name="T33" fmla="*/ 13 h 76"/>
                  <a:gd name="T34" fmla="*/ 13 w 82"/>
                  <a:gd name="T35" fmla="*/ 14 h 76"/>
                  <a:gd name="T36" fmla="*/ 12 w 82"/>
                  <a:gd name="T37" fmla="*/ 16 h 76"/>
                  <a:gd name="T38" fmla="*/ 11 w 82"/>
                  <a:gd name="T39" fmla="*/ 16 h 76"/>
                  <a:gd name="T40" fmla="*/ 10 w 82"/>
                  <a:gd name="T41" fmla="*/ 17 h 76"/>
                  <a:gd name="T42" fmla="*/ 10 w 82"/>
                  <a:gd name="T43" fmla="*/ 14 h 76"/>
                  <a:gd name="T44" fmla="*/ 8 w 82"/>
                  <a:gd name="T45" fmla="*/ 8 h 76"/>
                  <a:gd name="T46" fmla="*/ 5 w 82"/>
                  <a:gd name="T47" fmla="*/ 2 h 76"/>
                  <a:gd name="T48" fmla="*/ 1 w 82"/>
                  <a:gd name="T49" fmla="*/ 0 h 76"/>
                  <a:gd name="T50" fmla="*/ 0 w 82"/>
                  <a:gd name="T51" fmla="*/ 6 h 76"/>
                  <a:gd name="T52" fmla="*/ 0 w 82"/>
                  <a:gd name="T53" fmla="*/ 10 h 76"/>
                  <a:gd name="T54" fmla="*/ 1 w 82"/>
                  <a:gd name="T55" fmla="*/ 14 h 76"/>
                  <a:gd name="T56" fmla="*/ 4 w 82"/>
                  <a:gd name="T57" fmla="*/ 18 h 76"/>
                  <a:gd name="T58" fmla="*/ 6 w 82"/>
                  <a:gd name="T59" fmla="*/ 21 h 76"/>
                  <a:gd name="T60" fmla="*/ 8 w 82"/>
                  <a:gd name="T61" fmla="*/ 23 h 76"/>
                  <a:gd name="T62" fmla="*/ 10 w 82"/>
                  <a:gd name="T63" fmla="*/ 24 h 76"/>
                  <a:gd name="T64" fmla="*/ 11 w 82"/>
                  <a:gd name="T65" fmla="*/ 25 h 7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82"/>
                  <a:gd name="T100" fmla="*/ 0 h 76"/>
                  <a:gd name="T101" fmla="*/ 82 w 82"/>
                  <a:gd name="T102" fmla="*/ 76 h 7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82" h="76">
                    <a:moveTo>
                      <a:pt x="32" y="75"/>
                    </a:moveTo>
                    <a:lnTo>
                      <a:pt x="38" y="76"/>
                    </a:lnTo>
                    <a:lnTo>
                      <a:pt x="44" y="76"/>
                    </a:lnTo>
                    <a:lnTo>
                      <a:pt x="50" y="76"/>
                    </a:lnTo>
                    <a:lnTo>
                      <a:pt x="57" y="75"/>
                    </a:lnTo>
                    <a:lnTo>
                      <a:pt x="61" y="72"/>
                    </a:lnTo>
                    <a:lnTo>
                      <a:pt x="67" y="67"/>
                    </a:lnTo>
                    <a:lnTo>
                      <a:pt x="72" y="64"/>
                    </a:lnTo>
                    <a:lnTo>
                      <a:pt x="76" y="59"/>
                    </a:lnTo>
                    <a:lnTo>
                      <a:pt x="80" y="56"/>
                    </a:lnTo>
                    <a:lnTo>
                      <a:pt x="82" y="52"/>
                    </a:lnTo>
                    <a:lnTo>
                      <a:pt x="82" y="47"/>
                    </a:lnTo>
                    <a:lnTo>
                      <a:pt x="79" y="43"/>
                    </a:lnTo>
                    <a:lnTo>
                      <a:pt x="70" y="39"/>
                    </a:lnTo>
                    <a:lnTo>
                      <a:pt x="63" y="37"/>
                    </a:lnTo>
                    <a:lnTo>
                      <a:pt x="54" y="39"/>
                    </a:lnTo>
                    <a:lnTo>
                      <a:pt x="47" y="41"/>
                    </a:lnTo>
                    <a:lnTo>
                      <a:pt x="39" y="44"/>
                    </a:lnTo>
                    <a:lnTo>
                      <a:pt x="35" y="49"/>
                    </a:lnTo>
                    <a:lnTo>
                      <a:pt x="32" y="50"/>
                    </a:lnTo>
                    <a:lnTo>
                      <a:pt x="30" y="52"/>
                    </a:lnTo>
                    <a:lnTo>
                      <a:pt x="29" y="43"/>
                    </a:lnTo>
                    <a:lnTo>
                      <a:pt x="23" y="23"/>
                    </a:lnTo>
                    <a:lnTo>
                      <a:pt x="14" y="6"/>
                    </a:lnTo>
                    <a:lnTo>
                      <a:pt x="4" y="0"/>
                    </a:lnTo>
                    <a:lnTo>
                      <a:pt x="0" y="17"/>
                    </a:lnTo>
                    <a:lnTo>
                      <a:pt x="0" y="31"/>
                    </a:lnTo>
                    <a:lnTo>
                      <a:pt x="4" y="44"/>
                    </a:lnTo>
                    <a:lnTo>
                      <a:pt x="11" y="54"/>
                    </a:lnTo>
                    <a:lnTo>
                      <a:pt x="19" y="63"/>
                    </a:lnTo>
                    <a:lnTo>
                      <a:pt x="25" y="70"/>
                    </a:lnTo>
                    <a:lnTo>
                      <a:pt x="30" y="73"/>
                    </a:lnTo>
                    <a:lnTo>
                      <a:pt x="32" y="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4" name="Freeform 38"/>
              <p:cNvSpPr>
                <a:spLocks/>
              </p:cNvSpPr>
              <p:nvPr/>
            </p:nvSpPr>
            <p:spPr bwMode="auto">
              <a:xfrm>
                <a:off x="8404" y="4847"/>
                <a:ext cx="25" cy="22"/>
              </a:xfrm>
              <a:custGeom>
                <a:avLst/>
                <a:gdLst>
                  <a:gd name="T0" fmla="*/ 4 w 75"/>
                  <a:gd name="T1" fmla="*/ 18 h 66"/>
                  <a:gd name="T2" fmla="*/ 5 w 75"/>
                  <a:gd name="T3" fmla="*/ 19 h 66"/>
                  <a:gd name="T4" fmla="*/ 6 w 75"/>
                  <a:gd name="T5" fmla="*/ 20 h 66"/>
                  <a:gd name="T6" fmla="*/ 8 w 75"/>
                  <a:gd name="T7" fmla="*/ 21 h 66"/>
                  <a:gd name="T8" fmla="*/ 9 w 75"/>
                  <a:gd name="T9" fmla="*/ 21 h 66"/>
                  <a:gd name="T10" fmla="*/ 11 w 75"/>
                  <a:gd name="T11" fmla="*/ 22 h 66"/>
                  <a:gd name="T12" fmla="*/ 13 w 75"/>
                  <a:gd name="T13" fmla="*/ 22 h 66"/>
                  <a:gd name="T14" fmla="*/ 16 w 75"/>
                  <a:gd name="T15" fmla="*/ 22 h 66"/>
                  <a:gd name="T16" fmla="*/ 19 w 75"/>
                  <a:gd name="T17" fmla="*/ 22 h 66"/>
                  <a:gd name="T18" fmla="*/ 22 w 75"/>
                  <a:gd name="T19" fmla="*/ 21 h 66"/>
                  <a:gd name="T20" fmla="*/ 24 w 75"/>
                  <a:gd name="T21" fmla="*/ 20 h 66"/>
                  <a:gd name="T22" fmla="*/ 25 w 75"/>
                  <a:gd name="T23" fmla="*/ 18 h 66"/>
                  <a:gd name="T24" fmla="*/ 25 w 75"/>
                  <a:gd name="T25" fmla="*/ 15 h 66"/>
                  <a:gd name="T26" fmla="*/ 24 w 75"/>
                  <a:gd name="T27" fmla="*/ 13 h 66"/>
                  <a:gd name="T28" fmla="*/ 22 w 75"/>
                  <a:gd name="T29" fmla="*/ 12 h 66"/>
                  <a:gd name="T30" fmla="*/ 20 w 75"/>
                  <a:gd name="T31" fmla="*/ 11 h 66"/>
                  <a:gd name="T32" fmla="*/ 17 w 75"/>
                  <a:gd name="T33" fmla="*/ 11 h 66"/>
                  <a:gd name="T34" fmla="*/ 14 w 75"/>
                  <a:gd name="T35" fmla="*/ 12 h 66"/>
                  <a:gd name="T36" fmla="*/ 11 w 75"/>
                  <a:gd name="T37" fmla="*/ 12 h 66"/>
                  <a:gd name="T38" fmla="*/ 9 w 75"/>
                  <a:gd name="T39" fmla="*/ 13 h 66"/>
                  <a:gd name="T40" fmla="*/ 9 w 75"/>
                  <a:gd name="T41" fmla="*/ 13 h 66"/>
                  <a:gd name="T42" fmla="*/ 8 w 75"/>
                  <a:gd name="T43" fmla="*/ 11 h 66"/>
                  <a:gd name="T44" fmla="*/ 6 w 75"/>
                  <a:gd name="T45" fmla="*/ 5 h 66"/>
                  <a:gd name="T46" fmla="*/ 3 w 75"/>
                  <a:gd name="T47" fmla="*/ 1 h 66"/>
                  <a:gd name="T48" fmla="*/ 0 w 75"/>
                  <a:gd name="T49" fmla="*/ 0 h 66"/>
                  <a:gd name="T50" fmla="*/ 0 w 75"/>
                  <a:gd name="T51" fmla="*/ 7 h 66"/>
                  <a:gd name="T52" fmla="*/ 2 w 75"/>
                  <a:gd name="T53" fmla="*/ 13 h 66"/>
                  <a:gd name="T54" fmla="*/ 3 w 75"/>
                  <a:gd name="T55" fmla="*/ 16 h 66"/>
                  <a:gd name="T56" fmla="*/ 4 w 75"/>
                  <a:gd name="T57" fmla="*/ 18 h 6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6"/>
                  <a:gd name="T89" fmla="*/ 75 w 75"/>
                  <a:gd name="T90" fmla="*/ 66 h 6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6">
                    <a:moveTo>
                      <a:pt x="12" y="53"/>
                    </a:moveTo>
                    <a:lnTo>
                      <a:pt x="15" y="56"/>
                    </a:lnTo>
                    <a:lnTo>
                      <a:pt x="19" y="60"/>
                    </a:lnTo>
                    <a:lnTo>
                      <a:pt x="25" y="62"/>
                    </a:lnTo>
                    <a:lnTo>
                      <a:pt x="27" y="63"/>
                    </a:lnTo>
                    <a:lnTo>
                      <a:pt x="32" y="65"/>
                    </a:lnTo>
                    <a:lnTo>
                      <a:pt x="40" y="65"/>
                    </a:lnTo>
                    <a:lnTo>
                      <a:pt x="49" y="66"/>
                    </a:lnTo>
                    <a:lnTo>
                      <a:pt x="57" y="65"/>
                    </a:lnTo>
                    <a:lnTo>
                      <a:pt x="65" y="63"/>
                    </a:lnTo>
                    <a:lnTo>
                      <a:pt x="71" y="60"/>
                    </a:lnTo>
                    <a:lnTo>
                      <a:pt x="75" y="55"/>
                    </a:lnTo>
                    <a:lnTo>
                      <a:pt x="75" y="46"/>
                    </a:lnTo>
                    <a:lnTo>
                      <a:pt x="72" y="39"/>
                    </a:lnTo>
                    <a:lnTo>
                      <a:pt x="66" y="35"/>
                    </a:lnTo>
                    <a:lnTo>
                      <a:pt x="59" y="33"/>
                    </a:lnTo>
                    <a:lnTo>
                      <a:pt x="50" y="33"/>
                    </a:lnTo>
                    <a:lnTo>
                      <a:pt x="41" y="35"/>
                    </a:lnTo>
                    <a:lnTo>
                      <a:pt x="34" y="36"/>
                    </a:lnTo>
                    <a:lnTo>
                      <a:pt x="28" y="39"/>
                    </a:lnTo>
                    <a:lnTo>
                      <a:pt x="27" y="39"/>
                    </a:lnTo>
                    <a:lnTo>
                      <a:pt x="25" y="32"/>
                    </a:lnTo>
                    <a:lnTo>
                      <a:pt x="19" y="16"/>
                    </a:lnTo>
                    <a:lnTo>
                      <a:pt x="10" y="3"/>
                    </a:lnTo>
                    <a:lnTo>
                      <a:pt x="0" y="0"/>
                    </a:lnTo>
                    <a:lnTo>
                      <a:pt x="0" y="22"/>
                    </a:lnTo>
                    <a:lnTo>
                      <a:pt x="5" y="39"/>
                    </a:lnTo>
                    <a:lnTo>
                      <a:pt x="9" y="49"/>
                    </a:lnTo>
                    <a:lnTo>
                      <a:pt x="12" y="53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5" name="Freeform 39"/>
              <p:cNvSpPr>
                <a:spLocks/>
              </p:cNvSpPr>
              <p:nvPr/>
            </p:nvSpPr>
            <p:spPr bwMode="auto">
              <a:xfrm>
                <a:off x="8434" y="4844"/>
                <a:ext cx="25" cy="21"/>
              </a:xfrm>
              <a:custGeom>
                <a:avLst/>
                <a:gdLst>
                  <a:gd name="T0" fmla="*/ 1 w 75"/>
                  <a:gd name="T1" fmla="*/ 14 h 63"/>
                  <a:gd name="T2" fmla="*/ 1 w 75"/>
                  <a:gd name="T3" fmla="*/ 15 h 63"/>
                  <a:gd name="T4" fmla="*/ 3 w 75"/>
                  <a:gd name="T5" fmla="*/ 17 h 63"/>
                  <a:gd name="T6" fmla="*/ 5 w 75"/>
                  <a:gd name="T7" fmla="*/ 19 h 63"/>
                  <a:gd name="T8" fmla="*/ 5 w 75"/>
                  <a:gd name="T9" fmla="*/ 19 h 63"/>
                  <a:gd name="T10" fmla="*/ 8 w 75"/>
                  <a:gd name="T11" fmla="*/ 20 h 63"/>
                  <a:gd name="T12" fmla="*/ 11 w 75"/>
                  <a:gd name="T13" fmla="*/ 21 h 63"/>
                  <a:gd name="T14" fmla="*/ 14 w 75"/>
                  <a:gd name="T15" fmla="*/ 21 h 63"/>
                  <a:gd name="T16" fmla="*/ 18 w 75"/>
                  <a:gd name="T17" fmla="*/ 20 h 63"/>
                  <a:gd name="T18" fmla="*/ 21 w 75"/>
                  <a:gd name="T19" fmla="*/ 19 h 63"/>
                  <a:gd name="T20" fmla="*/ 24 w 75"/>
                  <a:gd name="T21" fmla="*/ 18 h 63"/>
                  <a:gd name="T22" fmla="*/ 25 w 75"/>
                  <a:gd name="T23" fmla="*/ 16 h 63"/>
                  <a:gd name="T24" fmla="*/ 24 w 75"/>
                  <a:gd name="T25" fmla="*/ 13 h 63"/>
                  <a:gd name="T26" fmla="*/ 22 w 75"/>
                  <a:gd name="T27" fmla="*/ 11 h 63"/>
                  <a:gd name="T28" fmla="*/ 20 w 75"/>
                  <a:gd name="T29" fmla="*/ 10 h 63"/>
                  <a:gd name="T30" fmla="*/ 18 w 75"/>
                  <a:gd name="T31" fmla="*/ 9 h 63"/>
                  <a:gd name="T32" fmla="*/ 15 w 75"/>
                  <a:gd name="T33" fmla="*/ 10 h 63"/>
                  <a:gd name="T34" fmla="*/ 12 w 75"/>
                  <a:gd name="T35" fmla="*/ 10 h 63"/>
                  <a:gd name="T36" fmla="*/ 10 w 75"/>
                  <a:gd name="T37" fmla="*/ 11 h 63"/>
                  <a:gd name="T38" fmla="*/ 9 w 75"/>
                  <a:gd name="T39" fmla="*/ 12 h 63"/>
                  <a:gd name="T40" fmla="*/ 8 w 75"/>
                  <a:gd name="T41" fmla="*/ 12 h 63"/>
                  <a:gd name="T42" fmla="*/ 8 w 75"/>
                  <a:gd name="T43" fmla="*/ 10 h 63"/>
                  <a:gd name="T44" fmla="*/ 6 w 75"/>
                  <a:gd name="T45" fmla="*/ 5 h 63"/>
                  <a:gd name="T46" fmla="*/ 3 w 75"/>
                  <a:gd name="T47" fmla="*/ 1 h 63"/>
                  <a:gd name="T48" fmla="*/ 0 w 75"/>
                  <a:gd name="T49" fmla="*/ 0 h 63"/>
                  <a:gd name="T50" fmla="*/ 0 w 75"/>
                  <a:gd name="T51" fmla="*/ 5 h 63"/>
                  <a:gd name="T52" fmla="*/ 0 w 75"/>
                  <a:gd name="T53" fmla="*/ 9 h 63"/>
                  <a:gd name="T54" fmla="*/ 1 w 75"/>
                  <a:gd name="T55" fmla="*/ 13 h 63"/>
                  <a:gd name="T56" fmla="*/ 1 w 75"/>
                  <a:gd name="T57" fmla="*/ 14 h 63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63"/>
                  <a:gd name="T89" fmla="*/ 75 w 75"/>
                  <a:gd name="T90" fmla="*/ 63 h 63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63">
                    <a:moveTo>
                      <a:pt x="3" y="41"/>
                    </a:moveTo>
                    <a:lnTo>
                      <a:pt x="4" y="46"/>
                    </a:lnTo>
                    <a:lnTo>
                      <a:pt x="10" y="50"/>
                    </a:lnTo>
                    <a:lnTo>
                      <a:pt x="14" y="56"/>
                    </a:lnTo>
                    <a:lnTo>
                      <a:pt x="16" y="57"/>
                    </a:lnTo>
                    <a:lnTo>
                      <a:pt x="23" y="60"/>
                    </a:lnTo>
                    <a:lnTo>
                      <a:pt x="32" y="63"/>
                    </a:lnTo>
                    <a:lnTo>
                      <a:pt x="42" y="63"/>
                    </a:lnTo>
                    <a:lnTo>
                      <a:pt x="54" y="61"/>
                    </a:lnTo>
                    <a:lnTo>
                      <a:pt x="64" y="58"/>
                    </a:lnTo>
                    <a:lnTo>
                      <a:pt x="72" y="54"/>
                    </a:lnTo>
                    <a:lnTo>
                      <a:pt x="75" y="47"/>
                    </a:lnTo>
                    <a:lnTo>
                      <a:pt x="73" y="40"/>
                    </a:lnTo>
                    <a:lnTo>
                      <a:pt x="67" y="34"/>
                    </a:lnTo>
                    <a:lnTo>
                      <a:pt x="60" y="30"/>
                    </a:lnTo>
                    <a:lnTo>
                      <a:pt x="53" y="28"/>
                    </a:lnTo>
                    <a:lnTo>
                      <a:pt x="45" y="30"/>
                    </a:lnTo>
                    <a:lnTo>
                      <a:pt x="36" y="31"/>
                    </a:lnTo>
                    <a:lnTo>
                      <a:pt x="31" y="33"/>
                    </a:lnTo>
                    <a:lnTo>
                      <a:pt x="26" y="36"/>
                    </a:lnTo>
                    <a:lnTo>
                      <a:pt x="25" y="36"/>
                    </a:lnTo>
                    <a:lnTo>
                      <a:pt x="23" y="30"/>
                    </a:lnTo>
                    <a:lnTo>
                      <a:pt x="17" y="15"/>
                    </a:lnTo>
                    <a:lnTo>
                      <a:pt x="10" y="2"/>
                    </a:lnTo>
                    <a:lnTo>
                      <a:pt x="0" y="0"/>
                    </a:lnTo>
                    <a:lnTo>
                      <a:pt x="0" y="15"/>
                    </a:lnTo>
                    <a:lnTo>
                      <a:pt x="1" y="28"/>
                    </a:lnTo>
                    <a:lnTo>
                      <a:pt x="3" y="38"/>
                    </a:lnTo>
                    <a:lnTo>
                      <a:pt x="3" y="41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6" name="Freeform 40"/>
              <p:cNvSpPr>
                <a:spLocks/>
              </p:cNvSpPr>
              <p:nvPr/>
            </p:nvSpPr>
            <p:spPr bwMode="auto">
              <a:xfrm>
                <a:off x="8126" y="4482"/>
                <a:ext cx="83" cy="97"/>
              </a:xfrm>
              <a:custGeom>
                <a:avLst/>
                <a:gdLst>
                  <a:gd name="T0" fmla="*/ 29 w 250"/>
                  <a:gd name="T1" fmla="*/ 12 h 290"/>
                  <a:gd name="T2" fmla="*/ 23 w 250"/>
                  <a:gd name="T3" fmla="*/ 16 h 290"/>
                  <a:gd name="T4" fmla="*/ 18 w 250"/>
                  <a:gd name="T5" fmla="*/ 21 h 290"/>
                  <a:gd name="T6" fmla="*/ 13 w 250"/>
                  <a:gd name="T7" fmla="*/ 26 h 290"/>
                  <a:gd name="T8" fmla="*/ 8 w 250"/>
                  <a:gd name="T9" fmla="*/ 32 h 290"/>
                  <a:gd name="T10" fmla="*/ 5 w 250"/>
                  <a:gd name="T11" fmla="*/ 38 h 290"/>
                  <a:gd name="T12" fmla="*/ 3 w 250"/>
                  <a:gd name="T13" fmla="*/ 45 h 290"/>
                  <a:gd name="T14" fmla="*/ 1 w 250"/>
                  <a:gd name="T15" fmla="*/ 53 h 290"/>
                  <a:gd name="T16" fmla="*/ 0 w 250"/>
                  <a:gd name="T17" fmla="*/ 60 h 290"/>
                  <a:gd name="T18" fmla="*/ 1 w 250"/>
                  <a:gd name="T19" fmla="*/ 70 h 290"/>
                  <a:gd name="T20" fmla="*/ 5 w 250"/>
                  <a:gd name="T21" fmla="*/ 78 h 290"/>
                  <a:gd name="T22" fmla="*/ 11 w 250"/>
                  <a:gd name="T23" fmla="*/ 85 h 290"/>
                  <a:gd name="T24" fmla="*/ 19 w 250"/>
                  <a:gd name="T25" fmla="*/ 90 h 290"/>
                  <a:gd name="T26" fmla="*/ 28 w 250"/>
                  <a:gd name="T27" fmla="*/ 95 h 290"/>
                  <a:gd name="T28" fmla="*/ 37 w 250"/>
                  <a:gd name="T29" fmla="*/ 97 h 290"/>
                  <a:gd name="T30" fmla="*/ 46 w 250"/>
                  <a:gd name="T31" fmla="*/ 97 h 290"/>
                  <a:gd name="T32" fmla="*/ 56 w 250"/>
                  <a:gd name="T33" fmla="*/ 96 h 290"/>
                  <a:gd name="T34" fmla="*/ 58 w 250"/>
                  <a:gd name="T35" fmla="*/ 96 h 290"/>
                  <a:gd name="T36" fmla="*/ 59 w 250"/>
                  <a:gd name="T37" fmla="*/ 95 h 290"/>
                  <a:gd name="T38" fmla="*/ 61 w 250"/>
                  <a:gd name="T39" fmla="*/ 93 h 290"/>
                  <a:gd name="T40" fmla="*/ 61 w 250"/>
                  <a:gd name="T41" fmla="*/ 91 h 290"/>
                  <a:gd name="T42" fmla="*/ 60 w 250"/>
                  <a:gd name="T43" fmla="*/ 89 h 290"/>
                  <a:gd name="T44" fmla="*/ 58 w 250"/>
                  <a:gd name="T45" fmla="*/ 87 h 290"/>
                  <a:gd name="T46" fmla="*/ 56 w 250"/>
                  <a:gd name="T47" fmla="*/ 85 h 290"/>
                  <a:gd name="T48" fmla="*/ 54 w 250"/>
                  <a:gd name="T49" fmla="*/ 84 h 290"/>
                  <a:gd name="T50" fmla="*/ 49 w 250"/>
                  <a:gd name="T51" fmla="*/ 83 h 290"/>
                  <a:gd name="T52" fmla="*/ 44 w 250"/>
                  <a:gd name="T53" fmla="*/ 82 h 290"/>
                  <a:gd name="T54" fmla="*/ 39 w 250"/>
                  <a:gd name="T55" fmla="*/ 81 h 290"/>
                  <a:gd name="T56" fmla="*/ 35 w 250"/>
                  <a:gd name="T57" fmla="*/ 80 h 290"/>
                  <a:gd name="T58" fmla="*/ 30 w 250"/>
                  <a:gd name="T59" fmla="*/ 78 h 290"/>
                  <a:gd name="T60" fmla="*/ 26 w 250"/>
                  <a:gd name="T61" fmla="*/ 77 h 290"/>
                  <a:gd name="T62" fmla="*/ 22 w 250"/>
                  <a:gd name="T63" fmla="*/ 74 h 290"/>
                  <a:gd name="T64" fmla="*/ 18 w 250"/>
                  <a:gd name="T65" fmla="*/ 70 h 290"/>
                  <a:gd name="T66" fmla="*/ 17 w 250"/>
                  <a:gd name="T67" fmla="*/ 54 h 290"/>
                  <a:gd name="T68" fmla="*/ 21 w 250"/>
                  <a:gd name="T69" fmla="*/ 40 h 290"/>
                  <a:gd name="T70" fmla="*/ 28 w 250"/>
                  <a:gd name="T71" fmla="*/ 30 h 290"/>
                  <a:gd name="T72" fmla="*/ 39 w 250"/>
                  <a:gd name="T73" fmla="*/ 21 h 290"/>
                  <a:gd name="T74" fmla="*/ 51 w 250"/>
                  <a:gd name="T75" fmla="*/ 14 h 290"/>
                  <a:gd name="T76" fmla="*/ 63 w 250"/>
                  <a:gd name="T77" fmla="*/ 9 h 290"/>
                  <a:gd name="T78" fmla="*/ 74 w 250"/>
                  <a:gd name="T79" fmla="*/ 5 h 290"/>
                  <a:gd name="T80" fmla="*/ 83 w 250"/>
                  <a:gd name="T81" fmla="*/ 2 h 290"/>
                  <a:gd name="T82" fmla="*/ 78 w 250"/>
                  <a:gd name="T83" fmla="*/ 1 h 290"/>
                  <a:gd name="T84" fmla="*/ 72 w 250"/>
                  <a:gd name="T85" fmla="*/ 0 h 290"/>
                  <a:gd name="T86" fmla="*/ 65 w 250"/>
                  <a:gd name="T87" fmla="*/ 1 h 290"/>
                  <a:gd name="T88" fmla="*/ 58 w 250"/>
                  <a:gd name="T89" fmla="*/ 2 h 290"/>
                  <a:gd name="T90" fmla="*/ 50 w 250"/>
                  <a:gd name="T91" fmla="*/ 4 h 290"/>
                  <a:gd name="T92" fmla="*/ 43 w 250"/>
                  <a:gd name="T93" fmla="*/ 7 h 290"/>
                  <a:gd name="T94" fmla="*/ 36 w 250"/>
                  <a:gd name="T95" fmla="*/ 10 h 290"/>
                  <a:gd name="T96" fmla="*/ 29 w 250"/>
                  <a:gd name="T97" fmla="*/ 12 h 290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250"/>
                  <a:gd name="T148" fmla="*/ 0 h 290"/>
                  <a:gd name="T149" fmla="*/ 250 w 250"/>
                  <a:gd name="T150" fmla="*/ 290 h 290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250" h="290">
                    <a:moveTo>
                      <a:pt x="88" y="37"/>
                    </a:moveTo>
                    <a:lnTo>
                      <a:pt x="69" y="49"/>
                    </a:lnTo>
                    <a:lnTo>
                      <a:pt x="53" y="63"/>
                    </a:lnTo>
                    <a:lnTo>
                      <a:pt x="39" y="79"/>
                    </a:lnTo>
                    <a:lnTo>
                      <a:pt x="25" y="96"/>
                    </a:lnTo>
                    <a:lnTo>
                      <a:pt x="15" y="115"/>
                    </a:lnTo>
                    <a:lnTo>
                      <a:pt x="8" y="135"/>
                    </a:lnTo>
                    <a:lnTo>
                      <a:pt x="3" y="157"/>
                    </a:lnTo>
                    <a:lnTo>
                      <a:pt x="0" y="178"/>
                    </a:lnTo>
                    <a:lnTo>
                      <a:pt x="3" y="208"/>
                    </a:lnTo>
                    <a:lnTo>
                      <a:pt x="15" y="233"/>
                    </a:lnTo>
                    <a:lnTo>
                      <a:pt x="33" y="254"/>
                    </a:lnTo>
                    <a:lnTo>
                      <a:pt x="56" y="270"/>
                    </a:lnTo>
                    <a:lnTo>
                      <a:pt x="83" y="283"/>
                    </a:lnTo>
                    <a:lnTo>
                      <a:pt x="110" y="289"/>
                    </a:lnTo>
                    <a:lnTo>
                      <a:pt x="140" y="290"/>
                    </a:lnTo>
                    <a:lnTo>
                      <a:pt x="168" y="286"/>
                    </a:lnTo>
                    <a:lnTo>
                      <a:pt x="174" y="286"/>
                    </a:lnTo>
                    <a:lnTo>
                      <a:pt x="179" y="283"/>
                    </a:lnTo>
                    <a:lnTo>
                      <a:pt x="184" y="279"/>
                    </a:lnTo>
                    <a:lnTo>
                      <a:pt x="185" y="273"/>
                    </a:lnTo>
                    <a:lnTo>
                      <a:pt x="182" y="266"/>
                    </a:lnTo>
                    <a:lnTo>
                      <a:pt x="176" y="260"/>
                    </a:lnTo>
                    <a:lnTo>
                      <a:pt x="169" y="254"/>
                    </a:lnTo>
                    <a:lnTo>
                      <a:pt x="162" y="252"/>
                    </a:lnTo>
                    <a:lnTo>
                      <a:pt x="147" y="247"/>
                    </a:lnTo>
                    <a:lnTo>
                      <a:pt x="132" y="244"/>
                    </a:lnTo>
                    <a:lnTo>
                      <a:pt x="118" y="242"/>
                    </a:lnTo>
                    <a:lnTo>
                      <a:pt x="105" y="239"/>
                    </a:lnTo>
                    <a:lnTo>
                      <a:pt x="91" y="234"/>
                    </a:lnTo>
                    <a:lnTo>
                      <a:pt x="78" y="229"/>
                    </a:lnTo>
                    <a:lnTo>
                      <a:pt x="66" y="221"/>
                    </a:lnTo>
                    <a:lnTo>
                      <a:pt x="55" y="210"/>
                    </a:lnTo>
                    <a:lnTo>
                      <a:pt x="50" y="161"/>
                    </a:lnTo>
                    <a:lnTo>
                      <a:pt x="62" y="121"/>
                    </a:lnTo>
                    <a:lnTo>
                      <a:pt x="85" y="89"/>
                    </a:lnTo>
                    <a:lnTo>
                      <a:pt x="118" y="63"/>
                    </a:lnTo>
                    <a:lnTo>
                      <a:pt x="153" y="43"/>
                    </a:lnTo>
                    <a:lnTo>
                      <a:pt x="190" y="27"/>
                    </a:lnTo>
                    <a:lnTo>
                      <a:pt x="223" y="16"/>
                    </a:lnTo>
                    <a:lnTo>
                      <a:pt x="250" y="6"/>
                    </a:lnTo>
                    <a:lnTo>
                      <a:pt x="234" y="2"/>
                    </a:lnTo>
                    <a:lnTo>
                      <a:pt x="216" y="0"/>
                    </a:lnTo>
                    <a:lnTo>
                      <a:pt x="196" y="3"/>
                    </a:lnTo>
                    <a:lnTo>
                      <a:pt x="174" y="6"/>
                    </a:lnTo>
                    <a:lnTo>
                      <a:pt x="152" y="13"/>
                    </a:lnTo>
                    <a:lnTo>
                      <a:pt x="130" y="20"/>
                    </a:lnTo>
                    <a:lnTo>
                      <a:pt x="107" y="29"/>
                    </a:lnTo>
                    <a:lnTo>
                      <a:pt x="88" y="37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7" name="Freeform 41"/>
              <p:cNvSpPr>
                <a:spLocks/>
              </p:cNvSpPr>
              <p:nvPr/>
            </p:nvSpPr>
            <p:spPr bwMode="auto">
              <a:xfrm>
                <a:off x="8268" y="4481"/>
                <a:ext cx="53" cy="75"/>
              </a:xfrm>
              <a:custGeom>
                <a:avLst/>
                <a:gdLst>
                  <a:gd name="T0" fmla="*/ 45 w 160"/>
                  <a:gd name="T1" fmla="*/ 24 h 225"/>
                  <a:gd name="T2" fmla="*/ 47 w 160"/>
                  <a:gd name="T3" fmla="*/ 32 h 225"/>
                  <a:gd name="T4" fmla="*/ 46 w 160"/>
                  <a:gd name="T5" fmla="*/ 39 h 225"/>
                  <a:gd name="T6" fmla="*/ 43 w 160"/>
                  <a:gd name="T7" fmla="*/ 45 h 225"/>
                  <a:gd name="T8" fmla="*/ 38 w 160"/>
                  <a:gd name="T9" fmla="*/ 50 h 225"/>
                  <a:gd name="T10" fmla="*/ 32 w 160"/>
                  <a:gd name="T11" fmla="*/ 55 h 225"/>
                  <a:gd name="T12" fmla="*/ 25 w 160"/>
                  <a:gd name="T13" fmla="*/ 60 h 225"/>
                  <a:gd name="T14" fmla="*/ 19 w 160"/>
                  <a:gd name="T15" fmla="*/ 64 h 225"/>
                  <a:gd name="T16" fmla="*/ 13 w 160"/>
                  <a:gd name="T17" fmla="*/ 68 h 225"/>
                  <a:gd name="T18" fmla="*/ 12 w 160"/>
                  <a:gd name="T19" fmla="*/ 70 h 225"/>
                  <a:gd name="T20" fmla="*/ 11 w 160"/>
                  <a:gd name="T21" fmla="*/ 71 h 225"/>
                  <a:gd name="T22" fmla="*/ 11 w 160"/>
                  <a:gd name="T23" fmla="*/ 72 h 225"/>
                  <a:gd name="T24" fmla="*/ 12 w 160"/>
                  <a:gd name="T25" fmla="*/ 74 h 225"/>
                  <a:gd name="T26" fmla="*/ 13 w 160"/>
                  <a:gd name="T27" fmla="*/ 75 h 225"/>
                  <a:gd name="T28" fmla="*/ 15 w 160"/>
                  <a:gd name="T29" fmla="*/ 75 h 225"/>
                  <a:gd name="T30" fmla="*/ 16 w 160"/>
                  <a:gd name="T31" fmla="*/ 75 h 225"/>
                  <a:gd name="T32" fmla="*/ 17 w 160"/>
                  <a:gd name="T33" fmla="*/ 75 h 225"/>
                  <a:gd name="T34" fmla="*/ 25 w 160"/>
                  <a:gd name="T35" fmla="*/ 70 h 225"/>
                  <a:gd name="T36" fmla="*/ 32 w 160"/>
                  <a:gd name="T37" fmla="*/ 66 h 225"/>
                  <a:gd name="T38" fmla="*/ 39 w 160"/>
                  <a:gd name="T39" fmla="*/ 60 h 225"/>
                  <a:gd name="T40" fmla="*/ 45 w 160"/>
                  <a:gd name="T41" fmla="*/ 54 h 225"/>
                  <a:gd name="T42" fmla="*/ 50 w 160"/>
                  <a:gd name="T43" fmla="*/ 47 h 225"/>
                  <a:gd name="T44" fmla="*/ 53 w 160"/>
                  <a:gd name="T45" fmla="*/ 40 h 225"/>
                  <a:gd name="T46" fmla="*/ 53 w 160"/>
                  <a:gd name="T47" fmla="*/ 32 h 225"/>
                  <a:gd name="T48" fmla="*/ 51 w 160"/>
                  <a:gd name="T49" fmla="*/ 23 h 225"/>
                  <a:gd name="T50" fmla="*/ 47 w 160"/>
                  <a:gd name="T51" fmla="*/ 16 h 225"/>
                  <a:gd name="T52" fmla="*/ 40 w 160"/>
                  <a:gd name="T53" fmla="*/ 10 h 225"/>
                  <a:gd name="T54" fmla="*/ 32 w 160"/>
                  <a:gd name="T55" fmla="*/ 6 h 225"/>
                  <a:gd name="T56" fmla="*/ 24 w 160"/>
                  <a:gd name="T57" fmla="*/ 3 h 225"/>
                  <a:gd name="T58" fmla="*/ 15 w 160"/>
                  <a:gd name="T59" fmla="*/ 1 h 225"/>
                  <a:gd name="T60" fmla="*/ 8 w 160"/>
                  <a:gd name="T61" fmla="*/ 0 h 225"/>
                  <a:gd name="T62" fmla="*/ 2 w 160"/>
                  <a:gd name="T63" fmla="*/ 0 h 225"/>
                  <a:gd name="T64" fmla="*/ 0 w 160"/>
                  <a:gd name="T65" fmla="*/ 1 h 225"/>
                  <a:gd name="T66" fmla="*/ 6 w 160"/>
                  <a:gd name="T67" fmla="*/ 4 h 225"/>
                  <a:gd name="T68" fmla="*/ 12 w 160"/>
                  <a:gd name="T69" fmla="*/ 6 h 225"/>
                  <a:gd name="T70" fmla="*/ 19 w 160"/>
                  <a:gd name="T71" fmla="*/ 8 h 225"/>
                  <a:gd name="T72" fmla="*/ 25 w 160"/>
                  <a:gd name="T73" fmla="*/ 10 h 225"/>
                  <a:gd name="T74" fmla="*/ 31 w 160"/>
                  <a:gd name="T75" fmla="*/ 12 h 225"/>
                  <a:gd name="T76" fmla="*/ 37 w 160"/>
                  <a:gd name="T77" fmla="*/ 15 h 225"/>
                  <a:gd name="T78" fmla="*/ 41 w 160"/>
                  <a:gd name="T79" fmla="*/ 19 h 225"/>
                  <a:gd name="T80" fmla="*/ 45 w 160"/>
                  <a:gd name="T81" fmla="*/ 24 h 22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60"/>
                  <a:gd name="T124" fmla="*/ 0 h 225"/>
                  <a:gd name="T125" fmla="*/ 160 w 160"/>
                  <a:gd name="T126" fmla="*/ 225 h 22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60" h="225">
                    <a:moveTo>
                      <a:pt x="135" y="73"/>
                    </a:moveTo>
                    <a:lnTo>
                      <a:pt x="141" y="96"/>
                    </a:lnTo>
                    <a:lnTo>
                      <a:pt x="140" y="118"/>
                    </a:lnTo>
                    <a:lnTo>
                      <a:pt x="129" y="135"/>
                    </a:lnTo>
                    <a:lnTo>
                      <a:pt x="115" y="151"/>
                    </a:lnTo>
                    <a:lnTo>
                      <a:pt x="97" y="165"/>
                    </a:lnTo>
                    <a:lnTo>
                      <a:pt x="76" y="179"/>
                    </a:lnTo>
                    <a:lnTo>
                      <a:pt x="56" y="192"/>
                    </a:lnTo>
                    <a:lnTo>
                      <a:pt x="38" y="205"/>
                    </a:lnTo>
                    <a:lnTo>
                      <a:pt x="35" y="210"/>
                    </a:lnTo>
                    <a:lnTo>
                      <a:pt x="34" y="212"/>
                    </a:lnTo>
                    <a:lnTo>
                      <a:pt x="34" y="217"/>
                    </a:lnTo>
                    <a:lnTo>
                      <a:pt x="35" y="221"/>
                    </a:lnTo>
                    <a:lnTo>
                      <a:pt x="40" y="224"/>
                    </a:lnTo>
                    <a:lnTo>
                      <a:pt x="44" y="225"/>
                    </a:lnTo>
                    <a:lnTo>
                      <a:pt x="47" y="225"/>
                    </a:lnTo>
                    <a:lnTo>
                      <a:pt x="51" y="224"/>
                    </a:lnTo>
                    <a:lnTo>
                      <a:pt x="75" y="211"/>
                    </a:lnTo>
                    <a:lnTo>
                      <a:pt x="97" y="197"/>
                    </a:lnTo>
                    <a:lnTo>
                      <a:pt x="117" y="181"/>
                    </a:lnTo>
                    <a:lnTo>
                      <a:pt x="137" y="162"/>
                    </a:lnTo>
                    <a:lnTo>
                      <a:pt x="150" y="142"/>
                    </a:lnTo>
                    <a:lnTo>
                      <a:pt x="159" y="119"/>
                    </a:lnTo>
                    <a:lnTo>
                      <a:pt x="160" y="95"/>
                    </a:lnTo>
                    <a:lnTo>
                      <a:pt x="154" y="69"/>
                    </a:lnTo>
                    <a:lnTo>
                      <a:pt x="141" y="49"/>
                    </a:lnTo>
                    <a:lnTo>
                      <a:pt x="122" y="31"/>
                    </a:lnTo>
                    <a:lnTo>
                      <a:pt x="98" y="18"/>
                    </a:lnTo>
                    <a:lnTo>
                      <a:pt x="72" y="8"/>
                    </a:lnTo>
                    <a:lnTo>
                      <a:pt x="46" y="3"/>
                    </a:lnTo>
                    <a:lnTo>
                      <a:pt x="24" y="0"/>
                    </a:lnTo>
                    <a:lnTo>
                      <a:pt x="7" y="0"/>
                    </a:lnTo>
                    <a:lnTo>
                      <a:pt x="0" y="4"/>
                    </a:lnTo>
                    <a:lnTo>
                      <a:pt x="18" y="11"/>
                    </a:lnTo>
                    <a:lnTo>
                      <a:pt x="37" y="17"/>
                    </a:lnTo>
                    <a:lnTo>
                      <a:pt x="57" y="23"/>
                    </a:lnTo>
                    <a:lnTo>
                      <a:pt x="76" y="29"/>
                    </a:lnTo>
                    <a:lnTo>
                      <a:pt x="95" y="36"/>
                    </a:lnTo>
                    <a:lnTo>
                      <a:pt x="112" y="46"/>
                    </a:lnTo>
                    <a:lnTo>
                      <a:pt x="125" y="57"/>
                    </a:lnTo>
                    <a:lnTo>
                      <a:pt x="135" y="73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8" name="Freeform 42"/>
              <p:cNvSpPr>
                <a:spLocks/>
              </p:cNvSpPr>
              <p:nvPr/>
            </p:nvSpPr>
            <p:spPr bwMode="auto">
              <a:xfrm>
                <a:off x="8073" y="4463"/>
                <a:ext cx="135" cy="158"/>
              </a:xfrm>
              <a:custGeom>
                <a:avLst/>
                <a:gdLst>
                  <a:gd name="T0" fmla="*/ 42 w 404"/>
                  <a:gd name="T1" fmla="*/ 29 h 472"/>
                  <a:gd name="T2" fmla="*/ 23 w 404"/>
                  <a:gd name="T3" fmla="*/ 48 h 472"/>
                  <a:gd name="T4" fmla="*/ 7 w 404"/>
                  <a:gd name="T5" fmla="*/ 70 h 472"/>
                  <a:gd name="T6" fmla="*/ 0 w 404"/>
                  <a:gd name="T7" fmla="*/ 95 h 472"/>
                  <a:gd name="T8" fmla="*/ 2 w 404"/>
                  <a:gd name="T9" fmla="*/ 111 h 472"/>
                  <a:gd name="T10" fmla="*/ 4 w 404"/>
                  <a:gd name="T11" fmla="*/ 118 h 472"/>
                  <a:gd name="T12" fmla="*/ 8 w 404"/>
                  <a:gd name="T13" fmla="*/ 125 h 472"/>
                  <a:gd name="T14" fmla="*/ 14 w 404"/>
                  <a:gd name="T15" fmla="*/ 130 h 472"/>
                  <a:gd name="T16" fmla="*/ 24 w 404"/>
                  <a:gd name="T17" fmla="*/ 136 h 472"/>
                  <a:gd name="T18" fmla="*/ 36 w 404"/>
                  <a:gd name="T19" fmla="*/ 142 h 472"/>
                  <a:gd name="T20" fmla="*/ 50 w 404"/>
                  <a:gd name="T21" fmla="*/ 147 h 472"/>
                  <a:gd name="T22" fmla="*/ 64 w 404"/>
                  <a:gd name="T23" fmla="*/ 150 h 472"/>
                  <a:gd name="T24" fmla="*/ 78 w 404"/>
                  <a:gd name="T25" fmla="*/ 153 h 472"/>
                  <a:gd name="T26" fmla="*/ 92 w 404"/>
                  <a:gd name="T27" fmla="*/ 155 h 472"/>
                  <a:gd name="T28" fmla="*/ 107 w 404"/>
                  <a:gd name="T29" fmla="*/ 157 h 472"/>
                  <a:gd name="T30" fmla="*/ 121 w 404"/>
                  <a:gd name="T31" fmla="*/ 158 h 472"/>
                  <a:gd name="T32" fmla="*/ 131 w 404"/>
                  <a:gd name="T33" fmla="*/ 158 h 472"/>
                  <a:gd name="T34" fmla="*/ 134 w 404"/>
                  <a:gd name="T35" fmla="*/ 155 h 472"/>
                  <a:gd name="T36" fmla="*/ 135 w 404"/>
                  <a:gd name="T37" fmla="*/ 151 h 472"/>
                  <a:gd name="T38" fmla="*/ 132 w 404"/>
                  <a:gd name="T39" fmla="*/ 148 h 472"/>
                  <a:gd name="T40" fmla="*/ 123 w 404"/>
                  <a:gd name="T41" fmla="*/ 145 h 472"/>
                  <a:gd name="T42" fmla="*/ 111 w 404"/>
                  <a:gd name="T43" fmla="*/ 143 h 472"/>
                  <a:gd name="T44" fmla="*/ 97 w 404"/>
                  <a:gd name="T45" fmla="*/ 141 h 472"/>
                  <a:gd name="T46" fmla="*/ 84 w 404"/>
                  <a:gd name="T47" fmla="*/ 139 h 472"/>
                  <a:gd name="T48" fmla="*/ 71 w 404"/>
                  <a:gd name="T49" fmla="*/ 137 h 472"/>
                  <a:gd name="T50" fmla="*/ 58 w 404"/>
                  <a:gd name="T51" fmla="*/ 133 h 472"/>
                  <a:gd name="T52" fmla="*/ 46 w 404"/>
                  <a:gd name="T53" fmla="*/ 129 h 472"/>
                  <a:gd name="T54" fmla="*/ 34 w 404"/>
                  <a:gd name="T55" fmla="*/ 125 h 472"/>
                  <a:gd name="T56" fmla="*/ 23 w 404"/>
                  <a:gd name="T57" fmla="*/ 118 h 472"/>
                  <a:gd name="T58" fmla="*/ 16 w 404"/>
                  <a:gd name="T59" fmla="*/ 108 h 472"/>
                  <a:gd name="T60" fmla="*/ 14 w 404"/>
                  <a:gd name="T61" fmla="*/ 97 h 472"/>
                  <a:gd name="T62" fmla="*/ 16 w 404"/>
                  <a:gd name="T63" fmla="*/ 84 h 472"/>
                  <a:gd name="T64" fmla="*/ 22 w 404"/>
                  <a:gd name="T65" fmla="*/ 71 h 472"/>
                  <a:gd name="T66" fmla="*/ 30 w 404"/>
                  <a:gd name="T67" fmla="*/ 58 h 472"/>
                  <a:gd name="T68" fmla="*/ 40 w 404"/>
                  <a:gd name="T69" fmla="*/ 46 h 472"/>
                  <a:gd name="T70" fmla="*/ 51 w 404"/>
                  <a:gd name="T71" fmla="*/ 34 h 472"/>
                  <a:gd name="T72" fmla="*/ 64 w 404"/>
                  <a:gd name="T73" fmla="*/ 24 h 472"/>
                  <a:gd name="T74" fmla="*/ 82 w 404"/>
                  <a:gd name="T75" fmla="*/ 16 h 472"/>
                  <a:gd name="T76" fmla="*/ 100 w 404"/>
                  <a:gd name="T77" fmla="*/ 8 h 472"/>
                  <a:gd name="T78" fmla="*/ 111 w 404"/>
                  <a:gd name="T79" fmla="*/ 3 h 472"/>
                  <a:gd name="T80" fmla="*/ 108 w 404"/>
                  <a:gd name="T81" fmla="*/ 0 h 472"/>
                  <a:gd name="T82" fmla="*/ 93 w 404"/>
                  <a:gd name="T83" fmla="*/ 2 h 472"/>
                  <a:gd name="T84" fmla="*/ 76 w 404"/>
                  <a:gd name="T85" fmla="*/ 8 h 472"/>
                  <a:gd name="T86" fmla="*/ 59 w 404"/>
                  <a:gd name="T87" fmla="*/ 16 h 4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404"/>
                  <a:gd name="T133" fmla="*/ 0 h 472"/>
                  <a:gd name="T134" fmla="*/ 404 w 404"/>
                  <a:gd name="T135" fmla="*/ 472 h 4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404" h="472">
                    <a:moveTo>
                      <a:pt x="157" y="61"/>
                    </a:moveTo>
                    <a:lnTo>
                      <a:pt x="127" y="87"/>
                    </a:lnTo>
                    <a:lnTo>
                      <a:pt x="96" y="113"/>
                    </a:lnTo>
                    <a:lnTo>
                      <a:pt x="68" y="143"/>
                    </a:lnTo>
                    <a:lnTo>
                      <a:pt x="43" y="175"/>
                    </a:lnTo>
                    <a:lnTo>
                      <a:pt x="22" y="208"/>
                    </a:lnTo>
                    <a:lnTo>
                      <a:pt x="8" y="244"/>
                    </a:lnTo>
                    <a:lnTo>
                      <a:pt x="0" y="283"/>
                    </a:lnTo>
                    <a:lnTo>
                      <a:pt x="2" y="323"/>
                    </a:lnTo>
                    <a:lnTo>
                      <a:pt x="5" y="333"/>
                    </a:lnTo>
                    <a:lnTo>
                      <a:pt x="8" y="344"/>
                    </a:lnTo>
                    <a:lnTo>
                      <a:pt x="12" y="353"/>
                    </a:lnTo>
                    <a:lnTo>
                      <a:pt x="18" y="363"/>
                    </a:lnTo>
                    <a:lnTo>
                      <a:pt x="25" y="372"/>
                    </a:lnTo>
                    <a:lnTo>
                      <a:pt x="34" y="380"/>
                    </a:lnTo>
                    <a:lnTo>
                      <a:pt x="41" y="388"/>
                    </a:lnTo>
                    <a:lnTo>
                      <a:pt x="52" y="393"/>
                    </a:lnTo>
                    <a:lnTo>
                      <a:pt x="71" y="405"/>
                    </a:lnTo>
                    <a:lnTo>
                      <a:pt x="90" y="415"/>
                    </a:lnTo>
                    <a:lnTo>
                      <a:pt x="109" y="424"/>
                    </a:lnTo>
                    <a:lnTo>
                      <a:pt x="129" y="431"/>
                    </a:lnTo>
                    <a:lnTo>
                      <a:pt x="150" y="438"/>
                    </a:lnTo>
                    <a:lnTo>
                      <a:pt x="171" y="444"/>
                    </a:lnTo>
                    <a:lnTo>
                      <a:pt x="191" y="449"/>
                    </a:lnTo>
                    <a:lnTo>
                      <a:pt x="212" y="454"/>
                    </a:lnTo>
                    <a:lnTo>
                      <a:pt x="234" y="458"/>
                    </a:lnTo>
                    <a:lnTo>
                      <a:pt x="254" y="461"/>
                    </a:lnTo>
                    <a:lnTo>
                      <a:pt x="276" y="464"/>
                    </a:lnTo>
                    <a:lnTo>
                      <a:pt x="298" y="467"/>
                    </a:lnTo>
                    <a:lnTo>
                      <a:pt x="319" y="468"/>
                    </a:lnTo>
                    <a:lnTo>
                      <a:pt x="341" y="470"/>
                    </a:lnTo>
                    <a:lnTo>
                      <a:pt x="363" y="471"/>
                    </a:lnTo>
                    <a:lnTo>
                      <a:pt x="383" y="472"/>
                    </a:lnTo>
                    <a:lnTo>
                      <a:pt x="391" y="472"/>
                    </a:lnTo>
                    <a:lnTo>
                      <a:pt x="397" y="470"/>
                    </a:lnTo>
                    <a:lnTo>
                      <a:pt x="401" y="464"/>
                    </a:lnTo>
                    <a:lnTo>
                      <a:pt x="404" y="458"/>
                    </a:lnTo>
                    <a:lnTo>
                      <a:pt x="404" y="451"/>
                    </a:lnTo>
                    <a:lnTo>
                      <a:pt x="401" y="445"/>
                    </a:lnTo>
                    <a:lnTo>
                      <a:pt x="395" y="441"/>
                    </a:lnTo>
                    <a:lnTo>
                      <a:pt x="388" y="438"/>
                    </a:lnTo>
                    <a:lnTo>
                      <a:pt x="369" y="434"/>
                    </a:lnTo>
                    <a:lnTo>
                      <a:pt x="350" y="431"/>
                    </a:lnTo>
                    <a:lnTo>
                      <a:pt x="331" y="426"/>
                    </a:lnTo>
                    <a:lnTo>
                      <a:pt x="310" y="424"/>
                    </a:lnTo>
                    <a:lnTo>
                      <a:pt x="291" y="421"/>
                    </a:lnTo>
                    <a:lnTo>
                      <a:pt x="272" y="418"/>
                    </a:lnTo>
                    <a:lnTo>
                      <a:pt x="251" y="415"/>
                    </a:lnTo>
                    <a:lnTo>
                      <a:pt x="232" y="411"/>
                    </a:lnTo>
                    <a:lnTo>
                      <a:pt x="213" y="408"/>
                    </a:lnTo>
                    <a:lnTo>
                      <a:pt x="194" y="403"/>
                    </a:lnTo>
                    <a:lnTo>
                      <a:pt x="175" y="398"/>
                    </a:lnTo>
                    <a:lnTo>
                      <a:pt x="156" y="393"/>
                    </a:lnTo>
                    <a:lnTo>
                      <a:pt x="138" y="386"/>
                    </a:lnTo>
                    <a:lnTo>
                      <a:pt x="119" y="379"/>
                    </a:lnTo>
                    <a:lnTo>
                      <a:pt x="102" y="372"/>
                    </a:lnTo>
                    <a:lnTo>
                      <a:pt x="84" y="362"/>
                    </a:lnTo>
                    <a:lnTo>
                      <a:pt x="69" y="352"/>
                    </a:lnTo>
                    <a:lnTo>
                      <a:pt x="58" y="339"/>
                    </a:lnTo>
                    <a:lnTo>
                      <a:pt x="49" y="324"/>
                    </a:lnTo>
                    <a:lnTo>
                      <a:pt x="44" y="307"/>
                    </a:lnTo>
                    <a:lnTo>
                      <a:pt x="43" y="290"/>
                    </a:lnTo>
                    <a:lnTo>
                      <a:pt x="44" y="270"/>
                    </a:lnTo>
                    <a:lnTo>
                      <a:pt x="49" y="250"/>
                    </a:lnTo>
                    <a:lnTo>
                      <a:pt x="55" y="234"/>
                    </a:lnTo>
                    <a:lnTo>
                      <a:pt x="65" y="212"/>
                    </a:lnTo>
                    <a:lnTo>
                      <a:pt x="77" y="191"/>
                    </a:lnTo>
                    <a:lnTo>
                      <a:pt x="90" y="172"/>
                    </a:lnTo>
                    <a:lnTo>
                      <a:pt x="104" y="155"/>
                    </a:lnTo>
                    <a:lnTo>
                      <a:pt x="119" y="138"/>
                    </a:lnTo>
                    <a:lnTo>
                      <a:pt x="135" y="120"/>
                    </a:lnTo>
                    <a:lnTo>
                      <a:pt x="154" y="103"/>
                    </a:lnTo>
                    <a:lnTo>
                      <a:pt x="173" y="86"/>
                    </a:lnTo>
                    <a:lnTo>
                      <a:pt x="193" y="71"/>
                    </a:lnTo>
                    <a:lnTo>
                      <a:pt x="218" y="59"/>
                    </a:lnTo>
                    <a:lnTo>
                      <a:pt x="245" y="47"/>
                    </a:lnTo>
                    <a:lnTo>
                      <a:pt x="273" y="36"/>
                    </a:lnTo>
                    <a:lnTo>
                      <a:pt x="298" y="25"/>
                    </a:lnTo>
                    <a:lnTo>
                      <a:pt x="319" y="17"/>
                    </a:lnTo>
                    <a:lnTo>
                      <a:pt x="332" y="8"/>
                    </a:lnTo>
                    <a:lnTo>
                      <a:pt x="336" y="2"/>
                    </a:lnTo>
                    <a:lnTo>
                      <a:pt x="322" y="0"/>
                    </a:lnTo>
                    <a:lnTo>
                      <a:pt x="301" y="1"/>
                    </a:lnTo>
                    <a:lnTo>
                      <a:pt x="278" y="5"/>
                    </a:lnTo>
                    <a:lnTo>
                      <a:pt x="253" y="13"/>
                    </a:lnTo>
                    <a:lnTo>
                      <a:pt x="226" y="23"/>
                    </a:lnTo>
                    <a:lnTo>
                      <a:pt x="201" y="34"/>
                    </a:lnTo>
                    <a:lnTo>
                      <a:pt x="178" y="47"/>
                    </a:lnTo>
                    <a:lnTo>
                      <a:pt x="157" y="61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69" name="Freeform 43"/>
              <p:cNvSpPr>
                <a:spLocks/>
              </p:cNvSpPr>
              <p:nvPr/>
            </p:nvSpPr>
            <p:spPr bwMode="auto">
              <a:xfrm>
                <a:off x="8263" y="4458"/>
                <a:ext cx="118" cy="105"/>
              </a:xfrm>
              <a:custGeom>
                <a:avLst/>
                <a:gdLst>
                  <a:gd name="T0" fmla="*/ 98 w 354"/>
                  <a:gd name="T1" fmla="*/ 32 h 315"/>
                  <a:gd name="T2" fmla="*/ 103 w 354"/>
                  <a:gd name="T3" fmla="*/ 38 h 315"/>
                  <a:gd name="T4" fmla="*/ 107 w 354"/>
                  <a:gd name="T5" fmla="*/ 44 h 315"/>
                  <a:gd name="T6" fmla="*/ 108 w 354"/>
                  <a:gd name="T7" fmla="*/ 52 h 315"/>
                  <a:gd name="T8" fmla="*/ 108 w 354"/>
                  <a:gd name="T9" fmla="*/ 59 h 315"/>
                  <a:gd name="T10" fmla="*/ 107 w 354"/>
                  <a:gd name="T11" fmla="*/ 66 h 315"/>
                  <a:gd name="T12" fmla="*/ 105 w 354"/>
                  <a:gd name="T13" fmla="*/ 71 h 315"/>
                  <a:gd name="T14" fmla="*/ 102 w 354"/>
                  <a:gd name="T15" fmla="*/ 76 h 315"/>
                  <a:gd name="T16" fmla="*/ 98 w 354"/>
                  <a:gd name="T17" fmla="*/ 80 h 315"/>
                  <a:gd name="T18" fmla="*/ 94 w 354"/>
                  <a:gd name="T19" fmla="*/ 85 h 315"/>
                  <a:gd name="T20" fmla="*/ 90 w 354"/>
                  <a:gd name="T21" fmla="*/ 89 h 315"/>
                  <a:gd name="T22" fmla="*/ 85 w 354"/>
                  <a:gd name="T23" fmla="*/ 93 h 315"/>
                  <a:gd name="T24" fmla="*/ 81 w 354"/>
                  <a:gd name="T25" fmla="*/ 98 h 315"/>
                  <a:gd name="T26" fmla="*/ 80 w 354"/>
                  <a:gd name="T27" fmla="*/ 99 h 315"/>
                  <a:gd name="T28" fmla="*/ 80 w 354"/>
                  <a:gd name="T29" fmla="*/ 101 h 315"/>
                  <a:gd name="T30" fmla="*/ 80 w 354"/>
                  <a:gd name="T31" fmla="*/ 102 h 315"/>
                  <a:gd name="T32" fmla="*/ 81 w 354"/>
                  <a:gd name="T33" fmla="*/ 103 h 315"/>
                  <a:gd name="T34" fmla="*/ 82 w 354"/>
                  <a:gd name="T35" fmla="*/ 104 h 315"/>
                  <a:gd name="T36" fmla="*/ 84 w 354"/>
                  <a:gd name="T37" fmla="*/ 105 h 315"/>
                  <a:gd name="T38" fmla="*/ 86 w 354"/>
                  <a:gd name="T39" fmla="*/ 104 h 315"/>
                  <a:gd name="T40" fmla="*/ 87 w 354"/>
                  <a:gd name="T41" fmla="*/ 103 h 315"/>
                  <a:gd name="T42" fmla="*/ 97 w 354"/>
                  <a:gd name="T43" fmla="*/ 97 h 315"/>
                  <a:gd name="T44" fmla="*/ 105 w 354"/>
                  <a:gd name="T45" fmla="*/ 89 h 315"/>
                  <a:gd name="T46" fmla="*/ 112 w 354"/>
                  <a:gd name="T47" fmla="*/ 80 h 315"/>
                  <a:gd name="T48" fmla="*/ 116 w 354"/>
                  <a:gd name="T49" fmla="*/ 69 h 315"/>
                  <a:gd name="T50" fmla="*/ 118 w 354"/>
                  <a:gd name="T51" fmla="*/ 59 h 315"/>
                  <a:gd name="T52" fmla="*/ 117 w 354"/>
                  <a:gd name="T53" fmla="*/ 48 h 315"/>
                  <a:gd name="T54" fmla="*/ 113 w 354"/>
                  <a:gd name="T55" fmla="*/ 38 h 315"/>
                  <a:gd name="T56" fmla="*/ 105 w 354"/>
                  <a:gd name="T57" fmla="*/ 29 h 315"/>
                  <a:gd name="T58" fmla="*/ 99 w 354"/>
                  <a:gd name="T59" fmla="*/ 24 h 315"/>
                  <a:gd name="T60" fmla="*/ 93 w 354"/>
                  <a:gd name="T61" fmla="*/ 20 h 315"/>
                  <a:gd name="T62" fmla="*/ 85 w 354"/>
                  <a:gd name="T63" fmla="*/ 16 h 315"/>
                  <a:gd name="T64" fmla="*/ 77 w 354"/>
                  <a:gd name="T65" fmla="*/ 13 h 315"/>
                  <a:gd name="T66" fmla="*/ 69 w 354"/>
                  <a:gd name="T67" fmla="*/ 10 h 315"/>
                  <a:gd name="T68" fmla="*/ 60 w 354"/>
                  <a:gd name="T69" fmla="*/ 7 h 315"/>
                  <a:gd name="T70" fmla="*/ 52 w 354"/>
                  <a:gd name="T71" fmla="*/ 5 h 315"/>
                  <a:gd name="T72" fmla="*/ 43 w 354"/>
                  <a:gd name="T73" fmla="*/ 3 h 315"/>
                  <a:gd name="T74" fmla="*/ 35 w 354"/>
                  <a:gd name="T75" fmla="*/ 2 h 315"/>
                  <a:gd name="T76" fmla="*/ 28 w 354"/>
                  <a:gd name="T77" fmla="*/ 1 h 315"/>
                  <a:gd name="T78" fmla="*/ 20 w 354"/>
                  <a:gd name="T79" fmla="*/ 0 h 315"/>
                  <a:gd name="T80" fmla="*/ 14 w 354"/>
                  <a:gd name="T81" fmla="*/ 0 h 315"/>
                  <a:gd name="T82" fmla="*/ 9 w 354"/>
                  <a:gd name="T83" fmla="*/ 0 h 315"/>
                  <a:gd name="T84" fmla="*/ 5 w 354"/>
                  <a:gd name="T85" fmla="*/ 0 h 315"/>
                  <a:gd name="T86" fmla="*/ 2 w 354"/>
                  <a:gd name="T87" fmla="*/ 1 h 315"/>
                  <a:gd name="T88" fmla="*/ 0 w 354"/>
                  <a:gd name="T89" fmla="*/ 2 h 315"/>
                  <a:gd name="T90" fmla="*/ 5 w 354"/>
                  <a:gd name="T91" fmla="*/ 3 h 315"/>
                  <a:gd name="T92" fmla="*/ 10 w 354"/>
                  <a:gd name="T93" fmla="*/ 3 h 315"/>
                  <a:gd name="T94" fmla="*/ 16 w 354"/>
                  <a:gd name="T95" fmla="*/ 4 h 315"/>
                  <a:gd name="T96" fmla="*/ 22 w 354"/>
                  <a:gd name="T97" fmla="*/ 5 h 315"/>
                  <a:gd name="T98" fmla="*/ 28 w 354"/>
                  <a:gd name="T99" fmla="*/ 7 h 315"/>
                  <a:gd name="T100" fmla="*/ 34 w 354"/>
                  <a:gd name="T101" fmla="*/ 8 h 315"/>
                  <a:gd name="T102" fmla="*/ 41 w 354"/>
                  <a:gd name="T103" fmla="*/ 9 h 315"/>
                  <a:gd name="T104" fmla="*/ 48 w 354"/>
                  <a:gd name="T105" fmla="*/ 10 h 315"/>
                  <a:gd name="T106" fmla="*/ 54 w 354"/>
                  <a:gd name="T107" fmla="*/ 12 h 315"/>
                  <a:gd name="T108" fmla="*/ 61 w 354"/>
                  <a:gd name="T109" fmla="*/ 14 h 315"/>
                  <a:gd name="T110" fmla="*/ 68 w 354"/>
                  <a:gd name="T111" fmla="*/ 16 h 315"/>
                  <a:gd name="T112" fmla="*/ 74 w 354"/>
                  <a:gd name="T113" fmla="*/ 19 h 315"/>
                  <a:gd name="T114" fmla="*/ 80 w 354"/>
                  <a:gd name="T115" fmla="*/ 21 h 315"/>
                  <a:gd name="T116" fmla="*/ 87 w 354"/>
                  <a:gd name="T117" fmla="*/ 25 h 315"/>
                  <a:gd name="T118" fmla="*/ 93 w 354"/>
                  <a:gd name="T119" fmla="*/ 28 h 315"/>
                  <a:gd name="T120" fmla="*/ 98 w 354"/>
                  <a:gd name="T121" fmla="*/ 32 h 315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w 354"/>
                  <a:gd name="T184" fmla="*/ 0 h 315"/>
                  <a:gd name="T185" fmla="*/ 354 w 354"/>
                  <a:gd name="T186" fmla="*/ 315 h 315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T183" t="T184" r="T185" b="T186"/>
                <a:pathLst>
                  <a:path w="354" h="315">
                    <a:moveTo>
                      <a:pt x="294" y="96"/>
                    </a:moveTo>
                    <a:lnTo>
                      <a:pt x="310" y="113"/>
                    </a:lnTo>
                    <a:lnTo>
                      <a:pt x="320" y="133"/>
                    </a:lnTo>
                    <a:lnTo>
                      <a:pt x="325" y="155"/>
                    </a:lnTo>
                    <a:lnTo>
                      <a:pt x="325" y="178"/>
                    </a:lnTo>
                    <a:lnTo>
                      <a:pt x="322" y="197"/>
                    </a:lnTo>
                    <a:lnTo>
                      <a:pt x="316" y="212"/>
                    </a:lnTo>
                    <a:lnTo>
                      <a:pt x="306" y="228"/>
                    </a:lnTo>
                    <a:lnTo>
                      <a:pt x="295" y="241"/>
                    </a:lnTo>
                    <a:lnTo>
                      <a:pt x="282" y="256"/>
                    </a:lnTo>
                    <a:lnTo>
                      <a:pt x="269" y="267"/>
                    </a:lnTo>
                    <a:lnTo>
                      <a:pt x="256" y="280"/>
                    </a:lnTo>
                    <a:lnTo>
                      <a:pt x="243" y="293"/>
                    </a:lnTo>
                    <a:lnTo>
                      <a:pt x="240" y="297"/>
                    </a:lnTo>
                    <a:lnTo>
                      <a:pt x="240" y="302"/>
                    </a:lnTo>
                    <a:lnTo>
                      <a:pt x="240" y="306"/>
                    </a:lnTo>
                    <a:lnTo>
                      <a:pt x="243" y="310"/>
                    </a:lnTo>
                    <a:lnTo>
                      <a:pt x="247" y="313"/>
                    </a:lnTo>
                    <a:lnTo>
                      <a:pt x="253" y="315"/>
                    </a:lnTo>
                    <a:lnTo>
                      <a:pt x="257" y="313"/>
                    </a:lnTo>
                    <a:lnTo>
                      <a:pt x="262" y="310"/>
                    </a:lnTo>
                    <a:lnTo>
                      <a:pt x="291" y="292"/>
                    </a:lnTo>
                    <a:lnTo>
                      <a:pt x="316" y="267"/>
                    </a:lnTo>
                    <a:lnTo>
                      <a:pt x="335" y="240"/>
                    </a:lnTo>
                    <a:lnTo>
                      <a:pt x="348" y="208"/>
                    </a:lnTo>
                    <a:lnTo>
                      <a:pt x="354" y="177"/>
                    </a:lnTo>
                    <a:lnTo>
                      <a:pt x="351" y="143"/>
                    </a:lnTo>
                    <a:lnTo>
                      <a:pt x="339" y="113"/>
                    </a:lnTo>
                    <a:lnTo>
                      <a:pt x="316" y="86"/>
                    </a:lnTo>
                    <a:lnTo>
                      <a:pt x="298" y="72"/>
                    </a:lnTo>
                    <a:lnTo>
                      <a:pt x="278" y="60"/>
                    </a:lnTo>
                    <a:lnTo>
                      <a:pt x="256" y="49"/>
                    </a:lnTo>
                    <a:lnTo>
                      <a:pt x="231" y="39"/>
                    </a:lnTo>
                    <a:lnTo>
                      <a:pt x="206" y="29"/>
                    </a:lnTo>
                    <a:lnTo>
                      <a:pt x="181" y="21"/>
                    </a:lnTo>
                    <a:lnTo>
                      <a:pt x="155" y="16"/>
                    </a:lnTo>
                    <a:lnTo>
                      <a:pt x="130" y="10"/>
                    </a:lnTo>
                    <a:lnTo>
                      <a:pt x="105" y="6"/>
                    </a:lnTo>
                    <a:lnTo>
                      <a:pt x="83" y="3"/>
                    </a:lnTo>
                    <a:lnTo>
                      <a:pt x="61" y="0"/>
                    </a:lnTo>
                    <a:lnTo>
                      <a:pt x="43" y="0"/>
                    </a:lnTo>
                    <a:lnTo>
                      <a:pt x="27" y="0"/>
                    </a:lnTo>
                    <a:lnTo>
                      <a:pt x="14" y="0"/>
                    </a:lnTo>
                    <a:lnTo>
                      <a:pt x="5" y="3"/>
                    </a:lnTo>
                    <a:lnTo>
                      <a:pt x="0" y="6"/>
                    </a:lnTo>
                    <a:lnTo>
                      <a:pt x="15" y="8"/>
                    </a:lnTo>
                    <a:lnTo>
                      <a:pt x="30" y="10"/>
                    </a:lnTo>
                    <a:lnTo>
                      <a:pt x="47" y="13"/>
                    </a:lnTo>
                    <a:lnTo>
                      <a:pt x="65" y="16"/>
                    </a:lnTo>
                    <a:lnTo>
                      <a:pt x="83" y="20"/>
                    </a:lnTo>
                    <a:lnTo>
                      <a:pt x="103" y="23"/>
                    </a:lnTo>
                    <a:lnTo>
                      <a:pt x="122" y="27"/>
                    </a:lnTo>
                    <a:lnTo>
                      <a:pt x="143" y="31"/>
                    </a:lnTo>
                    <a:lnTo>
                      <a:pt x="162" y="37"/>
                    </a:lnTo>
                    <a:lnTo>
                      <a:pt x="182" y="43"/>
                    </a:lnTo>
                    <a:lnTo>
                      <a:pt x="203" y="49"/>
                    </a:lnTo>
                    <a:lnTo>
                      <a:pt x="222" y="56"/>
                    </a:lnTo>
                    <a:lnTo>
                      <a:pt x="241" y="64"/>
                    </a:lnTo>
                    <a:lnTo>
                      <a:pt x="260" y="75"/>
                    </a:lnTo>
                    <a:lnTo>
                      <a:pt x="278" y="85"/>
                    </a:lnTo>
                    <a:lnTo>
                      <a:pt x="294" y="96"/>
                    </a:lnTo>
                    <a:close/>
                  </a:path>
                </a:pathLst>
              </a:custGeom>
              <a:solidFill>
                <a:srgbClr val="C9E8FF"/>
              </a:solidFill>
              <a:ln w="6350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0" name="Freeform 44"/>
              <p:cNvSpPr>
                <a:spLocks/>
              </p:cNvSpPr>
              <p:nvPr/>
            </p:nvSpPr>
            <p:spPr bwMode="auto">
              <a:xfrm>
                <a:off x="8023" y="4506"/>
                <a:ext cx="47" cy="99"/>
              </a:xfrm>
              <a:custGeom>
                <a:avLst/>
                <a:gdLst>
                  <a:gd name="T0" fmla="*/ 0 w 143"/>
                  <a:gd name="T1" fmla="*/ 54 h 297"/>
                  <a:gd name="T2" fmla="*/ 0 w 143"/>
                  <a:gd name="T3" fmla="*/ 62 h 297"/>
                  <a:gd name="T4" fmla="*/ 2 w 143"/>
                  <a:gd name="T5" fmla="*/ 70 h 297"/>
                  <a:gd name="T6" fmla="*/ 5 w 143"/>
                  <a:gd name="T7" fmla="*/ 77 h 297"/>
                  <a:gd name="T8" fmla="*/ 10 w 143"/>
                  <a:gd name="T9" fmla="*/ 83 h 297"/>
                  <a:gd name="T10" fmla="*/ 16 w 143"/>
                  <a:gd name="T11" fmla="*/ 89 h 297"/>
                  <a:gd name="T12" fmla="*/ 23 w 143"/>
                  <a:gd name="T13" fmla="*/ 93 h 297"/>
                  <a:gd name="T14" fmla="*/ 30 w 143"/>
                  <a:gd name="T15" fmla="*/ 97 h 297"/>
                  <a:gd name="T16" fmla="*/ 38 w 143"/>
                  <a:gd name="T17" fmla="*/ 99 h 297"/>
                  <a:gd name="T18" fmla="*/ 40 w 143"/>
                  <a:gd name="T19" fmla="*/ 99 h 297"/>
                  <a:gd name="T20" fmla="*/ 43 w 143"/>
                  <a:gd name="T21" fmla="*/ 98 h 297"/>
                  <a:gd name="T22" fmla="*/ 45 w 143"/>
                  <a:gd name="T23" fmla="*/ 97 h 297"/>
                  <a:gd name="T24" fmla="*/ 46 w 143"/>
                  <a:gd name="T25" fmla="*/ 95 h 297"/>
                  <a:gd name="T26" fmla="*/ 46 w 143"/>
                  <a:gd name="T27" fmla="*/ 92 h 297"/>
                  <a:gd name="T28" fmla="*/ 45 w 143"/>
                  <a:gd name="T29" fmla="*/ 90 h 297"/>
                  <a:gd name="T30" fmla="*/ 44 w 143"/>
                  <a:gd name="T31" fmla="*/ 88 h 297"/>
                  <a:gd name="T32" fmla="*/ 41 w 143"/>
                  <a:gd name="T33" fmla="*/ 87 h 297"/>
                  <a:gd name="T34" fmla="*/ 34 w 143"/>
                  <a:gd name="T35" fmla="*/ 84 h 297"/>
                  <a:gd name="T36" fmla="*/ 26 w 143"/>
                  <a:gd name="T37" fmla="*/ 80 h 297"/>
                  <a:gd name="T38" fmla="*/ 21 w 143"/>
                  <a:gd name="T39" fmla="*/ 75 h 297"/>
                  <a:gd name="T40" fmla="*/ 16 w 143"/>
                  <a:gd name="T41" fmla="*/ 69 h 297"/>
                  <a:gd name="T42" fmla="*/ 13 w 143"/>
                  <a:gd name="T43" fmla="*/ 62 h 297"/>
                  <a:gd name="T44" fmla="*/ 12 w 143"/>
                  <a:gd name="T45" fmla="*/ 55 h 297"/>
                  <a:gd name="T46" fmla="*/ 12 w 143"/>
                  <a:gd name="T47" fmla="*/ 46 h 297"/>
                  <a:gd name="T48" fmla="*/ 14 w 143"/>
                  <a:gd name="T49" fmla="*/ 38 h 297"/>
                  <a:gd name="T50" fmla="*/ 17 w 143"/>
                  <a:gd name="T51" fmla="*/ 32 h 297"/>
                  <a:gd name="T52" fmla="*/ 21 w 143"/>
                  <a:gd name="T53" fmla="*/ 26 h 297"/>
                  <a:gd name="T54" fmla="*/ 25 w 143"/>
                  <a:gd name="T55" fmla="*/ 21 h 297"/>
                  <a:gd name="T56" fmla="*/ 30 w 143"/>
                  <a:gd name="T57" fmla="*/ 16 h 297"/>
                  <a:gd name="T58" fmla="*/ 35 w 143"/>
                  <a:gd name="T59" fmla="*/ 11 h 297"/>
                  <a:gd name="T60" fmla="*/ 39 w 143"/>
                  <a:gd name="T61" fmla="*/ 8 h 297"/>
                  <a:gd name="T62" fmla="*/ 44 w 143"/>
                  <a:gd name="T63" fmla="*/ 4 h 297"/>
                  <a:gd name="T64" fmla="*/ 47 w 143"/>
                  <a:gd name="T65" fmla="*/ 0 h 297"/>
                  <a:gd name="T66" fmla="*/ 44 w 143"/>
                  <a:gd name="T67" fmla="*/ 0 h 297"/>
                  <a:gd name="T68" fmla="*/ 38 w 143"/>
                  <a:gd name="T69" fmla="*/ 2 h 297"/>
                  <a:gd name="T70" fmla="*/ 31 w 143"/>
                  <a:gd name="T71" fmla="*/ 8 h 297"/>
                  <a:gd name="T72" fmla="*/ 23 w 143"/>
                  <a:gd name="T73" fmla="*/ 15 h 297"/>
                  <a:gd name="T74" fmla="*/ 15 w 143"/>
                  <a:gd name="T75" fmla="*/ 24 h 297"/>
                  <a:gd name="T76" fmla="*/ 8 w 143"/>
                  <a:gd name="T77" fmla="*/ 34 h 297"/>
                  <a:gd name="T78" fmla="*/ 3 w 143"/>
                  <a:gd name="T79" fmla="*/ 44 h 297"/>
                  <a:gd name="T80" fmla="*/ 0 w 143"/>
                  <a:gd name="T81" fmla="*/ 54 h 297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43"/>
                  <a:gd name="T124" fmla="*/ 0 h 297"/>
                  <a:gd name="T125" fmla="*/ 143 w 143"/>
                  <a:gd name="T126" fmla="*/ 297 h 297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43" h="297">
                    <a:moveTo>
                      <a:pt x="0" y="162"/>
                    </a:moveTo>
                    <a:lnTo>
                      <a:pt x="0" y="187"/>
                    </a:lnTo>
                    <a:lnTo>
                      <a:pt x="5" y="210"/>
                    </a:lnTo>
                    <a:lnTo>
                      <a:pt x="16" y="231"/>
                    </a:lnTo>
                    <a:lnTo>
                      <a:pt x="30" y="250"/>
                    </a:lnTo>
                    <a:lnTo>
                      <a:pt x="48" y="266"/>
                    </a:lnTo>
                    <a:lnTo>
                      <a:pt x="69" y="280"/>
                    </a:lnTo>
                    <a:lnTo>
                      <a:pt x="92" y="290"/>
                    </a:lnTo>
                    <a:lnTo>
                      <a:pt x="116" y="296"/>
                    </a:lnTo>
                    <a:lnTo>
                      <a:pt x="123" y="297"/>
                    </a:lnTo>
                    <a:lnTo>
                      <a:pt x="130" y="295"/>
                    </a:lnTo>
                    <a:lnTo>
                      <a:pt x="136" y="290"/>
                    </a:lnTo>
                    <a:lnTo>
                      <a:pt x="139" y="284"/>
                    </a:lnTo>
                    <a:lnTo>
                      <a:pt x="139" y="277"/>
                    </a:lnTo>
                    <a:lnTo>
                      <a:pt x="138" y="270"/>
                    </a:lnTo>
                    <a:lnTo>
                      <a:pt x="133" y="264"/>
                    </a:lnTo>
                    <a:lnTo>
                      <a:pt x="126" y="261"/>
                    </a:lnTo>
                    <a:lnTo>
                      <a:pt x="102" y="253"/>
                    </a:lnTo>
                    <a:lnTo>
                      <a:pt x="80" y="241"/>
                    </a:lnTo>
                    <a:lnTo>
                      <a:pt x="63" y="226"/>
                    </a:lnTo>
                    <a:lnTo>
                      <a:pt x="50" y="208"/>
                    </a:lnTo>
                    <a:lnTo>
                      <a:pt x="41" y="187"/>
                    </a:lnTo>
                    <a:lnTo>
                      <a:pt x="36" y="164"/>
                    </a:lnTo>
                    <a:lnTo>
                      <a:pt x="36" y="139"/>
                    </a:lnTo>
                    <a:lnTo>
                      <a:pt x="44" y="113"/>
                    </a:lnTo>
                    <a:lnTo>
                      <a:pt x="52" y="95"/>
                    </a:lnTo>
                    <a:lnTo>
                      <a:pt x="64" y="78"/>
                    </a:lnTo>
                    <a:lnTo>
                      <a:pt x="77" y="62"/>
                    </a:lnTo>
                    <a:lnTo>
                      <a:pt x="92" y="47"/>
                    </a:lnTo>
                    <a:lnTo>
                      <a:pt x="105" y="34"/>
                    </a:lnTo>
                    <a:lnTo>
                      <a:pt x="120" y="23"/>
                    </a:lnTo>
                    <a:lnTo>
                      <a:pt x="133" y="11"/>
                    </a:lnTo>
                    <a:lnTo>
                      <a:pt x="143" y="1"/>
                    </a:lnTo>
                    <a:lnTo>
                      <a:pt x="133" y="0"/>
                    </a:lnTo>
                    <a:lnTo>
                      <a:pt x="117" y="7"/>
                    </a:lnTo>
                    <a:lnTo>
                      <a:pt x="95" y="23"/>
                    </a:lnTo>
                    <a:lnTo>
                      <a:pt x="70" y="44"/>
                    </a:lnTo>
                    <a:lnTo>
                      <a:pt x="47" y="72"/>
                    </a:lnTo>
                    <a:lnTo>
                      <a:pt x="25" y="101"/>
                    </a:lnTo>
                    <a:lnTo>
                      <a:pt x="8" y="132"/>
                    </a:lnTo>
                    <a:lnTo>
                      <a:pt x="0" y="162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1" name="Freeform 45"/>
              <p:cNvSpPr>
                <a:spLocks/>
              </p:cNvSpPr>
              <p:nvPr/>
            </p:nvSpPr>
            <p:spPr bwMode="auto">
              <a:xfrm>
                <a:off x="8360" y="4451"/>
                <a:ext cx="103" cy="129"/>
              </a:xfrm>
              <a:custGeom>
                <a:avLst/>
                <a:gdLst>
                  <a:gd name="T0" fmla="*/ 87 w 309"/>
                  <a:gd name="T1" fmla="*/ 52 h 388"/>
                  <a:gd name="T2" fmla="*/ 92 w 309"/>
                  <a:gd name="T3" fmla="*/ 60 h 388"/>
                  <a:gd name="T4" fmla="*/ 94 w 309"/>
                  <a:gd name="T5" fmla="*/ 68 h 388"/>
                  <a:gd name="T6" fmla="*/ 93 w 309"/>
                  <a:gd name="T7" fmla="*/ 78 h 388"/>
                  <a:gd name="T8" fmla="*/ 87 w 309"/>
                  <a:gd name="T9" fmla="*/ 87 h 388"/>
                  <a:gd name="T10" fmla="*/ 79 w 309"/>
                  <a:gd name="T11" fmla="*/ 95 h 388"/>
                  <a:gd name="T12" fmla="*/ 70 w 309"/>
                  <a:gd name="T13" fmla="*/ 102 h 388"/>
                  <a:gd name="T14" fmla="*/ 60 w 309"/>
                  <a:gd name="T15" fmla="*/ 110 h 388"/>
                  <a:gd name="T16" fmla="*/ 54 w 309"/>
                  <a:gd name="T17" fmla="*/ 116 h 388"/>
                  <a:gd name="T18" fmla="*/ 52 w 309"/>
                  <a:gd name="T19" fmla="*/ 119 h 388"/>
                  <a:gd name="T20" fmla="*/ 51 w 309"/>
                  <a:gd name="T21" fmla="*/ 123 h 388"/>
                  <a:gd name="T22" fmla="*/ 51 w 309"/>
                  <a:gd name="T23" fmla="*/ 127 h 388"/>
                  <a:gd name="T24" fmla="*/ 54 w 309"/>
                  <a:gd name="T25" fmla="*/ 129 h 388"/>
                  <a:gd name="T26" fmla="*/ 58 w 309"/>
                  <a:gd name="T27" fmla="*/ 129 h 388"/>
                  <a:gd name="T28" fmla="*/ 65 w 309"/>
                  <a:gd name="T29" fmla="*/ 122 h 388"/>
                  <a:gd name="T30" fmla="*/ 76 w 309"/>
                  <a:gd name="T31" fmla="*/ 112 h 388"/>
                  <a:gd name="T32" fmla="*/ 87 w 309"/>
                  <a:gd name="T33" fmla="*/ 102 h 388"/>
                  <a:gd name="T34" fmla="*/ 97 w 309"/>
                  <a:gd name="T35" fmla="*/ 91 h 388"/>
                  <a:gd name="T36" fmla="*/ 102 w 309"/>
                  <a:gd name="T37" fmla="*/ 78 h 388"/>
                  <a:gd name="T38" fmla="*/ 101 w 309"/>
                  <a:gd name="T39" fmla="*/ 64 h 388"/>
                  <a:gd name="T40" fmla="*/ 95 w 309"/>
                  <a:gd name="T41" fmla="*/ 50 h 388"/>
                  <a:gd name="T42" fmla="*/ 84 w 309"/>
                  <a:gd name="T43" fmla="*/ 39 h 388"/>
                  <a:gd name="T44" fmla="*/ 74 w 309"/>
                  <a:gd name="T45" fmla="*/ 31 h 388"/>
                  <a:gd name="T46" fmla="*/ 64 w 309"/>
                  <a:gd name="T47" fmla="*/ 25 h 388"/>
                  <a:gd name="T48" fmla="*/ 53 w 309"/>
                  <a:gd name="T49" fmla="*/ 18 h 388"/>
                  <a:gd name="T50" fmla="*/ 41 w 309"/>
                  <a:gd name="T51" fmla="*/ 12 h 388"/>
                  <a:gd name="T52" fmla="*/ 31 w 309"/>
                  <a:gd name="T53" fmla="*/ 7 h 388"/>
                  <a:gd name="T54" fmla="*/ 20 w 309"/>
                  <a:gd name="T55" fmla="*/ 3 h 388"/>
                  <a:gd name="T56" fmla="*/ 10 w 309"/>
                  <a:gd name="T57" fmla="*/ 1 h 388"/>
                  <a:gd name="T58" fmla="*/ 3 w 309"/>
                  <a:gd name="T59" fmla="*/ 1 h 388"/>
                  <a:gd name="T60" fmla="*/ 4 w 309"/>
                  <a:gd name="T61" fmla="*/ 2 h 388"/>
                  <a:gd name="T62" fmla="*/ 12 w 309"/>
                  <a:gd name="T63" fmla="*/ 6 h 388"/>
                  <a:gd name="T64" fmla="*/ 22 w 309"/>
                  <a:gd name="T65" fmla="*/ 10 h 388"/>
                  <a:gd name="T66" fmla="*/ 33 w 309"/>
                  <a:gd name="T67" fmla="*/ 15 h 388"/>
                  <a:gd name="T68" fmla="*/ 45 w 309"/>
                  <a:gd name="T69" fmla="*/ 22 h 388"/>
                  <a:gd name="T70" fmla="*/ 56 w 309"/>
                  <a:gd name="T71" fmla="*/ 29 h 388"/>
                  <a:gd name="T72" fmla="*/ 68 w 309"/>
                  <a:gd name="T73" fmla="*/ 36 h 388"/>
                  <a:gd name="T74" fmla="*/ 78 w 309"/>
                  <a:gd name="T75" fmla="*/ 44 h 38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309"/>
                  <a:gd name="T115" fmla="*/ 0 h 388"/>
                  <a:gd name="T116" fmla="*/ 309 w 309"/>
                  <a:gd name="T117" fmla="*/ 388 h 38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309" h="388">
                    <a:moveTo>
                      <a:pt x="250" y="145"/>
                    </a:moveTo>
                    <a:lnTo>
                      <a:pt x="260" y="155"/>
                    </a:lnTo>
                    <a:lnTo>
                      <a:pt x="269" y="167"/>
                    </a:lnTo>
                    <a:lnTo>
                      <a:pt x="275" y="180"/>
                    </a:lnTo>
                    <a:lnTo>
                      <a:pt x="281" y="193"/>
                    </a:lnTo>
                    <a:lnTo>
                      <a:pt x="282" y="206"/>
                    </a:lnTo>
                    <a:lnTo>
                      <a:pt x="282" y="220"/>
                    </a:lnTo>
                    <a:lnTo>
                      <a:pt x="278" y="234"/>
                    </a:lnTo>
                    <a:lnTo>
                      <a:pt x="272" y="247"/>
                    </a:lnTo>
                    <a:lnTo>
                      <a:pt x="262" y="262"/>
                    </a:lnTo>
                    <a:lnTo>
                      <a:pt x="250" y="275"/>
                    </a:lnTo>
                    <a:lnTo>
                      <a:pt x="237" y="286"/>
                    </a:lnTo>
                    <a:lnTo>
                      <a:pt x="222" y="298"/>
                    </a:lnTo>
                    <a:lnTo>
                      <a:pt x="209" y="308"/>
                    </a:lnTo>
                    <a:lnTo>
                      <a:pt x="194" y="319"/>
                    </a:lnTo>
                    <a:lnTo>
                      <a:pt x="180" y="331"/>
                    </a:lnTo>
                    <a:lnTo>
                      <a:pt x="166" y="344"/>
                    </a:lnTo>
                    <a:lnTo>
                      <a:pt x="162" y="348"/>
                    </a:lnTo>
                    <a:lnTo>
                      <a:pt x="159" y="354"/>
                    </a:lnTo>
                    <a:lnTo>
                      <a:pt x="156" y="359"/>
                    </a:lnTo>
                    <a:lnTo>
                      <a:pt x="153" y="365"/>
                    </a:lnTo>
                    <a:lnTo>
                      <a:pt x="152" y="371"/>
                    </a:lnTo>
                    <a:lnTo>
                      <a:pt x="152" y="377"/>
                    </a:lnTo>
                    <a:lnTo>
                      <a:pt x="153" y="382"/>
                    </a:lnTo>
                    <a:lnTo>
                      <a:pt x="158" y="387"/>
                    </a:lnTo>
                    <a:lnTo>
                      <a:pt x="163" y="388"/>
                    </a:lnTo>
                    <a:lnTo>
                      <a:pt x="169" y="388"/>
                    </a:lnTo>
                    <a:lnTo>
                      <a:pt x="175" y="387"/>
                    </a:lnTo>
                    <a:lnTo>
                      <a:pt x="180" y="382"/>
                    </a:lnTo>
                    <a:lnTo>
                      <a:pt x="194" y="367"/>
                    </a:lnTo>
                    <a:lnTo>
                      <a:pt x="210" y="351"/>
                    </a:lnTo>
                    <a:lnTo>
                      <a:pt x="227" y="337"/>
                    </a:lnTo>
                    <a:lnTo>
                      <a:pt x="244" y="322"/>
                    </a:lnTo>
                    <a:lnTo>
                      <a:pt x="260" y="308"/>
                    </a:lnTo>
                    <a:lnTo>
                      <a:pt x="275" y="292"/>
                    </a:lnTo>
                    <a:lnTo>
                      <a:pt x="290" y="275"/>
                    </a:lnTo>
                    <a:lnTo>
                      <a:pt x="300" y="256"/>
                    </a:lnTo>
                    <a:lnTo>
                      <a:pt x="307" y="234"/>
                    </a:lnTo>
                    <a:lnTo>
                      <a:pt x="309" y="213"/>
                    </a:lnTo>
                    <a:lnTo>
                      <a:pt x="304" y="191"/>
                    </a:lnTo>
                    <a:lnTo>
                      <a:pt x="297" y="171"/>
                    </a:lnTo>
                    <a:lnTo>
                      <a:pt x="285" y="151"/>
                    </a:lnTo>
                    <a:lnTo>
                      <a:pt x="271" y="134"/>
                    </a:lnTo>
                    <a:lnTo>
                      <a:pt x="253" y="118"/>
                    </a:lnTo>
                    <a:lnTo>
                      <a:pt x="235" y="104"/>
                    </a:lnTo>
                    <a:lnTo>
                      <a:pt x="222" y="94"/>
                    </a:lnTo>
                    <a:lnTo>
                      <a:pt x="207" y="85"/>
                    </a:lnTo>
                    <a:lnTo>
                      <a:pt x="191" y="75"/>
                    </a:lnTo>
                    <a:lnTo>
                      <a:pt x="175" y="65"/>
                    </a:lnTo>
                    <a:lnTo>
                      <a:pt x="159" y="55"/>
                    </a:lnTo>
                    <a:lnTo>
                      <a:pt x="141" y="45"/>
                    </a:lnTo>
                    <a:lnTo>
                      <a:pt x="124" y="36"/>
                    </a:lnTo>
                    <a:lnTo>
                      <a:pt x="108" y="28"/>
                    </a:lnTo>
                    <a:lnTo>
                      <a:pt x="92" y="20"/>
                    </a:lnTo>
                    <a:lnTo>
                      <a:pt x="75" y="13"/>
                    </a:lnTo>
                    <a:lnTo>
                      <a:pt x="59" y="9"/>
                    </a:lnTo>
                    <a:lnTo>
                      <a:pt x="45" y="5"/>
                    </a:lnTo>
                    <a:lnTo>
                      <a:pt x="31" y="2"/>
                    </a:lnTo>
                    <a:lnTo>
                      <a:pt x="20" y="0"/>
                    </a:lnTo>
                    <a:lnTo>
                      <a:pt x="9" y="2"/>
                    </a:lnTo>
                    <a:lnTo>
                      <a:pt x="0" y="5"/>
                    </a:lnTo>
                    <a:lnTo>
                      <a:pt x="11" y="7"/>
                    </a:lnTo>
                    <a:lnTo>
                      <a:pt x="23" y="12"/>
                    </a:lnTo>
                    <a:lnTo>
                      <a:pt x="36" y="17"/>
                    </a:lnTo>
                    <a:lnTo>
                      <a:pt x="49" y="23"/>
                    </a:lnTo>
                    <a:lnTo>
                      <a:pt x="65" y="30"/>
                    </a:lnTo>
                    <a:lnTo>
                      <a:pt x="81" y="38"/>
                    </a:lnTo>
                    <a:lnTo>
                      <a:pt x="99" y="46"/>
                    </a:lnTo>
                    <a:lnTo>
                      <a:pt x="116" y="55"/>
                    </a:lnTo>
                    <a:lnTo>
                      <a:pt x="134" y="65"/>
                    </a:lnTo>
                    <a:lnTo>
                      <a:pt x="152" y="75"/>
                    </a:lnTo>
                    <a:lnTo>
                      <a:pt x="169" y="86"/>
                    </a:lnTo>
                    <a:lnTo>
                      <a:pt x="187" y="98"/>
                    </a:lnTo>
                    <a:lnTo>
                      <a:pt x="205" y="109"/>
                    </a:lnTo>
                    <a:lnTo>
                      <a:pt x="221" y="121"/>
                    </a:lnTo>
                    <a:lnTo>
                      <a:pt x="235" y="132"/>
                    </a:lnTo>
                    <a:lnTo>
                      <a:pt x="250" y="145"/>
                    </a:lnTo>
                    <a:close/>
                  </a:path>
                </a:pathLst>
              </a:custGeom>
              <a:solidFill>
                <a:srgbClr val="C9E8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2" name="Freeform 46"/>
              <p:cNvSpPr>
                <a:spLocks/>
              </p:cNvSpPr>
              <p:nvPr/>
            </p:nvSpPr>
            <p:spPr bwMode="auto">
              <a:xfrm>
                <a:off x="8279" y="4648"/>
                <a:ext cx="135" cy="97"/>
              </a:xfrm>
              <a:custGeom>
                <a:avLst/>
                <a:gdLst>
                  <a:gd name="T0" fmla="*/ 110 w 406"/>
                  <a:gd name="T1" fmla="*/ 22 h 292"/>
                  <a:gd name="T2" fmla="*/ 117 w 406"/>
                  <a:gd name="T3" fmla="*/ 41 h 292"/>
                  <a:gd name="T4" fmla="*/ 124 w 406"/>
                  <a:gd name="T5" fmla="*/ 60 h 292"/>
                  <a:gd name="T6" fmla="*/ 131 w 406"/>
                  <a:gd name="T7" fmla="*/ 79 h 292"/>
                  <a:gd name="T8" fmla="*/ 135 w 406"/>
                  <a:gd name="T9" fmla="*/ 91 h 292"/>
                  <a:gd name="T10" fmla="*/ 134 w 406"/>
                  <a:gd name="T11" fmla="*/ 94 h 292"/>
                  <a:gd name="T12" fmla="*/ 131 w 406"/>
                  <a:gd name="T13" fmla="*/ 97 h 292"/>
                  <a:gd name="T14" fmla="*/ 127 w 406"/>
                  <a:gd name="T15" fmla="*/ 96 h 292"/>
                  <a:gd name="T16" fmla="*/ 121 w 406"/>
                  <a:gd name="T17" fmla="*/ 83 h 292"/>
                  <a:gd name="T18" fmla="*/ 113 w 406"/>
                  <a:gd name="T19" fmla="*/ 57 h 292"/>
                  <a:gd name="T20" fmla="*/ 106 w 406"/>
                  <a:gd name="T21" fmla="*/ 31 h 292"/>
                  <a:gd name="T22" fmla="*/ 102 w 406"/>
                  <a:gd name="T23" fmla="*/ 14 h 292"/>
                  <a:gd name="T24" fmla="*/ 94 w 406"/>
                  <a:gd name="T25" fmla="*/ 11 h 292"/>
                  <a:gd name="T26" fmla="*/ 79 w 406"/>
                  <a:gd name="T27" fmla="*/ 13 h 292"/>
                  <a:gd name="T28" fmla="*/ 64 w 406"/>
                  <a:gd name="T29" fmla="*/ 17 h 292"/>
                  <a:gd name="T30" fmla="*/ 49 w 406"/>
                  <a:gd name="T31" fmla="*/ 22 h 292"/>
                  <a:gd name="T32" fmla="*/ 35 w 406"/>
                  <a:gd name="T33" fmla="*/ 28 h 292"/>
                  <a:gd name="T34" fmla="*/ 22 w 406"/>
                  <a:gd name="T35" fmla="*/ 34 h 292"/>
                  <a:gd name="T36" fmla="*/ 11 w 406"/>
                  <a:gd name="T37" fmla="*/ 41 h 292"/>
                  <a:gd name="T38" fmla="*/ 3 w 406"/>
                  <a:gd name="T39" fmla="*/ 47 h 292"/>
                  <a:gd name="T40" fmla="*/ 0 w 406"/>
                  <a:gd name="T41" fmla="*/ 44 h 292"/>
                  <a:gd name="T42" fmla="*/ 6 w 406"/>
                  <a:gd name="T43" fmla="*/ 34 h 292"/>
                  <a:gd name="T44" fmla="*/ 18 w 406"/>
                  <a:gd name="T45" fmla="*/ 23 h 292"/>
                  <a:gd name="T46" fmla="*/ 31 w 406"/>
                  <a:gd name="T47" fmla="*/ 14 h 292"/>
                  <a:gd name="T48" fmla="*/ 46 w 406"/>
                  <a:gd name="T49" fmla="*/ 8 h 292"/>
                  <a:gd name="T50" fmla="*/ 70 w 406"/>
                  <a:gd name="T51" fmla="*/ 3 h 292"/>
                  <a:gd name="T52" fmla="*/ 92 w 406"/>
                  <a:gd name="T53" fmla="*/ 0 h 292"/>
                  <a:gd name="T54" fmla="*/ 107 w 406"/>
                  <a:gd name="T55" fmla="*/ 0 h 292"/>
                  <a:gd name="T56" fmla="*/ 112 w 406"/>
                  <a:gd name="T57" fmla="*/ 0 h 292"/>
                  <a:gd name="T58" fmla="*/ 115 w 406"/>
                  <a:gd name="T59" fmla="*/ 4 h 292"/>
                  <a:gd name="T60" fmla="*/ 115 w 406"/>
                  <a:gd name="T61" fmla="*/ 9 h 292"/>
                  <a:gd name="T62" fmla="*/ 111 w 406"/>
                  <a:gd name="T63" fmla="*/ 11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06"/>
                  <a:gd name="T97" fmla="*/ 0 h 292"/>
                  <a:gd name="T98" fmla="*/ 406 w 406"/>
                  <a:gd name="T99" fmla="*/ 292 h 29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06" h="292">
                    <a:moveTo>
                      <a:pt x="326" y="36"/>
                    </a:moveTo>
                    <a:lnTo>
                      <a:pt x="332" y="65"/>
                    </a:lnTo>
                    <a:lnTo>
                      <a:pt x="340" y="93"/>
                    </a:lnTo>
                    <a:lnTo>
                      <a:pt x="351" y="123"/>
                    </a:lnTo>
                    <a:lnTo>
                      <a:pt x="361" y="152"/>
                    </a:lnTo>
                    <a:lnTo>
                      <a:pt x="373" y="181"/>
                    </a:lnTo>
                    <a:lnTo>
                      <a:pt x="384" y="210"/>
                    </a:lnTo>
                    <a:lnTo>
                      <a:pt x="395" y="237"/>
                    </a:lnTo>
                    <a:lnTo>
                      <a:pt x="405" y="266"/>
                    </a:lnTo>
                    <a:lnTo>
                      <a:pt x="406" y="273"/>
                    </a:lnTo>
                    <a:lnTo>
                      <a:pt x="406" y="279"/>
                    </a:lnTo>
                    <a:lnTo>
                      <a:pt x="404" y="284"/>
                    </a:lnTo>
                    <a:lnTo>
                      <a:pt x="399" y="289"/>
                    </a:lnTo>
                    <a:lnTo>
                      <a:pt x="393" y="292"/>
                    </a:lnTo>
                    <a:lnTo>
                      <a:pt x="387" y="292"/>
                    </a:lnTo>
                    <a:lnTo>
                      <a:pt x="381" y="289"/>
                    </a:lnTo>
                    <a:lnTo>
                      <a:pt x="377" y="283"/>
                    </a:lnTo>
                    <a:lnTo>
                      <a:pt x="364" y="251"/>
                    </a:lnTo>
                    <a:lnTo>
                      <a:pt x="352" y="213"/>
                    </a:lnTo>
                    <a:lnTo>
                      <a:pt x="339" y="171"/>
                    </a:lnTo>
                    <a:lnTo>
                      <a:pt x="329" y="131"/>
                    </a:lnTo>
                    <a:lnTo>
                      <a:pt x="318" y="93"/>
                    </a:lnTo>
                    <a:lnTo>
                      <a:pt x="311" y="63"/>
                    </a:lnTo>
                    <a:lnTo>
                      <a:pt x="307" y="42"/>
                    </a:lnTo>
                    <a:lnTo>
                      <a:pt x="305" y="34"/>
                    </a:lnTo>
                    <a:lnTo>
                      <a:pt x="283" y="34"/>
                    </a:lnTo>
                    <a:lnTo>
                      <a:pt x="261" y="36"/>
                    </a:lnTo>
                    <a:lnTo>
                      <a:pt x="239" y="39"/>
                    </a:lnTo>
                    <a:lnTo>
                      <a:pt x="216" y="43"/>
                    </a:lnTo>
                    <a:lnTo>
                      <a:pt x="192" y="50"/>
                    </a:lnTo>
                    <a:lnTo>
                      <a:pt x="170" y="57"/>
                    </a:lnTo>
                    <a:lnTo>
                      <a:pt x="148" y="65"/>
                    </a:lnTo>
                    <a:lnTo>
                      <a:pt x="126" y="73"/>
                    </a:lnTo>
                    <a:lnTo>
                      <a:pt x="106" y="83"/>
                    </a:lnTo>
                    <a:lnTo>
                      <a:pt x="85" y="93"/>
                    </a:lnTo>
                    <a:lnTo>
                      <a:pt x="67" y="103"/>
                    </a:lnTo>
                    <a:lnTo>
                      <a:pt x="50" y="113"/>
                    </a:lnTo>
                    <a:lnTo>
                      <a:pt x="34" y="122"/>
                    </a:lnTo>
                    <a:lnTo>
                      <a:pt x="20" y="132"/>
                    </a:lnTo>
                    <a:lnTo>
                      <a:pt x="9" y="141"/>
                    </a:lnTo>
                    <a:lnTo>
                      <a:pt x="0" y="148"/>
                    </a:lnTo>
                    <a:lnTo>
                      <a:pt x="0" y="133"/>
                    </a:lnTo>
                    <a:lnTo>
                      <a:pt x="7" y="118"/>
                    </a:lnTo>
                    <a:lnTo>
                      <a:pt x="19" y="102"/>
                    </a:lnTo>
                    <a:lnTo>
                      <a:pt x="35" y="86"/>
                    </a:lnTo>
                    <a:lnTo>
                      <a:pt x="53" y="70"/>
                    </a:lnTo>
                    <a:lnTo>
                      <a:pt x="73" y="54"/>
                    </a:lnTo>
                    <a:lnTo>
                      <a:pt x="92" y="43"/>
                    </a:lnTo>
                    <a:lnTo>
                      <a:pt x="111" y="33"/>
                    </a:lnTo>
                    <a:lnTo>
                      <a:pt x="139" y="23"/>
                    </a:lnTo>
                    <a:lnTo>
                      <a:pt x="173" y="14"/>
                    </a:lnTo>
                    <a:lnTo>
                      <a:pt x="210" y="8"/>
                    </a:lnTo>
                    <a:lnTo>
                      <a:pt x="245" y="4"/>
                    </a:lnTo>
                    <a:lnTo>
                      <a:pt x="277" y="1"/>
                    </a:lnTo>
                    <a:lnTo>
                      <a:pt x="304" y="0"/>
                    </a:lnTo>
                    <a:lnTo>
                      <a:pt x="321" y="0"/>
                    </a:lnTo>
                    <a:lnTo>
                      <a:pt x="329" y="0"/>
                    </a:lnTo>
                    <a:lnTo>
                      <a:pt x="336" y="1"/>
                    </a:lnTo>
                    <a:lnTo>
                      <a:pt x="342" y="6"/>
                    </a:lnTo>
                    <a:lnTo>
                      <a:pt x="345" y="11"/>
                    </a:lnTo>
                    <a:lnTo>
                      <a:pt x="346" y="19"/>
                    </a:lnTo>
                    <a:lnTo>
                      <a:pt x="345" y="26"/>
                    </a:lnTo>
                    <a:lnTo>
                      <a:pt x="340" y="31"/>
                    </a:lnTo>
                    <a:lnTo>
                      <a:pt x="335" y="34"/>
                    </a:lnTo>
                    <a:lnTo>
                      <a:pt x="326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3" name="Freeform 47"/>
              <p:cNvSpPr>
                <a:spLocks/>
              </p:cNvSpPr>
              <p:nvPr/>
            </p:nvSpPr>
            <p:spPr bwMode="auto">
              <a:xfrm>
                <a:off x="8272" y="4697"/>
                <a:ext cx="146" cy="320"/>
              </a:xfrm>
              <a:custGeom>
                <a:avLst/>
                <a:gdLst>
                  <a:gd name="T0" fmla="*/ 27 w 439"/>
                  <a:gd name="T1" fmla="*/ 96 h 960"/>
                  <a:gd name="T2" fmla="*/ 29 w 439"/>
                  <a:gd name="T3" fmla="*/ 105 h 960"/>
                  <a:gd name="T4" fmla="*/ 36 w 439"/>
                  <a:gd name="T5" fmla="*/ 125 h 960"/>
                  <a:gd name="T6" fmla="*/ 47 w 439"/>
                  <a:gd name="T7" fmla="*/ 152 h 960"/>
                  <a:gd name="T8" fmla="*/ 58 w 439"/>
                  <a:gd name="T9" fmla="*/ 178 h 960"/>
                  <a:gd name="T10" fmla="*/ 70 w 439"/>
                  <a:gd name="T11" fmla="*/ 204 h 960"/>
                  <a:gd name="T12" fmla="*/ 82 w 439"/>
                  <a:gd name="T13" fmla="*/ 229 h 960"/>
                  <a:gd name="T14" fmla="*/ 95 w 439"/>
                  <a:gd name="T15" fmla="*/ 254 h 960"/>
                  <a:gd name="T16" fmla="*/ 108 w 439"/>
                  <a:gd name="T17" fmla="*/ 280 h 960"/>
                  <a:gd name="T18" fmla="*/ 122 w 439"/>
                  <a:gd name="T19" fmla="*/ 305 h 960"/>
                  <a:gd name="T20" fmla="*/ 130 w 439"/>
                  <a:gd name="T21" fmla="*/ 319 h 960"/>
                  <a:gd name="T22" fmla="*/ 134 w 439"/>
                  <a:gd name="T23" fmla="*/ 320 h 960"/>
                  <a:gd name="T24" fmla="*/ 140 w 439"/>
                  <a:gd name="T25" fmla="*/ 320 h 960"/>
                  <a:gd name="T26" fmla="*/ 144 w 439"/>
                  <a:gd name="T27" fmla="*/ 319 h 960"/>
                  <a:gd name="T28" fmla="*/ 146 w 439"/>
                  <a:gd name="T29" fmla="*/ 316 h 960"/>
                  <a:gd name="T30" fmla="*/ 145 w 439"/>
                  <a:gd name="T31" fmla="*/ 312 h 960"/>
                  <a:gd name="T32" fmla="*/ 138 w 439"/>
                  <a:gd name="T33" fmla="*/ 301 h 960"/>
                  <a:gd name="T34" fmla="*/ 126 w 439"/>
                  <a:gd name="T35" fmla="*/ 281 h 960"/>
                  <a:gd name="T36" fmla="*/ 116 w 439"/>
                  <a:gd name="T37" fmla="*/ 261 h 960"/>
                  <a:gd name="T38" fmla="*/ 104 w 439"/>
                  <a:gd name="T39" fmla="*/ 241 h 960"/>
                  <a:gd name="T40" fmla="*/ 89 w 439"/>
                  <a:gd name="T41" fmla="*/ 213 h 960"/>
                  <a:gd name="T42" fmla="*/ 72 w 439"/>
                  <a:gd name="T43" fmla="*/ 177 h 960"/>
                  <a:gd name="T44" fmla="*/ 56 w 439"/>
                  <a:gd name="T45" fmla="*/ 141 h 960"/>
                  <a:gd name="T46" fmla="*/ 43 w 439"/>
                  <a:gd name="T47" fmla="*/ 104 h 960"/>
                  <a:gd name="T48" fmla="*/ 30 w 439"/>
                  <a:gd name="T49" fmla="*/ 73 h 960"/>
                  <a:gd name="T50" fmla="*/ 20 w 439"/>
                  <a:gd name="T51" fmla="*/ 46 h 960"/>
                  <a:gd name="T52" fmla="*/ 12 w 439"/>
                  <a:gd name="T53" fmla="*/ 21 h 960"/>
                  <a:gd name="T54" fmla="*/ 5 w 439"/>
                  <a:gd name="T55" fmla="*/ 3 h 960"/>
                  <a:gd name="T56" fmla="*/ 2 w 439"/>
                  <a:gd name="T57" fmla="*/ 0 h 960"/>
                  <a:gd name="T58" fmla="*/ 0 w 439"/>
                  <a:gd name="T59" fmla="*/ 3 h 960"/>
                  <a:gd name="T60" fmla="*/ 2 w 439"/>
                  <a:gd name="T61" fmla="*/ 16 h 960"/>
                  <a:gd name="T62" fmla="*/ 5 w 439"/>
                  <a:gd name="T63" fmla="*/ 38 h 960"/>
                  <a:gd name="T64" fmla="*/ 11 w 439"/>
                  <a:gd name="T65" fmla="*/ 60 h 960"/>
                  <a:gd name="T66" fmla="*/ 19 w 439"/>
                  <a:gd name="T67" fmla="*/ 80 h 96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439"/>
                  <a:gd name="T103" fmla="*/ 0 h 960"/>
                  <a:gd name="T104" fmla="*/ 439 w 439"/>
                  <a:gd name="T105" fmla="*/ 960 h 96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439" h="960">
                    <a:moveTo>
                      <a:pt x="72" y="270"/>
                    </a:moveTo>
                    <a:lnTo>
                      <a:pt x="82" y="289"/>
                    </a:lnTo>
                    <a:lnTo>
                      <a:pt x="85" y="302"/>
                    </a:lnTo>
                    <a:lnTo>
                      <a:pt x="87" y="316"/>
                    </a:lnTo>
                    <a:lnTo>
                      <a:pt x="93" y="336"/>
                    </a:lnTo>
                    <a:lnTo>
                      <a:pt x="107" y="376"/>
                    </a:lnTo>
                    <a:lnTo>
                      <a:pt x="124" y="417"/>
                    </a:lnTo>
                    <a:lnTo>
                      <a:pt x="141" y="455"/>
                    </a:lnTo>
                    <a:lnTo>
                      <a:pt x="157" y="494"/>
                    </a:lnTo>
                    <a:lnTo>
                      <a:pt x="175" y="533"/>
                    </a:lnTo>
                    <a:lnTo>
                      <a:pt x="193" y="572"/>
                    </a:lnTo>
                    <a:lnTo>
                      <a:pt x="210" y="611"/>
                    </a:lnTo>
                    <a:lnTo>
                      <a:pt x="229" y="649"/>
                    </a:lnTo>
                    <a:lnTo>
                      <a:pt x="248" y="687"/>
                    </a:lnTo>
                    <a:lnTo>
                      <a:pt x="267" y="726"/>
                    </a:lnTo>
                    <a:lnTo>
                      <a:pt x="287" y="763"/>
                    </a:lnTo>
                    <a:lnTo>
                      <a:pt x="307" y="802"/>
                    </a:lnTo>
                    <a:lnTo>
                      <a:pt x="326" y="839"/>
                    </a:lnTo>
                    <a:lnTo>
                      <a:pt x="347" y="878"/>
                    </a:lnTo>
                    <a:lnTo>
                      <a:pt x="367" y="915"/>
                    </a:lnTo>
                    <a:lnTo>
                      <a:pt x="388" y="954"/>
                    </a:lnTo>
                    <a:lnTo>
                      <a:pt x="391" y="957"/>
                    </a:lnTo>
                    <a:lnTo>
                      <a:pt x="397" y="958"/>
                    </a:lnTo>
                    <a:lnTo>
                      <a:pt x="404" y="960"/>
                    </a:lnTo>
                    <a:lnTo>
                      <a:pt x="413" y="960"/>
                    </a:lnTo>
                    <a:lnTo>
                      <a:pt x="420" y="960"/>
                    </a:lnTo>
                    <a:lnTo>
                      <a:pt x="427" y="958"/>
                    </a:lnTo>
                    <a:lnTo>
                      <a:pt x="433" y="957"/>
                    </a:lnTo>
                    <a:lnTo>
                      <a:pt x="436" y="954"/>
                    </a:lnTo>
                    <a:lnTo>
                      <a:pt x="439" y="948"/>
                    </a:lnTo>
                    <a:lnTo>
                      <a:pt x="439" y="943"/>
                    </a:lnTo>
                    <a:lnTo>
                      <a:pt x="436" y="937"/>
                    </a:lnTo>
                    <a:lnTo>
                      <a:pt x="432" y="932"/>
                    </a:lnTo>
                    <a:lnTo>
                      <a:pt x="414" y="902"/>
                    </a:lnTo>
                    <a:lnTo>
                      <a:pt x="398" y="874"/>
                    </a:lnTo>
                    <a:lnTo>
                      <a:pt x="380" y="843"/>
                    </a:lnTo>
                    <a:lnTo>
                      <a:pt x="364" y="813"/>
                    </a:lnTo>
                    <a:lnTo>
                      <a:pt x="348" y="784"/>
                    </a:lnTo>
                    <a:lnTo>
                      <a:pt x="332" y="754"/>
                    </a:lnTo>
                    <a:lnTo>
                      <a:pt x="314" y="724"/>
                    </a:lnTo>
                    <a:lnTo>
                      <a:pt x="298" y="694"/>
                    </a:lnTo>
                    <a:lnTo>
                      <a:pt x="269" y="638"/>
                    </a:lnTo>
                    <a:lnTo>
                      <a:pt x="242" y="585"/>
                    </a:lnTo>
                    <a:lnTo>
                      <a:pt x="216" y="532"/>
                    </a:lnTo>
                    <a:lnTo>
                      <a:pt x="193" y="477"/>
                    </a:lnTo>
                    <a:lnTo>
                      <a:pt x="169" y="424"/>
                    </a:lnTo>
                    <a:lnTo>
                      <a:pt x="149" y="369"/>
                    </a:lnTo>
                    <a:lnTo>
                      <a:pt x="128" y="312"/>
                    </a:lnTo>
                    <a:lnTo>
                      <a:pt x="107" y="253"/>
                    </a:lnTo>
                    <a:lnTo>
                      <a:pt x="91" y="220"/>
                    </a:lnTo>
                    <a:lnTo>
                      <a:pt x="75" y="181"/>
                    </a:lnTo>
                    <a:lnTo>
                      <a:pt x="60" y="139"/>
                    </a:lnTo>
                    <a:lnTo>
                      <a:pt x="47" y="99"/>
                    </a:lnTo>
                    <a:lnTo>
                      <a:pt x="35" y="62"/>
                    </a:lnTo>
                    <a:lnTo>
                      <a:pt x="25" y="31"/>
                    </a:lnTo>
                    <a:lnTo>
                      <a:pt x="15" y="10"/>
                    </a:lnTo>
                    <a:lnTo>
                      <a:pt x="8" y="0"/>
                    </a:lnTo>
                    <a:lnTo>
                      <a:pt x="5" y="1"/>
                    </a:lnTo>
                    <a:lnTo>
                      <a:pt x="2" y="4"/>
                    </a:lnTo>
                    <a:lnTo>
                      <a:pt x="0" y="10"/>
                    </a:lnTo>
                    <a:lnTo>
                      <a:pt x="0" y="14"/>
                    </a:lnTo>
                    <a:lnTo>
                      <a:pt x="6" y="47"/>
                    </a:lnTo>
                    <a:lnTo>
                      <a:pt x="11" y="82"/>
                    </a:lnTo>
                    <a:lnTo>
                      <a:pt x="16" y="115"/>
                    </a:lnTo>
                    <a:lnTo>
                      <a:pt x="24" y="146"/>
                    </a:lnTo>
                    <a:lnTo>
                      <a:pt x="33" y="179"/>
                    </a:lnTo>
                    <a:lnTo>
                      <a:pt x="43" y="211"/>
                    </a:lnTo>
                    <a:lnTo>
                      <a:pt x="56" y="241"/>
                    </a:lnTo>
                    <a:lnTo>
                      <a:pt x="72" y="27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4" name="Freeform 48"/>
              <p:cNvSpPr>
                <a:spLocks/>
              </p:cNvSpPr>
              <p:nvPr/>
            </p:nvSpPr>
            <p:spPr bwMode="auto">
              <a:xfrm>
                <a:off x="8416" y="4972"/>
                <a:ext cx="128" cy="66"/>
              </a:xfrm>
              <a:custGeom>
                <a:avLst/>
                <a:gdLst>
                  <a:gd name="T0" fmla="*/ 1 w 382"/>
                  <a:gd name="T1" fmla="*/ 61 h 198"/>
                  <a:gd name="T2" fmla="*/ 0 w 382"/>
                  <a:gd name="T3" fmla="*/ 62 h 198"/>
                  <a:gd name="T4" fmla="*/ 0 w 382"/>
                  <a:gd name="T5" fmla="*/ 64 h 198"/>
                  <a:gd name="T6" fmla="*/ 1 w 382"/>
                  <a:gd name="T7" fmla="*/ 65 h 198"/>
                  <a:gd name="T8" fmla="*/ 2 w 382"/>
                  <a:gd name="T9" fmla="*/ 66 h 198"/>
                  <a:gd name="T10" fmla="*/ 10 w 382"/>
                  <a:gd name="T11" fmla="*/ 62 h 198"/>
                  <a:gd name="T12" fmla="*/ 17 w 382"/>
                  <a:gd name="T13" fmla="*/ 59 h 198"/>
                  <a:gd name="T14" fmla="*/ 25 w 382"/>
                  <a:gd name="T15" fmla="*/ 55 h 198"/>
                  <a:gd name="T16" fmla="*/ 33 w 382"/>
                  <a:gd name="T17" fmla="*/ 52 h 198"/>
                  <a:gd name="T18" fmla="*/ 42 w 382"/>
                  <a:gd name="T19" fmla="*/ 49 h 198"/>
                  <a:gd name="T20" fmla="*/ 49 w 382"/>
                  <a:gd name="T21" fmla="*/ 46 h 198"/>
                  <a:gd name="T22" fmla="*/ 57 w 382"/>
                  <a:gd name="T23" fmla="*/ 43 h 198"/>
                  <a:gd name="T24" fmla="*/ 65 w 382"/>
                  <a:gd name="T25" fmla="*/ 40 h 198"/>
                  <a:gd name="T26" fmla="*/ 73 w 382"/>
                  <a:gd name="T27" fmla="*/ 36 h 198"/>
                  <a:gd name="T28" fmla="*/ 81 w 382"/>
                  <a:gd name="T29" fmla="*/ 33 h 198"/>
                  <a:gd name="T30" fmla="*/ 89 w 382"/>
                  <a:gd name="T31" fmla="*/ 30 h 198"/>
                  <a:gd name="T32" fmla="*/ 96 w 382"/>
                  <a:gd name="T33" fmla="*/ 26 h 198"/>
                  <a:gd name="T34" fmla="*/ 104 w 382"/>
                  <a:gd name="T35" fmla="*/ 22 h 198"/>
                  <a:gd name="T36" fmla="*/ 111 w 382"/>
                  <a:gd name="T37" fmla="*/ 18 h 198"/>
                  <a:gd name="T38" fmla="*/ 119 w 382"/>
                  <a:gd name="T39" fmla="*/ 14 h 198"/>
                  <a:gd name="T40" fmla="*/ 126 w 382"/>
                  <a:gd name="T41" fmla="*/ 9 h 198"/>
                  <a:gd name="T42" fmla="*/ 128 w 382"/>
                  <a:gd name="T43" fmla="*/ 8 h 198"/>
                  <a:gd name="T44" fmla="*/ 128 w 382"/>
                  <a:gd name="T45" fmla="*/ 6 h 198"/>
                  <a:gd name="T46" fmla="*/ 128 w 382"/>
                  <a:gd name="T47" fmla="*/ 4 h 198"/>
                  <a:gd name="T48" fmla="*/ 127 w 382"/>
                  <a:gd name="T49" fmla="*/ 2 h 198"/>
                  <a:gd name="T50" fmla="*/ 126 w 382"/>
                  <a:gd name="T51" fmla="*/ 1 h 198"/>
                  <a:gd name="T52" fmla="*/ 124 w 382"/>
                  <a:gd name="T53" fmla="*/ 0 h 198"/>
                  <a:gd name="T54" fmla="*/ 122 w 382"/>
                  <a:gd name="T55" fmla="*/ 0 h 198"/>
                  <a:gd name="T56" fmla="*/ 120 w 382"/>
                  <a:gd name="T57" fmla="*/ 1 h 198"/>
                  <a:gd name="T58" fmla="*/ 112 w 382"/>
                  <a:gd name="T59" fmla="*/ 5 h 198"/>
                  <a:gd name="T60" fmla="*/ 104 w 382"/>
                  <a:gd name="T61" fmla="*/ 9 h 198"/>
                  <a:gd name="T62" fmla="*/ 94 w 382"/>
                  <a:gd name="T63" fmla="*/ 14 h 198"/>
                  <a:gd name="T64" fmla="*/ 85 w 382"/>
                  <a:gd name="T65" fmla="*/ 19 h 198"/>
                  <a:gd name="T66" fmla="*/ 75 w 382"/>
                  <a:gd name="T67" fmla="*/ 23 h 198"/>
                  <a:gd name="T68" fmla="*/ 65 w 382"/>
                  <a:gd name="T69" fmla="*/ 28 h 198"/>
                  <a:gd name="T70" fmla="*/ 55 w 382"/>
                  <a:gd name="T71" fmla="*/ 32 h 198"/>
                  <a:gd name="T72" fmla="*/ 45 w 382"/>
                  <a:gd name="T73" fmla="*/ 37 h 198"/>
                  <a:gd name="T74" fmla="*/ 36 w 382"/>
                  <a:gd name="T75" fmla="*/ 42 h 198"/>
                  <a:gd name="T76" fmla="*/ 28 w 382"/>
                  <a:gd name="T77" fmla="*/ 45 h 198"/>
                  <a:gd name="T78" fmla="*/ 20 w 382"/>
                  <a:gd name="T79" fmla="*/ 49 h 198"/>
                  <a:gd name="T80" fmla="*/ 13 w 382"/>
                  <a:gd name="T81" fmla="*/ 53 h 198"/>
                  <a:gd name="T82" fmla="*/ 8 w 382"/>
                  <a:gd name="T83" fmla="*/ 55 h 198"/>
                  <a:gd name="T84" fmla="*/ 4 w 382"/>
                  <a:gd name="T85" fmla="*/ 58 h 198"/>
                  <a:gd name="T86" fmla="*/ 2 w 382"/>
                  <a:gd name="T87" fmla="*/ 60 h 198"/>
                  <a:gd name="T88" fmla="*/ 1 w 382"/>
                  <a:gd name="T89" fmla="*/ 61 h 198"/>
                  <a:gd name="T90" fmla="*/ 1 w 382"/>
                  <a:gd name="T91" fmla="*/ 61 h 198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382"/>
                  <a:gd name="T139" fmla="*/ 0 h 198"/>
                  <a:gd name="T140" fmla="*/ 382 w 382"/>
                  <a:gd name="T141" fmla="*/ 198 h 198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382" h="198">
                    <a:moveTo>
                      <a:pt x="2" y="182"/>
                    </a:moveTo>
                    <a:lnTo>
                      <a:pt x="0" y="187"/>
                    </a:lnTo>
                    <a:lnTo>
                      <a:pt x="0" y="191"/>
                    </a:lnTo>
                    <a:lnTo>
                      <a:pt x="2" y="195"/>
                    </a:lnTo>
                    <a:lnTo>
                      <a:pt x="6" y="198"/>
                    </a:lnTo>
                    <a:lnTo>
                      <a:pt x="30" y="187"/>
                    </a:lnTo>
                    <a:lnTo>
                      <a:pt x="52" y="176"/>
                    </a:lnTo>
                    <a:lnTo>
                      <a:pt x="75" y="166"/>
                    </a:lnTo>
                    <a:lnTo>
                      <a:pt x="99" y="156"/>
                    </a:lnTo>
                    <a:lnTo>
                      <a:pt x="124" y="146"/>
                    </a:lnTo>
                    <a:lnTo>
                      <a:pt x="147" y="138"/>
                    </a:lnTo>
                    <a:lnTo>
                      <a:pt x="171" y="128"/>
                    </a:lnTo>
                    <a:lnTo>
                      <a:pt x="194" y="119"/>
                    </a:lnTo>
                    <a:lnTo>
                      <a:pt x="218" y="109"/>
                    </a:lnTo>
                    <a:lnTo>
                      <a:pt x="241" y="99"/>
                    </a:lnTo>
                    <a:lnTo>
                      <a:pt x="265" y="89"/>
                    </a:lnTo>
                    <a:lnTo>
                      <a:pt x="287" y="77"/>
                    </a:lnTo>
                    <a:lnTo>
                      <a:pt x="310" y="66"/>
                    </a:lnTo>
                    <a:lnTo>
                      <a:pt x="332" y="54"/>
                    </a:lnTo>
                    <a:lnTo>
                      <a:pt x="354" y="41"/>
                    </a:lnTo>
                    <a:lnTo>
                      <a:pt x="376" y="27"/>
                    </a:lnTo>
                    <a:lnTo>
                      <a:pt x="381" y="23"/>
                    </a:lnTo>
                    <a:lnTo>
                      <a:pt x="382" y="17"/>
                    </a:lnTo>
                    <a:lnTo>
                      <a:pt x="382" y="11"/>
                    </a:lnTo>
                    <a:lnTo>
                      <a:pt x="379" y="7"/>
                    </a:lnTo>
                    <a:lnTo>
                      <a:pt x="375" y="3"/>
                    </a:lnTo>
                    <a:lnTo>
                      <a:pt x="369" y="0"/>
                    </a:lnTo>
                    <a:lnTo>
                      <a:pt x="363" y="0"/>
                    </a:lnTo>
                    <a:lnTo>
                      <a:pt x="359" y="3"/>
                    </a:lnTo>
                    <a:lnTo>
                      <a:pt x="335" y="16"/>
                    </a:lnTo>
                    <a:lnTo>
                      <a:pt x="309" y="28"/>
                    </a:lnTo>
                    <a:lnTo>
                      <a:pt x="281" y="41"/>
                    </a:lnTo>
                    <a:lnTo>
                      <a:pt x="253" y="56"/>
                    </a:lnTo>
                    <a:lnTo>
                      <a:pt x="223" y="70"/>
                    </a:lnTo>
                    <a:lnTo>
                      <a:pt x="193" y="84"/>
                    </a:lnTo>
                    <a:lnTo>
                      <a:pt x="163" y="97"/>
                    </a:lnTo>
                    <a:lnTo>
                      <a:pt x="135" y="112"/>
                    </a:lnTo>
                    <a:lnTo>
                      <a:pt x="107" y="125"/>
                    </a:lnTo>
                    <a:lnTo>
                      <a:pt x="83" y="136"/>
                    </a:lnTo>
                    <a:lnTo>
                      <a:pt x="61" y="148"/>
                    </a:lnTo>
                    <a:lnTo>
                      <a:pt x="40" y="158"/>
                    </a:lnTo>
                    <a:lnTo>
                      <a:pt x="24" y="166"/>
                    </a:lnTo>
                    <a:lnTo>
                      <a:pt x="12" y="174"/>
                    </a:lnTo>
                    <a:lnTo>
                      <a:pt x="5" y="179"/>
                    </a:lnTo>
                    <a:lnTo>
                      <a:pt x="2" y="18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5" name="Freeform 49"/>
              <p:cNvSpPr>
                <a:spLocks/>
              </p:cNvSpPr>
              <p:nvPr/>
            </p:nvSpPr>
            <p:spPr bwMode="auto">
              <a:xfrm>
                <a:off x="8304" y="4693"/>
                <a:ext cx="76" cy="80"/>
              </a:xfrm>
              <a:custGeom>
                <a:avLst/>
                <a:gdLst>
                  <a:gd name="T0" fmla="*/ 39 w 229"/>
                  <a:gd name="T1" fmla="*/ 1 h 240"/>
                  <a:gd name="T2" fmla="*/ 35 w 229"/>
                  <a:gd name="T3" fmla="*/ 0 h 240"/>
                  <a:gd name="T4" fmla="*/ 31 w 229"/>
                  <a:gd name="T5" fmla="*/ 0 h 240"/>
                  <a:gd name="T6" fmla="*/ 25 w 229"/>
                  <a:gd name="T7" fmla="*/ 0 h 240"/>
                  <a:gd name="T8" fmla="*/ 19 w 229"/>
                  <a:gd name="T9" fmla="*/ 1 h 240"/>
                  <a:gd name="T10" fmla="*/ 14 w 229"/>
                  <a:gd name="T11" fmla="*/ 4 h 240"/>
                  <a:gd name="T12" fmla="*/ 6 w 229"/>
                  <a:gd name="T13" fmla="*/ 11 h 240"/>
                  <a:gd name="T14" fmla="*/ 0 w 229"/>
                  <a:gd name="T15" fmla="*/ 25 h 240"/>
                  <a:gd name="T16" fmla="*/ 1 w 229"/>
                  <a:gd name="T17" fmla="*/ 40 h 240"/>
                  <a:gd name="T18" fmla="*/ 5 w 229"/>
                  <a:gd name="T19" fmla="*/ 56 h 240"/>
                  <a:gd name="T20" fmla="*/ 12 w 229"/>
                  <a:gd name="T21" fmla="*/ 67 h 240"/>
                  <a:gd name="T22" fmla="*/ 19 w 229"/>
                  <a:gd name="T23" fmla="*/ 74 h 240"/>
                  <a:gd name="T24" fmla="*/ 28 w 229"/>
                  <a:gd name="T25" fmla="*/ 79 h 240"/>
                  <a:gd name="T26" fmla="*/ 38 w 229"/>
                  <a:gd name="T27" fmla="*/ 80 h 240"/>
                  <a:gd name="T28" fmla="*/ 51 w 229"/>
                  <a:gd name="T29" fmla="*/ 76 h 240"/>
                  <a:gd name="T30" fmla="*/ 64 w 229"/>
                  <a:gd name="T31" fmla="*/ 68 h 240"/>
                  <a:gd name="T32" fmla="*/ 72 w 229"/>
                  <a:gd name="T33" fmla="*/ 57 h 240"/>
                  <a:gd name="T34" fmla="*/ 76 w 229"/>
                  <a:gd name="T35" fmla="*/ 44 h 240"/>
                  <a:gd name="T36" fmla="*/ 74 w 229"/>
                  <a:gd name="T37" fmla="*/ 34 h 240"/>
                  <a:gd name="T38" fmla="*/ 71 w 229"/>
                  <a:gd name="T39" fmla="*/ 32 h 240"/>
                  <a:gd name="T40" fmla="*/ 68 w 229"/>
                  <a:gd name="T41" fmla="*/ 32 h 240"/>
                  <a:gd name="T42" fmla="*/ 65 w 229"/>
                  <a:gd name="T43" fmla="*/ 35 h 240"/>
                  <a:gd name="T44" fmla="*/ 64 w 229"/>
                  <a:gd name="T45" fmla="*/ 42 h 240"/>
                  <a:gd name="T46" fmla="*/ 61 w 229"/>
                  <a:gd name="T47" fmla="*/ 53 h 240"/>
                  <a:gd name="T48" fmla="*/ 54 w 229"/>
                  <a:gd name="T49" fmla="*/ 60 h 240"/>
                  <a:gd name="T50" fmla="*/ 44 w 229"/>
                  <a:gd name="T51" fmla="*/ 65 h 240"/>
                  <a:gd name="T52" fmla="*/ 31 w 229"/>
                  <a:gd name="T53" fmla="*/ 66 h 240"/>
                  <a:gd name="T54" fmla="*/ 21 w 229"/>
                  <a:gd name="T55" fmla="*/ 59 h 240"/>
                  <a:gd name="T56" fmla="*/ 16 w 229"/>
                  <a:gd name="T57" fmla="*/ 47 h 240"/>
                  <a:gd name="T58" fmla="*/ 12 w 229"/>
                  <a:gd name="T59" fmla="*/ 34 h 240"/>
                  <a:gd name="T60" fmla="*/ 12 w 229"/>
                  <a:gd name="T61" fmla="*/ 24 h 240"/>
                  <a:gd name="T62" fmla="*/ 14 w 229"/>
                  <a:gd name="T63" fmla="*/ 17 h 240"/>
                  <a:gd name="T64" fmla="*/ 18 w 229"/>
                  <a:gd name="T65" fmla="*/ 11 h 240"/>
                  <a:gd name="T66" fmla="*/ 26 w 229"/>
                  <a:gd name="T67" fmla="*/ 7 h 240"/>
                  <a:gd name="T68" fmla="*/ 32 w 229"/>
                  <a:gd name="T69" fmla="*/ 6 h 240"/>
                  <a:gd name="T70" fmla="*/ 40 w 229"/>
                  <a:gd name="T71" fmla="*/ 6 h 240"/>
                  <a:gd name="T72" fmla="*/ 46 w 229"/>
                  <a:gd name="T73" fmla="*/ 7 h 240"/>
                  <a:gd name="T74" fmla="*/ 44 w 229"/>
                  <a:gd name="T75" fmla="*/ 3 h 240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29"/>
                  <a:gd name="T115" fmla="*/ 0 h 240"/>
                  <a:gd name="T116" fmla="*/ 229 w 229"/>
                  <a:gd name="T117" fmla="*/ 240 h 240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29" h="240">
                    <a:moveTo>
                      <a:pt x="126" y="4"/>
                    </a:moveTo>
                    <a:lnTo>
                      <a:pt x="119" y="3"/>
                    </a:lnTo>
                    <a:lnTo>
                      <a:pt x="111" y="3"/>
                    </a:lnTo>
                    <a:lnTo>
                      <a:pt x="105" y="1"/>
                    </a:lnTo>
                    <a:lnTo>
                      <a:pt x="102" y="1"/>
                    </a:lnTo>
                    <a:lnTo>
                      <a:pt x="94" y="0"/>
                    </a:lnTo>
                    <a:lnTo>
                      <a:pt x="83" y="0"/>
                    </a:lnTo>
                    <a:lnTo>
                      <a:pt x="75" y="1"/>
                    </a:lnTo>
                    <a:lnTo>
                      <a:pt x="66" y="3"/>
                    </a:lnTo>
                    <a:lnTo>
                      <a:pt x="57" y="4"/>
                    </a:lnTo>
                    <a:lnTo>
                      <a:pt x="48" y="9"/>
                    </a:lnTo>
                    <a:lnTo>
                      <a:pt x="41" y="13"/>
                    </a:lnTo>
                    <a:lnTo>
                      <a:pt x="33" y="17"/>
                    </a:lnTo>
                    <a:lnTo>
                      <a:pt x="17" y="34"/>
                    </a:lnTo>
                    <a:lnTo>
                      <a:pt x="6" y="55"/>
                    </a:lnTo>
                    <a:lnTo>
                      <a:pt x="1" y="76"/>
                    </a:lnTo>
                    <a:lnTo>
                      <a:pt x="0" y="98"/>
                    </a:lnTo>
                    <a:lnTo>
                      <a:pt x="3" y="121"/>
                    </a:lnTo>
                    <a:lnTo>
                      <a:pt x="8" y="144"/>
                    </a:lnTo>
                    <a:lnTo>
                      <a:pt x="16" y="167"/>
                    </a:lnTo>
                    <a:lnTo>
                      <a:pt x="26" y="187"/>
                    </a:lnTo>
                    <a:lnTo>
                      <a:pt x="35" y="200"/>
                    </a:lnTo>
                    <a:lnTo>
                      <a:pt x="45" y="213"/>
                    </a:lnTo>
                    <a:lnTo>
                      <a:pt x="57" y="223"/>
                    </a:lnTo>
                    <a:lnTo>
                      <a:pt x="70" y="230"/>
                    </a:lnTo>
                    <a:lnTo>
                      <a:pt x="85" y="236"/>
                    </a:lnTo>
                    <a:lnTo>
                      <a:pt x="101" y="240"/>
                    </a:lnTo>
                    <a:lnTo>
                      <a:pt x="116" y="240"/>
                    </a:lnTo>
                    <a:lnTo>
                      <a:pt x="132" y="237"/>
                    </a:lnTo>
                    <a:lnTo>
                      <a:pt x="154" y="228"/>
                    </a:lnTo>
                    <a:lnTo>
                      <a:pt x="174" y="218"/>
                    </a:lnTo>
                    <a:lnTo>
                      <a:pt x="192" y="204"/>
                    </a:lnTo>
                    <a:lnTo>
                      <a:pt x="208" y="188"/>
                    </a:lnTo>
                    <a:lnTo>
                      <a:pt x="218" y="171"/>
                    </a:lnTo>
                    <a:lnTo>
                      <a:pt x="226" y="151"/>
                    </a:lnTo>
                    <a:lnTo>
                      <a:pt x="229" y="131"/>
                    </a:lnTo>
                    <a:lnTo>
                      <a:pt x="226" y="109"/>
                    </a:lnTo>
                    <a:lnTo>
                      <a:pt x="224" y="103"/>
                    </a:lnTo>
                    <a:lnTo>
                      <a:pt x="221" y="98"/>
                    </a:lnTo>
                    <a:lnTo>
                      <a:pt x="215" y="95"/>
                    </a:lnTo>
                    <a:lnTo>
                      <a:pt x="210" y="93"/>
                    </a:lnTo>
                    <a:lnTo>
                      <a:pt x="204" y="95"/>
                    </a:lnTo>
                    <a:lnTo>
                      <a:pt x="198" y="99"/>
                    </a:lnTo>
                    <a:lnTo>
                      <a:pt x="195" y="105"/>
                    </a:lnTo>
                    <a:lnTo>
                      <a:pt x="195" y="111"/>
                    </a:lnTo>
                    <a:lnTo>
                      <a:pt x="193" y="126"/>
                    </a:lnTo>
                    <a:lnTo>
                      <a:pt x="189" y="142"/>
                    </a:lnTo>
                    <a:lnTo>
                      <a:pt x="183" y="158"/>
                    </a:lnTo>
                    <a:lnTo>
                      <a:pt x="174" y="171"/>
                    </a:lnTo>
                    <a:lnTo>
                      <a:pt x="164" y="181"/>
                    </a:lnTo>
                    <a:lnTo>
                      <a:pt x="149" y="190"/>
                    </a:lnTo>
                    <a:lnTo>
                      <a:pt x="133" y="195"/>
                    </a:lnTo>
                    <a:lnTo>
                      <a:pt x="113" y="198"/>
                    </a:lnTo>
                    <a:lnTo>
                      <a:pt x="92" y="197"/>
                    </a:lnTo>
                    <a:lnTo>
                      <a:pt x="76" y="188"/>
                    </a:lnTo>
                    <a:lnTo>
                      <a:pt x="63" y="177"/>
                    </a:lnTo>
                    <a:lnTo>
                      <a:pt x="54" y="161"/>
                    </a:lnTo>
                    <a:lnTo>
                      <a:pt x="47" y="142"/>
                    </a:lnTo>
                    <a:lnTo>
                      <a:pt x="41" y="124"/>
                    </a:lnTo>
                    <a:lnTo>
                      <a:pt x="36" y="103"/>
                    </a:lnTo>
                    <a:lnTo>
                      <a:pt x="35" y="85"/>
                    </a:lnTo>
                    <a:lnTo>
                      <a:pt x="35" y="73"/>
                    </a:lnTo>
                    <a:lnTo>
                      <a:pt x="36" y="62"/>
                    </a:lnTo>
                    <a:lnTo>
                      <a:pt x="41" y="50"/>
                    </a:lnTo>
                    <a:lnTo>
                      <a:pt x="48" y="40"/>
                    </a:lnTo>
                    <a:lnTo>
                      <a:pt x="55" y="33"/>
                    </a:lnTo>
                    <a:lnTo>
                      <a:pt x="66" y="26"/>
                    </a:lnTo>
                    <a:lnTo>
                      <a:pt x="77" y="21"/>
                    </a:lnTo>
                    <a:lnTo>
                      <a:pt x="92" y="19"/>
                    </a:lnTo>
                    <a:lnTo>
                      <a:pt x="97" y="19"/>
                    </a:lnTo>
                    <a:lnTo>
                      <a:pt x="105" y="19"/>
                    </a:lnTo>
                    <a:lnTo>
                      <a:pt x="120" y="19"/>
                    </a:lnTo>
                    <a:lnTo>
                      <a:pt x="135" y="21"/>
                    </a:lnTo>
                    <a:lnTo>
                      <a:pt x="139" y="20"/>
                    </a:lnTo>
                    <a:lnTo>
                      <a:pt x="139" y="14"/>
                    </a:lnTo>
                    <a:lnTo>
                      <a:pt x="133" y="9"/>
                    </a:lnTo>
                    <a:lnTo>
                      <a:pt x="126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6" name="Freeform 50"/>
              <p:cNvSpPr>
                <a:spLocks/>
              </p:cNvSpPr>
              <p:nvPr/>
            </p:nvSpPr>
            <p:spPr bwMode="auto">
              <a:xfrm>
                <a:off x="8401" y="4895"/>
                <a:ext cx="93" cy="90"/>
              </a:xfrm>
              <a:custGeom>
                <a:avLst/>
                <a:gdLst>
                  <a:gd name="T0" fmla="*/ 20 w 281"/>
                  <a:gd name="T1" fmla="*/ 3 h 270"/>
                  <a:gd name="T2" fmla="*/ 11 w 281"/>
                  <a:gd name="T3" fmla="*/ 9 h 270"/>
                  <a:gd name="T4" fmla="*/ 5 w 281"/>
                  <a:gd name="T5" fmla="*/ 17 h 270"/>
                  <a:gd name="T6" fmla="*/ 1 w 281"/>
                  <a:gd name="T7" fmla="*/ 27 h 270"/>
                  <a:gd name="T8" fmla="*/ 0 w 281"/>
                  <a:gd name="T9" fmla="*/ 38 h 270"/>
                  <a:gd name="T10" fmla="*/ 2 w 281"/>
                  <a:gd name="T11" fmla="*/ 48 h 270"/>
                  <a:gd name="T12" fmla="*/ 6 w 281"/>
                  <a:gd name="T13" fmla="*/ 59 h 270"/>
                  <a:gd name="T14" fmla="*/ 12 w 281"/>
                  <a:gd name="T15" fmla="*/ 68 h 270"/>
                  <a:gd name="T16" fmla="*/ 22 w 281"/>
                  <a:gd name="T17" fmla="*/ 77 h 270"/>
                  <a:gd name="T18" fmla="*/ 34 w 281"/>
                  <a:gd name="T19" fmla="*/ 86 h 270"/>
                  <a:gd name="T20" fmla="*/ 47 w 281"/>
                  <a:gd name="T21" fmla="*/ 90 h 270"/>
                  <a:gd name="T22" fmla="*/ 61 w 281"/>
                  <a:gd name="T23" fmla="*/ 88 h 270"/>
                  <a:gd name="T24" fmla="*/ 72 w 281"/>
                  <a:gd name="T25" fmla="*/ 80 h 270"/>
                  <a:gd name="T26" fmla="*/ 81 w 281"/>
                  <a:gd name="T27" fmla="*/ 72 h 270"/>
                  <a:gd name="T28" fmla="*/ 87 w 281"/>
                  <a:gd name="T29" fmla="*/ 63 h 270"/>
                  <a:gd name="T30" fmla="*/ 91 w 281"/>
                  <a:gd name="T31" fmla="*/ 53 h 270"/>
                  <a:gd name="T32" fmla="*/ 93 w 281"/>
                  <a:gd name="T33" fmla="*/ 45 h 270"/>
                  <a:gd name="T34" fmla="*/ 91 w 281"/>
                  <a:gd name="T35" fmla="*/ 40 h 270"/>
                  <a:gd name="T36" fmla="*/ 86 w 281"/>
                  <a:gd name="T37" fmla="*/ 39 h 270"/>
                  <a:gd name="T38" fmla="*/ 81 w 281"/>
                  <a:gd name="T39" fmla="*/ 41 h 270"/>
                  <a:gd name="T40" fmla="*/ 80 w 281"/>
                  <a:gd name="T41" fmla="*/ 44 h 270"/>
                  <a:gd name="T42" fmla="*/ 78 w 281"/>
                  <a:gd name="T43" fmla="*/ 50 h 270"/>
                  <a:gd name="T44" fmla="*/ 73 w 281"/>
                  <a:gd name="T45" fmla="*/ 60 h 270"/>
                  <a:gd name="T46" fmla="*/ 66 w 281"/>
                  <a:gd name="T47" fmla="*/ 68 h 270"/>
                  <a:gd name="T48" fmla="*/ 51 w 281"/>
                  <a:gd name="T49" fmla="*/ 71 h 270"/>
                  <a:gd name="T50" fmla="*/ 33 w 281"/>
                  <a:gd name="T51" fmla="*/ 66 h 270"/>
                  <a:gd name="T52" fmla="*/ 20 w 281"/>
                  <a:gd name="T53" fmla="*/ 54 h 270"/>
                  <a:gd name="T54" fmla="*/ 13 w 281"/>
                  <a:gd name="T55" fmla="*/ 38 h 270"/>
                  <a:gd name="T56" fmla="*/ 15 w 281"/>
                  <a:gd name="T57" fmla="*/ 25 h 270"/>
                  <a:gd name="T58" fmla="*/ 20 w 281"/>
                  <a:gd name="T59" fmla="*/ 17 h 270"/>
                  <a:gd name="T60" fmla="*/ 26 w 281"/>
                  <a:gd name="T61" fmla="*/ 10 h 270"/>
                  <a:gd name="T62" fmla="*/ 34 w 281"/>
                  <a:gd name="T63" fmla="*/ 6 h 270"/>
                  <a:gd name="T64" fmla="*/ 36 w 281"/>
                  <a:gd name="T65" fmla="*/ 2 h 270"/>
                  <a:gd name="T66" fmla="*/ 29 w 281"/>
                  <a:gd name="T67" fmla="*/ 1 h 270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281"/>
                  <a:gd name="T103" fmla="*/ 0 h 270"/>
                  <a:gd name="T104" fmla="*/ 281 w 281"/>
                  <a:gd name="T105" fmla="*/ 270 h 270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281" h="270">
                    <a:moveTo>
                      <a:pt x="75" y="5"/>
                    </a:moveTo>
                    <a:lnTo>
                      <a:pt x="61" y="10"/>
                    </a:lnTo>
                    <a:lnTo>
                      <a:pt x="47" y="19"/>
                    </a:lnTo>
                    <a:lnTo>
                      <a:pt x="34" y="28"/>
                    </a:lnTo>
                    <a:lnTo>
                      <a:pt x="24" y="39"/>
                    </a:lnTo>
                    <a:lnTo>
                      <a:pt x="15" y="52"/>
                    </a:lnTo>
                    <a:lnTo>
                      <a:pt x="8" y="65"/>
                    </a:lnTo>
                    <a:lnTo>
                      <a:pt x="3" y="81"/>
                    </a:lnTo>
                    <a:lnTo>
                      <a:pt x="0" y="97"/>
                    </a:lnTo>
                    <a:lnTo>
                      <a:pt x="0" y="114"/>
                    </a:lnTo>
                    <a:lnTo>
                      <a:pt x="2" y="130"/>
                    </a:lnTo>
                    <a:lnTo>
                      <a:pt x="6" y="145"/>
                    </a:lnTo>
                    <a:lnTo>
                      <a:pt x="12" y="161"/>
                    </a:lnTo>
                    <a:lnTo>
                      <a:pt x="18" y="176"/>
                    </a:lnTo>
                    <a:lnTo>
                      <a:pt x="27" y="191"/>
                    </a:lnTo>
                    <a:lnTo>
                      <a:pt x="37" y="204"/>
                    </a:lnTo>
                    <a:lnTo>
                      <a:pt x="49" y="217"/>
                    </a:lnTo>
                    <a:lnTo>
                      <a:pt x="65" y="232"/>
                    </a:lnTo>
                    <a:lnTo>
                      <a:pt x="83" y="245"/>
                    </a:lnTo>
                    <a:lnTo>
                      <a:pt x="102" y="258"/>
                    </a:lnTo>
                    <a:lnTo>
                      <a:pt x="122" y="266"/>
                    </a:lnTo>
                    <a:lnTo>
                      <a:pt x="143" y="270"/>
                    </a:lnTo>
                    <a:lnTo>
                      <a:pt x="165" y="270"/>
                    </a:lnTo>
                    <a:lnTo>
                      <a:pt x="185" y="265"/>
                    </a:lnTo>
                    <a:lnTo>
                      <a:pt x="206" y="252"/>
                    </a:lnTo>
                    <a:lnTo>
                      <a:pt x="219" y="240"/>
                    </a:lnTo>
                    <a:lnTo>
                      <a:pt x="232" y="229"/>
                    </a:lnTo>
                    <a:lnTo>
                      <a:pt x="244" y="216"/>
                    </a:lnTo>
                    <a:lnTo>
                      <a:pt x="254" y="203"/>
                    </a:lnTo>
                    <a:lnTo>
                      <a:pt x="263" y="189"/>
                    </a:lnTo>
                    <a:lnTo>
                      <a:pt x="270" y="174"/>
                    </a:lnTo>
                    <a:lnTo>
                      <a:pt x="276" y="158"/>
                    </a:lnTo>
                    <a:lnTo>
                      <a:pt x="279" y="141"/>
                    </a:lnTo>
                    <a:lnTo>
                      <a:pt x="281" y="134"/>
                    </a:lnTo>
                    <a:lnTo>
                      <a:pt x="279" y="127"/>
                    </a:lnTo>
                    <a:lnTo>
                      <a:pt x="275" y="121"/>
                    </a:lnTo>
                    <a:lnTo>
                      <a:pt x="268" y="117"/>
                    </a:lnTo>
                    <a:lnTo>
                      <a:pt x="259" y="117"/>
                    </a:lnTo>
                    <a:lnTo>
                      <a:pt x="251" y="118"/>
                    </a:lnTo>
                    <a:lnTo>
                      <a:pt x="245" y="122"/>
                    </a:lnTo>
                    <a:lnTo>
                      <a:pt x="243" y="130"/>
                    </a:lnTo>
                    <a:lnTo>
                      <a:pt x="243" y="133"/>
                    </a:lnTo>
                    <a:lnTo>
                      <a:pt x="240" y="140"/>
                    </a:lnTo>
                    <a:lnTo>
                      <a:pt x="235" y="151"/>
                    </a:lnTo>
                    <a:lnTo>
                      <a:pt x="229" y="164"/>
                    </a:lnTo>
                    <a:lnTo>
                      <a:pt x="222" y="179"/>
                    </a:lnTo>
                    <a:lnTo>
                      <a:pt x="210" y="191"/>
                    </a:lnTo>
                    <a:lnTo>
                      <a:pt x="199" y="203"/>
                    </a:lnTo>
                    <a:lnTo>
                      <a:pt x="182" y="210"/>
                    </a:lnTo>
                    <a:lnTo>
                      <a:pt x="154" y="212"/>
                    </a:lnTo>
                    <a:lnTo>
                      <a:pt x="127" y="207"/>
                    </a:lnTo>
                    <a:lnTo>
                      <a:pt x="100" y="197"/>
                    </a:lnTo>
                    <a:lnTo>
                      <a:pt x="78" y="181"/>
                    </a:lnTo>
                    <a:lnTo>
                      <a:pt x="59" y="163"/>
                    </a:lnTo>
                    <a:lnTo>
                      <a:pt x="46" y="140"/>
                    </a:lnTo>
                    <a:lnTo>
                      <a:pt x="40" y="114"/>
                    </a:lnTo>
                    <a:lnTo>
                      <a:pt x="40" y="87"/>
                    </a:lnTo>
                    <a:lnTo>
                      <a:pt x="44" y="74"/>
                    </a:lnTo>
                    <a:lnTo>
                      <a:pt x="50" y="62"/>
                    </a:lnTo>
                    <a:lnTo>
                      <a:pt x="59" y="51"/>
                    </a:lnTo>
                    <a:lnTo>
                      <a:pt x="69" y="41"/>
                    </a:lnTo>
                    <a:lnTo>
                      <a:pt x="80" y="31"/>
                    </a:lnTo>
                    <a:lnTo>
                      <a:pt x="91" y="23"/>
                    </a:lnTo>
                    <a:lnTo>
                      <a:pt x="102" y="19"/>
                    </a:lnTo>
                    <a:lnTo>
                      <a:pt x="112" y="16"/>
                    </a:lnTo>
                    <a:lnTo>
                      <a:pt x="110" y="5"/>
                    </a:lnTo>
                    <a:lnTo>
                      <a:pt x="102" y="0"/>
                    </a:lnTo>
                    <a:lnTo>
                      <a:pt x="88" y="2"/>
                    </a:lnTo>
                    <a:lnTo>
                      <a:pt x="75" y="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7" name="Freeform 51"/>
              <p:cNvSpPr>
                <a:spLocks/>
              </p:cNvSpPr>
              <p:nvPr/>
            </p:nvSpPr>
            <p:spPr bwMode="auto">
              <a:xfrm>
                <a:off x="8431" y="4921"/>
                <a:ext cx="5" cy="4"/>
              </a:xfrm>
              <a:custGeom>
                <a:avLst/>
                <a:gdLst>
                  <a:gd name="T0" fmla="*/ 0 w 15"/>
                  <a:gd name="T1" fmla="*/ 2 h 13"/>
                  <a:gd name="T2" fmla="*/ 1 w 15"/>
                  <a:gd name="T3" fmla="*/ 3 h 13"/>
                  <a:gd name="T4" fmla="*/ 1 w 15"/>
                  <a:gd name="T5" fmla="*/ 3 h 13"/>
                  <a:gd name="T6" fmla="*/ 2 w 15"/>
                  <a:gd name="T7" fmla="*/ 4 h 13"/>
                  <a:gd name="T8" fmla="*/ 3 w 15"/>
                  <a:gd name="T9" fmla="*/ 4 h 13"/>
                  <a:gd name="T10" fmla="*/ 4 w 15"/>
                  <a:gd name="T11" fmla="*/ 4 h 13"/>
                  <a:gd name="T12" fmla="*/ 5 w 15"/>
                  <a:gd name="T13" fmla="*/ 3 h 13"/>
                  <a:gd name="T14" fmla="*/ 5 w 15"/>
                  <a:gd name="T15" fmla="*/ 3 h 13"/>
                  <a:gd name="T16" fmla="*/ 5 w 15"/>
                  <a:gd name="T17" fmla="*/ 2 h 13"/>
                  <a:gd name="T18" fmla="*/ 5 w 15"/>
                  <a:gd name="T19" fmla="*/ 1 h 13"/>
                  <a:gd name="T20" fmla="*/ 5 w 15"/>
                  <a:gd name="T21" fmla="*/ 0 h 13"/>
                  <a:gd name="T22" fmla="*/ 4 w 15"/>
                  <a:gd name="T23" fmla="*/ 0 h 13"/>
                  <a:gd name="T24" fmla="*/ 3 w 15"/>
                  <a:gd name="T25" fmla="*/ 0 h 13"/>
                  <a:gd name="T26" fmla="*/ 2 w 15"/>
                  <a:gd name="T27" fmla="*/ 0 h 13"/>
                  <a:gd name="T28" fmla="*/ 1 w 15"/>
                  <a:gd name="T29" fmla="*/ 0 h 13"/>
                  <a:gd name="T30" fmla="*/ 1 w 15"/>
                  <a:gd name="T31" fmla="*/ 1 h 13"/>
                  <a:gd name="T32" fmla="*/ 0 w 15"/>
                  <a:gd name="T33" fmla="*/ 2 h 13"/>
                  <a:gd name="T34" fmla="*/ 0 w 15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5"/>
                  <a:gd name="T55" fmla="*/ 0 h 13"/>
                  <a:gd name="T56" fmla="*/ 15 w 15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5" h="13">
                    <a:moveTo>
                      <a:pt x="0" y="6"/>
                    </a:moveTo>
                    <a:lnTo>
                      <a:pt x="2" y="9"/>
                    </a:lnTo>
                    <a:lnTo>
                      <a:pt x="3" y="11"/>
                    </a:lnTo>
                    <a:lnTo>
                      <a:pt x="5" y="13"/>
                    </a:lnTo>
                    <a:lnTo>
                      <a:pt x="8" y="13"/>
                    </a:lnTo>
                    <a:lnTo>
                      <a:pt x="11" y="13"/>
                    </a:lnTo>
                    <a:lnTo>
                      <a:pt x="14" y="11"/>
                    </a:lnTo>
                    <a:lnTo>
                      <a:pt x="15" y="9"/>
                    </a:lnTo>
                    <a:lnTo>
                      <a:pt x="15" y="6"/>
                    </a:lnTo>
                    <a:lnTo>
                      <a:pt x="15" y="4"/>
                    </a:lnTo>
                    <a:lnTo>
                      <a:pt x="14" y="1"/>
                    </a:lnTo>
                    <a:lnTo>
                      <a:pt x="11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3" y="1"/>
                    </a:lnTo>
                    <a:lnTo>
                      <a:pt x="2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8" name="Freeform 52"/>
              <p:cNvSpPr>
                <a:spLocks/>
              </p:cNvSpPr>
              <p:nvPr/>
            </p:nvSpPr>
            <p:spPr bwMode="auto">
              <a:xfrm>
                <a:off x="8447" y="4911"/>
                <a:ext cx="6" cy="6"/>
              </a:xfrm>
              <a:custGeom>
                <a:avLst/>
                <a:gdLst>
                  <a:gd name="T0" fmla="*/ 0 w 17"/>
                  <a:gd name="T1" fmla="*/ 3 h 17"/>
                  <a:gd name="T2" fmla="*/ 0 w 17"/>
                  <a:gd name="T3" fmla="*/ 5 h 17"/>
                  <a:gd name="T4" fmla="*/ 1 w 17"/>
                  <a:gd name="T5" fmla="*/ 5 h 17"/>
                  <a:gd name="T6" fmla="*/ 2 w 17"/>
                  <a:gd name="T7" fmla="*/ 6 h 17"/>
                  <a:gd name="T8" fmla="*/ 3 w 17"/>
                  <a:gd name="T9" fmla="*/ 6 h 17"/>
                  <a:gd name="T10" fmla="*/ 5 w 17"/>
                  <a:gd name="T11" fmla="*/ 6 h 17"/>
                  <a:gd name="T12" fmla="*/ 6 w 17"/>
                  <a:gd name="T13" fmla="*/ 5 h 17"/>
                  <a:gd name="T14" fmla="*/ 6 w 17"/>
                  <a:gd name="T15" fmla="*/ 5 h 17"/>
                  <a:gd name="T16" fmla="*/ 6 w 17"/>
                  <a:gd name="T17" fmla="*/ 3 h 17"/>
                  <a:gd name="T18" fmla="*/ 6 w 17"/>
                  <a:gd name="T19" fmla="*/ 2 h 17"/>
                  <a:gd name="T20" fmla="*/ 6 w 17"/>
                  <a:gd name="T21" fmla="*/ 1 h 17"/>
                  <a:gd name="T22" fmla="*/ 5 w 17"/>
                  <a:gd name="T23" fmla="*/ 1 h 17"/>
                  <a:gd name="T24" fmla="*/ 3 w 17"/>
                  <a:gd name="T25" fmla="*/ 0 h 17"/>
                  <a:gd name="T26" fmla="*/ 2 w 17"/>
                  <a:gd name="T27" fmla="*/ 1 h 17"/>
                  <a:gd name="T28" fmla="*/ 1 w 17"/>
                  <a:gd name="T29" fmla="*/ 1 h 17"/>
                  <a:gd name="T30" fmla="*/ 0 w 17"/>
                  <a:gd name="T31" fmla="*/ 2 h 17"/>
                  <a:gd name="T32" fmla="*/ 0 w 17"/>
                  <a:gd name="T33" fmla="*/ 3 h 17"/>
                  <a:gd name="T34" fmla="*/ 0 w 17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7"/>
                  <a:gd name="T55" fmla="*/ 0 h 17"/>
                  <a:gd name="T56" fmla="*/ 17 w 17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7" h="17">
                    <a:moveTo>
                      <a:pt x="0" y="9"/>
                    </a:moveTo>
                    <a:lnTo>
                      <a:pt x="1" y="13"/>
                    </a:lnTo>
                    <a:lnTo>
                      <a:pt x="3" y="15"/>
                    </a:lnTo>
                    <a:lnTo>
                      <a:pt x="6" y="17"/>
                    </a:lnTo>
                    <a:lnTo>
                      <a:pt x="9" y="17"/>
                    </a:lnTo>
                    <a:lnTo>
                      <a:pt x="13" y="17"/>
                    </a:lnTo>
                    <a:lnTo>
                      <a:pt x="16" y="15"/>
                    </a:lnTo>
                    <a:lnTo>
                      <a:pt x="17" y="13"/>
                    </a:lnTo>
                    <a:lnTo>
                      <a:pt x="17" y="9"/>
                    </a:lnTo>
                    <a:lnTo>
                      <a:pt x="17" y="6"/>
                    </a:lnTo>
                    <a:lnTo>
                      <a:pt x="16" y="3"/>
                    </a:lnTo>
                    <a:lnTo>
                      <a:pt x="13" y="2"/>
                    </a:lnTo>
                    <a:lnTo>
                      <a:pt x="9" y="0"/>
                    </a:lnTo>
                    <a:lnTo>
                      <a:pt x="6" y="2"/>
                    </a:lnTo>
                    <a:lnTo>
                      <a:pt x="3" y="3"/>
                    </a:lnTo>
                    <a:lnTo>
                      <a:pt x="1" y="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79" name="Freeform 53"/>
              <p:cNvSpPr>
                <a:spLocks/>
              </p:cNvSpPr>
              <p:nvPr/>
            </p:nvSpPr>
            <p:spPr bwMode="auto">
              <a:xfrm>
                <a:off x="8468" y="4904"/>
                <a:ext cx="3" cy="3"/>
              </a:xfrm>
              <a:custGeom>
                <a:avLst/>
                <a:gdLst>
                  <a:gd name="T0" fmla="*/ 0 w 9"/>
                  <a:gd name="T1" fmla="*/ 1 h 9"/>
                  <a:gd name="T2" fmla="*/ 0 w 9"/>
                  <a:gd name="T3" fmla="*/ 2 h 9"/>
                  <a:gd name="T4" fmla="*/ 0 w 9"/>
                  <a:gd name="T5" fmla="*/ 2 h 9"/>
                  <a:gd name="T6" fmla="*/ 1 w 9"/>
                  <a:gd name="T7" fmla="*/ 3 h 9"/>
                  <a:gd name="T8" fmla="*/ 1 w 9"/>
                  <a:gd name="T9" fmla="*/ 3 h 9"/>
                  <a:gd name="T10" fmla="*/ 2 w 9"/>
                  <a:gd name="T11" fmla="*/ 3 h 9"/>
                  <a:gd name="T12" fmla="*/ 2 w 9"/>
                  <a:gd name="T13" fmla="*/ 2 h 9"/>
                  <a:gd name="T14" fmla="*/ 3 w 9"/>
                  <a:gd name="T15" fmla="*/ 2 h 9"/>
                  <a:gd name="T16" fmla="*/ 3 w 9"/>
                  <a:gd name="T17" fmla="*/ 1 h 9"/>
                  <a:gd name="T18" fmla="*/ 3 w 9"/>
                  <a:gd name="T19" fmla="*/ 1 h 9"/>
                  <a:gd name="T20" fmla="*/ 2 w 9"/>
                  <a:gd name="T21" fmla="*/ 1 h 9"/>
                  <a:gd name="T22" fmla="*/ 2 w 9"/>
                  <a:gd name="T23" fmla="*/ 0 h 9"/>
                  <a:gd name="T24" fmla="*/ 1 w 9"/>
                  <a:gd name="T25" fmla="*/ 0 h 9"/>
                  <a:gd name="T26" fmla="*/ 1 w 9"/>
                  <a:gd name="T27" fmla="*/ 0 h 9"/>
                  <a:gd name="T28" fmla="*/ 0 w 9"/>
                  <a:gd name="T29" fmla="*/ 1 h 9"/>
                  <a:gd name="T30" fmla="*/ 0 w 9"/>
                  <a:gd name="T31" fmla="*/ 1 h 9"/>
                  <a:gd name="T32" fmla="*/ 0 w 9"/>
                  <a:gd name="T33" fmla="*/ 1 h 9"/>
                  <a:gd name="T34" fmla="*/ 0 w 9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9"/>
                  <a:gd name="T55" fmla="*/ 0 h 9"/>
                  <a:gd name="T56" fmla="*/ 9 w 9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9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6" y="9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9" y="4"/>
                    </a:lnTo>
                    <a:lnTo>
                      <a:pt x="9" y="3"/>
                    </a:lnTo>
                    <a:lnTo>
                      <a:pt x="7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0" name="Freeform 54"/>
              <p:cNvSpPr>
                <a:spLocks/>
              </p:cNvSpPr>
              <p:nvPr/>
            </p:nvSpPr>
            <p:spPr bwMode="auto">
              <a:xfrm>
                <a:off x="8459" y="4927"/>
                <a:ext cx="2" cy="3"/>
              </a:xfrm>
              <a:custGeom>
                <a:avLst/>
                <a:gdLst>
                  <a:gd name="T0" fmla="*/ 0 w 7"/>
                  <a:gd name="T1" fmla="*/ 2 h 8"/>
                  <a:gd name="T2" fmla="*/ 0 w 7"/>
                  <a:gd name="T3" fmla="*/ 2 h 8"/>
                  <a:gd name="T4" fmla="*/ 0 w 7"/>
                  <a:gd name="T5" fmla="*/ 3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3 h 8"/>
                  <a:gd name="T14" fmla="*/ 2 w 7"/>
                  <a:gd name="T15" fmla="*/ 2 h 8"/>
                  <a:gd name="T16" fmla="*/ 2 w 7"/>
                  <a:gd name="T17" fmla="*/ 2 h 8"/>
                  <a:gd name="T18" fmla="*/ 2 w 7"/>
                  <a:gd name="T19" fmla="*/ 1 h 8"/>
                  <a:gd name="T20" fmla="*/ 2 w 7"/>
                  <a:gd name="T21" fmla="*/ 0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0 h 8"/>
                  <a:gd name="T30" fmla="*/ 0 w 7"/>
                  <a:gd name="T31" fmla="*/ 1 h 8"/>
                  <a:gd name="T32" fmla="*/ 0 w 7"/>
                  <a:gd name="T33" fmla="*/ 2 h 8"/>
                  <a:gd name="T34" fmla="*/ 0 w 7"/>
                  <a:gd name="T35" fmla="*/ 2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4"/>
                    </a:moveTo>
                    <a:lnTo>
                      <a:pt x="0" y="5"/>
                    </a:lnTo>
                    <a:lnTo>
                      <a:pt x="1" y="7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7"/>
                    </a:lnTo>
                    <a:lnTo>
                      <a:pt x="7" y="5"/>
                    </a:lnTo>
                    <a:lnTo>
                      <a:pt x="7" y="4"/>
                    </a:lnTo>
                    <a:lnTo>
                      <a:pt x="7" y="2"/>
                    </a:lnTo>
                    <a:lnTo>
                      <a:pt x="6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2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1" name="Freeform 55"/>
              <p:cNvSpPr>
                <a:spLocks/>
              </p:cNvSpPr>
              <p:nvPr/>
            </p:nvSpPr>
            <p:spPr bwMode="auto">
              <a:xfrm>
                <a:off x="8443" y="4936"/>
                <a:ext cx="2" cy="3"/>
              </a:xfrm>
              <a:custGeom>
                <a:avLst/>
                <a:gdLst>
                  <a:gd name="T0" fmla="*/ 0 w 7"/>
                  <a:gd name="T1" fmla="*/ 1 h 9"/>
                  <a:gd name="T2" fmla="*/ 0 w 7"/>
                  <a:gd name="T3" fmla="*/ 2 h 9"/>
                  <a:gd name="T4" fmla="*/ 0 w 7"/>
                  <a:gd name="T5" fmla="*/ 2 h 9"/>
                  <a:gd name="T6" fmla="*/ 1 w 7"/>
                  <a:gd name="T7" fmla="*/ 3 h 9"/>
                  <a:gd name="T8" fmla="*/ 1 w 7"/>
                  <a:gd name="T9" fmla="*/ 3 h 9"/>
                  <a:gd name="T10" fmla="*/ 1 w 7"/>
                  <a:gd name="T11" fmla="*/ 3 h 9"/>
                  <a:gd name="T12" fmla="*/ 1 w 7"/>
                  <a:gd name="T13" fmla="*/ 2 h 9"/>
                  <a:gd name="T14" fmla="*/ 2 w 7"/>
                  <a:gd name="T15" fmla="*/ 2 h 9"/>
                  <a:gd name="T16" fmla="*/ 2 w 7"/>
                  <a:gd name="T17" fmla="*/ 1 h 9"/>
                  <a:gd name="T18" fmla="*/ 2 w 7"/>
                  <a:gd name="T19" fmla="*/ 1 h 9"/>
                  <a:gd name="T20" fmla="*/ 1 w 7"/>
                  <a:gd name="T21" fmla="*/ 0 h 9"/>
                  <a:gd name="T22" fmla="*/ 1 w 7"/>
                  <a:gd name="T23" fmla="*/ 0 h 9"/>
                  <a:gd name="T24" fmla="*/ 1 w 7"/>
                  <a:gd name="T25" fmla="*/ 0 h 9"/>
                  <a:gd name="T26" fmla="*/ 1 w 7"/>
                  <a:gd name="T27" fmla="*/ 0 h 9"/>
                  <a:gd name="T28" fmla="*/ 0 w 7"/>
                  <a:gd name="T29" fmla="*/ 0 h 9"/>
                  <a:gd name="T30" fmla="*/ 0 w 7"/>
                  <a:gd name="T31" fmla="*/ 1 h 9"/>
                  <a:gd name="T32" fmla="*/ 0 w 7"/>
                  <a:gd name="T33" fmla="*/ 1 h 9"/>
                  <a:gd name="T34" fmla="*/ 0 w 7"/>
                  <a:gd name="T35" fmla="*/ 1 h 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9"/>
                  <a:gd name="T56" fmla="*/ 7 w 7"/>
                  <a:gd name="T57" fmla="*/ 9 h 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9">
                    <a:moveTo>
                      <a:pt x="0" y="4"/>
                    </a:moveTo>
                    <a:lnTo>
                      <a:pt x="0" y="6"/>
                    </a:lnTo>
                    <a:lnTo>
                      <a:pt x="1" y="7"/>
                    </a:lnTo>
                    <a:lnTo>
                      <a:pt x="3" y="9"/>
                    </a:lnTo>
                    <a:lnTo>
                      <a:pt x="4" y="9"/>
                    </a:lnTo>
                    <a:lnTo>
                      <a:pt x="5" y="9"/>
                    </a:lnTo>
                    <a:lnTo>
                      <a:pt x="5" y="7"/>
                    </a:lnTo>
                    <a:lnTo>
                      <a:pt x="7" y="6"/>
                    </a:lnTo>
                    <a:lnTo>
                      <a:pt x="7" y="4"/>
                    </a:lnTo>
                    <a:lnTo>
                      <a:pt x="7" y="3"/>
                    </a:lnTo>
                    <a:lnTo>
                      <a:pt x="5" y="1"/>
                    </a:lnTo>
                    <a:lnTo>
                      <a:pt x="5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3"/>
                    </a:lnTo>
                    <a:lnTo>
                      <a:pt x="0" y="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2" name="Freeform 56"/>
              <p:cNvSpPr>
                <a:spLocks/>
              </p:cNvSpPr>
              <p:nvPr/>
            </p:nvSpPr>
            <p:spPr bwMode="auto">
              <a:xfrm>
                <a:off x="8474" y="4919"/>
                <a:ext cx="7" cy="6"/>
              </a:xfrm>
              <a:custGeom>
                <a:avLst/>
                <a:gdLst>
                  <a:gd name="T0" fmla="*/ 0 w 20"/>
                  <a:gd name="T1" fmla="*/ 3 h 20"/>
                  <a:gd name="T2" fmla="*/ 0 w 20"/>
                  <a:gd name="T3" fmla="*/ 4 h 20"/>
                  <a:gd name="T4" fmla="*/ 1 w 20"/>
                  <a:gd name="T5" fmla="*/ 5 h 20"/>
                  <a:gd name="T6" fmla="*/ 2 w 20"/>
                  <a:gd name="T7" fmla="*/ 6 h 20"/>
                  <a:gd name="T8" fmla="*/ 4 w 20"/>
                  <a:gd name="T9" fmla="*/ 6 h 20"/>
                  <a:gd name="T10" fmla="*/ 5 w 20"/>
                  <a:gd name="T11" fmla="*/ 6 h 20"/>
                  <a:gd name="T12" fmla="*/ 6 w 20"/>
                  <a:gd name="T13" fmla="*/ 5 h 20"/>
                  <a:gd name="T14" fmla="*/ 7 w 20"/>
                  <a:gd name="T15" fmla="*/ 4 h 20"/>
                  <a:gd name="T16" fmla="*/ 7 w 20"/>
                  <a:gd name="T17" fmla="*/ 3 h 20"/>
                  <a:gd name="T18" fmla="*/ 7 w 20"/>
                  <a:gd name="T19" fmla="*/ 2 h 20"/>
                  <a:gd name="T20" fmla="*/ 6 w 20"/>
                  <a:gd name="T21" fmla="*/ 1 h 20"/>
                  <a:gd name="T22" fmla="*/ 5 w 20"/>
                  <a:gd name="T23" fmla="*/ 0 h 20"/>
                  <a:gd name="T24" fmla="*/ 4 w 20"/>
                  <a:gd name="T25" fmla="*/ 0 h 20"/>
                  <a:gd name="T26" fmla="*/ 2 w 20"/>
                  <a:gd name="T27" fmla="*/ 0 h 20"/>
                  <a:gd name="T28" fmla="*/ 1 w 20"/>
                  <a:gd name="T29" fmla="*/ 1 h 20"/>
                  <a:gd name="T30" fmla="*/ 0 w 20"/>
                  <a:gd name="T31" fmla="*/ 2 h 20"/>
                  <a:gd name="T32" fmla="*/ 0 w 20"/>
                  <a:gd name="T33" fmla="*/ 3 h 20"/>
                  <a:gd name="T34" fmla="*/ 0 w 20"/>
                  <a:gd name="T35" fmla="*/ 3 h 20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20"/>
                  <a:gd name="T55" fmla="*/ 0 h 20"/>
                  <a:gd name="T56" fmla="*/ 20 w 20"/>
                  <a:gd name="T57" fmla="*/ 20 h 20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20" h="20">
                    <a:moveTo>
                      <a:pt x="0" y="10"/>
                    </a:moveTo>
                    <a:lnTo>
                      <a:pt x="0" y="15"/>
                    </a:lnTo>
                    <a:lnTo>
                      <a:pt x="2" y="17"/>
                    </a:lnTo>
                    <a:lnTo>
                      <a:pt x="5" y="20"/>
                    </a:lnTo>
                    <a:lnTo>
                      <a:pt x="10" y="20"/>
                    </a:lnTo>
                    <a:lnTo>
                      <a:pt x="14" y="20"/>
                    </a:lnTo>
                    <a:lnTo>
                      <a:pt x="17" y="17"/>
                    </a:lnTo>
                    <a:lnTo>
                      <a:pt x="20" y="15"/>
                    </a:lnTo>
                    <a:lnTo>
                      <a:pt x="20" y="10"/>
                    </a:lnTo>
                    <a:lnTo>
                      <a:pt x="20" y="6"/>
                    </a:lnTo>
                    <a:lnTo>
                      <a:pt x="17" y="3"/>
                    </a:lnTo>
                    <a:lnTo>
                      <a:pt x="14" y="0"/>
                    </a:lnTo>
                    <a:lnTo>
                      <a:pt x="10" y="0"/>
                    </a:lnTo>
                    <a:lnTo>
                      <a:pt x="5" y="0"/>
                    </a:lnTo>
                    <a:lnTo>
                      <a:pt x="2" y="3"/>
                    </a:lnTo>
                    <a:lnTo>
                      <a:pt x="0" y="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3" name="Freeform 57"/>
              <p:cNvSpPr>
                <a:spLocks/>
              </p:cNvSpPr>
              <p:nvPr/>
            </p:nvSpPr>
            <p:spPr bwMode="auto">
              <a:xfrm>
                <a:off x="8332" y="4713"/>
                <a:ext cx="4" cy="4"/>
              </a:xfrm>
              <a:custGeom>
                <a:avLst/>
                <a:gdLst>
                  <a:gd name="T0" fmla="*/ 0 w 12"/>
                  <a:gd name="T1" fmla="*/ 2 h 13"/>
                  <a:gd name="T2" fmla="*/ 0 w 12"/>
                  <a:gd name="T3" fmla="*/ 3 h 13"/>
                  <a:gd name="T4" fmla="*/ 1 w 12"/>
                  <a:gd name="T5" fmla="*/ 4 h 13"/>
                  <a:gd name="T6" fmla="*/ 1 w 12"/>
                  <a:gd name="T7" fmla="*/ 4 h 13"/>
                  <a:gd name="T8" fmla="*/ 2 w 12"/>
                  <a:gd name="T9" fmla="*/ 4 h 13"/>
                  <a:gd name="T10" fmla="*/ 3 w 12"/>
                  <a:gd name="T11" fmla="*/ 4 h 13"/>
                  <a:gd name="T12" fmla="*/ 4 w 12"/>
                  <a:gd name="T13" fmla="*/ 4 h 13"/>
                  <a:gd name="T14" fmla="*/ 4 w 12"/>
                  <a:gd name="T15" fmla="*/ 3 h 13"/>
                  <a:gd name="T16" fmla="*/ 4 w 12"/>
                  <a:gd name="T17" fmla="*/ 2 h 13"/>
                  <a:gd name="T18" fmla="*/ 4 w 12"/>
                  <a:gd name="T19" fmla="*/ 2 h 13"/>
                  <a:gd name="T20" fmla="*/ 4 w 12"/>
                  <a:gd name="T21" fmla="*/ 1 h 13"/>
                  <a:gd name="T22" fmla="*/ 3 w 12"/>
                  <a:gd name="T23" fmla="*/ 0 h 13"/>
                  <a:gd name="T24" fmla="*/ 2 w 12"/>
                  <a:gd name="T25" fmla="*/ 0 h 13"/>
                  <a:gd name="T26" fmla="*/ 1 w 12"/>
                  <a:gd name="T27" fmla="*/ 0 h 13"/>
                  <a:gd name="T28" fmla="*/ 1 w 12"/>
                  <a:gd name="T29" fmla="*/ 1 h 13"/>
                  <a:gd name="T30" fmla="*/ 0 w 12"/>
                  <a:gd name="T31" fmla="*/ 2 h 13"/>
                  <a:gd name="T32" fmla="*/ 0 w 12"/>
                  <a:gd name="T33" fmla="*/ 2 h 13"/>
                  <a:gd name="T34" fmla="*/ 0 w 12"/>
                  <a:gd name="T35" fmla="*/ 2 h 13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3"/>
                  <a:gd name="T56" fmla="*/ 12 w 12"/>
                  <a:gd name="T57" fmla="*/ 13 h 13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3">
                    <a:moveTo>
                      <a:pt x="0" y="7"/>
                    </a:moveTo>
                    <a:lnTo>
                      <a:pt x="0" y="9"/>
                    </a:lnTo>
                    <a:lnTo>
                      <a:pt x="2" y="12"/>
                    </a:lnTo>
                    <a:lnTo>
                      <a:pt x="3" y="13"/>
                    </a:lnTo>
                    <a:lnTo>
                      <a:pt x="6" y="13"/>
                    </a:lnTo>
                    <a:lnTo>
                      <a:pt x="9" y="13"/>
                    </a:lnTo>
                    <a:lnTo>
                      <a:pt x="11" y="12"/>
                    </a:lnTo>
                    <a:lnTo>
                      <a:pt x="12" y="9"/>
                    </a:lnTo>
                    <a:lnTo>
                      <a:pt x="12" y="7"/>
                    </a:lnTo>
                    <a:lnTo>
                      <a:pt x="12" y="5"/>
                    </a:lnTo>
                    <a:lnTo>
                      <a:pt x="11" y="2"/>
                    </a:lnTo>
                    <a:lnTo>
                      <a:pt x="9" y="0"/>
                    </a:lnTo>
                    <a:lnTo>
                      <a:pt x="6" y="0"/>
                    </a:lnTo>
                    <a:lnTo>
                      <a:pt x="3" y="0"/>
                    </a:lnTo>
                    <a:lnTo>
                      <a:pt x="2" y="2"/>
                    </a:lnTo>
                    <a:lnTo>
                      <a:pt x="0" y="5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4" name="Freeform 58"/>
              <p:cNvSpPr>
                <a:spLocks/>
              </p:cNvSpPr>
              <p:nvPr/>
            </p:nvSpPr>
            <p:spPr bwMode="auto">
              <a:xfrm>
                <a:off x="8349" y="4708"/>
                <a:ext cx="5" cy="4"/>
              </a:xfrm>
              <a:custGeom>
                <a:avLst/>
                <a:gdLst>
                  <a:gd name="T0" fmla="*/ 0 w 13"/>
                  <a:gd name="T1" fmla="*/ 2 h 12"/>
                  <a:gd name="T2" fmla="*/ 0 w 13"/>
                  <a:gd name="T3" fmla="*/ 3 h 12"/>
                  <a:gd name="T4" fmla="*/ 1 w 13"/>
                  <a:gd name="T5" fmla="*/ 3 h 12"/>
                  <a:gd name="T6" fmla="*/ 2 w 13"/>
                  <a:gd name="T7" fmla="*/ 4 h 12"/>
                  <a:gd name="T8" fmla="*/ 3 w 13"/>
                  <a:gd name="T9" fmla="*/ 4 h 12"/>
                  <a:gd name="T10" fmla="*/ 3 w 13"/>
                  <a:gd name="T11" fmla="*/ 4 h 12"/>
                  <a:gd name="T12" fmla="*/ 5 w 13"/>
                  <a:gd name="T13" fmla="*/ 3 h 12"/>
                  <a:gd name="T14" fmla="*/ 5 w 13"/>
                  <a:gd name="T15" fmla="*/ 3 h 12"/>
                  <a:gd name="T16" fmla="*/ 5 w 13"/>
                  <a:gd name="T17" fmla="*/ 2 h 12"/>
                  <a:gd name="T18" fmla="*/ 5 w 13"/>
                  <a:gd name="T19" fmla="*/ 1 h 12"/>
                  <a:gd name="T20" fmla="*/ 5 w 13"/>
                  <a:gd name="T21" fmla="*/ 1 h 12"/>
                  <a:gd name="T22" fmla="*/ 3 w 13"/>
                  <a:gd name="T23" fmla="*/ 0 h 12"/>
                  <a:gd name="T24" fmla="*/ 3 w 13"/>
                  <a:gd name="T25" fmla="*/ 0 h 12"/>
                  <a:gd name="T26" fmla="*/ 2 w 13"/>
                  <a:gd name="T27" fmla="*/ 0 h 12"/>
                  <a:gd name="T28" fmla="*/ 1 w 13"/>
                  <a:gd name="T29" fmla="*/ 1 h 12"/>
                  <a:gd name="T30" fmla="*/ 0 w 13"/>
                  <a:gd name="T31" fmla="*/ 1 h 12"/>
                  <a:gd name="T32" fmla="*/ 0 w 13"/>
                  <a:gd name="T33" fmla="*/ 2 h 12"/>
                  <a:gd name="T34" fmla="*/ 0 w 13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3"/>
                  <a:gd name="T55" fmla="*/ 0 h 12"/>
                  <a:gd name="T56" fmla="*/ 13 w 13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3" h="12">
                    <a:moveTo>
                      <a:pt x="0" y="6"/>
                    </a:moveTo>
                    <a:lnTo>
                      <a:pt x="0" y="8"/>
                    </a:lnTo>
                    <a:lnTo>
                      <a:pt x="2" y="10"/>
                    </a:lnTo>
                    <a:lnTo>
                      <a:pt x="5" y="12"/>
                    </a:lnTo>
                    <a:lnTo>
                      <a:pt x="8" y="12"/>
                    </a:lnTo>
                    <a:lnTo>
                      <a:pt x="9" y="12"/>
                    </a:lnTo>
                    <a:lnTo>
                      <a:pt x="12" y="10"/>
                    </a:lnTo>
                    <a:lnTo>
                      <a:pt x="13" y="8"/>
                    </a:lnTo>
                    <a:lnTo>
                      <a:pt x="13" y="6"/>
                    </a:lnTo>
                    <a:lnTo>
                      <a:pt x="13" y="3"/>
                    </a:lnTo>
                    <a:lnTo>
                      <a:pt x="12" y="2"/>
                    </a:lnTo>
                    <a:lnTo>
                      <a:pt x="9" y="0"/>
                    </a:lnTo>
                    <a:lnTo>
                      <a:pt x="8" y="0"/>
                    </a:lnTo>
                    <a:lnTo>
                      <a:pt x="5" y="0"/>
                    </a:lnTo>
                    <a:lnTo>
                      <a:pt x="2" y="2"/>
                    </a:lnTo>
                    <a:lnTo>
                      <a:pt x="0" y="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5" name="Freeform 59"/>
              <p:cNvSpPr>
                <a:spLocks/>
              </p:cNvSpPr>
              <p:nvPr/>
            </p:nvSpPr>
            <p:spPr bwMode="auto">
              <a:xfrm>
                <a:off x="8366" y="4704"/>
                <a:ext cx="2" cy="2"/>
              </a:xfrm>
              <a:custGeom>
                <a:avLst/>
                <a:gdLst>
                  <a:gd name="T0" fmla="*/ 0 w 8"/>
                  <a:gd name="T1" fmla="*/ 1 h 7"/>
                  <a:gd name="T2" fmla="*/ 0 w 8"/>
                  <a:gd name="T3" fmla="*/ 1 h 7"/>
                  <a:gd name="T4" fmla="*/ 0 w 8"/>
                  <a:gd name="T5" fmla="*/ 2 h 7"/>
                  <a:gd name="T6" fmla="*/ 1 w 8"/>
                  <a:gd name="T7" fmla="*/ 2 h 7"/>
                  <a:gd name="T8" fmla="*/ 1 w 8"/>
                  <a:gd name="T9" fmla="*/ 2 h 7"/>
                  <a:gd name="T10" fmla="*/ 1 w 8"/>
                  <a:gd name="T11" fmla="*/ 2 h 7"/>
                  <a:gd name="T12" fmla="*/ 2 w 8"/>
                  <a:gd name="T13" fmla="*/ 2 h 7"/>
                  <a:gd name="T14" fmla="*/ 2 w 8"/>
                  <a:gd name="T15" fmla="*/ 1 h 7"/>
                  <a:gd name="T16" fmla="*/ 2 w 8"/>
                  <a:gd name="T17" fmla="*/ 1 h 7"/>
                  <a:gd name="T18" fmla="*/ 2 w 8"/>
                  <a:gd name="T19" fmla="*/ 0 h 7"/>
                  <a:gd name="T20" fmla="*/ 2 w 8"/>
                  <a:gd name="T21" fmla="*/ 0 h 7"/>
                  <a:gd name="T22" fmla="*/ 1 w 8"/>
                  <a:gd name="T23" fmla="*/ 0 h 7"/>
                  <a:gd name="T24" fmla="*/ 1 w 8"/>
                  <a:gd name="T25" fmla="*/ 0 h 7"/>
                  <a:gd name="T26" fmla="*/ 1 w 8"/>
                  <a:gd name="T27" fmla="*/ 0 h 7"/>
                  <a:gd name="T28" fmla="*/ 0 w 8"/>
                  <a:gd name="T29" fmla="*/ 0 h 7"/>
                  <a:gd name="T30" fmla="*/ 0 w 8"/>
                  <a:gd name="T31" fmla="*/ 0 h 7"/>
                  <a:gd name="T32" fmla="*/ 0 w 8"/>
                  <a:gd name="T33" fmla="*/ 1 h 7"/>
                  <a:gd name="T34" fmla="*/ 0 w 8"/>
                  <a:gd name="T35" fmla="*/ 1 h 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"/>
                  <a:gd name="T55" fmla="*/ 0 h 7"/>
                  <a:gd name="T56" fmla="*/ 8 w 8"/>
                  <a:gd name="T57" fmla="*/ 7 h 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" h="7">
                    <a:moveTo>
                      <a:pt x="0" y="3"/>
                    </a:moveTo>
                    <a:lnTo>
                      <a:pt x="0" y="4"/>
                    </a:lnTo>
                    <a:lnTo>
                      <a:pt x="1" y="6"/>
                    </a:lnTo>
                    <a:lnTo>
                      <a:pt x="3" y="7"/>
                    </a:lnTo>
                    <a:lnTo>
                      <a:pt x="4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4"/>
                    </a:lnTo>
                    <a:lnTo>
                      <a:pt x="8" y="3"/>
                    </a:lnTo>
                    <a:lnTo>
                      <a:pt x="8" y="1"/>
                    </a:lnTo>
                    <a:lnTo>
                      <a:pt x="7" y="1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1"/>
                    </a:lnTo>
                    <a:lnTo>
                      <a:pt x="0" y="1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6" name="Freeform 60"/>
              <p:cNvSpPr>
                <a:spLocks/>
              </p:cNvSpPr>
              <p:nvPr/>
            </p:nvSpPr>
            <p:spPr bwMode="auto">
              <a:xfrm>
                <a:off x="8338" y="4730"/>
                <a:ext cx="2" cy="3"/>
              </a:xfrm>
              <a:custGeom>
                <a:avLst/>
                <a:gdLst>
                  <a:gd name="T0" fmla="*/ 0 w 7"/>
                  <a:gd name="T1" fmla="*/ 1 h 8"/>
                  <a:gd name="T2" fmla="*/ 0 w 7"/>
                  <a:gd name="T3" fmla="*/ 2 h 8"/>
                  <a:gd name="T4" fmla="*/ 0 w 7"/>
                  <a:gd name="T5" fmla="*/ 2 h 8"/>
                  <a:gd name="T6" fmla="*/ 1 w 7"/>
                  <a:gd name="T7" fmla="*/ 3 h 8"/>
                  <a:gd name="T8" fmla="*/ 1 w 7"/>
                  <a:gd name="T9" fmla="*/ 3 h 8"/>
                  <a:gd name="T10" fmla="*/ 2 w 7"/>
                  <a:gd name="T11" fmla="*/ 3 h 8"/>
                  <a:gd name="T12" fmla="*/ 2 w 7"/>
                  <a:gd name="T13" fmla="*/ 2 h 8"/>
                  <a:gd name="T14" fmla="*/ 2 w 7"/>
                  <a:gd name="T15" fmla="*/ 2 h 8"/>
                  <a:gd name="T16" fmla="*/ 2 w 7"/>
                  <a:gd name="T17" fmla="*/ 1 h 8"/>
                  <a:gd name="T18" fmla="*/ 2 w 7"/>
                  <a:gd name="T19" fmla="*/ 1 h 8"/>
                  <a:gd name="T20" fmla="*/ 2 w 7"/>
                  <a:gd name="T21" fmla="*/ 1 h 8"/>
                  <a:gd name="T22" fmla="*/ 2 w 7"/>
                  <a:gd name="T23" fmla="*/ 0 h 8"/>
                  <a:gd name="T24" fmla="*/ 1 w 7"/>
                  <a:gd name="T25" fmla="*/ 0 h 8"/>
                  <a:gd name="T26" fmla="*/ 1 w 7"/>
                  <a:gd name="T27" fmla="*/ 0 h 8"/>
                  <a:gd name="T28" fmla="*/ 0 w 7"/>
                  <a:gd name="T29" fmla="*/ 1 h 8"/>
                  <a:gd name="T30" fmla="*/ 0 w 7"/>
                  <a:gd name="T31" fmla="*/ 1 h 8"/>
                  <a:gd name="T32" fmla="*/ 0 w 7"/>
                  <a:gd name="T33" fmla="*/ 1 h 8"/>
                  <a:gd name="T34" fmla="*/ 0 w 7"/>
                  <a:gd name="T35" fmla="*/ 1 h 8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7"/>
                  <a:gd name="T55" fmla="*/ 0 h 8"/>
                  <a:gd name="T56" fmla="*/ 7 w 7"/>
                  <a:gd name="T57" fmla="*/ 8 h 8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7" h="8">
                    <a:moveTo>
                      <a:pt x="0" y="3"/>
                    </a:moveTo>
                    <a:lnTo>
                      <a:pt x="0" y="5"/>
                    </a:lnTo>
                    <a:lnTo>
                      <a:pt x="1" y="6"/>
                    </a:lnTo>
                    <a:lnTo>
                      <a:pt x="3" y="8"/>
                    </a:lnTo>
                    <a:lnTo>
                      <a:pt x="4" y="8"/>
                    </a:lnTo>
                    <a:lnTo>
                      <a:pt x="6" y="8"/>
                    </a:lnTo>
                    <a:lnTo>
                      <a:pt x="6" y="6"/>
                    </a:lnTo>
                    <a:lnTo>
                      <a:pt x="7" y="5"/>
                    </a:lnTo>
                    <a:lnTo>
                      <a:pt x="7" y="3"/>
                    </a:lnTo>
                    <a:lnTo>
                      <a:pt x="7" y="2"/>
                    </a:lnTo>
                    <a:lnTo>
                      <a:pt x="6" y="2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3" y="0"/>
                    </a:lnTo>
                    <a:lnTo>
                      <a:pt x="1" y="2"/>
                    </a:lnTo>
                    <a:lnTo>
                      <a:pt x="0" y="2"/>
                    </a:ln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7" name="Freeform 61"/>
              <p:cNvSpPr>
                <a:spLocks/>
              </p:cNvSpPr>
              <p:nvPr/>
            </p:nvSpPr>
            <p:spPr bwMode="auto">
              <a:xfrm>
                <a:off x="8370" y="4713"/>
                <a:ext cx="6" cy="6"/>
              </a:xfrm>
              <a:custGeom>
                <a:avLst/>
                <a:gdLst>
                  <a:gd name="T0" fmla="*/ 0 w 16"/>
                  <a:gd name="T1" fmla="*/ 3 h 17"/>
                  <a:gd name="T2" fmla="*/ 0 w 16"/>
                  <a:gd name="T3" fmla="*/ 4 h 17"/>
                  <a:gd name="T4" fmla="*/ 1 w 16"/>
                  <a:gd name="T5" fmla="*/ 5 h 17"/>
                  <a:gd name="T6" fmla="*/ 2 w 16"/>
                  <a:gd name="T7" fmla="*/ 6 h 17"/>
                  <a:gd name="T8" fmla="*/ 3 w 16"/>
                  <a:gd name="T9" fmla="*/ 6 h 17"/>
                  <a:gd name="T10" fmla="*/ 4 w 16"/>
                  <a:gd name="T11" fmla="*/ 6 h 17"/>
                  <a:gd name="T12" fmla="*/ 6 w 16"/>
                  <a:gd name="T13" fmla="*/ 5 h 17"/>
                  <a:gd name="T14" fmla="*/ 6 w 16"/>
                  <a:gd name="T15" fmla="*/ 4 h 17"/>
                  <a:gd name="T16" fmla="*/ 6 w 16"/>
                  <a:gd name="T17" fmla="*/ 3 h 17"/>
                  <a:gd name="T18" fmla="*/ 6 w 16"/>
                  <a:gd name="T19" fmla="*/ 2 h 17"/>
                  <a:gd name="T20" fmla="*/ 6 w 16"/>
                  <a:gd name="T21" fmla="*/ 1 h 17"/>
                  <a:gd name="T22" fmla="*/ 4 w 16"/>
                  <a:gd name="T23" fmla="*/ 0 h 17"/>
                  <a:gd name="T24" fmla="*/ 3 w 16"/>
                  <a:gd name="T25" fmla="*/ 0 h 17"/>
                  <a:gd name="T26" fmla="*/ 2 w 16"/>
                  <a:gd name="T27" fmla="*/ 0 h 17"/>
                  <a:gd name="T28" fmla="*/ 1 w 16"/>
                  <a:gd name="T29" fmla="*/ 1 h 17"/>
                  <a:gd name="T30" fmla="*/ 0 w 16"/>
                  <a:gd name="T31" fmla="*/ 2 h 17"/>
                  <a:gd name="T32" fmla="*/ 0 w 16"/>
                  <a:gd name="T33" fmla="*/ 3 h 17"/>
                  <a:gd name="T34" fmla="*/ 0 w 16"/>
                  <a:gd name="T35" fmla="*/ 3 h 1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6"/>
                  <a:gd name="T55" fmla="*/ 0 h 17"/>
                  <a:gd name="T56" fmla="*/ 16 w 16"/>
                  <a:gd name="T57" fmla="*/ 17 h 1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6" h="17">
                    <a:moveTo>
                      <a:pt x="0" y="8"/>
                    </a:moveTo>
                    <a:lnTo>
                      <a:pt x="0" y="11"/>
                    </a:lnTo>
                    <a:lnTo>
                      <a:pt x="3" y="14"/>
                    </a:lnTo>
                    <a:lnTo>
                      <a:pt x="5" y="16"/>
                    </a:lnTo>
                    <a:lnTo>
                      <a:pt x="9" y="17"/>
                    </a:lnTo>
                    <a:lnTo>
                      <a:pt x="12" y="16"/>
                    </a:lnTo>
                    <a:lnTo>
                      <a:pt x="15" y="14"/>
                    </a:lnTo>
                    <a:lnTo>
                      <a:pt x="16" y="11"/>
                    </a:lnTo>
                    <a:lnTo>
                      <a:pt x="16" y="8"/>
                    </a:lnTo>
                    <a:lnTo>
                      <a:pt x="16" y="5"/>
                    </a:lnTo>
                    <a:lnTo>
                      <a:pt x="15" y="3"/>
                    </a:lnTo>
                    <a:lnTo>
                      <a:pt x="12" y="1"/>
                    </a:lnTo>
                    <a:lnTo>
                      <a:pt x="9" y="0"/>
                    </a:lnTo>
                    <a:lnTo>
                      <a:pt x="5" y="1"/>
                    </a:lnTo>
                    <a:lnTo>
                      <a:pt x="3" y="3"/>
                    </a:lnTo>
                    <a:lnTo>
                      <a:pt x="0" y="5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8" name="Freeform 62"/>
              <p:cNvSpPr>
                <a:spLocks/>
              </p:cNvSpPr>
              <p:nvPr/>
            </p:nvSpPr>
            <p:spPr bwMode="auto">
              <a:xfrm>
                <a:off x="8353" y="4721"/>
                <a:ext cx="4" cy="4"/>
              </a:xfrm>
              <a:custGeom>
                <a:avLst/>
                <a:gdLst>
                  <a:gd name="T0" fmla="*/ 0 w 12"/>
                  <a:gd name="T1" fmla="*/ 2 h 12"/>
                  <a:gd name="T2" fmla="*/ 0 w 12"/>
                  <a:gd name="T3" fmla="*/ 2 h 12"/>
                  <a:gd name="T4" fmla="*/ 0 w 12"/>
                  <a:gd name="T5" fmla="*/ 3 h 12"/>
                  <a:gd name="T6" fmla="*/ 1 w 12"/>
                  <a:gd name="T7" fmla="*/ 4 h 12"/>
                  <a:gd name="T8" fmla="*/ 2 w 12"/>
                  <a:gd name="T9" fmla="*/ 4 h 12"/>
                  <a:gd name="T10" fmla="*/ 2 w 12"/>
                  <a:gd name="T11" fmla="*/ 4 h 12"/>
                  <a:gd name="T12" fmla="*/ 3 w 12"/>
                  <a:gd name="T13" fmla="*/ 3 h 12"/>
                  <a:gd name="T14" fmla="*/ 4 w 12"/>
                  <a:gd name="T15" fmla="*/ 2 h 12"/>
                  <a:gd name="T16" fmla="*/ 4 w 12"/>
                  <a:gd name="T17" fmla="*/ 2 h 12"/>
                  <a:gd name="T18" fmla="*/ 4 w 12"/>
                  <a:gd name="T19" fmla="*/ 1 h 12"/>
                  <a:gd name="T20" fmla="*/ 3 w 12"/>
                  <a:gd name="T21" fmla="*/ 1 h 12"/>
                  <a:gd name="T22" fmla="*/ 2 w 12"/>
                  <a:gd name="T23" fmla="*/ 0 h 12"/>
                  <a:gd name="T24" fmla="*/ 2 w 12"/>
                  <a:gd name="T25" fmla="*/ 0 h 12"/>
                  <a:gd name="T26" fmla="*/ 1 w 12"/>
                  <a:gd name="T27" fmla="*/ 0 h 12"/>
                  <a:gd name="T28" fmla="*/ 0 w 12"/>
                  <a:gd name="T29" fmla="*/ 1 h 12"/>
                  <a:gd name="T30" fmla="*/ 0 w 12"/>
                  <a:gd name="T31" fmla="*/ 1 h 12"/>
                  <a:gd name="T32" fmla="*/ 0 w 12"/>
                  <a:gd name="T33" fmla="*/ 2 h 12"/>
                  <a:gd name="T34" fmla="*/ 0 w 12"/>
                  <a:gd name="T35" fmla="*/ 2 h 1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2"/>
                  <a:gd name="T55" fmla="*/ 0 h 12"/>
                  <a:gd name="T56" fmla="*/ 12 w 12"/>
                  <a:gd name="T57" fmla="*/ 12 h 1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2" h="12">
                    <a:moveTo>
                      <a:pt x="0" y="6"/>
                    </a:moveTo>
                    <a:lnTo>
                      <a:pt x="0" y="7"/>
                    </a:lnTo>
                    <a:lnTo>
                      <a:pt x="1" y="10"/>
                    </a:lnTo>
                    <a:lnTo>
                      <a:pt x="4" y="12"/>
                    </a:lnTo>
                    <a:lnTo>
                      <a:pt x="6" y="12"/>
                    </a:lnTo>
                    <a:lnTo>
                      <a:pt x="7" y="12"/>
                    </a:lnTo>
                    <a:lnTo>
                      <a:pt x="10" y="10"/>
                    </a:lnTo>
                    <a:lnTo>
                      <a:pt x="12" y="7"/>
                    </a:lnTo>
                    <a:lnTo>
                      <a:pt x="12" y="6"/>
                    </a:lnTo>
                    <a:lnTo>
                      <a:pt x="12" y="4"/>
                    </a:lnTo>
                    <a:lnTo>
                      <a:pt x="10" y="2"/>
                    </a:lnTo>
                    <a:lnTo>
                      <a:pt x="7" y="0"/>
                    </a:lnTo>
                    <a:lnTo>
                      <a:pt x="6" y="0"/>
                    </a:lnTo>
                    <a:lnTo>
                      <a:pt x="4" y="0"/>
                    </a:lnTo>
                    <a:lnTo>
                      <a:pt x="1" y="2"/>
                    </a:lnTo>
                    <a:lnTo>
                      <a:pt x="0" y="4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89" name="Freeform 63"/>
              <p:cNvSpPr>
                <a:spLocks/>
              </p:cNvSpPr>
              <p:nvPr/>
            </p:nvSpPr>
            <p:spPr bwMode="auto">
              <a:xfrm>
                <a:off x="8343" y="4794"/>
                <a:ext cx="25" cy="25"/>
              </a:xfrm>
              <a:custGeom>
                <a:avLst/>
                <a:gdLst>
                  <a:gd name="T0" fmla="*/ 2 w 74"/>
                  <a:gd name="T1" fmla="*/ 22 h 75"/>
                  <a:gd name="T2" fmla="*/ 5 w 74"/>
                  <a:gd name="T3" fmla="*/ 24 h 75"/>
                  <a:gd name="T4" fmla="*/ 8 w 74"/>
                  <a:gd name="T5" fmla="*/ 25 h 75"/>
                  <a:gd name="T6" fmla="*/ 11 w 74"/>
                  <a:gd name="T7" fmla="*/ 25 h 75"/>
                  <a:gd name="T8" fmla="*/ 13 w 74"/>
                  <a:gd name="T9" fmla="*/ 24 h 75"/>
                  <a:gd name="T10" fmla="*/ 13 w 74"/>
                  <a:gd name="T11" fmla="*/ 24 h 75"/>
                  <a:gd name="T12" fmla="*/ 15 w 74"/>
                  <a:gd name="T13" fmla="*/ 24 h 75"/>
                  <a:gd name="T14" fmla="*/ 17 w 74"/>
                  <a:gd name="T15" fmla="*/ 23 h 75"/>
                  <a:gd name="T16" fmla="*/ 20 w 74"/>
                  <a:gd name="T17" fmla="*/ 22 h 75"/>
                  <a:gd name="T18" fmla="*/ 22 w 74"/>
                  <a:gd name="T19" fmla="*/ 20 h 75"/>
                  <a:gd name="T20" fmla="*/ 24 w 74"/>
                  <a:gd name="T21" fmla="*/ 19 h 75"/>
                  <a:gd name="T22" fmla="*/ 25 w 74"/>
                  <a:gd name="T23" fmla="*/ 17 h 75"/>
                  <a:gd name="T24" fmla="*/ 24 w 74"/>
                  <a:gd name="T25" fmla="*/ 15 h 75"/>
                  <a:gd name="T26" fmla="*/ 20 w 74"/>
                  <a:gd name="T27" fmla="*/ 12 h 75"/>
                  <a:gd name="T28" fmla="*/ 16 w 74"/>
                  <a:gd name="T29" fmla="*/ 13 h 75"/>
                  <a:gd name="T30" fmla="*/ 12 w 74"/>
                  <a:gd name="T31" fmla="*/ 16 h 75"/>
                  <a:gd name="T32" fmla="*/ 10 w 74"/>
                  <a:gd name="T33" fmla="*/ 17 h 75"/>
                  <a:gd name="T34" fmla="*/ 10 w 74"/>
                  <a:gd name="T35" fmla="*/ 14 h 75"/>
                  <a:gd name="T36" fmla="*/ 8 w 74"/>
                  <a:gd name="T37" fmla="*/ 9 h 75"/>
                  <a:gd name="T38" fmla="*/ 4 w 74"/>
                  <a:gd name="T39" fmla="*/ 2 h 75"/>
                  <a:gd name="T40" fmla="*/ 1 w 74"/>
                  <a:gd name="T41" fmla="*/ 0 h 75"/>
                  <a:gd name="T42" fmla="*/ 0 w 74"/>
                  <a:gd name="T43" fmla="*/ 6 h 75"/>
                  <a:gd name="T44" fmla="*/ 1 w 74"/>
                  <a:gd name="T45" fmla="*/ 13 h 75"/>
                  <a:gd name="T46" fmla="*/ 2 w 74"/>
                  <a:gd name="T47" fmla="*/ 19 h 75"/>
                  <a:gd name="T48" fmla="*/ 2 w 74"/>
                  <a:gd name="T49" fmla="*/ 22 h 75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4"/>
                  <a:gd name="T76" fmla="*/ 0 h 75"/>
                  <a:gd name="T77" fmla="*/ 74 w 74"/>
                  <a:gd name="T78" fmla="*/ 75 h 75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4" h="75">
                    <a:moveTo>
                      <a:pt x="7" y="65"/>
                    </a:moveTo>
                    <a:lnTo>
                      <a:pt x="15" y="72"/>
                    </a:lnTo>
                    <a:lnTo>
                      <a:pt x="25" y="75"/>
                    </a:lnTo>
                    <a:lnTo>
                      <a:pt x="32" y="75"/>
                    </a:lnTo>
                    <a:lnTo>
                      <a:pt x="37" y="73"/>
                    </a:lnTo>
                    <a:lnTo>
                      <a:pt x="38" y="73"/>
                    </a:lnTo>
                    <a:lnTo>
                      <a:pt x="44" y="71"/>
                    </a:lnTo>
                    <a:lnTo>
                      <a:pt x="50" y="69"/>
                    </a:lnTo>
                    <a:lnTo>
                      <a:pt x="59" y="65"/>
                    </a:lnTo>
                    <a:lnTo>
                      <a:pt x="65" y="60"/>
                    </a:lnTo>
                    <a:lnTo>
                      <a:pt x="71" y="56"/>
                    </a:lnTo>
                    <a:lnTo>
                      <a:pt x="74" y="50"/>
                    </a:lnTo>
                    <a:lnTo>
                      <a:pt x="72" y="45"/>
                    </a:lnTo>
                    <a:lnTo>
                      <a:pt x="59" y="35"/>
                    </a:lnTo>
                    <a:lnTo>
                      <a:pt x="46" y="39"/>
                    </a:lnTo>
                    <a:lnTo>
                      <a:pt x="35" y="48"/>
                    </a:lnTo>
                    <a:lnTo>
                      <a:pt x="31" y="52"/>
                    </a:lnTo>
                    <a:lnTo>
                      <a:pt x="29" y="43"/>
                    </a:lnTo>
                    <a:lnTo>
                      <a:pt x="24" y="26"/>
                    </a:lnTo>
                    <a:lnTo>
                      <a:pt x="13" y="7"/>
                    </a:lnTo>
                    <a:lnTo>
                      <a:pt x="2" y="0"/>
                    </a:lnTo>
                    <a:lnTo>
                      <a:pt x="0" y="19"/>
                    </a:lnTo>
                    <a:lnTo>
                      <a:pt x="3" y="40"/>
                    </a:lnTo>
                    <a:lnTo>
                      <a:pt x="6" y="58"/>
                    </a:lnTo>
                    <a:lnTo>
                      <a:pt x="7" y="65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0" name="Freeform 64"/>
              <p:cNvSpPr>
                <a:spLocks/>
              </p:cNvSpPr>
              <p:nvPr/>
            </p:nvSpPr>
            <p:spPr bwMode="auto">
              <a:xfrm>
                <a:off x="8367" y="4788"/>
                <a:ext cx="23" cy="20"/>
              </a:xfrm>
              <a:custGeom>
                <a:avLst/>
                <a:gdLst>
                  <a:gd name="T0" fmla="*/ 8 w 69"/>
                  <a:gd name="T1" fmla="*/ 20 h 59"/>
                  <a:gd name="T2" fmla="*/ 10 w 69"/>
                  <a:gd name="T3" fmla="*/ 20 h 59"/>
                  <a:gd name="T4" fmla="*/ 13 w 69"/>
                  <a:gd name="T5" fmla="*/ 19 h 59"/>
                  <a:gd name="T6" fmla="*/ 16 w 69"/>
                  <a:gd name="T7" fmla="*/ 19 h 59"/>
                  <a:gd name="T8" fmla="*/ 19 w 69"/>
                  <a:gd name="T9" fmla="*/ 18 h 59"/>
                  <a:gd name="T10" fmla="*/ 21 w 69"/>
                  <a:gd name="T11" fmla="*/ 18 h 59"/>
                  <a:gd name="T12" fmla="*/ 23 w 69"/>
                  <a:gd name="T13" fmla="*/ 16 h 59"/>
                  <a:gd name="T14" fmla="*/ 23 w 69"/>
                  <a:gd name="T15" fmla="*/ 15 h 59"/>
                  <a:gd name="T16" fmla="*/ 22 w 69"/>
                  <a:gd name="T17" fmla="*/ 13 h 59"/>
                  <a:gd name="T18" fmla="*/ 18 w 69"/>
                  <a:gd name="T19" fmla="*/ 11 h 59"/>
                  <a:gd name="T20" fmla="*/ 14 w 69"/>
                  <a:gd name="T21" fmla="*/ 11 h 59"/>
                  <a:gd name="T22" fmla="*/ 10 w 69"/>
                  <a:gd name="T23" fmla="*/ 13 h 59"/>
                  <a:gd name="T24" fmla="*/ 8 w 69"/>
                  <a:gd name="T25" fmla="*/ 14 h 59"/>
                  <a:gd name="T26" fmla="*/ 7 w 69"/>
                  <a:gd name="T27" fmla="*/ 10 h 59"/>
                  <a:gd name="T28" fmla="*/ 6 w 69"/>
                  <a:gd name="T29" fmla="*/ 4 h 59"/>
                  <a:gd name="T30" fmla="*/ 5 w 69"/>
                  <a:gd name="T31" fmla="*/ 0 h 59"/>
                  <a:gd name="T32" fmla="*/ 0 w 69"/>
                  <a:gd name="T33" fmla="*/ 0 h 59"/>
                  <a:gd name="T34" fmla="*/ 0 w 69"/>
                  <a:gd name="T35" fmla="*/ 9 h 59"/>
                  <a:gd name="T36" fmla="*/ 3 w 69"/>
                  <a:gd name="T37" fmla="*/ 15 h 59"/>
                  <a:gd name="T38" fmla="*/ 6 w 69"/>
                  <a:gd name="T39" fmla="*/ 19 h 59"/>
                  <a:gd name="T40" fmla="*/ 8 w 69"/>
                  <a:gd name="T41" fmla="*/ 20 h 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9"/>
                  <a:gd name="T64" fmla="*/ 0 h 59"/>
                  <a:gd name="T65" fmla="*/ 69 w 69"/>
                  <a:gd name="T66" fmla="*/ 59 h 5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9" h="59">
                    <a:moveTo>
                      <a:pt x="24" y="59"/>
                    </a:moveTo>
                    <a:lnTo>
                      <a:pt x="29" y="59"/>
                    </a:lnTo>
                    <a:lnTo>
                      <a:pt x="38" y="57"/>
                    </a:lnTo>
                    <a:lnTo>
                      <a:pt x="47" y="56"/>
                    </a:lnTo>
                    <a:lnTo>
                      <a:pt x="56" y="54"/>
                    </a:lnTo>
                    <a:lnTo>
                      <a:pt x="63" y="52"/>
                    </a:lnTo>
                    <a:lnTo>
                      <a:pt x="68" y="47"/>
                    </a:lnTo>
                    <a:lnTo>
                      <a:pt x="69" y="43"/>
                    </a:lnTo>
                    <a:lnTo>
                      <a:pt x="66" y="37"/>
                    </a:lnTo>
                    <a:lnTo>
                      <a:pt x="54" y="32"/>
                    </a:lnTo>
                    <a:lnTo>
                      <a:pt x="41" y="33"/>
                    </a:lnTo>
                    <a:lnTo>
                      <a:pt x="29" y="37"/>
                    </a:lnTo>
                    <a:lnTo>
                      <a:pt x="25" y="40"/>
                    </a:lnTo>
                    <a:lnTo>
                      <a:pt x="21" y="29"/>
                    </a:lnTo>
                    <a:lnTo>
                      <a:pt x="19" y="13"/>
                    </a:lnTo>
                    <a:lnTo>
                      <a:pt x="15" y="1"/>
                    </a:lnTo>
                    <a:lnTo>
                      <a:pt x="0" y="0"/>
                    </a:lnTo>
                    <a:lnTo>
                      <a:pt x="0" y="27"/>
                    </a:lnTo>
                    <a:lnTo>
                      <a:pt x="9" y="44"/>
                    </a:lnTo>
                    <a:lnTo>
                      <a:pt x="19" y="56"/>
                    </a:lnTo>
                    <a:lnTo>
                      <a:pt x="24" y="59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1" name="Freeform 65"/>
              <p:cNvSpPr>
                <a:spLocks/>
              </p:cNvSpPr>
              <p:nvPr/>
            </p:nvSpPr>
            <p:spPr bwMode="auto">
              <a:xfrm>
                <a:off x="8386" y="4779"/>
                <a:ext cx="23" cy="20"/>
              </a:xfrm>
              <a:custGeom>
                <a:avLst/>
                <a:gdLst>
                  <a:gd name="T0" fmla="*/ 2 w 69"/>
                  <a:gd name="T1" fmla="*/ 15 h 60"/>
                  <a:gd name="T2" fmla="*/ 5 w 69"/>
                  <a:gd name="T3" fmla="*/ 18 h 60"/>
                  <a:gd name="T4" fmla="*/ 7 w 69"/>
                  <a:gd name="T5" fmla="*/ 20 h 60"/>
                  <a:gd name="T6" fmla="*/ 10 w 69"/>
                  <a:gd name="T7" fmla="*/ 20 h 60"/>
                  <a:gd name="T8" fmla="*/ 13 w 69"/>
                  <a:gd name="T9" fmla="*/ 20 h 60"/>
                  <a:gd name="T10" fmla="*/ 15 w 69"/>
                  <a:gd name="T11" fmla="*/ 20 h 60"/>
                  <a:gd name="T12" fmla="*/ 17 w 69"/>
                  <a:gd name="T13" fmla="*/ 19 h 60"/>
                  <a:gd name="T14" fmla="*/ 19 w 69"/>
                  <a:gd name="T15" fmla="*/ 18 h 60"/>
                  <a:gd name="T16" fmla="*/ 20 w 69"/>
                  <a:gd name="T17" fmla="*/ 17 h 60"/>
                  <a:gd name="T18" fmla="*/ 21 w 69"/>
                  <a:gd name="T19" fmla="*/ 17 h 60"/>
                  <a:gd name="T20" fmla="*/ 22 w 69"/>
                  <a:gd name="T21" fmla="*/ 16 h 60"/>
                  <a:gd name="T22" fmla="*/ 23 w 69"/>
                  <a:gd name="T23" fmla="*/ 14 h 60"/>
                  <a:gd name="T24" fmla="*/ 22 w 69"/>
                  <a:gd name="T25" fmla="*/ 13 h 60"/>
                  <a:gd name="T26" fmla="*/ 18 w 69"/>
                  <a:gd name="T27" fmla="*/ 10 h 60"/>
                  <a:gd name="T28" fmla="*/ 14 w 69"/>
                  <a:gd name="T29" fmla="*/ 10 h 60"/>
                  <a:gd name="T30" fmla="*/ 11 w 69"/>
                  <a:gd name="T31" fmla="*/ 11 h 60"/>
                  <a:gd name="T32" fmla="*/ 9 w 69"/>
                  <a:gd name="T33" fmla="*/ 12 h 60"/>
                  <a:gd name="T34" fmla="*/ 9 w 69"/>
                  <a:gd name="T35" fmla="*/ 10 h 60"/>
                  <a:gd name="T36" fmla="*/ 7 w 69"/>
                  <a:gd name="T37" fmla="*/ 5 h 60"/>
                  <a:gd name="T38" fmla="*/ 4 w 69"/>
                  <a:gd name="T39" fmla="*/ 1 h 60"/>
                  <a:gd name="T40" fmla="*/ 0 w 69"/>
                  <a:gd name="T41" fmla="*/ 0 h 60"/>
                  <a:gd name="T42" fmla="*/ 0 w 69"/>
                  <a:gd name="T43" fmla="*/ 5 h 60"/>
                  <a:gd name="T44" fmla="*/ 0 w 69"/>
                  <a:gd name="T45" fmla="*/ 10 h 60"/>
                  <a:gd name="T46" fmla="*/ 1 w 69"/>
                  <a:gd name="T47" fmla="*/ 14 h 60"/>
                  <a:gd name="T48" fmla="*/ 2 w 69"/>
                  <a:gd name="T49" fmla="*/ 15 h 6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9"/>
                  <a:gd name="T76" fmla="*/ 0 h 60"/>
                  <a:gd name="T77" fmla="*/ 69 w 69"/>
                  <a:gd name="T78" fmla="*/ 60 h 6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9" h="60">
                    <a:moveTo>
                      <a:pt x="6" y="46"/>
                    </a:moveTo>
                    <a:lnTo>
                      <a:pt x="15" y="54"/>
                    </a:lnTo>
                    <a:lnTo>
                      <a:pt x="22" y="59"/>
                    </a:lnTo>
                    <a:lnTo>
                      <a:pt x="31" y="60"/>
                    </a:lnTo>
                    <a:lnTo>
                      <a:pt x="38" y="60"/>
                    </a:lnTo>
                    <a:lnTo>
                      <a:pt x="45" y="59"/>
                    </a:lnTo>
                    <a:lnTo>
                      <a:pt x="51" y="56"/>
                    </a:lnTo>
                    <a:lnTo>
                      <a:pt x="57" y="53"/>
                    </a:lnTo>
                    <a:lnTo>
                      <a:pt x="60" y="51"/>
                    </a:lnTo>
                    <a:lnTo>
                      <a:pt x="64" y="50"/>
                    </a:lnTo>
                    <a:lnTo>
                      <a:pt x="67" y="47"/>
                    </a:lnTo>
                    <a:lnTo>
                      <a:pt x="69" y="43"/>
                    </a:lnTo>
                    <a:lnTo>
                      <a:pt x="67" y="40"/>
                    </a:lnTo>
                    <a:lnTo>
                      <a:pt x="54" y="31"/>
                    </a:lnTo>
                    <a:lnTo>
                      <a:pt x="41" y="31"/>
                    </a:lnTo>
                    <a:lnTo>
                      <a:pt x="32" y="34"/>
                    </a:lnTo>
                    <a:lnTo>
                      <a:pt x="28" y="37"/>
                    </a:lnTo>
                    <a:lnTo>
                      <a:pt x="26" y="30"/>
                    </a:lnTo>
                    <a:lnTo>
                      <a:pt x="20" y="15"/>
                    </a:lnTo>
                    <a:lnTo>
                      <a:pt x="12" y="2"/>
                    </a:lnTo>
                    <a:lnTo>
                      <a:pt x="1" y="0"/>
                    </a:lnTo>
                    <a:lnTo>
                      <a:pt x="0" y="14"/>
                    </a:lnTo>
                    <a:lnTo>
                      <a:pt x="1" y="30"/>
                    </a:lnTo>
                    <a:lnTo>
                      <a:pt x="4" y="41"/>
                    </a:lnTo>
                    <a:lnTo>
                      <a:pt x="6" y="4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2" name="Freeform 66"/>
              <p:cNvSpPr>
                <a:spLocks/>
              </p:cNvSpPr>
              <p:nvPr/>
            </p:nvSpPr>
            <p:spPr bwMode="auto">
              <a:xfrm>
                <a:off x="8357" y="4833"/>
                <a:ext cx="25" cy="16"/>
              </a:xfrm>
              <a:custGeom>
                <a:avLst/>
                <a:gdLst>
                  <a:gd name="T0" fmla="*/ 4 w 75"/>
                  <a:gd name="T1" fmla="*/ 15 h 48"/>
                  <a:gd name="T2" fmla="*/ 6 w 75"/>
                  <a:gd name="T3" fmla="*/ 15 h 48"/>
                  <a:gd name="T4" fmla="*/ 10 w 75"/>
                  <a:gd name="T5" fmla="*/ 16 h 48"/>
                  <a:gd name="T6" fmla="*/ 14 w 75"/>
                  <a:gd name="T7" fmla="*/ 16 h 48"/>
                  <a:gd name="T8" fmla="*/ 19 w 75"/>
                  <a:gd name="T9" fmla="*/ 15 h 48"/>
                  <a:gd name="T10" fmla="*/ 22 w 75"/>
                  <a:gd name="T11" fmla="*/ 14 h 48"/>
                  <a:gd name="T12" fmla="*/ 25 w 75"/>
                  <a:gd name="T13" fmla="*/ 12 h 48"/>
                  <a:gd name="T14" fmla="*/ 25 w 75"/>
                  <a:gd name="T15" fmla="*/ 10 h 48"/>
                  <a:gd name="T16" fmla="*/ 24 w 75"/>
                  <a:gd name="T17" fmla="*/ 6 h 48"/>
                  <a:gd name="T18" fmla="*/ 22 w 75"/>
                  <a:gd name="T19" fmla="*/ 5 h 48"/>
                  <a:gd name="T20" fmla="*/ 20 w 75"/>
                  <a:gd name="T21" fmla="*/ 5 h 48"/>
                  <a:gd name="T22" fmla="*/ 17 w 75"/>
                  <a:gd name="T23" fmla="*/ 5 h 48"/>
                  <a:gd name="T24" fmla="*/ 14 w 75"/>
                  <a:gd name="T25" fmla="*/ 6 h 48"/>
                  <a:gd name="T26" fmla="*/ 12 w 75"/>
                  <a:gd name="T27" fmla="*/ 6 h 48"/>
                  <a:gd name="T28" fmla="*/ 10 w 75"/>
                  <a:gd name="T29" fmla="*/ 7 h 48"/>
                  <a:gd name="T30" fmla="*/ 8 w 75"/>
                  <a:gd name="T31" fmla="*/ 8 h 48"/>
                  <a:gd name="T32" fmla="*/ 8 w 75"/>
                  <a:gd name="T33" fmla="*/ 8 h 48"/>
                  <a:gd name="T34" fmla="*/ 7 w 75"/>
                  <a:gd name="T35" fmla="*/ 7 h 48"/>
                  <a:gd name="T36" fmla="*/ 6 w 75"/>
                  <a:gd name="T37" fmla="*/ 4 h 48"/>
                  <a:gd name="T38" fmla="*/ 5 w 75"/>
                  <a:gd name="T39" fmla="*/ 2 h 48"/>
                  <a:gd name="T40" fmla="*/ 5 w 75"/>
                  <a:gd name="T41" fmla="*/ 1 h 48"/>
                  <a:gd name="T42" fmla="*/ 4 w 75"/>
                  <a:gd name="T43" fmla="*/ 0 h 48"/>
                  <a:gd name="T44" fmla="*/ 3 w 75"/>
                  <a:gd name="T45" fmla="*/ 0 h 48"/>
                  <a:gd name="T46" fmla="*/ 1 w 75"/>
                  <a:gd name="T47" fmla="*/ 1 h 48"/>
                  <a:gd name="T48" fmla="*/ 0 w 75"/>
                  <a:gd name="T49" fmla="*/ 2 h 48"/>
                  <a:gd name="T50" fmla="*/ 0 w 75"/>
                  <a:gd name="T51" fmla="*/ 4 h 48"/>
                  <a:gd name="T52" fmla="*/ 2 w 75"/>
                  <a:gd name="T53" fmla="*/ 9 h 48"/>
                  <a:gd name="T54" fmla="*/ 3 w 75"/>
                  <a:gd name="T55" fmla="*/ 13 h 48"/>
                  <a:gd name="T56" fmla="*/ 4 w 75"/>
                  <a:gd name="T57" fmla="*/ 15 h 48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5"/>
                  <a:gd name="T88" fmla="*/ 0 h 48"/>
                  <a:gd name="T89" fmla="*/ 75 w 75"/>
                  <a:gd name="T90" fmla="*/ 48 h 48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5" h="48">
                    <a:moveTo>
                      <a:pt x="12" y="44"/>
                    </a:moveTo>
                    <a:lnTo>
                      <a:pt x="19" y="46"/>
                    </a:lnTo>
                    <a:lnTo>
                      <a:pt x="31" y="48"/>
                    </a:lnTo>
                    <a:lnTo>
                      <a:pt x="43" y="48"/>
                    </a:lnTo>
                    <a:lnTo>
                      <a:pt x="56" y="46"/>
                    </a:lnTo>
                    <a:lnTo>
                      <a:pt x="66" y="42"/>
                    </a:lnTo>
                    <a:lnTo>
                      <a:pt x="74" y="36"/>
                    </a:lnTo>
                    <a:lnTo>
                      <a:pt x="75" y="29"/>
                    </a:lnTo>
                    <a:lnTo>
                      <a:pt x="71" y="19"/>
                    </a:lnTo>
                    <a:lnTo>
                      <a:pt x="66" y="16"/>
                    </a:lnTo>
                    <a:lnTo>
                      <a:pt x="59" y="15"/>
                    </a:lnTo>
                    <a:lnTo>
                      <a:pt x="52" y="15"/>
                    </a:lnTo>
                    <a:lnTo>
                      <a:pt x="43" y="18"/>
                    </a:lnTo>
                    <a:lnTo>
                      <a:pt x="35" y="19"/>
                    </a:lnTo>
                    <a:lnTo>
                      <a:pt x="30" y="22"/>
                    </a:lnTo>
                    <a:lnTo>
                      <a:pt x="25" y="23"/>
                    </a:lnTo>
                    <a:lnTo>
                      <a:pt x="24" y="25"/>
                    </a:lnTo>
                    <a:lnTo>
                      <a:pt x="22" y="21"/>
                    </a:lnTo>
                    <a:lnTo>
                      <a:pt x="19" y="13"/>
                    </a:lnTo>
                    <a:lnTo>
                      <a:pt x="16" y="5"/>
                    </a:lnTo>
                    <a:lnTo>
                      <a:pt x="15" y="2"/>
                    </a:lnTo>
                    <a:lnTo>
                      <a:pt x="12" y="0"/>
                    </a:lnTo>
                    <a:lnTo>
                      <a:pt x="8" y="0"/>
                    </a:lnTo>
                    <a:lnTo>
                      <a:pt x="3" y="2"/>
                    </a:lnTo>
                    <a:lnTo>
                      <a:pt x="0" y="5"/>
                    </a:lnTo>
                    <a:lnTo>
                      <a:pt x="0" y="13"/>
                    </a:lnTo>
                    <a:lnTo>
                      <a:pt x="5" y="26"/>
                    </a:lnTo>
                    <a:lnTo>
                      <a:pt x="9" y="38"/>
                    </a:lnTo>
                    <a:lnTo>
                      <a:pt x="12" y="4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3" name="Freeform 67"/>
              <p:cNvSpPr>
                <a:spLocks/>
              </p:cNvSpPr>
              <p:nvPr/>
            </p:nvSpPr>
            <p:spPr bwMode="auto">
              <a:xfrm>
                <a:off x="8385" y="4821"/>
                <a:ext cx="21" cy="19"/>
              </a:xfrm>
              <a:custGeom>
                <a:avLst/>
                <a:gdLst>
                  <a:gd name="T0" fmla="*/ 5 w 63"/>
                  <a:gd name="T1" fmla="*/ 18 h 57"/>
                  <a:gd name="T2" fmla="*/ 7 w 63"/>
                  <a:gd name="T3" fmla="*/ 18 h 57"/>
                  <a:gd name="T4" fmla="*/ 11 w 63"/>
                  <a:gd name="T5" fmla="*/ 19 h 57"/>
                  <a:gd name="T6" fmla="*/ 16 w 63"/>
                  <a:gd name="T7" fmla="*/ 19 h 57"/>
                  <a:gd name="T8" fmla="*/ 19 w 63"/>
                  <a:gd name="T9" fmla="*/ 17 h 57"/>
                  <a:gd name="T10" fmla="*/ 20 w 63"/>
                  <a:gd name="T11" fmla="*/ 16 h 57"/>
                  <a:gd name="T12" fmla="*/ 21 w 63"/>
                  <a:gd name="T13" fmla="*/ 15 h 57"/>
                  <a:gd name="T14" fmla="*/ 21 w 63"/>
                  <a:gd name="T15" fmla="*/ 14 h 57"/>
                  <a:gd name="T16" fmla="*/ 21 w 63"/>
                  <a:gd name="T17" fmla="*/ 13 h 57"/>
                  <a:gd name="T18" fmla="*/ 20 w 63"/>
                  <a:gd name="T19" fmla="*/ 12 h 57"/>
                  <a:gd name="T20" fmla="*/ 19 w 63"/>
                  <a:gd name="T21" fmla="*/ 11 h 57"/>
                  <a:gd name="T22" fmla="*/ 18 w 63"/>
                  <a:gd name="T23" fmla="*/ 10 h 57"/>
                  <a:gd name="T24" fmla="*/ 16 w 63"/>
                  <a:gd name="T25" fmla="*/ 11 h 57"/>
                  <a:gd name="T26" fmla="*/ 13 w 63"/>
                  <a:gd name="T27" fmla="*/ 12 h 57"/>
                  <a:gd name="T28" fmla="*/ 10 w 63"/>
                  <a:gd name="T29" fmla="*/ 12 h 57"/>
                  <a:gd name="T30" fmla="*/ 8 w 63"/>
                  <a:gd name="T31" fmla="*/ 12 h 57"/>
                  <a:gd name="T32" fmla="*/ 7 w 63"/>
                  <a:gd name="T33" fmla="*/ 12 h 57"/>
                  <a:gd name="T34" fmla="*/ 7 w 63"/>
                  <a:gd name="T35" fmla="*/ 10 h 57"/>
                  <a:gd name="T36" fmla="*/ 7 w 63"/>
                  <a:gd name="T37" fmla="*/ 6 h 57"/>
                  <a:gd name="T38" fmla="*/ 6 w 63"/>
                  <a:gd name="T39" fmla="*/ 1 h 57"/>
                  <a:gd name="T40" fmla="*/ 3 w 63"/>
                  <a:gd name="T41" fmla="*/ 0 h 57"/>
                  <a:gd name="T42" fmla="*/ 0 w 63"/>
                  <a:gd name="T43" fmla="*/ 6 h 57"/>
                  <a:gd name="T44" fmla="*/ 0 w 63"/>
                  <a:gd name="T45" fmla="*/ 11 h 57"/>
                  <a:gd name="T46" fmla="*/ 2 w 63"/>
                  <a:gd name="T47" fmla="*/ 15 h 57"/>
                  <a:gd name="T48" fmla="*/ 5 w 63"/>
                  <a:gd name="T49" fmla="*/ 18 h 5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63"/>
                  <a:gd name="T76" fmla="*/ 0 h 57"/>
                  <a:gd name="T77" fmla="*/ 63 w 63"/>
                  <a:gd name="T78" fmla="*/ 57 h 5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63" h="57">
                    <a:moveTo>
                      <a:pt x="15" y="53"/>
                    </a:moveTo>
                    <a:lnTo>
                      <a:pt x="22" y="54"/>
                    </a:lnTo>
                    <a:lnTo>
                      <a:pt x="34" y="57"/>
                    </a:lnTo>
                    <a:lnTo>
                      <a:pt x="47" y="56"/>
                    </a:lnTo>
                    <a:lnTo>
                      <a:pt x="58" y="50"/>
                    </a:lnTo>
                    <a:lnTo>
                      <a:pt x="61" y="48"/>
                    </a:lnTo>
                    <a:lnTo>
                      <a:pt x="62" y="46"/>
                    </a:lnTo>
                    <a:lnTo>
                      <a:pt x="63" y="43"/>
                    </a:lnTo>
                    <a:lnTo>
                      <a:pt x="62" y="40"/>
                    </a:lnTo>
                    <a:lnTo>
                      <a:pt x="61" y="36"/>
                    </a:lnTo>
                    <a:lnTo>
                      <a:pt x="58" y="33"/>
                    </a:lnTo>
                    <a:lnTo>
                      <a:pt x="53" y="31"/>
                    </a:lnTo>
                    <a:lnTo>
                      <a:pt x="47" y="33"/>
                    </a:lnTo>
                    <a:lnTo>
                      <a:pt x="39" y="36"/>
                    </a:lnTo>
                    <a:lnTo>
                      <a:pt x="30" y="36"/>
                    </a:lnTo>
                    <a:lnTo>
                      <a:pt x="24" y="36"/>
                    </a:lnTo>
                    <a:lnTo>
                      <a:pt x="21" y="36"/>
                    </a:lnTo>
                    <a:lnTo>
                      <a:pt x="21" y="30"/>
                    </a:lnTo>
                    <a:lnTo>
                      <a:pt x="21" y="17"/>
                    </a:lnTo>
                    <a:lnTo>
                      <a:pt x="17" y="4"/>
                    </a:lnTo>
                    <a:lnTo>
                      <a:pt x="8" y="0"/>
                    </a:lnTo>
                    <a:lnTo>
                      <a:pt x="0" y="18"/>
                    </a:lnTo>
                    <a:lnTo>
                      <a:pt x="0" y="34"/>
                    </a:lnTo>
                    <a:lnTo>
                      <a:pt x="6" y="46"/>
                    </a:lnTo>
                    <a:lnTo>
                      <a:pt x="15" y="5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4" name="Freeform 68"/>
              <p:cNvSpPr>
                <a:spLocks/>
              </p:cNvSpPr>
              <p:nvPr/>
            </p:nvSpPr>
            <p:spPr bwMode="auto">
              <a:xfrm>
                <a:off x="8406" y="4814"/>
                <a:ext cx="21" cy="19"/>
              </a:xfrm>
              <a:custGeom>
                <a:avLst/>
                <a:gdLst>
                  <a:gd name="T0" fmla="*/ 8 w 65"/>
                  <a:gd name="T1" fmla="*/ 17 h 57"/>
                  <a:gd name="T2" fmla="*/ 10 w 65"/>
                  <a:gd name="T3" fmla="*/ 19 h 57"/>
                  <a:gd name="T4" fmla="*/ 13 w 65"/>
                  <a:gd name="T5" fmla="*/ 18 h 57"/>
                  <a:gd name="T6" fmla="*/ 16 w 65"/>
                  <a:gd name="T7" fmla="*/ 17 h 57"/>
                  <a:gd name="T8" fmla="*/ 19 w 65"/>
                  <a:gd name="T9" fmla="*/ 16 h 57"/>
                  <a:gd name="T10" fmla="*/ 20 w 65"/>
                  <a:gd name="T11" fmla="*/ 15 h 57"/>
                  <a:gd name="T12" fmla="*/ 21 w 65"/>
                  <a:gd name="T13" fmla="*/ 14 h 57"/>
                  <a:gd name="T14" fmla="*/ 21 w 65"/>
                  <a:gd name="T15" fmla="*/ 13 h 57"/>
                  <a:gd name="T16" fmla="*/ 20 w 65"/>
                  <a:gd name="T17" fmla="*/ 11 h 57"/>
                  <a:gd name="T18" fmla="*/ 17 w 65"/>
                  <a:gd name="T19" fmla="*/ 9 h 57"/>
                  <a:gd name="T20" fmla="*/ 15 w 65"/>
                  <a:gd name="T21" fmla="*/ 10 h 57"/>
                  <a:gd name="T22" fmla="*/ 13 w 65"/>
                  <a:gd name="T23" fmla="*/ 12 h 57"/>
                  <a:gd name="T24" fmla="*/ 11 w 65"/>
                  <a:gd name="T25" fmla="*/ 13 h 57"/>
                  <a:gd name="T26" fmla="*/ 10 w 65"/>
                  <a:gd name="T27" fmla="*/ 11 h 57"/>
                  <a:gd name="T28" fmla="*/ 8 w 65"/>
                  <a:gd name="T29" fmla="*/ 6 h 57"/>
                  <a:gd name="T30" fmla="*/ 5 w 65"/>
                  <a:gd name="T31" fmla="*/ 2 h 57"/>
                  <a:gd name="T32" fmla="*/ 2 w 65"/>
                  <a:gd name="T33" fmla="*/ 0 h 57"/>
                  <a:gd name="T34" fmla="*/ 0 w 65"/>
                  <a:gd name="T35" fmla="*/ 7 h 57"/>
                  <a:gd name="T36" fmla="*/ 2 w 65"/>
                  <a:gd name="T37" fmla="*/ 12 h 57"/>
                  <a:gd name="T38" fmla="*/ 6 w 65"/>
                  <a:gd name="T39" fmla="*/ 16 h 57"/>
                  <a:gd name="T40" fmla="*/ 8 w 65"/>
                  <a:gd name="T41" fmla="*/ 17 h 57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65"/>
                  <a:gd name="T64" fmla="*/ 0 h 57"/>
                  <a:gd name="T65" fmla="*/ 65 w 65"/>
                  <a:gd name="T66" fmla="*/ 57 h 57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65" h="57">
                    <a:moveTo>
                      <a:pt x="24" y="52"/>
                    </a:moveTo>
                    <a:lnTo>
                      <a:pt x="32" y="57"/>
                    </a:lnTo>
                    <a:lnTo>
                      <a:pt x="41" y="55"/>
                    </a:lnTo>
                    <a:lnTo>
                      <a:pt x="50" y="52"/>
                    </a:lnTo>
                    <a:lnTo>
                      <a:pt x="59" y="48"/>
                    </a:lnTo>
                    <a:lnTo>
                      <a:pt x="63" y="45"/>
                    </a:lnTo>
                    <a:lnTo>
                      <a:pt x="65" y="42"/>
                    </a:lnTo>
                    <a:lnTo>
                      <a:pt x="65" y="38"/>
                    </a:lnTo>
                    <a:lnTo>
                      <a:pt x="63" y="34"/>
                    </a:lnTo>
                    <a:lnTo>
                      <a:pt x="53" y="28"/>
                    </a:lnTo>
                    <a:lnTo>
                      <a:pt x="46" y="29"/>
                    </a:lnTo>
                    <a:lnTo>
                      <a:pt x="40" y="35"/>
                    </a:lnTo>
                    <a:lnTo>
                      <a:pt x="35" y="39"/>
                    </a:lnTo>
                    <a:lnTo>
                      <a:pt x="32" y="32"/>
                    </a:lnTo>
                    <a:lnTo>
                      <a:pt x="25" y="18"/>
                    </a:lnTo>
                    <a:lnTo>
                      <a:pt x="16" y="5"/>
                    </a:lnTo>
                    <a:lnTo>
                      <a:pt x="6" y="0"/>
                    </a:lnTo>
                    <a:lnTo>
                      <a:pt x="0" y="21"/>
                    </a:lnTo>
                    <a:lnTo>
                      <a:pt x="7" y="36"/>
                    </a:lnTo>
                    <a:lnTo>
                      <a:pt x="18" y="48"/>
                    </a:lnTo>
                    <a:lnTo>
                      <a:pt x="24" y="52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5" name="Freeform 69"/>
              <p:cNvSpPr>
                <a:spLocks/>
              </p:cNvSpPr>
              <p:nvPr/>
            </p:nvSpPr>
            <p:spPr bwMode="auto">
              <a:xfrm>
                <a:off x="8371" y="4865"/>
                <a:ext cx="26" cy="26"/>
              </a:xfrm>
              <a:custGeom>
                <a:avLst/>
                <a:gdLst>
                  <a:gd name="T0" fmla="*/ 5 w 79"/>
                  <a:gd name="T1" fmla="*/ 22 h 80"/>
                  <a:gd name="T2" fmla="*/ 6 w 79"/>
                  <a:gd name="T3" fmla="*/ 23 h 80"/>
                  <a:gd name="T4" fmla="*/ 8 w 79"/>
                  <a:gd name="T5" fmla="*/ 24 h 80"/>
                  <a:gd name="T6" fmla="*/ 10 w 79"/>
                  <a:gd name="T7" fmla="*/ 25 h 80"/>
                  <a:gd name="T8" fmla="*/ 13 w 79"/>
                  <a:gd name="T9" fmla="*/ 26 h 80"/>
                  <a:gd name="T10" fmla="*/ 15 w 79"/>
                  <a:gd name="T11" fmla="*/ 26 h 80"/>
                  <a:gd name="T12" fmla="*/ 19 w 79"/>
                  <a:gd name="T13" fmla="*/ 25 h 80"/>
                  <a:gd name="T14" fmla="*/ 22 w 79"/>
                  <a:gd name="T15" fmla="*/ 23 h 80"/>
                  <a:gd name="T16" fmla="*/ 24 w 79"/>
                  <a:gd name="T17" fmla="*/ 19 h 80"/>
                  <a:gd name="T18" fmla="*/ 25 w 79"/>
                  <a:gd name="T19" fmla="*/ 18 h 80"/>
                  <a:gd name="T20" fmla="*/ 26 w 79"/>
                  <a:gd name="T21" fmla="*/ 16 h 80"/>
                  <a:gd name="T22" fmla="*/ 26 w 79"/>
                  <a:gd name="T23" fmla="*/ 15 h 80"/>
                  <a:gd name="T24" fmla="*/ 26 w 79"/>
                  <a:gd name="T25" fmla="*/ 14 h 80"/>
                  <a:gd name="T26" fmla="*/ 23 w 79"/>
                  <a:gd name="T27" fmla="*/ 13 h 80"/>
                  <a:gd name="T28" fmla="*/ 20 w 79"/>
                  <a:gd name="T29" fmla="*/ 12 h 80"/>
                  <a:gd name="T30" fmla="*/ 17 w 79"/>
                  <a:gd name="T31" fmla="*/ 13 h 80"/>
                  <a:gd name="T32" fmla="*/ 15 w 79"/>
                  <a:gd name="T33" fmla="*/ 13 h 80"/>
                  <a:gd name="T34" fmla="*/ 13 w 79"/>
                  <a:gd name="T35" fmla="*/ 14 h 80"/>
                  <a:gd name="T36" fmla="*/ 11 w 79"/>
                  <a:gd name="T37" fmla="*/ 15 h 80"/>
                  <a:gd name="T38" fmla="*/ 10 w 79"/>
                  <a:gd name="T39" fmla="*/ 16 h 80"/>
                  <a:gd name="T40" fmla="*/ 10 w 79"/>
                  <a:gd name="T41" fmla="*/ 17 h 80"/>
                  <a:gd name="T42" fmla="*/ 9 w 79"/>
                  <a:gd name="T43" fmla="*/ 14 h 80"/>
                  <a:gd name="T44" fmla="*/ 7 w 79"/>
                  <a:gd name="T45" fmla="*/ 8 h 80"/>
                  <a:gd name="T46" fmla="*/ 4 w 79"/>
                  <a:gd name="T47" fmla="*/ 2 h 80"/>
                  <a:gd name="T48" fmla="*/ 0 w 79"/>
                  <a:gd name="T49" fmla="*/ 0 h 80"/>
                  <a:gd name="T50" fmla="*/ 0 w 79"/>
                  <a:gd name="T51" fmla="*/ 8 h 80"/>
                  <a:gd name="T52" fmla="*/ 2 w 79"/>
                  <a:gd name="T53" fmla="*/ 15 h 80"/>
                  <a:gd name="T54" fmla="*/ 4 w 79"/>
                  <a:gd name="T55" fmla="*/ 20 h 80"/>
                  <a:gd name="T56" fmla="*/ 5 w 79"/>
                  <a:gd name="T57" fmla="*/ 22 h 80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80"/>
                  <a:gd name="T89" fmla="*/ 79 w 79"/>
                  <a:gd name="T90" fmla="*/ 80 h 80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80">
                    <a:moveTo>
                      <a:pt x="16" y="67"/>
                    </a:moveTo>
                    <a:lnTo>
                      <a:pt x="19" y="70"/>
                    </a:lnTo>
                    <a:lnTo>
                      <a:pt x="23" y="73"/>
                    </a:lnTo>
                    <a:lnTo>
                      <a:pt x="31" y="77"/>
                    </a:lnTo>
                    <a:lnTo>
                      <a:pt x="38" y="79"/>
                    </a:lnTo>
                    <a:lnTo>
                      <a:pt x="47" y="80"/>
                    </a:lnTo>
                    <a:lnTo>
                      <a:pt x="57" y="77"/>
                    </a:lnTo>
                    <a:lnTo>
                      <a:pt x="66" y="70"/>
                    </a:lnTo>
                    <a:lnTo>
                      <a:pt x="73" y="59"/>
                    </a:lnTo>
                    <a:lnTo>
                      <a:pt x="76" y="54"/>
                    </a:lnTo>
                    <a:lnTo>
                      <a:pt x="78" y="50"/>
                    </a:lnTo>
                    <a:lnTo>
                      <a:pt x="79" y="46"/>
                    </a:lnTo>
                    <a:lnTo>
                      <a:pt x="78" y="43"/>
                    </a:lnTo>
                    <a:lnTo>
                      <a:pt x="70" y="39"/>
                    </a:lnTo>
                    <a:lnTo>
                      <a:pt x="61" y="37"/>
                    </a:lnTo>
                    <a:lnTo>
                      <a:pt x="53" y="39"/>
                    </a:lnTo>
                    <a:lnTo>
                      <a:pt x="45" y="40"/>
                    </a:lnTo>
                    <a:lnTo>
                      <a:pt x="39" y="44"/>
                    </a:lnTo>
                    <a:lnTo>
                      <a:pt x="34" y="47"/>
                    </a:lnTo>
                    <a:lnTo>
                      <a:pt x="31" y="50"/>
                    </a:lnTo>
                    <a:lnTo>
                      <a:pt x="29" y="52"/>
                    </a:lnTo>
                    <a:lnTo>
                      <a:pt x="28" y="43"/>
                    </a:lnTo>
                    <a:lnTo>
                      <a:pt x="22" y="24"/>
                    </a:lnTo>
                    <a:lnTo>
                      <a:pt x="13" y="6"/>
                    </a:lnTo>
                    <a:lnTo>
                      <a:pt x="1" y="0"/>
                    </a:lnTo>
                    <a:lnTo>
                      <a:pt x="0" y="24"/>
                    </a:lnTo>
                    <a:lnTo>
                      <a:pt x="6" y="46"/>
                    </a:lnTo>
                    <a:lnTo>
                      <a:pt x="13" y="62"/>
                    </a:lnTo>
                    <a:lnTo>
                      <a:pt x="16" y="67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6" name="Freeform 70"/>
              <p:cNvSpPr>
                <a:spLocks/>
              </p:cNvSpPr>
              <p:nvPr/>
            </p:nvSpPr>
            <p:spPr bwMode="auto">
              <a:xfrm>
                <a:off x="8399" y="4855"/>
                <a:ext cx="27" cy="22"/>
              </a:xfrm>
              <a:custGeom>
                <a:avLst/>
                <a:gdLst>
                  <a:gd name="T0" fmla="*/ 4 w 79"/>
                  <a:gd name="T1" fmla="*/ 18 h 67"/>
                  <a:gd name="T2" fmla="*/ 5 w 79"/>
                  <a:gd name="T3" fmla="*/ 18 h 67"/>
                  <a:gd name="T4" fmla="*/ 7 w 79"/>
                  <a:gd name="T5" fmla="*/ 19 h 67"/>
                  <a:gd name="T6" fmla="*/ 9 w 79"/>
                  <a:gd name="T7" fmla="*/ 20 h 67"/>
                  <a:gd name="T8" fmla="*/ 12 w 79"/>
                  <a:gd name="T9" fmla="*/ 21 h 67"/>
                  <a:gd name="T10" fmla="*/ 14 w 79"/>
                  <a:gd name="T11" fmla="*/ 22 h 67"/>
                  <a:gd name="T12" fmla="*/ 17 w 79"/>
                  <a:gd name="T13" fmla="*/ 22 h 67"/>
                  <a:gd name="T14" fmla="*/ 20 w 79"/>
                  <a:gd name="T15" fmla="*/ 22 h 67"/>
                  <a:gd name="T16" fmla="*/ 23 w 79"/>
                  <a:gd name="T17" fmla="*/ 21 h 67"/>
                  <a:gd name="T18" fmla="*/ 25 w 79"/>
                  <a:gd name="T19" fmla="*/ 20 h 67"/>
                  <a:gd name="T20" fmla="*/ 26 w 79"/>
                  <a:gd name="T21" fmla="*/ 19 h 67"/>
                  <a:gd name="T22" fmla="*/ 27 w 79"/>
                  <a:gd name="T23" fmla="*/ 17 h 67"/>
                  <a:gd name="T24" fmla="*/ 27 w 79"/>
                  <a:gd name="T25" fmla="*/ 15 h 67"/>
                  <a:gd name="T26" fmla="*/ 25 w 79"/>
                  <a:gd name="T27" fmla="*/ 13 h 67"/>
                  <a:gd name="T28" fmla="*/ 22 w 79"/>
                  <a:gd name="T29" fmla="*/ 12 h 67"/>
                  <a:gd name="T30" fmla="*/ 19 w 79"/>
                  <a:gd name="T31" fmla="*/ 12 h 67"/>
                  <a:gd name="T32" fmla="*/ 16 w 79"/>
                  <a:gd name="T33" fmla="*/ 12 h 67"/>
                  <a:gd name="T34" fmla="*/ 14 w 79"/>
                  <a:gd name="T35" fmla="*/ 12 h 67"/>
                  <a:gd name="T36" fmla="*/ 12 w 79"/>
                  <a:gd name="T37" fmla="*/ 12 h 67"/>
                  <a:gd name="T38" fmla="*/ 10 w 79"/>
                  <a:gd name="T39" fmla="*/ 13 h 67"/>
                  <a:gd name="T40" fmla="*/ 10 w 79"/>
                  <a:gd name="T41" fmla="*/ 13 h 67"/>
                  <a:gd name="T42" fmla="*/ 9 w 79"/>
                  <a:gd name="T43" fmla="*/ 11 h 67"/>
                  <a:gd name="T44" fmla="*/ 8 w 79"/>
                  <a:gd name="T45" fmla="*/ 6 h 67"/>
                  <a:gd name="T46" fmla="*/ 5 w 79"/>
                  <a:gd name="T47" fmla="*/ 1 h 67"/>
                  <a:gd name="T48" fmla="*/ 1 w 79"/>
                  <a:gd name="T49" fmla="*/ 0 h 67"/>
                  <a:gd name="T50" fmla="*/ 0 w 79"/>
                  <a:gd name="T51" fmla="*/ 7 h 67"/>
                  <a:gd name="T52" fmla="*/ 1 w 79"/>
                  <a:gd name="T53" fmla="*/ 12 h 67"/>
                  <a:gd name="T54" fmla="*/ 3 w 79"/>
                  <a:gd name="T55" fmla="*/ 16 h 67"/>
                  <a:gd name="T56" fmla="*/ 4 w 79"/>
                  <a:gd name="T57" fmla="*/ 18 h 6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79"/>
                  <a:gd name="T88" fmla="*/ 0 h 67"/>
                  <a:gd name="T89" fmla="*/ 79 w 79"/>
                  <a:gd name="T90" fmla="*/ 67 h 67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79" h="67">
                    <a:moveTo>
                      <a:pt x="13" y="54"/>
                    </a:moveTo>
                    <a:lnTo>
                      <a:pt x="16" y="56"/>
                    </a:lnTo>
                    <a:lnTo>
                      <a:pt x="20" y="59"/>
                    </a:lnTo>
                    <a:lnTo>
                      <a:pt x="26" y="61"/>
                    </a:lnTo>
                    <a:lnTo>
                      <a:pt x="34" y="64"/>
                    </a:lnTo>
                    <a:lnTo>
                      <a:pt x="41" y="67"/>
                    </a:lnTo>
                    <a:lnTo>
                      <a:pt x="50" y="67"/>
                    </a:lnTo>
                    <a:lnTo>
                      <a:pt x="59" y="67"/>
                    </a:lnTo>
                    <a:lnTo>
                      <a:pt x="66" y="64"/>
                    </a:lnTo>
                    <a:lnTo>
                      <a:pt x="72" y="61"/>
                    </a:lnTo>
                    <a:lnTo>
                      <a:pt x="76" y="57"/>
                    </a:lnTo>
                    <a:lnTo>
                      <a:pt x="79" y="53"/>
                    </a:lnTo>
                    <a:lnTo>
                      <a:pt x="78" y="47"/>
                    </a:lnTo>
                    <a:lnTo>
                      <a:pt x="72" y="41"/>
                    </a:lnTo>
                    <a:lnTo>
                      <a:pt x="65" y="37"/>
                    </a:lnTo>
                    <a:lnTo>
                      <a:pt x="56" y="36"/>
                    </a:lnTo>
                    <a:lnTo>
                      <a:pt x="48" y="36"/>
                    </a:lnTo>
                    <a:lnTo>
                      <a:pt x="40" y="37"/>
                    </a:lnTo>
                    <a:lnTo>
                      <a:pt x="34" y="38"/>
                    </a:lnTo>
                    <a:lnTo>
                      <a:pt x="29" y="40"/>
                    </a:lnTo>
                    <a:lnTo>
                      <a:pt x="28" y="40"/>
                    </a:lnTo>
                    <a:lnTo>
                      <a:pt x="26" y="33"/>
                    </a:lnTo>
                    <a:lnTo>
                      <a:pt x="22" y="17"/>
                    </a:lnTo>
                    <a:lnTo>
                      <a:pt x="15" y="4"/>
                    </a:lnTo>
                    <a:lnTo>
                      <a:pt x="3" y="0"/>
                    </a:lnTo>
                    <a:lnTo>
                      <a:pt x="0" y="21"/>
                    </a:lnTo>
                    <a:lnTo>
                      <a:pt x="4" y="38"/>
                    </a:lnTo>
                    <a:lnTo>
                      <a:pt x="10" y="50"/>
                    </a:lnTo>
                    <a:lnTo>
                      <a:pt x="13" y="5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7" name="Freeform 71"/>
              <p:cNvSpPr>
                <a:spLocks/>
              </p:cNvSpPr>
              <p:nvPr/>
            </p:nvSpPr>
            <p:spPr bwMode="auto">
              <a:xfrm>
                <a:off x="8429" y="4851"/>
                <a:ext cx="26" cy="20"/>
              </a:xfrm>
              <a:custGeom>
                <a:avLst/>
                <a:gdLst>
                  <a:gd name="T0" fmla="*/ 3 w 77"/>
                  <a:gd name="T1" fmla="*/ 19 h 62"/>
                  <a:gd name="T2" fmla="*/ 6 w 77"/>
                  <a:gd name="T3" fmla="*/ 19 h 62"/>
                  <a:gd name="T4" fmla="*/ 9 w 77"/>
                  <a:gd name="T5" fmla="*/ 20 h 62"/>
                  <a:gd name="T6" fmla="*/ 14 w 77"/>
                  <a:gd name="T7" fmla="*/ 20 h 62"/>
                  <a:gd name="T8" fmla="*/ 18 w 77"/>
                  <a:gd name="T9" fmla="*/ 19 h 62"/>
                  <a:gd name="T10" fmla="*/ 22 w 77"/>
                  <a:gd name="T11" fmla="*/ 19 h 62"/>
                  <a:gd name="T12" fmla="*/ 24 w 77"/>
                  <a:gd name="T13" fmla="*/ 18 h 62"/>
                  <a:gd name="T14" fmla="*/ 26 w 77"/>
                  <a:gd name="T15" fmla="*/ 16 h 62"/>
                  <a:gd name="T16" fmla="*/ 25 w 77"/>
                  <a:gd name="T17" fmla="*/ 14 h 62"/>
                  <a:gd name="T18" fmla="*/ 23 w 77"/>
                  <a:gd name="T19" fmla="*/ 12 h 62"/>
                  <a:gd name="T20" fmla="*/ 21 w 77"/>
                  <a:gd name="T21" fmla="*/ 11 h 62"/>
                  <a:gd name="T22" fmla="*/ 18 w 77"/>
                  <a:gd name="T23" fmla="*/ 10 h 62"/>
                  <a:gd name="T24" fmla="*/ 16 w 77"/>
                  <a:gd name="T25" fmla="*/ 10 h 62"/>
                  <a:gd name="T26" fmla="*/ 13 w 77"/>
                  <a:gd name="T27" fmla="*/ 11 h 62"/>
                  <a:gd name="T28" fmla="*/ 11 w 77"/>
                  <a:gd name="T29" fmla="*/ 11 h 62"/>
                  <a:gd name="T30" fmla="*/ 9 w 77"/>
                  <a:gd name="T31" fmla="*/ 12 h 62"/>
                  <a:gd name="T32" fmla="*/ 9 w 77"/>
                  <a:gd name="T33" fmla="*/ 12 h 62"/>
                  <a:gd name="T34" fmla="*/ 8 w 77"/>
                  <a:gd name="T35" fmla="*/ 10 h 62"/>
                  <a:gd name="T36" fmla="*/ 7 w 77"/>
                  <a:gd name="T37" fmla="*/ 5 h 62"/>
                  <a:gd name="T38" fmla="*/ 5 w 77"/>
                  <a:gd name="T39" fmla="*/ 1 h 62"/>
                  <a:gd name="T40" fmla="*/ 1 w 77"/>
                  <a:gd name="T41" fmla="*/ 0 h 62"/>
                  <a:gd name="T42" fmla="*/ 0 w 77"/>
                  <a:gd name="T43" fmla="*/ 5 h 62"/>
                  <a:gd name="T44" fmla="*/ 1 w 77"/>
                  <a:gd name="T45" fmla="*/ 12 h 62"/>
                  <a:gd name="T46" fmla="*/ 3 w 77"/>
                  <a:gd name="T47" fmla="*/ 17 h 62"/>
                  <a:gd name="T48" fmla="*/ 3 w 77"/>
                  <a:gd name="T49" fmla="*/ 19 h 6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77"/>
                  <a:gd name="T76" fmla="*/ 0 h 62"/>
                  <a:gd name="T77" fmla="*/ 77 w 77"/>
                  <a:gd name="T78" fmla="*/ 62 h 6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77" h="62">
                    <a:moveTo>
                      <a:pt x="9" y="58"/>
                    </a:moveTo>
                    <a:lnTo>
                      <a:pt x="17" y="60"/>
                    </a:lnTo>
                    <a:lnTo>
                      <a:pt x="27" y="62"/>
                    </a:lnTo>
                    <a:lnTo>
                      <a:pt x="40" y="62"/>
                    </a:lnTo>
                    <a:lnTo>
                      <a:pt x="53" y="60"/>
                    </a:lnTo>
                    <a:lnTo>
                      <a:pt x="65" y="58"/>
                    </a:lnTo>
                    <a:lnTo>
                      <a:pt x="72" y="55"/>
                    </a:lnTo>
                    <a:lnTo>
                      <a:pt x="77" y="49"/>
                    </a:lnTo>
                    <a:lnTo>
                      <a:pt x="75" y="42"/>
                    </a:lnTo>
                    <a:lnTo>
                      <a:pt x="69" y="36"/>
                    </a:lnTo>
                    <a:lnTo>
                      <a:pt x="62" y="33"/>
                    </a:lnTo>
                    <a:lnTo>
                      <a:pt x="53" y="32"/>
                    </a:lnTo>
                    <a:lnTo>
                      <a:pt x="46" y="32"/>
                    </a:lnTo>
                    <a:lnTo>
                      <a:pt x="39" y="33"/>
                    </a:lnTo>
                    <a:lnTo>
                      <a:pt x="33" y="35"/>
                    </a:lnTo>
                    <a:lnTo>
                      <a:pt x="28" y="37"/>
                    </a:lnTo>
                    <a:lnTo>
                      <a:pt x="27" y="37"/>
                    </a:lnTo>
                    <a:lnTo>
                      <a:pt x="25" y="30"/>
                    </a:lnTo>
                    <a:lnTo>
                      <a:pt x="21" y="16"/>
                    </a:lnTo>
                    <a:lnTo>
                      <a:pt x="14" y="3"/>
                    </a:lnTo>
                    <a:lnTo>
                      <a:pt x="2" y="0"/>
                    </a:lnTo>
                    <a:lnTo>
                      <a:pt x="0" y="17"/>
                    </a:lnTo>
                    <a:lnTo>
                      <a:pt x="3" y="36"/>
                    </a:lnTo>
                    <a:lnTo>
                      <a:pt x="8" y="52"/>
                    </a:lnTo>
                    <a:lnTo>
                      <a:pt x="9" y="5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8" name="Freeform 72"/>
              <p:cNvSpPr>
                <a:spLocks/>
              </p:cNvSpPr>
              <p:nvPr/>
            </p:nvSpPr>
            <p:spPr bwMode="auto">
              <a:xfrm>
                <a:off x="8258" y="4730"/>
                <a:ext cx="122" cy="281"/>
              </a:xfrm>
              <a:custGeom>
                <a:avLst/>
                <a:gdLst>
                  <a:gd name="T0" fmla="*/ 4 w 366"/>
                  <a:gd name="T1" fmla="*/ 50 h 845"/>
                  <a:gd name="T2" fmla="*/ 5 w 366"/>
                  <a:gd name="T3" fmla="*/ 80 h 845"/>
                  <a:gd name="T4" fmla="*/ 15 w 366"/>
                  <a:gd name="T5" fmla="*/ 115 h 845"/>
                  <a:gd name="T6" fmla="*/ 28 w 366"/>
                  <a:gd name="T7" fmla="*/ 155 h 845"/>
                  <a:gd name="T8" fmla="*/ 41 w 366"/>
                  <a:gd name="T9" fmla="*/ 194 h 845"/>
                  <a:gd name="T10" fmla="*/ 54 w 366"/>
                  <a:gd name="T11" fmla="*/ 232 h 845"/>
                  <a:gd name="T12" fmla="*/ 65 w 366"/>
                  <a:gd name="T13" fmla="*/ 259 h 845"/>
                  <a:gd name="T14" fmla="*/ 76 w 366"/>
                  <a:gd name="T15" fmla="*/ 269 h 845"/>
                  <a:gd name="T16" fmla="*/ 90 w 366"/>
                  <a:gd name="T17" fmla="*/ 276 h 845"/>
                  <a:gd name="T18" fmla="*/ 105 w 366"/>
                  <a:gd name="T19" fmla="*/ 280 h 845"/>
                  <a:gd name="T20" fmla="*/ 116 w 366"/>
                  <a:gd name="T21" fmla="*/ 280 h 845"/>
                  <a:gd name="T22" fmla="*/ 120 w 366"/>
                  <a:gd name="T23" fmla="*/ 277 h 845"/>
                  <a:gd name="T24" fmla="*/ 122 w 366"/>
                  <a:gd name="T25" fmla="*/ 271 h 845"/>
                  <a:gd name="T26" fmla="*/ 118 w 366"/>
                  <a:gd name="T27" fmla="*/ 267 h 845"/>
                  <a:gd name="T28" fmla="*/ 110 w 366"/>
                  <a:gd name="T29" fmla="*/ 265 h 845"/>
                  <a:gd name="T30" fmla="*/ 98 w 366"/>
                  <a:gd name="T31" fmla="*/ 262 h 845"/>
                  <a:gd name="T32" fmla="*/ 88 w 366"/>
                  <a:gd name="T33" fmla="*/ 259 h 845"/>
                  <a:gd name="T34" fmla="*/ 80 w 366"/>
                  <a:gd name="T35" fmla="*/ 252 h 845"/>
                  <a:gd name="T36" fmla="*/ 72 w 366"/>
                  <a:gd name="T37" fmla="*/ 235 h 845"/>
                  <a:gd name="T38" fmla="*/ 65 w 366"/>
                  <a:gd name="T39" fmla="*/ 214 h 845"/>
                  <a:gd name="T40" fmla="*/ 57 w 366"/>
                  <a:gd name="T41" fmla="*/ 192 h 845"/>
                  <a:gd name="T42" fmla="*/ 50 w 366"/>
                  <a:gd name="T43" fmla="*/ 170 h 845"/>
                  <a:gd name="T44" fmla="*/ 42 w 366"/>
                  <a:gd name="T45" fmla="*/ 145 h 845"/>
                  <a:gd name="T46" fmla="*/ 31 w 366"/>
                  <a:gd name="T47" fmla="*/ 116 h 845"/>
                  <a:gd name="T48" fmla="*/ 22 w 366"/>
                  <a:gd name="T49" fmla="*/ 87 h 845"/>
                  <a:gd name="T50" fmla="*/ 16 w 366"/>
                  <a:gd name="T51" fmla="*/ 58 h 845"/>
                  <a:gd name="T52" fmla="*/ 15 w 366"/>
                  <a:gd name="T53" fmla="*/ 37 h 845"/>
                  <a:gd name="T54" fmla="*/ 12 w 366"/>
                  <a:gd name="T55" fmla="*/ 22 h 845"/>
                  <a:gd name="T56" fmla="*/ 7 w 366"/>
                  <a:gd name="T57" fmla="*/ 9 h 845"/>
                  <a:gd name="T58" fmla="*/ 2 w 366"/>
                  <a:gd name="T59" fmla="*/ 0 h 845"/>
                  <a:gd name="T60" fmla="*/ 2 w 366"/>
                  <a:gd name="T61" fmla="*/ 6 h 845"/>
                  <a:gd name="T62" fmla="*/ 4 w 366"/>
                  <a:gd name="T63" fmla="*/ 25 h 845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366"/>
                  <a:gd name="T97" fmla="*/ 0 h 845"/>
                  <a:gd name="T98" fmla="*/ 366 w 366"/>
                  <a:gd name="T99" fmla="*/ 845 h 845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366" h="845">
                    <a:moveTo>
                      <a:pt x="15" y="104"/>
                    </a:moveTo>
                    <a:lnTo>
                      <a:pt x="12" y="150"/>
                    </a:lnTo>
                    <a:lnTo>
                      <a:pt x="12" y="196"/>
                    </a:lnTo>
                    <a:lnTo>
                      <a:pt x="16" y="241"/>
                    </a:lnTo>
                    <a:lnTo>
                      <a:pt x="27" y="286"/>
                    </a:lnTo>
                    <a:lnTo>
                      <a:pt x="46" y="346"/>
                    </a:lnTo>
                    <a:lnTo>
                      <a:pt x="65" y="406"/>
                    </a:lnTo>
                    <a:lnTo>
                      <a:pt x="84" y="465"/>
                    </a:lnTo>
                    <a:lnTo>
                      <a:pt x="103" y="524"/>
                    </a:lnTo>
                    <a:lnTo>
                      <a:pt x="122" y="583"/>
                    </a:lnTo>
                    <a:lnTo>
                      <a:pt x="143" y="640"/>
                    </a:lnTo>
                    <a:lnTo>
                      <a:pt x="163" y="699"/>
                    </a:lnTo>
                    <a:lnTo>
                      <a:pt x="185" y="758"/>
                    </a:lnTo>
                    <a:lnTo>
                      <a:pt x="195" y="778"/>
                    </a:lnTo>
                    <a:lnTo>
                      <a:pt x="210" y="796"/>
                    </a:lnTo>
                    <a:lnTo>
                      <a:pt x="228" y="810"/>
                    </a:lnTo>
                    <a:lnTo>
                      <a:pt x="247" y="822"/>
                    </a:lnTo>
                    <a:lnTo>
                      <a:pt x="269" y="830"/>
                    </a:lnTo>
                    <a:lnTo>
                      <a:pt x="292" y="837"/>
                    </a:lnTo>
                    <a:lnTo>
                      <a:pt x="316" y="842"/>
                    </a:lnTo>
                    <a:lnTo>
                      <a:pt x="339" y="845"/>
                    </a:lnTo>
                    <a:lnTo>
                      <a:pt x="348" y="843"/>
                    </a:lnTo>
                    <a:lnTo>
                      <a:pt x="355" y="840"/>
                    </a:lnTo>
                    <a:lnTo>
                      <a:pt x="361" y="833"/>
                    </a:lnTo>
                    <a:lnTo>
                      <a:pt x="366" y="824"/>
                    </a:lnTo>
                    <a:lnTo>
                      <a:pt x="366" y="816"/>
                    </a:lnTo>
                    <a:lnTo>
                      <a:pt x="361" y="809"/>
                    </a:lnTo>
                    <a:lnTo>
                      <a:pt x="354" y="803"/>
                    </a:lnTo>
                    <a:lnTo>
                      <a:pt x="345" y="800"/>
                    </a:lnTo>
                    <a:lnTo>
                      <a:pt x="329" y="796"/>
                    </a:lnTo>
                    <a:lnTo>
                      <a:pt x="313" y="793"/>
                    </a:lnTo>
                    <a:lnTo>
                      <a:pt x="295" y="788"/>
                    </a:lnTo>
                    <a:lnTo>
                      <a:pt x="279" y="784"/>
                    </a:lnTo>
                    <a:lnTo>
                      <a:pt x="264" y="778"/>
                    </a:lnTo>
                    <a:lnTo>
                      <a:pt x="251" y="768"/>
                    </a:lnTo>
                    <a:lnTo>
                      <a:pt x="239" y="757"/>
                    </a:lnTo>
                    <a:lnTo>
                      <a:pt x="231" y="741"/>
                    </a:lnTo>
                    <a:lnTo>
                      <a:pt x="217" y="708"/>
                    </a:lnTo>
                    <a:lnTo>
                      <a:pt x="206" y="676"/>
                    </a:lnTo>
                    <a:lnTo>
                      <a:pt x="194" y="643"/>
                    </a:lnTo>
                    <a:lnTo>
                      <a:pt x="184" y="610"/>
                    </a:lnTo>
                    <a:lnTo>
                      <a:pt x="172" y="577"/>
                    </a:lnTo>
                    <a:lnTo>
                      <a:pt x="162" y="544"/>
                    </a:lnTo>
                    <a:lnTo>
                      <a:pt x="151" y="511"/>
                    </a:lnTo>
                    <a:lnTo>
                      <a:pt x="141" y="478"/>
                    </a:lnTo>
                    <a:lnTo>
                      <a:pt x="126" y="435"/>
                    </a:lnTo>
                    <a:lnTo>
                      <a:pt x="110" y="392"/>
                    </a:lnTo>
                    <a:lnTo>
                      <a:pt x="94" y="349"/>
                    </a:lnTo>
                    <a:lnTo>
                      <a:pt x="79" y="306"/>
                    </a:lnTo>
                    <a:lnTo>
                      <a:pt x="65" y="263"/>
                    </a:lnTo>
                    <a:lnTo>
                      <a:pt x="54" y="219"/>
                    </a:lnTo>
                    <a:lnTo>
                      <a:pt x="49" y="175"/>
                    </a:lnTo>
                    <a:lnTo>
                      <a:pt x="47" y="129"/>
                    </a:lnTo>
                    <a:lnTo>
                      <a:pt x="46" y="110"/>
                    </a:lnTo>
                    <a:lnTo>
                      <a:pt x="41" y="89"/>
                    </a:lnTo>
                    <a:lnTo>
                      <a:pt x="35" y="67"/>
                    </a:lnTo>
                    <a:lnTo>
                      <a:pt x="28" y="46"/>
                    </a:lnTo>
                    <a:lnTo>
                      <a:pt x="21" y="27"/>
                    </a:lnTo>
                    <a:lnTo>
                      <a:pt x="13" y="11"/>
                    </a:lnTo>
                    <a:lnTo>
                      <a:pt x="6" y="1"/>
                    </a:lnTo>
                    <a:lnTo>
                      <a:pt x="0" y="0"/>
                    </a:lnTo>
                    <a:lnTo>
                      <a:pt x="5" y="17"/>
                    </a:lnTo>
                    <a:lnTo>
                      <a:pt x="10" y="44"/>
                    </a:lnTo>
                    <a:lnTo>
                      <a:pt x="13" y="76"/>
                    </a:lnTo>
                    <a:lnTo>
                      <a:pt x="15" y="104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99" name="Freeform 73"/>
              <p:cNvSpPr>
                <a:spLocks/>
              </p:cNvSpPr>
              <p:nvPr/>
            </p:nvSpPr>
            <p:spPr bwMode="auto">
              <a:xfrm>
                <a:off x="8517" y="4850"/>
                <a:ext cx="29" cy="29"/>
              </a:xfrm>
              <a:custGeom>
                <a:avLst/>
                <a:gdLst>
                  <a:gd name="T0" fmla="*/ 28 w 88"/>
                  <a:gd name="T1" fmla="*/ 8 h 87"/>
                  <a:gd name="T2" fmla="*/ 29 w 88"/>
                  <a:gd name="T3" fmla="*/ 6 h 87"/>
                  <a:gd name="T4" fmla="*/ 29 w 88"/>
                  <a:gd name="T5" fmla="*/ 4 h 87"/>
                  <a:gd name="T6" fmla="*/ 28 w 88"/>
                  <a:gd name="T7" fmla="*/ 2 h 87"/>
                  <a:gd name="T8" fmla="*/ 25 w 88"/>
                  <a:gd name="T9" fmla="*/ 1 h 87"/>
                  <a:gd name="T10" fmla="*/ 23 w 88"/>
                  <a:gd name="T11" fmla="*/ 0 h 87"/>
                  <a:gd name="T12" fmla="*/ 20 w 88"/>
                  <a:gd name="T13" fmla="*/ 0 h 87"/>
                  <a:gd name="T14" fmla="*/ 18 w 88"/>
                  <a:gd name="T15" fmla="*/ 0 h 87"/>
                  <a:gd name="T16" fmla="*/ 15 w 88"/>
                  <a:gd name="T17" fmla="*/ 2 h 87"/>
                  <a:gd name="T18" fmla="*/ 14 w 88"/>
                  <a:gd name="T19" fmla="*/ 4 h 87"/>
                  <a:gd name="T20" fmla="*/ 11 w 88"/>
                  <a:gd name="T21" fmla="*/ 7 h 87"/>
                  <a:gd name="T22" fmla="*/ 8 w 88"/>
                  <a:gd name="T23" fmla="*/ 10 h 87"/>
                  <a:gd name="T24" fmla="*/ 5 w 88"/>
                  <a:gd name="T25" fmla="*/ 14 h 87"/>
                  <a:gd name="T26" fmla="*/ 3 w 88"/>
                  <a:gd name="T27" fmla="*/ 19 h 87"/>
                  <a:gd name="T28" fmla="*/ 1 w 88"/>
                  <a:gd name="T29" fmla="*/ 23 h 87"/>
                  <a:gd name="T30" fmla="*/ 0 w 88"/>
                  <a:gd name="T31" fmla="*/ 26 h 87"/>
                  <a:gd name="T32" fmla="*/ 1 w 88"/>
                  <a:gd name="T33" fmla="*/ 29 h 87"/>
                  <a:gd name="T34" fmla="*/ 5 w 88"/>
                  <a:gd name="T35" fmla="*/ 27 h 87"/>
                  <a:gd name="T36" fmla="*/ 9 w 88"/>
                  <a:gd name="T37" fmla="*/ 23 h 87"/>
                  <a:gd name="T38" fmla="*/ 13 w 88"/>
                  <a:gd name="T39" fmla="*/ 20 h 87"/>
                  <a:gd name="T40" fmla="*/ 17 w 88"/>
                  <a:gd name="T41" fmla="*/ 17 h 87"/>
                  <a:gd name="T42" fmla="*/ 21 w 88"/>
                  <a:gd name="T43" fmla="*/ 14 h 87"/>
                  <a:gd name="T44" fmla="*/ 24 w 88"/>
                  <a:gd name="T45" fmla="*/ 11 h 87"/>
                  <a:gd name="T46" fmla="*/ 26 w 88"/>
                  <a:gd name="T47" fmla="*/ 9 h 87"/>
                  <a:gd name="T48" fmla="*/ 28 w 88"/>
                  <a:gd name="T49" fmla="*/ 8 h 87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88"/>
                  <a:gd name="T76" fmla="*/ 0 h 87"/>
                  <a:gd name="T77" fmla="*/ 88 w 88"/>
                  <a:gd name="T78" fmla="*/ 87 h 87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88" h="87">
                    <a:moveTo>
                      <a:pt x="84" y="23"/>
                    </a:moveTo>
                    <a:lnTo>
                      <a:pt x="88" y="18"/>
                    </a:lnTo>
                    <a:lnTo>
                      <a:pt x="87" y="13"/>
                    </a:lnTo>
                    <a:lnTo>
                      <a:pt x="84" y="7"/>
                    </a:lnTo>
                    <a:lnTo>
                      <a:pt x="77" y="3"/>
                    </a:lnTo>
                    <a:lnTo>
                      <a:pt x="71" y="0"/>
                    </a:lnTo>
                    <a:lnTo>
                      <a:pt x="62" y="0"/>
                    </a:lnTo>
                    <a:lnTo>
                      <a:pt x="55" y="1"/>
                    </a:lnTo>
                    <a:lnTo>
                      <a:pt x="47" y="5"/>
                    </a:lnTo>
                    <a:lnTo>
                      <a:pt x="41" y="11"/>
                    </a:lnTo>
                    <a:lnTo>
                      <a:pt x="34" y="20"/>
                    </a:lnTo>
                    <a:lnTo>
                      <a:pt x="25" y="31"/>
                    </a:lnTo>
                    <a:lnTo>
                      <a:pt x="16" y="43"/>
                    </a:lnTo>
                    <a:lnTo>
                      <a:pt x="9" y="56"/>
                    </a:lnTo>
                    <a:lnTo>
                      <a:pt x="3" y="69"/>
                    </a:lnTo>
                    <a:lnTo>
                      <a:pt x="0" y="79"/>
                    </a:lnTo>
                    <a:lnTo>
                      <a:pt x="3" y="87"/>
                    </a:lnTo>
                    <a:lnTo>
                      <a:pt x="15" y="80"/>
                    </a:lnTo>
                    <a:lnTo>
                      <a:pt x="27" y="70"/>
                    </a:lnTo>
                    <a:lnTo>
                      <a:pt x="40" y="60"/>
                    </a:lnTo>
                    <a:lnTo>
                      <a:pt x="52" y="50"/>
                    </a:lnTo>
                    <a:lnTo>
                      <a:pt x="63" y="41"/>
                    </a:lnTo>
                    <a:lnTo>
                      <a:pt x="72" y="33"/>
                    </a:lnTo>
                    <a:lnTo>
                      <a:pt x="80" y="27"/>
                    </a:lnTo>
                    <a:lnTo>
                      <a:pt x="84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0" name="Freeform 74"/>
              <p:cNvSpPr>
                <a:spLocks/>
              </p:cNvSpPr>
              <p:nvPr/>
            </p:nvSpPr>
            <p:spPr bwMode="auto">
              <a:xfrm>
                <a:off x="8536" y="4890"/>
                <a:ext cx="34" cy="9"/>
              </a:xfrm>
              <a:custGeom>
                <a:avLst/>
                <a:gdLst>
                  <a:gd name="T0" fmla="*/ 31 w 102"/>
                  <a:gd name="T1" fmla="*/ 7 h 28"/>
                  <a:gd name="T2" fmla="*/ 32 w 102"/>
                  <a:gd name="T3" fmla="*/ 7 h 28"/>
                  <a:gd name="T4" fmla="*/ 33 w 102"/>
                  <a:gd name="T5" fmla="*/ 6 h 28"/>
                  <a:gd name="T6" fmla="*/ 34 w 102"/>
                  <a:gd name="T7" fmla="*/ 5 h 28"/>
                  <a:gd name="T8" fmla="*/ 34 w 102"/>
                  <a:gd name="T9" fmla="*/ 3 h 28"/>
                  <a:gd name="T10" fmla="*/ 34 w 102"/>
                  <a:gd name="T11" fmla="*/ 2 h 28"/>
                  <a:gd name="T12" fmla="*/ 33 w 102"/>
                  <a:gd name="T13" fmla="*/ 0 h 28"/>
                  <a:gd name="T14" fmla="*/ 31 w 102"/>
                  <a:gd name="T15" fmla="*/ 0 h 28"/>
                  <a:gd name="T16" fmla="*/ 29 w 102"/>
                  <a:gd name="T17" fmla="*/ 0 h 28"/>
                  <a:gd name="T18" fmla="*/ 25 w 102"/>
                  <a:gd name="T19" fmla="*/ 1 h 28"/>
                  <a:gd name="T20" fmla="*/ 20 w 102"/>
                  <a:gd name="T21" fmla="*/ 2 h 28"/>
                  <a:gd name="T22" fmla="*/ 15 w 102"/>
                  <a:gd name="T23" fmla="*/ 3 h 28"/>
                  <a:gd name="T24" fmla="*/ 11 w 102"/>
                  <a:gd name="T25" fmla="*/ 4 h 28"/>
                  <a:gd name="T26" fmla="*/ 7 w 102"/>
                  <a:gd name="T27" fmla="*/ 5 h 28"/>
                  <a:gd name="T28" fmla="*/ 3 w 102"/>
                  <a:gd name="T29" fmla="*/ 6 h 28"/>
                  <a:gd name="T30" fmla="*/ 1 w 102"/>
                  <a:gd name="T31" fmla="*/ 7 h 28"/>
                  <a:gd name="T32" fmla="*/ 0 w 102"/>
                  <a:gd name="T33" fmla="*/ 9 h 28"/>
                  <a:gd name="T34" fmla="*/ 3 w 102"/>
                  <a:gd name="T35" fmla="*/ 9 h 28"/>
                  <a:gd name="T36" fmla="*/ 7 w 102"/>
                  <a:gd name="T37" fmla="*/ 9 h 28"/>
                  <a:gd name="T38" fmla="*/ 11 w 102"/>
                  <a:gd name="T39" fmla="*/ 9 h 28"/>
                  <a:gd name="T40" fmla="*/ 15 w 102"/>
                  <a:gd name="T41" fmla="*/ 9 h 28"/>
                  <a:gd name="T42" fmla="*/ 18 w 102"/>
                  <a:gd name="T43" fmla="*/ 8 h 28"/>
                  <a:gd name="T44" fmla="*/ 22 w 102"/>
                  <a:gd name="T45" fmla="*/ 8 h 28"/>
                  <a:gd name="T46" fmla="*/ 27 w 102"/>
                  <a:gd name="T47" fmla="*/ 8 h 28"/>
                  <a:gd name="T48" fmla="*/ 31 w 102"/>
                  <a:gd name="T49" fmla="*/ 7 h 28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2"/>
                  <a:gd name="T76" fmla="*/ 0 h 28"/>
                  <a:gd name="T77" fmla="*/ 102 w 102"/>
                  <a:gd name="T78" fmla="*/ 28 h 28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2" h="28">
                    <a:moveTo>
                      <a:pt x="92" y="23"/>
                    </a:moveTo>
                    <a:lnTo>
                      <a:pt x="96" y="21"/>
                    </a:lnTo>
                    <a:lnTo>
                      <a:pt x="99" y="18"/>
                    </a:lnTo>
                    <a:lnTo>
                      <a:pt x="101" y="14"/>
                    </a:lnTo>
                    <a:lnTo>
                      <a:pt x="102" y="10"/>
                    </a:lnTo>
                    <a:lnTo>
                      <a:pt x="101" y="5"/>
                    </a:lnTo>
                    <a:lnTo>
                      <a:pt x="98" y="1"/>
                    </a:lnTo>
                    <a:lnTo>
                      <a:pt x="93" y="0"/>
                    </a:lnTo>
                    <a:lnTo>
                      <a:pt x="88" y="0"/>
                    </a:lnTo>
                    <a:lnTo>
                      <a:pt x="76" y="2"/>
                    </a:lnTo>
                    <a:lnTo>
                      <a:pt x="61" y="7"/>
                    </a:lnTo>
                    <a:lnTo>
                      <a:pt x="46" y="10"/>
                    </a:lnTo>
                    <a:lnTo>
                      <a:pt x="33" y="11"/>
                    </a:lnTo>
                    <a:lnTo>
                      <a:pt x="20" y="15"/>
                    </a:lnTo>
                    <a:lnTo>
                      <a:pt x="10" y="18"/>
                    </a:lnTo>
                    <a:lnTo>
                      <a:pt x="2" y="23"/>
                    </a:lnTo>
                    <a:lnTo>
                      <a:pt x="0" y="28"/>
                    </a:lnTo>
                    <a:lnTo>
                      <a:pt x="10" y="28"/>
                    </a:lnTo>
                    <a:lnTo>
                      <a:pt x="20" y="28"/>
                    </a:lnTo>
                    <a:lnTo>
                      <a:pt x="32" y="27"/>
                    </a:lnTo>
                    <a:lnTo>
                      <a:pt x="44" y="27"/>
                    </a:lnTo>
                    <a:lnTo>
                      <a:pt x="55" y="25"/>
                    </a:lnTo>
                    <a:lnTo>
                      <a:pt x="67" y="24"/>
                    </a:lnTo>
                    <a:lnTo>
                      <a:pt x="80" y="24"/>
                    </a:lnTo>
                    <a:lnTo>
                      <a:pt x="92" y="2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1" name="Freeform 75"/>
              <p:cNvSpPr>
                <a:spLocks/>
              </p:cNvSpPr>
              <p:nvPr/>
            </p:nvSpPr>
            <p:spPr bwMode="auto">
              <a:xfrm>
                <a:off x="8550" y="4921"/>
                <a:ext cx="47" cy="12"/>
              </a:xfrm>
              <a:custGeom>
                <a:avLst/>
                <a:gdLst>
                  <a:gd name="T0" fmla="*/ 41 w 142"/>
                  <a:gd name="T1" fmla="*/ 12 h 36"/>
                  <a:gd name="T2" fmla="*/ 43 w 142"/>
                  <a:gd name="T3" fmla="*/ 12 h 36"/>
                  <a:gd name="T4" fmla="*/ 45 w 142"/>
                  <a:gd name="T5" fmla="*/ 11 h 36"/>
                  <a:gd name="T6" fmla="*/ 46 w 142"/>
                  <a:gd name="T7" fmla="*/ 9 h 36"/>
                  <a:gd name="T8" fmla="*/ 47 w 142"/>
                  <a:gd name="T9" fmla="*/ 7 h 36"/>
                  <a:gd name="T10" fmla="*/ 47 w 142"/>
                  <a:gd name="T11" fmla="*/ 5 h 36"/>
                  <a:gd name="T12" fmla="*/ 46 w 142"/>
                  <a:gd name="T13" fmla="*/ 3 h 36"/>
                  <a:gd name="T14" fmla="*/ 44 w 142"/>
                  <a:gd name="T15" fmla="*/ 2 h 36"/>
                  <a:gd name="T16" fmla="*/ 42 w 142"/>
                  <a:gd name="T17" fmla="*/ 1 h 36"/>
                  <a:gd name="T18" fmla="*/ 36 w 142"/>
                  <a:gd name="T19" fmla="*/ 1 h 36"/>
                  <a:gd name="T20" fmla="*/ 29 w 142"/>
                  <a:gd name="T21" fmla="*/ 1 h 36"/>
                  <a:gd name="T22" fmla="*/ 22 w 142"/>
                  <a:gd name="T23" fmla="*/ 1 h 36"/>
                  <a:gd name="T24" fmla="*/ 16 w 142"/>
                  <a:gd name="T25" fmla="*/ 1 h 36"/>
                  <a:gd name="T26" fmla="*/ 10 w 142"/>
                  <a:gd name="T27" fmla="*/ 0 h 36"/>
                  <a:gd name="T28" fmla="*/ 4 w 142"/>
                  <a:gd name="T29" fmla="*/ 1 h 36"/>
                  <a:gd name="T30" fmla="*/ 1 w 142"/>
                  <a:gd name="T31" fmla="*/ 2 h 36"/>
                  <a:gd name="T32" fmla="*/ 0 w 142"/>
                  <a:gd name="T33" fmla="*/ 3 h 36"/>
                  <a:gd name="T34" fmla="*/ 3 w 142"/>
                  <a:gd name="T35" fmla="*/ 4 h 36"/>
                  <a:gd name="T36" fmla="*/ 7 w 142"/>
                  <a:gd name="T37" fmla="*/ 5 h 36"/>
                  <a:gd name="T38" fmla="*/ 13 w 142"/>
                  <a:gd name="T39" fmla="*/ 6 h 36"/>
                  <a:gd name="T40" fmla="*/ 18 w 142"/>
                  <a:gd name="T41" fmla="*/ 7 h 36"/>
                  <a:gd name="T42" fmla="*/ 24 w 142"/>
                  <a:gd name="T43" fmla="*/ 8 h 36"/>
                  <a:gd name="T44" fmla="*/ 29 w 142"/>
                  <a:gd name="T45" fmla="*/ 10 h 36"/>
                  <a:gd name="T46" fmla="*/ 35 w 142"/>
                  <a:gd name="T47" fmla="*/ 11 h 36"/>
                  <a:gd name="T48" fmla="*/ 41 w 142"/>
                  <a:gd name="T49" fmla="*/ 12 h 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42"/>
                  <a:gd name="T76" fmla="*/ 0 h 36"/>
                  <a:gd name="T77" fmla="*/ 142 w 142"/>
                  <a:gd name="T78" fmla="*/ 36 h 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42" h="36">
                    <a:moveTo>
                      <a:pt x="123" y="36"/>
                    </a:moveTo>
                    <a:lnTo>
                      <a:pt x="129" y="36"/>
                    </a:lnTo>
                    <a:lnTo>
                      <a:pt x="135" y="32"/>
                    </a:lnTo>
                    <a:lnTo>
                      <a:pt x="139" y="28"/>
                    </a:lnTo>
                    <a:lnTo>
                      <a:pt x="142" y="20"/>
                    </a:lnTo>
                    <a:lnTo>
                      <a:pt x="141" y="15"/>
                    </a:lnTo>
                    <a:lnTo>
                      <a:pt x="138" y="9"/>
                    </a:lnTo>
                    <a:lnTo>
                      <a:pt x="133" y="5"/>
                    </a:lnTo>
                    <a:lnTo>
                      <a:pt x="126" y="3"/>
                    </a:lnTo>
                    <a:lnTo>
                      <a:pt x="108" y="3"/>
                    </a:lnTo>
                    <a:lnTo>
                      <a:pt x="88" y="3"/>
                    </a:lnTo>
                    <a:lnTo>
                      <a:pt x="67" y="2"/>
                    </a:lnTo>
                    <a:lnTo>
                      <a:pt x="47" y="2"/>
                    </a:lnTo>
                    <a:lnTo>
                      <a:pt x="29" y="0"/>
                    </a:lnTo>
                    <a:lnTo>
                      <a:pt x="13" y="2"/>
                    </a:lnTo>
                    <a:lnTo>
                      <a:pt x="4" y="5"/>
                    </a:lnTo>
                    <a:lnTo>
                      <a:pt x="0" y="9"/>
                    </a:lnTo>
                    <a:lnTo>
                      <a:pt x="10" y="12"/>
                    </a:lnTo>
                    <a:lnTo>
                      <a:pt x="22" y="16"/>
                    </a:lnTo>
                    <a:lnTo>
                      <a:pt x="38" y="19"/>
                    </a:lnTo>
                    <a:lnTo>
                      <a:pt x="54" y="22"/>
                    </a:lnTo>
                    <a:lnTo>
                      <a:pt x="72" y="25"/>
                    </a:lnTo>
                    <a:lnTo>
                      <a:pt x="89" y="29"/>
                    </a:lnTo>
                    <a:lnTo>
                      <a:pt x="107" y="32"/>
                    </a:lnTo>
                    <a:lnTo>
                      <a:pt x="123" y="36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2" name="Freeform 76"/>
              <p:cNvSpPr>
                <a:spLocks/>
              </p:cNvSpPr>
              <p:nvPr/>
            </p:nvSpPr>
            <p:spPr bwMode="auto">
              <a:xfrm>
                <a:off x="8416" y="4751"/>
                <a:ext cx="117" cy="200"/>
              </a:xfrm>
              <a:custGeom>
                <a:avLst/>
                <a:gdLst>
                  <a:gd name="T0" fmla="*/ 36 w 351"/>
                  <a:gd name="T1" fmla="*/ 99 h 601"/>
                  <a:gd name="T2" fmla="*/ 44 w 351"/>
                  <a:gd name="T3" fmla="*/ 112 h 601"/>
                  <a:gd name="T4" fmla="*/ 52 w 351"/>
                  <a:gd name="T5" fmla="*/ 125 h 601"/>
                  <a:gd name="T6" fmla="*/ 61 w 351"/>
                  <a:gd name="T7" fmla="*/ 138 h 601"/>
                  <a:gd name="T8" fmla="*/ 69 w 351"/>
                  <a:gd name="T9" fmla="*/ 150 h 601"/>
                  <a:gd name="T10" fmla="*/ 78 w 351"/>
                  <a:gd name="T11" fmla="*/ 162 h 601"/>
                  <a:gd name="T12" fmla="*/ 88 w 351"/>
                  <a:gd name="T13" fmla="*/ 174 h 601"/>
                  <a:gd name="T14" fmla="*/ 97 w 351"/>
                  <a:gd name="T15" fmla="*/ 186 h 601"/>
                  <a:gd name="T16" fmla="*/ 107 w 351"/>
                  <a:gd name="T17" fmla="*/ 198 h 601"/>
                  <a:gd name="T18" fmla="*/ 109 w 351"/>
                  <a:gd name="T19" fmla="*/ 199 h 601"/>
                  <a:gd name="T20" fmla="*/ 111 w 351"/>
                  <a:gd name="T21" fmla="*/ 200 h 601"/>
                  <a:gd name="T22" fmla="*/ 112 w 351"/>
                  <a:gd name="T23" fmla="*/ 200 h 601"/>
                  <a:gd name="T24" fmla="*/ 114 w 351"/>
                  <a:gd name="T25" fmla="*/ 199 h 601"/>
                  <a:gd name="T26" fmla="*/ 116 w 351"/>
                  <a:gd name="T27" fmla="*/ 198 h 601"/>
                  <a:gd name="T28" fmla="*/ 117 w 351"/>
                  <a:gd name="T29" fmla="*/ 196 h 601"/>
                  <a:gd name="T30" fmla="*/ 117 w 351"/>
                  <a:gd name="T31" fmla="*/ 194 h 601"/>
                  <a:gd name="T32" fmla="*/ 116 w 351"/>
                  <a:gd name="T33" fmla="*/ 192 h 601"/>
                  <a:gd name="T34" fmla="*/ 109 w 351"/>
                  <a:gd name="T35" fmla="*/ 179 h 601"/>
                  <a:gd name="T36" fmla="*/ 101 w 351"/>
                  <a:gd name="T37" fmla="*/ 166 h 601"/>
                  <a:gd name="T38" fmla="*/ 93 w 351"/>
                  <a:gd name="T39" fmla="*/ 154 h 601"/>
                  <a:gd name="T40" fmla="*/ 84 w 351"/>
                  <a:gd name="T41" fmla="*/ 142 h 601"/>
                  <a:gd name="T42" fmla="*/ 75 w 351"/>
                  <a:gd name="T43" fmla="*/ 130 h 601"/>
                  <a:gd name="T44" fmla="*/ 66 w 351"/>
                  <a:gd name="T45" fmla="*/ 118 h 601"/>
                  <a:gd name="T46" fmla="*/ 57 w 351"/>
                  <a:gd name="T47" fmla="*/ 106 h 601"/>
                  <a:gd name="T48" fmla="*/ 49 w 351"/>
                  <a:gd name="T49" fmla="*/ 93 h 601"/>
                  <a:gd name="T50" fmla="*/ 42 w 351"/>
                  <a:gd name="T51" fmla="*/ 81 h 601"/>
                  <a:gd name="T52" fmla="*/ 34 w 351"/>
                  <a:gd name="T53" fmla="*/ 66 h 601"/>
                  <a:gd name="T54" fmla="*/ 26 w 351"/>
                  <a:gd name="T55" fmla="*/ 50 h 601"/>
                  <a:gd name="T56" fmla="*/ 20 w 351"/>
                  <a:gd name="T57" fmla="*/ 35 h 601"/>
                  <a:gd name="T58" fmla="*/ 13 w 351"/>
                  <a:gd name="T59" fmla="*/ 21 h 601"/>
                  <a:gd name="T60" fmla="*/ 7 w 351"/>
                  <a:gd name="T61" fmla="*/ 10 h 601"/>
                  <a:gd name="T62" fmla="*/ 3 w 351"/>
                  <a:gd name="T63" fmla="*/ 2 h 601"/>
                  <a:gd name="T64" fmla="*/ 0 w 351"/>
                  <a:gd name="T65" fmla="*/ 0 h 601"/>
                  <a:gd name="T66" fmla="*/ 1 w 351"/>
                  <a:gd name="T67" fmla="*/ 6 h 601"/>
                  <a:gd name="T68" fmla="*/ 4 w 351"/>
                  <a:gd name="T69" fmla="*/ 15 h 601"/>
                  <a:gd name="T70" fmla="*/ 8 w 351"/>
                  <a:gd name="T71" fmla="*/ 27 h 601"/>
                  <a:gd name="T72" fmla="*/ 13 w 351"/>
                  <a:gd name="T73" fmla="*/ 41 h 601"/>
                  <a:gd name="T74" fmla="*/ 18 w 351"/>
                  <a:gd name="T75" fmla="*/ 57 h 601"/>
                  <a:gd name="T76" fmla="*/ 23 w 351"/>
                  <a:gd name="T77" fmla="*/ 72 h 601"/>
                  <a:gd name="T78" fmla="*/ 30 w 351"/>
                  <a:gd name="T79" fmla="*/ 86 h 601"/>
                  <a:gd name="T80" fmla="*/ 36 w 351"/>
                  <a:gd name="T81" fmla="*/ 99 h 60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351"/>
                  <a:gd name="T124" fmla="*/ 0 h 601"/>
                  <a:gd name="T125" fmla="*/ 351 w 351"/>
                  <a:gd name="T126" fmla="*/ 601 h 60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351" h="601">
                    <a:moveTo>
                      <a:pt x="108" y="298"/>
                    </a:moveTo>
                    <a:lnTo>
                      <a:pt x="132" y="338"/>
                    </a:lnTo>
                    <a:lnTo>
                      <a:pt x="157" y="377"/>
                    </a:lnTo>
                    <a:lnTo>
                      <a:pt x="182" y="414"/>
                    </a:lnTo>
                    <a:lnTo>
                      <a:pt x="208" y="451"/>
                    </a:lnTo>
                    <a:lnTo>
                      <a:pt x="235" y="487"/>
                    </a:lnTo>
                    <a:lnTo>
                      <a:pt x="263" y="523"/>
                    </a:lnTo>
                    <a:lnTo>
                      <a:pt x="292" y="559"/>
                    </a:lnTo>
                    <a:lnTo>
                      <a:pt x="321" y="594"/>
                    </a:lnTo>
                    <a:lnTo>
                      <a:pt x="326" y="598"/>
                    </a:lnTo>
                    <a:lnTo>
                      <a:pt x="332" y="601"/>
                    </a:lnTo>
                    <a:lnTo>
                      <a:pt x="337" y="601"/>
                    </a:lnTo>
                    <a:lnTo>
                      <a:pt x="343" y="598"/>
                    </a:lnTo>
                    <a:lnTo>
                      <a:pt x="349" y="594"/>
                    </a:lnTo>
                    <a:lnTo>
                      <a:pt x="351" y="588"/>
                    </a:lnTo>
                    <a:lnTo>
                      <a:pt x="351" y="582"/>
                    </a:lnTo>
                    <a:lnTo>
                      <a:pt x="349" y="576"/>
                    </a:lnTo>
                    <a:lnTo>
                      <a:pt x="327" y="538"/>
                    </a:lnTo>
                    <a:lnTo>
                      <a:pt x="304" y="499"/>
                    </a:lnTo>
                    <a:lnTo>
                      <a:pt x="279" y="463"/>
                    </a:lnTo>
                    <a:lnTo>
                      <a:pt x="252" y="427"/>
                    </a:lnTo>
                    <a:lnTo>
                      <a:pt x="224" y="391"/>
                    </a:lnTo>
                    <a:lnTo>
                      <a:pt x="198" y="355"/>
                    </a:lnTo>
                    <a:lnTo>
                      <a:pt x="172" y="319"/>
                    </a:lnTo>
                    <a:lnTo>
                      <a:pt x="147" y="280"/>
                    </a:lnTo>
                    <a:lnTo>
                      <a:pt x="125" y="242"/>
                    </a:lnTo>
                    <a:lnTo>
                      <a:pt x="101" y="197"/>
                    </a:lnTo>
                    <a:lnTo>
                      <a:pt x="79" y="150"/>
                    </a:lnTo>
                    <a:lnTo>
                      <a:pt x="59" y="104"/>
                    </a:lnTo>
                    <a:lnTo>
                      <a:pt x="38" y="62"/>
                    </a:lnTo>
                    <a:lnTo>
                      <a:pt x="22" y="29"/>
                    </a:lnTo>
                    <a:lnTo>
                      <a:pt x="9" y="7"/>
                    </a:lnTo>
                    <a:lnTo>
                      <a:pt x="0" y="0"/>
                    </a:lnTo>
                    <a:lnTo>
                      <a:pt x="4" y="17"/>
                    </a:lnTo>
                    <a:lnTo>
                      <a:pt x="13" y="45"/>
                    </a:lnTo>
                    <a:lnTo>
                      <a:pt x="23" y="82"/>
                    </a:lnTo>
                    <a:lnTo>
                      <a:pt x="38" y="124"/>
                    </a:lnTo>
                    <a:lnTo>
                      <a:pt x="54" y="170"/>
                    </a:lnTo>
                    <a:lnTo>
                      <a:pt x="70" y="216"/>
                    </a:lnTo>
                    <a:lnTo>
                      <a:pt x="89" y="259"/>
                    </a:lnTo>
                    <a:lnTo>
                      <a:pt x="108" y="298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3" name="Freeform 77"/>
              <p:cNvSpPr>
                <a:spLocks/>
              </p:cNvSpPr>
              <p:nvPr/>
            </p:nvSpPr>
            <p:spPr bwMode="auto">
              <a:xfrm>
                <a:off x="8100" y="4623"/>
                <a:ext cx="541" cy="495"/>
              </a:xfrm>
              <a:custGeom>
                <a:avLst/>
                <a:gdLst>
                  <a:gd name="T0" fmla="*/ 186 w 2164"/>
                  <a:gd name="T1" fmla="*/ 0 h 1979"/>
                  <a:gd name="T2" fmla="*/ 191 w 2164"/>
                  <a:gd name="T3" fmla="*/ 0 h 1979"/>
                  <a:gd name="T4" fmla="*/ 199 w 2164"/>
                  <a:gd name="T5" fmla="*/ 0 h 1979"/>
                  <a:gd name="T6" fmla="*/ 212 w 2164"/>
                  <a:gd name="T7" fmla="*/ 1 h 1979"/>
                  <a:gd name="T8" fmla="*/ 228 w 2164"/>
                  <a:gd name="T9" fmla="*/ 1 h 1979"/>
                  <a:gd name="T10" fmla="*/ 247 w 2164"/>
                  <a:gd name="T11" fmla="*/ 3 h 1979"/>
                  <a:gd name="T12" fmla="*/ 269 w 2164"/>
                  <a:gd name="T13" fmla="*/ 4 h 1979"/>
                  <a:gd name="T14" fmla="*/ 293 w 2164"/>
                  <a:gd name="T15" fmla="*/ 7 h 1979"/>
                  <a:gd name="T16" fmla="*/ 319 w 2164"/>
                  <a:gd name="T17" fmla="*/ 10 h 1979"/>
                  <a:gd name="T18" fmla="*/ 346 w 2164"/>
                  <a:gd name="T19" fmla="*/ 14 h 1979"/>
                  <a:gd name="T20" fmla="*/ 375 w 2164"/>
                  <a:gd name="T21" fmla="*/ 19 h 1979"/>
                  <a:gd name="T22" fmla="*/ 405 w 2164"/>
                  <a:gd name="T23" fmla="*/ 25 h 1979"/>
                  <a:gd name="T24" fmla="*/ 435 w 2164"/>
                  <a:gd name="T25" fmla="*/ 32 h 1979"/>
                  <a:gd name="T26" fmla="*/ 466 w 2164"/>
                  <a:gd name="T27" fmla="*/ 41 h 1979"/>
                  <a:gd name="T28" fmla="*/ 497 w 2164"/>
                  <a:gd name="T29" fmla="*/ 51 h 1979"/>
                  <a:gd name="T30" fmla="*/ 526 w 2164"/>
                  <a:gd name="T31" fmla="*/ 63 h 1979"/>
                  <a:gd name="T32" fmla="*/ 494 w 2164"/>
                  <a:gd name="T33" fmla="*/ 296 h 1979"/>
                  <a:gd name="T34" fmla="*/ 497 w 2164"/>
                  <a:gd name="T35" fmla="*/ 298 h 1979"/>
                  <a:gd name="T36" fmla="*/ 505 w 2164"/>
                  <a:gd name="T37" fmla="*/ 305 h 1979"/>
                  <a:gd name="T38" fmla="*/ 509 w 2164"/>
                  <a:gd name="T39" fmla="*/ 321 h 1979"/>
                  <a:gd name="T40" fmla="*/ 503 w 2164"/>
                  <a:gd name="T41" fmla="*/ 349 h 1979"/>
                  <a:gd name="T42" fmla="*/ 409 w 2164"/>
                  <a:gd name="T43" fmla="*/ 459 h 1979"/>
                  <a:gd name="T44" fmla="*/ 377 w 2164"/>
                  <a:gd name="T45" fmla="*/ 495 h 1979"/>
                  <a:gd name="T46" fmla="*/ 372 w 2164"/>
                  <a:gd name="T47" fmla="*/ 494 h 1979"/>
                  <a:gd name="T48" fmla="*/ 363 w 2164"/>
                  <a:gd name="T49" fmla="*/ 493 h 1979"/>
                  <a:gd name="T50" fmla="*/ 349 w 2164"/>
                  <a:gd name="T51" fmla="*/ 491 h 1979"/>
                  <a:gd name="T52" fmla="*/ 332 w 2164"/>
                  <a:gd name="T53" fmla="*/ 489 h 1979"/>
                  <a:gd name="T54" fmla="*/ 311 w 2164"/>
                  <a:gd name="T55" fmla="*/ 486 h 1979"/>
                  <a:gd name="T56" fmla="*/ 288 w 2164"/>
                  <a:gd name="T57" fmla="*/ 482 h 1979"/>
                  <a:gd name="T58" fmla="*/ 262 w 2164"/>
                  <a:gd name="T59" fmla="*/ 477 h 1979"/>
                  <a:gd name="T60" fmla="*/ 234 w 2164"/>
                  <a:gd name="T61" fmla="*/ 471 h 1979"/>
                  <a:gd name="T62" fmla="*/ 204 w 2164"/>
                  <a:gd name="T63" fmla="*/ 464 h 1979"/>
                  <a:gd name="T64" fmla="*/ 174 w 2164"/>
                  <a:gd name="T65" fmla="*/ 456 h 1979"/>
                  <a:gd name="T66" fmla="*/ 143 w 2164"/>
                  <a:gd name="T67" fmla="*/ 447 h 1979"/>
                  <a:gd name="T68" fmla="*/ 111 w 2164"/>
                  <a:gd name="T69" fmla="*/ 437 h 1979"/>
                  <a:gd name="T70" fmla="*/ 80 w 2164"/>
                  <a:gd name="T71" fmla="*/ 425 h 1979"/>
                  <a:gd name="T72" fmla="*/ 49 w 2164"/>
                  <a:gd name="T73" fmla="*/ 412 h 1979"/>
                  <a:gd name="T74" fmla="*/ 19 w 2164"/>
                  <a:gd name="T75" fmla="*/ 398 h 1979"/>
                  <a:gd name="T76" fmla="*/ 4 w 2164"/>
                  <a:gd name="T77" fmla="*/ 389 h 1979"/>
                  <a:gd name="T78" fmla="*/ 2 w 2164"/>
                  <a:gd name="T79" fmla="*/ 379 h 1979"/>
                  <a:gd name="T80" fmla="*/ 0 w 2164"/>
                  <a:gd name="T81" fmla="*/ 364 h 1979"/>
                  <a:gd name="T82" fmla="*/ 1 w 2164"/>
                  <a:gd name="T83" fmla="*/ 349 h 1979"/>
                  <a:gd name="T84" fmla="*/ 111 w 2164"/>
                  <a:gd name="T85" fmla="*/ 251 h 1979"/>
                  <a:gd name="T86" fmla="*/ 110 w 2164"/>
                  <a:gd name="T87" fmla="*/ 247 h 1979"/>
                  <a:gd name="T88" fmla="*/ 111 w 2164"/>
                  <a:gd name="T89" fmla="*/ 238 h 1979"/>
                  <a:gd name="T90" fmla="*/ 118 w 2164"/>
                  <a:gd name="T91" fmla="*/ 226 h 1979"/>
                  <a:gd name="T92" fmla="*/ 134 w 2164"/>
                  <a:gd name="T93" fmla="*/ 211 h 1979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w 2164"/>
                  <a:gd name="T142" fmla="*/ 0 h 1979"/>
                  <a:gd name="T143" fmla="*/ 2164 w 2164"/>
                  <a:gd name="T144" fmla="*/ 1979 h 1979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T141" t="T142" r="T143" b="T144"/>
                <a:pathLst>
                  <a:path w="2164" h="1979">
                    <a:moveTo>
                      <a:pt x="743" y="0"/>
                    </a:moveTo>
                    <a:lnTo>
                      <a:pt x="746" y="0"/>
                    </a:lnTo>
                    <a:lnTo>
                      <a:pt x="753" y="0"/>
                    </a:lnTo>
                    <a:lnTo>
                      <a:pt x="763" y="0"/>
                    </a:lnTo>
                    <a:lnTo>
                      <a:pt x="778" y="0"/>
                    </a:lnTo>
                    <a:lnTo>
                      <a:pt x="798" y="1"/>
                    </a:lnTo>
                    <a:lnTo>
                      <a:pt x="822" y="1"/>
                    </a:lnTo>
                    <a:lnTo>
                      <a:pt x="848" y="2"/>
                    </a:lnTo>
                    <a:lnTo>
                      <a:pt x="878" y="3"/>
                    </a:lnTo>
                    <a:lnTo>
                      <a:pt x="912" y="5"/>
                    </a:lnTo>
                    <a:lnTo>
                      <a:pt x="949" y="7"/>
                    </a:lnTo>
                    <a:lnTo>
                      <a:pt x="987" y="10"/>
                    </a:lnTo>
                    <a:lnTo>
                      <a:pt x="1030" y="13"/>
                    </a:lnTo>
                    <a:lnTo>
                      <a:pt x="1074" y="16"/>
                    </a:lnTo>
                    <a:lnTo>
                      <a:pt x="1121" y="21"/>
                    </a:lnTo>
                    <a:lnTo>
                      <a:pt x="1171" y="27"/>
                    </a:lnTo>
                    <a:lnTo>
                      <a:pt x="1222" y="32"/>
                    </a:lnTo>
                    <a:lnTo>
                      <a:pt x="1275" y="39"/>
                    </a:lnTo>
                    <a:lnTo>
                      <a:pt x="1329" y="47"/>
                    </a:lnTo>
                    <a:lnTo>
                      <a:pt x="1386" y="56"/>
                    </a:lnTo>
                    <a:lnTo>
                      <a:pt x="1443" y="65"/>
                    </a:lnTo>
                    <a:lnTo>
                      <a:pt x="1502" y="75"/>
                    </a:lnTo>
                    <a:lnTo>
                      <a:pt x="1560" y="87"/>
                    </a:lnTo>
                    <a:lnTo>
                      <a:pt x="1620" y="100"/>
                    </a:lnTo>
                    <a:lnTo>
                      <a:pt x="1681" y="115"/>
                    </a:lnTo>
                    <a:lnTo>
                      <a:pt x="1742" y="129"/>
                    </a:lnTo>
                    <a:lnTo>
                      <a:pt x="1804" y="146"/>
                    </a:lnTo>
                    <a:lnTo>
                      <a:pt x="1865" y="164"/>
                    </a:lnTo>
                    <a:lnTo>
                      <a:pt x="1926" y="183"/>
                    </a:lnTo>
                    <a:lnTo>
                      <a:pt x="1987" y="204"/>
                    </a:lnTo>
                    <a:lnTo>
                      <a:pt x="2047" y="226"/>
                    </a:lnTo>
                    <a:lnTo>
                      <a:pt x="2105" y="250"/>
                    </a:lnTo>
                    <a:lnTo>
                      <a:pt x="2164" y="276"/>
                    </a:lnTo>
                    <a:lnTo>
                      <a:pt x="1975" y="1184"/>
                    </a:lnTo>
                    <a:lnTo>
                      <a:pt x="1980" y="1185"/>
                    </a:lnTo>
                    <a:lnTo>
                      <a:pt x="1990" y="1191"/>
                    </a:lnTo>
                    <a:lnTo>
                      <a:pt x="2005" y="1201"/>
                    </a:lnTo>
                    <a:lnTo>
                      <a:pt x="2020" y="1219"/>
                    </a:lnTo>
                    <a:lnTo>
                      <a:pt x="2031" y="1246"/>
                    </a:lnTo>
                    <a:lnTo>
                      <a:pt x="2035" y="1282"/>
                    </a:lnTo>
                    <a:lnTo>
                      <a:pt x="2030" y="1332"/>
                    </a:lnTo>
                    <a:lnTo>
                      <a:pt x="2011" y="1394"/>
                    </a:lnTo>
                    <a:lnTo>
                      <a:pt x="1681" y="1835"/>
                    </a:lnTo>
                    <a:lnTo>
                      <a:pt x="1636" y="1835"/>
                    </a:lnTo>
                    <a:lnTo>
                      <a:pt x="1512" y="1979"/>
                    </a:lnTo>
                    <a:lnTo>
                      <a:pt x="1510" y="1979"/>
                    </a:lnTo>
                    <a:lnTo>
                      <a:pt x="1502" y="1978"/>
                    </a:lnTo>
                    <a:lnTo>
                      <a:pt x="1490" y="1977"/>
                    </a:lnTo>
                    <a:lnTo>
                      <a:pt x="1474" y="1974"/>
                    </a:lnTo>
                    <a:lnTo>
                      <a:pt x="1451" y="1972"/>
                    </a:lnTo>
                    <a:lnTo>
                      <a:pt x="1427" y="1969"/>
                    </a:lnTo>
                    <a:lnTo>
                      <a:pt x="1397" y="1965"/>
                    </a:lnTo>
                    <a:lnTo>
                      <a:pt x="1364" y="1961"/>
                    </a:lnTo>
                    <a:lnTo>
                      <a:pt x="1328" y="1955"/>
                    </a:lnTo>
                    <a:lnTo>
                      <a:pt x="1288" y="1950"/>
                    </a:lnTo>
                    <a:lnTo>
                      <a:pt x="1246" y="1943"/>
                    </a:lnTo>
                    <a:lnTo>
                      <a:pt x="1200" y="1935"/>
                    </a:lnTo>
                    <a:lnTo>
                      <a:pt x="1152" y="1927"/>
                    </a:lnTo>
                    <a:lnTo>
                      <a:pt x="1101" y="1918"/>
                    </a:lnTo>
                    <a:lnTo>
                      <a:pt x="1049" y="1907"/>
                    </a:lnTo>
                    <a:lnTo>
                      <a:pt x="993" y="1896"/>
                    </a:lnTo>
                    <a:lnTo>
                      <a:pt x="937" y="1884"/>
                    </a:lnTo>
                    <a:lnTo>
                      <a:pt x="878" y="1871"/>
                    </a:lnTo>
                    <a:lnTo>
                      <a:pt x="818" y="1856"/>
                    </a:lnTo>
                    <a:lnTo>
                      <a:pt x="758" y="1841"/>
                    </a:lnTo>
                    <a:lnTo>
                      <a:pt x="696" y="1824"/>
                    </a:lnTo>
                    <a:lnTo>
                      <a:pt x="634" y="1806"/>
                    </a:lnTo>
                    <a:lnTo>
                      <a:pt x="572" y="1787"/>
                    </a:lnTo>
                    <a:lnTo>
                      <a:pt x="508" y="1768"/>
                    </a:lnTo>
                    <a:lnTo>
                      <a:pt x="445" y="1747"/>
                    </a:lnTo>
                    <a:lnTo>
                      <a:pt x="382" y="1724"/>
                    </a:lnTo>
                    <a:lnTo>
                      <a:pt x="319" y="1700"/>
                    </a:lnTo>
                    <a:lnTo>
                      <a:pt x="257" y="1674"/>
                    </a:lnTo>
                    <a:lnTo>
                      <a:pt x="196" y="1647"/>
                    </a:lnTo>
                    <a:lnTo>
                      <a:pt x="135" y="1620"/>
                    </a:lnTo>
                    <a:lnTo>
                      <a:pt x="76" y="1590"/>
                    </a:lnTo>
                    <a:lnTo>
                      <a:pt x="19" y="1559"/>
                    </a:lnTo>
                    <a:lnTo>
                      <a:pt x="18" y="1554"/>
                    </a:lnTo>
                    <a:lnTo>
                      <a:pt x="13" y="1538"/>
                    </a:lnTo>
                    <a:lnTo>
                      <a:pt x="8" y="1514"/>
                    </a:lnTo>
                    <a:lnTo>
                      <a:pt x="3" y="1486"/>
                    </a:lnTo>
                    <a:lnTo>
                      <a:pt x="0" y="1456"/>
                    </a:lnTo>
                    <a:lnTo>
                      <a:pt x="0" y="1424"/>
                    </a:lnTo>
                    <a:lnTo>
                      <a:pt x="3" y="1396"/>
                    </a:lnTo>
                    <a:lnTo>
                      <a:pt x="13" y="1371"/>
                    </a:lnTo>
                    <a:lnTo>
                      <a:pt x="443" y="1002"/>
                    </a:lnTo>
                    <a:lnTo>
                      <a:pt x="441" y="999"/>
                    </a:lnTo>
                    <a:lnTo>
                      <a:pt x="440" y="989"/>
                    </a:lnTo>
                    <a:lnTo>
                      <a:pt x="440" y="973"/>
                    </a:lnTo>
                    <a:lnTo>
                      <a:pt x="445" y="953"/>
                    </a:lnTo>
                    <a:lnTo>
                      <a:pt x="453" y="928"/>
                    </a:lnTo>
                    <a:lnTo>
                      <a:pt x="471" y="902"/>
                    </a:lnTo>
                    <a:lnTo>
                      <a:pt x="497" y="874"/>
                    </a:lnTo>
                    <a:lnTo>
                      <a:pt x="534" y="845"/>
                    </a:lnTo>
                    <a:lnTo>
                      <a:pt x="743" y="0"/>
                    </a:lnTo>
                    <a:close/>
                  </a:path>
                </a:pathLst>
              </a:custGeom>
              <a:solidFill>
                <a:srgbClr val="80808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4" name="Freeform 78"/>
              <p:cNvSpPr>
                <a:spLocks/>
              </p:cNvSpPr>
              <p:nvPr/>
            </p:nvSpPr>
            <p:spPr bwMode="auto">
              <a:xfrm>
                <a:off x="8279" y="4656"/>
                <a:ext cx="311" cy="233"/>
              </a:xfrm>
              <a:custGeom>
                <a:avLst/>
                <a:gdLst>
                  <a:gd name="T0" fmla="*/ 41 w 1244"/>
                  <a:gd name="T1" fmla="*/ 0 h 930"/>
                  <a:gd name="T2" fmla="*/ 311 w 1244"/>
                  <a:gd name="T3" fmla="*/ 54 h 930"/>
                  <a:gd name="T4" fmla="*/ 267 w 1244"/>
                  <a:gd name="T5" fmla="*/ 233 h 930"/>
                  <a:gd name="T6" fmla="*/ 0 w 1244"/>
                  <a:gd name="T7" fmla="*/ 172 h 930"/>
                  <a:gd name="T8" fmla="*/ 41 w 1244"/>
                  <a:gd name="T9" fmla="*/ 0 h 9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44"/>
                  <a:gd name="T16" fmla="*/ 0 h 930"/>
                  <a:gd name="T17" fmla="*/ 1244 w 1244"/>
                  <a:gd name="T18" fmla="*/ 930 h 9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44" h="930">
                    <a:moveTo>
                      <a:pt x="164" y="0"/>
                    </a:moveTo>
                    <a:lnTo>
                      <a:pt x="1244" y="214"/>
                    </a:lnTo>
                    <a:lnTo>
                      <a:pt x="1067" y="930"/>
                    </a:lnTo>
                    <a:lnTo>
                      <a:pt x="0" y="68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rgbClr val="C0C0C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5" name="Freeform 79"/>
              <p:cNvSpPr>
                <a:spLocks/>
              </p:cNvSpPr>
              <p:nvPr/>
            </p:nvSpPr>
            <p:spPr bwMode="auto">
              <a:xfrm>
                <a:off x="8300" y="4672"/>
                <a:ext cx="237" cy="91"/>
              </a:xfrm>
              <a:custGeom>
                <a:avLst/>
                <a:gdLst>
                  <a:gd name="T0" fmla="*/ 28 w 952"/>
                  <a:gd name="T1" fmla="*/ 0 h 366"/>
                  <a:gd name="T2" fmla="*/ 237 w 952"/>
                  <a:gd name="T3" fmla="*/ 38 h 366"/>
                  <a:gd name="T4" fmla="*/ 50 w 952"/>
                  <a:gd name="T5" fmla="*/ 27 h 366"/>
                  <a:gd name="T6" fmla="*/ 0 w 952"/>
                  <a:gd name="T7" fmla="*/ 91 h 366"/>
                  <a:gd name="T8" fmla="*/ 28 w 952"/>
                  <a:gd name="T9" fmla="*/ 0 h 3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2"/>
                  <a:gd name="T16" fmla="*/ 0 h 366"/>
                  <a:gd name="T17" fmla="*/ 952 w 952"/>
                  <a:gd name="T18" fmla="*/ 366 h 3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2" h="366">
                    <a:moveTo>
                      <a:pt x="112" y="0"/>
                    </a:moveTo>
                    <a:lnTo>
                      <a:pt x="952" y="153"/>
                    </a:lnTo>
                    <a:lnTo>
                      <a:pt x="200" y="108"/>
                    </a:lnTo>
                    <a:lnTo>
                      <a:pt x="0" y="366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6" name="Freeform 80"/>
              <p:cNvSpPr>
                <a:spLocks/>
              </p:cNvSpPr>
              <p:nvPr/>
            </p:nvSpPr>
            <p:spPr bwMode="auto">
              <a:xfrm>
                <a:off x="8222" y="4885"/>
                <a:ext cx="315" cy="84"/>
              </a:xfrm>
              <a:custGeom>
                <a:avLst/>
                <a:gdLst>
                  <a:gd name="T0" fmla="*/ 10 w 1259"/>
                  <a:gd name="T1" fmla="*/ 0 h 337"/>
                  <a:gd name="T2" fmla="*/ 315 w 1259"/>
                  <a:gd name="T3" fmla="*/ 72 h 337"/>
                  <a:gd name="T4" fmla="*/ 307 w 1259"/>
                  <a:gd name="T5" fmla="*/ 84 h 337"/>
                  <a:gd name="T6" fmla="*/ 0 w 1259"/>
                  <a:gd name="T7" fmla="*/ 8 h 337"/>
                  <a:gd name="T8" fmla="*/ 10 w 1259"/>
                  <a:gd name="T9" fmla="*/ 0 h 3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59"/>
                  <a:gd name="T16" fmla="*/ 0 h 337"/>
                  <a:gd name="T17" fmla="*/ 1259 w 1259"/>
                  <a:gd name="T18" fmla="*/ 337 h 3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59" h="337">
                    <a:moveTo>
                      <a:pt x="40" y="0"/>
                    </a:moveTo>
                    <a:lnTo>
                      <a:pt x="1259" y="288"/>
                    </a:lnTo>
                    <a:lnTo>
                      <a:pt x="1226" y="337"/>
                    </a:lnTo>
                    <a:lnTo>
                      <a:pt x="0" y="32"/>
                    </a:lnTo>
                    <a:lnTo>
                      <a:pt x="40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7" name="Freeform 81"/>
              <p:cNvSpPr>
                <a:spLocks/>
              </p:cNvSpPr>
              <p:nvPr/>
            </p:nvSpPr>
            <p:spPr bwMode="auto">
              <a:xfrm>
                <a:off x="8193" y="4910"/>
                <a:ext cx="316" cy="86"/>
              </a:xfrm>
              <a:custGeom>
                <a:avLst/>
                <a:gdLst>
                  <a:gd name="T0" fmla="*/ 11 w 1265"/>
                  <a:gd name="T1" fmla="*/ 0 h 342"/>
                  <a:gd name="T2" fmla="*/ 316 w 1265"/>
                  <a:gd name="T3" fmla="*/ 72 h 342"/>
                  <a:gd name="T4" fmla="*/ 306 w 1265"/>
                  <a:gd name="T5" fmla="*/ 86 h 342"/>
                  <a:gd name="T6" fmla="*/ 0 w 1265"/>
                  <a:gd name="T7" fmla="*/ 9 h 342"/>
                  <a:gd name="T8" fmla="*/ 11 w 1265"/>
                  <a:gd name="T9" fmla="*/ 0 h 3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5"/>
                  <a:gd name="T16" fmla="*/ 0 h 342"/>
                  <a:gd name="T17" fmla="*/ 1265 w 1265"/>
                  <a:gd name="T18" fmla="*/ 342 h 3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5" h="342">
                    <a:moveTo>
                      <a:pt x="46" y="0"/>
                    </a:moveTo>
                    <a:lnTo>
                      <a:pt x="1265" y="286"/>
                    </a:lnTo>
                    <a:lnTo>
                      <a:pt x="1226" y="342"/>
                    </a:lnTo>
                    <a:lnTo>
                      <a:pt x="0" y="37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8" name="Freeform 82"/>
              <p:cNvSpPr>
                <a:spLocks/>
              </p:cNvSpPr>
              <p:nvPr/>
            </p:nvSpPr>
            <p:spPr bwMode="auto">
              <a:xfrm>
                <a:off x="8165" y="4936"/>
                <a:ext cx="316" cy="86"/>
              </a:xfrm>
              <a:custGeom>
                <a:avLst/>
                <a:gdLst>
                  <a:gd name="T0" fmla="*/ 11 w 1264"/>
                  <a:gd name="T1" fmla="*/ 0 h 344"/>
                  <a:gd name="T2" fmla="*/ 316 w 1264"/>
                  <a:gd name="T3" fmla="*/ 72 h 344"/>
                  <a:gd name="T4" fmla="*/ 306 w 1264"/>
                  <a:gd name="T5" fmla="*/ 86 h 344"/>
                  <a:gd name="T6" fmla="*/ 0 w 1264"/>
                  <a:gd name="T7" fmla="*/ 9 h 344"/>
                  <a:gd name="T8" fmla="*/ 11 w 1264"/>
                  <a:gd name="T9" fmla="*/ 0 h 3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64"/>
                  <a:gd name="T16" fmla="*/ 0 h 344"/>
                  <a:gd name="T17" fmla="*/ 1264 w 1264"/>
                  <a:gd name="T18" fmla="*/ 344 h 3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64" h="344">
                    <a:moveTo>
                      <a:pt x="45" y="0"/>
                    </a:moveTo>
                    <a:lnTo>
                      <a:pt x="1264" y="287"/>
                    </a:lnTo>
                    <a:lnTo>
                      <a:pt x="1224" y="344"/>
                    </a:lnTo>
                    <a:lnTo>
                      <a:pt x="0" y="37"/>
                    </a:lnTo>
                    <a:lnTo>
                      <a:pt x="45" y="0"/>
                    </a:lnTo>
                    <a:close/>
                  </a:path>
                </a:pathLst>
              </a:custGeom>
              <a:solidFill>
                <a:srgbClr val="7F7F7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9" name="Freeform 83"/>
              <p:cNvSpPr>
                <a:spLocks/>
              </p:cNvSpPr>
              <p:nvPr/>
            </p:nvSpPr>
            <p:spPr bwMode="auto">
              <a:xfrm>
                <a:off x="8243" y="4989"/>
                <a:ext cx="48" cy="19"/>
              </a:xfrm>
              <a:custGeom>
                <a:avLst/>
                <a:gdLst>
                  <a:gd name="T0" fmla="*/ 5 w 190"/>
                  <a:gd name="T1" fmla="*/ 0 h 79"/>
                  <a:gd name="T2" fmla="*/ 6 w 190"/>
                  <a:gd name="T3" fmla="*/ 0 h 79"/>
                  <a:gd name="T4" fmla="*/ 10 w 190"/>
                  <a:gd name="T5" fmla="*/ 0 h 79"/>
                  <a:gd name="T6" fmla="*/ 16 w 190"/>
                  <a:gd name="T7" fmla="*/ 0 h 79"/>
                  <a:gd name="T8" fmla="*/ 23 w 190"/>
                  <a:gd name="T9" fmla="*/ 1 h 79"/>
                  <a:gd name="T10" fmla="*/ 30 w 190"/>
                  <a:gd name="T11" fmla="*/ 2 h 79"/>
                  <a:gd name="T12" fmla="*/ 37 w 190"/>
                  <a:gd name="T13" fmla="*/ 4 h 79"/>
                  <a:gd name="T14" fmla="*/ 44 w 190"/>
                  <a:gd name="T15" fmla="*/ 8 h 79"/>
                  <a:gd name="T16" fmla="*/ 48 w 190"/>
                  <a:gd name="T17" fmla="*/ 14 h 79"/>
                  <a:gd name="T18" fmla="*/ 48 w 190"/>
                  <a:gd name="T19" fmla="*/ 14 h 79"/>
                  <a:gd name="T20" fmla="*/ 48 w 190"/>
                  <a:gd name="T21" fmla="*/ 15 h 79"/>
                  <a:gd name="T22" fmla="*/ 48 w 190"/>
                  <a:gd name="T23" fmla="*/ 16 h 79"/>
                  <a:gd name="T24" fmla="*/ 47 w 190"/>
                  <a:gd name="T25" fmla="*/ 18 h 79"/>
                  <a:gd name="T26" fmla="*/ 46 w 190"/>
                  <a:gd name="T27" fmla="*/ 19 h 79"/>
                  <a:gd name="T28" fmla="*/ 44 w 190"/>
                  <a:gd name="T29" fmla="*/ 19 h 79"/>
                  <a:gd name="T30" fmla="*/ 40 w 190"/>
                  <a:gd name="T31" fmla="*/ 19 h 79"/>
                  <a:gd name="T32" fmla="*/ 36 w 190"/>
                  <a:gd name="T33" fmla="*/ 17 h 79"/>
                  <a:gd name="T34" fmla="*/ 36 w 190"/>
                  <a:gd name="T35" fmla="*/ 17 h 79"/>
                  <a:gd name="T36" fmla="*/ 36 w 190"/>
                  <a:gd name="T37" fmla="*/ 16 h 79"/>
                  <a:gd name="T38" fmla="*/ 35 w 190"/>
                  <a:gd name="T39" fmla="*/ 14 h 79"/>
                  <a:gd name="T40" fmla="*/ 33 w 190"/>
                  <a:gd name="T41" fmla="*/ 12 h 79"/>
                  <a:gd name="T42" fmla="*/ 29 w 190"/>
                  <a:gd name="T43" fmla="*/ 10 h 79"/>
                  <a:gd name="T44" fmla="*/ 24 w 190"/>
                  <a:gd name="T45" fmla="*/ 8 h 79"/>
                  <a:gd name="T46" fmla="*/ 16 w 190"/>
                  <a:gd name="T47" fmla="*/ 8 h 79"/>
                  <a:gd name="T48" fmla="*/ 6 w 190"/>
                  <a:gd name="T49" fmla="*/ 8 h 79"/>
                  <a:gd name="T50" fmla="*/ 5 w 190"/>
                  <a:gd name="T51" fmla="*/ 8 h 79"/>
                  <a:gd name="T52" fmla="*/ 4 w 190"/>
                  <a:gd name="T53" fmla="*/ 7 h 79"/>
                  <a:gd name="T54" fmla="*/ 2 w 190"/>
                  <a:gd name="T55" fmla="*/ 6 h 79"/>
                  <a:gd name="T56" fmla="*/ 1 w 190"/>
                  <a:gd name="T57" fmla="*/ 6 h 79"/>
                  <a:gd name="T58" fmla="*/ 0 w 190"/>
                  <a:gd name="T59" fmla="*/ 5 h 79"/>
                  <a:gd name="T60" fmla="*/ 0 w 190"/>
                  <a:gd name="T61" fmla="*/ 4 h 79"/>
                  <a:gd name="T62" fmla="*/ 2 w 190"/>
                  <a:gd name="T63" fmla="*/ 2 h 79"/>
                  <a:gd name="T64" fmla="*/ 5 w 190"/>
                  <a:gd name="T65" fmla="*/ 0 h 7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0"/>
                  <a:gd name="T100" fmla="*/ 0 h 79"/>
                  <a:gd name="T101" fmla="*/ 190 w 190"/>
                  <a:gd name="T102" fmla="*/ 79 h 7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0" h="79">
                    <a:moveTo>
                      <a:pt x="18" y="1"/>
                    </a:moveTo>
                    <a:lnTo>
                      <a:pt x="23" y="1"/>
                    </a:lnTo>
                    <a:lnTo>
                      <a:pt x="40" y="0"/>
                    </a:lnTo>
                    <a:lnTo>
                      <a:pt x="62" y="0"/>
                    </a:lnTo>
                    <a:lnTo>
                      <a:pt x="90" y="3"/>
                    </a:lnTo>
                    <a:lnTo>
                      <a:pt x="120" y="8"/>
                    </a:lnTo>
                    <a:lnTo>
                      <a:pt x="148" y="18"/>
                    </a:lnTo>
                    <a:lnTo>
                      <a:pt x="173" y="34"/>
                    </a:lnTo>
                    <a:lnTo>
                      <a:pt x="190" y="57"/>
                    </a:lnTo>
                    <a:lnTo>
                      <a:pt x="190" y="58"/>
                    </a:lnTo>
                    <a:lnTo>
                      <a:pt x="190" y="62"/>
                    </a:lnTo>
                    <a:lnTo>
                      <a:pt x="189" y="68"/>
                    </a:lnTo>
                    <a:lnTo>
                      <a:pt x="187" y="74"/>
                    </a:lnTo>
                    <a:lnTo>
                      <a:pt x="181" y="78"/>
                    </a:lnTo>
                    <a:lnTo>
                      <a:pt x="173" y="79"/>
                    </a:lnTo>
                    <a:lnTo>
                      <a:pt x="160" y="78"/>
                    </a:lnTo>
                    <a:lnTo>
                      <a:pt x="143" y="71"/>
                    </a:lnTo>
                    <a:lnTo>
                      <a:pt x="143" y="69"/>
                    </a:lnTo>
                    <a:lnTo>
                      <a:pt x="142" y="65"/>
                    </a:lnTo>
                    <a:lnTo>
                      <a:pt x="139" y="58"/>
                    </a:lnTo>
                    <a:lnTo>
                      <a:pt x="130" y="50"/>
                    </a:lnTo>
                    <a:lnTo>
                      <a:pt x="116" y="42"/>
                    </a:lnTo>
                    <a:lnTo>
                      <a:pt x="94" y="35"/>
                    </a:lnTo>
                    <a:lnTo>
                      <a:pt x="63" y="32"/>
                    </a:lnTo>
                    <a:lnTo>
                      <a:pt x="22" y="32"/>
                    </a:lnTo>
                    <a:lnTo>
                      <a:pt x="20" y="32"/>
                    </a:lnTo>
                    <a:lnTo>
                      <a:pt x="15" y="30"/>
                    </a:lnTo>
                    <a:lnTo>
                      <a:pt x="9" y="27"/>
                    </a:lnTo>
                    <a:lnTo>
                      <a:pt x="5" y="24"/>
                    </a:lnTo>
                    <a:lnTo>
                      <a:pt x="0" y="19"/>
                    </a:lnTo>
                    <a:lnTo>
                      <a:pt x="0" y="15"/>
                    </a:lnTo>
                    <a:lnTo>
                      <a:pt x="6" y="8"/>
                    </a:lnTo>
                    <a:lnTo>
                      <a:pt x="18" y="1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0" name="Freeform 84"/>
              <p:cNvSpPr>
                <a:spLocks/>
              </p:cNvSpPr>
              <p:nvPr/>
            </p:nvSpPr>
            <p:spPr bwMode="auto">
              <a:xfrm>
                <a:off x="8246" y="5003"/>
                <a:ext cx="27" cy="15"/>
              </a:xfrm>
              <a:custGeom>
                <a:avLst/>
                <a:gdLst>
                  <a:gd name="T0" fmla="*/ 11 w 107"/>
                  <a:gd name="T1" fmla="*/ 14 h 63"/>
                  <a:gd name="T2" fmla="*/ 14 w 107"/>
                  <a:gd name="T3" fmla="*/ 15 h 63"/>
                  <a:gd name="T4" fmla="*/ 16 w 107"/>
                  <a:gd name="T5" fmla="*/ 15 h 63"/>
                  <a:gd name="T6" fmla="*/ 19 w 107"/>
                  <a:gd name="T7" fmla="*/ 15 h 63"/>
                  <a:gd name="T8" fmla="*/ 21 w 107"/>
                  <a:gd name="T9" fmla="*/ 15 h 63"/>
                  <a:gd name="T10" fmla="*/ 23 w 107"/>
                  <a:gd name="T11" fmla="*/ 15 h 63"/>
                  <a:gd name="T12" fmla="*/ 24 w 107"/>
                  <a:gd name="T13" fmla="*/ 14 h 63"/>
                  <a:gd name="T14" fmla="*/ 26 w 107"/>
                  <a:gd name="T15" fmla="*/ 13 h 63"/>
                  <a:gd name="T16" fmla="*/ 27 w 107"/>
                  <a:gd name="T17" fmla="*/ 11 h 63"/>
                  <a:gd name="T18" fmla="*/ 27 w 107"/>
                  <a:gd name="T19" fmla="*/ 10 h 63"/>
                  <a:gd name="T20" fmla="*/ 27 w 107"/>
                  <a:gd name="T21" fmla="*/ 9 h 63"/>
                  <a:gd name="T22" fmla="*/ 26 w 107"/>
                  <a:gd name="T23" fmla="*/ 7 h 63"/>
                  <a:gd name="T24" fmla="*/ 24 w 107"/>
                  <a:gd name="T25" fmla="*/ 6 h 63"/>
                  <a:gd name="T26" fmla="*/ 23 w 107"/>
                  <a:gd name="T27" fmla="*/ 5 h 63"/>
                  <a:gd name="T28" fmla="*/ 21 w 107"/>
                  <a:gd name="T29" fmla="*/ 3 h 63"/>
                  <a:gd name="T30" fmla="*/ 19 w 107"/>
                  <a:gd name="T31" fmla="*/ 2 h 63"/>
                  <a:gd name="T32" fmla="*/ 16 w 107"/>
                  <a:gd name="T33" fmla="*/ 1 h 63"/>
                  <a:gd name="T34" fmla="*/ 13 w 107"/>
                  <a:gd name="T35" fmla="*/ 0 h 63"/>
                  <a:gd name="T36" fmla="*/ 11 w 107"/>
                  <a:gd name="T37" fmla="*/ 0 h 63"/>
                  <a:gd name="T38" fmla="*/ 8 w 107"/>
                  <a:gd name="T39" fmla="*/ 0 h 63"/>
                  <a:gd name="T40" fmla="*/ 6 w 107"/>
                  <a:gd name="T41" fmla="*/ 0 h 63"/>
                  <a:gd name="T42" fmla="*/ 4 w 107"/>
                  <a:gd name="T43" fmla="*/ 0 h 63"/>
                  <a:gd name="T44" fmla="*/ 2 w 107"/>
                  <a:gd name="T45" fmla="*/ 1 h 63"/>
                  <a:gd name="T46" fmla="*/ 1 w 107"/>
                  <a:gd name="T47" fmla="*/ 2 h 63"/>
                  <a:gd name="T48" fmla="*/ 0 w 107"/>
                  <a:gd name="T49" fmla="*/ 3 h 63"/>
                  <a:gd name="T50" fmla="*/ 0 w 107"/>
                  <a:gd name="T51" fmla="*/ 5 h 63"/>
                  <a:gd name="T52" fmla="*/ 0 w 107"/>
                  <a:gd name="T53" fmla="*/ 6 h 63"/>
                  <a:gd name="T54" fmla="*/ 1 w 107"/>
                  <a:gd name="T55" fmla="*/ 8 h 63"/>
                  <a:gd name="T56" fmla="*/ 2 w 107"/>
                  <a:gd name="T57" fmla="*/ 9 h 63"/>
                  <a:gd name="T58" fmla="*/ 4 w 107"/>
                  <a:gd name="T59" fmla="*/ 10 h 63"/>
                  <a:gd name="T60" fmla="*/ 6 w 107"/>
                  <a:gd name="T61" fmla="*/ 12 h 63"/>
                  <a:gd name="T62" fmla="*/ 8 w 107"/>
                  <a:gd name="T63" fmla="*/ 13 h 63"/>
                  <a:gd name="T64" fmla="*/ 11 w 107"/>
                  <a:gd name="T65" fmla="*/ 14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07"/>
                  <a:gd name="T100" fmla="*/ 0 h 63"/>
                  <a:gd name="T101" fmla="*/ 107 w 107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07" h="63">
                    <a:moveTo>
                      <a:pt x="43" y="58"/>
                    </a:moveTo>
                    <a:lnTo>
                      <a:pt x="54" y="61"/>
                    </a:lnTo>
                    <a:lnTo>
                      <a:pt x="64" y="63"/>
                    </a:lnTo>
                    <a:lnTo>
                      <a:pt x="74" y="63"/>
                    </a:lnTo>
                    <a:lnTo>
                      <a:pt x="83" y="63"/>
                    </a:lnTo>
                    <a:lnTo>
                      <a:pt x="91" y="61"/>
                    </a:lnTo>
                    <a:lnTo>
                      <a:pt x="97" y="57"/>
                    </a:lnTo>
                    <a:lnTo>
                      <a:pt x="102" y="54"/>
                    </a:lnTo>
                    <a:lnTo>
                      <a:pt x="106" y="48"/>
                    </a:lnTo>
                    <a:lnTo>
                      <a:pt x="107" y="43"/>
                    </a:lnTo>
                    <a:lnTo>
                      <a:pt x="106" y="37"/>
                    </a:lnTo>
                    <a:lnTo>
                      <a:pt x="102" y="30"/>
                    </a:lnTo>
                    <a:lnTo>
                      <a:pt x="97" y="24"/>
                    </a:lnTo>
                    <a:lnTo>
                      <a:pt x="90" y="19"/>
                    </a:lnTo>
                    <a:lnTo>
                      <a:pt x="82" y="13"/>
                    </a:lnTo>
                    <a:lnTo>
                      <a:pt x="74" y="9"/>
                    </a:lnTo>
                    <a:lnTo>
                      <a:pt x="63" y="4"/>
                    </a:lnTo>
                    <a:lnTo>
                      <a:pt x="53" y="2"/>
                    </a:lnTo>
                    <a:lnTo>
                      <a:pt x="42" y="0"/>
                    </a:lnTo>
                    <a:lnTo>
                      <a:pt x="32" y="0"/>
                    </a:lnTo>
                    <a:lnTo>
                      <a:pt x="23" y="1"/>
                    </a:lnTo>
                    <a:lnTo>
                      <a:pt x="15" y="2"/>
                    </a:lnTo>
                    <a:lnTo>
                      <a:pt x="8" y="5"/>
                    </a:lnTo>
                    <a:lnTo>
                      <a:pt x="3" y="10"/>
                    </a:lnTo>
                    <a:lnTo>
                      <a:pt x="1" y="14"/>
                    </a:lnTo>
                    <a:lnTo>
                      <a:pt x="0" y="20"/>
                    </a:lnTo>
                    <a:lnTo>
                      <a:pt x="1" y="26"/>
                    </a:lnTo>
                    <a:lnTo>
                      <a:pt x="5" y="32"/>
                    </a:lnTo>
                    <a:lnTo>
                      <a:pt x="9" y="38"/>
                    </a:lnTo>
                    <a:lnTo>
                      <a:pt x="16" y="44"/>
                    </a:lnTo>
                    <a:lnTo>
                      <a:pt x="25" y="49"/>
                    </a:lnTo>
                    <a:lnTo>
                      <a:pt x="33" y="54"/>
                    </a:lnTo>
                    <a:lnTo>
                      <a:pt x="43" y="58"/>
                    </a:lnTo>
                    <a:close/>
                  </a:path>
                </a:pathLst>
              </a:custGeom>
              <a:solidFill>
                <a:srgbClr val="BFBF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1" name="Freeform 85"/>
              <p:cNvSpPr>
                <a:spLocks/>
              </p:cNvSpPr>
              <p:nvPr/>
            </p:nvSpPr>
            <p:spPr bwMode="auto">
              <a:xfrm>
                <a:off x="8113" y="4974"/>
                <a:ext cx="367" cy="131"/>
              </a:xfrm>
              <a:custGeom>
                <a:avLst/>
                <a:gdLst>
                  <a:gd name="T0" fmla="*/ 366 w 1469"/>
                  <a:gd name="T1" fmla="*/ 102 h 525"/>
                  <a:gd name="T2" fmla="*/ 361 w 1469"/>
                  <a:gd name="T3" fmla="*/ 101 h 525"/>
                  <a:gd name="T4" fmla="*/ 352 w 1469"/>
                  <a:gd name="T5" fmla="*/ 100 h 525"/>
                  <a:gd name="T6" fmla="*/ 338 w 1469"/>
                  <a:gd name="T7" fmla="*/ 98 h 525"/>
                  <a:gd name="T8" fmla="*/ 321 w 1469"/>
                  <a:gd name="T9" fmla="*/ 96 h 525"/>
                  <a:gd name="T10" fmla="*/ 301 w 1469"/>
                  <a:gd name="T11" fmla="*/ 92 h 525"/>
                  <a:gd name="T12" fmla="*/ 277 w 1469"/>
                  <a:gd name="T13" fmla="*/ 88 h 525"/>
                  <a:gd name="T14" fmla="*/ 252 w 1469"/>
                  <a:gd name="T15" fmla="*/ 84 h 525"/>
                  <a:gd name="T16" fmla="*/ 224 w 1469"/>
                  <a:gd name="T17" fmla="*/ 78 h 525"/>
                  <a:gd name="T18" fmla="*/ 195 w 1469"/>
                  <a:gd name="T19" fmla="*/ 71 h 525"/>
                  <a:gd name="T20" fmla="*/ 166 w 1469"/>
                  <a:gd name="T21" fmla="*/ 63 h 525"/>
                  <a:gd name="T22" fmla="*/ 135 w 1469"/>
                  <a:gd name="T23" fmla="*/ 54 h 525"/>
                  <a:gd name="T24" fmla="*/ 104 w 1469"/>
                  <a:gd name="T25" fmla="*/ 44 h 525"/>
                  <a:gd name="T26" fmla="*/ 74 w 1469"/>
                  <a:gd name="T27" fmla="*/ 33 h 525"/>
                  <a:gd name="T28" fmla="*/ 44 w 1469"/>
                  <a:gd name="T29" fmla="*/ 21 h 525"/>
                  <a:gd name="T30" fmla="*/ 16 w 1469"/>
                  <a:gd name="T31" fmla="*/ 7 h 525"/>
                  <a:gd name="T32" fmla="*/ 2 w 1469"/>
                  <a:gd name="T33" fmla="*/ 1 h 525"/>
                  <a:gd name="T34" fmla="*/ 1 w 1469"/>
                  <a:gd name="T35" fmla="*/ 8 h 525"/>
                  <a:gd name="T36" fmla="*/ 0 w 1469"/>
                  <a:gd name="T37" fmla="*/ 20 h 525"/>
                  <a:gd name="T38" fmla="*/ 2 w 1469"/>
                  <a:gd name="T39" fmla="*/ 31 h 525"/>
                  <a:gd name="T40" fmla="*/ 6 w 1469"/>
                  <a:gd name="T41" fmla="*/ 36 h 525"/>
                  <a:gd name="T42" fmla="*/ 8 w 1469"/>
                  <a:gd name="T43" fmla="*/ 37 h 525"/>
                  <a:gd name="T44" fmla="*/ 13 w 1469"/>
                  <a:gd name="T45" fmla="*/ 40 h 525"/>
                  <a:gd name="T46" fmla="*/ 21 w 1469"/>
                  <a:gd name="T47" fmla="*/ 44 h 525"/>
                  <a:gd name="T48" fmla="*/ 32 w 1469"/>
                  <a:gd name="T49" fmla="*/ 49 h 525"/>
                  <a:gd name="T50" fmla="*/ 45 w 1469"/>
                  <a:gd name="T51" fmla="*/ 55 h 525"/>
                  <a:gd name="T52" fmla="*/ 62 w 1469"/>
                  <a:gd name="T53" fmla="*/ 62 h 525"/>
                  <a:gd name="T54" fmla="*/ 80 w 1469"/>
                  <a:gd name="T55" fmla="*/ 69 h 525"/>
                  <a:gd name="T56" fmla="*/ 102 w 1469"/>
                  <a:gd name="T57" fmla="*/ 77 h 525"/>
                  <a:gd name="T58" fmla="*/ 127 w 1469"/>
                  <a:gd name="T59" fmla="*/ 85 h 525"/>
                  <a:gd name="T60" fmla="*/ 154 w 1469"/>
                  <a:gd name="T61" fmla="*/ 93 h 525"/>
                  <a:gd name="T62" fmla="*/ 185 w 1469"/>
                  <a:gd name="T63" fmla="*/ 100 h 525"/>
                  <a:gd name="T64" fmla="*/ 218 w 1469"/>
                  <a:gd name="T65" fmla="*/ 108 h 525"/>
                  <a:gd name="T66" fmla="*/ 254 w 1469"/>
                  <a:gd name="T67" fmla="*/ 115 h 525"/>
                  <a:gd name="T68" fmla="*/ 294 w 1469"/>
                  <a:gd name="T69" fmla="*/ 122 h 525"/>
                  <a:gd name="T70" fmla="*/ 336 w 1469"/>
                  <a:gd name="T71" fmla="*/ 128 h 525"/>
                  <a:gd name="T72" fmla="*/ 359 w 1469"/>
                  <a:gd name="T73" fmla="*/ 131 h 525"/>
                  <a:gd name="T74" fmla="*/ 362 w 1469"/>
                  <a:gd name="T75" fmla="*/ 126 h 525"/>
                  <a:gd name="T76" fmla="*/ 365 w 1469"/>
                  <a:gd name="T77" fmla="*/ 118 h 525"/>
                  <a:gd name="T78" fmla="*/ 367 w 1469"/>
                  <a:gd name="T79" fmla="*/ 108 h 525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w 1469"/>
                  <a:gd name="T121" fmla="*/ 0 h 525"/>
                  <a:gd name="T122" fmla="*/ 1469 w 1469"/>
                  <a:gd name="T123" fmla="*/ 525 h 525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T120" t="T121" r="T122" b="T123"/>
                <a:pathLst>
                  <a:path w="1469" h="525">
                    <a:moveTo>
                      <a:pt x="1468" y="407"/>
                    </a:moveTo>
                    <a:lnTo>
                      <a:pt x="1466" y="407"/>
                    </a:lnTo>
                    <a:lnTo>
                      <a:pt x="1458" y="406"/>
                    </a:lnTo>
                    <a:lnTo>
                      <a:pt x="1446" y="405"/>
                    </a:lnTo>
                    <a:lnTo>
                      <a:pt x="1429" y="402"/>
                    </a:lnTo>
                    <a:lnTo>
                      <a:pt x="1408" y="400"/>
                    </a:lnTo>
                    <a:lnTo>
                      <a:pt x="1382" y="397"/>
                    </a:lnTo>
                    <a:lnTo>
                      <a:pt x="1353" y="393"/>
                    </a:lnTo>
                    <a:lnTo>
                      <a:pt x="1321" y="389"/>
                    </a:lnTo>
                    <a:lnTo>
                      <a:pt x="1285" y="383"/>
                    </a:lnTo>
                    <a:lnTo>
                      <a:pt x="1245" y="376"/>
                    </a:lnTo>
                    <a:lnTo>
                      <a:pt x="1203" y="370"/>
                    </a:lnTo>
                    <a:lnTo>
                      <a:pt x="1158" y="363"/>
                    </a:lnTo>
                    <a:lnTo>
                      <a:pt x="1110" y="354"/>
                    </a:lnTo>
                    <a:lnTo>
                      <a:pt x="1060" y="345"/>
                    </a:lnTo>
                    <a:lnTo>
                      <a:pt x="1008" y="335"/>
                    </a:lnTo>
                    <a:lnTo>
                      <a:pt x="954" y="323"/>
                    </a:lnTo>
                    <a:lnTo>
                      <a:pt x="898" y="311"/>
                    </a:lnTo>
                    <a:lnTo>
                      <a:pt x="841" y="299"/>
                    </a:lnTo>
                    <a:lnTo>
                      <a:pt x="782" y="284"/>
                    </a:lnTo>
                    <a:lnTo>
                      <a:pt x="723" y="269"/>
                    </a:lnTo>
                    <a:lnTo>
                      <a:pt x="663" y="253"/>
                    </a:lnTo>
                    <a:lnTo>
                      <a:pt x="602" y="236"/>
                    </a:lnTo>
                    <a:lnTo>
                      <a:pt x="541" y="217"/>
                    </a:lnTo>
                    <a:lnTo>
                      <a:pt x="480" y="198"/>
                    </a:lnTo>
                    <a:lnTo>
                      <a:pt x="417" y="178"/>
                    </a:lnTo>
                    <a:lnTo>
                      <a:pt x="356" y="156"/>
                    </a:lnTo>
                    <a:lnTo>
                      <a:pt x="296" y="133"/>
                    </a:lnTo>
                    <a:lnTo>
                      <a:pt x="236" y="109"/>
                    </a:lnTo>
                    <a:lnTo>
                      <a:pt x="178" y="84"/>
                    </a:lnTo>
                    <a:lnTo>
                      <a:pt x="120" y="57"/>
                    </a:lnTo>
                    <a:lnTo>
                      <a:pt x="64" y="29"/>
                    </a:lnTo>
                    <a:lnTo>
                      <a:pt x="9" y="0"/>
                    </a:lnTo>
                    <a:lnTo>
                      <a:pt x="7" y="4"/>
                    </a:lnTo>
                    <a:lnTo>
                      <a:pt x="5" y="15"/>
                    </a:lnTo>
                    <a:lnTo>
                      <a:pt x="3" y="33"/>
                    </a:lnTo>
                    <a:lnTo>
                      <a:pt x="0" y="55"/>
                    </a:lnTo>
                    <a:lnTo>
                      <a:pt x="0" y="79"/>
                    </a:lnTo>
                    <a:lnTo>
                      <a:pt x="3" y="102"/>
                    </a:lnTo>
                    <a:lnTo>
                      <a:pt x="10" y="125"/>
                    </a:lnTo>
                    <a:lnTo>
                      <a:pt x="22" y="143"/>
                    </a:lnTo>
                    <a:lnTo>
                      <a:pt x="23" y="144"/>
                    </a:lnTo>
                    <a:lnTo>
                      <a:pt x="26" y="146"/>
                    </a:lnTo>
                    <a:lnTo>
                      <a:pt x="33" y="150"/>
                    </a:lnTo>
                    <a:lnTo>
                      <a:pt x="43" y="154"/>
                    </a:lnTo>
                    <a:lnTo>
                      <a:pt x="54" y="161"/>
                    </a:lnTo>
                    <a:lnTo>
                      <a:pt x="69" y="169"/>
                    </a:lnTo>
                    <a:lnTo>
                      <a:pt x="86" y="177"/>
                    </a:lnTo>
                    <a:lnTo>
                      <a:pt x="106" y="187"/>
                    </a:lnTo>
                    <a:lnTo>
                      <a:pt x="128" y="197"/>
                    </a:lnTo>
                    <a:lnTo>
                      <a:pt x="154" y="208"/>
                    </a:lnTo>
                    <a:lnTo>
                      <a:pt x="182" y="221"/>
                    </a:lnTo>
                    <a:lnTo>
                      <a:pt x="213" y="234"/>
                    </a:lnTo>
                    <a:lnTo>
                      <a:pt x="247" y="248"/>
                    </a:lnTo>
                    <a:lnTo>
                      <a:pt x="283" y="262"/>
                    </a:lnTo>
                    <a:lnTo>
                      <a:pt x="322" y="277"/>
                    </a:lnTo>
                    <a:lnTo>
                      <a:pt x="364" y="292"/>
                    </a:lnTo>
                    <a:lnTo>
                      <a:pt x="410" y="308"/>
                    </a:lnTo>
                    <a:lnTo>
                      <a:pt x="457" y="323"/>
                    </a:lnTo>
                    <a:lnTo>
                      <a:pt x="508" y="339"/>
                    </a:lnTo>
                    <a:lnTo>
                      <a:pt x="562" y="355"/>
                    </a:lnTo>
                    <a:lnTo>
                      <a:pt x="618" y="371"/>
                    </a:lnTo>
                    <a:lnTo>
                      <a:pt x="678" y="387"/>
                    </a:lnTo>
                    <a:lnTo>
                      <a:pt x="740" y="402"/>
                    </a:lnTo>
                    <a:lnTo>
                      <a:pt x="805" y="418"/>
                    </a:lnTo>
                    <a:lnTo>
                      <a:pt x="874" y="433"/>
                    </a:lnTo>
                    <a:lnTo>
                      <a:pt x="945" y="449"/>
                    </a:lnTo>
                    <a:lnTo>
                      <a:pt x="1018" y="462"/>
                    </a:lnTo>
                    <a:lnTo>
                      <a:pt x="1096" y="477"/>
                    </a:lnTo>
                    <a:lnTo>
                      <a:pt x="1176" y="490"/>
                    </a:lnTo>
                    <a:lnTo>
                      <a:pt x="1259" y="503"/>
                    </a:lnTo>
                    <a:lnTo>
                      <a:pt x="1346" y="514"/>
                    </a:lnTo>
                    <a:lnTo>
                      <a:pt x="1435" y="525"/>
                    </a:lnTo>
                    <a:lnTo>
                      <a:pt x="1436" y="523"/>
                    </a:lnTo>
                    <a:lnTo>
                      <a:pt x="1441" y="516"/>
                    </a:lnTo>
                    <a:lnTo>
                      <a:pt x="1447" y="506"/>
                    </a:lnTo>
                    <a:lnTo>
                      <a:pt x="1454" y="491"/>
                    </a:lnTo>
                    <a:lnTo>
                      <a:pt x="1461" y="474"/>
                    </a:lnTo>
                    <a:lnTo>
                      <a:pt x="1466" y="454"/>
                    </a:lnTo>
                    <a:lnTo>
                      <a:pt x="1469" y="432"/>
                    </a:lnTo>
                    <a:lnTo>
                      <a:pt x="1468" y="407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2" name="Freeform 86"/>
              <p:cNvSpPr>
                <a:spLocks/>
              </p:cNvSpPr>
              <p:nvPr/>
            </p:nvSpPr>
            <p:spPr bwMode="auto">
              <a:xfrm>
                <a:off x="8253" y="4846"/>
                <a:ext cx="42" cy="29"/>
              </a:xfrm>
              <a:custGeom>
                <a:avLst/>
                <a:gdLst>
                  <a:gd name="T0" fmla="*/ 13 w 170"/>
                  <a:gd name="T1" fmla="*/ 0 h 120"/>
                  <a:gd name="T2" fmla="*/ 12 w 170"/>
                  <a:gd name="T3" fmla="*/ 0 h 120"/>
                  <a:gd name="T4" fmla="*/ 10 w 170"/>
                  <a:gd name="T5" fmla="*/ 1 h 120"/>
                  <a:gd name="T6" fmla="*/ 7 w 170"/>
                  <a:gd name="T7" fmla="*/ 2 h 120"/>
                  <a:gd name="T8" fmla="*/ 4 w 170"/>
                  <a:gd name="T9" fmla="*/ 4 h 120"/>
                  <a:gd name="T10" fmla="*/ 2 w 170"/>
                  <a:gd name="T11" fmla="*/ 6 h 120"/>
                  <a:gd name="T12" fmla="*/ 0 w 170"/>
                  <a:gd name="T13" fmla="*/ 10 h 120"/>
                  <a:gd name="T14" fmla="*/ 0 w 170"/>
                  <a:gd name="T15" fmla="*/ 16 h 120"/>
                  <a:gd name="T16" fmla="*/ 2 w 170"/>
                  <a:gd name="T17" fmla="*/ 23 h 120"/>
                  <a:gd name="T18" fmla="*/ 24 w 170"/>
                  <a:gd name="T19" fmla="*/ 29 h 120"/>
                  <a:gd name="T20" fmla="*/ 24 w 170"/>
                  <a:gd name="T21" fmla="*/ 28 h 120"/>
                  <a:gd name="T22" fmla="*/ 24 w 170"/>
                  <a:gd name="T23" fmla="*/ 25 h 120"/>
                  <a:gd name="T24" fmla="*/ 24 w 170"/>
                  <a:gd name="T25" fmla="*/ 20 h 120"/>
                  <a:gd name="T26" fmla="*/ 25 w 170"/>
                  <a:gd name="T27" fmla="*/ 15 h 120"/>
                  <a:gd name="T28" fmla="*/ 27 w 170"/>
                  <a:gd name="T29" fmla="*/ 11 h 120"/>
                  <a:gd name="T30" fmla="*/ 30 w 170"/>
                  <a:gd name="T31" fmla="*/ 7 h 120"/>
                  <a:gd name="T32" fmla="*/ 35 w 170"/>
                  <a:gd name="T33" fmla="*/ 5 h 120"/>
                  <a:gd name="T34" fmla="*/ 42 w 170"/>
                  <a:gd name="T35" fmla="*/ 6 h 120"/>
                  <a:gd name="T36" fmla="*/ 13 w 170"/>
                  <a:gd name="T37" fmla="*/ 0 h 12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20"/>
                  <a:gd name="T59" fmla="*/ 170 w 170"/>
                  <a:gd name="T60" fmla="*/ 120 h 120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20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30" y="7"/>
                    </a:lnTo>
                    <a:lnTo>
                      <a:pt x="17" y="15"/>
                    </a:lnTo>
                    <a:lnTo>
                      <a:pt x="7" y="26"/>
                    </a:lnTo>
                    <a:lnTo>
                      <a:pt x="1" y="43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8" y="120"/>
                    </a:lnTo>
                    <a:lnTo>
                      <a:pt x="97" y="114"/>
                    </a:lnTo>
                    <a:lnTo>
                      <a:pt x="97" y="102"/>
                    </a:lnTo>
                    <a:lnTo>
                      <a:pt x="97" y="84"/>
                    </a:lnTo>
                    <a:lnTo>
                      <a:pt x="101" y="64"/>
                    </a:lnTo>
                    <a:lnTo>
                      <a:pt x="108" y="44"/>
                    </a:lnTo>
                    <a:lnTo>
                      <a:pt x="121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3" name="Freeform 87"/>
              <p:cNvSpPr>
                <a:spLocks/>
              </p:cNvSpPr>
              <p:nvPr/>
            </p:nvSpPr>
            <p:spPr bwMode="auto">
              <a:xfrm>
                <a:off x="8494" y="4901"/>
                <a:ext cx="43" cy="29"/>
              </a:xfrm>
              <a:custGeom>
                <a:avLst/>
                <a:gdLst>
                  <a:gd name="T0" fmla="*/ 13 w 170"/>
                  <a:gd name="T1" fmla="*/ 0 h 119"/>
                  <a:gd name="T2" fmla="*/ 12 w 170"/>
                  <a:gd name="T3" fmla="*/ 0 h 119"/>
                  <a:gd name="T4" fmla="*/ 10 w 170"/>
                  <a:gd name="T5" fmla="*/ 1 h 119"/>
                  <a:gd name="T6" fmla="*/ 7 w 170"/>
                  <a:gd name="T7" fmla="*/ 2 h 119"/>
                  <a:gd name="T8" fmla="*/ 5 w 170"/>
                  <a:gd name="T9" fmla="*/ 3 h 119"/>
                  <a:gd name="T10" fmla="*/ 2 w 170"/>
                  <a:gd name="T11" fmla="*/ 6 h 119"/>
                  <a:gd name="T12" fmla="*/ 0 w 170"/>
                  <a:gd name="T13" fmla="*/ 10 h 119"/>
                  <a:gd name="T14" fmla="*/ 0 w 170"/>
                  <a:gd name="T15" fmla="*/ 16 h 119"/>
                  <a:gd name="T16" fmla="*/ 2 w 170"/>
                  <a:gd name="T17" fmla="*/ 23 h 119"/>
                  <a:gd name="T18" fmla="*/ 25 w 170"/>
                  <a:gd name="T19" fmla="*/ 29 h 119"/>
                  <a:gd name="T20" fmla="*/ 24 w 170"/>
                  <a:gd name="T21" fmla="*/ 28 h 119"/>
                  <a:gd name="T22" fmla="*/ 24 w 170"/>
                  <a:gd name="T23" fmla="*/ 25 h 119"/>
                  <a:gd name="T24" fmla="*/ 24 w 170"/>
                  <a:gd name="T25" fmla="*/ 20 h 119"/>
                  <a:gd name="T26" fmla="*/ 25 w 170"/>
                  <a:gd name="T27" fmla="*/ 15 h 119"/>
                  <a:gd name="T28" fmla="*/ 27 w 170"/>
                  <a:gd name="T29" fmla="*/ 11 h 119"/>
                  <a:gd name="T30" fmla="*/ 30 w 170"/>
                  <a:gd name="T31" fmla="*/ 7 h 119"/>
                  <a:gd name="T32" fmla="*/ 36 w 170"/>
                  <a:gd name="T33" fmla="*/ 5 h 119"/>
                  <a:gd name="T34" fmla="*/ 43 w 170"/>
                  <a:gd name="T35" fmla="*/ 6 h 119"/>
                  <a:gd name="T36" fmla="*/ 13 w 170"/>
                  <a:gd name="T37" fmla="*/ 0 h 11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170"/>
                  <a:gd name="T58" fmla="*/ 0 h 119"/>
                  <a:gd name="T59" fmla="*/ 170 w 170"/>
                  <a:gd name="T60" fmla="*/ 119 h 119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170" h="119">
                    <a:moveTo>
                      <a:pt x="53" y="0"/>
                    </a:moveTo>
                    <a:lnTo>
                      <a:pt x="49" y="0"/>
                    </a:lnTo>
                    <a:lnTo>
                      <a:pt x="41" y="3"/>
                    </a:lnTo>
                    <a:lnTo>
                      <a:pt x="29" y="7"/>
                    </a:lnTo>
                    <a:lnTo>
                      <a:pt x="18" y="14"/>
                    </a:lnTo>
                    <a:lnTo>
                      <a:pt x="7" y="25"/>
                    </a:lnTo>
                    <a:lnTo>
                      <a:pt x="0" y="42"/>
                    </a:lnTo>
                    <a:lnTo>
                      <a:pt x="0" y="65"/>
                    </a:lnTo>
                    <a:lnTo>
                      <a:pt x="7" y="94"/>
                    </a:lnTo>
                    <a:lnTo>
                      <a:pt x="97" y="119"/>
                    </a:lnTo>
                    <a:lnTo>
                      <a:pt x="96" y="114"/>
                    </a:lnTo>
                    <a:lnTo>
                      <a:pt x="96" y="101"/>
                    </a:lnTo>
                    <a:lnTo>
                      <a:pt x="96" y="83"/>
                    </a:lnTo>
                    <a:lnTo>
                      <a:pt x="100" y="62"/>
                    </a:lnTo>
                    <a:lnTo>
                      <a:pt x="107" y="44"/>
                    </a:lnTo>
                    <a:lnTo>
                      <a:pt x="120" y="30"/>
                    </a:lnTo>
                    <a:lnTo>
                      <a:pt x="141" y="22"/>
                    </a:lnTo>
                    <a:lnTo>
                      <a:pt x="170" y="25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4" name="Freeform 88"/>
              <p:cNvSpPr>
                <a:spLocks/>
              </p:cNvSpPr>
              <p:nvPr/>
            </p:nvSpPr>
            <p:spPr bwMode="auto">
              <a:xfrm>
                <a:off x="8299" y="4855"/>
                <a:ext cx="182" cy="50"/>
              </a:xfrm>
              <a:custGeom>
                <a:avLst/>
                <a:gdLst>
                  <a:gd name="T0" fmla="*/ 0 w 730"/>
                  <a:gd name="T1" fmla="*/ 11 h 200"/>
                  <a:gd name="T2" fmla="*/ 174 w 730"/>
                  <a:gd name="T3" fmla="*/ 50 h 200"/>
                  <a:gd name="T4" fmla="*/ 182 w 730"/>
                  <a:gd name="T5" fmla="*/ 39 h 200"/>
                  <a:gd name="T6" fmla="*/ 8 w 730"/>
                  <a:gd name="T7" fmla="*/ 0 h 200"/>
                  <a:gd name="T8" fmla="*/ 0 w 730"/>
                  <a:gd name="T9" fmla="*/ 11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30"/>
                  <a:gd name="T16" fmla="*/ 0 h 200"/>
                  <a:gd name="T17" fmla="*/ 730 w 730"/>
                  <a:gd name="T18" fmla="*/ 200 h 2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30" h="200">
                    <a:moveTo>
                      <a:pt x="0" y="44"/>
                    </a:moveTo>
                    <a:lnTo>
                      <a:pt x="697" y="200"/>
                    </a:lnTo>
                    <a:lnTo>
                      <a:pt x="730" y="156"/>
                    </a:lnTo>
                    <a:lnTo>
                      <a:pt x="33" y="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5" name="Freeform 89"/>
              <p:cNvSpPr>
                <a:spLocks/>
              </p:cNvSpPr>
              <p:nvPr/>
            </p:nvSpPr>
            <p:spPr bwMode="auto">
              <a:xfrm>
                <a:off x="8297" y="4875"/>
                <a:ext cx="176" cy="47"/>
              </a:xfrm>
              <a:custGeom>
                <a:avLst/>
                <a:gdLst>
                  <a:gd name="T0" fmla="*/ 0 w 703"/>
                  <a:gd name="T1" fmla="*/ 8 h 187"/>
                  <a:gd name="T2" fmla="*/ 174 w 703"/>
                  <a:gd name="T3" fmla="*/ 47 h 187"/>
                  <a:gd name="T4" fmla="*/ 176 w 703"/>
                  <a:gd name="T5" fmla="*/ 39 h 187"/>
                  <a:gd name="T6" fmla="*/ 2 w 703"/>
                  <a:gd name="T7" fmla="*/ 0 h 187"/>
                  <a:gd name="T8" fmla="*/ 0 w 703"/>
                  <a:gd name="T9" fmla="*/ 8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3"/>
                  <a:gd name="T16" fmla="*/ 0 h 187"/>
                  <a:gd name="T17" fmla="*/ 703 w 703"/>
                  <a:gd name="T18" fmla="*/ 187 h 18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3" h="187">
                    <a:moveTo>
                      <a:pt x="0" y="30"/>
                    </a:moveTo>
                    <a:lnTo>
                      <a:pt x="696" y="187"/>
                    </a:lnTo>
                    <a:lnTo>
                      <a:pt x="703" y="157"/>
                    </a:lnTo>
                    <a:lnTo>
                      <a:pt x="6" y="0"/>
                    </a:lnTo>
                    <a:lnTo>
                      <a:pt x="0" y="3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6" name="Freeform 90"/>
              <p:cNvSpPr>
                <a:spLocks/>
              </p:cNvSpPr>
              <p:nvPr/>
            </p:nvSpPr>
            <p:spPr bwMode="auto">
              <a:xfrm>
                <a:off x="8486" y="4969"/>
                <a:ext cx="106" cy="127"/>
              </a:xfrm>
              <a:custGeom>
                <a:avLst/>
                <a:gdLst>
                  <a:gd name="T0" fmla="*/ 0 w 424"/>
                  <a:gd name="T1" fmla="*/ 127 h 508"/>
                  <a:gd name="T2" fmla="*/ 22 w 424"/>
                  <a:gd name="T3" fmla="*/ 97 h 508"/>
                  <a:gd name="T4" fmla="*/ 31 w 424"/>
                  <a:gd name="T5" fmla="*/ 97 h 508"/>
                  <a:gd name="T6" fmla="*/ 106 w 424"/>
                  <a:gd name="T7" fmla="*/ 0 h 508"/>
                  <a:gd name="T8" fmla="*/ 33 w 424"/>
                  <a:gd name="T9" fmla="*/ 71 h 508"/>
                  <a:gd name="T10" fmla="*/ 17 w 424"/>
                  <a:gd name="T11" fmla="*/ 72 h 508"/>
                  <a:gd name="T12" fmla="*/ 0 w 424"/>
                  <a:gd name="T13" fmla="*/ 90 h 508"/>
                  <a:gd name="T14" fmla="*/ 0 w 424"/>
                  <a:gd name="T15" fmla="*/ 127 h 5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424"/>
                  <a:gd name="T25" fmla="*/ 0 h 508"/>
                  <a:gd name="T26" fmla="*/ 424 w 424"/>
                  <a:gd name="T27" fmla="*/ 508 h 50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424" h="508">
                    <a:moveTo>
                      <a:pt x="0" y="508"/>
                    </a:moveTo>
                    <a:lnTo>
                      <a:pt x="86" y="388"/>
                    </a:lnTo>
                    <a:lnTo>
                      <a:pt x="124" y="388"/>
                    </a:lnTo>
                    <a:lnTo>
                      <a:pt x="424" y="0"/>
                    </a:lnTo>
                    <a:lnTo>
                      <a:pt x="130" y="282"/>
                    </a:lnTo>
                    <a:lnTo>
                      <a:pt x="66" y="289"/>
                    </a:lnTo>
                    <a:lnTo>
                      <a:pt x="0" y="358"/>
                    </a:lnTo>
                    <a:lnTo>
                      <a:pt x="0" y="508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7" name="Freeform 91"/>
              <p:cNvSpPr>
                <a:spLocks/>
              </p:cNvSpPr>
              <p:nvPr/>
            </p:nvSpPr>
            <p:spPr bwMode="auto">
              <a:xfrm>
                <a:off x="8312" y="4637"/>
                <a:ext cx="296" cy="61"/>
              </a:xfrm>
              <a:custGeom>
                <a:avLst/>
                <a:gdLst>
                  <a:gd name="T0" fmla="*/ 0 w 1186"/>
                  <a:gd name="T1" fmla="*/ 0 h 245"/>
                  <a:gd name="T2" fmla="*/ 296 w 1186"/>
                  <a:gd name="T3" fmla="*/ 61 h 245"/>
                  <a:gd name="T4" fmla="*/ 296 w 1186"/>
                  <a:gd name="T5" fmla="*/ 61 h 245"/>
                  <a:gd name="T6" fmla="*/ 295 w 1186"/>
                  <a:gd name="T7" fmla="*/ 60 h 245"/>
                  <a:gd name="T8" fmla="*/ 293 w 1186"/>
                  <a:gd name="T9" fmla="*/ 60 h 245"/>
                  <a:gd name="T10" fmla="*/ 290 w 1186"/>
                  <a:gd name="T11" fmla="*/ 58 h 245"/>
                  <a:gd name="T12" fmla="*/ 286 w 1186"/>
                  <a:gd name="T13" fmla="*/ 57 h 245"/>
                  <a:gd name="T14" fmla="*/ 282 w 1186"/>
                  <a:gd name="T15" fmla="*/ 55 h 245"/>
                  <a:gd name="T16" fmla="*/ 278 w 1186"/>
                  <a:gd name="T17" fmla="*/ 53 h 245"/>
                  <a:gd name="T18" fmla="*/ 272 w 1186"/>
                  <a:gd name="T19" fmla="*/ 51 h 245"/>
                  <a:gd name="T20" fmla="*/ 266 w 1186"/>
                  <a:gd name="T21" fmla="*/ 49 h 245"/>
                  <a:gd name="T22" fmla="*/ 259 w 1186"/>
                  <a:gd name="T23" fmla="*/ 47 h 245"/>
                  <a:gd name="T24" fmla="*/ 252 w 1186"/>
                  <a:gd name="T25" fmla="*/ 44 h 245"/>
                  <a:gd name="T26" fmla="*/ 244 w 1186"/>
                  <a:gd name="T27" fmla="*/ 41 h 245"/>
                  <a:gd name="T28" fmla="*/ 236 w 1186"/>
                  <a:gd name="T29" fmla="*/ 38 h 245"/>
                  <a:gd name="T30" fmla="*/ 227 w 1186"/>
                  <a:gd name="T31" fmla="*/ 36 h 245"/>
                  <a:gd name="T32" fmla="*/ 217 w 1186"/>
                  <a:gd name="T33" fmla="*/ 33 h 245"/>
                  <a:gd name="T34" fmla="*/ 208 w 1186"/>
                  <a:gd name="T35" fmla="*/ 30 h 245"/>
                  <a:gd name="T36" fmla="*/ 197 w 1186"/>
                  <a:gd name="T37" fmla="*/ 27 h 245"/>
                  <a:gd name="T38" fmla="*/ 186 w 1186"/>
                  <a:gd name="T39" fmla="*/ 24 h 245"/>
                  <a:gd name="T40" fmla="*/ 175 w 1186"/>
                  <a:gd name="T41" fmla="*/ 21 h 245"/>
                  <a:gd name="T42" fmla="*/ 163 w 1186"/>
                  <a:gd name="T43" fmla="*/ 18 h 245"/>
                  <a:gd name="T44" fmla="*/ 151 w 1186"/>
                  <a:gd name="T45" fmla="*/ 16 h 245"/>
                  <a:gd name="T46" fmla="*/ 139 w 1186"/>
                  <a:gd name="T47" fmla="*/ 13 h 245"/>
                  <a:gd name="T48" fmla="*/ 126 w 1186"/>
                  <a:gd name="T49" fmla="*/ 11 h 245"/>
                  <a:gd name="T50" fmla="*/ 113 w 1186"/>
                  <a:gd name="T51" fmla="*/ 9 h 245"/>
                  <a:gd name="T52" fmla="*/ 100 w 1186"/>
                  <a:gd name="T53" fmla="*/ 7 h 245"/>
                  <a:gd name="T54" fmla="*/ 86 w 1186"/>
                  <a:gd name="T55" fmla="*/ 5 h 245"/>
                  <a:gd name="T56" fmla="*/ 72 w 1186"/>
                  <a:gd name="T57" fmla="*/ 4 h 245"/>
                  <a:gd name="T58" fmla="*/ 58 w 1186"/>
                  <a:gd name="T59" fmla="*/ 2 h 245"/>
                  <a:gd name="T60" fmla="*/ 44 w 1186"/>
                  <a:gd name="T61" fmla="*/ 1 h 245"/>
                  <a:gd name="T62" fmla="*/ 29 w 1186"/>
                  <a:gd name="T63" fmla="*/ 0 h 245"/>
                  <a:gd name="T64" fmla="*/ 15 w 1186"/>
                  <a:gd name="T65" fmla="*/ 0 h 245"/>
                  <a:gd name="T66" fmla="*/ 0 w 1186"/>
                  <a:gd name="T67" fmla="*/ 0 h 245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w 1186"/>
                  <a:gd name="T103" fmla="*/ 0 h 245"/>
                  <a:gd name="T104" fmla="*/ 1186 w 1186"/>
                  <a:gd name="T105" fmla="*/ 245 h 245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T102" t="T103" r="T104" b="T105"/>
                <a:pathLst>
                  <a:path w="1186" h="245">
                    <a:moveTo>
                      <a:pt x="0" y="0"/>
                    </a:moveTo>
                    <a:lnTo>
                      <a:pt x="1186" y="245"/>
                    </a:lnTo>
                    <a:lnTo>
                      <a:pt x="1184" y="244"/>
                    </a:lnTo>
                    <a:lnTo>
                      <a:pt x="1180" y="242"/>
                    </a:lnTo>
                    <a:lnTo>
                      <a:pt x="1172" y="239"/>
                    </a:lnTo>
                    <a:lnTo>
                      <a:pt x="1161" y="233"/>
                    </a:lnTo>
                    <a:lnTo>
                      <a:pt x="1147" y="228"/>
                    </a:lnTo>
                    <a:lnTo>
                      <a:pt x="1130" y="222"/>
                    </a:lnTo>
                    <a:lnTo>
                      <a:pt x="1112" y="214"/>
                    </a:lnTo>
                    <a:lnTo>
                      <a:pt x="1091" y="205"/>
                    </a:lnTo>
                    <a:lnTo>
                      <a:pt x="1066" y="196"/>
                    </a:lnTo>
                    <a:lnTo>
                      <a:pt x="1039" y="187"/>
                    </a:lnTo>
                    <a:lnTo>
                      <a:pt x="1010" y="177"/>
                    </a:lnTo>
                    <a:lnTo>
                      <a:pt x="979" y="166"/>
                    </a:lnTo>
                    <a:lnTo>
                      <a:pt x="945" y="154"/>
                    </a:lnTo>
                    <a:lnTo>
                      <a:pt x="910" y="143"/>
                    </a:lnTo>
                    <a:lnTo>
                      <a:pt x="871" y="132"/>
                    </a:lnTo>
                    <a:lnTo>
                      <a:pt x="832" y="121"/>
                    </a:lnTo>
                    <a:lnTo>
                      <a:pt x="790" y="108"/>
                    </a:lnTo>
                    <a:lnTo>
                      <a:pt x="747" y="97"/>
                    </a:lnTo>
                    <a:lnTo>
                      <a:pt x="702" y="86"/>
                    </a:lnTo>
                    <a:lnTo>
                      <a:pt x="655" y="74"/>
                    </a:lnTo>
                    <a:lnTo>
                      <a:pt x="607" y="64"/>
                    </a:lnTo>
                    <a:lnTo>
                      <a:pt x="557" y="54"/>
                    </a:lnTo>
                    <a:lnTo>
                      <a:pt x="506" y="45"/>
                    </a:lnTo>
                    <a:lnTo>
                      <a:pt x="454" y="36"/>
                    </a:lnTo>
                    <a:lnTo>
                      <a:pt x="400" y="28"/>
                    </a:lnTo>
                    <a:lnTo>
                      <a:pt x="346" y="20"/>
                    </a:lnTo>
                    <a:lnTo>
                      <a:pt x="290" y="15"/>
                    </a:lnTo>
                    <a:lnTo>
                      <a:pt x="233" y="9"/>
                    </a:lnTo>
                    <a:lnTo>
                      <a:pt x="176" y="4"/>
                    </a:lnTo>
                    <a:lnTo>
                      <a:pt x="118" y="2"/>
                    </a:lnTo>
                    <a:lnTo>
                      <a:pt x="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8" name="Freeform 92"/>
              <p:cNvSpPr>
                <a:spLocks/>
              </p:cNvSpPr>
              <p:nvPr/>
            </p:nvSpPr>
            <p:spPr bwMode="auto">
              <a:xfrm>
                <a:off x="8250" y="4639"/>
                <a:ext cx="60" cy="185"/>
              </a:xfrm>
              <a:custGeom>
                <a:avLst/>
                <a:gdLst>
                  <a:gd name="T0" fmla="*/ 60 w 241"/>
                  <a:gd name="T1" fmla="*/ 0 h 738"/>
                  <a:gd name="T2" fmla="*/ 13 w 241"/>
                  <a:gd name="T3" fmla="*/ 185 h 738"/>
                  <a:gd name="T4" fmla="*/ 0 w 241"/>
                  <a:gd name="T5" fmla="*/ 182 h 738"/>
                  <a:gd name="T6" fmla="*/ 42 w 241"/>
                  <a:gd name="T7" fmla="*/ 0 h 738"/>
                  <a:gd name="T8" fmla="*/ 60 w 241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41"/>
                  <a:gd name="T16" fmla="*/ 0 h 738"/>
                  <a:gd name="T17" fmla="*/ 241 w 241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41" h="738">
                    <a:moveTo>
                      <a:pt x="241" y="0"/>
                    </a:moveTo>
                    <a:lnTo>
                      <a:pt x="52" y="738"/>
                    </a:lnTo>
                    <a:lnTo>
                      <a:pt x="0" y="726"/>
                    </a:lnTo>
                    <a:lnTo>
                      <a:pt x="169" y="0"/>
                    </a:lnTo>
                    <a:lnTo>
                      <a:pt x="241" y="0"/>
                    </a:lnTo>
                    <a:close/>
                  </a:path>
                </a:pathLst>
              </a:custGeom>
              <a:solidFill>
                <a:srgbClr val="F2E5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0491" name="Freeform 93"/>
          <p:cNvSpPr>
            <a:spLocks/>
          </p:cNvSpPr>
          <p:nvPr/>
        </p:nvSpPr>
        <p:spPr bwMode="auto">
          <a:xfrm>
            <a:off x="6413500" y="2486025"/>
            <a:ext cx="1838325" cy="1711325"/>
          </a:xfrm>
          <a:custGeom>
            <a:avLst/>
            <a:gdLst>
              <a:gd name="T0" fmla="*/ 2541 w 2894"/>
              <a:gd name="T1" fmla="*/ 845813 h 2693"/>
              <a:gd name="T2" fmla="*/ 221692 w 2894"/>
              <a:gd name="T3" fmla="*/ 323455 h 2693"/>
              <a:gd name="T4" fmla="*/ 879144 w 2894"/>
              <a:gd name="T5" fmla="*/ 218602 h 2693"/>
              <a:gd name="T6" fmla="*/ 1649030 w 2894"/>
              <a:gd name="T7" fmla="*/ 108030 h 2693"/>
              <a:gd name="T8" fmla="*/ 1831973 w 2894"/>
              <a:gd name="T9" fmla="*/ 866783 h 2693"/>
              <a:gd name="T10" fmla="*/ 1689048 w 2894"/>
              <a:gd name="T11" fmla="*/ 1362451 h 2693"/>
              <a:gd name="T12" fmla="*/ 1336502 w 2894"/>
              <a:gd name="T13" fmla="*/ 1591221 h 2693"/>
              <a:gd name="T14" fmla="*/ 1041125 w 2894"/>
              <a:gd name="T15" fmla="*/ 1638881 h 2693"/>
              <a:gd name="T16" fmla="*/ 663169 w 2894"/>
              <a:gd name="T17" fmla="*/ 1671290 h 2693"/>
              <a:gd name="T18" fmla="*/ 219786 w 2894"/>
              <a:gd name="T19" fmla="*/ 1398673 h 2693"/>
              <a:gd name="T20" fmla="*/ 2541 w 2894"/>
              <a:gd name="T21" fmla="*/ 845813 h 2693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894"/>
              <a:gd name="T34" fmla="*/ 0 h 2693"/>
              <a:gd name="T35" fmla="*/ 2894 w 2894"/>
              <a:gd name="T36" fmla="*/ 2693 h 2693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894" h="2693">
                <a:moveTo>
                  <a:pt x="4" y="1331"/>
                </a:moveTo>
                <a:cubicBezTo>
                  <a:pt x="4" y="1049"/>
                  <a:pt x="119" y="673"/>
                  <a:pt x="349" y="509"/>
                </a:cubicBezTo>
                <a:cubicBezTo>
                  <a:pt x="579" y="345"/>
                  <a:pt x="1010" y="400"/>
                  <a:pt x="1384" y="344"/>
                </a:cubicBezTo>
                <a:cubicBezTo>
                  <a:pt x="1758" y="288"/>
                  <a:pt x="2346" y="0"/>
                  <a:pt x="2596" y="170"/>
                </a:cubicBezTo>
                <a:cubicBezTo>
                  <a:pt x="2846" y="340"/>
                  <a:pt x="2874" y="1035"/>
                  <a:pt x="2884" y="1364"/>
                </a:cubicBezTo>
                <a:cubicBezTo>
                  <a:pt x="2894" y="1693"/>
                  <a:pt x="2789" y="1954"/>
                  <a:pt x="2659" y="2144"/>
                </a:cubicBezTo>
                <a:cubicBezTo>
                  <a:pt x="2529" y="2334"/>
                  <a:pt x="2274" y="2432"/>
                  <a:pt x="2104" y="2504"/>
                </a:cubicBezTo>
                <a:cubicBezTo>
                  <a:pt x="1934" y="2576"/>
                  <a:pt x="1816" y="2558"/>
                  <a:pt x="1639" y="2579"/>
                </a:cubicBezTo>
                <a:cubicBezTo>
                  <a:pt x="1462" y="2600"/>
                  <a:pt x="1259" y="2693"/>
                  <a:pt x="1044" y="2630"/>
                </a:cubicBezTo>
                <a:cubicBezTo>
                  <a:pt x="829" y="2567"/>
                  <a:pt x="520" y="2418"/>
                  <a:pt x="346" y="2201"/>
                </a:cubicBezTo>
                <a:cubicBezTo>
                  <a:pt x="173" y="1985"/>
                  <a:pt x="0" y="1682"/>
                  <a:pt x="4" y="1331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0492" name="Group 94"/>
          <p:cNvGrpSpPr>
            <a:grpSpLocks/>
          </p:cNvGrpSpPr>
          <p:nvPr/>
        </p:nvGrpSpPr>
        <p:grpSpPr bwMode="auto">
          <a:xfrm>
            <a:off x="6689725" y="3692525"/>
            <a:ext cx="501650" cy="233363"/>
            <a:chOff x="3600" y="219"/>
            <a:chExt cx="360" cy="175"/>
          </a:xfrm>
        </p:grpSpPr>
        <p:sp>
          <p:nvSpPr>
            <p:cNvPr id="20536" name="Oval 95"/>
            <p:cNvSpPr>
              <a:spLocks noChangeArrowheads="1"/>
            </p:cNvSpPr>
            <p:nvPr/>
          </p:nvSpPr>
          <p:spPr bwMode="auto">
            <a:xfrm>
              <a:off x="3603" y="297"/>
              <a:ext cx="357" cy="97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7" name="Line 96"/>
            <p:cNvSpPr>
              <a:spLocks noChangeShapeType="1"/>
            </p:cNvSpPr>
            <p:nvPr/>
          </p:nvSpPr>
          <p:spPr bwMode="auto">
            <a:xfrm>
              <a:off x="3603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8" name="Line 97"/>
            <p:cNvSpPr>
              <a:spLocks noChangeShapeType="1"/>
            </p:cNvSpPr>
            <p:nvPr/>
          </p:nvSpPr>
          <p:spPr bwMode="auto">
            <a:xfrm>
              <a:off x="3960" y="289"/>
              <a:ext cx="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9" name="Rectangle 98"/>
            <p:cNvSpPr>
              <a:spLocks noChangeArrowheads="1"/>
            </p:cNvSpPr>
            <p:nvPr/>
          </p:nvSpPr>
          <p:spPr bwMode="auto">
            <a:xfrm>
              <a:off x="3603" y="284"/>
              <a:ext cx="231" cy="69"/>
            </a:xfrm>
            <a:prstGeom prst="rect">
              <a:avLst/>
            </a:prstGeom>
            <a:solidFill>
              <a:srgbClr val="CCCCFF"/>
            </a:solidFill>
            <a:ln w="127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eaLnBrk="0" hangingPunct="0"/>
              <a:endParaRPr lang="en-US" sz="1800" b="0">
                <a:latin typeface="Comic Sans MS" pitchFamily="66" charset="0"/>
              </a:endParaRPr>
            </a:p>
          </p:txBody>
        </p:sp>
        <p:sp>
          <p:nvSpPr>
            <p:cNvPr id="20540" name="Oval 99"/>
            <p:cNvSpPr>
              <a:spLocks noChangeArrowheads="1"/>
            </p:cNvSpPr>
            <p:nvPr/>
          </p:nvSpPr>
          <p:spPr bwMode="auto">
            <a:xfrm>
              <a:off x="3600" y="219"/>
              <a:ext cx="357" cy="113"/>
            </a:xfrm>
            <a:prstGeom prst="ellipse">
              <a:avLst/>
            </a:prstGeom>
            <a:solidFill>
              <a:srgbClr val="CCCC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0541" name="Group 100"/>
            <p:cNvGrpSpPr>
              <a:grpSpLocks/>
            </p:cNvGrpSpPr>
            <p:nvPr/>
          </p:nvGrpSpPr>
          <p:grpSpPr bwMode="auto"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20546" name="Line 101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7" name="Line 102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8" name="Line 103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0542" name="Group 104"/>
            <p:cNvGrpSpPr>
              <a:grpSpLocks/>
            </p:cNvGrpSpPr>
            <p:nvPr/>
          </p:nvGrpSpPr>
          <p:grpSpPr bwMode="auto"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20543" name="Line 105"/>
              <p:cNvSpPr>
                <a:spLocks noChangeShapeType="1"/>
              </p:cNvSpPr>
              <p:nvPr/>
            </p:nvSpPr>
            <p:spPr bwMode="auto">
              <a:xfrm flipV="1">
                <a:off x="2848" y="848"/>
                <a:ext cx="50" cy="2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4" name="Line 106"/>
              <p:cNvSpPr>
                <a:spLocks noChangeShapeType="1"/>
              </p:cNvSpPr>
              <p:nvPr/>
            </p:nvSpPr>
            <p:spPr bwMode="auto">
              <a:xfrm>
                <a:off x="2944" y="946"/>
                <a:ext cx="44" cy="0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545" name="Line 107"/>
              <p:cNvSpPr>
                <a:spLocks noChangeShapeType="1"/>
              </p:cNvSpPr>
              <p:nvPr/>
            </p:nvSpPr>
            <p:spPr bwMode="auto">
              <a:xfrm>
                <a:off x="2894" y="850"/>
                <a:ext cx="52" cy="96"/>
              </a:xfrm>
              <a:prstGeom prst="lin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0493" name="Line 108"/>
          <p:cNvSpPr>
            <a:spLocks noChangeShapeType="1"/>
          </p:cNvSpPr>
          <p:nvPr/>
        </p:nvSpPr>
        <p:spPr bwMode="auto">
          <a:xfrm>
            <a:off x="6735763" y="3552825"/>
            <a:ext cx="13335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4" name="Line 109"/>
          <p:cNvSpPr>
            <a:spLocks noChangeShapeType="1"/>
          </p:cNvSpPr>
          <p:nvPr/>
        </p:nvSpPr>
        <p:spPr bwMode="auto">
          <a:xfrm>
            <a:off x="6945313" y="3552825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0495" name="Line 110"/>
          <p:cNvSpPr>
            <a:spLocks noChangeShapeType="1"/>
          </p:cNvSpPr>
          <p:nvPr/>
        </p:nvSpPr>
        <p:spPr bwMode="auto">
          <a:xfrm>
            <a:off x="7797800" y="3386138"/>
            <a:ext cx="0" cy="17145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grpSp>
        <p:nvGrpSpPr>
          <p:cNvPr id="20496" name="Group 111"/>
          <p:cNvGrpSpPr>
            <a:grpSpLocks/>
          </p:cNvGrpSpPr>
          <p:nvPr/>
        </p:nvGrpSpPr>
        <p:grpSpPr bwMode="auto">
          <a:xfrm>
            <a:off x="7340600" y="2914650"/>
            <a:ext cx="914400" cy="590550"/>
            <a:chOff x="10665" y="3225"/>
            <a:chExt cx="1440" cy="930"/>
          </a:xfrm>
        </p:grpSpPr>
        <p:sp>
          <p:nvSpPr>
            <p:cNvPr id="20534" name="Oval 112"/>
            <p:cNvSpPr>
              <a:spLocks noChangeArrowheads="1"/>
            </p:cNvSpPr>
            <p:nvPr/>
          </p:nvSpPr>
          <p:spPr bwMode="auto">
            <a:xfrm>
              <a:off x="10665" y="3225"/>
              <a:ext cx="1440" cy="930"/>
            </a:xfrm>
            <a:prstGeom prst="ellipse">
              <a:avLst/>
            </a:prstGeom>
            <a:gradFill rotWithShape="1">
              <a:gsLst>
                <a:gs pos="0">
                  <a:srgbClr val="FF0000"/>
                </a:gs>
                <a:gs pos="100000">
                  <a:srgbClr val="FFFFFF">
                    <a:alpha val="0"/>
                  </a:srgbClr>
                </a:gs>
              </a:gsLst>
              <a:path path="shape">
                <a:fillToRect l="50000" t="50000" r="50000" b="50000"/>
              </a:path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0535" name="Group 113"/>
            <p:cNvGrpSpPr>
              <a:grpSpLocks/>
            </p:cNvGrpSpPr>
            <p:nvPr/>
          </p:nvGrpSpPr>
          <p:grpSpPr bwMode="auto">
            <a:xfrm>
              <a:off x="11031" y="3335"/>
              <a:ext cx="565" cy="643"/>
              <a:chOff x="2870" y="1518"/>
              <a:chExt cx="292" cy="320"/>
            </a:xfrm>
          </p:grpSpPr>
          <p:graphicFrame>
            <p:nvGraphicFramePr>
              <p:cNvPr id="20483" name="Object 114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p:oleObj spid="_x0000_s20483" r:id="rId4" imgW="819000" imgH="847800" progId="">
                  <p:embed/>
                </p:oleObj>
              </a:graphicData>
            </a:graphic>
          </p:graphicFrame>
          <p:graphicFrame>
            <p:nvGraphicFramePr>
              <p:cNvPr id="20484" name="Object 115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p:oleObj spid="_x0000_s20484" r:id="rId5" imgW="1266840" imgH="1200240" progId="">
                  <p:embed/>
                </p:oleObj>
              </a:graphicData>
            </a:graphic>
          </p:graphicFrame>
        </p:grpSp>
      </p:grpSp>
      <p:sp>
        <p:nvSpPr>
          <p:cNvPr id="20497" name="Freeform 116"/>
          <p:cNvSpPr>
            <a:spLocks/>
          </p:cNvSpPr>
          <p:nvPr/>
        </p:nvSpPr>
        <p:spPr bwMode="auto">
          <a:xfrm>
            <a:off x="3954463" y="3432175"/>
            <a:ext cx="2109787" cy="1250950"/>
          </a:xfrm>
          <a:custGeom>
            <a:avLst/>
            <a:gdLst>
              <a:gd name="T0" fmla="*/ 378289 w 3324"/>
              <a:gd name="T1" fmla="*/ 9520 h 1971"/>
              <a:gd name="T2" fmla="*/ 94572 w 3324"/>
              <a:gd name="T3" fmla="*/ 209444 h 1971"/>
              <a:gd name="T4" fmla="*/ 1904 w 3324"/>
              <a:gd name="T5" fmla="*/ 676567 h 1971"/>
              <a:gd name="T6" fmla="*/ 106632 w 3324"/>
              <a:gd name="T7" fmla="*/ 1019293 h 1971"/>
              <a:gd name="T8" fmla="*/ 386540 w 3324"/>
              <a:gd name="T9" fmla="*/ 1162095 h 1971"/>
              <a:gd name="T10" fmla="*/ 687395 w 3324"/>
              <a:gd name="T11" fmla="*/ 1095454 h 1971"/>
              <a:gd name="T12" fmla="*/ 982536 w 3324"/>
              <a:gd name="T13" fmla="*/ 1190656 h 1971"/>
              <a:gd name="T14" fmla="*/ 1506175 w 3324"/>
              <a:gd name="T15" fmla="*/ 1219216 h 1971"/>
              <a:gd name="T16" fmla="*/ 2058375 w 3324"/>
              <a:gd name="T17" fmla="*/ 1000252 h 1971"/>
              <a:gd name="T18" fmla="*/ 1814645 w 3324"/>
              <a:gd name="T19" fmla="*/ 593424 h 1971"/>
              <a:gd name="T20" fmla="*/ 1722612 w 3324"/>
              <a:gd name="T21" fmla="*/ 281797 h 1971"/>
              <a:gd name="T22" fmla="*/ 1087899 w 3324"/>
              <a:gd name="T23" fmla="*/ 153592 h 1971"/>
              <a:gd name="T24" fmla="*/ 378289 w 3324"/>
              <a:gd name="T25" fmla="*/ 9520 h 197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324"/>
              <a:gd name="T40" fmla="*/ 0 h 1971"/>
              <a:gd name="T41" fmla="*/ 3324 w 3324"/>
              <a:gd name="T42" fmla="*/ 1971 h 1971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324" h="1971">
                <a:moveTo>
                  <a:pt x="596" y="15"/>
                </a:moveTo>
                <a:cubicBezTo>
                  <a:pt x="335" y="29"/>
                  <a:pt x="248" y="155"/>
                  <a:pt x="149" y="330"/>
                </a:cubicBezTo>
                <a:cubicBezTo>
                  <a:pt x="50" y="505"/>
                  <a:pt x="0" y="853"/>
                  <a:pt x="3" y="1066"/>
                </a:cubicBezTo>
                <a:cubicBezTo>
                  <a:pt x="6" y="1279"/>
                  <a:pt x="67" y="1478"/>
                  <a:pt x="168" y="1606"/>
                </a:cubicBezTo>
                <a:cubicBezTo>
                  <a:pt x="269" y="1734"/>
                  <a:pt x="457" y="1811"/>
                  <a:pt x="609" y="1831"/>
                </a:cubicBezTo>
                <a:cubicBezTo>
                  <a:pt x="761" y="1851"/>
                  <a:pt x="927" y="1719"/>
                  <a:pt x="1083" y="1726"/>
                </a:cubicBezTo>
                <a:cubicBezTo>
                  <a:pt x="1239" y="1733"/>
                  <a:pt x="1333" y="1844"/>
                  <a:pt x="1548" y="1876"/>
                </a:cubicBezTo>
                <a:cubicBezTo>
                  <a:pt x="1763" y="1908"/>
                  <a:pt x="2091" y="1971"/>
                  <a:pt x="2373" y="1921"/>
                </a:cubicBezTo>
                <a:cubicBezTo>
                  <a:pt x="2655" y="1871"/>
                  <a:pt x="3162" y="1740"/>
                  <a:pt x="3243" y="1576"/>
                </a:cubicBezTo>
                <a:cubicBezTo>
                  <a:pt x="3324" y="1412"/>
                  <a:pt x="2947" y="1124"/>
                  <a:pt x="2859" y="935"/>
                </a:cubicBezTo>
                <a:cubicBezTo>
                  <a:pt x="2771" y="746"/>
                  <a:pt x="2905" y="559"/>
                  <a:pt x="2714" y="444"/>
                </a:cubicBezTo>
                <a:cubicBezTo>
                  <a:pt x="2523" y="328"/>
                  <a:pt x="2063" y="315"/>
                  <a:pt x="1714" y="242"/>
                </a:cubicBezTo>
                <a:cubicBezTo>
                  <a:pt x="1366" y="168"/>
                  <a:pt x="857" y="0"/>
                  <a:pt x="596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8" name="Text Box 117"/>
          <p:cNvSpPr txBox="1">
            <a:spLocks noChangeArrowheads="1"/>
          </p:cNvSpPr>
          <p:nvPr/>
        </p:nvSpPr>
        <p:spPr bwMode="auto">
          <a:xfrm>
            <a:off x="4129088" y="3729038"/>
            <a:ext cx="1447800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1600" b="0">
                <a:solidFill>
                  <a:schemeClr val="bg1"/>
                </a:solidFill>
                <a:latin typeface="Comic Sans MS" pitchFamily="66" charset="0"/>
              </a:rPr>
              <a:t>wide area network</a:t>
            </a:r>
          </a:p>
        </p:txBody>
      </p:sp>
      <p:sp>
        <p:nvSpPr>
          <p:cNvPr id="20499" name="Freeform 118"/>
          <p:cNvSpPr>
            <a:spLocks/>
          </p:cNvSpPr>
          <p:nvPr/>
        </p:nvSpPr>
        <p:spPr bwMode="auto">
          <a:xfrm>
            <a:off x="3259138" y="4995863"/>
            <a:ext cx="2944812" cy="911225"/>
          </a:xfrm>
          <a:custGeom>
            <a:avLst/>
            <a:gdLst>
              <a:gd name="T0" fmla="*/ 215335 w 4636"/>
              <a:gd name="T1" fmla="*/ 9525 h 1435"/>
              <a:gd name="T2" fmla="*/ 120054 w 4636"/>
              <a:gd name="T3" fmla="*/ 409575 h 1435"/>
              <a:gd name="T4" fmla="*/ 510705 w 4636"/>
              <a:gd name="T5" fmla="*/ 800100 h 1435"/>
              <a:gd name="T6" fmla="*/ 1244367 w 4636"/>
              <a:gd name="T7" fmla="*/ 904875 h 1435"/>
              <a:gd name="T8" fmla="*/ 2235287 w 4636"/>
              <a:gd name="T9" fmla="*/ 838200 h 1435"/>
              <a:gd name="T10" fmla="*/ 2492545 w 4636"/>
              <a:gd name="T11" fmla="*/ 619125 h 1435"/>
              <a:gd name="T12" fmla="*/ 2885738 w 4636"/>
              <a:gd name="T13" fmla="*/ 488315 h 1435"/>
              <a:gd name="T14" fmla="*/ 2698988 w 4636"/>
              <a:gd name="T15" fmla="*/ 176530 h 1435"/>
              <a:gd name="T16" fmla="*/ 1411426 w 4636"/>
              <a:gd name="T17" fmla="*/ 48260 h 1435"/>
              <a:gd name="T18" fmla="*/ 215335 w 4636"/>
              <a:gd name="T19" fmla="*/ 9525 h 143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636"/>
              <a:gd name="T31" fmla="*/ 0 h 1435"/>
              <a:gd name="T32" fmla="*/ 4636 w 4636"/>
              <a:gd name="T33" fmla="*/ 1435 h 1435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636" h="1435">
                <a:moveTo>
                  <a:pt x="339" y="15"/>
                </a:moveTo>
                <a:cubicBezTo>
                  <a:pt x="0" y="110"/>
                  <a:pt x="112" y="438"/>
                  <a:pt x="189" y="645"/>
                </a:cubicBezTo>
                <a:cubicBezTo>
                  <a:pt x="266" y="852"/>
                  <a:pt x="509" y="1130"/>
                  <a:pt x="804" y="1260"/>
                </a:cubicBezTo>
                <a:cubicBezTo>
                  <a:pt x="1099" y="1390"/>
                  <a:pt x="1507" y="1415"/>
                  <a:pt x="1959" y="1425"/>
                </a:cubicBezTo>
                <a:cubicBezTo>
                  <a:pt x="2411" y="1435"/>
                  <a:pt x="3192" y="1395"/>
                  <a:pt x="3519" y="1320"/>
                </a:cubicBezTo>
                <a:cubicBezTo>
                  <a:pt x="3846" y="1245"/>
                  <a:pt x="3753" y="1067"/>
                  <a:pt x="3924" y="975"/>
                </a:cubicBezTo>
                <a:cubicBezTo>
                  <a:pt x="4095" y="883"/>
                  <a:pt x="4489" y="885"/>
                  <a:pt x="4543" y="769"/>
                </a:cubicBezTo>
                <a:cubicBezTo>
                  <a:pt x="4597" y="653"/>
                  <a:pt x="4636" y="393"/>
                  <a:pt x="4249" y="278"/>
                </a:cubicBezTo>
                <a:cubicBezTo>
                  <a:pt x="3863" y="162"/>
                  <a:pt x="2874" y="120"/>
                  <a:pt x="2222" y="76"/>
                </a:cubicBezTo>
                <a:cubicBezTo>
                  <a:pt x="1570" y="32"/>
                  <a:pt x="868" y="0"/>
                  <a:pt x="339" y="15"/>
                </a:cubicBezTo>
                <a:close/>
              </a:path>
            </a:pathLst>
          </a:custGeom>
          <a:solidFill>
            <a:srgbClr val="33CCCC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20482" name="Object 119"/>
          <p:cNvGraphicFramePr>
            <a:graphicFrameLocks noChangeAspect="1"/>
          </p:cNvGraphicFramePr>
          <p:nvPr/>
        </p:nvGraphicFramePr>
        <p:xfrm>
          <a:off x="4392613" y="5178425"/>
          <a:ext cx="415925" cy="317500"/>
        </p:xfrm>
        <a:graphic>
          <a:graphicData uri="http://schemas.openxmlformats.org/presentationml/2006/ole">
            <p:oleObj spid="_x0000_s20482" r:id="rId6" imgW="1305000" imgH="1085760" progId="">
              <p:embed/>
            </p:oleObj>
          </a:graphicData>
        </a:graphic>
      </p:graphicFrame>
      <p:sp>
        <p:nvSpPr>
          <p:cNvPr id="20500" name="Text Box 120"/>
          <p:cNvSpPr txBox="1">
            <a:spLocks noChangeArrowheads="1"/>
          </p:cNvSpPr>
          <p:nvPr/>
        </p:nvSpPr>
        <p:spPr bwMode="auto">
          <a:xfrm>
            <a:off x="473075" y="2852738"/>
            <a:ext cx="1887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home</a:t>
            </a:r>
          </a:p>
          <a:p>
            <a:pPr algn="l" eaLnBrk="0" hangingPunct="0"/>
            <a:r>
              <a:rPr lang="en-US" b="0">
                <a:latin typeface="Comic Sans MS" pitchFamily="66" charset="0"/>
              </a:rPr>
              <a:t>network</a:t>
            </a:r>
          </a:p>
        </p:txBody>
      </p:sp>
      <p:sp>
        <p:nvSpPr>
          <p:cNvPr id="20501" name="Text Box 121"/>
          <p:cNvSpPr txBox="1">
            <a:spLocks noChangeArrowheads="1"/>
          </p:cNvSpPr>
          <p:nvPr/>
        </p:nvSpPr>
        <p:spPr bwMode="auto">
          <a:xfrm>
            <a:off x="7874000" y="2174875"/>
            <a:ext cx="12700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b="0">
                <a:latin typeface="Comic Sans MS" pitchFamily="66" charset="0"/>
              </a:rPr>
              <a:t>visited</a:t>
            </a:r>
          </a:p>
          <a:p>
            <a:pPr algn="l" eaLnBrk="0" hangingPunct="0"/>
            <a:r>
              <a:rPr lang="en-US" b="0">
                <a:latin typeface="Comic Sans MS" pitchFamily="66" charset="0"/>
              </a:rPr>
              <a:t>network</a:t>
            </a:r>
          </a:p>
        </p:txBody>
      </p:sp>
      <p:sp>
        <p:nvSpPr>
          <p:cNvPr id="20502" name="Line 122"/>
          <p:cNvSpPr>
            <a:spLocks noChangeShapeType="1"/>
          </p:cNvSpPr>
          <p:nvPr/>
        </p:nvSpPr>
        <p:spPr bwMode="auto">
          <a:xfrm flipV="1">
            <a:off x="7056438" y="3343275"/>
            <a:ext cx="555625" cy="3016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03" name="Group 123"/>
          <p:cNvGrpSpPr>
            <a:grpSpLocks/>
          </p:cNvGrpSpPr>
          <p:nvPr/>
        </p:nvGrpSpPr>
        <p:grpSpPr bwMode="auto">
          <a:xfrm>
            <a:off x="7191375" y="3278188"/>
            <a:ext cx="339725" cy="366712"/>
            <a:chOff x="618" y="3500"/>
            <a:chExt cx="214" cy="231"/>
          </a:xfrm>
        </p:grpSpPr>
        <p:sp>
          <p:nvSpPr>
            <p:cNvPr id="20532" name="Oval 124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3" name="Text Box 125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solidFill>
                    <a:srgbClr val="FF0000"/>
                  </a:solidFill>
                  <a:latin typeface="Comic Sans MS" pitchFamily="66" charset="0"/>
                </a:rPr>
                <a:t>4</a:t>
              </a:r>
            </a:p>
          </p:txBody>
        </p:sp>
      </p:grpSp>
      <p:sp>
        <p:nvSpPr>
          <p:cNvPr id="20504" name="Freeform 126"/>
          <p:cNvSpPr>
            <a:spLocks/>
          </p:cNvSpPr>
          <p:nvPr/>
        </p:nvSpPr>
        <p:spPr bwMode="auto">
          <a:xfrm>
            <a:off x="3181350" y="3838575"/>
            <a:ext cx="1311275" cy="1238250"/>
          </a:xfrm>
          <a:custGeom>
            <a:avLst/>
            <a:gdLst>
              <a:gd name="T0" fmla="*/ 0 w 826"/>
              <a:gd name="T1" fmla="*/ 0 h 780"/>
              <a:gd name="T2" fmla="*/ 1311275 w 826"/>
              <a:gd name="T3" fmla="*/ 1238250 h 780"/>
              <a:gd name="T4" fmla="*/ 0 60000 65536"/>
              <a:gd name="T5" fmla="*/ 0 60000 65536"/>
              <a:gd name="T6" fmla="*/ 0 w 826"/>
              <a:gd name="T7" fmla="*/ 0 h 780"/>
              <a:gd name="T8" fmla="*/ 826 w 826"/>
              <a:gd name="T9" fmla="*/ 780 h 78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826" h="780">
                <a:moveTo>
                  <a:pt x="0" y="0"/>
                </a:moveTo>
                <a:cubicBezTo>
                  <a:pt x="138" y="130"/>
                  <a:pt x="654" y="618"/>
                  <a:pt x="826" y="78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dash"/>
            <a:round/>
            <a:headEnd type="none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05" name="Group 127"/>
          <p:cNvGrpSpPr>
            <a:grpSpLocks/>
          </p:cNvGrpSpPr>
          <p:nvPr/>
        </p:nvGrpSpPr>
        <p:grpSpPr bwMode="auto">
          <a:xfrm>
            <a:off x="3460750" y="3998913"/>
            <a:ext cx="339725" cy="366712"/>
            <a:chOff x="618" y="3500"/>
            <a:chExt cx="214" cy="231"/>
          </a:xfrm>
        </p:grpSpPr>
        <p:sp>
          <p:nvSpPr>
            <p:cNvPr id="20530" name="Oval 128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31" name="Text Box 129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solidFill>
                    <a:srgbClr val="FF0000"/>
                  </a:solidFill>
                  <a:latin typeface="Comic Sans MS" pitchFamily="66" charset="0"/>
                </a:rPr>
                <a:t>2</a:t>
              </a:r>
            </a:p>
          </p:txBody>
        </p:sp>
      </p:grpSp>
      <p:sp>
        <p:nvSpPr>
          <p:cNvPr id="20506" name="Freeform 130"/>
          <p:cNvSpPr>
            <a:spLocks/>
          </p:cNvSpPr>
          <p:nvPr/>
        </p:nvSpPr>
        <p:spPr bwMode="auto">
          <a:xfrm>
            <a:off x="4826000" y="3424238"/>
            <a:ext cx="3103563" cy="2016125"/>
          </a:xfrm>
          <a:custGeom>
            <a:avLst/>
            <a:gdLst>
              <a:gd name="T0" fmla="*/ 3103563 w 1955"/>
              <a:gd name="T1" fmla="*/ 0 h 1270"/>
              <a:gd name="T2" fmla="*/ 1006475 w 1955"/>
              <a:gd name="T3" fmla="*/ 1036637 h 1270"/>
              <a:gd name="T4" fmla="*/ 0 w 1955"/>
              <a:gd name="T5" fmla="*/ 2016125 h 1270"/>
              <a:gd name="T6" fmla="*/ 0 60000 65536"/>
              <a:gd name="T7" fmla="*/ 0 60000 65536"/>
              <a:gd name="T8" fmla="*/ 0 60000 65536"/>
              <a:gd name="T9" fmla="*/ 0 w 1955"/>
              <a:gd name="T10" fmla="*/ 0 h 1270"/>
              <a:gd name="T11" fmla="*/ 1955 w 1955"/>
              <a:gd name="T12" fmla="*/ 1270 h 127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55" h="1270">
                <a:moveTo>
                  <a:pt x="1955" y="0"/>
                </a:moveTo>
                <a:cubicBezTo>
                  <a:pt x="1735" y="109"/>
                  <a:pt x="982" y="424"/>
                  <a:pt x="634" y="653"/>
                </a:cubicBezTo>
                <a:cubicBezTo>
                  <a:pt x="286" y="882"/>
                  <a:pt x="132" y="1142"/>
                  <a:pt x="0" y="127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07" name="Group 131"/>
          <p:cNvGrpSpPr>
            <a:grpSpLocks/>
          </p:cNvGrpSpPr>
          <p:nvPr/>
        </p:nvGrpSpPr>
        <p:grpSpPr bwMode="auto">
          <a:xfrm>
            <a:off x="6321425" y="4500563"/>
            <a:ext cx="339725" cy="366712"/>
            <a:chOff x="618" y="3500"/>
            <a:chExt cx="214" cy="231"/>
          </a:xfrm>
        </p:grpSpPr>
        <p:sp>
          <p:nvSpPr>
            <p:cNvPr id="20528" name="Oval 132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9" name="Text Box 133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solidFill>
                    <a:srgbClr val="FF0000"/>
                  </a:solidFill>
                  <a:latin typeface="Comic Sans MS" pitchFamily="66" charset="0"/>
                </a:rPr>
                <a:t>4</a:t>
              </a:r>
            </a:p>
          </p:txBody>
        </p:sp>
      </p:grpSp>
      <p:sp>
        <p:nvSpPr>
          <p:cNvPr id="20508" name="Line 134"/>
          <p:cNvSpPr>
            <a:spLocks noChangeShapeType="1"/>
          </p:cNvSpPr>
          <p:nvPr/>
        </p:nvSpPr>
        <p:spPr bwMode="auto">
          <a:xfrm flipH="1" flipV="1">
            <a:off x="2986088" y="3889375"/>
            <a:ext cx="1357312" cy="12985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09" name="Group 135"/>
          <p:cNvGrpSpPr>
            <a:grpSpLocks/>
          </p:cNvGrpSpPr>
          <p:nvPr/>
        </p:nvGrpSpPr>
        <p:grpSpPr bwMode="auto">
          <a:xfrm>
            <a:off x="3668713" y="4541838"/>
            <a:ext cx="320675" cy="366712"/>
            <a:chOff x="618" y="3500"/>
            <a:chExt cx="202" cy="231"/>
          </a:xfrm>
        </p:grpSpPr>
        <p:sp>
          <p:nvSpPr>
            <p:cNvPr id="20526" name="Oval 136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7" name="Text Box 137"/>
            <p:cNvSpPr txBox="1">
              <a:spLocks noChangeArrowheads="1"/>
            </p:cNvSpPr>
            <p:nvPr/>
          </p:nvSpPr>
          <p:spPr bwMode="auto">
            <a:xfrm>
              <a:off x="628" y="3500"/>
              <a:ext cx="181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solidFill>
                    <a:srgbClr val="FF0000"/>
                  </a:solidFill>
                  <a:latin typeface="Comic Sans MS" pitchFamily="66" charset="0"/>
                </a:rPr>
                <a:t>1</a:t>
              </a:r>
            </a:p>
          </p:txBody>
        </p:sp>
      </p:grpSp>
      <p:sp>
        <p:nvSpPr>
          <p:cNvPr id="20510" name="Text Box 138"/>
          <p:cNvSpPr txBox="1">
            <a:spLocks noChangeArrowheads="1"/>
          </p:cNvSpPr>
          <p:nvPr/>
        </p:nvSpPr>
        <p:spPr bwMode="auto">
          <a:xfrm>
            <a:off x="908050" y="4606925"/>
            <a:ext cx="2535238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1800" b="0">
                <a:latin typeface="Comic Sans MS" pitchFamily="66" charset="0"/>
              </a:rPr>
              <a:t>correspondent requests, receives foreign address of mobile</a:t>
            </a:r>
          </a:p>
        </p:txBody>
      </p:sp>
      <p:sp>
        <p:nvSpPr>
          <p:cNvPr id="20511" name="Line 139"/>
          <p:cNvSpPr>
            <a:spLocks noChangeShapeType="1"/>
          </p:cNvSpPr>
          <p:nvPr/>
        </p:nvSpPr>
        <p:spPr bwMode="auto">
          <a:xfrm flipV="1">
            <a:off x="2703513" y="4598988"/>
            <a:ext cx="738187" cy="22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512" name="Text Box 140"/>
          <p:cNvSpPr txBox="1">
            <a:spLocks noChangeArrowheads="1"/>
          </p:cNvSpPr>
          <p:nvPr/>
        </p:nvSpPr>
        <p:spPr bwMode="auto">
          <a:xfrm>
            <a:off x="2506663" y="1882775"/>
            <a:ext cx="27940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 eaLnBrk="0" hangingPunct="0"/>
            <a:r>
              <a:rPr lang="en-US" sz="1800" b="0">
                <a:latin typeface="Comic Sans MS" pitchFamily="66" charset="0"/>
              </a:rPr>
              <a:t>correspondent forwards to foreign agent</a:t>
            </a:r>
          </a:p>
        </p:txBody>
      </p:sp>
      <p:sp>
        <p:nvSpPr>
          <p:cNvPr id="20513" name="Line 141"/>
          <p:cNvSpPr>
            <a:spLocks noChangeShapeType="1"/>
          </p:cNvSpPr>
          <p:nvPr/>
        </p:nvSpPr>
        <p:spPr bwMode="auto">
          <a:xfrm>
            <a:off x="4210050" y="2695575"/>
            <a:ext cx="1150938" cy="1498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14" name="Group 142"/>
          <p:cNvGrpSpPr>
            <a:grpSpLocks/>
          </p:cNvGrpSpPr>
          <p:nvPr/>
        </p:nvGrpSpPr>
        <p:grpSpPr bwMode="auto">
          <a:xfrm>
            <a:off x="5432425" y="1387475"/>
            <a:ext cx="2338388" cy="1924050"/>
            <a:chOff x="3422" y="874"/>
            <a:chExt cx="1473" cy="1212"/>
          </a:xfrm>
        </p:grpSpPr>
        <p:sp>
          <p:nvSpPr>
            <p:cNvPr id="20524" name="Text Box 143"/>
            <p:cNvSpPr txBox="1">
              <a:spLocks noChangeArrowheads="1"/>
            </p:cNvSpPr>
            <p:nvPr/>
          </p:nvSpPr>
          <p:spPr bwMode="auto">
            <a:xfrm>
              <a:off x="3422" y="874"/>
              <a:ext cx="1473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foreign agent receives packets, forwards to mobile</a:t>
              </a:r>
            </a:p>
          </p:txBody>
        </p:sp>
        <p:sp>
          <p:nvSpPr>
            <p:cNvPr id="20525" name="Line 144"/>
            <p:cNvSpPr>
              <a:spLocks noChangeShapeType="1"/>
            </p:cNvSpPr>
            <p:nvPr/>
          </p:nvSpPr>
          <p:spPr bwMode="auto">
            <a:xfrm>
              <a:off x="4211" y="1420"/>
              <a:ext cx="377" cy="6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20515" name="Group 145"/>
          <p:cNvGrpSpPr>
            <a:grpSpLocks/>
          </p:cNvGrpSpPr>
          <p:nvPr/>
        </p:nvGrpSpPr>
        <p:grpSpPr bwMode="auto">
          <a:xfrm>
            <a:off x="6653213" y="4776788"/>
            <a:ext cx="2247900" cy="1165225"/>
            <a:chOff x="4191" y="3009"/>
            <a:chExt cx="1416" cy="734"/>
          </a:xfrm>
        </p:grpSpPr>
        <p:sp>
          <p:nvSpPr>
            <p:cNvPr id="20522" name="Text Box 146"/>
            <p:cNvSpPr txBox="1">
              <a:spLocks noChangeArrowheads="1"/>
            </p:cNvSpPr>
            <p:nvPr/>
          </p:nvSpPr>
          <p:spPr bwMode="auto">
            <a:xfrm>
              <a:off x="4332" y="3166"/>
              <a:ext cx="1275" cy="5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 eaLnBrk="0" hangingPunct="0"/>
              <a:r>
                <a:rPr lang="en-US" sz="1800" b="0">
                  <a:latin typeface="Comic Sans MS" pitchFamily="66" charset="0"/>
                </a:rPr>
                <a:t>mobile replies directly to correspondent</a:t>
              </a:r>
            </a:p>
          </p:txBody>
        </p:sp>
        <p:sp>
          <p:nvSpPr>
            <p:cNvPr id="20523" name="Line 147"/>
            <p:cNvSpPr>
              <a:spLocks noChangeShapeType="1"/>
            </p:cNvSpPr>
            <p:nvPr/>
          </p:nvSpPr>
          <p:spPr bwMode="auto">
            <a:xfrm flipH="1" flipV="1">
              <a:off x="4191" y="3009"/>
              <a:ext cx="248" cy="1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20516" name="Line 148"/>
          <p:cNvSpPr>
            <a:spLocks noChangeShapeType="1"/>
          </p:cNvSpPr>
          <p:nvPr/>
        </p:nvSpPr>
        <p:spPr bwMode="auto">
          <a:xfrm flipV="1">
            <a:off x="2730500" y="4262438"/>
            <a:ext cx="769938" cy="57626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en-US"/>
          </a:p>
        </p:txBody>
      </p:sp>
      <p:sp>
        <p:nvSpPr>
          <p:cNvPr id="20517" name="Freeform 149"/>
          <p:cNvSpPr>
            <a:spLocks/>
          </p:cNvSpPr>
          <p:nvPr/>
        </p:nvSpPr>
        <p:spPr bwMode="auto">
          <a:xfrm>
            <a:off x="4695825" y="3830638"/>
            <a:ext cx="1909763" cy="1416050"/>
          </a:xfrm>
          <a:custGeom>
            <a:avLst/>
            <a:gdLst>
              <a:gd name="T0" fmla="*/ 0 w 1203"/>
              <a:gd name="T1" fmla="*/ 1416050 h 892"/>
              <a:gd name="T2" fmla="*/ 869950 w 1203"/>
              <a:gd name="T3" fmla="*/ 568325 h 892"/>
              <a:gd name="T4" fmla="*/ 1909763 w 1203"/>
              <a:gd name="T5" fmla="*/ 0 h 892"/>
              <a:gd name="T6" fmla="*/ 0 60000 65536"/>
              <a:gd name="T7" fmla="*/ 0 60000 65536"/>
              <a:gd name="T8" fmla="*/ 0 60000 65536"/>
              <a:gd name="T9" fmla="*/ 0 w 1203"/>
              <a:gd name="T10" fmla="*/ 0 h 892"/>
              <a:gd name="T11" fmla="*/ 1203 w 1203"/>
              <a:gd name="T12" fmla="*/ 892 h 8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03" h="892">
                <a:moveTo>
                  <a:pt x="0" y="892"/>
                </a:moveTo>
                <a:cubicBezTo>
                  <a:pt x="91" y="803"/>
                  <a:pt x="348" y="507"/>
                  <a:pt x="548" y="358"/>
                </a:cubicBezTo>
                <a:cubicBezTo>
                  <a:pt x="816" y="202"/>
                  <a:pt x="1067" y="75"/>
                  <a:pt x="1203" y="0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/>
          <a:lstStyle/>
          <a:p>
            <a:endParaRPr lang="en-US"/>
          </a:p>
        </p:txBody>
      </p:sp>
      <p:grpSp>
        <p:nvGrpSpPr>
          <p:cNvPr id="20518" name="Group 150"/>
          <p:cNvGrpSpPr>
            <a:grpSpLocks/>
          </p:cNvGrpSpPr>
          <p:nvPr/>
        </p:nvGrpSpPr>
        <p:grpSpPr bwMode="auto">
          <a:xfrm>
            <a:off x="5356225" y="4187825"/>
            <a:ext cx="339725" cy="366713"/>
            <a:chOff x="618" y="3500"/>
            <a:chExt cx="214" cy="231"/>
          </a:xfrm>
        </p:grpSpPr>
        <p:sp>
          <p:nvSpPr>
            <p:cNvPr id="20520" name="Oval 151"/>
            <p:cNvSpPr>
              <a:spLocks noChangeArrowheads="1"/>
            </p:cNvSpPr>
            <p:nvPr/>
          </p:nvSpPr>
          <p:spPr bwMode="auto">
            <a:xfrm>
              <a:off x="618" y="3520"/>
              <a:ext cx="202" cy="201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1" name="Text Box 152"/>
            <p:cNvSpPr txBox="1">
              <a:spLocks noChangeArrowheads="1"/>
            </p:cNvSpPr>
            <p:nvPr/>
          </p:nvSpPr>
          <p:spPr bwMode="auto">
            <a:xfrm>
              <a:off x="628" y="3500"/>
              <a:ext cx="20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l" eaLnBrk="0" hangingPunct="0"/>
              <a:r>
                <a:rPr lang="en-US" sz="1800" b="0">
                  <a:solidFill>
                    <a:srgbClr val="FF0000"/>
                  </a:solidFill>
                  <a:latin typeface="Comic Sans MS" pitchFamily="66" charset="0"/>
                </a:rPr>
                <a:t>3</a:t>
              </a:r>
            </a:p>
          </p:txBody>
        </p:sp>
      </p:grpSp>
      <p:sp>
        <p:nvSpPr>
          <p:cNvPr id="20519" name="Text Box 153"/>
          <p:cNvSpPr txBox="1">
            <a:spLocks noChangeArrowheads="1"/>
          </p:cNvSpPr>
          <p:nvPr/>
        </p:nvSpPr>
        <p:spPr bwMode="auto">
          <a:xfrm>
            <a:off x="501650" y="6232525"/>
            <a:ext cx="5446713" cy="396875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No longer transparent to the correspondent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60CC2F-C7F9-4DA9-8BD5-3FAAF09A8D61}" type="slidenum">
              <a:rPr lang="en-US" smtClean="0"/>
              <a:pPr>
                <a:defRPr/>
              </a:pPr>
              <a:t>49</a:t>
            </a:fld>
            <a:endParaRPr lang="en-US" smtClean="0"/>
          </a:p>
        </p:txBody>
      </p:sp>
      <p:sp>
        <p:nvSpPr>
          <p:cNvPr id="542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Impact on Higher-Layer Protocols</a:t>
            </a:r>
          </a:p>
        </p:txBody>
      </p:sp>
      <p:sp>
        <p:nvSpPr>
          <p:cNvPr id="19722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Wireless and mobility change path properties</a:t>
            </a:r>
          </a:p>
          <a:p>
            <a:pPr lvl="1"/>
            <a:r>
              <a:rPr lang="en-US" smtClean="0"/>
              <a:t>Wireless: higher packet loss, not from congestion</a:t>
            </a:r>
          </a:p>
          <a:p>
            <a:pPr lvl="1"/>
            <a:r>
              <a:rPr lang="en-US" smtClean="0"/>
              <a:t>Mobility: disruptions, and changes in RTT</a:t>
            </a:r>
          </a:p>
          <a:p>
            <a:r>
              <a:rPr lang="en-US" smtClean="0"/>
              <a:t>Logically, impact should be minimal …</a:t>
            </a:r>
          </a:p>
          <a:p>
            <a:pPr lvl="1"/>
            <a:r>
              <a:rPr lang="en-US" smtClean="0"/>
              <a:t>Best-effort service model remains unchanged </a:t>
            </a:r>
          </a:p>
          <a:p>
            <a:pPr lvl="1"/>
            <a:r>
              <a:rPr lang="en-US" smtClean="0"/>
              <a:t>TCP and UDP can (and do) run over wireless, mobile</a:t>
            </a:r>
          </a:p>
          <a:p>
            <a:r>
              <a:rPr lang="en-US" smtClean="0"/>
              <a:t>But, performance definitely </a:t>
            </a:r>
            <a:r>
              <a:rPr lang="en-US" i="1" smtClean="0"/>
              <a:t>is</a:t>
            </a:r>
            <a:r>
              <a:rPr lang="en-US" smtClean="0"/>
              <a:t> affected</a:t>
            </a:r>
          </a:p>
          <a:p>
            <a:pPr lvl="1"/>
            <a:r>
              <a:rPr lang="en-US" smtClean="0"/>
              <a:t>TCP treats packet loss as a sign of congestion</a:t>
            </a:r>
          </a:p>
          <a:p>
            <a:pPr lvl="1"/>
            <a:r>
              <a:rPr lang="en-US" smtClean="0"/>
              <a:t>TCP tries to estimate the RTT to drive retransmissions</a:t>
            </a:r>
          </a:p>
          <a:p>
            <a:pPr lvl="1"/>
            <a:r>
              <a:rPr lang="en-US" smtClean="0"/>
              <a:t>TCP does not perform well under out-of-order packets</a:t>
            </a:r>
          </a:p>
          <a:p>
            <a:r>
              <a:rPr lang="en-US" smtClean="0"/>
              <a:t>Internet not designed with these issues in mind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222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2229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790911-7075-4C5C-8E1D-9009A4E2B1AF}" type="slidenum">
              <a:rPr lang="en-US" smtClean="0"/>
              <a:pPr>
                <a:defRPr/>
              </a:pPr>
              <a:t>50</a:t>
            </a:fld>
            <a:endParaRPr lang="en-US" smtClean="0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Conclusions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Wireless</a:t>
            </a:r>
          </a:p>
          <a:p>
            <a:pPr lvl="1"/>
            <a:r>
              <a:rPr lang="en-US" smtClean="0"/>
              <a:t>Already a major way people connect to the Internet</a:t>
            </a:r>
          </a:p>
          <a:p>
            <a:pPr lvl="1"/>
            <a:r>
              <a:rPr lang="en-US" smtClean="0"/>
              <a:t>Gradually becoming more than just an access network</a:t>
            </a:r>
          </a:p>
          <a:p>
            <a:r>
              <a:rPr lang="en-US" smtClean="0"/>
              <a:t>Mobility</a:t>
            </a:r>
          </a:p>
          <a:p>
            <a:pPr lvl="1"/>
            <a:r>
              <a:rPr lang="en-US" smtClean="0"/>
              <a:t>Today’s users tolerate disruptions as they move</a:t>
            </a:r>
          </a:p>
          <a:p>
            <a:pPr lvl="1"/>
            <a:r>
              <a:rPr lang="en-US" smtClean="0"/>
              <a:t>Tomorrow’s users expect seamless mobility</a:t>
            </a:r>
          </a:p>
          <a:p>
            <a:r>
              <a:rPr lang="en-US" smtClean="0"/>
              <a:t>Challenges the design of network protocols</a:t>
            </a:r>
          </a:p>
          <a:p>
            <a:pPr lvl="1"/>
            <a:r>
              <a:rPr lang="en-US" smtClean="0"/>
              <a:t>Wireless breaks the abstraction of a link</a:t>
            </a:r>
          </a:p>
          <a:p>
            <a:pPr lvl="1"/>
            <a:r>
              <a:rPr lang="en-US" smtClean="0"/>
              <a:t>Mobility breaks association of address and location</a:t>
            </a:r>
          </a:p>
          <a:p>
            <a:pPr lvl="1"/>
            <a:r>
              <a:rPr lang="en-US" smtClean="0"/>
              <a:t>Higher-layer protocols don’t perform as well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426">
  <a:themeElements>
    <a:clrScheme name="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F47A00"/>
      </a:accent1>
      <a:accent2>
        <a:srgbClr val="000066"/>
      </a:accent2>
      <a:accent3>
        <a:srgbClr val="FFFFFF"/>
      </a:accent3>
      <a:accent4>
        <a:srgbClr val="000000"/>
      </a:accent4>
      <a:accent5>
        <a:srgbClr val="F8BEAA"/>
      </a:accent5>
      <a:accent6>
        <a:srgbClr val="00005C"/>
      </a:accent6>
      <a:hlink>
        <a:srgbClr val="A50021"/>
      </a:hlink>
      <a:folHlink>
        <a:srgbClr val="008000"/>
      </a:folHlink>
    </a:clrScheme>
    <a:fontScheme name="cs426">
      <a:majorFont>
        <a:latin typeface="Helvetica"/>
        <a:ea typeface=""/>
        <a:cs typeface="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38100" cap="flat" cmpd="sng" algn="ctr">
          <a:solidFill>
            <a:srgbClr val="0000FF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cs426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s426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s426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D:\Funk\Courses\cs217\cs426.pot</Template>
  <TotalTime>22363</TotalTime>
  <Words>2693</Words>
  <Application>Microsoft Office PowerPoint</Application>
  <PresentationFormat>On-screen Show (4:3)</PresentationFormat>
  <Paragraphs>621</Paragraphs>
  <Slides>50</Slides>
  <Notes>41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3" baseType="lpstr">
      <vt:lpstr>Helvetica</vt:lpstr>
      <vt:lpstr>Arial</vt:lpstr>
      <vt:lpstr>Wingdings</vt:lpstr>
      <vt:lpstr>Times New Roman</vt:lpstr>
      <vt:lpstr>Gulim</vt:lpstr>
      <vt:lpstr>Courier New</vt:lpstr>
      <vt:lpstr>Comic Sans MS</vt:lpstr>
      <vt:lpstr>Monotype Corsiva</vt:lpstr>
      <vt:lpstr>Wingdings 2</vt:lpstr>
      <vt:lpstr>Georgia</vt:lpstr>
      <vt:lpstr>Malgun Gothic</vt:lpstr>
      <vt:lpstr>cs426</vt:lpstr>
      <vt:lpstr>Microsoft Clip Gallery</vt:lpstr>
      <vt:lpstr>Wireless and Mobile Networks </vt:lpstr>
      <vt:lpstr>Wireless Network: Base Station</vt:lpstr>
      <vt:lpstr>Wireless Network: Infrastructure</vt:lpstr>
      <vt:lpstr>Scenario #1: Infrastructure Mode</vt:lpstr>
      <vt:lpstr>Scenario #2: Ad Hoc Networks</vt:lpstr>
      <vt:lpstr>Infrastructure vs. Ad Hoc</vt:lpstr>
      <vt:lpstr>Different Types of Wireless Networks</vt:lpstr>
      <vt:lpstr>WiFi: 802.11 Wireless LANs</vt:lpstr>
      <vt:lpstr>Wireless Network: Wireless Link</vt:lpstr>
      <vt:lpstr>Wireless Network: Wireless Hosts</vt:lpstr>
      <vt:lpstr>802.11 LAN Architecture</vt:lpstr>
      <vt:lpstr>Wireless Links: High Bit Error Rate</vt:lpstr>
      <vt:lpstr>Wireless Links: High Bit Error Rate</vt:lpstr>
      <vt:lpstr>Wireless Links: High Bit Error Rate</vt:lpstr>
      <vt:lpstr>Dealing With Bit Errors</vt:lpstr>
      <vt:lpstr>Wireless Links: Broadcast Limitations</vt:lpstr>
      <vt:lpstr>Wireless Links: Broadcast Limitations</vt:lpstr>
      <vt:lpstr>Example Wireless Link Technologies</vt:lpstr>
      <vt:lpstr>Channels and Association</vt:lpstr>
      <vt:lpstr>802.11: passive/active scanning</vt:lpstr>
      <vt:lpstr>Mobility Within the Same Subnet</vt:lpstr>
      <vt:lpstr>CSMA: Carrier Sense, Multiple Access</vt:lpstr>
      <vt:lpstr>CA: Collision Avoidance, Not Detection </vt:lpstr>
      <vt:lpstr>Medium Access Control in 802.11</vt:lpstr>
      <vt:lpstr>Medium Access  Control Protocol Issues </vt:lpstr>
      <vt:lpstr>Hidden Terminal Problem</vt:lpstr>
      <vt:lpstr>Exposed Terminal Problem</vt:lpstr>
      <vt:lpstr>Multiple Access with Collision Avoidance (MACA)</vt:lpstr>
      <vt:lpstr>MACA Solutions</vt:lpstr>
      <vt:lpstr>Evolution of Wireless Communication</vt:lpstr>
      <vt:lpstr>Characteristics of selected wireless link  standards</vt:lpstr>
      <vt:lpstr>Why Ad Hoc Networks ?</vt:lpstr>
      <vt:lpstr>Comparisons between Cellular and Ad Hoc Wireless Networks (I)</vt:lpstr>
      <vt:lpstr>Comparisons between Cellular and Ad Hoc Wireless Networks (II)</vt:lpstr>
      <vt:lpstr>Host Mobility</vt:lpstr>
      <vt:lpstr>Varying Degrees of User Mobility</vt:lpstr>
      <vt:lpstr>Maintaining Ongoing Transfers </vt:lpstr>
      <vt:lpstr>E.g., Keeping Track of Mobile Friends</vt:lpstr>
      <vt:lpstr>Letting Routing Protocol Handle It</vt:lpstr>
      <vt:lpstr>Example: Boeing Connexion Service</vt:lpstr>
      <vt:lpstr>Example: Boeing Connexion Service</vt:lpstr>
      <vt:lpstr>Summary: Letting Routing Handle It</vt:lpstr>
      <vt:lpstr>Home Network and Home Agent</vt:lpstr>
      <vt:lpstr>Visited Network and Care-of Address</vt:lpstr>
      <vt:lpstr>Mobility: Registration</vt:lpstr>
      <vt:lpstr>Mobility via Indirect Routing</vt:lpstr>
      <vt:lpstr>Indirect Routing: Efficiency Issues</vt:lpstr>
      <vt:lpstr>Mobility via Direct Routing</vt:lpstr>
      <vt:lpstr>Impact on Higher-Layer Protocols</vt:lpstr>
      <vt:lpstr>Conclusions</vt:lpstr>
    </vt:vector>
  </TitlesOfParts>
  <Company>Princeton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</dc:title>
  <dc:creator>Kai Li</dc:creator>
  <cp:lastModifiedBy>786</cp:lastModifiedBy>
  <cp:revision>3832</cp:revision>
  <dcterms:created xsi:type="dcterms:W3CDTF">2001-07-06T14:58:21Z</dcterms:created>
  <dcterms:modified xsi:type="dcterms:W3CDTF">2017-03-02T07:51:07Z</dcterms:modified>
</cp:coreProperties>
</file>