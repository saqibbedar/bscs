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tiff" ContentType="image/tiff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92" r:id="rId35"/>
    <p:sldId id="293" r:id="rId36"/>
    <p:sldId id="294" r:id="rId37"/>
    <p:sldId id="295" r:id="rId38"/>
    <p:sldId id="315" r:id="rId39"/>
    <p:sldId id="296" r:id="rId40"/>
    <p:sldId id="297" r:id="rId41"/>
    <p:sldId id="319" r:id="rId42"/>
    <p:sldId id="298" r:id="rId43"/>
    <p:sldId id="299" r:id="rId44"/>
    <p:sldId id="320" r:id="rId45"/>
    <p:sldId id="300" r:id="rId46"/>
    <p:sldId id="301" r:id="rId47"/>
    <p:sldId id="302" r:id="rId48"/>
    <p:sldId id="303" r:id="rId49"/>
    <p:sldId id="304" r:id="rId50"/>
    <p:sldId id="314" r:id="rId51"/>
    <p:sldId id="316" r:id="rId52"/>
    <p:sldId id="318" r:id="rId53"/>
    <p:sldId id="317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</p:sldIdLst>
  <p:sldSz cx="10693400" cy="7556500"/>
  <p:notesSz cx="10693400" cy="7556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295"/>
  </p:normalViewPr>
  <p:slideViewPr>
    <p:cSldViewPr>
      <p:cViewPr varScale="1">
        <p:scale>
          <a:sx n="89" d="100"/>
          <a:sy n="89" d="100"/>
        </p:scale>
        <p:origin x="1624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pn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74931-89A0-5C45-A53A-869F50306111}" type="datetimeFigureOut">
              <a:rPr lang="en-US" smtClean="0"/>
              <a:t>3/24/21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B891F-782B-4143-9438-8F38D0009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87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Part 4 TCP/IP Class</a:t>
            </a:r>
          </a:p>
        </p:txBody>
      </p:sp>
      <p:sp>
        <p:nvSpPr>
          <p:cNvPr id="3584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3492DD1-9F11-46BC-8F9C-26AE218AD7C1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358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14825"/>
            <a:ext cx="5029200" cy="4087813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965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Part 4 TCP/IP Class</a:t>
            </a:r>
          </a:p>
        </p:txBody>
      </p:sp>
      <p:sp>
        <p:nvSpPr>
          <p:cNvPr id="348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811FCC-0C27-4E04-B773-343A06AEC493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348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14825"/>
            <a:ext cx="5029200" cy="4087813"/>
          </a:xfrm>
          <a:noFill/>
          <a:ln/>
        </p:spPr>
        <p:txBody>
          <a:bodyPr/>
          <a:lstStyle/>
          <a:p>
            <a:pPr eaLnBrk="1" hangingPunct="1"/>
            <a:r>
              <a:rPr lang="en-US"/>
              <a:t>One type of DoS is known as SYN flooding. SYN flooding exploits the normal three-way handshake and causes targeted devices to acknowledge to source addresses that will not complete the handshake. </a:t>
            </a:r>
          </a:p>
        </p:txBody>
      </p:sp>
    </p:spTree>
    <p:extLst>
      <p:ext uri="{BB962C8B-B14F-4D97-AF65-F5344CB8AC3E}">
        <p14:creationId xmlns:p14="http://schemas.microsoft.com/office/powerpoint/2010/main" val="962956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Part 4 TCP/IP Class</a:t>
            </a:r>
          </a:p>
        </p:txBody>
      </p:sp>
      <p:sp>
        <p:nvSpPr>
          <p:cNvPr id="4403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CB8CD57-5B32-41D1-8398-CF3F958221D5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440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86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Part 4 TCP/IP Class</a:t>
            </a:r>
          </a:p>
        </p:txBody>
      </p:sp>
      <p:sp>
        <p:nvSpPr>
          <p:cNvPr id="2867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C0FC7A3-DD79-4F3F-9B7D-FCC5E149886C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286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14825"/>
            <a:ext cx="5029200" cy="4087813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125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F8CA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F8CA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F8CA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98993" y="1270507"/>
            <a:ext cx="2646045" cy="513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6F8CA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98993" y="1745995"/>
            <a:ext cx="7704455" cy="31896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searchnetworking.techtarget.com/definition/protocol" TargetMode="External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1.png"/><Relationship Id="rId4" Type="http://schemas.openxmlformats.org/officeDocument/2006/relationships/oleObject" Target="../embeddings/oleObject1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tiff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9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8.png"/><Relationship Id="rId4" Type="http://schemas.openxmlformats.org/officeDocument/2006/relationships/oleObject" Target="../embeddings/oleObject2.bin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2243327"/>
            <a:ext cx="9140950" cy="24490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28946" y="7000745"/>
            <a:ext cx="920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١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02018" y="6309359"/>
            <a:ext cx="109727" cy="54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65042" y="6300215"/>
            <a:ext cx="649224" cy="2011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69714" y="6300215"/>
            <a:ext cx="1289304" cy="2468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423026" y="6300215"/>
            <a:ext cx="1188719" cy="2468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069714" y="6592823"/>
            <a:ext cx="393192" cy="1371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517769" y="6592823"/>
            <a:ext cx="438912" cy="13716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969130" y="6291071"/>
            <a:ext cx="18288" cy="44805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002402" y="6592823"/>
            <a:ext cx="512064" cy="17068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71251" y="786383"/>
            <a:ext cx="64008" cy="10058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208411" y="731519"/>
            <a:ext cx="45719" cy="15544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455299" y="731519"/>
            <a:ext cx="54864" cy="15544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592458" y="786383"/>
            <a:ext cx="54864" cy="10058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11330" y="731519"/>
            <a:ext cx="64007" cy="15544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67362" y="731519"/>
            <a:ext cx="64007" cy="15544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095378" y="786383"/>
            <a:ext cx="54864" cy="10058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336427" y="640080"/>
            <a:ext cx="54864" cy="301752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39346" y="640080"/>
            <a:ext cx="54864" cy="30175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382147" y="1014983"/>
            <a:ext cx="54864" cy="19202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71835" y="1005839"/>
            <a:ext cx="155448" cy="210312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482731" y="1005839"/>
            <a:ext cx="576070" cy="210312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1154564" y="3169410"/>
            <a:ext cx="34766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-5" dirty="0">
                <a:solidFill>
                  <a:srgbClr val="FFFFFF"/>
                </a:solidFill>
                <a:latin typeface="Arial"/>
                <a:cs typeface="Arial"/>
              </a:rPr>
              <a:t>OSI Transport</a:t>
            </a:r>
            <a:r>
              <a:rPr sz="3000" b="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="0" spc="-5" dirty="0">
                <a:solidFill>
                  <a:srgbClr val="FFFFFF"/>
                </a:solidFill>
                <a:latin typeface="Arial"/>
                <a:cs typeface="Arial"/>
              </a:rPr>
              <a:t>Layer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8946" y="7000745"/>
            <a:ext cx="920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٢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98992" y="1270507"/>
            <a:ext cx="4304907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622301" y="2406650"/>
            <a:ext cx="9292722" cy="3386183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469900" marR="197485" indent="-457200" algn="just">
              <a:lnSpc>
                <a:spcPts val="2740"/>
              </a:lnSpc>
              <a:spcBef>
                <a:spcPts val="305"/>
              </a:spcBef>
              <a:buClr>
                <a:srgbClr val="6F8CA1"/>
              </a:buClr>
              <a:buFont typeface="Wingdings"/>
              <a:buChar char=""/>
              <a:tabLst>
                <a:tab pos="469900" algn="l"/>
              </a:tabLst>
            </a:pPr>
            <a:r>
              <a:rPr spc="-5" dirty="0"/>
              <a:t>Explain the </a:t>
            </a:r>
            <a:r>
              <a:rPr b="1" spc="-5" dirty="0">
                <a:latin typeface="Arial"/>
                <a:cs typeface="Arial"/>
              </a:rPr>
              <a:t>role of Transport </a:t>
            </a:r>
            <a:r>
              <a:rPr b="1" spc="-10" dirty="0">
                <a:latin typeface="Arial"/>
                <a:cs typeface="Arial"/>
              </a:rPr>
              <a:t>Layer </a:t>
            </a:r>
            <a:r>
              <a:rPr b="1" spc="-5" dirty="0">
                <a:latin typeface="Arial"/>
                <a:cs typeface="Arial"/>
              </a:rPr>
              <a:t>protocols and  services </a:t>
            </a:r>
            <a:r>
              <a:rPr dirty="0"/>
              <a:t>in </a:t>
            </a:r>
            <a:r>
              <a:rPr spc="-5" dirty="0"/>
              <a:t>supporting communications across data  networks</a:t>
            </a:r>
            <a:endParaRPr lang="en-US" spc="-5" dirty="0"/>
          </a:p>
          <a:p>
            <a:pPr marL="469900" marR="197485" indent="-457200" algn="just">
              <a:lnSpc>
                <a:spcPts val="2740"/>
              </a:lnSpc>
              <a:spcBef>
                <a:spcPts val="305"/>
              </a:spcBef>
              <a:buClr>
                <a:srgbClr val="6F8CA1"/>
              </a:buClr>
              <a:buFont typeface="Wingdings"/>
              <a:buChar char=""/>
              <a:tabLst>
                <a:tab pos="469900" algn="l"/>
              </a:tabLst>
            </a:pPr>
            <a:endParaRPr spc="-5" dirty="0"/>
          </a:p>
          <a:p>
            <a:pPr marL="469900" marR="225425" indent="-457200">
              <a:lnSpc>
                <a:spcPts val="2740"/>
              </a:lnSpc>
              <a:spcBef>
                <a:spcPts val="1430"/>
              </a:spcBef>
              <a:buClr>
                <a:srgbClr val="6F8CA1"/>
              </a:buClr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spc="-5" dirty="0"/>
              <a:t>Analyze the application and operation of </a:t>
            </a:r>
            <a:r>
              <a:rPr b="1" spc="-5" dirty="0">
                <a:latin typeface="Arial"/>
                <a:cs typeface="Arial"/>
              </a:rPr>
              <a:t>TCP  </a:t>
            </a:r>
            <a:r>
              <a:rPr spc="-5" dirty="0"/>
              <a:t>mechanisms that support </a:t>
            </a:r>
            <a:r>
              <a:rPr i="1" spc="-5" dirty="0">
                <a:latin typeface="Arial"/>
                <a:cs typeface="Arial"/>
              </a:rPr>
              <a:t>reliability, reassembly and  manage data</a:t>
            </a:r>
            <a:r>
              <a:rPr i="1" dirty="0">
                <a:latin typeface="Arial"/>
                <a:cs typeface="Arial"/>
              </a:rPr>
              <a:t> </a:t>
            </a:r>
            <a:r>
              <a:rPr i="1" spc="-5" dirty="0">
                <a:latin typeface="Arial"/>
                <a:cs typeface="Arial"/>
              </a:rPr>
              <a:t>loss.</a:t>
            </a:r>
          </a:p>
          <a:p>
            <a:pPr marL="469900" marR="5080" indent="-457200">
              <a:lnSpc>
                <a:spcPts val="2740"/>
              </a:lnSpc>
              <a:spcBef>
                <a:spcPts val="1430"/>
              </a:spcBef>
              <a:buClr>
                <a:srgbClr val="6F8CA1"/>
              </a:buClr>
              <a:buFont typeface="Wingdings"/>
              <a:buChar char=""/>
              <a:tabLst>
                <a:tab pos="469265" algn="l"/>
                <a:tab pos="469900" algn="l"/>
              </a:tabLst>
            </a:pPr>
            <a:endParaRPr lang="en-US" spc="-5" dirty="0"/>
          </a:p>
          <a:p>
            <a:pPr marL="469900" marR="5080" indent="-457200">
              <a:lnSpc>
                <a:spcPts val="2740"/>
              </a:lnSpc>
              <a:spcBef>
                <a:spcPts val="1430"/>
              </a:spcBef>
              <a:buClr>
                <a:srgbClr val="6F8CA1"/>
              </a:buClr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spc="-5" dirty="0"/>
              <a:t>Analyze the operation of </a:t>
            </a:r>
            <a:r>
              <a:rPr b="1" spc="-10" dirty="0">
                <a:latin typeface="Arial"/>
                <a:cs typeface="Arial"/>
              </a:rPr>
              <a:t>UDP </a:t>
            </a:r>
            <a:r>
              <a:rPr dirty="0"/>
              <a:t>to </a:t>
            </a:r>
            <a:r>
              <a:rPr spc="-5" dirty="0"/>
              <a:t>support  communicate between two processes on end</a:t>
            </a:r>
            <a:r>
              <a:rPr spc="40" dirty="0"/>
              <a:t> </a:t>
            </a:r>
            <a:r>
              <a:rPr spc="-5" dirty="0"/>
              <a:t>devices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8946" y="7000745"/>
            <a:ext cx="920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٣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98993" y="1095628"/>
            <a:ext cx="67233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Transport </a:t>
            </a:r>
            <a:r>
              <a:rPr spc="-10" dirty="0"/>
              <a:t>Layer </a:t>
            </a:r>
            <a:r>
              <a:rPr dirty="0"/>
              <a:t>Role </a:t>
            </a:r>
            <a:r>
              <a:rPr spc="-5" dirty="0"/>
              <a:t>and</a:t>
            </a:r>
            <a:r>
              <a:rPr spc="-50" dirty="0"/>
              <a:t> </a:t>
            </a:r>
            <a:r>
              <a:rPr spc="-10" dirty="0"/>
              <a:t>Services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98993" y="2015490"/>
            <a:ext cx="49555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920" indent="-236220">
              <a:lnSpc>
                <a:spcPct val="100000"/>
              </a:lnSpc>
              <a:spcBef>
                <a:spcPts val="10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The purpose of the Transport layer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27101" y="2635250"/>
            <a:ext cx="8987922" cy="4772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8946" y="7000745"/>
            <a:ext cx="920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٤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99416" y="1162641"/>
            <a:ext cx="67233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Transport </a:t>
            </a:r>
            <a:r>
              <a:rPr spc="-10" dirty="0"/>
              <a:t>Layer </a:t>
            </a:r>
            <a:r>
              <a:rPr dirty="0"/>
              <a:t>Role </a:t>
            </a:r>
            <a:r>
              <a:rPr spc="-5" dirty="0"/>
              <a:t>and</a:t>
            </a:r>
            <a:r>
              <a:rPr spc="-50" dirty="0"/>
              <a:t> </a:t>
            </a:r>
            <a:r>
              <a:rPr spc="-10" dirty="0"/>
              <a:t>Services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55701" y="2019934"/>
            <a:ext cx="8759322" cy="385362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48920" marR="5080" indent="-236220">
              <a:lnSpc>
                <a:spcPts val="2740"/>
              </a:lnSpc>
              <a:spcBef>
                <a:spcPts val="30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Provides the end-to-end transfer of data </a:t>
            </a:r>
            <a:r>
              <a:rPr sz="2400" dirty="0">
                <a:latin typeface="Arial"/>
                <a:cs typeface="Arial"/>
              </a:rPr>
              <a:t>between</a:t>
            </a:r>
            <a:r>
              <a:rPr lang="en-US" sz="2400" u="sng" dirty="0">
                <a:latin typeface="Arial"/>
                <a:cs typeface="Arial"/>
              </a:rPr>
              <a:t> </a:t>
            </a:r>
            <a:r>
              <a:rPr sz="2400" u="heavy" spc="-5" dirty="0">
                <a:latin typeface="Arial"/>
                <a:cs typeface="Arial"/>
              </a:rPr>
              <a:t>applications</a:t>
            </a:r>
            <a:r>
              <a:rPr sz="2400" spc="-5" dirty="0"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70100" y="3092451"/>
            <a:ext cx="7162800" cy="4191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8946" y="7000745"/>
            <a:ext cx="920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٥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27100" y="1270507"/>
            <a:ext cx="5759208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Role </a:t>
            </a:r>
            <a:r>
              <a:rPr spc="-5" dirty="0"/>
              <a:t>of </a:t>
            </a:r>
            <a:r>
              <a:rPr dirty="0"/>
              <a:t>the </a:t>
            </a:r>
            <a:r>
              <a:rPr spc="-5" dirty="0"/>
              <a:t>Transport</a:t>
            </a:r>
            <a:r>
              <a:rPr spc="-114" dirty="0"/>
              <a:t> </a:t>
            </a:r>
            <a:r>
              <a:rPr spc="-10" dirty="0"/>
              <a:t>layer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7100" y="2253486"/>
            <a:ext cx="8987923" cy="356315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48920" marR="222885" indent="-236220">
              <a:lnSpc>
                <a:spcPts val="2740"/>
              </a:lnSpc>
              <a:spcBef>
                <a:spcPts val="30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Encapsulating application data for use by the Network layer</a:t>
            </a:r>
            <a:endParaRPr lang="en-US" sz="2400" spc="-5" dirty="0">
              <a:latin typeface="Arial"/>
              <a:cs typeface="Arial"/>
            </a:endParaRPr>
          </a:p>
          <a:p>
            <a:pPr marL="248920" marR="222885" indent="-236220">
              <a:lnSpc>
                <a:spcPts val="2740"/>
              </a:lnSpc>
              <a:spcBef>
                <a:spcPts val="30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endParaRPr sz="2400" dirty="0">
              <a:latin typeface="Arial"/>
              <a:cs typeface="Arial"/>
            </a:endParaRPr>
          </a:p>
          <a:p>
            <a:pPr marL="248920" marR="137160" indent="-236220">
              <a:lnSpc>
                <a:spcPts val="2740"/>
              </a:lnSpc>
              <a:spcBef>
                <a:spcPts val="143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Enables multiple applications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communicate over the  network at the same time on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single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device</a:t>
            </a:r>
            <a:endParaRPr sz="2400" dirty="0">
              <a:latin typeface="Arial"/>
              <a:cs typeface="Arial"/>
            </a:endParaRPr>
          </a:p>
          <a:p>
            <a:pPr marL="248920" marR="5080" indent="-236220">
              <a:lnSpc>
                <a:spcPts val="2740"/>
              </a:lnSpc>
              <a:spcBef>
                <a:spcPts val="143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endParaRPr lang="en-US" sz="2400" spc="-5" dirty="0">
              <a:latin typeface="Arial"/>
              <a:cs typeface="Arial"/>
            </a:endParaRPr>
          </a:p>
          <a:p>
            <a:pPr marL="248920" marR="5080" indent="-236220">
              <a:lnSpc>
                <a:spcPts val="2740"/>
              </a:lnSpc>
              <a:spcBef>
                <a:spcPts val="143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Ensures that, if required, all the data is received reliably  and </a:t>
            </a:r>
            <a:r>
              <a:rPr sz="2400" dirty="0">
                <a:latin typeface="Arial"/>
                <a:cs typeface="Arial"/>
              </a:rPr>
              <a:t>in </a:t>
            </a:r>
            <a:r>
              <a:rPr sz="2400" spc="-5" dirty="0">
                <a:latin typeface="Arial"/>
                <a:cs typeface="Arial"/>
              </a:rPr>
              <a:t>order by the correct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application</a:t>
            </a:r>
            <a:endParaRPr sz="2400" dirty="0">
              <a:latin typeface="Arial"/>
              <a:cs typeface="Arial"/>
            </a:endParaRPr>
          </a:p>
          <a:p>
            <a:pPr marL="248920" indent="-236220">
              <a:lnSpc>
                <a:spcPct val="100000"/>
              </a:lnSpc>
              <a:spcBef>
                <a:spcPts val="122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lang="en-US" sz="2400" spc="-5" dirty="0">
                <a:latin typeface="Arial"/>
                <a:cs typeface="Arial"/>
              </a:rPr>
              <a:t>E</a:t>
            </a:r>
            <a:r>
              <a:rPr sz="2400" spc="-5" dirty="0">
                <a:latin typeface="Arial"/>
                <a:cs typeface="Arial"/>
              </a:rPr>
              <a:t>rror handling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mechanisms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8946" y="7000745"/>
            <a:ext cx="920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٦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98992" y="1270507"/>
            <a:ext cx="4762107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</a:t>
            </a:r>
            <a:r>
              <a:rPr spc="-10" dirty="0"/>
              <a:t>es</a:t>
            </a:r>
            <a:r>
              <a:rPr spc="-5" dirty="0"/>
              <a:t>p</a:t>
            </a:r>
            <a:r>
              <a:rPr spc="-15" dirty="0"/>
              <a:t>on</a:t>
            </a:r>
            <a:r>
              <a:rPr spc="-10" dirty="0"/>
              <a:t>s</a:t>
            </a:r>
            <a:r>
              <a:rPr spc="-5" dirty="0"/>
              <a:t>ibili</a:t>
            </a:r>
            <a:r>
              <a:rPr dirty="0"/>
              <a:t>t</a:t>
            </a:r>
            <a:r>
              <a:rPr spc="-5" dirty="0"/>
              <a:t>i</a:t>
            </a:r>
            <a:r>
              <a:rPr spc="-20" dirty="0"/>
              <a:t>e</a:t>
            </a:r>
            <a:r>
              <a:rPr dirty="0"/>
              <a:t>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7100" y="2253487"/>
            <a:ext cx="8987923" cy="3917098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48920" marR="525145" indent="-236220" algn="just">
              <a:lnSpc>
                <a:spcPts val="2740"/>
              </a:lnSpc>
              <a:spcBef>
                <a:spcPts val="30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b="1" spc="-5" dirty="0">
                <a:latin typeface="Arial"/>
                <a:cs typeface="Arial"/>
              </a:rPr>
              <a:t>Tracking </a:t>
            </a:r>
            <a:r>
              <a:rPr sz="2400" spc="-5" dirty="0">
                <a:latin typeface="Arial"/>
                <a:cs typeface="Arial"/>
              </a:rPr>
              <a:t>the individual communication between  </a:t>
            </a:r>
            <a:r>
              <a:rPr sz="2400" i="1" spc="-5" dirty="0">
                <a:latin typeface="Arial"/>
                <a:cs typeface="Arial"/>
              </a:rPr>
              <a:t>applications </a:t>
            </a:r>
            <a:r>
              <a:rPr sz="2400" spc="-5" dirty="0">
                <a:latin typeface="Arial"/>
                <a:cs typeface="Arial"/>
              </a:rPr>
              <a:t>on the </a:t>
            </a:r>
            <a:r>
              <a:rPr sz="2400" spc="-10" dirty="0">
                <a:latin typeface="Arial"/>
                <a:cs typeface="Arial"/>
              </a:rPr>
              <a:t>source </a:t>
            </a:r>
            <a:r>
              <a:rPr sz="2400" spc="-5" dirty="0">
                <a:latin typeface="Arial"/>
                <a:cs typeface="Arial"/>
              </a:rPr>
              <a:t>and destination hosts  (</a:t>
            </a:r>
            <a:r>
              <a:rPr sz="2400" b="1" spc="-5" dirty="0">
                <a:latin typeface="Arial"/>
                <a:cs typeface="Arial"/>
              </a:rPr>
              <a:t>Establishing </a:t>
            </a:r>
            <a:r>
              <a:rPr sz="2400" b="1" dirty="0">
                <a:latin typeface="Arial"/>
                <a:cs typeface="Arial"/>
              </a:rPr>
              <a:t>a </a:t>
            </a:r>
            <a:r>
              <a:rPr sz="2400" b="1" spc="-5" dirty="0">
                <a:latin typeface="Arial"/>
                <a:cs typeface="Arial"/>
              </a:rPr>
              <a:t>Session </a:t>
            </a:r>
            <a:r>
              <a:rPr sz="2400" b="1" dirty="0">
                <a:latin typeface="Arial"/>
                <a:cs typeface="Arial"/>
              </a:rPr>
              <a:t>)</a:t>
            </a:r>
            <a:endParaRPr lang="en-US" sz="2400" b="1" dirty="0">
              <a:latin typeface="Arial"/>
              <a:cs typeface="Arial"/>
            </a:endParaRPr>
          </a:p>
          <a:p>
            <a:pPr marL="248920" marR="525145" indent="-236220" algn="just">
              <a:lnSpc>
                <a:spcPts val="2740"/>
              </a:lnSpc>
              <a:spcBef>
                <a:spcPts val="30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endParaRPr sz="2400" dirty="0">
              <a:latin typeface="Arial"/>
              <a:cs typeface="Arial"/>
            </a:endParaRPr>
          </a:p>
          <a:p>
            <a:pPr marL="248920" indent="-236220">
              <a:lnSpc>
                <a:spcPct val="100000"/>
              </a:lnSpc>
              <a:spcBef>
                <a:spcPts val="122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b="1" spc="-5" dirty="0">
                <a:latin typeface="Arial"/>
                <a:cs typeface="Arial"/>
              </a:rPr>
              <a:t>Segmenting </a:t>
            </a:r>
            <a:r>
              <a:rPr sz="2400" spc="-5" dirty="0">
                <a:latin typeface="Arial"/>
                <a:cs typeface="Arial"/>
              </a:rPr>
              <a:t>data and managing each</a:t>
            </a:r>
            <a:r>
              <a:rPr sz="2400" spc="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piece</a:t>
            </a:r>
            <a:endParaRPr lang="en-US" sz="2400" spc="-5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  <a:buClr>
                <a:srgbClr val="6F8CA1"/>
              </a:buClr>
              <a:tabLst>
                <a:tab pos="248920" algn="l"/>
              </a:tabLst>
            </a:pPr>
            <a:endParaRPr sz="2400" dirty="0">
              <a:latin typeface="Arial"/>
              <a:cs typeface="Arial"/>
            </a:endParaRPr>
          </a:p>
          <a:p>
            <a:pPr marL="248920" marR="972185" indent="-236220">
              <a:lnSpc>
                <a:spcPts val="2740"/>
              </a:lnSpc>
              <a:spcBef>
                <a:spcPts val="150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b="1" spc="-5" dirty="0">
                <a:latin typeface="Arial"/>
                <a:cs typeface="Arial"/>
              </a:rPr>
              <a:t>Reassembling </a:t>
            </a:r>
            <a:r>
              <a:rPr sz="2400" spc="-5" dirty="0">
                <a:latin typeface="Arial"/>
                <a:cs typeface="Arial"/>
              </a:rPr>
              <a:t>the segments into streams of  application</a:t>
            </a:r>
            <a:r>
              <a:rPr sz="2400" spc="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data</a:t>
            </a:r>
            <a:endParaRPr sz="2400" dirty="0">
              <a:latin typeface="Arial"/>
              <a:cs typeface="Arial"/>
            </a:endParaRPr>
          </a:p>
          <a:p>
            <a:pPr marL="248920" indent="-236220">
              <a:lnSpc>
                <a:spcPct val="100000"/>
              </a:lnSpc>
              <a:spcBef>
                <a:spcPts val="122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Identifying the </a:t>
            </a:r>
            <a:r>
              <a:rPr sz="2400" b="1" spc="-5" dirty="0">
                <a:latin typeface="Arial"/>
                <a:cs typeface="Arial"/>
              </a:rPr>
              <a:t>different </a:t>
            </a:r>
            <a:r>
              <a:rPr sz="2400" spc="-5" dirty="0">
                <a:latin typeface="Arial"/>
                <a:cs typeface="Arial"/>
              </a:rPr>
              <a:t>applications </a:t>
            </a:r>
            <a:r>
              <a:rPr sz="2400" b="1" u="heavy" spc="-5" dirty="0">
                <a:latin typeface="Arial"/>
                <a:cs typeface="Arial"/>
              </a:rPr>
              <a:t>(Port</a:t>
            </a:r>
            <a:r>
              <a:rPr sz="2400" b="1" u="heavy" spc="25" dirty="0">
                <a:latin typeface="Arial"/>
                <a:cs typeface="Arial"/>
              </a:rPr>
              <a:t> </a:t>
            </a:r>
            <a:r>
              <a:rPr sz="2400" b="1" u="heavy" spc="-5" dirty="0">
                <a:latin typeface="Arial"/>
                <a:cs typeface="Arial"/>
              </a:rPr>
              <a:t>Number)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8946" y="7000745"/>
            <a:ext cx="920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٧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98993" y="1270507"/>
            <a:ext cx="72891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Two TCP/IP Transport </a:t>
            </a:r>
            <a:r>
              <a:rPr spc="-10" dirty="0"/>
              <a:t>layer</a:t>
            </a:r>
            <a:r>
              <a:rPr spc="-35" dirty="0"/>
              <a:t> </a:t>
            </a:r>
            <a:r>
              <a:rPr spc="-5" dirty="0"/>
              <a:t>protocols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9501" y="2142152"/>
            <a:ext cx="8686800" cy="2028119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706120" lvl="1" indent="-236220">
              <a:spcBef>
                <a:spcPts val="97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800" spc="-5" dirty="0">
                <a:latin typeface="Arial"/>
                <a:cs typeface="Arial"/>
              </a:rPr>
              <a:t>There are multiple Transport layer protocols.</a:t>
            </a:r>
            <a:r>
              <a:rPr sz="2800" spc="4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Why?</a:t>
            </a:r>
            <a:endParaRPr sz="2800" dirty="0">
              <a:latin typeface="Arial"/>
              <a:cs typeface="Arial"/>
            </a:endParaRPr>
          </a:p>
          <a:p>
            <a:pPr marL="1043940" lvl="1">
              <a:spcBef>
                <a:spcPts val="735"/>
              </a:spcBef>
            </a:pPr>
            <a:endParaRPr lang="en-US" sz="2800" spc="-5" dirty="0">
              <a:latin typeface="Arial"/>
              <a:cs typeface="Arial"/>
            </a:endParaRPr>
          </a:p>
          <a:p>
            <a:pPr marL="1043940" lvl="1">
              <a:spcBef>
                <a:spcPts val="735"/>
              </a:spcBef>
            </a:pPr>
            <a:r>
              <a:rPr sz="2800" spc="-5" dirty="0">
                <a:latin typeface="Arial"/>
                <a:cs typeface="Arial"/>
              </a:rPr>
              <a:t>Because different applications </a:t>
            </a:r>
            <a:r>
              <a:rPr sz="2800" dirty="0">
                <a:latin typeface="Arial"/>
                <a:cs typeface="Arial"/>
              </a:rPr>
              <a:t>have </a:t>
            </a:r>
            <a:r>
              <a:rPr sz="2800" spc="-5" dirty="0">
                <a:latin typeface="Arial"/>
                <a:cs typeface="Arial"/>
              </a:rPr>
              <a:t>different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requirements.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8946" y="7000745"/>
            <a:ext cx="920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٨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4072" y="2296098"/>
            <a:ext cx="9449428" cy="40954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248920" marR="5080" indent="-236220">
              <a:lnSpc>
                <a:spcPct val="95100"/>
              </a:lnSpc>
              <a:spcBef>
                <a:spcPts val="24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The two most common </a:t>
            </a:r>
            <a:endParaRPr lang="en-US" sz="2400" spc="-5" dirty="0">
              <a:latin typeface="Arial"/>
              <a:cs typeface="Arial"/>
            </a:endParaRPr>
          </a:p>
          <a:p>
            <a:pPr marL="248920" marR="5080" indent="-236220">
              <a:lnSpc>
                <a:spcPct val="95100"/>
              </a:lnSpc>
              <a:spcBef>
                <a:spcPts val="24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endParaRPr lang="en-US" sz="2400" spc="-5" dirty="0">
              <a:latin typeface="Arial"/>
              <a:cs typeface="Arial"/>
            </a:endParaRPr>
          </a:p>
          <a:p>
            <a:pPr marL="248920" marR="5080" indent="-236220">
              <a:lnSpc>
                <a:spcPct val="95100"/>
              </a:lnSpc>
              <a:spcBef>
                <a:spcPts val="24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Transport layer protocols of  TCP/IP protocol suite are</a:t>
            </a:r>
            <a:r>
              <a:rPr lang="en-US" sz="2400" spc="-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Transmission Control  Protocol (TCP) </a:t>
            </a:r>
            <a:endParaRPr lang="en-US" sz="2400" spc="-5" dirty="0">
              <a:latin typeface="Arial"/>
              <a:cs typeface="Arial"/>
            </a:endParaRPr>
          </a:p>
          <a:p>
            <a:pPr marL="248920" marR="5080" indent="-236220">
              <a:lnSpc>
                <a:spcPct val="95100"/>
              </a:lnSpc>
              <a:spcBef>
                <a:spcPts val="24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endParaRPr lang="en-US" sz="2400" spc="-5" dirty="0">
              <a:latin typeface="Arial"/>
              <a:cs typeface="Arial"/>
            </a:endParaRPr>
          </a:p>
          <a:p>
            <a:pPr marL="248920" marR="5080" indent="-236220">
              <a:lnSpc>
                <a:spcPct val="95100"/>
              </a:lnSpc>
              <a:spcBef>
                <a:spcPts val="24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User Datagram Protocol (UDP).  </a:t>
            </a:r>
            <a:endParaRPr lang="en-US" sz="2400" spc="-5" dirty="0">
              <a:latin typeface="Arial"/>
              <a:cs typeface="Arial"/>
            </a:endParaRPr>
          </a:p>
          <a:p>
            <a:pPr marL="248920" marR="5080" indent="-236220">
              <a:lnSpc>
                <a:spcPct val="95100"/>
              </a:lnSpc>
              <a:spcBef>
                <a:spcPts val="24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endParaRPr lang="en-US" sz="2400" spc="-5" dirty="0">
              <a:latin typeface="Arial"/>
              <a:cs typeface="Arial"/>
            </a:endParaRPr>
          </a:p>
          <a:p>
            <a:pPr marL="248920" marR="5080" indent="-236220">
              <a:lnSpc>
                <a:spcPct val="95100"/>
              </a:lnSpc>
              <a:spcBef>
                <a:spcPts val="24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Both protocols manage the communication of multiple  applications. </a:t>
            </a:r>
            <a:endParaRPr lang="en-US" sz="2400" spc="-5" dirty="0">
              <a:latin typeface="Arial"/>
              <a:cs typeface="Arial"/>
            </a:endParaRPr>
          </a:p>
          <a:p>
            <a:pPr marL="248920" marR="5080" indent="-236220">
              <a:lnSpc>
                <a:spcPct val="95100"/>
              </a:lnSpc>
              <a:spcBef>
                <a:spcPts val="24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endParaRPr lang="en-US" sz="2400" spc="-5" dirty="0">
              <a:latin typeface="Arial"/>
              <a:cs typeface="Arial"/>
            </a:endParaRPr>
          </a:p>
          <a:p>
            <a:pPr marL="248920" marR="5080" indent="-236220">
              <a:lnSpc>
                <a:spcPct val="95100"/>
              </a:lnSpc>
              <a:spcBef>
                <a:spcPts val="24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The differences between the </a:t>
            </a:r>
            <a:r>
              <a:rPr sz="2400" spc="-10" dirty="0">
                <a:latin typeface="Arial"/>
                <a:cs typeface="Arial"/>
              </a:rPr>
              <a:t>two </a:t>
            </a:r>
            <a:r>
              <a:rPr sz="2400" spc="-5" dirty="0">
                <a:latin typeface="Arial"/>
                <a:cs typeface="Arial"/>
              </a:rPr>
              <a:t>are the  specific functions that each protocol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implements.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65300" y="1345021"/>
            <a:ext cx="687099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spc="-5" dirty="0"/>
              <a:t>Two TCP/IP Transport </a:t>
            </a:r>
            <a:r>
              <a:rPr lang="en-US" sz="3200" b="1" spc="-10" dirty="0"/>
              <a:t>layer</a:t>
            </a:r>
            <a:r>
              <a:rPr lang="en-US" sz="3200" b="1" spc="-35" dirty="0"/>
              <a:t> </a:t>
            </a:r>
            <a:r>
              <a:rPr lang="en-US" sz="3200" b="1" spc="-5" dirty="0"/>
              <a:t>protocols</a:t>
            </a:r>
            <a:endParaRPr lang="en-US" sz="29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8946" y="7000745"/>
            <a:ext cx="920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٩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98993" y="1176019"/>
            <a:ext cx="8416030" cy="446276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641475" marR="5080" indent="-1629410">
              <a:lnSpc>
                <a:spcPts val="3020"/>
              </a:lnSpc>
              <a:spcBef>
                <a:spcPts val="480"/>
              </a:spcBef>
            </a:pPr>
            <a:r>
              <a:rPr sz="2800" spc="-5"/>
              <a:t>TCP/IP </a:t>
            </a:r>
            <a:r>
              <a:rPr sz="2800" spc="-10" dirty="0"/>
              <a:t>Transport </a:t>
            </a:r>
            <a:r>
              <a:rPr sz="2800" dirty="0"/>
              <a:t>layer </a:t>
            </a:r>
            <a:r>
              <a:rPr sz="2800" spc="-5" dirty="0"/>
              <a:t>protocols:  TCP and</a:t>
            </a:r>
            <a:r>
              <a:rPr sz="2800" spc="-10" dirty="0"/>
              <a:t> UDP.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1079500" y="2088894"/>
            <a:ext cx="8835523" cy="267716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400" spc="-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TCP </a:t>
            </a:r>
            <a:r>
              <a:rPr sz="2400" spc="-5" dirty="0">
                <a:latin typeface="Arial"/>
                <a:cs typeface="Arial"/>
              </a:rPr>
              <a:t>at the Transport layer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provide:</a:t>
            </a:r>
            <a:endParaRPr sz="2400" dirty="0">
              <a:latin typeface="Arial"/>
              <a:cs typeface="Arial"/>
            </a:endParaRPr>
          </a:p>
          <a:p>
            <a:pPr marL="248920" indent="-236220">
              <a:lnSpc>
                <a:spcPct val="100000"/>
              </a:lnSpc>
              <a:spcBef>
                <a:spcPts val="129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Connection-oriented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conversations</a:t>
            </a:r>
            <a:endParaRPr sz="2400" dirty="0">
              <a:latin typeface="Arial"/>
              <a:cs typeface="Arial"/>
            </a:endParaRPr>
          </a:p>
          <a:p>
            <a:pPr marL="248920" indent="-236220">
              <a:lnSpc>
                <a:spcPct val="100000"/>
              </a:lnSpc>
              <a:spcBef>
                <a:spcPts val="129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Reliable delivery</a:t>
            </a:r>
            <a:endParaRPr sz="2400" dirty="0">
              <a:latin typeface="Arial"/>
              <a:cs typeface="Arial"/>
            </a:endParaRPr>
          </a:p>
          <a:p>
            <a:pPr marL="248920" indent="-236220">
              <a:lnSpc>
                <a:spcPct val="100000"/>
              </a:lnSpc>
              <a:spcBef>
                <a:spcPts val="129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Ordered data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reconstruction</a:t>
            </a:r>
            <a:endParaRPr sz="2400" dirty="0">
              <a:latin typeface="Arial"/>
              <a:cs typeface="Arial"/>
            </a:endParaRPr>
          </a:p>
          <a:p>
            <a:pPr marL="248920" indent="-236220">
              <a:lnSpc>
                <a:spcPct val="100000"/>
              </a:lnSpc>
              <a:spcBef>
                <a:spcPts val="129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Flow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control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١٠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74073" y="1334708"/>
            <a:ext cx="9525000" cy="446276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sz="3000" spc="-5" dirty="0"/>
              <a:t>Basic characteristics </a:t>
            </a:r>
            <a:r>
              <a:rPr sz="3000" spc="-10" dirty="0"/>
              <a:t>of </a:t>
            </a:r>
            <a:r>
              <a:rPr sz="3000" spc="-5" dirty="0"/>
              <a:t>the </a:t>
            </a:r>
            <a:r>
              <a:rPr sz="3000" spc="-10" dirty="0"/>
              <a:t>UDP </a:t>
            </a:r>
            <a:r>
              <a:rPr sz="3000" spc="-5" dirty="0"/>
              <a:t>and TCP  </a:t>
            </a:r>
            <a:r>
              <a:rPr lang="en-US" sz="3000" spc="-5" dirty="0"/>
              <a:t>P</a:t>
            </a:r>
            <a:r>
              <a:rPr sz="3000" spc="-5" dirty="0"/>
              <a:t>rotocols</a:t>
            </a:r>
            <a:endParaRPr sz="3000" dirty="0"/>
          </a:p>
        </p:txBody>
      </p:sp>
      <p:sp>
        <p:nvSpPr>
          <p:cNvPr id="7" name="object 7"/>
          <p:cNvSpPr txBox="1"/>
          <p:nvPr/>
        </p:nvSpPr>
        <p:spPr>
          <a:xfrm>
            <a:off x="1003300" y="2223006"/>
            <a:ext cx="8911723" cy="44217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ts val="2665"/>
              </a:lnSpc>
              <a:spcBef>
                <a:spcPts val="100"/>
              </a:spcBef>
              <a:buFont typeface="Arial" charset="0"/>
              <a:buChar char="•"/>
              <a:tabLst>
                <a:tab pos="200660" algn="l"/>
              </a:tabLst>
            </a:pPr>
            <a:r>
              <a:rPr lang="en-US" sz="3200" b="1" spc="-10" dirty="0">
                <a:latin typeface="Arial"/>
                <a:cs typeface="Arial"/>
              </a:rPr>
              <a:t>UDP Protocol</a:t>
            </a:r>
          </a:p>
          <a:p>
            <a:pPr marL="200025" indent="-187325">
              <a:lnSpc>
                <a:spcPts val="2665"/>
              </a:lnSpc>
              <a:spcBef>
                <a:spcPts val="100"/>
              </a:spcBef>
              <a:buChar char="-"/>
              <a:tabLst>
                <a:tab pos="200660" algn="l"/>
              </a:tabLst>
            </a:pPr>
            <a:r>
              <a:rPr sz="2600" spc="-10" dirty="0">
                <a:latin typeface="Arial"/>
                <a:cs typeface="Arial"/>
              </a:rPr>
              <a:t>Fast</a:t>
            </a:r>
            <a:endParaRPr sz="2600" dirty="0">
              <a:latin typeface="Arial"/>
              <a:cs typeface="Arial"/>
            </a:endParaRPr>
          </a:p>
          <a:p>
            <a:pPr marL="200025" indent="-187325">
              <a:lnSpc>
                <a:spcPts val="2450"/>
              </a:lnSpc>
              <a:buChar char="-"/>
              <a:tabLst>
                <a:tab pos="200660" algn="l"/>
              </a:tabLst>
            </a:pPr>
            <a:r>
              <a:rPr sz="2600" spc="-5" dirty="0">
                <a:latin typeface="Arial"/>
                <a:cs typeface="Arial"/>
              </a:rPr>
              <a:t>Low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overhead</a:t>
            </a:r>
            <a:endParaRPr sz="2600" dirty="0">
              <a:latin typeface="Arial"/>
              <a:cs typeface="Arial"/>
            </a:endParaRPr>
          </a:p>
          <a:p>
            <a:pPr marL="200025" indent="-187325">
              <a:lnSpc>
                <a:spcPts val="2455"/>
              </a:lnSpc>
              <a:buChar char="-"/>
              <a:tabLst>
                <a:tab pos="200660" algn="l"/>
              </a:tabLst>
            </a:pPr>
            <a:r>
              <a:rPr sz="2600" spc="-5" dirty="0">
                <a:latin typeface="Arial"/>
                <a:cs typeface="Arial"/>
              </a:rPr>
              <a:t>Does not require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acknowledgements</a:t>
            </a:r>
            <a:endParaRPr sz="2600" dirty="0">
              <a:latin typeface="Arial"/>
              <a:cs typeface="Arial"/>
            </a:endParaRPr>
          </a:p>
          <a:p>
            <a:pPr marL="200025" indent="-187325">
              <a:lnSpc>
                <a:spcPts val="2455"/>
              </a:lnSpc>
              <a:buChar char="-"/>
              <a:tabLst>
                <a:tab pos="200660" algn="l"/>
              </a:tabLst>
            </a:pPr>
            <a:r>
              <a:rPr sz="2600" spc="-5" dirty="0">
                <a:latin typeface="Arial"/>
                <a:cs typeface="Arial"/>
              </a:rPr>
              <a:t>Does not resend lost</a:t>
            </a:r>
            <a:r>
              <a:rPr sz="2600" spc="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data</a:t>
            </a:r>
            <a:endParaRPr sz="2600" dirty="0">
              <a:latin typeface="Arial"/>
              <a:cs typeface="Arial"/>
            </a:endParaRPr>
          </a:p>
          <a:p>
            <a:pPr marL="200025" indent="-187325">
              <a:lnSpc>
                <a:spcPts val="2665"/>
              </a:lnSpc>
              <a:buChar char="-"/>
              <a:tabLst>
                <a:tab pos="200660" algn="l"/>
              </a:tabLst>
            </a:pPr>
            <a:r>
              <a:rPr sz="2600" spc="-5" dirty="0">
                <a:latin typeface="Arial"/>
                <a:cs typeface="Arial"/>
              </a:rPr>
              <a:t>Delivers data as it arrives</a:t>
            </a:r>
            <a:endParaRPr sz="2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-"/>
            </a:pPr>
            <a:endParaRPr lang="en-US" sz="2600" dirty="0">
              <a:latin typeface="Times New Roman"/>
              <a:cs typeface="Times New Roman"/>
            </a:endParaRPr>
          </a:p>
          <a:p>
            <a:pPr>
              <a:buFont typeface="Arial"/>
              <a:buChar char="-"/>
            </a:pPr>
            <a:r>
              <a:rPr lang="en-US" sz="2800" b="1" spc="-10" dirty="0">
                <a:latin typeface="Arial"/>
                <a:cs typeface="Arial"/>
              </a:rPr>
              <a:t> TCP Protocol</a:t>
            </a:r>
            <a:endParaRPr sz="2600" dirty="0">
              <a:latin typeface="Times New Roman"/>
              <a:cs typeface="Times New Roman"/>
            </a:endParaRPr>
          </a:p>
          <a:p>
            <a:pPr marL="12700">
              <a:lnSpc>
                <a:spcPts val="2665"/>
              </a:lnSpc>
              <a:spcBef>
                <a:spcPts val="1789"/>
              </a:spcBef>
            </a:pPr>
            <a:r>
              <a:rPr sz="2600" spc="-5" dirty="0">
                <a:latin typeface="Arial"/>
                <a:cs typeface="Arial"/>
              </a:rPr>
              <a:t>-Reliable</a:t>
            </a:r>
            <a:endParaRPr sz="2600" dirty="0">
              <a:latin typeface="Arial"/>
              <a:cs typeface="Arial"/>
            </a:endParaRPr>
          </a:p>
          <a:p>
            <a:pPr marL="200025" indent="-187325">
              <a:lnSpc>
                <a:spcPts val="2450"/>
              </a:lnSpc>
              <a:buChar char="-"/>
              <a:tabLst>
                <a:tab pos="200660" algn="l"/>
              </a:tabLst>
            </a:pPr>
            <a:r>
              <a:rPr sz="2600" spc="-5" dirty="0">
                <a:latin typeface="Arial"/>
                <a:cs typeface="Arial"/>
              </a:rPr>
              <a:t>Acknowledges data</a:t>
            </a:r>
            <a:endParaRPr sz="2600" dirty="0">
              <a:latin typeface="Arial"/>
              <a:cs typeface="Arial"/>
            </a:endParaRPr>
          </a:p>
          <a:p>
            <a:pPr marL="200025" indent="-187325">
              <a:lnSpc>
                <a:spcPts val="2450"/>
              </a:lnSpc>
              <a:buChar char="-"/>
              <a:tabLst>
                <a:tab pos="200660" algn="l"/>
              </a:tabLst>
            </a:pPr>
            <a:r>
              <a:rPr sz="2600" spc="-5" dirty="0">
                <a:latin typeface="Arial"/>
                <a:cs typeface="Arial"/>
              </a:rPr>
              <a:t>Resends lost</a:t>
            </a:r>
            <a:r>
              <a:rPr sz="2600" spc="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data</a:t>
            </a:r>
            <a:endParaRPr sz="2600" dirty="0">
              <a:latin typeface="Arial"/>
              <a:cs typeface="Arial"/>
            </a:endParaRPr>
          </a:p>
          <a:p>
            <a:pPr marL="200025" indent="-187325">
              <a:lnSpc>
                <a:spcPts val="2665"/>
              </a:lnSpc>
              <a:buChar char="-"/>
              <a:tabLst>
                <a:tab pos="200660" algn="l"/>
              </a:tabLst>
            </a:pPr>
            <a:r>
              <a:rPr sz="2600" spc="-5" dirty="0">
                <a:latin typeface="Arial"/>
                <a:cs typeface="Arial"/>
              </a:rPr>
              <a:t>Delivers data in the order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sent</a:t>
            </a:r>
            <a:endParaRPr sz="2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١١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98993" y="1144589"/>
            <a:ext cx="67233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Transport </a:t>
            </a:r>
            <a:r>
              <a:rPr spc="-10" dirty="0"/>
              <a:t>Layer </a:t>
            </a:r>
            <a:r>
              <a:rPr dirty="0"/>
              <a:t>Role </a:t>
            </a:r>
            <a:r>
              <a:rPr spc="-5" dirty="0"/>
              <a:t>and</a:t>
            </a:r>
            <a:r>
              <a:rPr spc="-50" dirty="0"/>
              <a:t> </a:t>
            </a:r>
            <a:r>
              <a:rPr spc="-10" dirty="0"/>
              <a:t>Services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98993" y="1745995"/>
            <a:ext cx="5132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920" indent="-236220">
              <a:lnSpc>
                <a:spcPct val="100000"/>
              </a:lnSpc>
              <a:spcBef>
                <a:spcPts val="10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Supporting Reliable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Communication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08100" y="2408174"/>
            <a:ext cx="7932174" cy="48752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١٢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7100" y="1270507"/>
            <a:ext cx="8694173" cy="38574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6F8CA1"/>
                </a:solidFill>
                <a:latin typeface="Arial"/>
                <a:cs typeface="Arial"/>
              </a:rPr>
              <a:t>UDP</a:t>
            </a:r>
            <a:endParaRPr sz="3200" b="1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350" dirty="0">
              <a:latin typeface="Times New Roman"/>
              <a:cs typeface="Times New Roman"/>
            </a:endParaRPr>
          </a:p>
          <a:p>
            <a:pPr marL="248920" indent="-236220">
              <a:lnSpc>
                <a:spcPct val="100000"/>
              </a:lnSpc>
              <a:spcBef>
                <a:spcPts val="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700" b="1" spc="-5" dirty="0">
                <a:latin typeface="Arial"/>
                <a:cs typeface="Arial"/>
              </a:rPr>
              <a:t>UDP </a:t>
            </a:r>
            <a:r>
              <a:rPr sz="2700" spc="-5" dirty="0">
                <a:latin typeface="Arial"/>
                <a:cs typeface="Arial"/>
              </a:rPr>
              <a:t>is </a:t>
            </a:r>
            <a:r>
              <a:rPr sz="2700" dirty="0">
                <a:latin typeface="Arial"/>
                <a:cs typeface="Arial"/>
              </a:rPr>
              <a:t>a </a:t>
            </a:r>
            <a:r>
              <a:rPr sz="2700" spc="-5" dirty="0">
                <a:latin typeface="Arial"/>
                <a:cs typeface="Arial"/>
              </a:rPr>
              <a:t>simple, </a:t>
            </a:r>
            <a:r>
              <a:rPr sz="2700" b="1" spc="-5" dirty="0">
                <a:latin typeface="Arial"/>
                <a:cs typeface="Arial"/>
              </a:rPr>
              <a:t>connectionless</a:t>
            </a:r>
            <a:r>
              <a:rPr sz="2700" b="1" spc="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protocol</a:t>
            </a:r>
            <a:endParaRPr lang="en-US" sz="2700" spc="-5" dirty="0">
              <a:latin typeface="Arial"/>
              <a:cs typeface="Arial"/>
            </a:endParaRPr>
          </a:p>
          <a:p>
            <a:pPr marL="248920" indent="-236220">
              <a:lnSpc>
                <a:spcPct val="100000"/>
              </a:lnSpc>
              <a:spcBef>
                <a:spcPts val="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endParaRPr sz="2700" dirty="0">
              <a:latin typeface="Arial"/>
              <a:cs typeface="Arial"/>
            </a:endParaRPr>
          </a:p>
          <a:p>
            <a:pPr marL="248920" indent="-236220">
              <a:lnSpc>
                <a:spcPct val="100000"/>
              </a:lnSpc>
              <a:spcBef>
                <a:spcPts val="129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lang="en-US" sz="2700" b="1" spc="-10" dirty="0">
                <a:latin typeface="Arial"/>
                <a:cs typeface="Arial"/>
              </a:rPr>
              <a:t>L</a:t>
            </a:r>
            <a:r>
              <a:rPr sz="2700" b="1" spc="-10" dirty="0">
                <a:latin typeface="Arial"/>
                <a:cs typeface="Arial"/>
              </a:rPr>
              <a:t>ow </a:t>
            </a:r>
            <a:r>
              <a:rPr sz="2700" b="1" spc="-5" dirty="0">
                <a:latin typeface="Arial"/>
                <a:cs typeface="Arial"/>
              </a:rPr>
              <a:t>overhead </a:t>
            </a:r>
            <a:r>
              <a:rPr sz="2700" spc="-5" dirty="0">
                <a:latin typeface="Arial"/>
                <a:cs typeface="Arial"/>
              </a:rPr>
              <a:t>data</a:t>
            </a:r>
            <a:r>
              <a:rPr sz="2700" spc="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delivery.</a:t>
            </a:r>
            <a:endParaRPr sz="2700" dirty="0">
              <a:latin typeface="Arial"/>
              <a:cs typeface="Arial"/>
            </a:endParaRPr>
          </a:p>
          <a:p>
            <a:pPr marL="248920" marR="5080" indent="-236220">
              <a:lnSpc>
                <a:spcPts val="2740"/>
              </a:lnSpc>
              <a:spcBef>
                <a:spcPts val="150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endParaRPr lang="en-US" sz="2700" b="1" spc="-5" dirty="0">
              <a:latin typeface="Arial"/>
              <a:cs typeface="Arial"/>
            </a:endParaRPr>
          </a:p>
          <a:p>
            <a:pPr marL="248920" marR="5080" indent="-236220">
              <a:lnSpc>
                <a:spcPts val="2740"/>
              </a:lnSpc>
              <a:spcBef>
                <a:spcPts val="150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lang="en-US" sz="2700" b="1" spc="-5" dirty="0">
                <a:latin typeface="Arial"/>
                <a:cs typeface="Arial"/>
              </a:rPr>
              <a:t>D</a:t>
            </a:r>
            <a:r>
              <a:rPr sz="2700" b="1" spc="-5" dirty="0">
                <a:latin typeface="Arial"/>
                <a:cs typeface="Arial"/>
              </a:rPr>
              <a:t>atagrams </a:t>
            </a:r>
            <a:r>
              <a:rPr sz="2700" spc="-5" dirty="0">
                <a:latin typeface="Arial"/>
                <a:cs typeface="Arial"/>
              </a:rPr>
              <a:t>are sent as "</a:t>
            </a:r>
            <a:r>
              <a:rPr sz="2700" b="1" spc="-5" dirty="0">
                <a:latin typeface="Arial"/>
                <a:cs typeface="Arial"/>
              </a:rPr>
              <a:t>best effort</a:t>
            </a:r>
            <a:r>
              <a:rPr sz="2700" spc="-5" dirty="0">
                <a:latin typeface="Arial"/>
                <a:cs typeface="Arial"/>
              </a:rPr>
              <a:t>" by this Transport  layer</a:t>
            </a:r>
            <a:r>
              <a:rPr sz="270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protocol.</a:t>
            </a:r>
            <a:endParaRPr sz="27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١٣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03332" y="1361054"/>
            <a:ext cx="8417942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Applications that use UDP</a:t>
            </a:r>
            <a:r>
              <a:rPr sz="2800" spc="-10" dirty="0"/>
              <a:t> </a:t>
            </a:r>
            <a:r>
              <a:rPr sz="2800" spc="-5" dirty="0"/>
              <a:t>include: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1498993" y="2783838"/>
            <a:ext cx="6467899" cy="2705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920" indent="-236220">
              <a:lnSpc>
                <a:spcPct val="100000"/>
              </a:lnSpc>
              <a:spcBef>
                <a:spcPts val="10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700" spc="-5" dirty="0">
                <a:latin typeface="Arial"/>
                <a:cs typeface="Arial"/>
              </a:rPr>
              <a:t>Domain Name System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spc="-10" dirty="0">
                <a:latin typeface="Arial"/>
                <a:cs typeface="Arial"/>
              </a:rPr>
              <a:t>(DNS)</a:t>
            </a:r>
            <a:endParaRPr sz="2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6F8CA1"/>
              </a:buClr>
              <a:buFont typeface="Wingdings"/>
              <a:buChar char=""/>
            </a:pPr>
            <a:endParaRPr sz="2700" dirty="0">
              <a:latin typeface="Times New Roman"/>
              <a:cs typeface="Times New Roman"/>
            </a:endParaRPr>
          </a:p>
          <a:p>
            <a:pPr marL="248920" indent="-236220">
              <a:lnSpc>
                <a:spcPct val="100000"/>
              </a:lnSpc>
              <a:spcBef>
                <a:spcPts val="236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700" spc="-5" dirty="0">
                <a:latin typeface="Arial"/>
                <a:cs typeface="Arial"/>
              </a:rPr>
              <a:t>Video Streaming</a:t>
            </a:r>
            <a:endParaRPr sz="2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6F8CA1"/>
              </a:buClr>
              <a:buFont typeface="Wingdings"/>
              <a:buChar char=""/>
            </a:pPr>
            <a:endParaRPr sz="2700" dirty="0">
              <a:latin typeface="Times New Roman"/>
              <a:cs typeface="Times New Roman"/>
            </a:endParaRPr>
          </a:p>
          <a:p>
            <a:pPr marL="248920" indent="-236220">
              <a:lnSpc>
                <a:spcPct val="100000"/>
              </a:lnSpc>
              <a:spcBef>
                <a:spcPts val="236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700" spc="-5" dirty="0">
                <a:latin typeface="Arial"/>
                <a:cs typeface="Arial"/>
              </a:rPr>
              <a:t>Voice over </a:t>
            </a:r>
            <a:r>
              <a:rPr sz="2700" dirty="0">
                <a:latin typeface="Arial"/>
                <a:cs typeface="Arial"/>
              </a:rPr>
              <a:t>IP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(VoIP)</a:t>
            </a:r>
            <a:endParaRPr sz="27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١٤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98993" y="1270507"/>
            <a:ext cx="71748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Transmission Control Protocol</a:t>
            </a:r>
            <a:r>
              <a:rPr spc="-60" dirty="0"/>
              <a:t> </a:t>
            </a:r>
            <a:r>
              <a:rPr spc="-5" dirty="0"/>
              <a:t>(TCP)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98993" y="2077133"/>
            <a:ext cx="6467899" cy="1631857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248920" indent="-236220">
              <a:lnSpc>
                <a:spcPct val="100000"/>
              </a:lnSpc>
              <a:spcBef>
                <a:spcPts val="116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600" spc="-5" dirty="0">
                <a:latin typeface="Arial"/>
                <a:cs typeface="Arial"/>
              </a:rPr>
              <a:t>Connection-oriented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protocol,</a:t>
            </a:r>
            <a:endParaRPr sz="2600" dirty="0">
              <a:latin typeface="Arial"/>
              <a:cs typeface="Arial"/>
            </a:endParaRPr>
          </a:p>
          <a:p>
            <a:pPr marL="248920" indent="-236220">
              <a:lnSpc>
                <a:spcPct val="100000"/>
              </a:lnSpc>
              <a:spcBef>
                <a:spcPts val="106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600" spc="-5" dirty="0">
                <a:latin typeface="Arial"/>
                <a:cs typeface="Arial"/>
              </a:rPr>
              <a:t>Overhead</a:t>
            </a:r>
            <a:endParaRPr sz="2600" dirty="0">
              <a:latin typeface="Arial"/>
              <a:cs typeface="Arial"/>
            </a:endParaRPr>
          </a:p>
          <a:p>
            <a:pPr marL="247015" indent="-234315">
              <a:lnSpc>
                <a:spcPct val="100000"/>
              </a:lnSpc>
              <a:spcBef>
                <a:spcPts val="1080"/>
              </a:spcBef>
              <a:buClr>
                <a:srgbClr val="6F8CA1"/>
              </a:buClr>
              <a:buFont typeface="Wingdings"/>
              <a:buChar char=""/>
              <a:tabLst>
                <a:tab pos="247650" algn="l"/>
              </a:tabLst>
            </a:pPr>
            <a:r>
              <a:rPr lang="en-US" sz="2600" dirty="0">
                <a:latin typeface="Arial"/>
                <a:cs typeface="Arial"/>
              </a:rPr>
              <a:t>F</a:t>
            </a:r>
            <a:r>
              <a:rPr sz="2600" dirty="0">
                <a:latin typeface="Arial"/>
                <a:cs typeface="Arial"/>
              </a:rPr>
              <a:t>low</a:t>
            </a:r>
            <a:r>
              <a:rPr sz="2600" spc="-5" dirty="0">
                <a:latin typeface="Arial"/>
                <a:cs typeface="Arial"/>
              </a:rPr>
              <a:t> control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98993" y="4552443"/>
            <a:ext cx="7022199" cy="2273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١٥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7552" y="1427479"/>
            <a:ext cx="6148947" cy="4892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spc="-5" dirty="0"/>
              <a:t>Applications that use TCP</a:t>
            </a:r>
            <a:r>
              <a:rPr sz="3100" spc="0" dirty="0"/>
              <a:t> </a:t>
            </a:r>
            <a:r>
              <a:rPr sz="3100" spc="-5" dirty="0"/>
              <a:t>are:</a:t>
            </a:r>
            <a:endParaRPr sz="3100" dirty="0"/>
          </a:p>
        </p:txBody>
      </p:sp>
      <p:sp>
        <p:nvSpPr>
          <p:cNvPr id="7" name="object 7"/>
          <p:cNvSpPr txBox="1"/>
          <p:nvPr/>
        </p:nvSpPr>
        <p:spPr>
          <a:xfrm>
            <a:off x="1498993" y="2339561"/>
            <a:ext cx="6467899" cy="28597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920" indent="-236220">
              <a:lnSpc>
                <a:spcPct val="100000"/>
              </a:lnSpc>
              <a:spcBef>
                <a:spcPts val="10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900" spc="-5" dirty="0">
                <a:latin typeface="Arial"/>
                <a:cs typeface="Arial"/>
              </a:rPr>
              <a:t>Web</a:t>
            </a:r>
            <a:r>
              <a:rPr sz="2900" spc="-55" dirty="0">
                <a:latin typeface="Arial"/>
                <a:cs typeface="Arial"/>
              </a:rPr>
              <a:t> </a:t>
            </a:r>
            <a:r>
              <a:rPr sz="2900" spc="-5" dirty="0">
                <a:latin typeface="Arial"/>
                <a:cs typeface="Arial"/>
              </a:rPr>
              <a:t>Browsers</a:t>
            </a:r>
            <a:endParaRPr sz="2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6F8CA1"/>
              </a:buClr>
              <a:buFont typeface="Wingdings"/>
              <a:buChar char=""/>
            </a:pPr>
            <a:endParaRPr sz="2900" dirty="0">
              <a:latin typeface="Times New Roman"/>
              <a:cs typeface="Times New Roman"/>
            </a:endParaRPr>
          </a:p>
          <a:p>
            <a:pPr marL="248920" indent="-236220">
              <a:lnSpc>
                <a:spcPct val="100000"/>
              </a:lnSpc>
              <a:spcBef>
                <a:spcPts val="236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900" spc="-5" dirty="0">
                <a:latin typeface="Arial"/>
                <a:cs typeface="Arial"/>
              </a:rPr>
              <a:t>E-mail</a:t>
            </a:r>
            <a:endParaRPr sz="2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6F8CA1"/>
              </a:buClr>
              <a:buFont typeface="Wingdings"/>
              <a:buChar char=""/>
            </a:pPr>
            <a:endParaRPr sz="2900" dirty="0">
              <a:latin typeface="Times New Roman"/>
              <a:cs typeface="Times New Roman"/>
            </a:endParaRPr>
          </a:p>
          <a:p>
            <a:pPr marL="248920" indent="-236220">
              <a:lnSpc>
                <a:spcPct val="100000"/>
              </a:lnSpc>
              <a:spcBef>
                <a:spcPts val="236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900" spc="-5" dirty="0">
                <a:latin typeface="Arial"/>
                <a:cs typeface="Arial"/>
              </a:rPr>
              <a:t>File</a:t>
            </a:r>
            <a:r>
              <a:rPr sz="2900" spc="-25" dirty="0">
                <a:latin typeface="Arial"/>
                <a:cs typeface="Arial"/>
              </a:rPr>
              <a:t> </a:t>
            </a:r>
            <a:r>
              <a:rPr sz="2900" spc="-5" dirty="0">
                <a:latin typeface="Arial"/>
                <a:cs typeface="Arial"/>
              </a:rPr>
              <a:t>Transfers</a:t>
            </a:r>
            <a:endParaRPr sz="29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١٦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98993" y="1027685"/>
            <a:ext cx="42392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Transport Layer</a:t>
            </a:r>
            <a:r>
              <a:rPr sz="2800" spc="-25" dirty="0"/>
              <a:t> </a:t>
            </a:r>
            <a:r>
              <a:rPr sz="2800" spc="-5" dirty="0"/>
              <a:t>Headers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1498993" y="1745995"/>
            <a:ext cx="491450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920" indent="-236220">
              <a:lnSpc>
                <a:spcPct val="100000"/>
              </a:lnSpc>
              <a:spcBef>
                <a:spcPts val="10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lang="en-US" sz="2400" spc="-5" dirty="0">
                <a:latin typeface="Arial"/>
                <a:cs typeface="Arial"/>
              </a:rPr>
              <a:t>S</a:t>
            </a:r>
            <a:r>
              <a:rPr sz="2400" spc="-5">
                <a:latin typeface="Arial"/>
                <a:cs typeface="Arial"/>
              </a:rPr>
              <a:t>egment </a:t>
            </a:r>
            <a:r>
              <a:rPr sz="2400" spc="-5" dirty="0">
                <a:latin typeface="Arial"/>
                <a:cs typeface="Arial"/>
              </a:rPr>
              <a:t>or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datagram?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901830" y="2479547"/>
            <a:ext cx="7331070" cy="43007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١٧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98993" y="1270507"/>
            <a:ext cx="696340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Port </a:t>
            </a:r>
            <a:r>
              <a:rPr spc="-5" dirty="0"/>
              <a:t>Number, </a:t>
            </a:r>
            <a:r>
              <a:rPr sz="2400" spc="-10" dirty="0"/>
              <a:t>Identifying </a:t>
            </a:r>
            <a:r>
              <a:rPr sz="2400" spc="-5" dirty="0"/>
              <a:t>the</a:t>
            </a:r>
            <a:r>
              <a:rPr sz="2400" spc="-235" dirty="0"/>
              <a:t> </a:t>
            </a:r>
            <a:r>
              <a:rPr sz="2400" spc="-5" dirty="0"/>
              <a:t>Conversations</a:t>
            </a:r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1003300" y="2253487"/>
            <a:ext cx="8911723" cy="3368102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248920" marR="5080" indent="-236220">
              <a:lnSpc>
                <a:spcPct val="95100"/>
              </a:lnSpc>
              <a:spcBef>
                <a:spcPts val="24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Port numbers are assigned in various ways, </a:t>
            </a:r>
            <a:endParaRPr lang="en-US" sz="2400" spc="-5" dirty="0">
              <a:latin typeface="Arial"/>
              <a:cs typeface="Arial"/>
            </a:endParaRPr>
          </a:p>
          <a:p>
            <a:pPr marL="248920" marR="5080" indent="-236220">
              <a:lnSpc>
                <a:spcPct val="95100"/>
              </a:lnSpc>
              <a:spcBef>
                <a:spcPts val="24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endParaRPr lang="en-US" sz="2400" spc="-5" dirty="0">
              <a:latin typeface="Arial"/>
              <a:cs typeface="Arial"/>
            </a:endParaRPr>
          </a:p>
          <a:p>
            <a:pPr marL="248920" marR="5080" indent="-236220">
              <a:lnSpc>
                <a:spcPct val="95100"/>
              </a:lnSpc>
              <a:spcBef>
                <a:spcPts val="24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lang="en-US" sz="2400" spc="-5" dirty="0">
                <a:latin typeface="Arial"/>
                <a:cs typeface="Arial"/>
              </a:rPr>
              <a:t>D</a:t>
            </a:r>
            <a:r>
              <a:rPr sz="2400" spc="-5" dirty="0">
                <a:latin typeface="Arial"/>
                <a:cs typeface="Arial"/>
              </a:rPr>
              <a:t>epending  on whether the message is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request or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response. </a:t>
            </a:r>
            <a:endParaRPr lang="en-US" sz="2400" spc="-5" dirty="0">
              <a:latin typeface="Arial"/>
              <a:cs typeface="Arial"/>
            </a:endParaRPr>
          </a:p>
          <a:p>
            <a:pPr marL="248920" marR="5080" indent="-236220">
              <a:lnSpc>
                <a:spcPct val="95100"/>
              </a:lnSpc>
              <a:spcBef>
                <a:spcPts val="24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endParaRPr lang="en-US" sz="2400" spc="-5" dirty="0">
              <a:latin typeface="Arial"/>
              <a:cs typeface="Arial"/>
            </a:endParaRPr>
          </a:p>
          <a:p>
            <a:pPr marL="248920" marR="5080" indent="-236220">
              <a:lnSpc>
                <a:spcPct val="95100"/>
              </a:lnSpc>
              <a:spcBef>
                <a:spcPts val="24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lang="en-US" sz="2400" spc="-5" dirty="0">
                <a:latin typeface="Arial"/>
                <a:cs typeface="Arial"/>
              </a:rPr>
              <a:t>S</a:t>
            </a:r>
            <a:r>
              <a:rPr sz="2400" spc="-5" dirty="0">
                <a:latin typeface="Arial"/>
                <a:cs typeface="Arial"/>
              </a:rPr>
              <a:t>erver processes have </a:t>
            </a:r>
            <a:r>
              <a:rPr sz="2400" b="1" spc="-5" dirty="0">
                <a:latin typeface="Arial"/>
                <a:cs typeface="Arial"/>
              </a:rPr>
              <a:t>static port numbers  </a:t>
            </a:r>
            <a:r>
              <a:rPr sz="2400" spc="-5" dirty="0">
                <a:latin typeface="Arial"/>
                <a:cs typeface="Arial"/>
              </a:rPr>
              <a:t>assigned to them</a:t>
            </a:r>
            <a:r>
              <a:rPr lang="en-US" sz="2400" spc="-5" dirty="0">
                <a:latin typeface="Arial"/>
                <a:cs typeface="Arial"/>
              </a:rPr>
              <a:t>.</a:t>
            </a:r>
          </a:p>
          <a:p>
            <a:pPr marL="248920" marR="5080" indent="-236220">
              <a:lnSpc>
                <a:spcPct val="95100"/>
              </a:lnSpc>
              <a:spcBef>
                <a:spcPts val="24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endParaRPr lang="en-US" sz="2400" spc="-5" dirty="0">
              <a:latin typeface="Arial"/>
              <a:cs typeface="Arial"/>
            </a:endParaRPr>
          </a:p>
          <a:p>
            <a:pPr marL="248920" marR="5080" indent="-236220">
              <a:lnSpc>
                <a:spcPct val="95100"/>
              </a:lnSpc>
              <a:spcBef>
                <a:spcPts val="24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endParaRPr lang="en-US" sz="2400" spc="-5" dirty="0">
              <a:latin typeface="Arial"/>
              <a:cs typeface="Arial"/>
            </a:endParaRPr>
          </a:p>
          <a:p>
            <a:pPr marL="248920" marR="5080" indent="-236220">
              <a:lnSpc>
                <a:spcPct val="95100"/>
              </a:lnSpc>
              <a:spcBef>
                <a:spcPts val="24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lang="en-US" sz="2400" spc="-5" dirty="0">
                <a:latin typeface="Arial"/>
                <a:cs typeface="Arial"/>
              </a:rPr>
              <a:t>C</a:t>
            </a:r>
            <a:r>
              <a:rPr sz="2400" b="1" spc="-5" dirty="0">
                <a:latin typeface="Arial"/>
                <a:cs typeface="Arial"/>
              </a:rPr>
              <a:t>lients dynamically choose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port  number for each</a:t>
            </a:r>
            <a:r>
              <a:rPr sz="2400" spc="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conversation.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١٨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98993" y="1270507"/>
            <a:ext cx="248539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Port</a:t>
            </a:r>
            <a:r>
              <a:rPr spc="-70" dirty="0"/>
              <a:t> </a:t>
            </a:r>
            <a:r>
              <a:rPr spc="-10" dirty="0"/>
              <a:t>Number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58800" y="2013214"/>
            <a:ext cx="9236099" cy="4847737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48920" marR="5080" indent="-236220">
              <a:lnSpc>
                <a:spcPct val="85100"/>
              </a:lnSpc>
              <a:spcBef>
                <a:spcPts val="53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When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client application sends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request to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server  application,</a:t>
            </a:r>
            <a:endParaRPr lang="en-US" sz="2400" spc="-5" dirty="0">
              <a:latin typeface="Arial"/>
              <a:cs typeface="Arial"/>
            </a:endParaRPr>
          </a:p>
          <a:p>
            <a:pPr marL="12700" marR="5080">
              <a:lnSpc>
                <a:spcPct val="85100"/>
              </a:lnSpc>
              <a:spcBef>
                <a:spcPts val="530"/>
              </a:spcBef>
              <a:buClr>
                <a:srgbClr val="6F8CA1"/>
              </a:buClr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 </a:t>
            </a:r>
            <a:endParaRPr lang="en-US" sz="2400" spc="-5" dirty="0">
              <a:latin typeface="Arial"/>
              <a:cs typeface="Arial"/>
            </a:endParaRPr>
          </a:p>
          <a:p>
            <a:pPr marL="248920" marR="5080" indent="-236220">
              <a:lnSpc>
                <a:spcPct val="85100"/>
              </a:lnSpc>
              <a:spcBef>
                <a:spcPts val="53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lang="en-US" sz="2400" spc="-5" dirty="0">
                <a:latin typeface="Arial"/>
                <a:cs typeface="Arial"/>
              </a:rPr>
              <a:t>T</a:t>
            </a:r>
            <a:r>
              <a:rPr sz="2400" spc="-5" dirty="0">
                <a:latin typeface="Arial"/>
                <a:cs typeface="Arial"/>
              </a:rPr>
              <a:t>he destination port contained in the header  is the port number that is assigned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the </a:t>
            </a:r>
            <a:r>
              <a:rPr sz="2400" spc="-10" dirty="0">
                <a:latin typeface="Arial"/>
                <a:cs typeface="Arial"/>
              </a:rPr>
              <a:t>service  </a:t>
            </a:r>
            <a:r>
              <a:rPr sz="2400" spc="-5" dirty="0">
                <a:latin typeface="Arial"/>
                <a:cs typeface="Arial"/>
              </a:rPr>
              <a:t>daemon running on the remote </a:t>
            </a:r>
            <a:r>
              <a:rPr sz="2400" spc="-10" dirty="0">
                <a:latin typeface="Arial"/>
                <a:cs typeface="Arial"/>
              </a:rPr>
              <a:t>host. </a:t>
            </a:r>
            <a:endParaRPr lang="en-US" sz="2400" spc="-10" dirty="0">
              <a:latin typeface="Arial"/>
              <a:cs typeface="Arial"/>
            </a:endParaRPr>
          </a:p>
          <a:p>
            <a:pPr marL="248920" marR="5080" indent="-236220">
              <a:lnSpc>
                <a:spcPct val="85100"/>
              </a:lnSpc>
              <a:spcBef>
                <a:spcPts val="53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The client  software must know what port number is associated  with the server process on the remote host. </a:t>
            </a:r>
            <a:endParaRPr lang="en-US" sz="2400" spc="-5" dirty="0">
              <a:latin typeface="Arial"/>
              <a:cs typeface="Arial"/>
            </a:endParaRPr>
          </a:p>
          <a:p>
            <a:pPr marL="248920" marR="5080" indent="-236220">
              <a:lnSpc>
                <a:spcPct val="85100"/>
              </a:lnSpc>
              <a:spcBef>
                <a:spcPts val="53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This  destination port number is configured, either by default  or manually. </a:t>
            </a:r>
            <a:endParaRPr lang="en-US" sz="2400" spc="-5" dirty="0">
              <a:latin typeface="Arial"/>
              <a:cs typeface="Arial"/>
            </a:endParaRPr>
          </a:p>
          <a:p>
            <a:pPr marL="248920" marR="5080" indent="-236220">
              <a:lnSpc>
                <a:spcPct val="85100"/>
              </a:lnSpc>
              <a:spcBef>
                <a:spcPts val="53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endParaRPr lang="en-US" sz="2400" spc="-5" dirty="0">
              <a:latin typeface="Arial"/>
              <a:cs typeface="Arial"/>
            </a:endParaRPr>
          </a:p>
          <a:p>
            <a:pPr marL="248920" marR="5080" indent="-236220">
              <a:lnSpc>
                <a:spcPct val="85100"/>
              </a:lnSpc>
              <a:spcBef>
                <a:spcPts val="53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For example, when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web browser  application makes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request </a:t>
            </a:r>
            <a:r>
              <a:rPr sz="2400" dirty="0">
                <a:latin typeface="Arial"/>
                <a:cs typeface="Arial"/>
              </a:rPr>
              <a:t>to a </a:t>
            </a:r>
            <a:r>
              <a:rPr sz="2400" spc="-5" dirty="0">
                <a:latin typeface="Arial"/>
                <a:cs typeface="Arial"/>
              </a:rPr>
              <a:t>web server, the  browser uses TCP and port number 80 unless  otherwise specified. </a:t>
            </a:r>
            <a:r>
              <a:rPr sz="2400" spc="-10" dirty="0">
                <a:latin typeface="Arial"/>
                <a:cs typeface="Arial"/>
              </a:rPr>
              <a:t>This </a:t>
            </a:r>
            <a:r>
              <a:rPr sz="2400" spc="-5" dirty="0">
                <a:latin typeface="Arial"/>
                <a:cs typeface="Arial"/>
              </a:rPr>
              <a:t>is because TCP port 80 is </a:t>
            </a:r>
            <a:r>
              <a:rPr sz="2400" spc="-10" dirty="0">
                <a:latin typeface="Arial"/>
                <a:cs typeface="Arial"/>
              </a:rPr>
              <a:t>the  </a:t>
            </a:r>
            <a:r>
              <a:rPr sz="2400" spc="-5" dirty="0">
                <a:latin typeface="Arial"/>
                <a:cs typeface="Arial"/>
              </a:rPr>
              <a:t>default port assigned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web-serving applications. 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١٩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4073" y="2253487"/>
            <a:ext cx="9220827" cy="3188693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  <a:buClr>
                <a:srgbClr val="6F8CA1"/>
              </a:buClr>
            </a:pPr>
            <a:endParaRPr sz="2100" dirty="0">
              <a:latin typeface="Times New Roman"/>
              <a:cs typeface="Times New Roman"/>
            </a:endParaRPr>
          </a:p>
          <a:p>
            <a:pPr marL="248285" marR="5080" indent="-235585">
              <a:lnSpc>
                <a:spcPct val="95100"/>
              </a:lnSpc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The combination of the Transport layer </a:t>
            </a:r>
            <a:r>
              <a:rPr sz="2400" b="1" spc="-5" dirty="0">
                <a:latin typeface="Arial"/>
                <a:cs typeface="Arial"/>
              </a:rPr>
              <a:t>port number  </a:t>
            </a:r>
            <a:r>
              <a:rPr sz="2400" spc="-5" dirty="0">
                <a:latin typeface="Arial"/>
                <a:cs typeface="Arial"/>
              </a:rPr>
              <a:t>and the Network layer </a:t>
            </a:r>
            <a:r>
              <a:rPr sz="2400" b="1" dirty="0">
                <a:latin typeface="Arial"/>
                <a:cs typeface="Arial"/>
              </a:rPr>
              <a:t>IP </a:t>
            </a:r>
            <a:r>
              <a:rPr sz="2400" b="1" spc="-5" dirty="0">
                <a:latin typeface="Arial"/>
                <a:cs typeface="Arial"/>
              </a:rPr>
              <a:t>address </a:t>
            </a:r>
            <a:r>
              <a:rPr sz="2400" spc="-5" dirty="0">
                <a:latin typeface="Arial"/>
                <a:cs typeface="Arial"/>
              </a:rPr>
              <a:t>assigned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the host  uniquely identifies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u="heavy" spc="-5" dirty="0">
                <a:latin typeface="Arial"/>
                <a:cs typeface="Arial"/>
              </a:rPr>
              <a:t>particular process running on </a:t>
            </a:r>
            <a:r>
              <a:rPr sz="2400" u="heavy" dirty="0">
                <a:latin typeface="Arial"/>
                <a:cs typeface="Arial"/>
              </a:rPr>
              <a:t>a  </a:t>
            </a:r>
            <a:r>
              <a:rPr sz="2400" u="heavy" spc="-5" dirty="0">
                <a:latin typeface="Arial"/>
                <a:cs typeface="Arial"/>
              </a:rPr>
              <a:t>specific host device</a:t>
            </a:r>
            <a:r>
              <a:rPr sz="2400" spc="-5" dirty="0">
                <a:latin typeface="Arial"/>
                <a:cs typeface="Arial"/>
              </a:rPr>
              <a:t>. </a:t>
            </a:r>
            <a:endParaRPr lang="en-US" sz="2400" spc="-5" dirty="0">
              <a:latin typeface="Arial"/>
              <a:cs typeface="Arial"/>
            </a:endParaRPr>
          </a:p>
          <a:p>
            <a:pPr marL="248285" marR="5080" indent="-235585">
              <a:lnSpc>
                <a:spcPct val="95100"/>
              </a:lnSpc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endParaRPr lang="en-US" sz="2400" spc="-10" dirty="0">
              <a:latin typeface="Arial"/>
              <a:cs typeface="Arial"/>
            </a:endParaRPr>
          </a:p>
          <a:p>
            <a:pPr marL="248285" marR="5080" indent="-235585">
              <a:lnSpc>
                <a:spcPct val="95100"/>
              </a:lnSpc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10" dirty="0">
                <a:latin typeface="Arial"/>
                <a:cs typeface="Arial"/>
              </a:rPr>
              <a:t>This </a:t>
            </a:r>
            <a:r>
              <a:rPr sz="2400" spc="-5" dirty="0">
                <a:latin typeface="Arial"/>
                <a:cs typeface="Arial"/>
              </a:rPr>
              <a:t>combination is called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u="heavy" dirty="0">
                <a:latin typeface="Arial"/>
                <a:cs typeface="Arial"/>
              </a:rPr>
              <a:t> </a:t>
            </a:r>
            <a:r>
              <a:rPr sz="2400" b="1" u="heavy" spc="-5" dirty="0">
                <a:latin typeface="Arial"/>
                <a:cs typeface="Arial"/>
              </a:rPr>
              <a:t>socket</a:t>
            </a:r>
            <a:r>
              <a:rPr sz="2400" spc="-5" dirty="0"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  <a:p>
            <a:pPr marL="248285" indent="-235585">
              <a:lnSpc>
                <a:spcPct val="100000"/>
              </a:lnSpc>
              <a:spcBef>
                <a:spcPts val="129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endParaRPr lang="en-US" sz="2400" spc="-5" dirty="0">
              <a:latin typeface="Arial"/>
              <a:cs typeface="Arial"/>
            </a:endParaRPr>
          </a:p>
          <a:p>
            <a:pPr marL="248285" indent="-235585">
              <a:lnSpc>
                <a:spcPct val="100000"/>
              </a:lnSpc>
              <a:spcBef>
                <a:spcPts val="129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192.168.1.20:80.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/>
          </p:cNvSpPr>
          <p:nvPr/>
        </p:nvSpPr>
        <p:spPr>
          <a:xfrm>
            <a:off x="1498992" y="1270507"/>
            <a:ext cx="407630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200" b="1" kern="0" dirty="0">
                <a:solidFill>
                  <a:sysClr val="windowText" lastClr="000000"/>
                </a:solidFill>
              </a:rPr>
              <a:t>Socket &amp; Port</a:t>
            </a:r>
            <a:r>
              <a:rPr lang="en-US" sz="3200" b="1" kern="0" spc="-70" dirty="0">
                <a:solidFill>
                  <a:sysClr val="windowText" lastClr="000000"/>
                </a:solidFill>
              </a:rPr>
              <a:t> </a:t>
            </a:r>
            <a:r>
              <a:rPr lang="en-US" sz="3200" b="1" kern="0" spc="-10" dirty="0">
                <a:solidFill>
                  <a:sysClr val="windowText" lastClr="000000"/>
                </a:solidFill>
              </a:rPr>
              <a:t>Number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٢٠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70637" y="2254090"/>
            <a:ext cx="8534400" cy="47226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27931" y="1263650"/>
            <a:ext cx="834350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Data Delivery </a:t>
            </a:r>
            <a:r>
              <a:rPr lang="en-US"/>
              <a:t>Based on </a:t>
            </a:r>
            <a:r>
              <a:t>Port</a:t>
            </a:r>
            <a:r>
              <a:rPr spc="-70"/>
              <a:t> </a:t>
            </a:r>
            <a:r>
              <a:rPr spc="-10" dirty="0"/>
              <a:t>Number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٢١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98993" y="1331467"/>
            <a:ext cx="71266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B21A1A"/>
                </a:solidFill>
              </a:rPr>
              <a:t>There are different types </a:t>
            </a:r>
            <a:r>
              <a:rPr sz="2800" spc="-10" dirty="0">
                <a:solidFill>
                  <a:srgbClr val="B21A1A"/>
                </a:solidFill>
              </a:rPr>
              <a:t>of </a:t>
            </a:r>
            <a:r>
              <a:rPr sz="2800" spc="-5" dirty="0">
                <a:solidFill>
                  <a:srgbClr val="B21A1A"/>
                </a:solidFill>
              </a:rPr>
              <a:t>port</a:t>
            </a:r>
            <a:r>
              <a:rPr sz="2800" spc="55" dirty="0">
                <a:solidFill>
                  <a:srgbClr val="B21A1A"/>
                </a:solidFill>
              </a:rPr>
              <a:t> </a:t>
            </a:r>
            <a:r>
              <a:rPr sz="2800" spc="-5" dirty="0">
                <a:solidFill>
                  <a:srgbClr val="B21A1A"/>
                </a:solidFill>
              </a:rPr>
              <a:t>numbers: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774072" y="2124556"/>
            <a:ext cx="9525628" cy="4665508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248920" indent="-236220">
              <a:lnSpc>
                <a:spcPct val="100000"/>
              </a:lnSpc>
              <a:spcBef>
                <a:spcPts val="1165"/>
              </a:spcBef>
              <a:buClr>
                <a:srgbClr val="6F8CA1"/>
              </a:buClr>
              <a:buFont typeface="Wingdings"/>
              <a:buChar char=""/>
              <a:tabLst>
                <a:tab pos="249554" algn="l"/>
              </a:tabLst>
            </a:pPr>
            <a:r>
              <a:rPr sz="2000" b="1" dirty="0">
                <a:latin typeface="Arial"/>
                <a:cs typeface="Arial"/>
              </a:rPr>
              <a:t>Well Known </a:t>
            </a:r>
            <a:r>
              <a:rPr sz="2000" spc="-5" dirty="0">
                <a:latin typeface="Arial"/>
                <a:cs typeface="Arial"/>
              </a:rPr>
              <a:t>Ports (Numbers </a:t>
            </a:r>
            <a:r>
              <a:rPr sz="2000" dirty="0">
                <a:latin typeface="Arial"/>
                <a:cs typeface="Arial"/>
              </a:rPr>
              <a:t>0 </a:t>
            </a:r>
            <a:r>
              <a:rPr sz="2000" spc="-5" dirty="0">
                <a:latin typeface="Arial"/>
                <a:cs typeface="Arial"/>
              </a:rPr>
              <a:t>to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1023)</a:t>
            </a:r>
            <a:endParaRPr sz="2000" dirty="0">
              <a:latin typeface="Arial"/>
              <a:cs typeface="Arial"/>
            </a:endParaRPr>
          </a:p>
          <a:p>
            <a:pPr marL="424815" marR="135890" indent="-342900">
              <a:lnSpc>
                <a:spcPct val="94800"/>
              </a:lnSpc>
              <a:spcBef>
                <a:spcPts val="1190"/>
              </a:spcBef>
              <a:buFont typeface="Arial" charset="0"/>
              <a:buChar char="•"/>
            </a:pPr>
            <a:r>
              <a:rPr sz="2000" spc="-5" dirty="0">
                <a:latin typeface="Arial"/>
                <a:cs typeface="Arial"/>
              </a:rPr>
              <a:t>These numbers are reserved </a:t>
            </a:r>
            <a:r>
              <a:rPr sz="2000" spc="-10" dirty="0">
                <a:latin typeface="Arial"/>
                <a:cs typeface="Arial"/>
              </a:rPr>
              <a:t>for </a:t>
            </a:r>
            <a:r>
              <a:rPr sz="2000" b="1" spc="-5" dirty="0">
                <a:latin typeface="Arial"/>
                <a:cs typeface="Arial"/>
              </a:rPr>
              <a:t>services </a:t>
            </a:r>
            <a:r>
              <a:rPr sz="2000" b="1" dirty="0">
                <a:latin typeface="Arial"/>
                <a:cs typeface="Arial"/>
              </a:rPr>
              <a:t>and </a:t>
            </a:r>
            <a:r>
              <a:rPr sz="2000" b="1" spc="-5" dirty="0">
                <a:latin typeface="Arial"/>
                <a:cs typeface="Arial"/>
              </a:rPr>
              <a:t>applications</a:t>
            </a:r>
            <a:r>
              <a:rPr sz="2000" spc="-5" dirty="0">
                <a:latin typeface="Arial"/>
                <a:cs typeface="Arial"/>
              </a:rPr>
              <a:t>. </a:t>
            </a:r>
            <a:endParaRPr lang="en-US" sz="2000" spc="-5" dirty="0">
              <a:latin typeface="Arial"/>
              <a:cs typeface="Arial"/>
            </a:endParaRPr>
          </a:p>
          <a:p>
            <a:pPr marL="424815" marR="135890" indent="-342900">
              <a:lnSpc>
                <a:spcPct val="94800"/>
              </a:lnSpc>
              <a:spcBef>
                <a:spcPts val="1190"/>
              </a:spcBef>
              <a:buFont typeface="Arial" charset="0"/>
              <a:buChar char="•"/>
            </a:pPr>
            <a:r>
              <a:rPr sz="2000" spc="-10" dirty="0">
                <a:latin typeface="Arial"/>
                <a:cs typeface="Arial"/>
              </a:rPr>
              <a:t>They  </a:t>
            </a:r>
            <a:r>
              <a:rPr sz="2000" dirty="0">
                <a:latin typeface="Arial"/>
                <a:cs typeface="Arial"/>
              </a:rPr>
              <a:t>are </a:t>
            </a:r>
            <a:r>
              <a:rPr sz="2000" spc="-5" dirty="0">
                <a:latin typeface="Arial"/>
                <a:cs typeface="Arial"/>
              </a:rPr>
              <a:t>commonly </a:t>
            </a:r>
            <a:r>
              <a:rPr sz="2000" dirty="0">
                <a:latin typeface="Arial"/>
                <a:cs typeface="Arial"/>
              </a:rPr>
              <a:t>used </a:t>
            </a:r>
            <a:r>
              <a:rPr sz="2000" spc="-10" dirty="0">
                <a:latin typeface="Arial"/>
                <a:cs typeface="Arial"/>
              </a:rPr>
              <a:t>for </a:t>
            </a:r>
            <a:r>
              <a:rPr sz="2000" spc="-5" dirty="0">
                <a:latin typeface="Arial"/>
                <a:cs typeface="Arial"/>
              </a:rPr>
              <a:t>applications such </a:t>
            </a:r>
            <a:r>
              <a:rPr sz="2000" dirty="0">
                <a:latin typeface="Arial"/>
                <a:cs typeface="Arial"/>
              </a:rPr>
              <a:t>as HTTP </a:t>
            </a:r>
            <a:r>
              <a:rPr sz="2000" spc="-5" dirty="0">
                <a:latin typeface="Arial"/>
                <a:cs typeface="Arial"/>
              </a:rPr>
              <a:t>(web server)  POP3/SMTP (e-mail server) and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Telnet.</a:t>
            </a:r>
            <a:endParaRPr lang="en-US" sz="2000" spc="-5" dirty="0">
              <a:latin typeface="Arial"/>
              <a:cs typeface="Arial"/>
            </a:endParaRPr>
          </a:p>
          <a:p>
            <a:pPr marL="424815" marR="135890" lvl="1" indent="-342900">
              <a:lnSpc>
                <a:spcPct val="94800"/>
              </a:lnSpc>
              <a:spcBef>
                <a:spcPts val="1190"/>
              </a:spcBef>
              <a:buFont typeface="Arial" charset="0"/>
              <a:buChar char="•"/>
            </a:pPr>
            <a:r>
              <a:rPr lang="en-US" sz="2400" dirty="0"/>
              <a:t>IANA (Internet assigned numbers authority)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 charset="2"/>
              <a:buChar char="§"/>
            </a:pPr>
            <a:r>
              <a:rPr sz="2000" b="1" spc="-5" dirty="0">
                <a:latin typeface="Arial"/>
                <a:cs typeface="Arial"/>
              </a:rPr>
              <a:t>Registered </a:t>
            </a:r>
            <a:r>
              <a:rPr sz="2000" spc="-5" dirty="0">
                <a:latin typeface="Arial"/>
                <a:cs typeface="Arial"/>
              </a:rPr>
              <a:t>Ports (Numbers 1024 </a:t>
            </a:r>
            <a:r>
              <a:rPr sz="2000" spc="-10" dirty="0">
                <a:latin typeface="Arial"/>
                <a:cs typeface="Arial"/>
              </a:rPr>
              <a:t>to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49151)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ts val="2340"/>
              </a:lnSpc>
              <a:spcBef>
                <a:spcPts val="1080"/>
              </a:spcBef>
              <a:buFont typeface="Arial" charset="0"/>
              <a:buChar char="•"/>
            </a:pPr>
            <a:r>
              <a:rPr sz="2000" dirty="0">
                <a:latin typeface="Arial"/>
                <a:cs typeface="Arial"/>
              </a:rPr>
              <a:t>These </a:t>
            </a:r>
            <a:r>
              <a:rPr sz="2000" spc="-5" dirty="0">
                <a:latin typeface="Arial"/>
                <a:cs typeface="Arial"/>
              </a:rPr>
              <a:t>port numbers are assigned </a:t>
            </a:r>
            <a:r>
              <a:rPr sz="2000" spc="-10" dirty="0">
                <a:latin typeface="Arial"/>
                <a:cs typeface="Arial"/>
              </a:rPr>
              <a:t>to </a:t>
            </a:r>
            <a:r>
              <a:rPr sz="2000" b="1" spc="-5" dirty="0">
                <a:latin typeface="Arial"/>
                <a:cs typeface="Arial"/>
              </a:rPr>
              <a:t>user </a:t>
            </a:r>
            <a:r>
              <a:rPr sz="2000" spc="-10" dirty="0">
                <a:latin typeface="Arial"/>
                <a:cs typeface="Arial"/>
              </a:rPr>
              <a:t>processes </a:t>
            </a:r>
            <a:r>
              <a:rPr sz="2000" dirty="0">
                <a:latin typeface="Arial"/>
                <a:cs typeface="Arial"/>
              </a:rPr>
              <a:t>or</a:t>
            </a:r>
            <a:r>
              <a:rPr sz="2000" spc="5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applications.</a:t>
            </a:r>
            <a:endParaRPr lang="en-US" sz="2000" spc="-5" dirty="0">
              <a:latin typeface="Arial"/>
              <a:cs typeface="Arial"/>
            </a:endParaRPr>
          </a:p>
          <a:p>
            <a:pPr marL="355600" indent="-342900">
              <a:lnSpc>
                <a:spcPts val="2340"/>
              </a:lnSpc>
              <a:spcBef>
                <a:spcPts val="1080"/>
              </a:spcBef>
              <a:buFont typeface="Arial" charset="0"/>
              <a:buChar char="•"/>
            </a:pPr>
            <a:r>
              <a:rPr sz="2000" dirty="0">
                <a:latin typeface="Arial"/>
                <a:cs typeface="Arial"/>
              </a:rPr>
              <a:t>These </a:t>
            </a:r>
            <a:r>
              <a:rPr sz="2000" spc="-10" dirty="0">
                <a:latin typeface="Arial"/>
                <a:cs typeface="Arial"/>
              </a:rPr>
              <a:t>processes </a:t>
            </a:r>
            <a:r>
              <a:rPr sz="2000" spc="-5" dirty="0">
                <a:latin typeface="Arial"/>
                <a:cs typeface="Arial"/>
              </a:rPr>
              <a:t>are primarily </a:t>
            </a:r>
            <a:r>
              <a:rPr sz="2000" dirty="0">
                <a:latin typeface="Arial"/>
                <a:cs typeface="Arial"/>
              </a:rPr>
              <a:t>individual </a:t>
            </a:r>
            <a:r>
              <a:rPr sz="2000" spc="-5" dirty="0">
                <a:latin typeface="Arial"/>
                <a:cs typeface="Arial"/>
              </a:rPr>
              <a:t>applications that </a:t>
            </a:r>
            <a:r>
              <a:rPr sz="2000" dirty="0">
                <a:latin typeface="Arial"/>
                <a:cs typeface="Arial"/>
              </a:rPr>
              <a:t>a </a:t>
            </a:r>
            <a:r>
              <a:rPr sz="2000" spc="-5" dirty="0">
                <a:latin typeface="Arial"/>
                <a:cs typeface="Arial"/>
              </a:rPr>
              <a:t>user  </a:t>
            </a:r>
            <a:r>
              <a:rPr sz="2000" dirty="0">
                <a:latin typeface="Arial"/>
                <a:cs typeface="Arial"/>
              </a:rPr>
              <a:t>has </a:t>
            </a:r>
            <a:r>
              <a:rPr sz="2000" spc="-5" dirty="0">
                <a:latin typeface="Arial"/>
                <a:cs typeface="Arial"/>
              </a:rPr>
              <a:t>chosen </a:t>
            </a:r>
            <a:r>
              <a:rPr sz="2000" spc="-10" dirty="0">
                <a:latin typeface="Arial"/>
                <a:cs typeface="Arial"/>
              </a:rPr>
              <a:t>to </a:t>
            </a:r>
            <a:r>
              <a:rPr sz="2000" spc="-5" dirty="0">
                <a:latin typeface="Arial"/>
                <a:cs typeface="Arial"/>
              </a:rPr>
              <a:t>install rather than common applications that would  receive </a:t>
            </a:r>
            <a:r>
              <a:rPr sz="2000" dirty="0">
                <a:latin typeface="Arial"/>
                <a:cs typeface="Arial"/>
              </a:rPr>
              <a:t>a </a:t>
            </a:r>
            <a:r>
              <a:rPr sz="2000" spc="-5" dirty="0">
                <a:latin typeface="Arial"/>
                <a:cs typeface="Arial"/>
              </a:rPr>
              <a:t>Well </a:t>
            </a:r>
            <a:r>
              <a:rPr sz="2000" dirty="0">
                <a:latin typeface="Arial"/>
                <a:cs typeface="Arial"/>
              </a:rPr>
              <a:t>Known </a:t>
            </a:r>
            <a:r>
              <a:rPr sz="2000" spc="-5" dirty="0">
                <a:latin typeface="Arial"/>
                <a:cs typeface="Arial"/>
              </a:rPr>
              <a:t>Port.</a:t>
            </a:r>
            <a:endParaRPr lang="en-US" sz="2000" spc="-5" dirty="0">
              <a:latin typeface="Arial"/>
              <a:cs typeface="Arial"/>
            </a:endParaRPr>
          </a:p>
          <a:p>
            <a:pPr marL="355600" indent="-342900">
              <a:lnSpc>
                <a:spcPts val="2340"/>
              </a:lnSpc>
              <a:spcBef>
                <a:spcPts val="1080"/>
              </a:spcBef>
              <a:buFont typeface="Arial" charset="0"/>
              <a:buChar char="•"/>
            </a:pPr>
            <a:r>
              <a:rPr lang="en-US" sz="2000" spc="-5" dirty="0">
                <a:latin typeface="Arial"/>
                <a:cs typeface="Arial"/>
              </a:rPr>
              <a:t>These </a:t>
            </a:r>
            <a:r>
              <a:rPr sz="2000" spc="-5" dirty="0">
                <a:latin typeface="Arial"/>
                <a:cs typeface="Arial"/>
              </a:rPr>
              <a:t>ports may </a:t>
            </a:r>
            <a:r>
              <a:rPr sz="2000" dirty="0">
                <a:latin typeface="Arial"/>
                <a:cs typeface="Arial"/>
              </a:rPr>
              <a:t>also </a:t>
            </a:r>
            <a:r>
              <a:rPr sz="2000" spc="-5" dirty="0">
                <a:latin typeface="Arial"/>
                <a:cs typeface="Arial"/>
              </a:rPr>
              <a:t>be used dynamically selected </a:t>
            </a:r>
            <a:r>
              <a:rPr sz="2000" dirty="0">
                <a:latin typeface="Arial"/>
                <a:cs typeface="Arial"/>
              </a:rPr>
              <a:t>by a client </a:t>
            </a:r>
            <a:r>
              <a:rPr sz="2000" spc="-5" dirty="0">
                <a:latin typeface="Arial"/>
                <a:cs typeface="Arial"/>
              </a:rPr>
              <a:t>as  its source port.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٢٢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3300" y="2253487"/>
            <a:ext cx="8911723" cy="1501052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55600" marR="5080" indent="-342900">
              <a:lnSpc>
                <a:spcPts val="2740"/>
              </a:lnSpc>
              <a:spcBef>
                <a:spcPts val="305"/>
              </a:spcBef>
              <a:buClr>
                <a:srgbClr val="6F8CA1"/>
              </a:buClr>
              <a:buFont typeface="Arial" charset="0"/>
              <a:buChar char="•"/>
              <a:tabLst>
                <a:tab pos="248920" algn="l"/>
              </a:tabLst>
            </a:pPr>
            <a:r>
              <a:rPr sz="2400" b="1" spc="-5" dirty="0">
                <a:latin typeface="Arial"/>
                <a:cs typeface="Arial"/>
              </a:rPr>
              <a:t>Dynamic </a:t>
            </a:r>
            <a:r>
              <a:rPr sz="2400" b="1" spc="-10" dirty="0">
                <a:latin typeface="Arial"/>
                <a:cs typeface="Arial"/>
              </a:rPr>
              <a:t>or </a:t>
            </a:r>
            <a:r>
              <a:rPr sz="2400" b="1" spc="-5" dirty="0">
                <a:latin typeface="Arial"/>
                <a:cs typeface="Arial"/>
              </a:rPr>
              <a:t>Private Ports </a:t>
            </a:r>
            <a:r>
              <a:rPr sz="2400" spc="-5" dirty="0">
                <a:latin typeface="Arial"/>
                <a:cs typeface="Arial"/>
              </a:rPr>
              <a:t>(Numbers 49152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65535)  </a:t>
            </a:r>
            <a:endParaRPr lang="en-US" sz="2400" spc="-5" dirty="0">
              <a:latin typeface="Arial"/>
              <a:cs typeface="Arial"/>
            </a:endParaRPr>
          </a:p>
          <a:p>
            <a:pPr marL="355600" marR="5080" indent="-342900">
              <a:lnSpc>
                <a:spcPts val="2740"/>
              </a:lnSpc>
              <a:spcBef>
                <a:spcPts val="305"/>
              </a:spcBef>
              <a:buClr>
                <a:srgbClr val="6F8CA1"/>
              </a:buClr>
              <a:buFont typeface="Arial" charset="0"/>
              <a:buChar char="•"/>
              <a:tabLst>
                <a:tab pos="248920" algn="l"/>
              </a:tabLst>
            </a:pPr>
            <a:endParaRPr lang="en-US" sz="2400" spc="-5" dirty="0">
              <a:latin typeface="Arial"/>
              <a:cs typeface="Arial"/>
            </a:endParaRPr>
          </a:p>
          <a:p>
            <a:pPr marL="355600" marR="5080" indent="-342900">
              <a:lnSpc>
                <a:spcPts val="2740"/>
              </a:lnSpc>
              <a:spcBef>
                <a:spcPts val="305"/>
              </a:spcBef>
              <a:buClr>
                <a:srgbClr val="6F8CA1"/>
              </a:buClr>
              <a:buFont typeface="Arial" charset="0"/>
              <a:buChar char="•"/>
              <a:tabLst>
                <a:tab pos="248920" algn="l"/>
              </a:tabLst>
            </a:pPr>
            <a:r>
              <a:rPr lang="en-US" sz="2400" spc="-5" dirty="0">
                <a:latin typeface="Arial"/>
                <a:cs typeface="Arial"/>
              </a:rPr>
              <a:t>T</a:t>
            </a:r>
            <a:r>
              <a:rPr sz="2400" spc="-5" dirty="0">
                <a:latin typeface="Arial"/>
                <a:cs typeface="Arial"/>
              </a:rPr>
              <a:t>hese </a:t>
            </a:r>
            <a:r>
              <a:rPr lang="en-US" sz="2400" spc="-5" dirty="0">
                <a:latin typeface="Arial"/>
                <a:cs typeface="Arial"/>
              </a:rPr>
              <a:t>numbers </a:t>
            </a:r>
            <a:r>
              <a:rPr sz="2400" spc="-5" dirty="0">
                <a:latin typeface="Arial"/>
                <a:cs typeface="Arial"/>
              </a:rPr>
              <a:t>are usually assigned dynamically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client applications when initiating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connection.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٢٣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98992" y="1270507"/>
            <a:ext cx="812228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Using </a:t>
            </a:r>
            <a:r>
              <a:rPr spc="-10" dirty="0">
                <a:latin typeface="Arial"/>
                <a:cs typeface="Arial"/>
              </a:rPr>
              <a:t>both </a:t>
            </a:r>
            <a:r>
              <a:rPr dirty="0">
                <a:latin typeface="Arial"/>
                <a:cs typeface="Arial"/>
              </a:rPr>
              <a:t>TCP </a:t>
            </a:r>
            <a:r>
              <a:rPr spc="-5" dirty="0">
                <a:latin typeface="Arial"/>
                <a:cs typeface="Arial"/>
              </a:rPr>
              <a:t>and</a:t>
            </a:r>
            <a:r>
              <a:rPr spc="-65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UDP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74072" y="2254250"/>
            <a:ext cx="9297027" cy="3917354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248920" indent="-236220">
              <a:lnSpc>
                <a:spcPct val="100000"/>
              </a:lnSpc>
              <a:spcBef>
                <a:spcPts val="97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800" b="1" spc="-5" dirty="0">
                <a:latin typeface="Arial"/>
                <a:cs typeface="Arial"/>
              </a:rPr>
              <a:t>Some applications </a:t>
            </a:r>
            <a:r>
              <a:rPr sz="2800" b="1" dirty="0">
                <a:latin typeface="Arial"/>
                <a:cs typeface="Arial"/>
              </a:rPr>
              <a:t>may </a:t>
            </a:r>
            <a:r>
              <a:rPr sz="2800" b="1" spc="-5" dirty="0">
                <a:latin typeface="Arial"/>
                <a:cs typeface="Arial"/>
              </a:rPr>
              <a:t>use both TCP and</a:t>
            </a:r>
            <a:r>
              <a:rPr sz="2800" b="1" spc="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UDP.</a:t>
            </a:r>
            <a:endParaRPr lang="en-US" sz="2800" b="1" spc="-5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  <a:buClr>
                <a:srgbClr val="6F8CA1"/>
              </a:buClr>
              <a:tabLst>
                <a:tab pos="248920" algn="l"/>
              </a:tabLst>
            </a:pPr>
            <a:endParaRPr sz="2800" b="1" dirty="0">
              <a:latin typeface="Arial"/>
              <a:cs typeface="Arial"/>
            </a:endParaRPr>
          </a:p>
          <a:p>
            <a:pPr marL="576263" marR="5080" indent="-346075">
              <a:lnSpc>
                <a:spcPct val="94900"/>
              </a:lnSpc>
              <a:spcBef>
                <a:spcPts val="855"/>
              </a:spcBef>
              <a:buFont typeface="Arial" charset="0"/>
              <a:buChar char="•"/>
            </a:pPr>
            <a:r>
              <a:rPr sz="2800" dirty="0">
                <a:latin typeface="Arial"/>
                <a:cs typeface="Arial"/>
              </a:rPr>
              <a:t>For </a:t>
            </a:r>
            <a:r>
              <a:rPr sz="2800" spc="-5" dirty="0">
                <a:latin typeface="Arial"/>
                <a:cs typeface="Arial"/>
              </a:rPr>
              <a:t>example, the </a:t>
            </a:r>
            <a:r>
              <a:rPr sz="2800" dirty="0">
                <a:latin typeface="Arial"/>
                <a:cs typeface="Arial"/>
              </a:rPr>
              <a:t>low </a:t>
            </a:r>
            <a:r>
              <a:rPr sz="2800" spc="-5" dirty="0">
                <a:latin typeface="Arial"/>
                <a:cs typeface="Arial"/>
              </a:rPr>
              <a:t>overhead </a:t>
            </a:r>
            <a:r>
              <a:rPr sz="2800" spc="-10" dirty="0">
                <a:latin typeface="Arial"/>
                <a:cs typeface="Arial"/>
              </a:rPr>
              <a:t>of </a:t>
            </a:r>
            <a:r>
              <a:rPr sz="2800" dirty="0">
                <a:latin typeface="Arial"/>
                <a:cs typeface="Arial"/>
              </a:rPr>
              <a:t>UDP </a:t>
            </a:r>
            <a:r>
              <a:rPr sz="2800" spc="-5" dirty="0">
                <a:latin typeface="Arial"/>
                <a:cs typeface="Arial"/>
              </a:rPr>
              <a:t>enables </a:t>
            </a:r>
            <a:r>
              <a:rPr sz="2800" dirty="0">
                <a:latin typeface="Arial"/>
                <a:cs typeface="Arial"/>
              </a:rPr>
              <a:t>DNS </a:t>
            </a:r>
            <a:r>
              <a:rPr sz="2800" spc="-10" dirty="0">
                <a:latin typeface="Arial"/>
                <a:cs typeface="Arial"/>
              </a:rPr>
              <a:t>to </a:t>
            </a:r>
            <a:r>
              <a:rPr sz="2800" spc="-5" dirty="0">
                <a:latin typeface="Arial"/>
                <a:cs typeface="Arial"/>
              </a:rPr>
              <a:t>serve  </a:t>
            </a:r>
            <a:r>
              <a:rPr sz="2800" dirty="0">
                <a:latin typeface="Arial"/>
                <a:cs typeface="Arial"/>
              </a:rPr>
              <a:t>many client </a:t>
            </a:r>
            <a:r>
              <a:rPr sz="2800" spc="-5" dirty="0">
                <a:latin typeface="Arial"/>
                <a:cs typeface="Arial"/>
              </a:rPr>
              <a:t>requests very quickly. </a:t>
            </a:r>
            <a:endParaRPr lang="en-US" sz="2800" spc="-5" dirty="0">
              <a:latin typeface="Arial"/>
              <a:cs typeface="Arial"/>
            </a:endParaRPr>
          </a:p>
          <a:p>
            <a:pPr marL="576263" marR="5080" indent="-346075">
              <a:lnSpc>
                <a:spcPct val="94900"/>
              </a:lnSpc>
              <a:spcBef>
                <a:spcPts val="855"/>
              </a:spcBef>
              <a:buFont typeface="Arial" charset="0"/>
              <a:buChar char="•"/>
            </a:pPr>
            <a:r>
              <a:rPr lang="en-US" sz="2800" spc="-5" dirty="0">
                <a:latin typeface="Arial"/>
                <a:cs typeface="Arial"/>
              </a:rPr>
              <a:t>However </a:t>
            </a:r>
            <a:r>
              <a:rPr sz="2800" spc="-5" dirty="0">
                <a:latin typeface="Arial"/>
                <a:cs typeface="Arial"/>
              </a:rPr>
              <a:t>Sometimes, sending </a:t>
            </a:r>
            <a:r>
              <a:rPr sz="2800" spc="-10" dirty="0">
                <a:latin typeface="Arial"/>
                <a:cs typeface="Arial"/>
              </a:rPr>
              <a:t>the </a:t>
            </a:r>
            <a:r>
              <a:rPr sz="2800" spc="-5" dirty="0">
                <a:latin typeface="Arial"/>
                <a:cs typeface="Arial"/>
              </a:rPr>
              <a:t>requested information may </a:t>
            </a:r>
            <a:r>
              <a:rPr sz="2800" dirty="0">
                <a:latin typeface="Arial"/>
                <a:cs typeface="Arial"/>
              </a:rPr>
              <a:t>require </a:t>
            </a:r>
            <a:r>
              <a:rPr sz="2800" spc="-5" dirty="0">
                <a:latin typeface="Arial"/>
                <a:cs typeface="Arial"/>
              </a:rPr>
              <a:t>the reliability </a:t>
            </a:r>
            <a:r>
              <a:rPr sz="2800" dirty="0">
                <a:latin typeface="Arial"/>
                <a:cs typeface="Arial"/>
              </a:rPr>
              <a:t>of  </a:t>
            </a:r>
            <a:r>
              <a:rPr sz="2800" spc="-5" dirty="0">
                <a:latin typeface="Arial"/>
                <a:cs typeface="Arial"/>
              </a:rPr>
              <a:t>TCP. </a:t>
            </a:r>
            <a:endParaRPr lang="en-US" sz="2800" spc="-5" dirty="0">
              <a:latin typeface="Arial"/>
              <a:cs typeface="Arial"/>
            </a:endParaRPr>
          </a:p>
          <a:p>
            <a:pPr marL="576263" marR="5080" indent="-346075">
              <a:lnSpc>
                <a:spcPct val="94900"/>
              </a:lnSpc>
              <a:spcBef>
                <a:spcPts val="855"/>
              </a:spcBef>
              <a:buFont typeface="Arial" charset="0"/>
              <a:buChar char="•"/>
            </a:pPr>
            <a:r>
              <a:rPr sz="2800" spc="-5" dirty="0">
                <a:latin typeface="Arial"/>
                <a:cs typeface="Arial"/>
              </a:rPr>
              <a:t>In this </a:t>
            </a:r>
            <a:r>
              <a:rPr sz="2800" dirty="0">
                <a:latin typeface="Arial"/>
                <a:cs typeface="Arial"/>
              </a:rPr>
              <a:t>case, </a:t>
            </a:r>
            <a:r>
              <a:rPr sz="2800" spc="-5" dirty="0">
                <a:latin typeface="Arial"/>
                <a:cs typeface="Arial"/>
              </a:rPr>
              <a:t>the </a:t>
            </a:r>
            <a:r>
              <a:rPr sz="2800" dirty="0">
                <a:latin typeface="Arial"/>
                <a:cs typeface="Arial"/>
              </a:rPr>
              <a:t>well known </a:t>
            </a:r>
            <a:r>
              <a:rPr sz="2800" spc="-5" dirty="0">
                <a:latin typeface="Arial"/>
                <a:cs typeface="Arial"/>
              </a:rPr>
              <a:t>port number </a:t>
            </a:r>
            <a:r>
              <a:rPr sz="2800" dirty="0">
                <a:latin typeface="Arial"/>
                <a:cs typeface="Arial"/>
              </a:rPr>
              <a:t>of </a:t>
            </a:r>
            <a:r>
              <a:rPr sz="2800" spc="-5" dirty="0">
                <a:latin typeface="Arial"/>
                <a:cs typeface="Arial"/>
              </a:rPr>
              <a:t>53 is used </a:t>
            </a:r>
            <a:r>
              <a:rPr sz="2800" dirty="0">
                <a:latin typeface="Arial"/>
                <a:cs typeface="Arial"/>
              </a:rPr>
              <a:t>by  </a:t>
            </a:r>
            <a:r>
              <a:rPr sz="2800" spc="-5" dirty="0">
                <a:latin typeface="Arial"/>
                <a:cs typeface="Arial"/>
              </a:rPr>
              <a:t>both protocols with this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service.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٢٤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98993" y="1270507"/>
            <a:ext cx="19907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TCP</a:t>
            </a:r>
            <a:r>
              <a:rPr spc="-75" dirty="0"/>
              <a:t> </a:t>
            </a:r>
            <a:r>
              <a:rPr spc="-5" dirty="0"/>
              <a:t>Ports</a:t>
            </a:r>
          </a:p>
        </p:txBody>
      </p:sp>
      <p:sp>
        <p:nvSpPr>
          <p:cNvPr id="7" name="object 7"/>
          <p:cNvSpPr/>
          <p:nvPr/>
        </p:nvSpPr>
        <p:spPr>
          <a:xfrm>
            <a:off x="1633606" y="2100072"/>
            <a:ext cx="7599294" cy="38008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٢٥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98993" y="1270507"/>
            <a:ext cx="20370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UDP</a:t>
            </a:r>
            <a:r>
              <a:rPr spc="-70" dirty="0"/>
              <a:t> </a:t>
            </a:r>
            <a:r>
              <a:rPr spc="-5" dirty="0"/>
              <a:t>Ports</a:t>
            </a:r>
          </a:p>
        </p:txBody>
      </p:sp>
      <p:sp>
        <p:nvSpPr>
          <p:cNvPr id="7" name="object 7"/>
          <p:cNvSpPr/>
          <p:nvPr/>
        </p:nvSpPr>
        <p:spPr>
          <a:xfrm>
            <a:off x="1516259" y="2154936"/>
            <a:ext cx="8054340" cy="38999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٢٦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98993" y="1270507"/>
            <a:ext cx="14020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B21A1A"/>
                </a:solidFill>
              </a:rPr>
              <a:t>N</a:t>
            </a:r>
            <a:r>
              <a:rPr spc="-10" dirty="0">
                <a:solidFill>
                  <a:srgbClr val="B21A1A"/>
                </a:solidFill>
              </a:rPr>
              <a:t>e</a:t>
            </a:r>
            <a:r>
              <a:rPr dirty="0">
                <a:solidFill>
                  <a:srgbClr val="B21A1A"/>
                </a:solidFill>
              </a:rPr>
              <a:t>t</a:t>
            </a:r>
            <a:r>
              <a:rPr spc="-10" dirty="0">
                <a:solidFill>
                  <a:srgbClr val="B21A1A"/>
                </a:solidFill>
              </a:rPr>
              <a:t>s</a:t>
            </a:r>
            <a:r>
              <a:rPr dirty="0">
                <a:solidFill>
                  <a:srgbClr val="B21A1A"/>
                </a:solidFill>
              </a:rPr>
              <a:t>t</a:t>
            </a:r>
            <a:r>
              <a:rPr spc="-20" dirty="0">
                <a:solidFill>
                  <a:srgbClr val="B21A1A"/>
                </a:solidFill>
              </a:rPr>
              <a:t>a</a:t>
            </a:r>
            <a:r>
              <a:rPr dirty="0">
                <a:solidFill>
                  <a:srgbClr val="B21A1A"/>
                </a:solidFill>
              </a:rPr>
              <a:t>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7100" y="2253487"/>
            <a:ext cx="8256027" cy="3386183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48920" marR="5080" indent="-236220">
              <a:lnSpc>
                <a:spcPts val="2740"/>
              </a:lnSpc>
              <a:spcBef>
                <a:spcPts val="305"/>
              </a:spcBef>
              <a:buClr>
                <a:srgbClr val="6F8CA1"/>
              </a:buClr>
              <a:buFont typeface="Wingdings"/>
              <a:buChar char=""/>
              <a:tabLst>
                <a:tab pos="334010" algn="l"/>
                <a:tab pos="334645" algn="l"/>
              </a:tabLst>
            </a:pPr>
            <a:r>
              <a:rPr lang="en-US" sz="2400" spc="-5" dirty="0" err="1">
                <a:latin typeface="Arial"/>
                <a:cs typeface="Arial"/>
              </a:rPr>
              <a:t>Netstat</a:t>
            </a:r>
            <a:r>
              <a:rPr lang="en-US" sz="2400" spc="-5" dirty="0">
                <a:latin typeface="Arial"/>
                <a:cs typeface="Arial"/>
              </a:rPr>
              <a:t> provides information and statistics about </a:t>
            </a:r>
            <a:r>
              <a:rPr lang="en-US" sz="2400" spc="-5" dirty="0">
                <a:latin typeface="Arial"/>
                <a:cs typeface="Arial"/>
                <a:hlinkClick r:id="rId3"/>
              </a:rPr>
              <a:t>protocol</a:t>
            </a:r>
            <a:r>
              <a:rPr lang="en-US" sz="2400" spc="-5" dirty="0">
                <a:latin typeface="Arial"/>
                <a:cs typeface="Arial"/>
              </a:rPr>
              <a:t>s in use and current TCP/IP network connections and Port numbers. </a:t>
            </a:r>
          </a:p>
          <a:p>
            <a:pPr marL="248920" marR="5080" indent="-236220">
              <a:lnSpc>
                <a:spcPts val="2740"/>
              </a:lnSpc>
              <a:spcBef>
                <a:spcPts val="305"/>
              </a:spcBef>
              <a:buClr>
                <a:srgbClr val="6F8CA1"/>
              </a:buClr>
              <a:buFont typeface="Wingdings"/>
              <a:buChar char=""/>
              <a:tabLst>
                <a:tab pos="334010" algn="l"/>
                <a:tab pos="334645" algn="l"/>
              </a:tabLst>
            </a:pPr>
            <a:endParaRPr lang="en-US" sz="2400" spc="-5" dirty="0">
              <a:latin typeface="Arial"/>
              <a:cs typeface="Arial"/>
            </a:endParaRPr>
          </a:p>
          <a:p>
            <a:pPr marL="248920" marR="5080" indent="-236220">
              <a:lnSpc>
                <a:spcPts val="2740"/>
              </a:lnSpc>
              <a:spcBef>
                <a:spcPts val="305"/>
              </a:spcBef>
              <a:buClr>
                <a:srgbClr val="6F8CA1"/>
              </a:buClr>
              <a:buFont typeface="Wingdings"/>
              <a:buChar char=""/>
              <a:tabLst>
                <a:tab pos="334010" algn="l"/>
                <a:tab pos="334645" algn="l"/>
              </a:tabLst>
            </a:pPr>
            <a:r>
              <a:rPr lang="en-US" sz="2400" spc="-5" dirty="0">
                <a:latin typeface="Arial"/>
                <a:cs typeface="Arial"/>
              </a:rPr>
              <a:t>(The name derives from the words network and statistics.)</a:t>
            </a:r>
          </a:p>
          <a:p>
            <a:pPr marL="248920" marR="5080" indent="-236220">
              <a:lnSpc>
                <a:spcPts val="2740"/>
              </a:lnSpc>
              <a:spcBef>
                <a:spcPts val="305"/>
              </a:spcBef>
              <a:buClr>
                <a:srgbClr val="6F8CA1"/>
              </a:buClr>
              <a:buFont typeface="Wingdings"/>
              <a:buChar char=""/>
              <a:tabLst>
                <a:tab pos="334010" algn="l"/>
                <a:tab pos="334645" algn="l"/>
              </a:tabLst>
            </a:pPr>
            <a:endParaRPr lang="en-US" sz="2400" spc="-5" dirty="0">
              <a:latin typeface="Arial"/>
              <a:cs typeface="Arial"/>
            </a:endParaRPr>
          </a:p>
          <a:p>
            <a:pPr marL="248920" marR="5080" indent="-236220">
              <a:lnSpc>
                <a:spcPts val="2740"/>
              </a:lnSpc>
              <a:spcBef>
                <a:spcPts val="305"/>
              </a:spcBef>
              <a:buClr>
                <a:srgbClr val="6F8CA1"/>
              </a:buClr>
              <a:buFont typeface="Wingdings"/>
              <a:buChar char=""/>
              <a:tabLst>
                <a:tab pos="334010" algn="l"/>
                <a:tab pos="334645" algn="l"/>
              </a:tabLst>
            </a:pPr>
            <a:endParaRPr lang="en-US" sz="2400" spc="-5" dirty="0">
              <a:latin typeface="Arial"/>
              <a:cs typeface="Arial"/>
            </a:endParaRPr>
          </a:p>
          <a:p>
            <a:pPr marL="248920" marR="5080" indent="-236220">
              <a:lnSpc>
                <a:spcPts val="2740"/>
              </a:lnSpc>
              <a:spcBef>
                <a:spcPts val="305"/>
              </a:spcBef>
              <a:buClr>
                <a:srgbClr val="6F8CA1"/>
              </a:buClr>
              <a:buFont typeface="Wingdings"/>
              <a:buChar char=""/>
              <a:tabLst>
                <a:tab pos="334010" algn="l"/>
                <a:tab pos="334645" algn="l"/>
              </a:tabLst>
            </a:pPr>
            <a:r>
              <a:rPr lang="en-US" sz="2400" spc="-5" dirty="0">
                <a:latin typeface="Arial"/>
                <a:cs typeface="Arial"/>
              </a:rPr>
              <a:t>For details</a:t>
            </a:r>
          </a:p>
          <a:p>
            <a:pPr marL="12700" marR="5080">
              <a:lnSpc>
                <a:spcPts val="2740"/>
              </a:lnSpc>
              <a:spcBef>
                <a:spcPts val="305"/>
              </a:spcBef>
              <a:buClr>
                <a:srgbClr val="6F8CA1"/>
              </a:buClr>
              <a:tabLst>
                <a:tab pos="334010" algn="l"/>
                <a:tab pos="334645" algn="l"/>
              </a:tabLst>
            </a:pPr>
            <a:r>
              <a:rPr lang="en-US" sz="2400" spc="-5" dirty="0">
                <a:latin typeface="Arial"/>
                <a:cs typeface="Arial"/>
              </a:rPr>
              <a:t>   </a:t>
            </a:r>
            <a:r>
              <a:rPr lang="en-US" sz="2400" dirty="0">
                <a:latin typeface="Arial"/>
                <a:cs typeface="Arial"/>
              </a:rPr>
              <a:t>http://</a:t>
            </a:r>
            <a:r>
              <a:rPr lang="en-US" sz="2400" dirty="0" err="1">
                <a:latin typeface="Arial"/>
                <a:cs typeface="Arial"/>
              </a:rPr>
              <a:t>searchnetworking.techtarget.com</a:t>
            </a:r>
            <a:r>
              <a:rPr lang="en-US" sz="2400" dirty="0">
                <a:latin typeface="Arial"/>
                <a:cs typeface="Arial"/>
              </a:rPr>
              <a:t>/definition/</a:t>
            </a:r>
            <a:r>
              <a:rPr lang="en-US" sz="2400" dirty="0" err="1">
                <a:latin typeface="Arial"/>
                <a:cs typeface="Arial"/>
              </a:rPr>
              <a:t>netstat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٢٧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98992" y="1270507"/>
            <a:ext cx="499070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/>
              <a:t>TCP </a:t>
            </a:r>
            <a:r>
              <a:rPr spc="-5"/>
              <a:t>Segments</a:t>
            </a:r>
            <a:endParaRPr spc="-5" dirty="0"/>
          </a:p>
        </p:txBody>
      </p:sp>
      <p:sp>
        <p:nvSpPr>
          <p:cNvPr id="7" name="object 7"/>
          <p:cNvSpPr txBox="1"/>
          <p:nvPr/>
        </p:nvSpPr>
        <p:spPr>
          <a:xfrm>
            <a:off x="927100" y="2253487"/>
            <a:ext cx="8534789" cy="143383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48920" marR="5080" indent="-236220">
              <a:lnSpc>
                <a:spcPts val="2740"/>
              </a:lnSpc>
              <a:spcBef>
                <a:spcPts val="30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Dividing application </a:t>
            </a:r>
            <a:r>
              <a:rPr sz="2400" dirty="0">
                <a:latin typeface="Arial"/>
                <a:cs typeface="Arial"/>
              </a:rPr>
              <a:t>data </a:t>
            </a:r>
            <a:r>
              <a:rPr sz="2400" spc="-5" dirty="0">
                <a:latin typeface="Arial"/>
                <a:cs typeface="Arial"/>
              </a:rPr>
              <a:t>into pieces both ensures that  </a:t>
            </a:r>
            <a:r>
              <a:rPr sz="2400" i="1" spc="-5" dirty="0">
                <a:latin typeface="Arial"/>
                <a:cs typeface="Arial"/>
              </a:rPr>
              <a:t>data is transmitted within the limits of the media </a:t>
            </a:r>
            <a:r>
              <a:rPr sz="2400" spc="-5" dirty="0">
                <a:latin typeface="Arial"/>
                <a:cs typeface="Arial"/>
              </a:rPr>
              <a:t>and  that data </a:t>
            </a:r>
            <a:r>
              <a:rPr sz="2400" spc="-10" dirty="0">
                <a:latin typeface="Arial"/>
                <a:cs typeface="Arial"/>
              </a:rPr>
              <a:t>from </a:t>
            </a:r>
            <a:r>
              <a:rPr sz="2400" spc="-5" dirty="0">
                <a:latin typeface="Arial"/>
                <a:cs typeface="Arial"/>
              </a:rPr>
              <a:t>different applications can be </a:t>
            </a:r>
            <a:r>
              <a:rPr sz="2400" i="1" spc="-5" dirty="0">
                <a:latin typeface="Arial"/>
                <a:cs typeface="Arial"/>
              </a:rPr>
              <a:t>multiplexed  </a:t>
            </a:r>
            <a:r>
              <a:rPr sz="2400" spc="-5" dirty="0">
                <a:latin typeface="Arial"/>
                <a:cs typeface="Arial"/>
              </a:rPr>
              <a:t>on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the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media.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٢٨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17169" y="1834896"/>
            <a:ext cx="7001256" cy="51374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498993" y="1270507"/>
            <a:ext cx="19685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Segments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٢٩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98993" y="1270507"/>
            <a:ext cx="41560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TCP </a:t>
            </a:r>
            <a:r>
              <a:rPr spc="-5" dirty="0"/>
              <a:t>Segment</a:t>
            </a:r>
            <a:r>
              <a:rPr spc="-90" dirty="0"/>
              <a:t> </a:t>
            </a:r>
            <a:r>
              <a:rPr spc="-5" dirty="0"/>
              <a:t>Header</a:t>
            </a:r>
          </a:p>
        </p:txBody>
      </p:sp>
      <p:sp>
        <p:nvSpPr>
          <p:cNvPr id="7" name="object 7"/>
          <p:cNvSpPr/>
          <p:nvPr/>
        </p:nvSpPr>
        <p:spPr>
          <a:xfrm>
            <a:off x="1874397" y="2511551"/>
            <a:ext cx="6888480" cy="44836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٣٠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79500" y="1218961"/>
            <a:ext cx="7952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Application </a:t>
            </a:r>
            <a:r>
              <a:rPr sz="2800" dirty="0"/>
              <a:t>and </a:t>
            </a:r>
            <a:r>
              <a:rPr sz="2800" spc="-5" dirty="0"/>
              <a:t>Operation </a:t>
            </a:r>
            <a:r>
              <a:rPr sz="2800" spc="-10" dirty="0"/>
              <a:t>of </a:t>
            </a:r>
            <a:r>
              <a:rPr sz="2800" spc="-5" dirty="0"/>
              <a:t>TCP</a:t>
            </a:r>
            <a:r>
              <a:rPr sz="2800" spc="25" dirty="0"/>
              <a:t> </a:t>
            </a:r>
            <a:r>
              <a:rPr sz="2800" spc="-5" dirty="0"/>
              <a:t>Mechanisms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1308101" y="1896110"/>
            <a:ext cx="8458200" cy="73914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48920" marR="5080" indent="-236220">
              <a:lnSpc>
                <a:spcPts val="2740"/>
              </a:lnSpc>
              <a:spcBef>
                <a:spcPts val="30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  <a:tab pos="6198870" algn="l"/>
              </a:tabLst>
            </a:pPr>
            <a:r>
              <a:rPr lang="en-US" sz="2400" spc="-5" dirty="0">
                <a:latin typeface="Arial"/>
                <a:cs typeface="Arial"/>
              </a:rPr>
              <a:t>P</a:t>
            </a:r>
            <a:r>
              <a:rPr sz="2400" spc="-5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rt</a:t>
            </a:r>
            <a:r>
              <a:rPr sz="2400" spc="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nu</a:t>
            </a:r>
            <a:r>
              <a:rPr sz="2400" dirty="0">
                <a:latin typeface="Arial"/>
                <a:cs typeface="Arial"/>
              </a:rPr>
              <a:t>m</a:t>
            </a:r>
            <a:r>
              <a:rPr sz="2400" spc="-5" dirty="0">
                <a:latin typeface="Arial"/>
                <a:cs typeface="Arial"/>
              </a:rPr>
              <a:t>be</a:t>
            </a:r>
            <a:r>
              <a:rPr sz="2400" dirty="0">
                <a:latin typeface="Arial"/>
                <a:cs typeface="Arial"/>
              </a:rPr>
              <a:t>rs </a:t>
            </a:r>
            <a:r>
              <a:rPr sz="2400" spc="-10" dirty="0">
                <a:latin typeface="Arial"/>
                <a:cs typeface="Arial"/>
              </a:rPr>
              <a:t>i</a:t>
            </a:r>
            <a:r>
              <a:rPr sz="2400" dirty="0">
                <a:latin typeface="Arial"/>
                <a:cs typeface="Arial"/>
              </a:rPr>
              <a:t>n </a:t>
            </a:r>
            <a:r>
              <a:rPr sz="2400" spc="-5" dirty="0">
                <a:latin typeface="Arial"/>
                <a:cs typeface="Arial"/>
              </a:rPr>
              <a:t>es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-5" dirty="0">
                <a:latin typeface="Arial"/>
                <a:cs typeface="Arial"/>
              </a:rPr>
              <a:t>ab</a:t>
            </a:r>
            <a:r>
              <a:rPr sz="2400" spc="-10" dirty="0">
                <a:latin typeface="Arial"/>
                <a:cs typeface="Arial"/>
              </a:rPr>
              <a:t>l</a:t>
            </a:r>
            <a:r>
              <a:rPr sz="2400" spc="0" dirty="0">
                <a:latin typeface="Arial"/>
                <a:cs typeface="Arial"/>
              </a:rPr>
              <a:t>i</a:t>
            </a:r>
            <a:r>
              <a:rPr sz="2400" spc="-5" dirty="0">
                <a:latin typeface="Arial"/>
                <a:cs typeface="Arial"/>
              </a:rPr>
              <a:t>sh</a:t>
            </a:r>
            <a:r>
              <a:rPr sz="2400" spc="0" dirty="0">
                <a:latin typeface="Arial"/>
                <a:cs typeface="Arial"/>
              </a:rPr>
              <a:t>i</a:t>
            </a:r>
            <a:r>
              <a:rPr sz="2400" spc="-5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g </a:t>
            </a:r>
            <a:r>
              <a:rPr sz="2400" spc="-5" dirty="0">
                <a:latin typeface="Arial"/>
                <a:cs typeface="Arial"/>
              </a:rPr>
              <a:t>T</a:t>
            </a:r>
            <a:r>
              <a:rPr sz="2400" spc="-10" dirty="0">
                <a:latin typeface="Arial"/>
                <a:cs typeface="Arial"/>
              </a:rPr>
              <a:t>C</a:t>
            </a:r>
            <a:r>
              <a:rPr sz="2400" dirty="0">
                <a:latin typeface="Arial"/>
                <a:cs typeface="Arial"/>
              </a:rPr>
              <a:t>P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sess</a:t>
            </a:r>
            <a:r>
              <a:rPr sz="2400" spc="0" dirty="0">
                <a:latin typeface="Arial"/>
                <a:cs typeface="Arial"/>
              </a:rPr>
              <a:t>i</a:t>
            </a:r>
            <a:r>
              <a:rPr sz="2400" spc="-5" dirty="0">
                <a:latin typeface="Arial"/>
                <a:cs typeface="Arial"/>
              </a:rPr>
              <a:t>on</a:t>
            </a:r>
            <a:r>
              <a:rPr sz="2400" dirty="0">
                <a:latin typeface="Arial"/>
                <a:cs typeface="Arial"/>
              </a:rPr>
              <a:t>s	</a:t>
            </a:r>
            <a:r>
              <a:rPr sz="2400" spc="-5" dirty="0">
                <a:latin typeface="Arial"/>
                <a:cs typeface="Arial"/>
              </a:rPr>
              <a:t>an</a:t>
            </a:r>
            <a:r>
              <a:rPr sz="2400" dirty="0">
                <a:latin typeface="Arial"/>
                <a:cs typeface="Arial"/>
              </a:rPr>
              <a:t>d  </a:t>
            </a:r>
            <a:r>
              <a:rPr sz="2400" spc="-5" dirty="0">
                <a:latin typeface="Arial"/>
                <a:cs typeface="Arial"/>
              </a:rPr>
              <a:t>directing segments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server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process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99495" y="3325622"/>
            <a:ext cx="7222235" cy="38054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٣١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74073" y="1263650"/>
            <a:ext cx="9140950" cy="446276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sz="2800" spc="-5" dirty="0">
                <a:latin typeface="Arial"/>
                <a:cs typeface="Arial"/>
              </a:rPr>
              <a:t>TCP Connection Establishment and  Termination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4073" y="2253487"/>
            <a:ext cx="9140950" cy="249428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48920" marR="35560" indent="-236220">
              <a:lnSpc>
                <a:spcPts val="2740"/>
              </a:lnSpc>
              <a:spcBef>
                <a:spcPts val="30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When two hosts communicate using </a:t>
            </a:r>
            <a:r>
              <a:rPr sz="2400" spc="-10" dirty="0">
                <a:latin typeface="Arial"/>
                <a:cs typeface="Arial"/>
              </a:rPr>
              <a:t>TCP,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connection  is established before data can be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exchanged.</a:t>
            </a:r>
            <a:endParaRPr sz="2400" dirty="0">
              <a:latin typeface="Arial"/>
              <a:cs typeface="Arial"/>
            </a:endParaRPr>
          </a:p>
          <a:p>
            <a:pPr marL="248920" marR="35560" indent="-236220">
              <a:lnSpc>
                <a:spcPts val="2740"/>
              </a:lnSpc>
              <a:spcBef>
                <a:spcPts val="143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After the communication is completed, the sessions are  closed and the connection is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terminated.</a:t>
            </a:r>
            <a:endParaRPr sz="2400" dirty="0">
              <a:latin typeface="Arial"/>
              <a:cs typeface="Arial"/>
            </a:endParaRPr>
          </a:p>
          <a:p>
            <a:pPr marL="248920" indent="-236220">
              <a:lnSpc>
                <a:spcPts val="2810"/>
              </a:lnSpc>
              <a:spcBef>
                <a:spcPts val="122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The connection and session mechanisms enable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TCP's</a:t>
            </a:r>
            <a:endParaRPr sz="2400" dirty="0">
              <a:latin typeface="Arial"/>
              <a:cs typeface="Arial"/>
            </a:endParaRPr>
          </a:p>
          <a:p>
            <a:pPr marL="248285">
              <a:lnSpc>
                <a:spcPts val="2810"/>
              </a:lnSpc>
            </a:pPr>
            <a:r>
              <a:rPr sz="2400" b="1" u="heavy" spc="-5" dirty="0">
                <a:latin typeface="Arial"/>
                <a:cs typeface="Arial"/>
              </a:rPr>
              <a:t>reliability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function.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٣٢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88808" y="1263650"/>
            <a:ext cx="8416030" cy="446276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sz="2800" spc="-5" dirty="0">
                <a:solidFill>
                  <a:srgbClr val="B21A1A"/>
                </a:solidFill>
              </a:rPr>
              <a:t>Handshake in the establishment </a:t>
            </a:r>
            <a:r>
              <a:rPr sz="2800" spc="-10" dirty="0">
                <a:solidFill>
                  <a:srgbClr val="B21A1A"/>
                </a:solidFill>
              </a:rPr>
              <a:t>of </a:t>
            </a:r>
            <a:r>
              <a:rPr sz="2800" spc="-5" dirty="0">
                <a:solidFill>
                  <a:srgbClr val="B21A1A"/>
                </a:solidFill>
              </a:rPr>
              <a:t>TCP  sessions</a:t>
            </a:r>
            <a:endParaRPr sz="2800"/>
          </a:p>
        </p:txBody>
      </p:sp>
      <p:sp>
        <p:nvSpPr>
          <p:cNvPr id="7" name="object 7"/>
          <p:cNvSpPr/>
          <p:nvPr/>
        </p:nvSpPr>
        <p:spPr>
          <a:xfrm>
            <a:off x="987431" y="2202179"/>
            <a:ext cx="8217407" cy="4762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٣٣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98993" y="1331467"/>
            <a:ext cx="78765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Handshake in the termination </a:t>
            </a:r>
            <a:r>
              <a:rPr sz="2800" spc="-10" dirty="0"/>
              <a:t>of </a:t>
            </a:r>
            <a:r>
              <a:rPr sz="2800" spc="-5" dirty="0"/>
              <a:t>TCP</a:t>
            </a:r>
            <a:r>
              <a:rPr sz="2800" spc="50" dirty="0"/>
              <a:t> </a:t>
            </a:r>
            <a:r>
              <a:rPr sz="2800" spc="-5" dirty="0"/>
              <a:t>sessions</a:t>
            </a:r>
            <a:endParaRPr sz="2800"/>
          </a:p>
        </p:txBody>
      </p:sp>
      <p:sp>
        <p:nvSpPr>
          <p:cNvPr id="7" name="object 7"/>
          <p:cNvSpPr/>
          <p:nvPr/>
        </p:nvSpPr>
        <p:spPr>
          <a:xfrm>
            <a:off x="2453518" y="2560319"/>
            <a:ext cx="5391911" cy="40538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٣٧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4074" y="2253487"/>
            <a:ext cx="8847200" cy="2170466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48920" marR="5080" indent="-236220">
              <a:lnSpc>
                <a:spcPts val="2740"/>
              </a:lnSpc>
              <a:spcBef>
                <a:spcPts val="30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b="1" spc="-5" dirty="0">
                <a:latin typeface="Arial"/>
                <a:cs typeface="Arial"/>
              </a:rPr>
              <a:t>The sequence number </a:t>
            </a:r>
            <a:r>
              <a:rPr sz="2400" spc="-5" dirty="0">
                <a:latin typeface="Arial"/>
                <a:cs typeface="Arial"/>
              </a:rPr>
              <a:t>is the relative </a:t>
            </a:r>
            <a:r>
              <a:rPr sz="2400" b="1" spc="-5" dirty="0">
                <a:latin typeface="Arial"/>
                <a:cs typeface="Arial"/>
              </a:rPr>
              <a:t>number of  </a:t>
            </a:r>
            <a:r>
              <a:rPr sz="2400" b="1" spc="-10" dirty="0">
                <a:latin typeface="Arial"/>
                <a:cs typeface="Arial"/>
              </a:rPr>
              <a:t>bytes </a:t>
            </a:r>
            <a:r>
              <a:rPr sz="2400" b="1" spc="-5" dirty="0">
                <a:latin typeface="Arial"/>
                <a:cs typeface="Arial"/>
              </a:rPr>
              <a:t>that have been transmitted </a:t>
            </a:r>
            <a:r>
              <a:rPr sz="2400" spc="-5" dirty="0">
                <a:latin typeface="Arial"/>
                <a:cs typeface="Arial"/>
              </a:rPr>
              <a:t>in this session plus</a:t>
            </a:r>
            <a:r>
              <a:rPr lang="en-US"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lang="en-US" sz="2400" dirty="0"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6F8CA1"/>
              </a:buClr>
              <a:buFont typeface="Wingdings"/>
              <a:buChar char=""/>
            </a:pPr>
            <a:endParaRPr sz="2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6F8CA1"/>
              </a:buClr>
              <a:buFont typeface="Wingdings"/>
              <a:buChar char=""/>
            </a:pPr>
            <a:endParaRPr sz="2150" dirty="0">
              <a:latin typeface="Times New Roman"/>
              <a:cs typeface="Times New Roman"/>
            </a:endParaRPr>
          </a:p>
          <a:p>
            <a:pPr marL="248920" marR="144780" indent="-236220">
              <a:lnSpc>
                <a:spcPts val="2740"/>
              </a:lnSpc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lang="en-US" sz="2400" b="1" spc="-5" dirty="0">
                <a:latin typeface="Arial"/>
                <a:cs typeface="Arial"/>
              </a:rPr>
              <a:t>A</a:t>
            </a:r>
            <a:r>
              <a:rPr sz="2400" b="1" spc="-5" dirty="0">
                <a:latin typeface="Arial"/>
                <a:cs typeface="Arial"/>
              </a:rPr>
              <a:t>cknowledgement </a:t>
            </a:r>
            <a:r>
              <a:rPr sz="2400" b="1" spc="-10" dirty="0">
                <a:latin typeface="Arial"/>
                <a:cs typeface="Arial"/>
              </a:rPr>
              <a:t>number </a:t>
            </a:r>
            <a:r>
              <a:rPr sz="2400" spc="-5" dirty="0">
                <a:latin typeface="Arial"/>
                <a:cs typeface="Arial"/>
              </a:rPr>
              <a:t>indicate the </a:t>
            </a:r>
            <a:r>
              <a:rPr sz="2400" b="1" spc="-10" dirty="0">
                <a:latin typeface="Arial"/>
                <a:cs typeface="Arial"/>
              </a:rPr>
              <a:t>next byte </a:t>
            </a:r>
            <a:r>
              <a:rPr sz="2400" b="1" dirty="0">
                <a:latin typeface="Arial"/>
                <a:cs typeface="Arial"/>
              </a:rPr>
              <a:t>in  </a:t>
            </a:r>
            <a:r>
              <a:rPr sz="2400" b="1" spc="-5" dirty="0">
                <a:latin typeface="Arial"/>
                <a:cs typeface="Arial"/>
              </a:rPr>
              <a:t>this session that the receiver expects </a:t>
            </a:r>
            <a:r>
              <a:rPr sz="2400" b="1" dirty="0">
                <a:latin typeface="Arial"/>
                <a:cs typeface="Arial"/>
              </a:rPr>
              <a:t>to</a:t>
            </a:r>
            <a:r>
              <a:rPr sz="2400" b="1" spc="3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receive</a:t>
            </a:r>
            <a:r>
              <a:rPr sz="2400" spc="-10" dirty="0"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٣٨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98993" y="1270507"/>
            <a:ext cx="47383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Managing </a:t>
            </a:r>
            <a:r>
              <a:rPr dirty="0"/>
              <a:t>TCP</a:t>
            </a:r>
            <a:r>
              <a:rPr spc="-114" dirty="0"/>
              <a:t> </a:t>
            </a:r>
            <a:r>
              <a:rPr spc="-5" dirty="0"/>
              <a:t>Sessions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98993" y="1745995"/>
            <a:ext cx="7534275" cy="73914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48920" marR="5080" indent="-236220">
              <a:lnSpc>
                <a:spcPts val="2740"/>
              </a:lnSpc>
              <a:spcBef>
                <a:spcPts val="30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TCP sequence numbers are used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reconstruct the  data stream with segments placed in the correct</a:t>
            </a:r>
            <a:r>
              <a:rPr sz="2400" spc="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order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79197" y="2881884"/>
            <a:ext cx="6038088" cy="4090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٣٩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17701" y="3168650"/>
            <a:ext cx="6629400" cy="4267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50900" y="1182243"/>
            <a:ext cx="88392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 </a:t>
            </a:r>
            <a:r>
              <a:rPr spc="-5" dirty="0"/>
              <a:t>Managing </a:t>
            </a:r>
            <a:r>
              <a:rPr dirty="0"/>
              <a:t>TCP</a:t>
            </a:r>
            <a:r>
              <a:rPr spc="-114" dirty="0"/>
              <a:t> </a:t>
            </a:r>
            <a:r>
              <a:rPr spc="-5" dirty="0"/>
              <a:t>Sessions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50900" y="1745995"/>
            <a:ext cx="8770373" cy="10864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48920" marR="5080" indent="-236220">
              <a:lnSpc>
                <a:spcPts val="2740"/>
              </a:lnSpc>
              <a:spcBef>
                <a:spcPts val="30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Trace the steps used by the TCP protocol in which  sequence numbers and acknowledgement numbers are  used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manage exchanges in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conversation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٤٠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4073" y="2253487"/>
            <a:ext cx="9140950" cy="2940292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248920" marR="5080" indent="-236220">
              <a:lnSpc>
                <a:spcPct val="95100"/>
              </a:lnSpc>
              <a:spcBef>
                <a:spcPts val="24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The amount of data that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source can transmit before  an acknowledgement must be received is called the  window size.</a:t>
            </a:r>
            <a:endParaRPr lang="en-US" sz="2400" spc="-5" dirty="0">
              <a:latin typeface="Arial"/>
              <a:cs typeface="Arial"/>
            </a:endParaRPr>
          </a:p>
          <a:p>
            <a:pPr marL="12700" marR="5080">
              <a:lnSpc>
                <a:spcPct val="95100"/>
              </a:lnSpc>
              <a:spcBef>
                <a:spcPts val="240"/>
              </a:spcBef>
              <a:buClr>
                <a:srgbClr val="6F8CA1"/>
              </a:buClr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 </a:t>
            </a:r>
            <a:endParaRPr lang="en-US" sz="2400" spc="-5" dirty="0">
              <a:latin typeface="Arial"/>
              <a:cs typeface="Arial"/>
            </a:endParaRPr>
          </a:p>
          <a:p>
            <a:pPr marL="248920" marR="5080" indent="-236220">
              <a:lnSpc>
                <a:spcPct val="95100"/>
              </a:lnSpc>
              <a:spcBef>
                <a:spcPts val="24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b="1" spc="-10" dirty="0">
                <a:latin typeface="Arial"/>
                <a:cs typeface="Arial"/>
              </a:rPr>
              <a:t>Window </a:t>
            </a:r>
            <a:r>
              <a:rPr sz="2400" b="1" spc="-5" dirty="0">
                <a:latin typeface="Arial"/>
                <a:cs typeface="Arial"/>
              </a:rPr>
              <a:t>Size </a:t>
            </a:r>
            <a:r>
              <a:rPr sz="2400" spc="-5" dirty="0">
                <a:latin typeface="Arial"/>
                <a:cs typeface="Arial"/>
              </a:rPr>
              <a:t>is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field in the TCP header  that enables the management of lost data and flow  control.</a:t>
            </a:r>
            <a:endParaRPr lang="en-US" sz="2400" spc="-5" dirty="0">
              <a:latin typeface="Arial"/>
              <a:cs typeface="Arial"/>
            </a:endParaRPr>
          </a:p>
          <a:p>
            <a:pPr marL="248920" marR="5080" indent="-236220">
              <a:lnSpc>
                <a:spcPct val="95100"/>
              </a:lnSpc>
              <a:spcBef>
                <a:spcPts val="24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endParaRPr lang="en-US" sz="2400" spc="-5" dirty="0">
              <a:latin typeface="Arial"/>
              <a:cs typeface="Arial"/>
            </a:endParaRPr>
          </a:p>
          <a:p>
            <a:pPr marL="248920" marR="5080" indent="-236220">
              <a:lnSpc>
                <a:spcPct val="95100"/>
              </a:lnSpc>
              <a:spcBef>
                <a:spcPts val="24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lang="en-GB" sz="2400" b="1" dirty="0">
                <a:latin typeface="Arial" charset="0"/>
                <a:ea typeface="Arial" charset="0"/>
                <a:cs typeface="Arial" charset="0"/>
              </a:rPr>
              <a:t>Sliding window </a:t>
            </a:r>
            <a:r>
              <a:rPr lang="en-GB" sz="2400" b="0" dirty="0">
                <a:latin typeface="Arial" charset="0"/>
                <a:ea typeface="Arial" charset="0"/>
                <a:cs typeface="Arial" charset="0"/>
              </a:rPr>
              <a:t>refers to the fact that the window size is negotiated </a:t>
            </a:r>
            <a:r>
              <a:rPr lang="en-GB" sz="2400" b="1" u="sng" dirty="0">
                <a:latin typeface="Arial" charset="0"/>
                <a:ea typeface="Arial" charset="0"/>
                <a:cs typeface="Arial" charset="0"/>
              </a:rPr>
              <a:t>dynamically</a:t>
            </a:r>
            <a:r>
              <a:rPr lang="en-GB" sz="2400" b="0" dirty="0">
                <a:latin typeface="Arial" charset="0"/>
                <a:ea typeface="Arial" charset="0"/>
                <a:cs typeface="Arial" charset="0"/>
              </a:rPr>
              <a:t> during the TCP session</a:t>
            </a:r>
            <a:endParaRPr sz="24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object 7"/>
          <p:cNvSpPr txBox="1">
            <a:spLocks/>
          </p:cNvSpPr>
          <p:nvPr/>
        </p:nvSpPr>
        <p:spPr>
          <a:xfrm>
            <a:off x="922919" y="1364558"/>
            <a:ext cx="8839200" cy="4898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100" b="1" kern="0" spc="-5" dirty="0">
                <a:solidFill>
                  <a:sysClr val="windowText" lastClr="000000"/>
                </a:solidFill>
              </a:rPr>
              <a:t>Window Size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9352835" y="6905837"/>
            <a:ext cx="671689" cy="503767"/>
          </a:xfrm>
          <a:prstGeom prst="rect">
            <a:avLst/>
          </a:prstGeom>
          <a:noFill/>
        </p:spPr>
        <p:txBody>
          <a:bodyPr/>
          <a:lstStyle/>
          <a:p>
            <a:fld id="{343CAC8F-08DA-435E-9601-C9E662359D6F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>
          <a:xfrm>
            <a:off x="1384300" y="442070"/>
            <a:ext cx="8305800" cy="674250"/>
          </a:xfrm>
        </p:spPr>
        <p:txBody>
          <a:bodyPr/>
          <a:lstStyle/>
          <a:p>
            <a:pPr eaLnBrk="1" hangingPunct="1"/>
            <a:r>
              <a:rPr lang="en-US"/>
              <a:t>TCP Windows and Flow Control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6761" y="1466356"/>
            <a:ext cx="9067800" cy="152638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204" dirty="0"/>
              <a:t>Data often is too large to be sent in a single segment. TCP splits the data into multiple segments.</a:t>
            </a:r>
          </a:p>
          <a:p>
            <a:pPr eaLnBrk="1" hangingPunct="1">
              <a:lnSpc>
                <a:spcPct val="90000"/>
              </a:lnSpc>
            </a:pPr>
            <a:r>
              <a:rPr lang="en-US" sz="2204" dirty="0"/>
              <a:t>TCP provides flow control through “windowing” to set the pace of how much data is sent at a time – IE how many bytes per window, and how many windows between ACKs.</a:t>
            </a:r>
          </a:p>
        </p:txBody>
      </p:sp>
      <p:pic>
        <p:nvPicPr>
          <p:cNvPr id="16390" name="Picture 4"/>
          <p:cNvPicPr>
            <a:picLocks noChangeAspect="1" noChangeArrowheads="1"/>
          </p:cNvPicPr>
          <p:nvPr/>
        </p:nvPicPr>
        <p:blipFill>
          <a:blip r:embed="rId3" cstate="print"/>
          <a:srcRect l="11720" t="27129" r="51569" b="31255"/>
          <a:stretch>
            <a:fillRect/>
          </a:stretch>
        </p:blipFill>
        <p:spPr bwMode="auto">
          <a:xfrm>
            <a:off x="1148645" y="3529866"/>
            <a:ext cx="3946172" cy="3354946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</p:pic>
      <p:pic>
        <p:nvPicPr>
          <p:cNvPr id="16391" name="Picture 5"/>
          <p:cNvPicPr>
            <a:picLocks noChangeAspect="1" noChangeArrowheads="1"/>
          </p:cNvPicPr>
          <p:nvPr/>
        </p:nvPicPr>
        <p:blipFill>
          <a:blip r:embed="rId4" cstate="print"/>
          <a:srcRect l="11720" t="27129" r="51569" b="31255"/>
          <a:stretch>
            <a:fillRect/>
          </a:stretch>
        </p:blipFill>
        <p:spPr bwMode="auto">
          <a:xfrm>
            <a:off x="5430661" y="3529866"/>
            <a:ext cx="3946172" cy="3354946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</p:pic>
      <p:sp>
        <p:nvSpPr>
          <p:cNvPr id="16392" name="Text Box 6"/>
          <p:cNvSpPr txBox="1">
            <a:spLocks noChangeArrowheads="1"/>
          </p:cNvSpPr>
          <p:nvPr/>
        </p:nvSpPr>
        <p:spPr bwMode="auto">
          <a:xfrm>
            <a:off x="1232606" y="3122305"/>
            <a:ext cx="3778250" cy="397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sz="1983">
                <a:solidFill>
                  <a:schemeClr val="tx2"/>
                </a:solidFill>
                <a:latin typeface="Times New Roman" pitchFamily="18" charset="0"/>
              </a:rPr>
              <a:t>Window Size = 1</a:t>
            </a:r>
          </a:p>
        </p:txBody>
      </p:sp>
      <p:sp>
        <p:nvSpPr>
          <p:cNvPr id="16393" name="Text Box 7"/>
          <p:cNvSpPr txBox="1">
            <a:spLocks noChangeArrowheads="1"/>
          </p:cNvSpPr>
          <p:nvPr/>
        </p:nvSpPr>
        <p:spPr bwMode="auto">
          <a:xfrm>
            <a:off x="5430661" y="3106562"/>
            <a:ext cx="3778250" cy="397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sz="1983">
                <a:solidFill>
                  <a:schemeClr val="tx2"/>
                </a:solidFill>
                <a:latin typeface="Times New Roman" pitchFamily="18" charset="0"/>
              </a:rPr>
              <a:t>Window Size = 3</a:t>
            </a:r>
          </a:p>
        </p:txBody>
      </p:sp>
    </p:spTree>
    <p:extLst>
      <p:ext uri="{BB962C8B-B14F-4D97-AF65-F5344CB8AC3E}">
        <p14:creationId xmlns:p14="http://schemas.microsoft.com/office/powerpoint/2010/main" val="15706830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٤١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98993" y="1270507"/>
            <a:ext cx="39979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TCP</a:t>
            </a:r>
            <a:r>
              <a:rPr spc="-80" dirty="0"/>
              <a:t> </a:t>
            </a:r>
            <a:r>
              <a:rPr spc="-5" dirty="0"/>
              <a:t>Retransmission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74072" y="2230844"/>
            <a:ext cx="9297027" cy="3573927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48920" marR="5080" indent="-236220">
              <a:lnSpc>
                <a:spcPts val="2740"/>
              </a:lnSpc>
              <a:spcBef>
                <a:spcPts val="30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For example,</a:t>
            </a:r>
            <a:endParaRPr lang="en-US" sz="2400" spc="-5" dirty="0">
              <a:latin typeface="Arial"/>
              <a:cs typeface="Arial"/>
            </a:endParaRPr>
          </a:p>
          <a:p>
            <a:pPr marL="248920" marR="5080" indent="-236220">
              <a:lnSpc>
                <a:spcPts val="2740"/>
              </a:lnSpc>
              <a:spcBef>
                <a:spcPts val="30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lang="en-US" sz="2400" spc="-5" dirty="0">
                <a:latin typeface="Arial"/>
                <a:cs typeface="Arial"/>
              </a:rPr>
              <a:t>I</a:t>
            </a:r>
            <a:r>
              <a:rPr sz="2400" spc="-5" dirty="0">
                <a:latin typeface="Arial"/>
                <a:cs typeface="Arial"/>
              </a:rPr>
              <a:t>f segments with sequence numbers 1500 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3000 and 3400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3500 were received, the  </a:t>
            </a:r>
            <a:r>
              <a:rPr sz="2400" spc="-5" dirty="0" err="1">
                <a:latin typeface="Arial"/>
                <a:cs typeface="Arial"/>
              </a:rPr>
              <a:t>ack</a:t>
            </a:r>
            <a:r>
              <a:rPr sz="2400" spc="-5" dirty="0">
                <a:latin typeface="Arial"/>
                <a:cs typeface="Arial"/>
              </a:rPr>
              <a:t> number would be 3001. </a:t>
            </a:r>
            <a:endParaRPr lang="en-US" sz="2400" spc="-5" dirty="0">
              <a:latin typeface="Arial"/>
              <a:cs typeface="Arial"/>
            </a:endParaRPr>
          </a:p>
          <a:p>
            <a:pPr marL="248920" marR="5080" indent="-236220">
              <a:lnSpc>
                <a:spcPts val="2740"/>
              </a:lnSpc>
              <a:spcBef>
                <a:spcPts val="30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This is  because there are segments with the sequence  numbers 3001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3399 that have not been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received.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6F8CA1"/>
              </a:buClr>
            </a:pPr>
            <a:endParaRPr sz="2100" dirty="0">
              <a:latin typeface="Times New Roman"/>
              <a:cs typeface="Times New Roman"/>
            </a:endParaRPr>
          </a:p>
          <a:p>
            <a:pPr marL="248920" marR="396875" indent="-236220">
              <a:lnSpc>
                <a:spcPct val="95100"/>
              </a:lnSpc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When TCP at the source host has not received an ack</a:t>
            </a:r>
            <a:r>
              <a:rPr lang="en-US" sz="2400" spc="-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after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predetermined amount of  time, it will go back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the last acknowledgement  number that it received and retransmit data from that  point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forward.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٤٢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27100" y="1105645"/>
            <a:ext cx="373379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Flow</a:t>
            </a:r>
            <a:r>
              <a:rPr spc="-75" dirty="0"/>
              <a:t> </a:t>
            </a:r>
            <a:r>
              <a:rPr spc="-5" dirty="0"/>
              <a:t>Control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08100" y="1863090"/>
            <a:ext cx="728561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920" indent="-236220">
              <a:lnSpc>
                <a:spcPct val="100000"/>
              </a:lnSpc>
              <a:spcBef>
                <a:spcPts val="10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lang="en-US" sz="2400" spc="-5" dirty="0">
                <a:latin typeface="Arial"/>
                <a:cs typeface="Arial"/>
              </a:rPr>
              <a:t>W</a:t>
            </a:r>
            <a:r>
              <a:rPr sz="2400" spc="-5">
                <a:latin typeface="Arial"/>
                <a:cs typeface="Arial"/>
              </a:rPr>
              <a:t>indow </a:t>
            </a:r>
            <a:r>
              <a:rPr sz="2400" spc="-5" dirty="0">
                <a:latin typeface="Arial"/>
                <a:cs typeface="Arial"/>
              </a:rPr>
              <a:t>size, and congestion during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session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98700" y="2716022"/>
            <a:ext cx="6295014" cy="47198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8993" y="1270507"/>
            <a:ext cx="2646045" cy="492443"/>
          </a:xfrm>
        </p:spPr>
        <p:txBody>
          <a:bodyPr/>
          <a:lstStyle/>
          <a:p>
            <a:r>
              <a:rPr lang="en-US" spc="-5" dirty="0"/>
              <a:t>Flow</a:t>
            </a:r>
            <a:r>
              <a:rPr lang="en-US" spc="-75" dirty="0"/>
              <a:t> </a:t>
            </a:r>
            <a:r>
              <a:rPr lang="en-US" spc="-5" dirty="0"/>
              <a:t>Control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015" y="2511187"/>
            <a:ext cx="4572000" cy="1477328"/>
          </a:xfrm>
        </p:spPr>
        <p:txBody>
          <a:bodyPr/>
          <a:lstStyle/>
          <a:p>
            <a:pPr marL="342900" indent="-342900" algn="l">
              <a:buFont typeface="Arial" charset="0"/>
              <a:buChar char="•"/>
            </a:pPr>
            <a:r>
              <a:rPr lang="en-GB" dirty="0">
                <a:ea typeface="Arial Unicode MS" pitchFamily="34" charset="-128"/>
                <a:cs typeface="Arial Unicode MS" pitchFamily="34" charset="-128"/>
              </a:rPr>
              <a:t>If the source receives no acknowledgment, it knows to retransmit at a slower rate. </a:t>
            </a:r>
          </a:p>
          <a:p>
            <a:endParaRPr lang="en-US" dirty="0"/>
          </a:p>
        </p:txBody>
      </p:sp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51500" y="3921125"/>
            <a:ext cx="4267200" cy="343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6401421"/>
              </p:ext>
            </p:extLst>
          </p:nvPr>
        </p:nvGraphicFramePr>
        <p:xfrm>
          <a:off x="6337300" y="2960688"/>
          <a:ext cx="2478088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Bitmap Image" r:id="rId4" imgW="3057143" imgH="1085714" progId="Paint.Picture">
                  <p:embed/>
                </p:oleObj>
              </mc:Choice>
              <mc:Fallback>
                <p:oleObj name="Bitmap Image" r:id="rId4" imgW="3057143" imgH="1085714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7300" y="2960688"/>
                        <a:ext cx="2478088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utoShape 10"/>
          <p:cNvSpPr>
            <a:spLocks noChangeArrowheads="1"/>
          </p:cNvSpPr>
          <p:nvPr/>
        </p:nvSpPr>
        <p:spPr bwMode="auto">
          <a:xfrm>
            <a:off x="6870700" y="2254250"/>
            <a:ext cx="1217613" cy="646986"/>
          </a:xfrm>
          <a:prstGeom prst="wedgeRoundRectCallout">
            <a:avLst>
              <a:gd name="adj1" fmla="val -43741"/>
              <a:gd name="adj2" fmla="val 123486"/>
              <a:gd name="adj3" fmla="val 16667"/>
            </a:avLst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GB" sz="1600" b="0" dirty="0">
                <a:latin typeface="Arial Narrow" pitchFamily="34" charset="0"/>
              </a:rPr>
              <a:t>Fast enough for you?</a:t>
            </a:r>
          </a:p>
        </p:txBody>
      </p:sp>
      <p:sp>
        <p:nvSpPr>
          <p:cNvPr id="7" name="AutoShape 11"/>
          <p:cNvSpPr>
            <a:spLocks noChangeArrowheads="1"/>
          </p:cNvSpPr>
          <p:nvPr/>
        </p:nvSpPr>
        <p:spPr bwMode="auto">
          <a:xfrm>
            <a:off x="8775700" y="2330450"/>
            <a:ext cx="1138238" cy="919401"/>
          </a:xfrm>
          <a:prstGeom prst="wedgeRoundRectCallout">
            <a:avLst>
              <a:gd name="adj1" fmla="val -82218"/>
              <a:gd name="adj2" fmla="val 95648"/>
              <a:gd name="adj3" fmla="val 16667"/>
            </a:avLst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GB" sz="1600" b="0" dirty="0">
                <a:latin typeface="Arial Narrow" pitchFamily="34" charset="0"/>
              </a:rPr>
              <a:t>I didn’t get all of that, slow down. </a:t>
            </a:r>
          </a:p>
        </p:txBody>
      </p:sp>
    </p:spTree>
    <p:extLst>
      <p:ext uri="{BB962C8B-B14F-4D97-AF65-F5344CB8AC3E}">
        <p14:creationId xmlns:p14="http://schemas.microsoft.com/office/powerpoint/2010/main" val="193763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  <p:bldP spid="7" grpId="0" animBg="1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٤٣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98993" y="1270507"/>
            <a:ext cx="26460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UDP</a:t>
            </a:r>
            <a:r>
              <a:rPr spc="-65" dirty="0"/>
              <a:t> </a:t>
            </a:r>
            <a:r>
              <a:rPr spc="-5" dirty="0"/>
              <a:t>Protocol</a:t>
            </a:r>
          </a:p>
        </p:txBody>
      </p:sp>
      <p:sp>
        <p:nvSpPr>
          <p:cNvPr id="7" name="object 7"/>
          <p:cNvSpPr/>
          <p:nvPr/>
        </p:nvSpPr>
        <p:spPr>
          <a:xfrm>
            <a:off x="1296803" y="2741675"/>
            <a:ext cx="7798307" cy="39105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٤٤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4072" y="2253487"/>
            <a:ext cx="9068427" cy="2348463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48920" marR="831215" indent="-236220">
              <a:lnSpc>
                <a:spcPts val="2740"/>
              </a:lnSpc>
              <a:spcBef>
                <a:spcPts val="30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UDP is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simple protocol that provides the basic  Transport layer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functions.</a:t>
            </a:r>
            <a:endParaRPr lang="en-US" sz="2400" spc="-5" dirty="0">
              <a:latin typeface="Arial"/>
              <a:cs typeface="Arial"/>
            </a:endParaRPr>
          </a:p>
          <a:p>
            <a:pPr marL="248920" marR="831215" indent="-236220">
              <a:lnSpc>
                <a:spcPts val="2740"/>
              </a:lnSpc>
              <a:spcBef>
                <a:spcPts val="30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endParaRPr sz="2400" dirty="0">
              <a:latin typeface="Arial"/>
              <a:cs typeface="Arial"/>
            </a:endParaRPr>
          </a:p>
          <a:p>
            <a:pPr marL="248920" marR="5080" indent="-236220">
              <a:lnSpc>
                <a:spcPct val="95100"/>
              </a:lnSpc>
              <a:spcBef>
                <a:spcPts val="136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It has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much lower overhead than </a:t>
            </a:r>
            <a:r>
              <a:rPr sz="2400" spc="-10" dirty="0">
                <a:latin typeface="Arial"/>
                <a:cs typeface="Arial"/>
              </a:rPr>
              <a:t>TCP, </a:t>
            </a:r>
            <a:r>
              <a:rPr sz="2400" spc="-5" dirty="0">
                <a:latin typeface="Arial"/>
                <a:cs typeface="Arial"/>
              </a:rPr>
              <a:t>since it is not  connection-oriented and does </a:t>
            </a:r>
            <a:r>
              <a:rPr sz="2400" dirty="0">
                <a:latin typeface="Arial"/>
                <a:cs typeface="Arial"/>
              </a:rPr>
              <a:t>not </a:t>
            </a:r>
            <a:r>
              <a:rPr sz="2400" spc="-5" dirty="0">
                <a:latin typeface="Arial"/>
                <a:cs typeface="Arial"/>
              </a:rPr>
              <a:t>provide the  sophisticated retransmission, sequencing, and flow  control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mechanisms.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7" name="object 6"/>
          <p:cNvSpPr txBox="1">
            <a:spLocks/>
          </p:cNvSpPr>
          <p:nvPr/>
        </p:nvSpPr>
        <p:spPr>
          <a:xfrm>
            <a:off x="1498993" y="1270507"/>
            <a:ext cx="2646045" cy="4898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100" b="1" kern="0" dirty="0">
                <a:solidFill>
                  <a:sysClr val="windowText" lastClr="000000"/>
                </a:solidFill>
              </a:rPr>
              <a:t>UDP</a:t>
            </a:r>
            <a:r>
              <a:rPr lang="en-US" sz="3100" b="1" kern="0" spc="-65" dirty="0">
                <a:solidFill>
                  <a:sysClr val="windowText" lastClr="000000"/>
                </a:solidFill>
              </a:rPr>
              <a:t> </a:t>
            </a:r>
            <a:r>
              <a:rPr lang="en-US" sz="3100" b="1" kern="0" spc="-5" dirty="0">
                <a:solidFill>
                  <a:sysClr val="windowText" lastClr="000000"/>
                </a:solidFill>
              </a:rPr>
              <a:t>Protocol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2128607-E361-4441-AACF-933FD78C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" y="1873250"/>
            <a:ext cx="8182253" cy="417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16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٤٥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1901" y="2178050"/>
            <a:ext cx="7818066" cy="376449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95"/>
              </a:spcBef>
              <a:buClr>
                <a:srgbClr val="6F8CA1"/>
              </a:buClr>
              <a:tabLst>
                <a:tab pos="248920" algn="l"/>
              </a:tabLst>
            </a:pPr>
            <a:r>
              <a:rPr lang="en-US" sz="2400" spc="-5" dirty="0">
                <a:latin typeface="Arial"/>
                <a:cs typeface="Arial"/>
              </a:rPr>
              <a:t>K</a:t>
            </a:r>
            <a:r>
              <a:rPr sz="2400" spc="-5">
                <a:latin typeface="Arial"/>
                <a:cs typeface="Arial"/>
              </a:rPr>
              <a:t>ey </a:t>
            </a:r>
            <a:r>
              <a:rPr sz="2400" spc="-5" dirty="0">
                <a:latin typeface="Arial"/>
                <a:cs typeface="Arial"/>
              </a:rPr>
              <a:t>Application layer protocols that use UDP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include:</a:t>
            </a:r>
            <a:endParaRPr sz="2400" dirty="0">
              <a:latin typeface="Arial"/>
              <a:cs typeface="Arial"/>
            </a:endParaRPr>
          </a:p>
          <a:p>
            <a:pPr marL="248920" indent="-236220">
              <a:lnSpc>
                <a:spcPct val="100000"/>
              </a:lnSpc>
              <a:spcBef>
                <a:spcPts val="129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Domain Name System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(DNS)</a:t>
            </a:r>
            <a:endParaRPr sz="2400" dirty="0">
              <a:latin typeface="Arial"/>
              <a:cs typeface="Arial"/>
            </a:endParaRPr>
          </a:p>
          <a:p>
            <a:pPr marL="248920" indent="-236220">
              <a:lnSpc>
                <a:spcPct val="100000"/>
              </a:lnSpc>
              <a:spcBef>
                <a:spcPts val="129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Simple Network Management Protocol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(SNMP)</a:t>
            </a:r>
            <a:endParaRPr sz="2400" dirty="0">
              <a:latin typeface="Arial"/>
              <a:cs typeface="Arial"/>
            </a:endParaRPr>
          </a:p>
          <a:p>
            <a:pPr marL="248920" indent="-236220">
              <a:lnSpc>
                <a:spcPct val="100000"/>
              </a:lnSpc>
              <a:spcBef>
                <a:spcPts val="129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Dynamic Host Configuration Protocol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(DHCP)</a:t>
            </a:r>
            <a:endParaRPr sz="2400" dirty="0">
              <a:latin typeface="Arial"/>
              <a:cs typeface="Arial"/>
            </a:endParaRPr>
          </a:p>
          <a:p>
            <a:pPr marL="248920" indent="-236220">
              <a:lnSpc>
                <a:spcPct val="100000"/>
              </a:lnSpc>
              <a:spcBef>
                <a:spcPts val="129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Routing Information Protocol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(RIP)</a:t>
            </a:r>
            <a:endParaRPr sz="2400" dirty="0">
              <a:latin typeface="Arial"/>
              <a:cs typeface="Arial"/>
            </a:endParaRPr>
          </a:p>
          <a:p>
            <a:pPr marL="248920" indent="-236220">
              <a:lnSpc>
                <a:spcPct val="100000"/>
              </a:lnSpc>
              <a:spcBef>
                <a:spcPts val="129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Trivial File Transfer Protocol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(TFTP)</a:t>
            </a:r>
            <a:endParaRPr sz="2400" dirty="0">
              <a:latin typeface="Arial"/>
              <a:cs typeface="Arial"/>
            </a:endParaRPr>
          </a:p>
          <a:p>
            <a:pPr marL="248920" indent="-236220">
              <a:lnSpc>
                <a:spcPct val="100000"/>
              </a:lnSpc>
              <a:spcBef>
                <a:spcPts val="129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Online games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7" name="object 6"/>
          <p:cNvSpPr txBox="1">
            <a:spLocks/>
          </p:cNvSpPr>
          <p:nvPr/>
        </p:nvSpPr>
        <p:spPr>
          <a:xfrm>
            <a:off x="1498993" y="1270507"/>
            <a:ext cx="2646045" cy="4898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100" b="1" kern="0" dirty="0">
                <a:solidFill>
                  <a:sysClr val="windowText" lastClr="000000"/>
                </a:solidFill>
              </a:rPr>
              <a:t>UDP</a:t>
            </a:r>
            <a:r>
              <a:rPr lang="en-US" sz="3100" b="1" kern="0" spc="-65" dirty="0">
                <a:solidFill>
                  <a:sysClr val="windowText" lastClr="000000"/>
                </a:solidFill>
              </a:rPr>
              <a:t> </a:t>
            </a:r>
            <a:r>
              <a:rPr lang="en-US" sz="3100" b="1" kern="0" spc="-5" dirty="0">
                <a:solidFill>
                  <a:sysClr val="windowText" lastClr="000000"/>
                </a:solidFill>
              </a:rPr>
              <a:t>Protocol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٤٦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98993" y="1270507"/>
            <a:ext cx="35934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UDP</a:t>
            </a:r>
            <a:r>
              <a:rPr spc="-80" dirty="0"/>
              <a:t> </a:t>
            </a:r>
            <a:r>
              <a:rPr spc="-5" dirty="0"/>
              <a:t>Reassembles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22300" y="2019934"/>
            <a:ext cx="9677400" cy="4097147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48920" marR="564515" indent="-236220">
              <a:lnSpc>
                <a:spcPts val="2740"/>
              </a:lnSpc>
              <a:spcBef>
                <a:spcPts val="30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UDP does not keep track of sequence </a:t>
            </a:r>
            <a:r>
              <a:rPr sz="2400" dirty="0">
                <a:latin typeface="Arial"/>
                <a:cs typeface="Arial"/>
              </a:rPr>
              <a:t>numbers </a:t>
            </a:r>
            <a:r>
              <a:rPr sz="2400" spc="-5" dirty="0">
                <a:latin typeface="Arial"/>
                <a:cs typeface="Arial"/>
              </a:rPr>
              <a:t>the  way TCP does. </a:t>
            </a:r>
            <a:endParaRPr lang="en-US" sz="2400" spc="-5" dirty="0">
              <a:latin typeface="Arial"/>
              <a:cs typeface="Arial"/>
            </a:endParaRPr>
          </a:p>
          <a:p>
            <a:pPr marL="248920" marR="564515" indent="-236220">
              <a:lnSpc>
                <a:spcPts val="2740"/>
              </a:lnSpc>
              <a:spcBef>
                <a:spcPts val="30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10" dirty="0">
                <a:latin typeface="Arial"/>
                <a:cs typeface="Arial"/>
              </a:rPr>
              <a:t>UDP </a:t>
            </a:r>
            <a:r>
              <a:rPr sz="2400" spc="-5" dirty="0">
                <a:latin typeface="Arial"/>
                <a:cs typeface="Arial"/>
              </a:rPr>
              <a:t>has no way to reorder the  datagrams into their transmission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order.</a:t>
            </a:r>
            <a:endParaRPr sz="2400" dirty="0">
              <a:latin typeface="Arial"/>
              <a:cs typeface="Arial"/>
            </a:endParaRPr>
          </a:p>
          <a:p>
            <a:pPr marL="248920" marR="431800" indent="-236220">
              <a:lnSpc>
                <a:spcPts val="2740"/>
              </a:lnSpc>
              <a:spcBef>
                <a:spcPts val="1430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UDP simply reassembles the data in the order that it  was</a:t>
            </a:r>
            <a:r>
              <a:rPr lang="en-US" sz="2400" spc="-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received and forwards it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the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application.</a:t>
            </a:r>
            <a:endParaRPr sz="2400" dirty="0">
              <a:latin typeface="Arial"/>
              <a:cs typeface="Arial"/>
            </a:endParaRPr>
          </a:p>
          <a:p>
            <a:pPr marL="248920" marR="5080" indent="-236220">
              <a:lnSpc>
                <a:spcPct val="95100"/>
              </a:lnSpc>
              <a:spcBef>
                <a:spcPts val="136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endParaRPr lang="en-US" sz="2400" spc="-5" dirty="0">
              <a:latin typeface="Arial"/>
              <a:cs typeface="Arial"/>
            </a:endParaRPr>
          </a:p>
          <a:p>
            <a:pPr marL="248920" marR="5080" indent="-236220">
              <a:lnSpc>
                <a:spcPct val="95100"/>
              </a:lnSpc>
              <a:spcBef>
                <a:spcPts val="136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If the sequence of the data is important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10" dirty="0">
                <a:latin typeface="Arial"/>
                <a:cs typeface="Arial"/>
              </a:rPr>
              <a:t>the  </a:t>
            </a:r>
            <a:r>
              <a:rPr sz="2400" spc="-5" dirty="0">
                <a:latin typeface="Arial"/>
                <a:cs typeface="Arial"/>
              </a:rPr>
              <a:t>application, </a:t>
            </a:r>
            <a:r>
              <a:rPr sz="2400" b="1" spc="-5" dirty="0">
                <a:latin typeface="Arial"/>
                <a:cs typeface="Arial"/>
              </a:rPr>
              <a:t>the application will have </a:t>
            </a:r>
            <a:r>
              <a:rPr sz="2400" b="1" dirty="0">
                <a:latin typeface="Arial"/>
                <a:cs typeface="Arial"/>
              </a:rPr>
              <a:t>to </a:t>
            </a:r>
            <a:r>
              <a:rPr sz="2400" b="1" spc="-5" dirty="0">
                <a:latin typeface="Arial"/>
                <a:cs typeface="Arial"/>
              </a:rPr>
              <a:t>identify the  proper sequence of the data </a:t>
            </a:r>
            <a:r>
              <a:rPr sz="2400" b="1" spc="-10" dirty="0">
                <a:latin typeface="Arial"/>
                <a:cs typeface="Arial"/>
              </a:rPr>
              <a:t>and </a:t>
            </a:r>
            <a:r>
              <a:rPr sz="2400" b="1" spc="-5" dirty="0">
                <a:latin typeface="Arial"/>
                <a:cs typeface="Arial"/>
              </a:rPr>
              <a:t>determine </a:t>
            </a:r>
            <a:r>
              <a:rPr sz="2400" b="1" spc="-15" dirty="0">
                <a:latin typeface="Arial"/>
                <a:cs typeface="Arial"/>
              </a:rPr>
              <a:t>how </a:t>
            </a:r>
            <a:r>
              <a:rPr sz="2400" b="1" spc="-10" dirty="0">
                <a:latin typeface="Arial"/>
                <a:cs typeface="Arial"/>
              </a:rPr>
              <a:t>the  </a:t>
            </a:r>
            <a:r>
              <a:rPr sz="2400" b="1" spc="-5" dirty="0">
                <a:latin typeface="Arial"/>
                <a:cs typeface="Arial"/>
              </a:rPr>
              <a:t>data should be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processed</a:t>
            </a:r>
            <a:r>
              <a:rPr sz="2400" spc="-5" dirty="0"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٤٧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98993" y="1270507"/>
            <a:ext cx="26460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UDP</a:t>
            </a:r>
            <a:r>
              <a:rPr spc="-65" dirty="0"/>
              <a:t> </a:t>
            </a:r>
            <a:r>
              <a:rPr spc="-5" dirty="0"/>
              <a:t>Protocol</a:t>
            </a:r>
          </a:p>
        </p:txBody>
      </p:sp>
      <p:sp>
        <p:nvSpPr>
          <p:cNvPr id="7" name="object 7"/>
          <p:cNvSpPr/>
          <p:nvPr/>
        </p:nvSpPr>
        <p:spPr>
          <a:xfrm>
            <a:off x="1612901" y="2271649"/>
            <a:ext cx="7315199" cy="45546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٤٨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50900" y="1234945"/>
            <a:ext cx="61658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UDP </a:t>
            </a:r>
            <a:r>
              <a:rPr spc="-5" dirty="0"/>
              <a:t>Protocol </a:t>
            </a:r>
            <a:r>
              <a:rPr dirty="0"/>
              <a:t>– Port</a:t>
            </a:r>
            <a:r>
              <a:rPr spc="-85" dirty="0"/>
              <a:t> </a:t>
            </a:r>
            <a:r>
              <a:rPr spc="-5" dirty="0"/>
              <a:t>Number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50900" y="2005965"/>
            <a:ext cx="8915400" cy="10864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48920" marR="5080" indent="-236220">
              <a:lnSpc>
                <a:spcPts val="2740"/>
              </a:lnSpc>
              <a:spcBef>
                <a:spcPts val="30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lang="en-US" sz="2400" spc="-5" dirty="0">
                <a:latin typeface="Arial"/>
                <a:cs typeface="Arial"/>
              </a:rPr>
              <a:t>S</a:t>
            </a:r>
            <a:r>
              <a:rPr sz="2400" spc="-5" dirty="0">
                <a:latin typeface="Arial"/>
                <a:cs typeface="Arial"/>
              </a:rPr>
              <a:t>ervers use port numbers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identify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specified  application layer process and direct segments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the  proper service or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application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73686" y="3307968"/>
            <a:ext cx="5892414" cy="412788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٤٩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UDP</a:t>
            </a:r>
            <a:r>
              <a:rPr spc="-65" dirty="0"/>
              <a:t> </a:t>
            </a:r>
            <a:r>
              <a:rPr spc="-5" dirty="0"/>
              <a:t>Protocol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74073" y="2048510"/>
            <a:ext cx="9140950" cy="73914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48920" marR="5080" indent="-236220">
              <a:lnSpc>
                <a:spcPts val="2740"/>
              </a:lnSpc>
              <a:spcBef>
                <a:spcPts val="305"/>
              </a:spcBef>
              <a:buClr>
                <a:srgbClr val="6F8CA1"/>
              </a:buClr>
              <a:buFont typeface="Wingdings"/>
              <a:buChar char=""/>
              <a:tabLst>
                <a:tab pos="248920" algn="l"/>
              </a:tabLst>
            </a:pPr>
            <a:r>
              <a:rPr sz="2400" spc="-5" dirty="0">
                <a:latin typeface="Arial"/>
                <a:cs typeface="Arial"/>
              </a:rPr>
              <a:t>Trace the steps as the </a:t>
            </a:r>
            <a:r>
              <a:rPr sz="2400" spc="-10" dirty="0">
                <a:latin typeface="Arial"/>
                <a:cs typeface="Arial"/>
              </a:rPr>
              <a:t>UDP </a:t>
            </a:r>
            <a:r>
              <a:rPr sz="2400" spc="-5" dirty="0">
                <a:latin typeface="Arial"/>
                <a:cs typeface="Arial"/>
              </a:rPr>
              <a:t>protocol and </a:t>
            </a:r>
            <a:r>
              <a:rPr sz="2400" dirty="0">
                <a:latin typeface="Arial"/>
                <a:cs typeface="Arial"/>
              </a:rPr>
              <a:t>port </a:t>
            </a:r>
            <a:r>
              <a:rPr sz="2400" spc="-5" dirty="0">
                <a:latin typeface="Arial"/>
                <a:cs typeface="Arial"/>
              </a:rPr>
              <a:t>numbers  are utilized in client-server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communication.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4883" y="3092450"/>
            <a:ext cx="8080247" cy="43174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>
          <a:xfrm>
            <a:off x="980722" y="419806"/>
            <a:ext cx="8647994" cy="492443"/>
          </a:xfrm>
        </p:spPr>
        <p:txBody>
          <a:bodyPr/>
          <a:lstStyle/>
          <a:p>
            <a:pPr algn="ctr" eaLnBrk="1" hangingPunct="1"/>
            <a:r>
              <a:rPr lang="en-GB"/>
              <a:t>Denial of Service Attacks</a:t>
            </a:r>
          </a:p>
        </p:txBody>
      </p:sp>
      <p:sp>
        <p:nvSpPr>
          <p:cNvPr id="45059" name="Rectangle 3"/>
          <p:cNvSpPr>
            <a:spLocks noChangeArrowheads="1"/>
          </p:cNvSpPr>
          <p:nvPr/>
        </p:nvSpPr>
        <p:spPr bwMode="auto">
          <a:xfrm>
            <a:off x="125608" y="2641991"/>
            <a:ext cx="4449939" cy="1007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03789" indent="-503789">
              <a:spcBef>
                <a:spcPct val="0"/>
              </a:spcBef>
              <a:buClr>
                <a:schemeClr val="hlink"/>
              </a:buClr>
              <a:buFontTx/>
              <a:buAutoNum type="arabicPeriod"/>
            </a:pPr>
            <a:r>
              <a:rPr kumimoji="1" lang="en-GB" sz="2204" dirty="0">
                <a:latin typeface="Arial Narrow" pitchFamily="34" charset="0"/>
                <a:cs typeface="Arial" charset="0"/>
              </a:rPr>
              <a:t>Hacker initiates a SYN but spoofs the source IP address.</a:t>
            </a:r>
          </a:p>
        </p:txBody>
      </p:sp>
      <p:sp>
        <p:nvSpPr>
          <p:cNvPr id="3080" name="Rectangle 4"/>
          <p:cNvSpPr>
            <a:spLocks noChangeArrowheads="1"/>
          </p:cNvSpPr>
          <p:nvPr/>
        </p:nvSpPr>
        <p:spPr bwMode="auto">
          <a:xfrm>
            <a:off x="560917" y="1091495"/>
            <a:ext cx="9319683" cy="11099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en-GB" sz="2204" dirty="0" err="1">
                <a:cs typeface="Arial" charset="0"/>
              </a:rPr>
              <a:t>DoS</a:t>
            </a:r>
            <a:r>
              <a:rPr kumimoji="1" lang="en-GB" sz="2204" dirty="0">
                <a:cs typeface="Arial" charset="0"/>
              </a:rPr>
              <a:t> attacks are designed to deny services to legitimate users.</a:t>
            </a:r>
          </a:p>
          <a:p>
            <a:pPr algn="l">
              <a:spcBef>
                <a:spcPct val="0"/>
              </a:spcBef>
            </a:pPr>
            <a:r>
              <a:rPr kumimoji="1" lang="en-GB" sz="2204" dirty="0" err="1">
                <a:cs typeface="Arial" charset="0"/>
              </a:rPr>
              <a:t>DoS</a:t>
            </a:r>
            <a:r>
              <a:rPr kumimoji="1" lang="en-GB" sz="2204" dirty="0">
                <a:cs typeface="Arial" charset="0"/>
              </a:rPr>
              <a:t> attacks are used by hackers to overwhelm and crash systems.</a:t>
            </a:r>
          </a:p>
          <a:p>
            <a:pPr algn="l">
              <a:spcBef>
                <a:spcPct val="0"/>
              </a:spcBef>
            </a:pPr>
            <a:r>
              <a:rPr kumimoji="1" lang="en-GB" sz="2204" dirty="0">
                <a:cs typeface="Arial" charset="0"/>
              </a:rPr>
              <a:t>SYN flooding is a </a:t>
            </a:r>
            <a:r>
              <a:rPr kumimoji="1" lang="en-GB" sz="2204" dirty="0" err="1">
                <a:cs typeface="Arial" charset="0"/>
              </a:rPr>
              <a:t>DoS</a:t>
            </a:r>
            <a:r>
              <a:rPr kumimoji="1" lang="en-GB" sz="2204" dirty="0">
                <a:cs typeface="Arial" charset="0"/>
              </a:rPr>
              <a:t> attack that exploits the three way handshake.</a:t>
            </a:r>
          </a:p>
        </p:txBody>
      </p:sp>
      <p:sp>
        <p:nvSpPr>
          <p:cNvPr id="45064" name="Rectangle 8"/>
          <p:cNvSpPr>
            <a:spLocks noChangeArrowheads="1"/>
          </p:cNvSpPr>
          <p:nvPr/>
        </p:nvSpPr>
        <p:spPr bwMode="auto">
          <a:xfrm>
            <a:off x="546922" y="6292850"/>
            <a:ext cx="9515593" cy="11099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1" hangingPunct="1">
              <a:spcBef>
                <a:spcPct val="0"/>
              </a:spcBef>
            </a:pPr>
            <a:r>
              <a:rPr kumimoji="1" lang="en-GB" sz="2204">
                <a:cs typeface="Arial" charset="0"/>
              </a:rPr>
              <a:t>To defend against these attacks, decrease the connection timeout period and increase the connection queue size. Software also exists that can detect these types of attacks and initiate defensive measures.</a:t>
            </a:r>
          </a:p>
        </p:txBody>
      </p:sp>
      <p:sp>
        <p:nvSpPr>
          <p:cNvPr id="45065" name="Text Box 9"/>
          <p:cNvSpPr txBox="1">
            <a:spLocks noChangeArrowheads="1"/>
          </p:cNvSpPr>
          <p:nvPr/>
        </p:nvSpPr>
        <p:spPr bwMode="auto">
          <a:xfrm>
            <a:off x="5010856" y="3106562"/>
            <a:ext cx="1261884" cy="363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GB" sz="2204">
                <a:solidFill>
                  <a:schemeClr val="tx2"/>
                </a:solidFill>
                <a:latin typeface="Arial Narrow" pitchFamily="34" charset="0"/>
              </a:rPr>
              <a:t>Send SYN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6438197" y="3274487"/>
            <a:ext cx="3755512" cy="447793"/>
            <a:chOff x="3504" y="1872"/>
            <a:chExt cx="2147" cy="256"/>
          </a:xfrm>
        </p:grpSpPr>
        <p:sp>
          <p:nvSpPr>
            <p:cNvPr id="3106" name="Line 11"/>
            <p:cNvSpPr>
              <a:spLocks noChangeShapeType="1"/>
            </p:cNvSpPr>
            <p:nvPr/>
          </p:nvSpPr>
          <p:spPr bwMode="auto">
            <a:xfrm>
              <a:off x="3504" y="1872"/>
              <a:ext cx="1100" cy="144"/>
            </a:xfrm>
            <a:prstGeom prst="line">
              <a:avLst/>
            </a:prstGeom>
            <a:noFill/>
            <a:ln w="57150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983"/>
            </a:p>
          </p:txBody>
        </p:sp>
        <p:sp>
          <p:nvSpPr>
            <p:cNvPr id="3107" name="Text Box 12"/>
            <p:cNvSpPr txBox="1">
              <a:spLocks noChangeArrowheads="1"/>
            </p:cNvSpPr>
            <p:nvPr/>
          </p:nvSpPr>
          <p:spPr bwMode="auto">
            <a:xfrm>
              <a:off x="4761" y="1920"/>
              <a:ext cx="890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en-GB" sz="2204">
                  <a:solidFill>
                    <a:schemeClr val="tx2"/>
                  </a:solidFill>
                  <a:latin typeface="Arial Narrow" pitchFamily="34" charset="0"/>
                </a:rPr>
                <a:t>Receive SYN</a:t>
              </a:r>
            </a:p>
          </p:txBody>
        </p:sp>
      </p:grpSp>
      <p:sp>
        <p:nvSpPr>
          <p:cNvPr id="45069" name="Text Box 13"/>
          <p:cNvSpPr txBox="1">
            <a:spLocks noChangeArrowheads="1"/>
          </p:cNvSpPr>
          <p:nvPr/>
        </p:nvSpPr>
        <p:spPr bwMode="auto">
          <a:xfrm>
            <a:off x="8453261" y="3862211"/>
            <a:ext cx="1800493" cy="635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GB" sz="2204">
                <a:solidFill>
                  <a:srgbClr val="008080"/>
                </a:solidFill>
                <a:latin typeface="Arial Narrow" pitchFamily="34" charset="0"/>
              </a:rPr>
              <a:t>Send SYN/ACK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GB" sz="2204">
              <a:solidFill>
                <a:srgbClr val="008080"/>
              </a:solidFill>
              <a:latin typeface="Arial Narrow" pitchFamily="34" charset="0"/>
            </a:endParaRPr>
          </a:p>
        </p:txBody>
      </p:sp>
      <p:sp>
        <p:nvSpPr>
          <p:cNvPr id="45070" name="Arc 14"/>
          <p:cNvSpPr>
            <a:spLocks/>
          </p:cNvSpPr>
          <p:nvPr/>
        </p:nvSpPr>
        <p:spPr bwMode="auto">
          <a:xfrm rot="10800000">
            <a:off x="9628717" y="4198056"/>
            <a:ext cx="755650" cy="671689"/>
          </a:xfrm>
          <a:custGeom>
            <a:avLst/>
            <a:gdLst>
              <a:gd name="T0" fmla="*/ 118133802 w 21600"/>
              <a:gd name="T1" fmla="*/ 0 h 21282"/>
              <a:gd name="T2" fmla="*/ 691329076 w 21600"/>
              <a:gd name="T3" fmla="*/ 500161005 h 21282"/>
              <a:gd name="T4" fmla="*/ 0 w 21600"/>
              <a:gd name="T5" fmla="*/ 500161005 h 21282"/>
              <a:gd name="T6" fmla="*/ 0 60000 65536"/>
              <a:gd name="T7" fmla="*/ 0 60000 65536"/>
              <a:gd name="T8" fmla="*/ 0 60000 65536"/>
              <a:gd name="T9" fmla="*/ 0 w 21600"/>
              <a:gd name="T10" fmla="*/ 0 h 21282"/>
              <a:gd name="T11" fmla="*/ 21600 w 21600"/>
              <a:gd name="T12" fmla="*/ 21282 h 212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282" fill="none" extrusionOk="0">
                <a:moveTo>
                  <a:pt x="3691" y="-1"/>
                </a:moveTo>
                <a:cubicBezTo>
                  <a:pt x="14041" y="1794"/>
                  <a:pt x="21600" y="10776"/>
                  <a:pt x="21600" y="21282"/>
                </a:cubicBezTo>
              </a:path>
              <a:path w="21600" h="21282" stroke="0" extrusionOk="0">
                <a:moveTo>
                  <a:pt x="3691" y="-1"/>
                </a:moveTo>
                <a:cubicBezTo>
                  <a:pt x="14041" y="1794"/>
                  <a:pt x="21600" y="10776"/>
                  <a:pt x="21600" y="21282"/>
                </a:cubicBezTo>
                <a:lnTo>
                  <a:pt x="0" y="21282"/>
                </a:lnTo>
                <a:close/>
              </a:path>
            </a:pathLst>
          </a:custGeom>
          <a:noFill/>
          <a:ln w="57150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 sz="1983"/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5262740" y="2266950"/>
            <a:ext cx="3951420" cy="1007533"/>
            <a:chOff x="2736" y="1104"/>
            <a:chExt cx="2595" cy="786"/>
          </a:xfrm>
        </p:grpSpPr>
        <p:graphicFrame>
          <p:nvGraphicFramePr>
            <p:cNvPr id="3074" name="Object 16"/>
            <p:cNvGraphicFramePr>
              <a:graphicFrameLocks noChangeAspect="1"/>
            </p:cNvGraphicFramePr>
            <p:nvPr/>
          </p:nvGraphicFramePr>
          <p:xfrm>
            <a:off x="2736" y="1104"/>
            <a:ext cx="654" cy="6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6" r:id="rId4" imgW="1269841" imgH="1269841" progId="Photoshop.Image.7">
                    <p:embed/>
                  </p:oleObj>
                </mc:Choice>
                <mc:Fallback>
                  <p:oleObj r:id="rId4" imgW="1269841" imgH="1269841" progId="Photoshop.Image.7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1104"/>
                          <a:ext cx="654" cy="65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" name="Object 17"/>
            <p:cNvGraphicFramePr>
              <a:graphicFrameLocks noChangeAspect="1"/>
            </p:cNvGraphicFramePr>
            <p:nvPr/>
          </p:nvGraphicFramePr>
          <p:xfrm>
            <a:off x="4944" y="1104"/>
            <a:ext cx="387" cy="7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7" name="Bitmap Image" r:id="rId6" imgW="914286" imgH="1857143" progId="Paint.Picture">
                    <p:embed/>
                  </p:oleObj>
                </mc:Choice>
                <mc:Fallback>
                  <p:oleObj name="Bitmap Image" r:id="rId6" imgW="914286" imgH="1857143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1104"/>
                          <a:ext cx="387" cy="7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5010855" y="3473450"/>
            <a:ext cx="3351448" cy="1511300"/>
            <a:chOff x="2688" y="2016"/>
            <a:chExt cx="1916" cy="864"/>
          </a:xfrm>
        </p:grpSpPr>
        <p:sp>
          <p:nvSpPr>
            <p:cNvPr id="3096" name="Line 19"/>
            <p:cNvSpPr>
              <a:spLocks noChangeShapeType="1"/>
            </p:cNvSpPr>
            <p:nvPr/>
          </p:nvSpPr>
          <p:spPr bwMode="auto">
            <a:xfrm>
              <a:off x="3504" y="2160"/>
              <a:ext cx="1100" cy="14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983"/>
            </a:p>
          </p:txBody>
        </p:sp>
        <p:sp>
          <p:nvSpPr>
            <p:cNvPr id="3097" name="Line 20"/>
            <p:cNvSpPr>
              <a:spLocks noChangeShapeType="1"/>
            </p:cNvSpPr>
            <p:nvPr/>
          </p:nvSpPr>
          <p:spPr bwMode="auto">
            <a:xfrm>
              <a:off x="3504" y="2304"/>
              <a:ext cx="1100" cy="14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983"/>
            </a:p>
          </p:txBody>
        </p:sp>
        <p:sp>
          <p:nvSpPr>
            <p:cNvPr id="3098" name="Line 21"/>
            <p:cNvSpPr>
              <a:spLocks noChangeShapeType="1"/>
            </p:cNvSpPr>
            <p:nvPr/>
          </p:nvSpPr>
          <p:spPr bwMode="auto">
            <a:xfrm>
              <a:off x="3504" y="2448"/>
              <a:ext cx="1100" cy="14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983"/>
            </a:p>
          </p:txBody>
        </p:sp>
        <p:sp>
          <p:nvSpPr>
            <p:cNvPr id="3099" name="Line 22"/>
            <p:cNvSpPr>
              <a:spLocks noChangeShapeType="1"/>
            </p:cNvSpPr>
            <p:nvPr/>
          </p:nvSpPr>
          <p:spPr bwMode="auto">
            <a:xfrm>
              <a:off x="3504" y="2592"/>
              <a:ext cx="1100" cy="14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983"/>
            </a:p>
          </p:txBody>
        </p:sp>
        <p:sp>
          <p:nvSpPr>
            <p:cNvPr id="3100" name="Line 23"/>
            <p:cNvSpPr>
              <a:spLocks noChangeShapeType="1"/>
            </p:cNvSpPr>
            <p:nvPr/>
          </p:nvSpPr>
          <p:spPr bwMode="auto">
            <a:xfrm>
              <a:off x="3504" y="2736"/>
              <a:ext cx="1100" cy="14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983"/>
            </a:p>
          </p:txBody>
        </p:sp>
        <p:sp>
          <p:nvSpPr>
            <p:cNvPr id="3101" name="Text Box 24"/>
            <p:cNvSpPr txBox="1">
              <a:spLocks noChangeArrowheads="1"/>
            </p:cNvSpPr>
            <p:nvPr/>
          </p:nvSpPr>
          <p:spPr bwMode="auto">
            <a:xfrm>
              <a:off x="2688" y="2016"/>
              <a:ext cx="721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en-GB" sz="2204">
                  <a:solidFill>
                    <a:srgbClr val="FF0000"/>
                  </a:solidFill>
                  <a:latin typeface="Arial Narrow" pitchFamily="34" charset="0"/>
                </a:rPr>
                <a:t>Send SYN</a:t>
              </a:r>
            </a:p>
          </p:txBody>
        </p:sp>
        <p:sp>
          <p:nvSpPr>
            <p:cNvPr id="3102" name="Text Box 25"/>
            <p:cNvSpPr txBox="1">
              <a:spLocks noChangeArrowheads="1"/>
            </p:cNvSpPr>
            <p:nvPr/>
          </p:nvSpPr>
          <p:spPr bwMode="auto">
            <a:xfrm>
              <a:off x="2688" y="2160"/>
              <a:ext cx="721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en-GB" sz="2204">
                  <a:solidFill>
                    <a:srgbClr val="FF0000"/>
                  </a:solidFill>
                  <a:latin typeface="Arial Narrow" pitchFamily="34" charset="0"/>
                </a:rPr>
                <a:t>Send SYN</a:t>
              </a:r>
            </a:p>
          </p:txBody>
        </p:sp>
        <p:sp>
          <p:nvSpPr>
            <p:cNvPr id="3103" name="Text Box 26"/>
            <p:cNvSpPr txBox="1">
              <a:spLocks noChangeArrowheads="1"/>
            </p:cNvSpPr>
            <p:nvPr/>
          </p:nvSpPr>
          <p:spPr bwMode="auto">
            <a:xfrm>
              <a:off x="2688" y="2304"/>
              <a:ext cx="721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en-GB" sz="2204">
                  <a:solidFill>
                    <a:srgbClr val="FF0000"/>
                  </a:solidFill>
                  <a:latin typeface="Arial Narrow" pitchFamily="34" charset="0"/>
                </a:rPr>
                <a:t>Send SYN</a:t>
              </a:r>
            </a:p>
          </p:txBody>
        </p:sp>
        <p:sp>
          <p:nvSpPr>
            <p:cNvPr id="3104" name="Text Box 27"/>
            <p:cNvSpPr txBox="1">
              <a:spLocks noChangeArrowheads="1"/>
            </p:cNvSpPr>
            <p:nvPr/>
          </p:nvSpPr>
          <p:spPr bwMode="auto">
            <a:xfrm>
              <a:off x="2688" y="2448"/>
              <a:ext cx="721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en-GB" sz="2204">
                  <a:solidFill>
                    <a:srgbClr val="FF0000"/>
                  </a:solidFill>
                  <a:latin typeface="Arial Narrow" pitchFamily="34" charset="0"/>
                </a:rPr>
                <a:t>Send SYN</a:t>
              </a:r>
            </a:p>
          </p:txBody>
        </p:sp>
        <p:sp>
          <p:nvSpPr>
            <p:cNvPr id="3105" name="Text Box 28"/>
            <p:cNvSpPr txBox="1">
              <a:spLocks noChangeArrowheads="1"/>
            </p:cNvSpPr>
            <p:nvPr/>
          </p:nvSpPr>
          <p:spPr bwMode="auto">
            <a:xfrm>
              <a:off x="2688" y="2592"/>
              <a:ext cx="721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en-GB" sz="2204">
                  <a:solidFill>
                    <a:srgbClr val="FF0000"/>
                  </a:solidFill>
                  <a:latin typeface="Arial Narrow" pitchFamily="34" charset="0"/>
                </a:rPr>
                <a:t>Send SYN</a:t>
              </a:r>
            </a:p>
          </p:txBody>
        </p:sp>
      </p:grpSp>
      <p:grpSp>
        <p:nvGrpSpPr>
          <p:cNvPr id="5" name="Group 29"/>
          <p:cNvGrpSpPr>
            <a:grpSpLocks/>
          </p:cNvGrpSpPr>
          <p:nvPr/>
        </p:nvGrpSpPr>
        <p:grpSpPr bwMode="auto">
          <a:xfrm>
            <a:off x="8789106" y="4198056"/>
            <a:ext cx="1511300" cy="1430837"/>
            <a:chOff x="4848" y="2400"/>
            <a:chExt cx="864" cy="818"/>
          </a:xfrm>
        </p:grpSpPr>
        <p:sp>
          <p:nvSpPr>
            <p:cNvPr id="3091" name="Arc 30"/>
            <p:cNvSpPr>
              <a:spLocks/>
            </p:cNvSpPr>
            <p:nvPr/>
          </p:nvSpPr>
          <p:spPr bwMode="auto">
            <a:xfrm rot="10800000">
              <a:off x="5280" y="2400"/>
              <a:ext cx="432" cy="720"/>
            </a:xfrm>
            <a:custGeom>
              <a:avLst/>
              <a:gdLst>
                <a:gd name="T0" fmla="*/ 0 w 21600"/>
                <a:gd name="T1" fmla="*/ 0 h 21282"/>
                <a:gd name="T2" fmla="*/ 0 w 21600"/>
                <a:gd name="T3" fmla="*/ 1 h 21282"/>
                <a:gd name="T4" fmla="*/ 0 w 21600"/>
                <a:gd name="T5" fmla="*/ 1 h 21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282"/>
                <a:gd name="T11" fmla="*/ 21600 w 21600"/>
                <a:gd name="T12" fmla="*/ 21282 h 21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282" fill="none" extrusionOk="0">
                  <a:moveTo>
                    <a:pt x="3691" y="-1"/>
                  </a:moveTo>
                  <a:cubicBezTo>
                    <a:pt x="14041" y="1794"/>
                    <a:pt x="21600" y="10776"/>
                    <a:pt x="21600" y="21282"/>
                  </a:cubicBezTo>
                </a:path>
                <a:path w="21600" h="21282" stroke="0" extrusionOk="0">
                  <a:moveTo>
                    <a:pt x="3691" y="-1"/>
                  </a:moveTo>
                  <a:cubicBezTo>
                    <a:pt x="14041" y="1794"/>
                    <a:pt x="21600" y="10776"/>
                    <a:pt x="21600" y="21282"/>
                  </a:cubicBezTo>
                  <a:lnTo>
                    <a:pt x="0" y="21282"/>
                  </a:lnTo>
                  <a:close/>
                </a:path>
              </a:pathLst>
            </a:custGeom>
            <a:noFill/>
            <a:ln w="5715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US" sz="1983"/>
            </a:p>
          </p:txBody>
        </p:sp>
        <p:sp>
          <p:nvSpPr>
            <p:cNvPr id="3092" name="Arc 31"/>
            <p:cNvSpPr>
              <a:spLocks/>
            </p:cNvSpPr>
            <p:nvPr/>
          </p:nvSpPr>
          <p:spPr bwMode="auto">
            <a:xfrm rot="10800000">
              <a:off x="5232" y="2400"/>
              <a:ext cx="288" cy="818"/>
            </a:xfrm>
            <a:custGeom>
              <a:avLst/>
              <a:gdLst>
                <a:gd name="T0" fmla="*/ 0 w 21600"/>
                <a:gd name="T1" fmla="*/ 0 h 20179"/>
                <a:gd name="T2" fmla="*/ 0 w 21600"/>
                <a:gd name="T3" fmla="*/ 1 h 20179"/>
                <a:gd name="T4" fmla="*/ 0 w 21600"/>
                <a:gd name="T5" fmla="*/ 1 h 2017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0179"/>
                <a:gd name="T11" fmla="*/ 21600 w 21600"/>
                <a:gd name="T12" fmla="*/ 20179 h 2017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0179" fill="none" extrusionOk="0">
                  <a:moveTo>
                    <a:pt x="7704" y="-1"/>
                  </a:moveTo>
                  <a:cubicBezTo>
                    <a:pt x="16071" y="3194"/>
                    <a:pt x="21600" y="11222"/>
                    <a:pt x="21600" y="20179"/>
                  </a:cubicBezTo>
                </a:path>
                <a:path w="21600" h="20179" stroke="0" extrusionOk="0">
                  <a:moveTo>
                    <a:pt x="7704" y="-1"/>
                  </a:moveTo>
                  <a:cubicBezTo>
                    <a:pt x="16071" y="3194"/>
                    <a:pt x="21600" y="11222"/>
                    <a:pt x="21600" y="20179"/>
                  </a:cubicBezTo>
                  <a:lnTo>
                    <a:pt x="0" y="20179"/>
                  </a:lnTo>
                  <a:close/>
                </a:path>
              </a:pathLst>
            </a:custGeom>
            <a:noFill/>
            <a:ln w="5715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US" sz="1983"/>
            </a:p>
          </p:txBody>
        </p:sp>
        <p:sp>
          <p:nvSpPr>
            <p:cNvPr id="3093" name="Arc 32"/>
            <p:cNvSpPr>
              <a:spLocks/>
            </p:cNvSpPr>
            <p:nvPr/>
          </p:nvSpPr>
          <p:spPr bwMode="auto">
            <a:xfrm rot="10800000" flipH="1">
              <a:off x="4992" y="2400"/>
              <a:ext cx="192" cy="768"/>
            </a:xfrm>
            <a:custGeom>
              <a:avLst/>
              <a:gdLst>
                <a:gd name="T0" fmla="*/ 0 w 21600"/>
                <a:gd name="T1" fmla="*/ 0 h 21282"/>
                <a:gd name="T2" fmla="*/ 0 w 21600"/>
                <a:gd name="T3" fmla="*/ 1 h 21282"/>
                <a:gd name="T4" fmla="*/ 0 w 21600"/>
                <a:gd name="T5" fmla="*/ 1 h 21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282"/>
                <a:gd name="T11" fmla="*/ 21600 w 21600"/>
                <a:gd name="T12" fmla="*/ 21282 h 21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282" fill="none" extrusionOk="0">
                  <a:moveTo>
                    <a:pt x="3691" y="-1"/>
                  </a:moveTo>
                  <a:cubicBezTo>
                    <a:pt x="14041" y="1794"/>
                    <a:pt x="21600" y="10776"/>
                    <a:pt x="21600" y="21282"/>
                  </a:cubicBezTo>
                </a:path>
                <a:path w="21600" h="21282" stroke="0" extrusionOk="0">
                  <a:moveTo>
                    <a:pt x="3691" y="-1"/>
                  </a:moveTo>
                  <a:cubicBezTo>
                    <a:pt x="14041" y="1794"/>
                    <a:pt x="21600" y="10776"/>
                    <a:pt x="21600" y="21282"/>
                  </a:cubicBezTo>
                  <a:lnTo>
                    <a:pt x="0" y="21282"/>
                  </a:lnTo>
                  <a:close/>
                </a:path>
              </a:pathLst>
            </a:custGeom>
            <a:noFill/>
            <a:ln w="5715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US" sz="1983"/>
            </a:p>
          </p:txBody>
        </p:sp>
        <p:sp>
          <p:nvSpPr>
            <p:cNvPr id="3094" name="Arc 33"/>
            <p:cNvSpPr>
              <a:spLocks/>
            </p:cNvSpPr>
            <p:nvPr/>
          </p:nvSpPr>
          <p:spPr bwMode="auto">
            <a:xfrm rot="10800000" flipH="1">
              <a:off x="4848" y="2400"/>
              <a:ext cx="288" cy="624"/>
            </a:xfrm>
            <a:custGeom>
              <a:avLst/>
              <a:gdLst>
                <a:gd name="T0" fmla="*/ 0 w 21600"/>
                <a:gd name="T1" fmla="*/ 0 h 21282"/>
                <a:gd name="T2" fmla="*/ 0 w 21600"/>
                <a:gd name="T3" fmla="*/ 1 h 21282"/>
                <a:gd name="T4" fmla="*/ 0 w 21600"/>
                <a:gd name="T5" fmla="*/ 1 h 21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282"/>
                <a:gd name="T11" fmla="*/ 21600 w 21600"/>
                <a:gd name="T12" fmla="*/ 21282 h 21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282" fill="none" extrusionOk="0">
                  <a:moveTo>
                    <a:pt x="3691" y="-1"/>
                  </a:moveTo>
                  <a:cubicBezTo>
                    <a:pt x="14041" y="1794"/>
                    <a:pt x="21600" y="10776"/>
                    <a:pt x="21600" y="21282"/>
                  </a:cubicBezTo>
                </a:path>
                <a:path w="21600" h="21282" stroke="0" extrusionOk="0">
                  <a:moveTo>
                    <a:pt x="3691" y="-1"/>
                  </a:moveTo>
                  <a:cubicBezTo>
                    <a:pt x="14041" y="1794"/>
                    <a:pt x="21600" y="10776"/>
                    <a:pt x="21600" y="21282"/>
                  </a:cubicBezTo>
                  <a:lnTo>
                    <a:pt x="0" y="21282"/>
                  </a:lnTo>
                  <a:close/>
                </a:path>
              </a:pathLst>
            </a:custGeom>
            <a:noFill/>
            <a:ln w="5715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US" sz="1983"/>
            </a:p>
          </p:txBody>
        </p:sp>
        <p:sp>
          <p:nvSpPr>
            <p:cNvPr id="3095" name="Arc 34"/>
            <p:cNvSpPr>
              <a:spLocks/>
            </p:cNvSpPr>
            <p:nvPr/>
          </p:nvSpPr>
          <p:spPr bwMode="auto">
            <a:xfrm rot="10800000" flipH="1">
              <a:off x="4848" y="2400"/>
              <a:ext cx="240" cy="432"/>
            </a:xfrm>
            <a:custGeom>
              <a:avLst/>
              <a:gdLst>
                <a:gd name="T0" fmla="*/ 0 w 21600"/>
                <a:gd name="T1" fmla="*/ 0 h 21282"/>
                <a:gd name="T2" fmla="*/ 0 w 21600"/>
                <a:gd name="T3" fmla="*/ 0 h 21282"/>
                <a:gd name="T4" fmla="*/ 0 w 21600"/>
                <a:gd name="T5" fmla="*/ 0 h 212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282"/>
                <a:gd name="T11" fmla="*/ 21600 w 21600"/>
                <a:gd name="T12" fmla="*/ 21282 h 212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282" fill="none" extrusionOk="0">
                  <a:moveTo>
                    <a:pt x="3691" y="-1"/>
                  </a:moveTo>
                  <a:cubicBezTo>
                    <a:pt x="14041" y="1794"/>
                    <a:pt x="21600" y="10776"/>
                    <a:pt x="21600" y="21282"/>
                  </a:cubicBezTo>
                </a:path>
                <a:path w="21600" h="21282" stroke="0" extrusionOk="0">
                  <a:moveTo>
                    <a:pt x="3691" y="-1"/>
                  </a:moveTo>
                  <a:cubicBezTo>
                    <a:pt x="14041" y="1794"/>
                    <a:pt x="21600" y="10776"/>
                    <a:pt x="21600" y="21282"/>
                  </a:cubicBezTo>
                  <a:lnTo>
                    <a:pt x="0" y="21282"/>
                  </a:lnTo>
                  <a:close/>
                </a:path>
              </a:pathLst>
            </a:custGeom>
            <a:noFill/>
            <a:ln w="5715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US" sz="1983"/>
            </a:p>
          </p:txBody>
        </p:sp>
      </p:grpSp>
      <p:sp>
        <p:nvSpPr>
          <p:cNvPr id="45091" name="Rectangle 35"/>
          <p:cNvSpPr>
            <a:spLocks noChangeArrowheads="1"/>
          </p:cNvSpPr>
          <p:nvPr/>
        </p:nvSpPr>
        <p:spPr bwMode="auto">
          <a:xfrm>
            <a:off x="118533" y="3477735"/>
            <a:ext cx="4449939" cy="770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03789" indent="-503789">
              <a:buClr>
                <a:schemeClr val="hlink"/>
              </a:buClr>
              <a:buFontTx/>
              <a:buAutoNum type="arabicPeriod" startAt="2"/>
            </a:pPr>
            <a:r>
              <a:rPr kumimoji="1" lang="en-GB" sz="2204" dirty="0">
                <a:latin typeface="Arial Narrow" pitchFamily="34" charset="0"/>
                <a:cs typeface="Arial" charset="0"/>
              </a:rPr>
              <a:t>Target replies to the unreachable IP address and waits for final ACK.</a:t>
            </a:r>
          </a:p>
        </p:txBody>
      </p:sp>
      <p:sp>
        <p:nvSpPr>
          <p:cNvPr id="45092" name="Rectangle 36"/>
          <p:cNvSpPr>
            <a:spLocks noChangeArrowheads="1"/>
          </p:cNvSpPr>
          <p:nvPr/>
        </p:nvSpPr>
        <p:spPr bwMode="auto">
          <a:xfrm>
            <a:off x="98438" y="4407958"/>
            <a:ext cx="4365978" cy="1788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03789" indent="-503789">
              <a:buClr>
                <a:schemeClr val="hlink"/>
              </a:buClr>
              <a:buFontTx/>
              <a:buAutoNum type="arabicPeriod" startAt="3"/>
            </a:pPr>
            <a:r>
              <a:rPr kumimoji="1" lang="en-GB" sz="2204" dirty="0">
                <a:latin typeface="Arial Narrow" pitchFamily="34" charset="0"/>
                <a:cs typeface="Arial" charset="0"/>
              </a:rPr>
              <a:t>Hackers floods target with false SYN requests tying up its connection resources, preventing it from responding to legitimate connection requests.</a:t>
            </a:r>
          </a:p>
        </p:txBody>
      </p:sp>
    </p:spTree>
    <p:extLst>
      <p:ext uri="{BB962C8B-B14F-4D97-AF65-F5344CB8AC3E}">
        <p14:creationId xmlns:p14="http://schemas.microsoft.com/office/powerpoint/2010/main" val="525588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autoUpdateAnimBg="0"/>
      <p:bldP spid="45064" grpId="0" autoUpdateAnimBg="0"/>
      <p:bldP spid="45065" grpId="0" autoUpdateAnimBg="0"/>
      <p:bldP spid="45069" grpId="0" autoUpdateAnimBg="0"/>
      <p:bldP spid="45070" grpId="0" animBg="1"/>
      <p:bldP spid="45091" grpId="0" autoUpdateAnimBg="0"/>
      <p:bldP spid="45092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3751439" y="6884811"/>
            <a:ext cx="3190522" cy="503767"/>
          </a:xfrm>
          <a:prstGeom prst="rect">
            <a:avLst/>
          </a:prstGeom>
          <a:noFill/>
        </p:spPr>
        <p:txBody>
          <a:bodyPr/>
          <a:lstStyle/>
          <a:p>
            <a:r>
              <a:rPr lang="en-US"/>
              <a:t>Dr. Muazzam A. Khan</a:t>
            </a:r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529689" y="6884811"/>
            <a:ext cx="2350911" cy="503767"/>
          </a:xfrm>
          <a:prstGeom prst="rect">
            <a:avLst/>
          </a:prstGeom>
          <a:noFill/>
        </p:spPr>
        <p:txBody>
          <a:bodyPr/>
          <a:lstStyle/>
          <a:p>
            <a:fld id="{5A1EA5E5-0736-40D8-8612-3142ED24EDB1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812800" y="419806"/>
            <a:ext cx="9067800" cy="678327"/>
          </a:xfrm>
        </p:spPr>
        <p:txBody>
          <a:bodyPr/>
          <a:lstStyle/>
          <a:p>
            <a:pPr algn="ctr" eaLnBrk="1" hangingPunct="1"/>
            <a:r>
              <a:rPr lang="en-US" sz="4408"/>
              <a:t>UDP Port Numbers</a:t>
            </a:r>
          </a:p>
        </p:txBody>
      </p:sp>
      <p:sp>
        <p:nvSpPr>
          <p:cNvPr id="22533" name="AutoShape 5"/>
          <p:cNvSpPr>
            <a:spLocks noChangeArrowheads="1"/>
          </p:cNvSpPr>
          <p:nvPr/>
        </p:nvSpPr>
        <p:spPr bwMode="auto">
          <a:xfrm flipV="1">
            <a:off x="1316567" y="1175456"/>
            <a:ext cx="8324395" cy="6088930"/>
          </a:xfrm>
          <a:prstGeom prst="roundRect">
            <a:avLst>
              <a:gd name="adj" fmla="val 0"/>
            </a:avLst>
          </a:prstGeom>
          <a:solidFill>
            <a:srgbClr val="FFFF99"/>
          </a:solidFill>
          <a:ln w="1841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983"/>
          </a:p>
        </p:txBody>
      </p:sp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1367294" y="1259417"/>
            <a:ext cx="9008328" cy="5917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523031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00" dirty="0">
                <a:latin typeface="+mj-lt"/>
              </a:rPr>
              <a:t>Echo			7		Echo user datagram back to user</a:t>
            </a:r>
          </a:p>
          <a:p>
            <a:pPr defTabSz="523031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00" dirty="0">
                <a:latin typeface="+mj-lt"/>
              </a:rPr>
              <a:t>Discard		9		Discard user datagrams</a:t>
            </a:r>
          </a:p>
          <a:p>
            <a:pPr defTabSz="523031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00" dirty="0">
                <a:latin typeface="+mj-lt"/>
              </a:rPr>
              <a:t>Daytime		13		Report time in a user friendly fashion</a:t>
            </a:r>
          </a:p>
          <a:p>
            <a:pPr defTabSz="523031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00" dirty="0">
                <a:latin typeface="+mj-lt"/>
              </a:rPr>
              <a:t>Quote		17		Return "Quote of the day"</a:t>
            </a:r>
          </a:p>
          <a:p>
            <a:pPr defTabSz="523031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00" dirty="0" err="1">
                <a:latin typeface="+mj-lt"/>
              </a:rPr>
              <a:t>Chargen</a:t>
            </a:r>
            <a:r>
              <a:rPr lang="en-US" sz="1900" dirty="0">
                <a:latin typeface="+mj-lt"/>
              </a:rPr>
              <a:t>		19		Character generator</a:t>
            </a:r>
          </a:p>
          <a:p>
            <a:pPr defTabSz="523031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00" dirty="0" err="1">
                <a:latin typeface="+mj-lt"/>
              </a:rPr>
              <a:t>Nameserver</a:t>
            </a:r>
            <a:r>
              <a:rPr lang="en-US" sz="1900" dirty="0">
                <a:latin typeface="+mj-lt"/>
              </a:rPr>
              <a:t>	53		Domain Name Server</a:t>
            </a:r>
          </a:p>
          <a:p>
            <a:pPr defTabSz="523031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00" dirty="0" err="1">
                <a:latin typeface="+mj-lt"/>
              </a:rPr>
              <a:t>Sql</a:t>
            </a:r>
            <a:r>
              <a:rPr lang="en-US" sz="1900" dirty="0">
                <a:latin typeface="+mj-lt"/>
              </a:rPr>
              <a:t>-Net		66		Oracle Sequel Network</a:t>
            </a:r>
          </a:p>
          <a:p>
            <a:pPr defTabSz="523031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00" dirty="0">
                <a:latin typeface="+mj-lt"/>
              </a:rPr>
              <a:t>BOOTPS		67		Server port to download configuration information</a:t>
            </a:r>
          </a:p>
          <a:p>
            <a:pPr defTabSz="523031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00" dirty="0">
                <a:latin typeface="+mj-lt"/>
              </a:rPr>
              <a:t>BOOTPC		68		Client port to receive configuration information</a:t>
            </a:r>
          </a:p>
          <a:p>
            <a:pPr defTabSz="523031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00" dirty="0">
                <a:latin typeface="+mj-lt"/>
              </a:rPr>
              <a:t>TFTP		          69		Trivial File Transport Protocol</a:t>
            </a:r>
          </a:p>
          <a:p>
            <a:pPr defTabSz="523031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00" dirty="0">
                <a:latin typeface="+mj-lt"/>
              </a:rPr>
              <a:t>POP3		110		Post Office Protocol - V3</a:t>
            </a:r>
          </a:p>
          <a:p>
            <a:pPr defTabSz="523031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00" dirty="0" err="1">
                <a:latin typeface="+mj-lt"/>
              </a:rPr>
              <a:t>SunRPC</a:t>
            </a:r>
            <a:r>
              <a:rPr lang="en-US" sz="1900" dirty="0">
                <a:latin typeface="+mj-lt"/>
              </a:rPr>
              <a:t>		111		Sun Remote Procedure Call</a:t>
            </a:r>
          </a:p>
          <a:p>
            <a:pPr defTabSz="523031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00" dirty="0">
                <a:latin typeface="+mj-lt"/>
              </a:rPr>
              <a:t>NTP			123		Network Time Protocol</a:t>
            </a:r>
          </a:p>
          <a:p>
            <a:pPr defTabSz="523031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00" dirty="0">
                <a:latin typeface="+mj-lt"/>
              </a:rPr>
              <a:t>SNMP		161		Used to receive network management  queries</a:t>
            </a:r>
          </a:p>
          <a:p>
            <a:pPr defTabSz="523031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00" dirty="0">
                <a:latin typeface="+mj-lt"/>
              </a:rPr>
              <a:t>SNMP-trap	162		Used to receive network problem reports.</a:t>
            </a:r>
          </a:p>
          <a:p>
            <a:pPr defTabSz="523031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00" dirty="0">
                <a:latin typeface="+mj-lt"/>
              </a:rPr>
              <a:t>IRC			194		Internet Relay Chat</a:t>
            </a:r>
          </a:p>
          <a:p>
            <a:pPr defTabSz="523031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00" dirty="0">
                <a:latin typeface="+mj-lt"/>
              </a:rPr>
              <a:t>IPX			213		IPX - IP Tunneling</a:t>
            </a:r>
          </a:p>
          <a:p>
            <a:pPr defTabSz="523031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00" dirty="0" err="1">
                <a:latin typeface="+mj-lt"/>
              </a:rPr>
              <a:t>SysLog</a:t>
            </a:r>
            <a:r>
              <a:rPr lang="en-US" sz="1900" dirty="0">
                <a:latin typeface="+mj-lt"/>
              </a:rPr>
              <a:t>		514		System Log</a:t>
            </a:r>
          </a:p>
          <a:p>
            <a:pPr defTabSz="523031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00" dirty="0">
                <a:latin typeface="+mj-lt"/>
              </a:rPr>
              <a:t>RIP			520		Routing Information Protocol</a:t>
            </a:r>
          </a:p>
          <a:p>
            <a:pPr defTabSz="523031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00" dirty="0">
                <a:latin typeface="+mj-lt"/>
              </a:rPr>
              <a:t>NFS			2049		Network File Service</a:t>
            </a:r>
          </a:p>
        </p:txBody>
      </p:sp>
      <p:sp>
        <p:nvSpPr>
          <p:cNvPr id="22535" name="Line 7"/>
          <p:cNvSpPr>
            <a:spLocks noChangeShapeType="1"/>
          </p:cNvSpPr>
          <p:nvPr/>
        </p:nvSpPr>
        <p:spPr bwMode="auto">
          <a:xfrm>
            <a:off x="2757899" y="1175456"/>
            <a:ext cx="0" cy="6067940"/>
          </a:xfrm>
          <a:prstGeom prst="line">
            <a:avLst/>
          </a:prstGeom>
          <a:noFill/>
          <a:ln w="18454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983"/>
          </a:p>
        </p:txBody>
      </p:sp>
      <p:sp>
        <p:nvSpPr>
          <p:cNvPr id="22536" name="Line 8"/>
          <p:cNvSpPr>
            <a:spLocks noChangeShapeType="1"/>
          </p:cNvSpPr>
          <p:nvPr/>
        </p:nvSpPr>
        <p:spPr bwMode="auto">
          <a:xfrm>
            <a:off x="3709458" y="1187700"/>
            <a:ext cx="0" cy="6064441"/>
          </a:xfrm>
          <a:prstGeom prst="line">
            <a:avLst/>
          </a:prstGeom>
          <a:noFill/>
          <a:ln w="18454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983"/>
          </a:p>
        </p:txBody>
      </p:sp>
    </p:spTree>
    <p:extLst>
      <p:ext uri="{BB962C8B-B14F-4D97-AF65-F5344CB8AC3E}">
        <p14:creationId xmlns:p14="http://schemas.microsoft.com/office/powerpoint/2010/main" val="13829009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6700" y="1111250"/>
            <a:ext cx="5066907" cy="492443"/>
          </a:xfrm>
        </p:spPr>
        <p:txBody>
          <a:bodyPr/>
          <a:lstStyle/>
          <a:p>
            <a:r>
              <a:rPr lang="en-US" dirty="0"/>
              <a:t>TCP vs UDP</a:t>
            </a:r>
          </a:p>
        </p:txBody>
      </p:sp>
      <p:graphicFrame>
        <p:nvGraphicFramePr>
          <p:cNvPr id="3" name="Group 5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828488"/>
              </p:ext>
            </p:extLst>
          </p:nvPr>
        </p:nvGraphicFramePr>
        <p:xfrm>
          <a:off x="1155700" y="1873250"/>
          <a:ext cx="8686800" cy="5181602"/>
        </p:xfrm>
        <a:graphic>
          <a:graphicData uri="http://schemas.openxmlformats.org/drawingml/2006/table">
            <a:tbl>
              <a:tblPr/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11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TCP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UDP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Connection-oriented delivery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Connectionless delivery, faster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3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Uses windows and ACKs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 windows or ACKs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3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Full header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Smaller header, less overhead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2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Sequencing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 sequencing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3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Provides reliability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Relies on app layer protocols for reliability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32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FTP, HTTP, SMTP, and DNS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DNS, TFTP, SNMP, and DHCP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04344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751439" y="6884811"/>
            <a:ext cx="3190522" cy="503767"/>
          </a:xfrm>
          <a:prstGeom prst="rect">
            <a:avLst/>
          </a:prstGeom>
          <a:noFill/>
        </p:spPr>
        <p:txBody>
          <a:bodyPr/>
          <a:lstStyle/>
          <a:p>
            <a:r>
              <a:rPr lang="en-US"/>
              <a:t>Dr. Muazzam A. Khan</a:t>
            </a:r>
          </a:p>
        </p:txBody>
      </p:sp>
      <p:sp>
        <p:nvSpPr>
          <p:cNvPr id="12291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529689" y="6884811"/>
            <a:ext cx="2350911" cy="503767"/>
          </a:xfrm>
          <a:prstGeom prst="rect">
            <a:avLst/>
          </a:prstGeom>
          <a:noFill/>
        </p:spPr>
        <p:txBody>
          <a:bodyPr/>
          <a:lstStyle/>
          <a:p>
            <a:fld id="{BDED1C7C-DC82-4186-B92F-C0FC94AB99AA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12292" name="AutoShape 2"/>
          <p:cNvSpPr>
            <a:spLocks noChangeArrowheads="1"/>
          </p:cNvSpPr>
          <p:nvPr/>
        </p:nvSpPr>
        <p:spPr bwMode="auto">
          <a:xfrm flipV="1">
            <a:off x="1568450" y="1259417"/>
            <a:ext cx="7778648" cy="5457472"/>
          </a:xfrm>
          <a:prstGeom prst="roundRect">
            <a:avLst>
              <a:gd name="adj" fmla="val 0"/>
            </a:avLst>
          </a:prstGeom>
          <a:solidFill>
            <a:srgbClr val="FFFF99"/>
          </a:solidFill>
          <a:ln w="1841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983"/>
          </a:p>
        </p:txBody>
      </p:sp>
      <p:sp>
        <p:nvSpPr>
          <p:cNvPr id="12293" name="Text Box 4"/>
          <p:cNvSpPr txBox="1">
            <a:spLocks noChangeArrowheads="1"/>
          </p:cNvSpPr>
          <p:nvPr/>
        </p:nvSpPr>
        <p:spPr bwMode="auto">
          <a:xfrm>
            <a:off x="1794097" y="1861138"/>
            <a:ext cx="7838119" cy="4591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468803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83" dirty="0">
                <a:solidFill>
                  <a:srgbClr val="000000"/>
                </a:solidFill>
              </a:rPr>
              <a:t>9		Discard			Discard all incoming data port</a:t>
            </a:r>
          </a:p>
          <a:p>
            <a:pPr defTabSz="468803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83" dirty="0">
                <a:solidFill>
                  <a:srgbClr val="000000"/>
                </a:solidFill>
              </a:rPr>
              <a:t>7		Echo			Echo</a:t>
            </a:r>
          </a:p>
          <a:p>
            <a:pPr defTabSz="468803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83" dirty="0">
                <a:solidFill>
                  <a:srgbClr val="000000"/>
                </a:solidFill>
              </a:rPr>
              <a:t>19		</a:t>
            </a:r>
            <a:r>
              <a:rPr lang="en-US" sz="1983" dirty="0" err="1">
                <a:solidFill>
                  <a:srgbClr val="000000"/>
                </a:solidFill>
              </a:rPr>
              <a:t>Chargen</a:t>
            </a:r>
            <a:r>
              <a:rPr lang="en-US" sz="1983" dirty="0">
                <a:solidFill>
                  <a:srgbClr val="000000"/>
                </a:solidFill>
              </a:rPr>
              <a:t>		        Exchange streams of data port</a:t>
            </a:r>
          </a:p>
          <a:p>
            <a:pPr defTabSz="468803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83" dirty="0">
                <a:solidFill>
                  <a:srgbClr val="000000"/>
                </a:solidFill>
              </a:rPr>
              <a:t>20		FTP-Data		        File transfer data port</a:t>
            </a:r>
          </a:p>
          <a:p>
            <a:pPr defTabSz="468803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83" dirty="0">
                <a:solidFill>
                  <a:srgbClr val="000000"/>
                </a:solidFill>
              </a:rPr>
              <a:t>21		FTP-CMD		File transfer command port</a:t>
            </a:r>
          </a:p>
          <a:p>
            <a:pPr defTabSz="468803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83" dirty="0">
                <a:solidFill>
                  <a:srgbClr val="000000"/>
                </a:solidFill>
              </a:rPr>
              <a:t>23		Telnet			Telnet remote login port</a:t>
            </a:r>
          </a:p>
          <a:p>
            <a:pPr defTabSz="468803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83" dirty="0">
                <a:solidFill>
                  <a:srgbClr val="000000"/>
                </a:solidFill>
              </a:rPr>
              <a:t>25		SMTP			Simple Mail Transfer Protocol port</a:t>
            </a:r>
          </a:p>
          <a:p>
            <a:pPr defTabSz="468803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83" dirty="0">
                <a:solidFill>
                  <a:srgbClr val="000000"/>
                </a:solidFill>
              </a:rPr>
              <a:t>53		DOMAIN		        Domain Name Service</a:t>
            </a:r>
          </a:p>
          <a:p>
            <a:pPr defTabSz="468803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83" dirty="0">
                <a:solidFill>
                  <a:srgbClr val="000000"/>
                </a:solidFill>
              </a:rPr>
              <a:t>79		Finger			Obtains information about active users</a:t>
            </a:r>
          </a:p>
          <a:p>
            <a:pPr defTabSz="468803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83" dirty="0">
                <a:solidFill>
                  <a:srgbClr val="000000"/>
                </a:solidFill>
              </a:rPr>
              <a:t>80		HTTP			Hypertext Transfer Protocol port</a:t>
            </a:r>
          </a:p>
          <a:p>
            <a:pPr defTabSz="468803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83" dirty="0">
                <a:solidFill>
                  <a:srgbClr val="000000"/>
                </a:solidFill>
              </a:rPr>
              <a:t>88		Kerberos		        Authentication Protocol</a:t>
            </a:r>
          </a:p>
          <a:p>
            <a:pPr defTabSz="468803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83" dirty="0">
                <a:solidFill>
                  <a:srgbClr val="000000"/>
                </a:solidFill>
              </a:rPr>
              <a:t>110		POP3			PC Mail retrieval service port</a:t>
            </a:r>
          </a:p>
          <a:p>
            <a:pPr defTabSz="468803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83" dirty="0">
                <a:solidFill>
                  <a:srgbClr val="000000"/>
                </a:solidFill>
              </a:rPr>
              <a:t>119		NNTP			Network news access port</a:t>
            </a:r>
          </a:p>
          <a:p>
            <a:pPr defTabSz="468803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83" dirty="0">
                <a:solidFill>
                  <a:srgbClr val="000000"/>
                </a:solidFill>
              </a:rPr>
              <a:t>161		SMTP			Network Management</a:t>
            </a:r>
          </a:p>
          <a:p>
            <a:pPr defTabSz="468803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83" dirty="0">
                <a:solidFill>
                  <a:srgbClr val="000000"/>
                </a:solidFill>
              </a:rPr>
              <a:t>179		BGP			        Border Gateway Protocol</a:t>
            </a:r>
          </a:p>
          <a:p>
            <a:pPr defTabSz="468803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983" dirty="0">
                <a:solidFill>
                  <a:srgbClr val="000000"/>
                </a:solidFill>
              </a:rPr>
              <a:t>513		Rlogin			Remote Login In</a:t>
            </a:r>
          </a:p>
        </p:txBody>
      </p:sp>
      <p:sp>
        <p:nvSpPr>
          <p:cNvPr id="12294" name="Text Box 5"/>
          <p:cNvSpPr txBox="1">
            <a:spLocks noChangeArrowheads="1"/>
          </p:cNvSpPr>
          <p:nvPr/>
        </p:nvSpPr>
        <p:spPr bwMode="auto">
          <a:xfrm>
            <a:off x="1718880" y="1492060"/>
            <a:ext cx="7528513" cy="381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defTabSz="468803">
              <a:spcBef>
                <a:spcPct val="0"/>
              </a:spcBef>
              <a:buClr>
                <a:srgbClr val="000000"/>
              </a:buClr>
              <a:buSzPct val="90000"/>
            </a:pPr>
            <a:r>
              <a:rPr lang="en-US" sz="1763">
                <a:solidFill>
                  <a:srgbClr val="000000"/>
                </a:solidFill>
              </a:rPr>
              <a:t>Port		Application					Description</a:t>
            </a:r>
            <a:endParaRPr lang="en-US" sz="2424">
              <a:latin typeface="Times New Roman" pitchFamily="18" charset="0"/>
            </a:endParaRPr>
          </a:p>
        </p:txBody>
      </p:sp>
      <p:sp>
        <p:nvSpPr>
          <p:cNvPr id="12295" name="Line 6"/>
          <p:cNvSpPr>
            <a:spLocks noChangeShapeType="1"/>
          </p:cNvSpPr>
          <p:nvPr/>
        </p:nvSpPr>
        <p:spPr bwMode="auto">
          <a:xfrm>
            <a:off x="1577197" y="1812161"/>
            <a:ext cx="7748911" cy="0"/>
          </a:xfrm>
          <a:prstGeom prst="line">
            <a:avLst/>
          </a:prstGeom>
          <a:noFill/>
          <a:ln w="18454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983"/>
          </a:p>
        </p:txBody>
      </p:sp>
      <p:sp>
        <p:nvSpPr>
          <p:cNvPr id="12296" name="Line 7"/>
          <p:cNvSpPr>
            <a:spLocks noChangeShapeType="1"/>
          </p:cNvSpPr>
          <p:nvPr/>
        </p:nvSpPr>
        <p:spPr bwMode="auto">
          <a:xfrm>
            <a:off x="2374900" y="1258124"/>
            <a:ext cx="12244" cy="5333279"/>
          </a:xfrm>
          <a:prstGeom prst="line">
            <a:avLst/>
          </a:prstGeom>
          <a:noFill/>
          <a:ln w="18454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983"/>
          </a:p>
        </p:txBody>
      </p:sp>
      <p:sp>
        <p:nvSpPr>
          <p:cNvPr id="12297" name="Line 8"/>
          <p:cNvSpPr>
            <a:spLocks noChangeShapeType="1"/>
          </p:cNvSpPr>
          <p:nvPr/>
        </p:nvSpPr>
        <p:spPr bwMode="auto">
          <a:xfrm flipH="1">
            <a:off x="4339167" y="1266414"/>
            <a:ext cx="6997" cy="5366514"/>
          </a:xfrm>
          <a:prstGeom prst="line">
            <a:avLst/>
          </a:prstGeom>
          <a:noFill/>
          <a:ln w="18454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983"/>
          </a:p>
        </p:txBody>
      </p:sp>
      <p:sp>
        <p:nvSpPr>
          <p:cNvPr id="12298" name="Rectangle 10"/>
          <p:cNvSpPr>
            <a:spLocks noGrp="1" noChangeArrowheads="1"/>
          </p:cNvSpPr>
          <p:nvPr>
            <p:ph type="title"/>
          </p:nvPr>
        </p:nvSpPr>
        <p:spPr>
          <a:xfrm>
            <a:off x="1008944" y="439850"/>
            <a:ext cx="8871656" cy="549405"/>
          </a:xfrm>
        </p:spPr>
        <p:txBody>
          <a:bodyPr/>
          <a:lstStyle/>
          <a:p>
            <a:pPr eaLnBrk="1" hangingPunct="1"/>
            <a:r>
              <a:rPr lang="en-US" dirty="0"/>
              <a:t>Some Well-Known TCP Ports</a:t>
            </a:r>
          </a:p>
        </p:txBody>
      </p:sp>
    </p:spTree>
    <p:extLst>
      <p:ext uri="{BB962C8B-B14F-4D97-AF65-F5344CB8AC3E}">
        <p14:creationId xmlns:p14="http://schemas.microsoft.com/office/powerpoint/2010/main" val="1097135403"/>
      </p:ext>
    </p:extLst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٥٠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98993" y="1270507"/>
            <a:ext cx="90551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Q</a:t>
            </a:r>
            <a:r>
              <a:rPr spc="-5" dirty="0"/>
              <a:t>u</a:t>
            </a:r>
            <a:r>
              <a:rPr spc="-20" dirty="0"/>
              <a:t>i</a:t>
            </a:r>
            <a:r>
              <a:rPr dirty="0"/>
              <a:t>z</a:t>
            </a:r>
          </a:p>
        </p:txBody>
      </p:sp>
      <p:sp>
        <p:nvSpPr>
          <p:cNvPr id="7" name="object 7"/>
          <p:cNvSpPr/>
          <p:nvPr/>
        </p:nvSpPr>
        <p:spPr>
          <a:xfrm>
            <a:off x="931043" y="2741676"/>
            <a:ext cx="8987026" cy="37277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٥١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03027" y="2292095"/>
            <a:ext cx="9115042" cy="2971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٥٢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2196083"/>
            <a:ext cx="9143996" cy="3165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٥٣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2048256"/>
            <a:ext cx="9143996" cy="34610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٥٤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073" y="2453639"/>
            <a:ext cx="9143996" cy="26487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٥٥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68787" y="2278379"/>
            <a:ext cx="8557259" cy="30708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٥٦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15190" y="1136903"/>
            <a:ext cx="7312152" cy="59786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٥٧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1335" y="2203704"/>
            <a:ext cx="8683752" cy="31333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1889" y="7000745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D3D3D3"/>
                </a:solidFill>
                <a:latin typeface="Arial"/>
                <a:cs typeface="Arial"/>
              </a:rPr>
              <a:t>٥٨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073" y="348995"/>
            <a:ext cx="9140950" cy="68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2519" y="7046465"/>
            <a:ext cx="188213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© 2007 Cisco Systems, Inc. All rights</a:t>
            </a:r>
            <a:r>
              <a:rPr sz="700" spc="35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6892" y="7046465"/>
            <a:ext cx="51180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Cisco</a:t>
            </a:r>
            <a:r>
              <a:rPr sz="700" spc="-60" dirty="0">
                <a:solidFill>
                  <a:srgbClr val="D3D3D3"/>
                </a:solidFill>
                <a:latin typeface="Arial"/>
                <a:cs typeface="Arial"/>
              </a:rPr>
              <a:t> </a:t>
            </a:r>
            <a:r>
              <a:rPr sz="700" spc="-5" dirty="0">
                <a:solidFill>
                  <a:srgbClr val="D3D3D3"/>
                </a:solidFill>
                <a:latin typeface="Arial"/>
                <a:cs typeface="Arial"/>
              </a:rPr>
              <a:t>Public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87118" y="4049267"/>
            <a:ext cx="173990" cy="655320"/>
          </a:xfrm>
          <a:custGeom>
            <a:avLst/>
            <a:gdLst/>
            <a:ahLst/>
            <a:cxnLst/>
            <a:rect l="l" t="t" r="r" b="b"/>
            <a:pathLst>
              <a:path w="173989" h="655320">
                <a:moveTo>
                  <a:pt x="0" y="0"/>
                </a:moveTo>
                <a:lnTo>
                  <a:pt x="0" y="655320"/>
                </a:lnTo>
                <a:lnTo>
                  <a:pt x="173736" y="655320"/>
                </a:lnTo>
                <a:lnTo>
                  <a:pt x="173736" y="0"/>
                </a:lnTo>
                <a:lnTo>
                  <a:pt x="0" y="0"/>
                </a:lnTo>
                <a:close/>
              </a:path>
            </a:pathLst>
          </a:custGeom>
          <a:solidFill>
            <a:srgbClr val="B1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597530" y="4030980"/>
            <a:ext cx="502920" cy="693420"/>
          </a:xfrm>
          <a:custGeom>
            <a:avLst/>
            <a:gdLst/>
            <a:ahLst/>
            <a:cxnLst/>
            <a:rect l="l" t="t" r="r" b="b"/>
            <a:pathLst>
              <a:path w="502920" h="693420">
                <a:moveTo>
                  <a:pt x="502920" y="207264"/>
                </a:moveTo>
                <a:lnTo>
                  <a:pt x="502920" y="25908"/>
                </a:lnTo>
                <a:lnTo>
                  <a:pt x="483036" y="21859"/>
                </a:lnTo>
                <a:lnTo>
                  <a:pt x="451294" y="12954"/>
                </a:lnTo>
                <a:lnTo>
                  <a:pt x="408408" y="4048"/>
                </a:lnTo>
                <a:lnTo>
                  <a:pt x="355092" y="0"/>
                </a:lnTo>
                <a:lnTo>
                  <a:pt x="304245" y="2994"/>
                </a:lnTo>
                <a:lnTo>
                  <a:pt x="256293" y="11761"/>
                </a:lnTo>
                <a:lnTo>
                  <a:pt x="211526" y="25979"/>
                </a:lnTo>
                <a:lnTo>
                  <a:pt x="170236" y="45324"/>
                </a:lnTo>
                <a:lnTo>
                  <a:pt x="132714" y="69475"/>
                </a:lnTo>
                <a:lnTo>
                  <a:pt x="99250" y="98107"/>
                </a:lnTo>
                <a:lnTo>
                  <a:pt x="70136" y="130899"/>
                </a:lnTo>
                <a:lnTo>
                  <a:pt x="45663" y="167527"/>
                </a:lnTo>
                <a:lnTo>
                  <a:pt x="26122" y="207668"/>
                </a:lnTo>
                <a:lnTo>
                  <a:pt x="11803" y="251001"/>
                </a:lnTo>
                <a:lnTo>
                  <a:pt x="2999" y="297202"/>
                </a:lnTo>
                <a:lnTo>
                  <a:pt x="0" y="345948"/>
                </a:lnTo>
                <a:lnTo>
                  <a:pt x="3348" y="398245"/>
                </a:lnTo>
                <a:lnTo>
                  <a:pt x="13073" y="446828"/>
                </a:lnTo>
                <a:lnTo>
                  <a:pt x="28694" y="491537"/>
                </a:lnTo>
                <a:lnTo>
                  <a:pt x="49727" y="532214"/>
                </a:lnTo>
                <a:lnTo>
                  <a:pt x="75692" y="568700"/>
                </a:lnTo>
                <a:lnTo>
                  <a:pt x="106108" y="600837"/>
                </a:lnTo>
                <a:lnTo>
                  <a:pt x="140492" y="628464"/>
                </a:lnTo>
                <a:lnTo>
                  <a:pt x="178364" y="651425"/>
                </a:lnTo>
                <a:lnTo>
                  <a:pt x="181356" y="652752"/>
                </a:lnTo>
                <a:lnTo>
                  <a:pt x="181356" y="345948"/>
                </a:lnTo>
                <a:lnTo>
                  <a:pt x="187600" y="297095"/>
                </a:lnTo>
                <a:lnTo>
                  <a:pt x="205401" y="254846"/>
                </a:lnTo>
                <a:lnTo>
                  <a:pt x="233362" y="220218"/>
                </a:lnTo>
                <a:lnTo>
                  <a:pt x="270086" y="194225"/>
                </a:lnTo>
                <a:lnTo>
                  <a:pt x="314176" y="177884"/>
                </a:lnTo>
                <a:lnTo>
                  <a:pt x="364236" y="172212"/>
                </a:lnTo>
                <a:lnTo>
                  <a:pt x="418695" y="176403"/>
                </a:lnTo>
                <a:lnTo>
                  <a:pt x="462724" y="186309"/>
                </a:lnTo>
                <a:lnTo>
                  <a:pt x="492180" y="197929"/>
                </a:lnTo>
                <a:lnTo>
                  <a:pt x="502920" y="207264"/>
                </a:lnTo>
                <a:close/>
              </a:path>
              <a:path w="502920" h="693420">
                <a:moveTo>
                  <a:pt x="502920" y="667512"/>
                </a:moveTo>
                <a:lnTo>
                  <a:pt x="502920" y="484632"/>
                </a:lnTo>
                <a:lnTo>
                  <a:pt x="488322" y="493966"/>
                </a:lnTo>
                <a:lnTo>
                  <a:pt x="459295" y="505587"/>
                </a:lnTo>
                <a:lnTo>
                  <a:pt x="417409" y="515493"/>
                </a:lnTo>
                <a:lnTo>
                  <a:pt x="364236" y="519684"/>
                </a:lnTo>
                <a:lnTo>
                  <a:pt x="311531" y="513482"/>
                </a:lnTo>
                <a:lnTo>
                  <a:pt x="266700" y="495977"/>
                </a:lnTo>
                <a:lnTo>
                  <a:pt x="230505" y="468820"/>
                </a:lnTo>
                <a:lnTo>
                  <a:pt x="203708" y="433662"/>
                </a:lnTo>
                <a:lnTo>
                  <a:pt x="187071" y="392154"/>
                </a:lnTo>
                <a:lnTo>
                  <a:pt x="181356" y="345948"/>
                </a:lnTo>
                <a:lnTo>
                  <a:pt x="181356" y="652752"/>
                </a:lnTo>
                <a:lnTo>
                  <a:pt x="219241" y="669559"/>
                </a:lnTo>
                <a:lnTo>
                  <a:pt x="262643" y="682709"/>
                </a:lnTo>
                <a:lnTo>
                  <a:pt x="308087" y="690715"/>
                </a:lnTo>
                <a:lnTo>
                  <a:pt x="355092" y="693420"/>
                </a:lnTo>
                <a:lnTo>
                  <a:pt x="405193" y="690443"/>
                </a:lnTo>
                <a:lnTo>
                  <a:pt x="448437" y="683323"/>
                </a:lnTo>
                <a:lnTo>
                  <a:pt x="481965" y="674774"/>
                </a:lnTo>
                <a:lnTo>
                  <a:pt x="502920" y="667512"/>
                </a:lnTo>
                <a:close/>
              </a:path>
            </a:pathLst>
          </a:custGeom>
          <a:solidFill>
            <a:srgbClr val="B1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60170" y="4030980"/>
            <a:ext cx="502920" cy="693420"/>
          </a:xfrm>
          <a:custGeom>
            <a:avLst/>
            <a:gdLst/>
            <a:ahLst/>
            <a:cxnLst/>
            <a:rect l="l" t="t" r="r" b="b"/>
            <a:pathLst>
              <a:path w="502920" h="693420">
                <a:moveTo>
                  <a:pt x="502920" y="207264"/>
                </a:moveTo>
                <a:lnTo>
                  <a:pt x="502920" y="25908"/>
                </a:lnTo>
                <a:lnTo>
                  <a:pt x="482488" y="21859"/>
                </a:lnTo>
                <a:lnTo>
                  <a:pt x="448056" y="12954"/>
                </a:lnTo>
                <a:lnTo>
                  <a:pt x="402193" y="4048"/>
                </a:lnTo>
                <a:lnTo>
                  <a:pt x="347472" y="0"/>
                </a:lnTo>
                <a:lnTo>
                  <a:pt x="298696" y="2994"/>
                </a:lnTo>
                <a:lnTo>
                  <a:pt x="252412" y="11761"/>
                </a:lnTo>
                <a:lnTo>
                  <a:pt x="208954" y="25979"/>
                </a:lnTo>
                <a:lnTo>
                  <a:pt x="168656" y="45324"/>
                </a:lnTo>
                <a:lnTo>
                  <a:pt x="131849" y="69475"/>
                </a:lnTo>
                <a:lnTo>
                  <a:pt x="98869" y="98107"/>
                </a:lnTo>
                <a:lnTo>
                  <a:pt x="70048" y="130899"/>
                </a:lnTo>
                <a:lnTo>
                  <a:pt x="45720" y="167527"/>
                </a:lnTo>
                <a:lnTo>
                  <a:pt x="26217" y="207668"/>
                </a:lnTo>
                <a:lnTo>
                  <a:pt x="11874" y="251001"/>
                </a:lnTo>
                <a:lnTo>
                  <a:pt x="3024" y="297202"/>
                </a:lnTo>
                <a:lnTo>
                  <a:pt x="0" y="345948"/>
                </a:lnTo>
                <a:lnTo>
                  <a:pt x="3344" y="398245"/>
                </a:lnTo>
                <a:lnTo>
                  <a:pt x="13038" y="446828"/>
                </a:lnTo>
                <a:lnTo>
                  <a:pt x="28575" y="491537"/>
                </a:lnTo>
                <a:lnTo>
                  <a:pt x="49445" y="532214"/>
                </a:lnTo>
                <a:lnTo>
                  <a:pt x="75141" y="568700"/>
                </a:lnTo>
                <a:lnTo>
                  <a:pt x="105156" y="600837"/>
                </a:lnTo>
                <a:lnTo>
                  <a:pt x="138980" y="628464"/>
                </a:lnTo>
                <a:lnTo>
                  <a:pt x="176106" y="651425"/>
                </a:lnTo>
                <a:lnTo>
                  <a:pt x="182880" y="654502"/>
                </a:lnTo>
                <a:lnTo>
                  <a:pt x="182880" y="345948"/>
                </a:lnTo>
                <a:lnTo>
                  <a:pt x="188482" y="297095"/>
                </a:lnTo>
                <a:lnTo>
                  <a:pt x="204836" y="254846"/>
                </a:lnTo>
                <a:lnTo>
                  <a:pt x="231267" y="220218"/>
                </a:lnTo>
                <a:lnTo>
                  <a:pt x="267095" y="194225"/>
                </a:lnTo>
                <a:lnTo>
                  <a:pt x="311643" y="177884"/>
                </a:lnTo>
                <a:lnTo>
                  <a:pt x="364236" y="172212"/>
                </a:lnTo>
                <a:lnTo>
                  <a:pt x="417409" y="176403"/>
                </a:lnTo>
                <a:lnTo>
                  <a:pt x="459295" y="186309"/>
                </a:lnTo>
                <a:lnTo>
                  <a:pt x="488322" y="197929"/>
                </a:lnTo>
                <a:lnTo>
                  <a:pt x="502920" y="207264"/>
                </a:lnTo>
                <a:close/>
              </a:path>
              <a:path w="502920" h="693420">
                <a:moveTo>
                  <a:pt x="502920" y="667512"/>
                </a:moveTo>
                <a:lnTo>
                  <a:pt x="502920" y="484632"/>
                </a:lnTo>
                <a:lnTo>
                  <a:pt x="488322" y="493966"/>
                </a:lnTo>
                <a:lnTo>
                  <a:pt x="459295" y="505587"/>
                </a:lnTo>
                <a:lnTo>
                  <a:pt x="417409" y="515493"/>
                </a:lnTo>
                <a:lnTo>
                  <a:pt x="364236" y="519684"/>
                </a:lnTo>
                <a:lnTo>
                  <a:pt x="311643" y="513482"/>
                </a:lnTo>
                <a:lnTo>
                  <a:pt x="267095" y="495977"/>
                </a:lnTo>
                <a:lnTo>
                  <a:pt x="231267" y="468820"/>
                </a:lnTo>
                <a:lnTo>
                  <a:pt x="204836" y="433662"/>
                </a:lnTo>
                <a:lnTo>
                  <a:pt x="188482" y="392154"/>
                </a:lnTo>
                <a:lnTo>
                  <a:pt x="182880" y="345948"/>
                </a:lnTo>
                <a:lnTo>
                  <a:pt x="182880" y="654502"/>
                </a:lnTo>
                <a:lnTo>
                  <a:pt x="216027" y="669559"/>
                </a:lnTo>
                <a:lnTo>
                  <a:pt x="258233" y="682709"/>
                </a:lnTo>
                <a:lnTo>
                  <a:pt x="302217" y="690715"/>
                </a:lnTo>
                <a:lnTo>
                  <a:pt x="347472" y="693420"/>
                </a:lnTo>
                <a:lnTo>
                  <a:pt x="402193" y="690443"/>
                </a:lnTo>
                <a:lnTo>
                  <a:pt x="448056" y="683323"/>
                </a:lnTo>
                <a:lnTo>
                  <a:pt x="482488" y="674774"/>
                </a:lnTo>
                <a:lnTo>
                  <a:pt x="502920" y="667512"/>
                </a:lnTo>
                <a:close/>
              </a:path>
            </a:pathLst>
          </a:custGeom>
          <a:solidFill>
            <a:srgbClr val="B1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81806" y="4030980"/>
            <a:ext cx="688975" cy="693420"/>
          </a:xfrm>
          <a:custGeom>
            <a:avLst/>
            <a:gdLst/>
            <a:ahLst/>
            <a:cxnLst/>
            <a:rect l="l" t="t" r="r" b="b"/>
            <a:pathLst>
              <a:path w="688975" h="693420">
                <a:moveTo>
                  <a:pt x="688848" y="345948"/>
                </a:moveTo>
                <a:lnTo>
                  <a:pt x="686000" y="299122"/>
                </a:lnTo>
                <a:lnTo>
                  <a:pt x="677622" y="254176"/>
                </a:lnTo>
                <a:lnTo>
                  <a:pt x="663963" y="211526"/>
                </a:lnTo>
                <a:lnTo>
                  <a:pt x="645272" y="171591"/>
                </a:lnTo>
                <a:lnTo>
                  <a:pt x="621798" y="134788"/>
                </a:lnTo>
                <a:lnTo>
                  <a:pt x="593788" y="101536"/>
                </a:lnTo>
                <a:lnTo>
                  <a:pt x="561492" y="72253"/>
                </a:lnTo>
                <a:lnTo>
                  <a:pt x="525159" y="47356"/>
                </a:lnTo>
                <a:lnTo>
                  <a:pt x="485036" y="27265"/>
                </a:lnTo>
                <a:lnTo>
                  <a:pt x="441374" y="12396"/>
                </a:lnTo>
                <a:lnTo>
                  <a:pt x="394420" y="3168"/>
                </a:lnTo>
                <a:lnTo>
                  <a:pt x="344424" y="0"/>
                </a:lnTo>
                <a:lnTo>
                  <a:pt x="294107" y="3168"/>
                </a:lnTo>
                <a:lnTo>
                  <a:pt x="246944" y="12396"/>
                </a:lnTo>
                <a:lnTo>
                  <a:pt x="203168" y="27265"/>
                </a:lnTo>
                <a:lnTo>
                  <a:pt x="163011" y="47356"/>
                </a:lnTo>
                <a:lnTo>
                  <a:pt x="126707" y="72253"/>
                </a:lnTo>
                <a:lnTo>
                  <a:pt x="94488" y="101536"/>
                </a:lnTo>
                <a:lnTo>
                  <a:pt x="66586" y="134788"/>
                </a:lnTo>
                <a:lnTo>
                  <a:pt x="43236" y="171591"/>
                </a:lnTo>
                <a:lnTo>
                  <a:pt x="24669" y="211526"/>
                </a:lnTo>
                <a:lnTo>
                  <a:pt x="11119" y="254176"/>
                </a:lnTo>
                <a:lnTo>
                  <a:pt x="2818" y="299122"/>
                </a:lnTo>
                <a:lnTo>
                  <a:pt x="0" y="345948"/>
                </a:lnTo>
                <a:lnTo>
                  <a:pt x="2818" y="392803"/>
                </a:lnTo>
                <a:lnTo>
                  <a:pt x="11119" y="437832"/>
                </a:lnTo>
                <a:lnTo>
                  <a:pt x="24669" y="480607"/>
                </a:lnTo>
                <a:lnTo>
                  <a:pt x="43236" y="520700"/>
                </a:lnTo>
                <a:lnTo>
                  <a:pt x="66586" y="557680"/>
                </a:lnTo>
                <a:lnTo>
                  <a:pt x="94488" y="591121"/>
                </a:lnTo>
                <a:lnTo>
                  <a:pt x="126707" y="620593"/>
                </a:lnTo>
                <a:lnTo>
                  <a:pt x="163011" y="645668"/>
                </a:lnTo>
                <a:lnTo>
                  <a:pt x="172212" y="650307"/>
                </a:lnTo>
                <a:lnTo>
                  <a:pt x="172212" y="345948"/>
                </a:lnTo>
                <a:lnTo>
                  <a:pt x="178300" y="300270"/>
                </a:lnTo>
                <a:lnTo>
                  <a:pt x="195523" y="258910"/>
                </a:lnTo>
                <a:lnTo>
                  <a:pt x="222313" y="223647"/>
                </a:lnTo>
                <a:lnTo>
                  <a:pt x="257104" y="196257"/>
                </a:lnTo>
                <a:lnTo>
                  <a:pt x="298330" y="178519"/>
                </a:lnTo>
                <a:lnTo>
                  <a:pt x="344424" y="172212"/>
                </a:lnTo>
                <a:lnTo>
                  <a:pt x="389988" y="178519"/>
                </a:lnTo>
                <a:lnTo>
                  <a:pt x="431066" y="196257"/>
                </a:lnTo>
                <a:lnTo>
                  <a:pt x="465963" y="223647"/>
                </a:lnTo>
                <a:lnTo>
                  <a:pt x="492985" y="258910"/>
                </a:lnTo>
                <a:lnTo>
                  <a:pt x="510441" y="300270"/>
                </a:lnTo>
                <a:lnTo>
                  <a:pt x="516636" y="345948"/>
                </a:lnTo>
                <a:lnTo>
                  <a:pt x="516636" y="649969"/>
                </a:lnTo>
                <a:lnTo>
                  <a:pt x="525159" y="645668"/>
                </a:lnTo>
                <a:lnTo>
                  <a:pt x="561492" y="620593"/>
                </a:lnTo>
                <a:lnTo>
                  <a:pt x="593788" y="591121"/>
                </a:lnTo>
                <a:lnTo>
                  <a:pt x="621798" y="557680"/>
                </a:lnTo>
                <a:lnTo>
                  <a:pt x="645272" y="520700"/>
                </a:lnTo>
                <a:lnTo>
                  <a:pt x="663963" y="480607"/>
                </a:lnTo>
                <a:lnTo>
                  <a:pt x="677622" y="437832"/>
                </a:lnTo>
                <a:lnTo>
                  <a:pt x="686000" y="392803"/>
                </a:lnTo>
                <a:lnTo>
                  <a:pt x="688848" y="345948"/>
                </a:lnTo>
                <a:close/>
              </a:path>
              <a:path w="688975" h="693420">
                <a:moveTo>
                  <a:pt x="516636" y="649969"/>
                </a:moveTo>
                <a:lnTo>
                  <a:pt x="516636" y="345948"/>
                </a:lnTo>
                <a:lnTo>
                  <a:pt x="510441" y="392154"/>
                </a:lnTo>
                <a:lnTo>
                  <a:pt x="492985" y="433662"/>
                </a:lnTo>
                <a:lnTo>
                  <a:pt x="465963" y="468820"/>
                </a:lnTo>
                <a:lnTo>
                  <a:pt x="431066" y="495977"/>
                </a:lnTo>
                <a:lnTo>
                  <a:pt x="389988" y="513482"/>
                </a:lnTo>
                <a:lnTo>
                  <a:pt x="344424" y="519684"/>
                </a:lnTo>
                <a:lnTo>
                  <a:pt x="298330" y="513482"/>
                </a:lnTo>
                <a:lnTo>
                  <a:pt x="257104" y="495977"/>
                </a:lnTo>
                <a:lnTo>
                  <a:pt x="222313" y="468820"/>
                </a:lnTo>
                <a:lnTo>
                  <a:pt x="195523" y="433662"/>
                </a:lnTo>
                <a:lnTo>
                  <a:pt x="178300" y="392154"/>
                </a:lnTo>
                <a:lnTo>
                  <a:pt x="172212" y="345948"/>
                </a:lnTo>
                <a:lnTo>
                  <a:pt x="172212" y="650307"/>
                </a:lnTo>
                <a:lnTo>
                  <a:pt x="203168" y="665916"/>
                </a:lnTo>
                <a:lnTo>
                  <a:pt x="246944" y="680910"/>
                </a:lnTo>
                <a:lnTo>
                  <a:pt x="294107" y="690221"/>
                </a:lnTo>
                <a:lnTo>
                  <a:pt x="344424" y="693420"/>
                </a:lnTo>
                <a:lnTo>
                  <a:pt x="394420" y="690221"/>
                </a:lnTo>
                <a:lnTo>
                  <a:pt x="441374" y="680910"/>
                </a:lnTo>
                <a:lnTo>
                  <a:pt x="485036" y="665916"/>
                </a:lnTo>
                <a:lnTo>
                  <a:pt x="516636" y="649969"/>
                </a:lnTo>
                <a:close/>
              </a:path>
            </a:pathLst>
          </a:custGeom>
          <a:solidFill>
            <a:srgbClr val="B1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83358" y="4030980"/>
            <a:ext cx="449580" cy="693420"/>
          </a:xfrm>
          <a:custGeom>
            <a:avLst/>
            <a:gdLst/>
            <a:ahLst/>
            <a:cxnLst/>
            <a:rect l="l" t="t" r="r" b="b"/>
            <a:pathLst>
              <a:path w="449579" h="693420">
                <a:moveTo>
                  <a:pt x="406908" y="164592"/>
                </a:moveTo>
                <a:lnTo>
                  <a:pt x="406908" y="25908"/>
                </a:lnTo>
                <a:lnTo>
                  <a:pt x="388262" y="21859"/>
                </a:lnTo>
                <a:lnTo>
                  <a:pt x="350329" y="12954"/>
                </a:lnTo>
                <a:lnTo>
                  <a:pt x="299537" y="4048"/>
                </a:lnTo>
                <a:lnTo>
                  <a:pt x="242316" y="0"/>
                </a:lnTo>
                <a:lnTo>
                  <a:pt x="187273" y="3905"/>
                </a:lnTo>
                <a:lnTo>
                  <a:pt x="138874" y="15240"/>
                </a:lnTo>
                <a:lnTo>
                  <a:pt x="97333" y="33432"/>
                </a:lnTo>
                <a:lnTo>
                  <a:pt x="62865" y="57912"/>
                </a:lnTo>
                <a:lnTo>
                  <a:pt x="35683" y="88106"/>
                </a:lnTo>
                <a:lnTo>
                  <a:pt x="16002" y="123444"/>
                </a:lnTo>
                <a:lnTo>
                  <a:pt x="4036" y="163353"/>
                </a:lnTo>
                <a:lnTo>
                  <a:pt x="0" y="207264"/>
                </a:lnTo>
                <a:lnTo>
                  <a:pt x="6159" y="258776"/>
                </a:lnTo>
                <a:lnTo>
                  <a:pt x="23368" y="301356"/>
                </a:lnTo>
                <a:lnTo>
                  <a:pt x="49720" y="336232"/>
                </a:lnTo>
                <a:lnTo>
                  <a:pt x="83312" y="364631"/>
                </a:lnTo>
                <a:lnTo>
                  <a:pt x="122237" y="387780"/>
                </a:lnTo>
                <a:lnTo>
                  <a:pt x="164592" y="406908"/>
                </a:lnTo>
                <a:lnTo>
                  <a:pt x="173736" y="408005"/>
                </a:lnTo>
                <a:lnTo>
                  <a:pt x="173736" y="198120"/>
                </a:lnTo>
                <a:lnTo>
                  <a:pt x="180284" y="175879"/>
                </a:lnTo>
                <a:lnTo>
                  <a:pt x="199834" y="159639"/>
                </a:lnTo>
                <a:lnTo>
                  <a:pt x="232243" y="149685"/>
                </a:lnTo>
                <a:lnTo>
                  <a:pt x="277368" y="146304"/>
                </a:lnTo>
                <a:lnTo>
                  <a:pt x="308538" y="146589"/>
                </a:lnTo>
                <a:lnTo>
                  <a:pt x="332422" y="148590"/>
                </a:lnTo>
                <a:lnTo>
                  <a:pt x="361164" y="154019"/>
                </a:lnTo>
                <a:lnTo>
                  <a:pt x="406908" y="164592"/>
                </a:lnTo>
                <a:close/>
              </a:path>
              <a:path w="449579" h="693420">
                <a:moveTo>
                  <a:pt x="277368" y="680156"/>
                </a:moveTo>
                <a:lnTo>
                  <a:pt x="277368" y="484632"/>
                </a:lnTo>
                <a:lnTo>
                  <a:pt x="270557" y="508944"/>
                </a:lnTo>
                <a:lnTo>
                  <a:pt x="249174" y="528256"/>
                </a:lnTo>
                <a:lnTo>
                  <a:pt x="211788" y="540996"/>
                </a:lnTo>
                <a:lnTo>
                  <a:pt x="156972" y="545592"/>
                </a:lnTo>
                <a:lnTo>
                  <a:pt x="105441" y="541543"/>
                </a:lnTo>
                <a:lnTo>
                  <a:pt x="58864" y="532591"/>
                </a:lnTo>
                <a:lnTo>
                  <a:pt x="22383" y="523732"/>
                </a:lnTo>
                <a:lnTo>
                  <a:pt x="0" y="519684"/>
                </a:lnTo>
                <a:lnTo>
                  <a:pt x="0" y="667512"/>
                </a:lnTo>
                <a:lnTo>
                  <a:pt x="18930" y="674774"/>
                </a:lnTo>
                <a:lnTo>
                  <a:pt x="58864" y="683323"/>
                </a:lnTo>
                <a:lnTo>
                  <a:pt x="115085" y="690443"/>
                </a:lnTo>
                <a:lnTo>
                  <a:pt x="182880" y="693420"/>
                </a:lnTo>
                <a:lnTo>
                  <a:pt x="223735" y="691103"/>
                </a:lnTo>
                <a:lnTo>
                  <a:pt x="265092" y="683920"/>
                </a:lnTo>
                <a:lnTo>
                  <a:pt x="277368" y="680156"/>
                </a:lnTo>
                <a:close/>
              </a:path>
              <a:path w="449579" h="693420">
                <a:moveTo>
                  <a:pt x="449580" y="467868"/>
                </a:moveTo>
                <a:lnTo>
                  <a:pt x="445897" y="429097"/>
                </a:lnTo>
                <a:lnTo>
                  <a:pt x="434340" y="391385"/>
                </a:lnTo>
                <a:lnTo>
                  <a:pt x="414147" y="356044"/>
                </a:lnTo>
                <a:lnTo>
                  <a:pt x="384556" y="324386"/>
                </a:lnTo>
                <a:lnTo>
                  <a:pt x="344805" y="297723"/>
                </a:lnTo>
                <a:lnTo>
                  <a:pt x="294132" y="277368"/>
                </a:lnTo>
                <a:lnTo>
                  <a:pt x="251460" y="259080"/>
                </a:lnTo>
                <a:lnTo>
                  <a:pt x="228385" y="252555"/>
                </a:lnTo>
                <a:lnTo>
                  <a:pt x="202882" y="242316"/>
                </a:lnTo>
                <a:lnTo>
                  <a:pt x="182237" y="225218"/>
                </a:lnTo>
                <a:lnTo>
                  <a:pt x="173736" y="198120"/>
                </a:lnTo>
                <a:lnTo>
                  <a:pt x="173736" y="408005"/>
                </a:lnTo>
                <a:lnTo>
                  <a:pt x="176498" y="408336"/>
                </a:lnTo>
                <a:lnTo>
                  <a:pt x="185547" y="411480"/>
                </a:lnTo>
                <a:lnTo>
                  <a:pt x="192881" y="414623"/>
                </a:lnTo>
                <a:lnTo>
                  <a:pt x="199644" y="416052"/>
                </a:lnTo>
                <a:lnTo>
                  <a:pt x="229790" y="425053"/>
                </a:lnTo>
                <a:lnTo>
                  <a:pt x="254508" y="440055"/>
                </a:lnTo>
                <a:lnTo>
                  <a:pt x="271224" y="460200"/>
                </a:lnTo>
                <a:lnTo>
                  <a:pt x="277368" y="484632"/>
                </a:lnTo>
                <a:lnTo>
                  <a:pt x="277368" y="680156"/>
                </a:lnTo>
                <a:lnTo>
                  <a:pt x="305533" y="671519"/>
                </a:lnTo>
                <a:lnTo>
                  <a:pt x="343642" y="653549"/>
                </a:lnTo>
                <a:lnTo>
                  <a:pt x="378000" y="629658"/>
                </a:lnTo>
                <a:lnTo>
                  <a:pt x="407190" y="599496"/>
                </a:lnTo>
                <a:lnTo>
                  <a:pt x="429795" y="562711"/>
                </a:lnTo>
                <a:lnTo>
                  <a:pt x="444397" y="518952"/>
                </a:lnTo>
                <a:lnTo>
                  <a:pt x="449580" y="467868"/>
                </a:lnTo>
                <a:close/>
              </a:path>
            </a:pathLst>
          </a:custGeom>
          <a:solidFill>
            <a:srgbClr val="B1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15746" y="3252216"/>
            <a:ext cx="163195" cy="337185"/>
          </a:xfrm>
          <a:custGeom>
            <a:avLst/>
            <a:gdLst/>
            <a:ahLst/>
            <a:cxnLst/>
            <a:rect l="l" t="t" r="r" b="b"/>
            <a:pathLst>
              <a:path w="163195" h="337185">
                <a:moveTo>
                  <a:pt x="163068" y="259080"/>
                </a:moveTo>
                <a:lnTo>
                  <a:pt x="163068" y="86868"/>
                </a:lnTo>
                <a:lnTo>
                  <a:pt x="157138" y="51435"/>
                </a:lnTo>
                <a:lnTo>
                  <a:pt x="140779" y="24003"/>
                </a:lnTo>
                <a:lnTo>
                  <a:pt x="116133" y="6286"/>
                </a:lnTo>
                <a:lnTo>
                  <a:pt x="85344" y="0"/>
                </a:lnTo>
                <a:lnTo>
                  <a:pt x="50792" y="6286"/>
                </a:lnTo>
                <a:lnTo>
                  <a:pt x="23812" y="24003"/>
                </a:lnTo>
                <a:lnTo>
                  <a:pt x="6262" y="51435"/>
                </a:lnTo>
                <a:lnTo>
                  <a:pt x="0" y="86868"/>
                </a:lnTo>
                <a:lnTo>
                  <a:pt x="0" y="259080"/>
                </a:lnTo>
                <a:lnTo>
                  <a:pt x="6262" y="289226"/>
                </a:lnTo>
                <a:lnTo>
                  <a:pt x="23812" y="313944"/>
                </a:lnTo>
                <a:lnTo>
                  <a:pt x="50792" y="330660"/>
                </a:lnTo>
                <a:lnTo>
                  <a:pt x="85344" y="336804"/>
                </a:lnTo>
                <a:lnTo>
                  <a:pt x="116133" y="330660"/>
                </a:lnTo>
                <a:lnTo>
                  <a:pt x="140779" y="313944"/>
                </a:lnTo>
                <a:lnTo>
                  <a:pt x="157138" y="289226"/>
                </a:lnTo>
                <a:lnTo>
                  <a:pt x="163068" y="259080"/>
                </a:lnTo>
                <a:close/>
              </a:path>
            </a:pathLst>
          </a:custGeom>
          <a:solidFill>
            <a:srgbClr val="005F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972946" y="3025140"/>
            <a:ext cx="163195" cy="563880"/>
          </a:xfrm>
          <a:custGeom>
            <a:avLst/>
            <a:gdLst/>
            <a:ahLst/>
            <a:cxnLst/>
            <a:rect l="l" t="t" r="r" b="b"/>
            <a:pathLst>
              <a:path w="163195" h="563879">
                <a:moveTo>
                  <a:pt x="163068" y="486156"/>
                </a:moveTo>
                <a:lnTo>
                  <a:pt x="163068" y="77724"/>
                </a:lnTo>
                <a:lnTo>
                  <a:pt x="155733" y="47577"/>
                </a:lnTo>
                <a:lnTo>
                  <a:pt x="136398" y="22860"/>
                </a:lnTo>
                <a:lnTo>
                  <a:pt x="109061" y="6143"/>
                </a:lnTo>
                <a:lnTo>
                  <a:pt x="77724" y="0"/>
                </a:lnTo>
                <a:lnTo>
                  <a:pt x="47577" y="6143"/>
                </a:lnTo>
                <a:lnTo>
                  <a:pt x="22860" y="22860"/>
                </a:lnTo>
                <a:lnTo>
                  <a:pt x="6143" y="47577"/>
                </a:lnTo>
                <a:lnTo>
                  <a:pt x="0" y="77724"/>
                </a:lnTo>
                <a:lnTo>
                  <a:pt x="0" y="486156"/>
                </a:lnTo>
                <a:lnTo>
                  <a:pt x="6143" y="516302"/>
                </a:lnTo>
                <a:lnTo>
                  <a:pt x="22860" y="541020"/>
                </a:lnTo>
                <a:lnTo>
                  <a:pt x="47577" y="557736"/>
                </a:lnTo>
                <a:lnTo>
                  <a:pt x="77724" y="563880"/>
                </a:lnTo>
                <a:lnTo>
                  <a:pt x="109061" y="557736"/>
                </a:lnTo>
                <a:lnTo>
                  <a:pt x="136398" y="541020"/>
                </a:lnTo>
                <a:lnTo>
                  <a:pt x="155733" y="516302"/>
                </a:lnTo>
                <a:lnTo>
                  <a:pt x="163068" y="486156"/>
                </a:lnTo>
                <a:close/>
              </a:path>
            </a:pathLst>
          </a:custGeom>
          <a:solidFill>
            <a:srgbClr val="005F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24050" y="2714244"/>
            <a:ext cx="163195" cy="1039494"/>
          </a:xfrm>
          <a:custGeom>
            <a:avLst/>
            <a:gdLst/>
            <a:ahLst/>
            <a:cxnLst/>
            <a:rect l="l" t="t" r="r" b="b"/>
            <a:pathLst>
              <a:path w="163195" h="1039495">
                <a:moveTo>
                  <a:pt x="163068" y="961644"/>
                </a:moveTo>
                <a:lnTo>
                  <a:pt x="163068" y="77724"/>
                </a:lnTo>
                <a:lnTo>
                  <a:pt x="156924" y="47577"/>
                </a:lnTo>
                <a:lnTo>
                  <a:pt x="140208" y="22860"/>
                </a:lnTo>
                <a:lnTo>
                  <a:pt x="115490" y="6143"/>
                </a:lnTo>
                <a:lnTo>
                  <a:pt x="85344" y="0"/>
                </a:lnTo>
                <a:lnTo>
                  <a:pt x="54006" y="6143"/>
                </a:lnTo>
                <a:lnTo>
                  <a:pt x="26670" y="22860"/>
                </a:lnTo>
                <a:lnTo>
                  <a:pt x="7334" y="47577"/>
                </a:lnTo>
                <a:lnTo>
                  <a:pt x="0" y="77724"/>
                </a:lnTo>
                <a:lnTo>
                  <a:pt x="0" y="961644"/>
                </a:lnTo>
                <a:lnTo>
                  <a:pt x="7334" y="992433"/>
                </a:lnTo>
                <a:lnTo>
                  <a:pt x="26670" y="1017079"/>
                </a:lnTo>
                <a:lnTo>
                  <a:pt x="54006" y="1033438"/>
                </a:lnTo>
                <a:lnTo>
                  <a:pt x="85344" y="1039368"/>
                </a:lnTo>
                <a:lnTo>
                  <a:pt x="115490" y="1033438"/>
                </a:lnTo>
                <a:lnTo>
                  <a:pt x="140208" y="1017079"/>
                </a:lnTo>
                <a:lnTo>
                  <a:pt x="156924" y="992433"/>
                </a:lnTo>
                <a:lnTo>
                  <a:pt x="163068" y="961644"/>
                </a:lnTo>
                <a:close/>
              </a:path>
            </a:pathLst>
          </a:custGeom>
          <a:solidFill>
            <a:srgbClr val="005F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881250" y="3025140"/>
            <a:ext cx="163195" cy="563880"/>
          </a:xfrm>
          <a:custGeom>
            <a:avLst/>
            <a:gdLst/>
            <a:ahLst/>
            <a:cxnLst/>
            <a:rect l="l" t="t" r="r" b="b"/>
            <a:pathLst>
              <a:path w="163195" h="563879">
                <a:moveTo>
                  <a:pt x="163068" y="486156"/>
                </a:moveTo>
                <a:lnTo>
                  <a:pt x="163068" y="77724"/>
                </a:lnTo>
                <a:lnTo>
                  <a:pt x="156805" y="47577"/>
                </a:lnTo>
                <a:lnTo>
                  <a:pt x="139255" y="22860"/>
                </a:lnTo>
                <a:lnTo>
                  <a:pt x="112275" y="6143"/>
                </a:lnTo>
                <a:lnTo>
                  <a:pt x="77724" y="0"/>
                </a:lnTo>
                <a:lnTo>
                  <a:pt x="46934" y="6143"/>
                </a:lnTo>
                <a:lnTo>
                  <a:pt x="22288" y="22860"/>
                </a:lnTo>
                <a:lnTo>
                  <a:pt x="5929" y="47577"/>
                </a:lnTo>
                <a:lnTo>
                  <a:pt x="0" y="77724"/>
                </a:lnTo>
                <a:lnTo>
                  <a:pt x="0" y="486156"/>
                </a:lnTo>
                <a:lnTo>
                  <a:pt x="5929" y="516302"/>
                </a:lnTo>
                <a:lnTo>
                  <a:pt x="22288" y="541020"/>
                </a:lnTo>
                <a:lnTo>
                  <a:pt x="46934" y="557736"/>
                </a:lnTo>
                <a:lnTo>
                  <a:pt x="77724" y="563880"/>
                </a:lnTo>
                <a:lnTo>
                  <a:pt x="112275" y="557736"/>
                </a:lnTo>
                <a:lnTo>
                  <a:pt x="139255" y="541020"/>
                </a:lnTo>
                <a:lnTo>
                  <a:pt x="156805" y="516302"/>
                </a:lnTo>
                <a:lnTo>
                  <a:pt x="163068" y="486156"/>
                </a:lnTo>
                <a:close/>
              </a:path>
            </a:pathLst>
          </a:custGeom>
          <a:solidFill>
            <a:srgbClr val="005F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329306" y="3252216"/>
            <a:ext cx="172720" cy="337185"/>
          </a:xfrm>
          <a:custGeom>
            <a:avLst/>
            <a:gdLst/>
            <a:ahLst/>
            <a:cxnLst/>
            <a:rect l="l" t="t" r="r" b="b"/>
            <a:pathLst>
              <a:path w="172720" h="337185">
                <a:moveTo>
                  <a:pt x="172212" y="259080"/>
                </a:moveTo>
                <a:lnTo>
                  <a:pt x="172212" y="86868"/>
                </a:lnTo>
                <a:lnTo>
                  <a:pt x="164853" y="51435"/>
                </a:lnTo>
                <a:lnTo>
                  <a:pt x="145351" y="24003"/>
                </a:lnTo>
                <a:lnTo>
                  <a:pt x="117562" y="6286"/>
                </a:lnTo>
                <a:lnTo>
                  <a:pt x="85344" y="0"/>
                </a:lnTo>
                <a:lnTo>
                  <a:pt x="54006" y="6286"/>
                </a:lnTo>
                <a:lnTo>
                  <a:pt x="26670" y="24003"/>
                </a:lnTo>
                <a:lnTo>
                  <a:pt x="7334" y="51435"/>
                </a:lnTo>
                <a:lnTo>
                  <a:pt x="0" y="86868"/>
                </a:lnTo>
                <a:lnTo>
                  <a:pt x="0" y="259080"/>
                </a:lnTo>
                <a:lnTo>
                  <a:pt x="7334" y="289226"/>
                </a:lnTo>
                <a:lnTo>
                  <a:pt x="26670" y="313944"/>
                </a:lnTo>
                <a:lnTo>
                  <a:pt x="54006" y="330660"/>
                </a:lnTo>
                <a:lnTo>
                  <a:pt x="85344" y="336804"/>
                </a:lnTo>
                <a:lnTo>
                  <a:pt x="117562" y="330660"/>
                </a:lnTo>
                <a:lnTo>
                  <a:pt x="145351" y="313944"/>
                </a:lnTo>
                <a:lnTo>
                  <a:pt x="164853" y="289226"/>
                </a:lnTo>
                <a:lnTo>
                  <a:pt x="172212" y="259080"/>
                </a:lnTo>
                <a:close/>
              </a:path>
            </a:pathLst>
          </a:custGeom>
          <a:solidFill>
            <a:srgbClr val="005F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788030" y="3025140"/>
            <a:ext cx="165100" cy="563880"/>
          </a:xfrm>
          <a:custGeom>
            <a:avLst/>
            <a:gdLst/>
            <a:ahLst/>
            <a:cxnLst/>
            <a:rect l="l" t="t" r="r" b="b"/>
            <a:pathLst>
              <a:path w="165100" h="563879">
                <a:moveTo>
                  <a:pt x="164592" y="486156"/>
                </a:moveTo>
                <a:lnTo>
                  <a:pt x="164592" y="77724"/>
                </a:lnTo>
                <a:lnTo>
                  <a:pt x="158448" y="47577"/>
                </a:lnTo>
                <a:lnTo>
                  <a:pt x="141732" y="22860"/>
                </a:lnTo>
                <a:lnTo>
                  <a:pt x="117014" y="6143"/>
                </a:lnTo>
                <a:lnTo>
                  <a:pt x="86868" y="0"/>
                </a:lnTo>
                <a:lnTo>
                  <a:pt x="50792" y="6143"/>
                </a:lnTo>
                <a:lnTo>
                  <a:pt x="23431" y="22860"/>
                </a:lnTo>
                <a:lnTo>
                  <a:pt x="6072" y="47577"/>
                </a:lnTo>
                <a:lnTo>
                  <a:pt x="0" y="77724"/>
                </a:lnTo>
                <a:lnTo>
                  <a:pt x="0" y="486156"/>
                </a:lnTo>
                <a:lnTo>
                  <a:pt x="6072" y="516302"/>
                </a:lnTo>
                <a:lnTo>
                  <a:pt x="23431" y="541020"/>
                </a:lnTo>
                <a:lnTo>
                  <a:pt x="50792" y="557736"/>
                </a:lnTo>
                <a:lnTo>
                  <a:pt x="86868" y="563880"/>
                </a:lnTo>
                <a:lnTo>
                  <a:pt x="117014" y="557736"/>
                </a:lnTo>
                <a:lnTo>
                  <a:pt x="141732" y="541020"/>
                </a:lnTo>
                <a:lnTo>
                  <a:pt x="158448" y="516302"/>
                </a:lnTo>
                <a:lnTo>
                  <a:pt x="164592" y="486156"/>
                </a:lnTo>
                <a:close/>
              </a:path>
            </a:pathLst>
          </a:custGeom>
          <a:solidFill>
            <a:srgbClr val="005F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245230" y="2714244"/>
            <a:ext cx="165100" cy="1039494"/>
          </a:xfrm>
          <a:custGeom>
            <a:avLst/>
            <a:gdLst/>
            <a:ahLst/>
            <a:cxnLst/>
            <a:rect l="l" t="t" r="r" b="b"/>
            <a:pathLst>
              <a:path w="165100" h="1039495">
                <a:moveTo>
                  <a:pt x="164592" y="961644"/>
                </a:moveTo>
                <a:lnTo>
                  <a:pt x="164592" y="77724"/>
                </a:lnTo>
                <a:lnTo>
                  <a:pt x="158305" y="47577"/>
                </a:lnTo>
                <a:lnTo>
                  <a:pt x="140589" y="22860"/>
                </a:lnTo>
                <a:lnTo>
                  <a:pt x="113157" y="6143"/>
                </a:lnTo>
                <a:lnTo>
                  <a:pt x="77724" y="0"/>
                </a:lnTo>
                <a:lnTo>
                  <a:pt x="46934" y="6143"/>
                </a:lnTo>
                <a:lnTo>
                  <a:pt x="22288" y="22860"/>
                </a:lnTo>
                <a:lnTo>
                  <a:pt x="5929" y="47577"/>
                </a:lnTo>
                <a:lnTo>
                  <a:pt x="0" y="77724"/>
                </a:lnTo>
                <a:lnTo>
                  <a:pt x="0" y="961644"/>
                </a:lnTo>
                <a:lnTo>
                  <a:pt x="5929" y="992433"/>
                </a:lnTo>
                <a:lnTo>
                  <a:pt x="22288" y="1017079"/>
                </a:lnTo>
                <a:lnTo>
                  <a:pt x="46934" y="1033438"/>
                </a:lnTo>
                <a:lnTo>
                  <a:pt x="77724" y="1039368"/>
                </a:lnTo>
                <a:lnTo>
                  <a:pt x="113157" y="1033438"/>
                </a:lnTo>
                <a:lnTo>
                  <a:pt x="140589" y="1017079"/>
                </a:lnTo>
                <a:lnTo>
                  <a:pt x="158305" y="992433"/>
                </a:lnTo>
                <a:lnTo>
                  <a:pt x="164592" y="961644"/>
                </a:lnTo>
                <a:close/>
              </a:path>
            </a:pathLst>
          </a:custGeom>
          <a:solidFill>
            <a:srgbClr val="005F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693286" y="3025140"/>
            <a:ext cx="167640" cy="563880"/>
          </a:xfrm>
          <a:custGeom>
            <a:avLst/>
            <a:gdLst/>
            <a:ahLst/>
            <a:cxnLst/>
            <a:rect l="l" t="t" r="r" b="b"/>
            <a:pathLst>
              <a:path w="167640" h="563879">
                <a:moveTo>
                  <a:pt x="167640" y="486156"/>
                </a:moveTo>
                <a:lnTo>
                  <a:pt x="167640" y="77724"/>
                </a:lnTo>
                <a:lnTo>
                  <a:pt x="161472" y="47577"/>
                </a:lnTo>
                <a:lnTo>
                  <a:pt x="144589" y="22860"/>
                </a:lnTo>
                <a:lnTo>
                  <a:pt x="119419" y="6143"/>
                </a:lnTo>
                <a:lnTo>
                  <a:pt x="88392" y="0"/>
                </a:lnTo>
                <a:lnTo>
                  <a:pt x="55935" y="6143"/>
                </a:lnTo>
                <a:lnTo>
                  <a:pt x="27622" y="22860"/>
                </a:lnTo>
                <a:lnTo>
                  <a:pt x="7596" y="47577"/>
                </a:lnTo>
                <a:lnTo>
                  <a:pt x="0" y="77724"/>
                </a:lnTo>
                <a:lnTo>
                  <a:pt x="0" y="486156"/>
                </a:lnTo>
                <a:lnTo>
                  <a:pt x="7596" y="516302"/>
                </a:lnTo>
                <a:lnTo>
                  <a:pt x="27622" y="541020"/>
                </a:lnTo>
                <a:lnTo>
                  <a:pt x="55935" y="557736"/>
                </a:lnTo>
                <a:lnTo>
                  <a:pt x="88392" y="563880"/>
                </a:lnTo>
                <a:lnTo>
                  <a:pt x="119419" y="557736"/>
                </a:lnTo>
                <a:lnTo>
                  <a:pt x="144589" y="541020"/>
                </a:lnTo>
                <a:lnTo>
                  <a:pt x="161472" y="516302"/>
                </a:lnTo>
                <a:lnTo>
                  <a:pt x="167640" y="486156"/>
                </a:lnTo>
                <a:close/>
              </a:path>
            </a:pathLst>
          </a:custGeom>
          <a:solidFill>
            <a:srgbClr val="005F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152009" y="3252216"/>
            <a:ext cx="166370" cy="337185"/>
          </a:xfrm>
          <a:custGeom>
            <a:avLst/>
            <a:gdLst/>
            <a:ahLst/>
            <a:cxnLst/>
            <a:rect l="l" t="t" r="r" b="b"/>
            <a:pathLst>
              <a:path w="166370" h="337185">
                <a:moveTo>
                  <a:pt x="166116" y="259080"/>
                </a:moveTo>
                <a:lnTo>
                  <a:pt x="166116" y="86868"/>
                </a:lnTo>
                <a:lnTo>
                  <a:pt x="159829" y="51435"/>
                </a:lnTo>
                <a:lnTo>
                  <a:pt x="142113" y="24003"/>
                </a:lnTo>
                <a:lnTo>
                  <a:pt x="114681" y="6286"/>
                </a:lnTo>
                <a:lnTo>
                  <a:pt x="79248" y="0"/>
                </a:lnTo>
                <a:lnTo>
                  <a:pt x="48220" y="6286"/>
                </a:lnTo>
                <a:lnTo>
                  <a:pt x="23050" y="24003"/>
                </a:lnTo>
                <a:lnTo>
                  <a:pt x="6167" y="51435"/>
                </a:lnTo>
                <a:lnTo>
                  <a:pt x="0" y="86868"/>
                </a:lnTo>
                <a:lnTo>
                  <a:pt x="0" y="259080"/>
                </a:lnTo>
                <a:lnTo>
                  <a:pt x="6167" y="289226"/>
                </a:lnTo>
                <a:lnTo>
                  <a:pt x="23050" y="313944"/>
                </a:lnTo>
                <a:lnTo>
                  <a:pt x="48220" y="330660"/>
                </a:lnTo>
                <a:lnTo>
                  <a:pt x="79248" y="336804"/>
                </a:lnTo>
                <a:lnTo>
                  <a:pt x="114681" y="330660"/>
                </a:lnTo>
                <a:lnTo>
                  <a:pt x="142113" y="313944"/>
                </a:lnTo>
                <a:lnTo>
                  <a:pt x="159829" y="289226"/>
                </a:lnTo>
                <a:lnTo>
                  <a:pt x="166116" y="259080"/>
                </a:lnTo>
                <a:close/>
              </a:path>
            </a:pathLst>
          </a:custGeom>
          <a:solidFill>
            <a:srgbClr val="005F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74073" y="348996"/>
            <a:ext cx="9144000" cy="685800"/>
          </a:xfrm>
          <a:custGeom>
            <a:avLst/>
            <a:gdLst/>
            <a:ahLst/>
            <a:cxnLst/>
            <a:rect l="l" t="t" r="r" b="b"/>
            <a:pathLst>
              <a:path w="9144000" h="685800">
                <a:moveTo>
                  <a:pt x="0" y="0"/>
                </a:moveTo>
                <a:lnTo>
                  <a:pt x="0" y="685800"/>
                </a:lnTo>
                <a:lnTo>
                  <a:pt x="9144000" y="68580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5272</TotalTime>
  <Words>3002</Words>
  <Application>Microsoft Macintosh PowerPoint</Application>
  <PresentationFormat>Custom</PresentationFormat>
  <Paragraphs>458</Paragraphs>
  <Slides>62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62</vt:i4>
      </vt:variant>
    </vt:vector>
  </HeadingPairs>
  <TitlesOfParts>
    <vt:vector size="71" baseType="lpstr">
      <vt:lpstr>Arial Unicode MS</vt:lpstr>
      <vt:lpstr>Arial</vt:lpstr>
      <vt:lpstr>Arial Narrow</vt:lpstr>
      <vt:lpstr>Calibri</vt:lpstr>
      <vt:lpstr>Times New Roman</vt:lpstr>
      <vt:lpstr>Wingdings</vt:lpstr>
      <vt:lpstr>Office Theme</vt:lpstr>
      <vt:lpstr>Bitmap Image</vt:lpstr>
      <vt:lpstr>Photoshop.Image.7</vt:lpstr>
      <vt:lpstr>OSI Transport Layer</vt:lpstr>
      <vt:lpstr>Objectives</vt:lpstr>
      <vt:lpstr>Transport Layer Role and Services</vt:lpstr>
      <vt:lpstr>Transport Layer Role and Services</vt:lpstr>
      <vt:lpstr>Role of the Transport layer</vt:lpstr>
      <vt:lpstr>Responsibilities</vt:lpstr>
      <vt:lpstr>Two TCP/IP Transport layer protocols</vt:lpstr>
      <vt:lpstr>PowerPoint Presentation</vt:lpstr>
      <vt:lpstr>TCP/IP Transport layer protocols:  TCP and UDP.</vt:lpstr>
      <vt:lpstr>Basic characteristics of the UDP and TCP  Protocols</vt:lpstr>
      <vt:lpstr>Transport Layer Role and Services</vt:lpstr>
      <vt:lpstr>PowerPoint Presentation</vt:lpstr>
      <vt:lpstr>Applications that use UDP include:</vt:lpstr>
      <vt:lpstr>Transmission Control Protocol (TCP)</vt:lpstr>
      <vt:lpstr>Applications that use TCP are:</vt:lpstr>
      <vt:lpstr>Transport Layer Headers</vt:lpstr>
      <vt:lpstr>Port Number, Identifying the Conversations</vt:lpstr>
      <vt:lpstr>Port Number</vt:lpstr>
      <vt:lpstr>PowerPoint Presentation</vt:lpstr>
      <vt:lpstr>Data Delivery Based on Port Number</vt:lpstr>
      <vt:lpstr>There are different types of port numbers:</vt:lpstr>
      <vt:lpstr>PowerPoint Presentation</vt:lpstr>
      <vt:lpstr>Using both TCP and UDP</vt:lpstr>
      <vt:lpstr>TCP Ports</vt:lpstr>
      <vt:lpstr>UDP Ports</vt:lpstr>
      <vt:lpstr>Netstat</vt:lpstr>
      <vt:lpstr>TCP Segments</vt:lpstr>
      <vt:lpstr>Segments</vt:lpstr>
      <vt:lpstr>TCP Segment Header</vt:lpstr>
      <vt:lpstr>Application and Operation of TCP Mechanisms</vt:lpstr>
      <vt:lpstr>TCP Connection Establishment and  Termination</vt:lpstr>
      <vt:lpstr>Handshake in the establishment of TCP  sessions</vt:lpstr>
      <vt:lpstr>Handshake in the termination of TCP sessions</vt:lpstr>
      <vt:lpstr>PowerPoint Presentation</vt:lpstr>
      <vt:lpstr>Managing TCP Sessions</vt:lpstr>
      <vt:lpstr> Managing TCP Sessions</vt:lpstr>
      <vt:lpstr>PowerPoint Presentation</vt:lpstr>
      <vt:lpstr>TCP Windows and Flow Control</vt:lpstr>
      <vt:lpstr>TCP Retransmission</vt:lpstr>
      <vt:lpstr>Flow Control</vt:lpstr>
      <vt:lpstr>Flow Control</vt:lpstr>
      <vt:lpstr>UDP Protocol</vt:lpstr>
      <vt:lpstr>PowerPoint Presentation</vt:lpstr>
      <vt:lpstr>PowerPoint Presentation</vt:lpstr>
      <vt:lpstr>PowerPoint Presentation</vt:lpstr>
      <vt:lpstr>UDP Reassembles</vt:lpstr>
      <vt:lpstr>UDP Protocol</vt:lpstr>
      <vt:lpstr>UDP Protocol – Port Number</vt:lpstr>
      <vt:lpstr>UDP Protocol</vt:lpstr>
      <vt:lpstr>Denial of Service Attacks</vt:lpstr>
      <vt:lpstr>UDP Port Numbers</vt:lpstr>
      <vt:lpstr>TCP vs UDP</vt:lpstr>
      <vt:lpstr>Some Well-Known TCP Ports</vt:lpstr>
      <vt:lpstr>Quiz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ch4</dc:title>
  <dc:creator>Administrator</dc:creator>
  <cp:keywords>()</cp:keywords>
  <cp:lastModifiedBy>Sarah Sajid</cp:lastModifiedBy>
  <cp:revision>68</cp:revision>
  <dcterms:created xsi:type="dcterms:W3CDTF">2018-03-06T08:33:12Z</dcterms:created>
  <dcterms:modified xsi:type="dcterms:W3CDTF">2021-03-25T16:49:34Z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2012-09-19T00:00:00Z</vt:filetime>
  </property>
  <property fmtid="{D5CDD505-2E9C-101B-9397-08002B2CF9AE}" pid="3" name="Creator">
    <vt:lpwstr>PDFCreator Version 1.5.0</vt:lpwstr>
  </property>
  <property fmtid="{D5CDD505-2E9C-101B-9397-08002B2CF9AE}" pid="4" name="LastSaved">
    <vt:filetime>2018-03-06T00:00:00Z</vt:filetime>
  </property>
</Properties>
</file>