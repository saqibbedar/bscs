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60" r:id="rId4"/>
    <p:sldId id="261" r:id="rId5"/>
    <p:sldId id="262" r:id="rId6"/>
    <p:sldId id="263" r:id="rId7"/>
    <p:sldId id="265" r:id="rId8"/>
    <p:sldId id="266" r:id="rId9"/>
    <p:sldId id="267" r:id="rId10"/>
    <p:sldId id="268" r:id="rId11"/>
    <p:sldId id="270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98" r:id="rId39"/>
    <p:sldId id="299" r:id="rId40"/>
    <p:sldId id="300" r:id="rId41"/>
    <p:sldId id="301" r:id="rId42"/>
    <p:sldId id="302" r:id="rId43"/>
    <p:sldId id="303" r:id="rId44"/>
    <p:sldId id="304" r:id="rId45"/>
    <p:sldId id="305" r:id="rId46"/>
    <p:sldId id="306" r:id="rId47"/>
    <p:sldId id="307" r:id="rId48"/>
    <p:sldId id="308" r:id="rId49"/>
    <p:sldId id="309" r:id="rId50"/>
    <p:sldId id="310" r:id="rId51"/>
    <p:sldId id="311" r:id="rId52"/>
    <p:sldId id="312" r:id="rId5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43"/>
    <p:restoredTop sz="94165"/>
  </p:normalViewPr>
  <p:slideViewPr>
    <p:cSldViewPr>
      <p:cViewPr>
        <p:scale>
          <a:sx n="110" d="100"/>
          <a:sy n="110" d="100"/>
        </p:scale>
        <p:origin x="1384" y="-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3C769-7CAB-43A5-A80D-751E78E46CEA}" type="datetimeFigureOut">
              <a:rPr lang="en-US" smtClean="0"/>
              <a:pPr/>
              <a:t>10/6/20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98EBB-3CBC-4056-AF2C-DD8499D00FF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3C769-7CAB-43A5-A80D-751E78E46CEA}" type="datetimeFigureOut">
              <a:rPr lang="en-US" smtClean="0"/>
              <a:pPr/>
              <a:t>10/6/20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98EBB-3CBC-4056-AF2C-DD8499D00FF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3C769-7CAB-43A5-A80D-751E78E46CEA}" type="datetimeFigureOut">
              <a:rPr lang="en-US" smtClean="0"/>
              <a:pPr/>
              <a:t>10/6/20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98EBB-3CBC-4056-AF2C-DD8499D00FF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3C769-7CAB-43A5-A80D-751E78E46CEA}" type="datetimeFigureOut">
              <a:rPr lang="en-US" smtClean="0"/>
              <a:pPr/>
              <a:t>10/6/20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98EBB-3CBC-4056-AF2C-DD8499D00FF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3C769-7CAB-43A5-A80D-751E78E46CEA}" type="datetimeFigureOut">
              <a:rPr lang="en-US" smtClean="0"/>
              <a:pPr/>
              <a:t>10/6/20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98EBB-3CBC-4056-AF2C-DD8499D00FF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3C769-7CAB-43A5-A80D-751E78E46CEA}" type="datetimeFigureOut">
              <a:rPr lang="en-US" smtClean="0"/>
              <a:pPr/>
              <a:t>10/6/20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98EBB-3CBC-4056-AF2C-DD8499D00FF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3C769-7CAB-43A5-A80D-751E78E46CEA}" type="datetimeFigureOut">
              <a:rPr lang="en-US" smtClean="0"/>
              <a:pPr/>
              <a:t>10/6/20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98EBB-3CBC-4056-AF2C-DD8499D00FF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3C769-7CAB-43A5-A80D-751E78E46CEA}" type="datetimeFigureOut">
              <a:rPr lang="en-US" smtClean="0"/>
              <a:pPr/>
              <a:t>10/6/20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98EBB-3CBC-4056-AF2C-DD8499D00FF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3C769-7CAB-43A5-A80D-751E78E46CEA}" type="datetimeFigureOut">
              <a:rPr lang="en-US" smtClean="0"/>
              <a:pPr/>
              <a:t>10/6/20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D098EBB-3CBC-4056-AF2C-DD8499D00F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3C769-7CAB-43A5-A80D-751E78E46CEA}" type="datetimeFigureOut">
              <a:rPr lang="en-US" smtClean="0"/>
              <a:pPr/>
              <a:t>10/6/20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98EBB-3CBC-4056-AF2C-DD8499D00FF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3C769-7CAB-43A5-A80D-751E78E46CEA}" type="datetimeFigureOut">
              <a:rPr lang="en-US" smtClean="0"/>
              <a:pPr/>
              <a:t>10/6/20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98EBB-3CBC-4056-AF2C-DD8499D00FF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F3D3C769-7CAB-43A5-A80D-751E78E46CEA}" type="datetimeFigureOut">
              <a:rPr lang="en-US" smtClean="0"/>
              <a:pPr/>
              <a:t>10/6/20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D098EBB-3CBC-4056-AF2C-DD8499D00FF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8600" y="533401"/>
            <a:ext cx="8686800" cy="1143000"/>
          </a:xfrm>
        </p:spPr>
        <p:txBody>
          <a:bodyPr>
            <a:normAutofit/>
          </a:bodyPr>
          <a:lstStyle/>
          <a:p>
            <a:pPr algn="l"/>
            <a:r>
              <a:rPr lang="en-US" sz="4800" b="1" dirty="0"/>
              <a:t>Mobile Ad Hoc Networks</a:t>
            </a:r>
            <a:r>
              <a:rPr lang="en-US" sz="4800" dirty="0"/>
              <a:t> </a:t>
            </a:r>
            <a:r>
              <a:rPr lang="en-US" sz="4800" b="1" dirty="0"/>
              <a:t>Routing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724400" y="5715000"/>
            <a:ext cx="4191000" cy="914399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Dr. </a:t>
            </a:r>
            <a:r>
              <a:rPr lang="en-US" b="1" dirty="0" err="1">
                <a:solidFill>
                  <a:schemeClr val="bg1"/>
                </a:solidFill>
              </a:rPr>
              <a:t>Muazzam</a:t>
            </a:r>
            <a:r>
              <a:rPr lang="en-US" b="1" dirty="0">
                <a:solidFill>
                  <a:schemeClr val="bg1"/>
                </a:solidFill>
              </a:rPr>
              <a:t> A. Khan</a:t>
            </a:r>
            <a:endParaRPr lang="en-US" sz="1800" b="1" dirty="0">
              <a:solidFill>
                <a:schemeClr val="bg1"/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2AD77-CD19-4066-83FF-49A42E03F300}" type="slidenum">
              <a:rPr lang="en-US"/>
              <a:pPr/>
              <a:t>1</a:t>
            </a:fld>
            <a:endParaRPr lang="en-US"/>
          </a:p>
        </p:txBody>
      </p:sp>
      <p:pic>
        <p:nvPicPr>
          <p:cNvPr id="56324" name="Picture 4" descr="http://www.cotsjournalonline.com/files/images/1795/FigOneRARGraphic_larg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1828800"/>
            <a:ext cx="7391400" cy="372572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0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59904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447800"/>
            <a:ext cx="7772400" cy="4114800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Introduction</a:t>
            </a:r>
          </a:p>
          <a:p>
            <a:r>
              <a:rPr lang="en-US" dirty="0" err="1"/>
              <a:t>Unicast</a:t>
            </a:r>
            <a:r>
              <a:rPr lang="en-US" dirty="0"/>
              <a:t> routing</a:t>
            </a:r>
          </a:p>
          <a:p>
            <a:r>
              <a:rPr lang="en-US" dirty="0"/>
              <a:t>Multicast routing</a:t>
            </a:r>
          </a:p>
          <a:p>
            <a:r>
              <a:rPr lang="en-US" dirty="0" err="1"/>
              <a:t>Geocast</a:t>
            </a:r>
            <a:r>
              <a:rPr lang="en-US" dirty="0"/>
              <a:t> routing</a:t>
            </a:r>
          </a:p>
          <a:p>
            <a:r>
              <a:rPr lang="en-US" dirty="0"/>
              <a:t>Broadcast Routing</a:t>
            </a:r>
          </a:p>
          <a:p>
            <a:r>
              <a:rPr lang="en-US" dirty="0" err="1"/>
              <a:t>Anycast</a:t>
            </a:r>
            <a:r>
              <a:rPr lang="en-US" dirty="0"/>
              <a:t> Routing</a:t>
            </a:r>
          </a:p>
          <a:p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2C683-A646-4F45-9E48-9541C2C6AC17}" type="slidenum">
              <a:rPr lang="en-US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Mobile Ad Hoc Networks</a:t>
            </a:r>
          </a:p>
        </p:txBody>
      </p:sp>
      <p:sp>
        <p:nvSpPr>
          <p:cNvPr id="6113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/>
          </a:p>
          <a:p>
            <a:r>
              <a:rPr lang="en-US"/>
              <a:t>Formed by wireless hosts which may be mobile</a:t>
            </a:r>
          </a:p>
          <a:p>
            <a:endParaRPr lang="en-US"/>
          </a:p>
          <a:p>
            <a:r>
              <a:rPr lang="en-US"/>
              <a:t>Without (necessarily) using a pre-existing infrastructure</a:t>
            </a:r>
          </a:p>
          <a:p>
            <a:endParaRPr lang="en-US"/>
          </a:p>
          <a:p>
            <a:r>
              <a:rPr lang="en-US"/>
              <a:t>Routes between nodes may potentially contain multiple hops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7C019-9E35-4C84-8F39-48B41F12B2D9}" type="slidenum">
              <a:rPr lang="en-US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594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bg1"/>
          </a:solidFill>
          <a:ln/>
        </p:spPr>
        <p:txBody>
          <a:bodyPr/>
          <a:lstStyle/>
          <a:p>
            <a:r>
              <a:rPr lang="en-US"/>
              <a:t>Mobile Ad Hoc Networks</a:t>
            </a:r>
          </a:p>
        </p:txBody>
      </p:sp>
      <p:sp>
        <p:nvSpPr>
          <p:cNvPr id="6225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May need to traverse multiple links to reach a destination</a:t>
            </a:r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669E6-D671-4759-89DF-511B856FF7E1}" type="slidenum">
              <a:rPr lang="en-US"/>
              <a:pPr/>
              <a:t>4</a:t>
            </a:fld>
            <a:endParaRPr lang="en-US"/>
          </a:p>
        </p:txBody>
      </p:sp>
      <p:sp>
        <p:nvSpPr>
          <p:cNvPr id="622596" name="Oval 4"/>
          <p:cNvSpPr>
            <a:spLocks noChangeArrowheads="1"/>
          </p:cNvSpPr>
          <p:nvPr/>
        </p:nvSpPr>
        <p:spPr bwMode="auto">
          <a:xfrm>
            <a:off x="2057400" y="2667000"/>
            <a:ext cx="2209800" cy="2133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22597" name="Oval 5"/>
          <p:cNvSpPr>
            <a:spLocks noChangeArrowheads="1"/>
          </p:cNvSpPr>
          <p:nvPr/>
        </p:nvSpPr>
        <p:spPr bwMode="auto">
          <a:xfrm>
            <a:off x="2819400" y="3200400"/>
            <a:ext cx="2209800" cy="2133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22598" name="Oval 6"/>
          <p:cNvSpPr>
            <a:spLocks noChangeArrowheads="1"/>
          </p:cNvSpPr>
          <p:nvPr/>
        </p:nvSpPr>
        <p:spPr bwMode="auto">
          <a:xfrm>
            <a:off x="3048000" y="36576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22599" name="Oval 7"/>
          <p:cNvSpPr>
            <a:spLocks noChangeArrowheads="1"/>
          </p:cNvSpPr>
          <p:nvPr/>
        </p:nvSpPr>
        <p:spPr bwMode="auto">
          <a:xfrm>
            <a:off x="3810000" y="41148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22600" name="Oval 8"/>
          <p:cNvSpPr>
            <a:spLocks noChangeArrowheads="1"/>
          </p:cNvSpPr>
          <p:nvPr/>
        </p:nvSpPr>
        <p:spPr bwMode="auto">
          <a:xfrm>
            <a:off x="3886200" y="33528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22601" name="Oval 9"/>
          <p:cNvSpPr>
            <a:spLocks noChangeArrowheads="1"/>
          </p:cNvSpPr>
          <p:nvPr/>
        </p:nvSpPr>
        <p:spPr bwMode="auto">
          <a:xfrm>
            <a:off x="2895600" y="2362200"/>
            <a:ext cx="2209800" cy="2133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22602" name="Oval 10"/>
          <p:cNvSpPr>
            <a:spLocks noChangeArrowheads="1"/>
          </p:cNvSpPr>
          <p:nvPr/>
        </p:nvSpPr>
        <p:spPr bwMode="auto">
          <a:xfrm>
            <a:off x="6553200" y="37338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2400" b="0">
              <a:latin typeface="Arial Black" pitchFamily="34" charset="0"/>
            </a:endParaRPr>
          </a:p>
        </p:txBody>
      </p:sp>
      <p:sp>
        <p:nvSpPr>
          <p:cNvPr id="622603" name="Oval 11"/>
          <p:cNvSpPr>
            <a:spLocks noChangeArrowheads="1"/>
          </p:cNvSpPr>
          <p:nvPr/>
        </p:nvSpPr>
        <p:spPr bwMode="auto">
          <a:xfrm>
            <a:off x="7239000" y="4267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22604" name="Oval 12"/>
          <p:cNvSpPr>
            <a:spLocks noChangeArrowheads="1"/>
          </p:cNvSpPr>
          <p:nvPr/>
        </p:nvSpPr>
        <p:spPr bwMode="auto">
          <a:xfrm>
            <a:off x="7315200" y="3505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22605" name="Line 13"/>
          <p:cNvSpPr>
            <a:spLocks noChangeShapeType="1"/>
          </p:cNvSpPr>
          <p:nvPr/>
        </p:nvSpPr>
        <p:spPr bwMode="auto">
          <a:xfrm flipV="1">
            <a:off x="6705600" y="3581400"/>
            <a:ext cx="685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22606" name="Line 14"/>
          <p:cNvSpPr>
            <a:spLocks noChangeShapeType="1"/>
          </p:cNvSpPr>
          <p:nvPr/>
        </p:nvSpPr>
        <p:spPr bwMode="auto">
          <a:xfrm flipV="1">
            <a:off x="7315200" y="3657600"/>
            <a:ext cx="76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22607" name="Line 15"/>
          <p:cNvSpPr>
            <a:spLocks noChangeShapeType="1"/>
          </p:cNvSpPr>
          <p:nvPr/>
        </p:nvSpPr>
        <p:spPr bwMode="auto">
          <a:xfrm>
            <a:off x="6629400" y="3886200"/>
            <a:ext cx="609600" cy="4572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22608" name="Oval 16"/>
          <p:cNvSpPr>
            <a:spLocks noChangeArrowheads="1"/>
          </p:cNvSpPr>
          <p:nvPr/>
        </p:nvSpPr>
        <p:spPr bwMode="auto">
          <a:xfrm>
            <a:off x="3124200" y="3962400"/>
            <a:ext cx="2209800" cy="2133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22609" name="Oval 17"/>
          <p:cNvSpPr>
            <a:spLocks noChangeArrowheads="1"/>
          </p:cNvSpPr>
          <p:nvPr/>
        </p:nvSpPr>
        <p:spPr bwMode="auto">
          <a:xfrm>
            <a:off x="4191000" y="5029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22610" name="Oval 18"/>
          <p:cNvSpPr>
            <a:spLocks noChangeArrowheads="1"/>
          </p:cNvSpPr>
          <p:nvPr/>
        </p:nvSpPr>
        <p:spPr bwMode="auto">
          <a:xfrm>
            <a:off x="7772400" y="4953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22611" name="Line 19"/>
          <p:cNvSpPr>
            <a:spLocks noChangeShapeType="1"/>
          </p:cNvSpPr>
          <p:nvPr/>
        </p:nvSpPr>
        <p:spPr bwMode="auto">
          <a:xfrm>
            <a:off x="7391400" y="4419600"/>
            <a:ext cx="457200" cy="533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635" name="Rectangle 19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>
            <a:normAutofit fontScale="90000"/>
          </a:bodyPr>
          <a:lstStyle/>
          <a:p>
            <a:r>
              <a:rPr lang="en-US"/>
              <a:t>Mobile Ad Hoc Networks (MANET)</a:t>
            </a:r>
          </a:p>
        </p:txBody>
      </p:sp>
      <p:sp>
        <p:nvSpPr>
          <p:cNvPr id="623636" name="Rectangle 20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Mobility causes route changes</a:t>
            </a:r>
          </a:p>
        </p:txBody>
      </p:sp>
      <p:sp>
        <p:nvSpPr>
          <p:cNvPr id="1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47AE-076E-44A3-8A57-2491A9C3E113}" type="slidenum">
              <a:rPr lang="en-US"/>
              <a:pPr/>
              <a:t>5</a:t>
            </a:fld>
            <a:endParaRPr lang="en-US"/>
          </a:p>
        </p:txBody>
      </p:sp>
      <p:sp>
        <p:nvSpPr>
          <p:cNvPr id="623620" name="Oval 4"/>
          <p:cNvSpPr>
            <a:spLocks noChangeArrowheads="1"/>
          </p:cNvSpPr>
          <p:nvPr/>
        </p:nvSpPr>
        <p:spPr bwMode="auto">
          <a:xfrm>
            <a:off x="2057400" y="2667000"/>
            <a:ext cx="2209800" cy="2133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23621" name="Oval 5"/>
          <p:cNvSpPr>
            <a:spLocks noChangeArrowheads="1"/>
          </p:cNvSpPr>
          <p:nvPr/>
        </p:nvSpPr>
        <p:spPr bwMode="auto">
          <a:xfrm>
            <a:off x="2819400" y="3200400"/>
            <a:ext cx="2209800" cy="2133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23622" name="Oval 6"/>
          <p:cNvSpPr>
            <a:spLocks noChangeArrowheads="1"/>
          </p:cNvSpPr>
          <p:nvPr/>
        </p:nvSpPr>
        <p:spPr bwMode="auto">
          <a:xfrm>
            <a:off x="3048000" y="36576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23623" name="Oval 7"/>
          <p:cNvSpPr>
            <a:spLocks noChangeArrowheads="1"/>
          </p:cNvSpPr>
          <p:nvPr/>
        </p:nvSpPr>
        <p:spPr bwMode="auto">
          <a:xfrm>
            <a:off x="3810000" y="41148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23624" name="Oval 8"/>
          <p:cNvSpPr>
            <a:spLocks noChangeArrowheads="1"/>
          </p:cNvSpPr>
          <p:nvPr/>
        </p:nvSpPr>
        <p:spPr bwMode="auto">
          <a:xfrm>
            <a:off x="4648200" y="39624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23625" name="Oval 9"/>
          <p:cNvSpPr>
            <a:spLocks noChangeArrowheads="1"/>
          </p:cNvSpPr>
          <p:nvPr/>
        </p:nvSpPr>
        <p:spPr bwMode="auto">
          <a:xfrm>
            <a:off x="3657600" y="2971800"/>
            <a:ext cx="2209800" cy="2133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23626" name="Oval 10"/>
          <p:cNvSpPr>
            <a:spLocks noChangeArrowheads="1"/>
          </p:cNvSpPr>
          <p:nvPr/>
        </p:nvSpPr>
        <p:spPr bwMode="auto">
          <a:xfrm>
            <a:off x="6553200" y="3810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23627" name="Oval 11"/>
          <p:cNvSpPr>
            <a:spLocks noChangeArrowheads="1"/>
          </p:cNvSpPr>
          <p:nvPr/>
        </p:nvSpPr>
        <p:spPr bwMode="auto">
          <a:xfrm>
            <a:off x="7315200" y="4267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23628" name="Oval 12"/>
          <p:cNvSpPr>
            <a:spLocks noChangeArrowheads="1"/>
          </p:cNvSpPr>
          <p:nvPr/>
        </p:nvSpPr>
        <p:spPr bwMode="auto">
          <a:xfrm>
            <a:off x="8153400" y="41148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23629" name="Line 13"/>
          <p:cNvSpPr>
            <a:spLocks noChangeShapeType="1"/>
          </p:cNvSpPr>
          <p:nvPr/>
        </p:nvSpPr>
        <p:spPr bwMode="auto">
          <a:xfrm>
            <a:off x="6705600" y="3962400"/>
            <a:ext cx="609600" cy="381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23630" name="Line 14"/>
          <p:cNvSpPr>
            <a:spLocks noChangeShapeType="1"/>
          </p:cNvSpPr>
          <p:nvPr/>
        </p:nvSpPr>
        <p:spPr bwMode="auto">
          <a:xfrm flipV="1">
            <a:off x="7467600" y="4191000"/>
            <a:ext cx="685800" cy="152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23631" name="Oval 15"/>
          <p:cNvSpPr>
            <a:spLocks noChangeArrowheads="1"/>
          </p:cNvSpPr>
          <p:nvPr/>
        </p:nvSpPr>
        <p:spPr bwMode="auto">
          <a:xfrm>
            <a:off x="4191000" y="3657600"/>
            <a:ext cx="2209800" cy="2133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23632" name="Oval 16"/>
          <p:cNvSpPr>
            <a:spLocks noChangeArrowheads="1"/>
          </p:cNvSpPr>
          <p:nvPr/>
        </p:nvSpPr>
        <p:spPr bwMode="auto">
          <a:xfrm>
            <a:off x="5257800" y="4648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23633" name="Oval 17"/>
          <p:cNvSpPr>
            <a:spLocks noChangeArrowheads="1"/>
          </p:cNvSpPr>
          <p:nvPr/>
        </p:nvSpPr>
        <p:spPr bwMode="auto">
          <a:xfrm>
            <a:off x="8686800" y="4572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23634" name="Line 18"/>
          <p:cNvSpPr>
            <a:spLocks noChangeShapeType="1"/>
          </p:cNvSpPr>
          <p:nvPr/>
        </p:nvSpPr>
        <p:spPr bwMode="auto">
          <a:xfrm>
            <a:off x="8305800" y="4267200"/>
            <a:ext cx="457200" cy="304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Ad Hoc Networks ?</a:t>
            </a:r>
          </a:p>
        </p:txBody>
      </p:sp>
      <p:sp>
        <p:nvSpPr>
          <p:cNvPr id="6205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Ease of deployment</a:t>
            </a:r>
          </a:p>
          <a:p>
            <a:endParaRPr lang="en-US"/>
          </a:p>
          <a:p>
            <a:r>
              <a:rPr lang="en-US"/>
              <a:t>Speed of deployment</a:t>
            </a:r>
          </a:p>
          <a:p>
            <a:endParaRPr lang="en-US"/>
          </a:p>
          <a:p>
            <a:r>
              <a:rPr lang="en-US"/>
              <a:t>Decreased dependence on infrastructure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FFC15-D95C-4FAA-9F56-7890EF36EB8B}" type="slidenum">
              <a:rPr lang="en-US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Many Variations</a:t>
            </a:r>
          </a:p>
        </p:txBody>
      </p:sp>
      <p:sp>
        <p:nvSpPr>
          <p:cNvPr id="61337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/>
              <a:t>Fully Symmetric Environment</a:t>
            </a:r>
          </a:p>
          <a:p>
            <a:pPr lvl="1"/>
            <a:r>
              <a:rPr lang="en-US"/>
              <a:t>all nodes have identical </a:t>
            </a:r>
            <a:r>
              <a:rPr lang="en-US">
                <a:solidFill>
                  <a:srgbClr val="339933"/>
                </a:solidFill>
              </a:rPr>
              <a:t>capabilities </a:t>
            </a:r>
            <a:r>
              <a:rPr lang="en-US"/>
              <a:t>and</a:t>
            </a:r>
            <a:r>
              <a:rPr lang="en-US">
                <a:solidFill>
                  <a:srgbClr val="339933"/>
                </a:solidFill>
              </a:rPr>
              <a:t> </a:t>
            </a:r>
            <a:r>
              <a:rPr lang="en-US">
                <a:solidFill>
                  <a:srgbClr val="A50021"/>
                </a:solidFill>
              </a:rPr>
              <a:t>responsibilities</a:t>
            </a:r>
            <a:endParaRPr lang="en-US"/>
          </a:p>
          <a:p>
            <a:pPr lvl="1"/>
            <a:endParaRPr lang="en-US"/>
          </a:p>
          <a:p>
            <a:r>
              <a:rPr lang="en-US"/>
              <a:t>Asymmetric Capabilities</a:t>
            </a:r>
          </a:p>
          <a:p>
            <a:pPr lvl="1"/>
            <a:r>
              <a:rPr lang="en-US"/>
              <a:t>transmission ranges and radios may differ </a:t>
            </a:r>
          </a:p>
          <a:p>
            <a:pPr lvl="1"/>
            <a:r>
              <a:rPr lang="en-US"/>
              <a:t>battery life at different nodes may differ</a:t>
            </a:r>
          </a:p>
          <a:p>
            <a:pPr lvl="1"/>
            <a:r>
              <a:rPr lang="en-US"/>
              <a:t>processing capacity may be different at different nodes</a:t>
            </a:r>
          </a:p>
          <a:p>
            <a:pPr lvl="1"/>
            <a:r>
              <a:rPr lang="en-US"/>
              <a:t>speed of movement</a:t>
            </a:r>
          </a:p>
          <a:p>
            <a:pPr lvl="1"/>
            <a:endParaRPr lang="en-US"/>
          </a:p>
          <a:p>
            <a:r>
              <a:rPr lang="en-US"/>
              <a:t>Asymmetric Responsibilities</a:t>
            </a:r>
          </a:p>
          <a:p>
            <a:pPr lvl="1"/>
            <a:r>
              <a:rPr lang="en-US"/>
              <a:t>only some nodes may route packets </a:t>
            </a:r>
          </a:p>
          <a:p>
            <a:pPr lvl="1"/>
            <a:r>
              <a:rPr lang="en-US"/>
              <a:t>some nodes may act as </a:t>
            </a:r>
            <a:r>
              <a:rPr lang="en-US">
                <a:solidFill>
                  <a:srgbClr val="339933"/>
                </a:solidFill>
              </a:rPr>
              <a:t>leaders</a:t>
            </a:r>
            <a:r>
              <a:rPr lang="en-US"/>
              <a:t> of nearby nodes (e.g., cluster head)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AF534-6075-4342-9D99-461CC20EE4C8}" type="slidenum">
              <a:rPr lang="en-US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Many Variations</a:t>
            </a:r>
          </a:p>
        </p:txBody>
      </p:sp>
      <p:sp>
        <p:nvSpPr>
          <p:cNvPr id="61542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Traffic characteristics may differ in different ad hoc networks</a:t>
            </a:r>
          </a:p>
          <a:p>
            <a:pPr lvl="1"/>
            <a:r>
              <a:rPr lang="en-US" dirty="0"/>
              <a:t>bit rate</a:t>
            </a:r>
          </a:p>
          <a:p>
            <a:pPr lvl="1"/>
            <a:r>
              <a:rPr lang="en-US" dirty="0"/>
              <a:t>time constraints</a:t>
            </a:r>
          </a:p>
          <a:p>
            <a:pPr lvl="1"/>
            <a:r>
              <a:rPr lang="en-US" dirty="0"/>
              <a:t>reliability requirements</a:t>
            </a:r>
          </a:p>
          <a:p>
            <a:pPr lvl="1"/>
            <a:r>
              <a:rPr lang="en-US" dirty="0" err="1"/>
              <a:t>unicast</a:t>
            </a:r>
            <a:r>
              <a:rPr lang="en-US" dirty="0"/>
              <a:t> / multicast / </a:t>
            </a:r>
            <a:r>
              <a:rPr lang="en-US" dirty="0" err="1"/>
              <a:t>geocast</a:t>
            </a:r>
            <a:endParaRPr lang="en-US" dirty="0"/>
          </a:p>
          <a:p>
            <a:pPr lvl="1"/>
            <a:r>
              <a:rPr lang="en-US" dirty="0"/>
              <a:t>host-based addressing / content-based addressing / capability-based addressing</a:t>
            </a:r>
            <a:endParaRPr lang="en-US" b="1" dirty="0"/>
          </a:p>
          <a:p>
            <a:pPr lvl="1"/>
            <a:endParaRPr lang="en-US" b="1" dirty="0"/>
          </a:p>
          <a:p>
            <a:r>
              <a:rPr lang="en-US" dirty="0"/>
              <a:t>May co-exist (and co-operate) with an infrastructure-based network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4B6B7-C43D-4C4C-8935-42CB96CE8BC4}" type="slidenum">
              <a:rPr lang="en-US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476" name="Rectangle 4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609600"/>
          </a:xfrm>
        </p:spPr>
        <p:txBody>
          <a:bodyPr>
            <a:normAutofit fontScale="90000"/>
          </a:bodyPr>
          <a:lstStyle/>
          <a:p>
            <a:r>
              <a:rPr lang="en-US"/>
              <a:t>Many Variations</a:t>
            </a:r>
          </a:p>
        </p:txBody>
      </p:sp>
      <p:sp>
        <p:nvSpPr>
          <p:cNvPr id="617477" name="Rectangle 5"/>
          <p:cNvSpPr>
            <a:spLocks noGrp="1" noChangeArrowheads="1"/>
          </p:cNvSpPr>
          <p:nvPr>
            <p:ph idx="1"/>
          </p:nvPr>
        </p:nvSpPr>
        <p:spPr>
          <a:xfrm>
            <a:off x="685800" y="1219200"/>
            <a:ext cx="7772400" cy="5181600"/>
          </a:xfrm>
        </p:spPr>
        <p:txBody>
          <a:bodyPr>
            <a:normAutofit/>
          </a:bodyPr>
          <a:lstStyle/>
          <a:p>
            <a:pPr>
              <a:buNone/>
            </a:pPr>
            <a:endParaRPr lang="en-US" sz="2000" dirty="0"/>
          </a:p>
          <a:p>
            <a:r>
              <a:rPr lang="en-US" dirty="0"/>
              <a:t>Mobility characteristics</a:t>
            </a:r>
          </a:p>
          <a:p>
            <a:pPr lvl="1"/>
            <a:r>
              <a:rPr lang="en-US" dirty="0"/>
              <a:t>Speed</a:t>
            </a:r>
          </a:p>
          <a:p>
            <a:pPr lvl="1"/>
            <a:r>
              <a:rPr lang="en-US" dirty="0"/>
              <a:t>Predictability</a:t>
            </a:r>
          </a:p>
          <a:p>
            <a:pPr lvl="2"/>
            <a:r>
              <a:rPr lang="en-US" dirty="0"/>
              <a:t>direction of movement</a:t>
            </a:r>
          </a:p>
          <a:p>
            <a:pPr lvl="2"/>
            <a:r>
              <a:rPr lang="en-US" dirty="0"/>
              <a:t>pattern of movement</a:t>
            </a:r>
          </a:p>
          <a:p>
            <a:pPr lvl="1"/>
            <a:r>
              <a:rPr lang="en-US" dirty="0"/>
              <a:t>Uniformity (or lack of) of mobility characteristics among different nodes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ADC3A-ECB6-49E9-B4D9-B7194D4EE8CC}" type="slidenum">
              <a:rPr lang="en-US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Challenges</a:t>
            </a:r>
          </a:p>
        </p:txBody>
      </p:sp>
      <p:sp>
        <p:nvSpPr>
          <p:cNvPr id="6184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/>
          </a:p>
          <a:p>
            <a:r>
              <a:rPr lang="en-US" dirty="0"/>
              <a:t>Limited wireless transmission range</a:t>
            </a:r>
          </a:p>
          <a:p>
            <a:r>
              <a:rPr lang="en-US" dirty="0"/>
              <a:t>Broadcast nature of the wireless medium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Hidden terminal problem </a:t>
            </a:r>
          </a:p>
          <a:p>
            <a:pPr lvl="1"/>
            <a:r>
              <a:rPr lang="en-US" dirty="0"/>
              <a:t>Packet losses due to transmission errors</a:t>
            </a:r>
          </a:p>
          <a:p>
            <a:r>
              <a:rPr lang="en-US" dirty="0"/>
              <a:t>Mobility-induced route changes</a:t>
            </a:r>
          </a:p>
          <a:p>
            <a:r>
              <a:rPr lang="en-US" dirty="0"/>
              <a:t>Mobility-induced packet losses</a:t>
            </a:r>
          </a:p>
          <a:p>
            <a:r>
              <a:rPr lang="en-US" dirty="0"/>
              <a:t>Battery constraints</a:t>
            </a:r>
          </a:p>
          <a:p>
            <a:r>
              <a:rPr lang="en-US" dirty="0"/>
              <a:t>Potentially frequent network partitions</a:t>
            </a:r>
          </a:p>
          <a:p>
            <a:r>
              <a:rPr lang="en-US" dirty="0"/>
              <a:t>Ease of snooping on wireless transmissions (security hazard)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F4422-4D9C-4DF7-AE12-161535B22D78}" type="slidenum">
              <a:rPr lang="en-US"/>
              <a:pPr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52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704088"/>
            <a:ext cx="86868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Research on Mobile Ad Hoc Networks</a:t>
            </a:r>
          </a:p>
        </p:txBody>
      </p:sp>
      <p:sp>
        <p:nvSpPr>
          <p:cNvPr id="61952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en-US"/>
          </a:p>
          <a:p>
            <a:pPr>
              <a:buFont typeface="Marlett" pitchFamily="2" charset="2"/>
              <a:buNone/>
            </a:pPr>
            <a:r>
              <a:rPr lang="en-US"/>
              <a:t>Variations in capabilities &amp; responsibilities</a:t>
            </a:r>
            <a:endParaRPr lang="en-US" b="1"/>
          </a:p>
          <a:p>
            <a:pPr>
              <a:buFont typeface="Marlett" pitchFamily="2" charset="2"/>
              <a:buNone/>
            </a:pPr>
            <a:r>
              <a:rPr lang="en-US" b="1"/>
              <a:t>               X</a:t>
            </a:r>
            <a:endParaRPr lang="en-US"/>
          </a:p>
          <a:p>
            <a:pPr>
              <a:buFont typeface="Marlett" pitchFamily="2" charset="2"/>
              <a:buNone/>
            </a:pPr>
            <a:r>
              <a:rPr lang="en-US"/>
              <a:t>Variations in traffic characteristics, mobility models, etc.</a:t>
            </a:r>
          </a:p>
          <a:p>
            <a:pPr>
              <a:buFont typeface="Marlett" pitchFamily="2" charset="2"/>
              <a:buNone/>
            </a:pPr>
            <a:r>
              <a:rPr lang="en-US" b="1"/>
              <a:t>               X</a:t>
            </a:r>
          </a:p>
          <a:p>
            <a:pPr>
              <a:buFont typeface="Marlett" pitchFamily="2" charset="2"/>
              <a:buNone/>
            </a:pPr>
            <a:r>
              <a:rPr lang="en-US"/>
              <a:t>Performance criteria (e.g., optimize throughput, reduce energy consumption)</a:t>
            </a:r>
          </a:p>
          <a:p>
            <a:pPr>
              <a:buFont typeface="Marlett" pitchFamily="2" charset="2"/>
              <a:buNone/>
            </a:pPr>
            <a:r>
              <a:rPr lang="en-US" b="1"/>
              <a:t>               +</a:t>
            </a:r>
          </a:p>
          <a:p>
            <a:pPr>
              <a:buFont typeface="Marlett" pitchFamily="2" charset="2"/>
              <a:buNone/>
            </a:pPr>
            <a:r>
              <a:rPr lang="en-US" b="1"/>
              <a:t> </a:t>
            </a:r>
            <a:r>
              <a:rPr lang="en-US"/>
              <a:t>Increased research funding</a:t>
            </a:r>
          </a:p>
          <a:p>
            <a:pPr>
              <a:buFont typeface="Marlett" pitchFamily="2" charset="2"/>
              <a:buNone/>
            </a:pPr>
            <a:r>
              <a:rPr lang="en-US" b="1"/>
              <a:t>               =</a:t>
            </a:r>
            <a:endParaRPr lang="en-US"/>
          </a:p>
          <a:p>
            <a:pPr>
              <a:buFont typeface="Marlett" pitchFamily="2" charset="2"/>
              <a:buNone/>
            </a:pPr>
            <a:r>
              <a:rPr lang="en-US">
                <a:solidFill>
                  <a:srgbClr val="FF0000"/>
                </a:solidFill>
              </a:rPr>
              <a:t>Significant research activity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9AC13-BBF1-417E-BB53-3285EBAD202D}" type="slidenum">
              <a:rPr lang="en-US"/>
              <a:pPr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69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533400"/>
            <a:ext cx="84582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Why is Routing in MANET different ?</a:t>
            </a:r>
          </a:p>
        </p:txBody>
      </p:sp>
      <p:sp>
        <p:nvSpPr>
          <p:cNvPr id="62669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Host mobility</a:t>
            </a:r>
          </a:p>
          <a:p>
            <a:pPr lvl="1"/>
            <a:r>
              <a:rPr lang="en-US" dirty="0"/>
              <a:t>link failure/repair due to mobility may have different characteristics than those due to other causes</a:t>
            </a:r>
          </a:p>
          <a:p>
            <a:pPr lvl="1"/>
            <a:endParaRPr lang="en-US" dirty="0"/>
          </a:p>
          <a:p>
            <a:r>
              <a:rPr lang="en-US" dirty="0"/>
              <a:t>Rate of link failure/repair may be high when nodes move fast</a:t>
            </a:r>
          </a:p>
          <a:p>
            <a:endParaRPr lang="en-US" dirty="0"/>
          </a:p>
          <a:p>
            <a:r>
              <a:rPr lang="en-US" dirty="0"/>
              <a:t>New performance criteria may be used</a:t>
            </a:r>
          </a:p>
          <a:p>
            <a:pPr lvl="1"/>
            <a:r>
              <a:rPr lang="en-US" dirty="0"/>
              <a:t>route stability despite mobility</a:t>
            </a:r>
          </a:p>
          <a:p>
            <a:pPr lvl="1"/>
            <a:r>
              <a:rPr lang="en-US" dirty="0"/>
              <a:t>energy consumption</a:t>
            </a:r>
          </a:p>
          <a:p>
            <a:pPr lvl="1"/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0A94C-681D-4882-B03E-EB61D3C66674}" type="slidenum">
              <a:rPr lang="en-US"/>
              <a:pPr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Unicast Routing Protocols</a:t>
            </a:r>
          </a:p>
        </p:txBody>
      </p:sp>
      <p:sp>
        <p:nvSpPr>
          <p:cNvPr id="62771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/>
          </a:p>
          <a:p>
            <a:r>
              <a:rPr lang="en-US"/>
              <a:t>Many protocols have been proposed</a:t>
            </a:r>
          </a:p>
          <a:p>
            <a:endParaRPr lang="en-US"/>
          </a:p>
          <a:p>
            <a:r>
              <a:rPr lang="en-US"/>
              <a:t>Some have been invented specifically for MANET</a:t>
            </a:r>
          </a:p>
          <a:p>
            <a:endParaRPr lang="en-US"/>
          </a:p>
          <a:p>
            <a:r>
              <a:rPr lang="en-US"/>
              <a:t>Others are adapted from previously proposed protocols for wired networks</a:t>
            </a:r>
          </a:p>
          <a:p>
            <a:endParaRPr lang="en-US"/>
          </a:p>
          <a:p>
            <a:r>
              <a:rPr lang="en-US"/>
              <a:t>No single protocol works well in all environments</a:t>
            </a:r>
          </a:p>
          <a:p>
            <a:pPr lvl="1"/>
            <a:r>
              <a:rPr lang="en-US"/>
              <a:t>some attempts made to develop adaptive protocols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191AC-4F07-4773-BCDC-F58DC13C9964}" type="slidenum">
              <a:rPr lang="en-US"/>
              <a:pPr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Routing Protocols</a:t>
            </a:r>
          </a:p>
        </p:txBody>
      </p:sp>
      <p:sp>
        <p:nvSpPr>
          <p:cNvPr id="96051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Proactive protocols</a:t>
            </a:r>
          </a:p>
          <a:p>
            <a:pPr lvl="1"/>
            <a:r>
              <a:rPr lang="en-US"/>
              <a:t>Determine routes independent of traffic pattern</a:t>
            </a:r>
          </a:p>
          <a:p>
            <a:pPr lvl="1"/>
            <a:r>
              <a:rPr lang="en-US"/>
              <a:t>Traditional link-state and distance-vector routing protocols are proactive</a:t>
            </a:r>
          </a:p>
          <a:p>
            <a:pPr lvl="1"/>
            <a:endParaRPr lang="en-US"/>
          </a:p>
          <a:p>
            <a:r>
              <a:rPr lang="en-US"/>
              <a:t>Reactive protocols</a:t>
            </a:r>
          </a:p>
          <a:p>
            <a:pPr lvl="1"/>
            <a:r>
              <a:rPr lang="en-US"/>
              <a:t>Maintain routes only if needed</a:t>
            </a:r>
          </a:p>
          <a:p>
            <a:pPr lvl="1"/>
            <a:endParaRPr lang="en-US"/>
          </a:p>
          <a:p>
            <a:r>
              <a:rPr lang="en-US"/>
              <a:t>Hybrid protocols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F6FAD-0834-41FC-9AA1-D06497B5D8E3}" type="slidenum">
              <a:rPr lang="en-US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Trade-Off</a:t>
            </a:r>
          </a:p>
        </p:txBody>
      </p:sp>
      <p:sp>
        <p:nvSpPr>
          <p:cNvPr id="96153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/>
              <a:t>Latency of route discovery</a:t>
            </a:r>
          </a:p>
          <a:p>
            <a:pPr lvl="1"/>
            <a:r>
              <a:rPr lang="en-US"/>
              <a:t>Proactive protocols may have lower latency since routes are maintained at all times</a:t>
            </a:r>
          </a:p>
          <a:p>
            <a:pPr lvl="1"/>
            <a:r>
              <a:rPr lang="en-US"/>
              <a:t>Reactive protocols may have higher latency because a route from X to Y will be found only when X attempts to send to Y</a:t>
            </a:r>
          </a:p>
          <a:p>
            <a:pPr lvl="1"/>
            <a:endParaRPr lang="en-US"/>
          </a:p>
          <a:p>
            <a:r>
              <a:rPr lang="en-US"/>
              <a:t>Overhead of route discovery/maintenance</a:t>
            </a:r>
          </a:p>
          <a:p>
            <a:pPr lvl="1"/>
            <a:r>
              <a:rPr lang="en-US"/>
              <a:t>Reactive protocols may have lower overhead since routes are determined only if needed</a:t>
            </a:r>
          </a:p>
          <a:p>
            <a:pPr lvl="1"/>
            <a:r>
              <a:rPr lang="en-US"/>
              <a:t>Proactive protocols can (but not necessarily) result in higher overhead due to continuous route updating</a:t>
            </a:r>
          </a:p>
          <a:p>
            <a:pPr lvl="1"/>
            <a:endParaRPr lang="en-US"/>
          </a:p>
          <a:p>
            <a:r>
              <a:rPr lang="en-US"/>
              <a:t>Which approach achieves a better trade-off depends on the traffic and mobility patterns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EB1AF-F0DE-435B-97BC-8E838BA45930}" type="slidenum">
              <a:rPr lang="en-US"/>
              <a:pPr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8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en-US"/>
              <a:t>Overview of Unicast Routing Protocols</a:t>
            </a:r>
          </a:p>
        </p:txBody>
      </p:sp>
      <p:sp>
        <p:nvSpPr>
          <p:cNvPr id="63181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8C3C2-21B4-42D2-9094-65C5E0447F4E}" type="slidenum">
              <a:rPr lang="en-US"/>
              <a:pPr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Flooding for Data Delivery</a:t>
            </a:r>
          </a:p>
        </p:txBody>
      </p:sp>
      <p:sp>
        <p:nvSpPr>
          <p:cNvPr id="63078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Sender S broadcasts data packet P to all its neighbors</a:t>
            </a:r>
          </a:p>
          <a:p>
            <a:endParaRPr lang="en-US"/>
          </a:p>
          <a:p>
            <a:r>
              <a:rPr lang="en-US"/>
              <a:t>Each node receiving P forwards P to its neighbors</a:t>
            </a:r>
          </a:p>
          <a:p>
            <a:endParaRPr lang="en-US"/>
          </a:p>
          <a:p>
            <a:r>
              <a:rPr lang="en-US"/>
              <a:t>Sequence numbers used to avoid the possibility of forwarding the same packet more than once</a:t>
            </a:r>
          </a:p>
          <a:p>
            <a:endParaRPr lang="en-US"/>
          </a:p>
          <a:p>
            <a:r>
              <a:rPr lang="en-US"/>
              <a:t>Packet P reaches destination D provided that D is reachable from sender S</a:t>
            </a:r>
          </a:p>
          <a:p>
            <a:endParaRPr lang="en-US"/>
          </a:p>
          <a:p>
            <a:r>
              <a:rPr lang="en-US"/>
              <a:t>Node D does not forward the packet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7BBAD-2432-4206-BFB4-356AF5434C53}" type="slidenum">
              <a:rPr lang="en-US"/>
              <a:pPr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Flooding for Data Delivery</a:t>
            </a:r>
          </a:p>
        </p:txBody>
      </p:sp>
      <p:sp>
        <p:nvSpPr>
          <p:cNvPr id="4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0F454-5142-4167-941F-45F991C9E5C1}" type="slidenum">
              <a:rPr lang="en-US"/>
              <a:pPr/>
              <a:t>18</a:t>
            </a:fld>
            <a:endParaRPr lang="en-US"/>
          </a:p>
        </p:txBody>
      </p:sp>
      <p:sp>
        <p:nvSpPr>
          <p:cNvPr id="633860" name="Oval 4"/>
          <p:cNvSpPr>
            <a:spLocks noChangeArrowheads="1"/>
          </p:cNvSpPr>
          <p:nvPr/>
        </p:nvSpPr>
        <p:spPr bwMode="auto">
          <a:xfrm>
            <a:off x="2209800" y="28956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B</a:t>
            </a:r>
          </a:p>
        </p:txBody>
      </p:sp>
      <p:sp>
        <p:nvSpPr>
          <p:cNvPr id="633861" name="Oval 5"/>
          <p:cNvSpPr>
            <a:spLocks noChangeArrowheads="1"/>
          </p:cNvSpPr>
          <p:nvPr/>
        </p:nvSpPr>
        <p:spPr bwMode="auto">
          <a:xfrm>
            <a:off x="1447800" y="35814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A</a:t>
            </a:r>
          </a:p>
        </p:txBody>
      </p:sp>
      <p:sp>
        <p:nvSpPr>
          <p:cNvPr id="633862" name="Oval 6" descr="Water droplets"/>
          <p:cNvSpPr>
            <a:spLocks noChangeArrowheads="1"/>
          </p:cNvSpPr>
          <p:nvPr/>
        </p:nvSpPr>
        <p:spPr bwMode="auto">
          <a:xfrm>
            <a:off x="3124200" y="22860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S</a:t>
            </a:r>
          </a:p>
        </p:txBody>
      </p:sp>
      <p:sp>
        <p:nvSpPr>
          <p:cNvPr id="633863" name="Oval 7"/>
          <p:cNvSpPr>
            <a:spLocks noChangeArrowheads="1"/>
          </p:cNvSpPr>
          <p:nvPr/>
        </p:nvSpPr>
        <p:spPr bwMode="auto">
          <a:xfrm>
            <a:off x="4114800" y="23622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E</a:t>
            </a:r>
          </a:p>
        </p:txBody>
      </p:sp>
      <p:sp>
        <p:nvSpPr>
          <p:cNvPr id="633864" name="Oval 8"/>
          <p:cNvSpPr>
            <a:spLocks noChangeArrowheads="1"/>
          </p:cNvSpPr>
          <p:nvPr/>
        </p:nvSpPr>
        <p:spPr bwMode="auto">
          <a:xfrm>
            <a:off x="5105400" y="27432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F</a:t>
            </a:r>
          </a:p>
        </p:txBody>
      </p:sp>
      <p:sp>
        <p:nvSpPr>
          <p:cNvPr id="633865" name="Oval 9"/>
          <p:cNvSpPr>
            <a:spLocks noChangeArrowheads="1"/>
          </p:cNvSpPr>
          <p:nvPr/>
        </p:nvSpPr>
        <p:spPr bwMode="auto">
          <a:xfrm>
            <a:off x="2667000" y="38862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H</a:t>
            </a:r>
          </a:p>
        </p:txBody>
      </p:sp>
      <p:sp>
        <p:nvSpPr>
          <p:cNvPr id="633866" name="Oval 10"/>
          <p:cNvSpPr>
            <a:spLocks noChangeArrowheads="1"/>
          </p:cNvSpPr>
          <p:nvPr/>
        </p:nvSpPr>
        <p:spPr bwMode="auto">
          <a:xfrm>
            <a:off x="5943600" y="32766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J</a:t>
            </a:r>
          </a:p>
        </p:txBody>
      </p:sp>
      <p:sp>
        <p:nvSpPr>
          <p:cNvPr id="633867" name="Oval 11"/>
          <p:cNvSpPr>
            <a:spLocks noChangeArrowheads="1"/>
          </p:cNvSpPr>
          <p:nvPr/>
        </p:nvSpPr>
        <p:spPr bwMode="auto">
          <a:xfrm>
            <a:off x="6705600" y="38862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D</a:t>
            </a:r>
          </a:p>
        </p:txBody>
      </p:sp>
      <p:sp>
        <p:nvSpPr>
          <p:cNvPr id="633868" name="Oval 12"/>
          <p:cNvSpPr>
            <a:spLocks noChangeArrowheads="1"/>
          </p:cNvSpPr>
          <p:nvPr/>
        </p:nvSpPr>
        <p:spPr bwMode="auto">
          <a:xfrm>
            <a:off x="3505200" y="3048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C</a:t>
            </a:r>
          </a:p>
        </p:txBody>
      </p:sp>
      <p:sp>
        <p:nvSpPr>
          <p:cNvPr id="633869" name="Oval 13"/>
          <p:cNvSpPr>
            <a:spLocks noChangeArrowheads="1"/>
          </p:cNvSpPr>
          <p:nvPr/>
        </p:nvSpPr>
        <p:spPr bwMode="auto">
          <a:xfrm>
            <a:off x="4572000" y="35814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G</a:t>
            </a:r>
          </a:p>
        </p:txBody>
      </p:sp>
      <p:sp>
        <p:nvSpPr>
          <p:cNvPr id="633870" name="Oval 14"/>
          <p:cNvSpPr>
            <a:spLocks noChangeArrowheads="1"/>
          </p:cNvSpPr>
          <p:nvPr/>
        </p:nvSpPr>
        <p:spPr bwMode="auto">
          <a:xfrm>
            <a:off x="3733800" y="44196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I</a:t>
            </a:r>
          </a:p>
        </p:txBody>
      </p:sp>
      <p:sp>
        <p:nvSpPr>
          <p:cNvPr id="633871" name="Oval 15"/>
          <p:cNvSpPr>
            <a:spLocks noChangeArrowheads="1"/>
          </p:cNvSpPr>
          <p:nvPr/>
        </p:nvSpPr>
        <p:spPr bwMode="auto">
          <a:xfrm>
            <a:off x="5486400" y="41148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K</a:t>
            </a:r>
          </a:p>
        </p:txBody>
      </p:sp>
      <p:sp>
        <p:nvSpPr>
          <p:cNvPr id="633872" name="Line 16"/>
          <p:cNvSpPr>
            <a:spLocks noChangeShapeType="1"/>
          </p:cNvSpPr>
          <p:nvPr/>
        </p:nvSpPr>
        <p:spPr bwMode="auto">
          <a:xfrm flipV="1">
            <a:off x="1981200" y="3352800"/>
            <a:ext cx="304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3873" name="Line 17"/>
          <p:cNvSpPr>
            <a:spLocks noChangeShapeType="1"/>
          </p:cNvSpPr>
          <p:nvPr/>
        </p:nvSpPr>
        <p:spPr bwMode="auto">
          <a:xfrm flipV="1">
            <a:off x="2743200" y="2743200"/>
            <a:ext cx="457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3875" name="Line 19"/>
          <p:cNvSpPr>
            <a:spLocks noChangeShapeType="1"/>
          </p:cNvSpPr>
          <p:nvPr/>
        </p:nvSpPr>
        <p:spPr bwMode="auto">
          <a:xfrm>
            <a:off x="2057400" y="3962400"/>
            <a:ext cx="6858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3876" name="Line 20"/>
          <p:cNvSpPr>
            <a:spLocks noChangeShapeType="1"/>
          </p:cNvSpPr>
          <p:nvPr/>
        </p:nvSpPr>
        <p:spPr bwMode="auto">
          <a:xfrm>
            <a:off x="2667000" y="3429000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3877" name="Line 21"/>
          <p:cNvSpPr>
            <a:spLocks noChangeShapeType="1"/>
          </p:cNvSpPr>
          <p:nvPr/>
        </p:nvSpPr>
        <p:spPr bwMode="auto">
          <a:xfrm flipH="1">
            <a:off x="3124200" y="3581400"/>
            <a:ext cx="533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3878" name="Line 22"/>
          <p:cNvSpPr>
            <a:spLocks noChangeShapeType="1"/>
          </p:cNvSpPr>
          <p:nvPr/>
        </p:nvSpPr>
        <p:spPr bwMode="auto">
          <a:xfrm flipH="1">
            <a:off x="3962400" y="28956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3879" name="Line 23"/>
          <p:cNvSpPr>
            <a:spLocks noChangeShapeType="1"/>
          </p:cNvSpPr>
          <p:nvPr/>
        </p:nvSpPr>
        <p:spPr bwMode="auto">
          <a:xfrm>
            <a:off x="4724400" y="2743200"/>
            <a:ext cx="457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3880" name="Line 24"/>
          <p:cNvSpPr>
            <a:spLocks noChangeShapeType="1"/>
          </p:cNvSpPr>
          <p:nvPr/>
        </p:nvSpPr>
        <p:spPr bwMode="auto">
          <a:xfrm flipH="1">
            <a:off x="5029200" y="32766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3881" name="Line 25"/>
          <p:cNvSpPr>
            <a:spLocks noChangeShapeType="1"/>
          </p:cNvSpPr>
          <p:nvPr/>
        </p:nvSpPr>
        <p:spPr bwMode="auto">
          <a:xfrm flipH="1">
            <a:off x="4191000" y="4114800"/>
            <a:ext cx="457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3882" name="Line 26"/>
          <p:cNvSpPr>
            <a:spLocks noChangeShapeType="1"/>
          </p:cNvSpPr>
          <p:nvPr/>
        </p:nvSpPr>
        <p:spPr bwMode="auto">
          <a:xfrm>
            <a:off x="4114800" y="3505200"/>
            <a:ext cx="457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3883" name="Line 27"/>
          <p:cNvSpPr>
            <a:spLocks noChangeShapeType="1"/>
          </p:cNvSpPr>
          <p:nvPr/>
        </p:nvSpPr>
        <p:spPr bwMode="auto">
          <a:xfrm>
            <a:off x="3200400" y="4343400"/>
            <a:ext cx="533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3884" name="Line 28"/>
          <p:cNvSpPr>
            <a:spLocks noChangeShapeType="1"/>
          </p:cNvSpPr>
          <p:nvPr/>
        </p:nvSpPr>
        <p:spPr bwMode="auto">
          <a:xfrm>
            <a:off x="5638800" y="3200400"/>
            <a:ext cx="381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3885" name="Line 29"/>
          <p:cNvSpPr>
            <a:spLocks noChangeShapeType="1"/>
          </p:cNvSpPr>
          <p:nvPr/>
        </p:nvSpPr>
        <p:spPr bwMode="auto">
          <a:xfrm>
            <a:off x="5105400" y="4114800"/>
            <a:ext cx="381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3887" name="Line 31"/>
          <p:cNvSpPr>
            <a:spLocks noChangeShapeType="1"/>
          </p:cNvSpPr>
          <p:nvPr/>
        </p:nvSpPr>
        <p:spPr bwMode="auto">
          <a:xfrm>
            <a:off x="6477000" y="3733800"/>
            <a:ext cx="304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3889" name="Line 33"/>
          <p:cNvSpPr>
            <a:spLocks noChangeShapeType="1"/>
          </p:cNvSpPr>
          <p:nvPr/>
        </p:nvSpPr>
        <p:spPr bwMode="auto">
          <a:xfrm flipH="1">
            <a:off x="6096000" y="4267200"/>
            <a:ext cx="609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3890" name="Line 34"/>
          <p:cNvSpPr>
            <a:spLocks noChangeShapeType="1"/>
          </p:cNvSpPr>
          <p:nvPr/>
        </p:nvSpPr>
        <p:spPr bwMode="auto">
          <a:xfrm flipH="1">
            <a:off x="3733800" y="25908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3891" name="Line 35"/>
          <p:cNvSpPr>
            <a:spLocks noChangeShapeType="1"/>
          </p:cNvSpPr>
          <p:nvPr/>
        </p:nvSpPr>
        <p:spPr bwMode="auto">
          <a:xfrm>
            <a:off x="3505200" y="28956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3892" name="Line 36"/>
          <p:cNvSpPr>
            <a:spLocks noChangeShapeType="1"/>
          </p:cNvSpPr>
          <p:nvPr/>
        </p:nvSpPr>
        <p:spPr bwMode="auto">
          <a:xfrm>
            <a:off x="762000" y="61722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3893" name="Text Box 37"/>
          <p:cNvSpPr txBox="1">
            <a:spLocks noChangeArrowheads="1"/>
          </p:cNvSpPr>
          <p:nvPr/>
        </p:nvSpPr>
        <p:spPr bwMode="auto">
          <a:xfrm>
            <a:off x="1676400" y="5943600"/>
            <a:ext cx="62357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l"/>
            <a:r>
              <a:rPr lang="en-US"/>
              <a:t>Represents that connected nodes are within each </a:t>
            </a:r>
          </a:p>
          <a:p>
            <a:pPr algn="l"/>
            <a:r>
              <a:rPr lang="en-US"/>
              <a:t>other’s transmission range</a:t>
            </a:r>
          </a:p>
        </p:txBody>
      </p:sp>
      <p:sp>
        <p:nvSpPr>
          <p:cNvPr id="633894" name="Oval 38"/>
          <p:cNvSpPr>
            <a:spLocks noChangeArrowheads="1"/>
          </p:cNvSpPr>
          <p:nvPr/>
        </p:nvSpPr>
        <p:spPr bwMode="auto">
          <a:xfrm>
            <a:off x="7162800" y="1905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Z</a:t>
            </a:r>
          </a:p>
        </p:txBody>
      </p:sp>
      <p:sp>
        <p:nvSpPr>
          <p:cNvPr id="633895" name="Oval 39"/>
          <p:cNvSpPr>
            <a:spLocks noChangeArrowheads="1"/>
          </p:cNvSpPr>
          <p:nvPr/>
        </p:nvSpPr>
        <p:spPr bwMode="auto">
          <a:xfrm>
            <a:off x="7467600" y="1143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Y</a:t>
            </a:r>
          </a:p>
        </p:txBody>
      </p:sp>
      <p:sp>
        <p:nvSpPr>
          <p:cNvPr id="633896" name="Line 40"/>
          <p:cNvSpPr>
            <a:spLocks noChangeShapeType="1"/>
          </p:cNvSpPr>
          <p:nvPr/>
        </p:nvSpPr>
        <p:spPr bwMode="auto">
          <a:xfrm flipH="1">
            <a:off x="7543800" y="1752600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3897" name="Oval 41" descr="Water droplets"/>
          <p:cNvSpPr>
            <a:spLocks noChangeArrowheads="1"/>
          </p:cNvSpPr>
          <p:nvPr/>
        </p:nvSpPr>
        <p:spPr bwMode="auto">
          <a:xfrm>
            <a:off x="685800" y="51816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3898" name="Text Box 42"/>
          <p:cNvSpPr txBox="1">
            <a:spLocks noChangeArrowheads="1"/>
          </p:cNvSpPr>
          <p:nvPr/>
        </p:nvSpPr>
        <p:spPr bwMode="auto">
          <a:xfrm>
            <a:off x="1676400" y="5334000"/>
            <a:ext cx="5715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l"/>
            <a:r>
              <a:rPr lang="en-US"/>
              <a:t>Represents a node that has received packet P</a:t>
            </a:r>
          </a:p>
        </p:txBody>
      </p:sp>
      <p:sp>
        <p:nvSpPr>
          <p:cNvPr id="633901" name="Oval 45"/>
          <p:cNvSpPr>
            <a:spLocks noChangeArrowheads="1"/>
          </p:cNvSpPr>
          <p:nvPr/>
        </p:nvSpPr>
        <p:spPr bwMode="auto">
          <a:xfrm>
            <a:off x="6934200" y="3048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M</a:t>
            </a:r>
          </a:p>
        </p:txBody>
      </p:sp>
      <p:sp>
        <p:nvSpPr>
          <p:cNvPr id="633902" name="Line 46"/>
          <p:cNvSpPr>
            <a:spLocks noChangeShapeType="1"/>
          </p:cNvSpPr>
          <p:nvPr/>
        </p:nvSpPr>
        <p:spPr bwMode="auto">
          <a:xfrm flipV="1">
            <a:off x="6553200" y="3352800"/>
            <a:ext cx="3810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3908" name="Oval 52"/>
          <p:cNvSpPr>
            <a:spLocks noChangeArrowheads="1"/>
          </p:cNvSpPr>
          <p:nvPr/>
        </p:nvSpPr>
        <p:spPr bwMode="auto">
          <a:xfrm>
            <a:off x="7391400" y="44196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N</a:t>
            </a:r>
          </a:p>
        </p:txBody>
      </p:sp>
      <p:sp>
        <p:nvSpPr>
          <p:cNvPr id="633909" name="Line 53"/>
          <p:cNvSpPr>
            <a:spLocks noChangeShapeType="1"/>
          </p:cNvSpPr>
          <p:nvPr/>
        </p:nvSpPr>
        <p:spPr bwMode="auto">
          <a:xfrm>
            <a:off x="7239000" y="4419600"/>
            <a:ext cx="228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3910" name="Oval 54"/>
          <p:cNvSpPr>
            <a:spLocks noChangeArrowheads="1"/>
          </p:cNvSpPr>
          <p:nvPr/>
        </p:nvSpPr>
        <p:spPr bwMode="auto">
          <a:xfrm>
            <a:off x="7848600" y="3048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L</a:t>
            </a:r>
          </a:p>
        </p:txBody>
      </p:sp>
      <p:sp>
        <p:nvSpPr>
          <p:cNvPr id="633911" name="Line 55"/>
          <p:cNvSpPr>
            <a:spLocks noChangeShapeType="1"/>
          </p:cNvSpPr>
          <p:nvPr/>
        </p:nvSpPr>
        <p:spPr bwMode="auto">
          <a:xfrm>
            <a:off x="7543800" y="33528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8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229600" cy="1143000"/>
          </a:xfrm>
        </p:spPr>
        <p:txBody>
          <a:bodyPr/>
          <a:lstStyle/>
          <a:p>
            <a:r>
              <a:rPr lang="en-US" dirty="0"/>
              <a:t>Flooding for Data Delivery</a:t>
            </a:r>
          </a:p>
        </p:txBody>
      </p:sp>
      <p:sp>
        <p:nvSpPr>
          <p:cNvPr id="4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7ECCD-E01C-4B2E-BCB6-4A4C09E1094F}" type="slidenum">
              <a:rPr lang="en-US"/>
              <a:pPr/>
              <a:t>19</a:t>
            </a:fld>
            <a:endParaRPr lang="en-US"/>
          </a:p>
        </p:txBody>
      </p:sp>
      <p:sp>
        <p:nvSpPr>
          <p:cNvPr id="634883" name="Oval 3" descr="Water droplets"/>
          <p:cNvSpPr>
            <a:spLocks noChangeArrowheads="1"/>
          </p:cNvSpPr>
          <p:nvPr/>
        </p:nvSpPr>
        <p:spPr bwMode="auto">
          <a:xfrm>
            <a:off x="2209800" y="28956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B</a:t>
            </a:r>
          </a:p>
        </p:txBody>
      </p:sp>
      <p:sp>
        <p:nvSpPr>
          <p:cNvPr id="634884" name="Oval 4"/>
          <p:cNvSpPr>
            <a:spLocks noChangeArrowheads="1"/>
          </p:cNvSpPr>
          <p:nvPr/>
        </p:nvSpPr>
        <p:spPr bwMode="auto">
          <a:xfrm>
            <a:off x="1447800" y="35814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A</a:t>
            </a:r>
          </a:p>
        </p:txBody>
      </p:sp>
      <p:sp>
        <p:nvSpPr>
          <p:cNvPr id="634885" name="Oval 5" descr="Water droplets"/>
          <p:cNvSpPr>
            <a:spLocks noChangeArrowheads="1"/>
          </p:cNvSpPr>
          <p:nvPr/>
        </p:nvSpPr>
        <p:spPr bwMode="auto">
          <a:xfrm>
            <a:off x="3124200" y="22860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S</a:t>
            </a:r>
          </a:p>
        </p:txBody>
      </p:sp>
      <p:sp>
        <p:nvSpPr>
          <p:cNvPr id="634886" name="Oval 6" descr="Water droplets"/>
          <p:cNvSpPr>
            <a:spLocks noChangeArrowheads="1"/>
          </p:cNvSpPr>
          <p:nvPr/>
        </p:nvSpPr>
        <p:spPr bwMode="auto">
          <a:xfrm>
            <a:off x="4114800" y="23622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E</a:t>
            </a:r>
          </a:p>
        </p:txBody>
      </p:sp>
      <p:sp>
        <p:nvSpPr>
          <p:cNvPr id="634887" name="Oval 7"/>
          <p:cNvSpPr>
            <a:spLocks noChangeArrowheads="1"/>
          </p:cNvSpPr>
          <p:nvPr/>
        </p:nvSpPr>
        <p:spPr bwMode="auto">
          <a:xfrm>
            <a:off x="5105400" y="27432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F</a:t>
            </a:r>
          </a:p>
        </p:txBody>
      </p:sp>
      <p:sp>
        <p:nvSpPr>
          <p:cNvPr id="634888" name="Oval 8"/>
          <p:cNvSpPr>
            <a:spLocks noChangeArrowheads="1"/>
          </p:cNvSpPr>
          <p:nvPr/>
        </p:nvSpPr>
        <p:spPr bwMode="auto">
          <a:xfrm>
            <a:off x="2667000" y="38862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H</a:t>
            </a:r>
          </a:p>
        </p:txBody>
      </p:sp>
      <p:sp>
        <p:nvSpPr>
          <p:cNvPr id="634889" name="Oval 9"/>
          <p:cNvSpPr>
            <a:spLocks noChangeArrowheads="1"/>
          </p:cNvSpPr>
          <p:nvPr/>
        </p:nvSpPr>
        <p:spPr bwMode="auto">
          <a:xfrm>
            <a:off x="5943600" y="32766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J</a:t>
            </a:r>
          </a:p>
        </p:txBody>
      </p:sp>
      <p:sp>
        <p:nvSpPr>
          <p:cNvPr id="634890" name="Oval 10"/>
          <p:cNvSpPr>
            <a:spLocks noChangeArrowheads="1"/>
          </p:cNvSpPr>
          <p:nvPr/>
        </p:nvSpPr>
        <p:spPr bwMode="auto">
          <a:xfrm>
            <a:off x="6705600" y="38862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D</a:t>
            </a:r>
          </a:p>
        </p:txBody>
      </p:sp>
      <p:sp>
        <p:nvSpPr>
          <p:cNvPr id="634891" name="Oval 11" descr="Water droplets"/>
          <p:cNvSpPr>
            <a:spLocks noChangeArrowheads="1"/>
          </p:cNvSpPr>
          <p:nvPr/>
        </p:nvSpPr>
        <p:spPr bwMode="auto">
          <a:xfrm>
            <a:off x="3505200" y="30480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C</a:t>
            </a:r>
          </a:p>
        </p:txBody>
      </p:sp>
      <p:sp>
        <p:nvSpPr>
          <p:cNvPr id="634892" name="Oval 12"/>
          <p:cNvSpPr>
            <a:spLocks noChangeArrowheads="1"/>
          </p:cNvSpPr>
          <p:nvPr/>
        </p:nvSpPr>
        <p:spPr bwMode="auto">
          <a:xfrm>
            <a:off x="4572000" y="35814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G</a:t>
            </a:r>
          </a:p>
        </p:txBody>
      </p:sp>
      <p:sp>
        <p:nvSpPr>
          <p:cNvPr id="634893" name="Oval 13"/>
          <p:cNvSpPr>
            <a:spLocks noChangeArrowheads="1"/>
          </p:cNvSpPr>
          <p:nvPr/>
        </p:nvSpPr>
        <p:spPr bwMode="auto">
          <a:xfrm>
            <a:off x="3733800" y="44196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I</a:t>
            </a:r>
          </a:p>
        </p:txBody>
      </p:sp>
      <p:sp>
        <p:nvSpPr>
          <p:cNvPr id="634894" name="Oval 14"/>
          <p:cNvSpPr>
            <a:spLocks noChangeArrowheads="1"/>
          </p:cNvSpPr>
          <p:nvPr/>
        </p:nvSpPr>
        <p:spPr bwMode="auto">
          <a:xfrm>
            <a:off x="5486400" y="41148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K</a:t>
            </a:r>
          </a:p>
        </p:txBody>
      </p:sp>
      <p:sp>
        <p:nvSpPr>
          <p:cNvPr id="634895" name="Line 15"/>
          <p:cNvSpPr>
            <a:spLocks noChangeShapeType="1"/>
          </p:cNvSpPr>
          <p:nvPr/>
        </p:nvSpPr>
        <p:spPr bwMode="auto">
          <a:xfrm flipV="1">
            <a:off x="1981200" y="3352800"/>
            <a:ext cx="304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4896" name="Line 16"/>
          <p:cNvSpPr>
            <a:spLocks noChangeShapeType="1"/>
          </p:cNvSpPr>
          <p:nvPr/>
        </p:nvSpPr>
        <p:spPr bwMode="auto">
          <a:xfrm flipV="1">
            <a:off x="2743200" y="2743200"/>
            <a:ext cx="457200" cy="2286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4897" name="Line 17"/>
          <p:cNvSpPr>
            <a:spLocks noChangeShapeType="1"/>
          </p:cNvSpPr>
          <p:nvPr/>
        </p:nvSpPr>
        <p:spPr bwMode="auto">
          <a:xfrm>
            <a:off x="2057400" y="3962400"/>
            <a:ext cx="6858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4898" name="Line 18"/>
          <p:cNvSpPr>
            <a:spLocks noChangeShapeType="1"/>
          </p:cNvSpPr>
          <p:nvPr/>
        </p:nvSpPr>
        <p:spPr bwMode="auto">
          <a:xfrm>
            <a:off x="2667000" y="3429000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4899" name="Line 19"/>
          <p:cNvSpPr>
            <a:spLocks noChangeShapeType="1"/>
          </p:cNvSpPr>
          <p:nvPr/>
        </p:nvSpPr>
        <p:spPr bwMode="auto">
          <a:xfrm flipH="1">
            <a:off x="3124200" y="3581400"/>
            <a:ext cx="533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4900" name="Line 20"/>
          <p:cNvSpPr>
            <a:spLocks noChangeShapeType="1"/>
          </p:cNvSpPr>
          <p:nvPr/>
        </p:nvSpPr>
        <p:spPr bwMode="auto">
          <a:xfrm flipH="1">
            <a:off x="3962400" y="28956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4901" name="Line 21"/>
          <p:cNvSpPr>
            <a:spLocks noChangeShapeType="1"/>
          </p:cNvSpPr>
          <p:nvPr/>
        </p:nvSpPr>
        <p:spPr bwMode="auto">
          <a:xfrm>
            <a:off x="4724400" y="2743200"/>
            <a:ext cx="457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4902" name="Line 22"/>
          <p:cNvSpPr>
            <a:spLocks noChangeShapeType="1"/>
          </p:cNvSpPr>
          <p:nvPr/>
        </p:nvSpPr>
        <p:spPr bwMode="auto">
          <a:xfrm flipH="1">
            <a:off x="5029200" y="32766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4903" name="Line 23"/>
          <p:cNvSpPr>
            <a:spLocks noChangeShapeType="1"/>
          </p:cNvSpPr>
          <p:nvPr/>
        </p:nvSpPr>
        <p:spPr bwMode="auto">
          <a:xfrm flipH="1">
            <a:off x="4191000" y="4114800"/>
            <a:ext cx="457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4904" name="Line 24"/>
          <p:cNvSpPr>
            <a:spLocks noChangeShapeType="1"/>
          </p:cNvSpPr>
          <p:nvPr/>
        </p:nvSpPr>
        <p:spPr bwMode="auto">
          <a:xfrm>
            <a:off x="4114800" y="3505200"/>
            <a:ext cx="457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4905" name="Line 25"/>
          <p:cNvSpPr>
            <a:spLocks noChangeShapeType="1"/>
          </p:cNvSpPr>
          <p:nvPr/>
        </p:nvSpPr>
        <p:spPr bwMode="auto">
          <a:xfrm>
            <a:off x="3200400" y="4343400"/>
            <a:ext cx="533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4906" name="Line 26"/>
          <p:cNvSpPr>
            <a:spLocks noChangeShapeType="1"/>
          </p:cNvSpPr>
          <p:nvPr/>
        </p:nvSpPr>
        <p:spPr bwMode="auto">
          <a:xfrm>
            <a:off x="5638800" y="3200400"/>
            <a:ext cx="381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4907" name="Line 27"/>
          <p:cNvSpPr>
            <a:spLocks noChangeShapeType="1"/>
          </p:cNvSpPr>
          <p:nvPr/>
        </p:nvSpPr>
        <p:spPr bwMode="auto">
          <a:xfrm>
            <a:off x="5105400" y="4114800"/>
            <a:ext cx="381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4909" name="Line 29"/>
          <p:cNvSpPr>
            <a:spLocks noChangeShapeType="1"/>
          </p:cNvSpPr>
          <p:nvPr/>
        </p:nvSpPr>
        <p:spPr bwMode="auto">
          <a:xfrm>
            <a:off x="6477000" y="3733800"/>
            <a:ext cx="304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4910" name="Line 30"/>
          <p:cNvSpPr>
            <a:spLocks noChangeShapeType="1"/>
          </p:cNvSpPr>
          <p:nvPr/>
        </p:nvSpPr>
        <p:spPr bwMode="auto">
          <a:xfrm flipH="1">
            <a:off x="6096000" y="4267200"/>
            <a:ext cx="609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4911" name="Line 31"/>
          <p:cNvSpPr>
            <a:spLocks noChangeShapeType="1"/>
          </p:cNvSpPr>
          <p:nvPr/>
        </p:nvSpPr>
        <p:spPr bwMode="auto">
          <a:xfrm flipH="1">
            <a:off x="3733800" y="2590800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4912" name="Line 32"/>
          <p:cNvSpPr>
            <a:spLocks noChangeShapeType="1"/>
          </p:cNvSpPr>
          <p:nvPr/>
        </p:nvSpPr>
        <p:spPr bwMode="auto">
          <a:xfrm>
            <a:off x="3505200" y="2895600"/>
            <a:ext cx="152400" cy="2286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4913" name="Line 33"/>
          <p:cNvSpPr>
            <a:spLocks noChangeShapeType="1"/>
          </p:cNvSpPr>
          <p:nvPr/>
        </p:nvSpPr>
        <p:spPr bwMode="auto">
          <a:xfrm>
            <a:off x="762000" y="6172200"/>
            <a:ext cx="685800" cy="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4914" name="Text Box 34"/>
          <p:cNvSpPr txBox="1">
            <a:spLocks noChangeArrowheads="1"/>
          </p:cNvSpPr>
          <p:nvPr/>
        </p:nvSpPr>
        <p:spPr bwMode="auto">
          <a:xfrm>
            <a:off x="1662113" y="5973763"/>
            <a:ext cx="46418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l"/>
            <a:r>
              <a:rPr lang="en-US"/>
              <a:t>Represents transmission of packet P</a:t>
            </a:r>
          </a:p>
        </p:txBody>
      </p:sp>
      <p:sp>
        <p:nvSpPr>
          <p:cNvPr id="634915" name="Oval 35" descr="Water droplets"/>
          <p:cNvSpPr>
            <a:spLocks noChangeArrowheads="1"/>
          </p:cNvSpPr>
          <p:nvPr/>
        </p:nvSpPr>
        <p:spPr bwMode="auto">
          <a:xfrm>
            <a:off x="838200" y="51816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4916" name="Text Box 36"/>
          <p:cNvSpPr txBox="1">
            <a:spLocks noChangeArrowheads="1"/>
          </p:cNvSpPr>
          <p:nvPr/>
        </p:nvSpPr>
        <p:spPr bwMode="auto">
          <a:xfrm>
            <a:off x="1676400" y="5181600"/>
            <a:ext cx="56007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l"/>
            <a:r>
              <a:rPr lang="en-US"/>
              <a:t>Represents a node that receives packet P for</a:t>
            </a:r>
          </a:p>
          <a:p>
            <a:pPr algn="l"/>
            <a:r>
              <a:rPr lang="en-US"/>
              <a:t>the first time</a:t>
            </a:r>
          </a:p>
        </p:txBody>
      </p:sp>
      <p:sp>
        <p:nvSpPr>
          <p:cNvPr id="634917" name="Oval 37"/>
          <p:cNvSpPr>
            <a:spLocks noChangeArrowheads="1"/>
          </p:cNvSpPr>
          <p:nvPr/>
        </p:nvSpPr>
        <p:spPr bwMode="auto">
          <a:xfrm>
            <a:off x="7162800" y="1905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Z</a:t>
            </a:r>
          </a:p>
        </p:txBody>
      </p:sp>
      <p:sp>
        <p:nvSpPr>
          <p:cNvPr id="634918" name="Oval 38"/>
          <p:cNvSpPr>
            <a:spLocks noChangeArrowheads="1"/>
          </p:cNvSpPr>
          <p:nvPr/>
        </p:nvSpPr>
        <p:spPr bwMode="auto">
          <a:xfrm>
            <a:off x="7467600" y="1143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Y</a:t>
            </a:r>
          </a:p>
        </p:txBody>
      </p:sp>
      <p:sp>
        <p:nvSpPr>
          <p:cNvPr id="634919" name="Line 39"/>
          <p:cNvSpPr>
            <a:spLocks noChangeShapeType="1"/>
          </p:cNvSpPr>
          <p:nvPr/>
        </p:nvSpPr>
        <p:spPr bwMode="auto">
          <a:xfrm flipH="1">
            <a:off x="7543800" y="1752600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4920" name="Text Box 40"/>
          <p:cNvSpPr txBox="1">
            <a:spLocks noChangeArrowheads="1"/>
          </p:cNvSpPr>
          <p:nvPr/>
        </p:nvSpPr>
        <p:spPr bwMode="auto">
          <a:xfrm>
            <a:off x="0" y="1447800"/>
            <a:ext cx="30765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/>
              <a:t>Broadcast transmission</a:t>
            </a:r>
          </a:p>
        </p:txBody>
      </p:sp>
      <p:sp>
        <p:nvSpPr>
          <p:cNvPr id="634921" name="Freeform 41"/>
          <p:cNvSpPr>
            <a:spLocks/>
          </p:cNvSpPr>
          <p:nvPr/>
        </p:nvSpPr>
        <p:spPr bwMode="auto">
          <a:xfrm>
            <a:off x="1143000" y="1828800"/>
            <a:ext cx="1676400" cy="7620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672" y="192"/>
              </a:cxn>
              <a:cxn ang="0">
                <a:pos x="1056" y="480"/>
              </a:cxn>
            </a:cxnLst>
            <a:rect l="0" t="0" r="r" b="b"/>
            <a:pathLst>
              <a:path w="1056" h="480">
                <a:moveTo>
                  <a:pt x="0" y="0"/>
                </a:moveTo>
                <a:cubicBezTo>
                  <a:pt x="248" y="56"/>
                  <a:pt x="496" y="112"/>
                  <a:pt x="672" y="192"/>
                </a:cubicBezTo>
                <a:cubicBezTo>
                  <a:pt x="848" y="272"/>
                  <a:pt x="984" y="424"/>
                  <a:pt x="1056" y="48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4924" name="Oval 44"/>
          <p:cNvSpPr>
            <a:spLocks noChangeArrowheads="1"/>
          </p:cNvSpPr>
          <p:nvPr/>
        </p:nvSpPr>
        <p:spPr bwMode="auto">
          <a:xfrm>
            <a:off x="6934200" y="3048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M</a:t>
            </a:r>
          </a:p>
        </p:txBody>
      </p:sp>
      <p:sp>
        <p:nvSpPr>
          <p:cNvPr id="634925" name="Line 45"/>
          <p:cNvSpPr>
            <a:spLocks noChangeShapeType="1"/>
          </p:cNvSpPr>
          <p:nvPr/>
        </p:nvSpPr>
        <p:spPr bwMode="auto">
          <a:xfrm flipV="1">
            <a:off x="6553200" y="3352800"/>
            <a:ext cx="3810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4929" name="Oval 49"/>
          <p:cNvSpPr>
            <a:spLocks noChangeArrowheads="1"/>
          </p:cNvSpPr>
          <p:nvPr/>
        </p:nvSpPr>
        <p:spPr bwMode="auto">
          <a:xfrm>
            <a:off x="7391400" y="44196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N</a:t>
            </a:r>
          </a:p>
        </p:txBody>
      </p:sp>
      <p:sp>
        <p:nvSpPr>
          <p:cNvPr id="634930" name="Line 50"/>
          <p:cNvSpPr>
            <a:spLocks noChangeShapeType="1"/>
          </p:cNvSpPr>
          <p:nvPr/>
        </p:nvSpPr>
        <p:spPr bwMode="auto">
          <a:xfrm>
            <a:off x="7239000" y="4419600"/>
            <a:ext cx="228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4931" name="Oval 51"/>
          <p:cNvSpPr>
            <a:spLocks noChangeArrowheads="1"/>
          </p:cNvSpPr>
          <p:nvPr/>
        </p:nvSpPr>
        <p:spPr bwMode="auto">
          <a:xfrm>
            <a:off x="7848600" y="3048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L</a:t>
            </a:r>
          </a:p>
        </p:txBody>
      </p:sp>
      <p:sp>
        <p:nvSpPr>
          <p:cNvPr id="634932" name="Line 52"/>
          <p:cNvSpPr>
            <a:spLocks noChangeShapeType="1"/>
          </p:cNvSpPr>
          <p:nvPr/>
        </p:nvSpPr>
        <p:spPr bwMode="auto">
          <a:xfrm>
            <a:off x="7543800" y="33528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Flooding for Data Delivery</a:t>
            </a:r>
          </a:p>
        </p:txBody>
      </p:sp>
      <p:sp>
        <p:nvSpPr>
          <p:cNvPr id="4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56A2C-7D76-41A7-88E5-C3492A7BB75F}" type="slidenum">
              <a:rPr lang="en-US"/>
              <a:pPr/>
              <a:t>20</a:t>
            </a:fld>
            <a:endParaRPr lang="en-US"/>
          </a:p>
        </p:txBody>
      </p:sp>
      <p:sp>
        <p:nvSpPr>
          <p:cNvPr id="635907" name="Oval 3" descr="Water droplets"/>
          <p:cNvSpPr>
            <a:spLocks noChangeArrowheads="1"/>
          </p:cNvSpPr>
          <p:nvPr/>
        </p:nvSpPr>
        <p:spPr bwMode="auto">
          <a:xfrm>
            <a:off x="2209800" y="28956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B</a:t>
            </a:r>
          </a:p>
        </p:txBody>
      </p:sp>
      <p:sp>
        <p:nvSpPr>
          <p:cNvPr id="635908" name="Oval 4" descr="Water droplets"/>
          <p:cNvSpPr>
            <a:spLocks noChangeArrowheads="1"/>
          </p:cNvSpPr>
          <p:nvPr/>
        </p:nvSpPr>
        <p:spPr bwMode="auto">
          <a:xfrm>
            <a:off x="1447800" y="35814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A</a:t>
            </a:r>
          </a:p>
        </p:txBody>
      </p:sp>
      <p:sp>
        <p:nvSpPr>
          <p:cNvPr id="635909" name="Oval 5" descr="Water droplets"/>
          <p:cNvSpPr>
            <a:spLocks noChangeArrowheads="1"/>
          </p:cNvSpPr>
          <p:nvPr/>
        </p:nvSpPr>
        <p:spPr bwMode="auto">
          <a:xfrm>
            <a:off x="3124200" y="22860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S</a:t>
            </a:r>
          </a:p>
        </p:txBody>
      </p:sp>
      <p:sp>
        <p:nvSpPr>
          <p:cNvPr id="635910" name="Oval 6" descr="Water droplets"/>
          <p:cNvSpPr>
            <a:spLocks noChangeArrowheads="1"/>
          </p:cNvSpPr>
          <p:nvPr/>
        </p:nvSpPr>
        <p:spPr bwMode="auto">
          <a:xfrm>
            <a:off x="4114800" y="23622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E</a:t>
            </a:r>
          </a:p>
        </p:txBody>
      </p:sp>
      <p:sp>
        <p:nvSpPr>
          <p:cNvPr id="635911" name="Oval 7" descr="Water droplets"/>
          <p:cNvSpPr>
            <a:spLocks noChangeArrowheads="1"/>
          </p:cNvSpPr>
          <p:nvPr/>
        </p:nvSpPr>
        <p:spPr bwMode="auto">
          <a:xfrm>
            <a:off x="5105400" y="27432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F</a:t>
            </a:r>
          </a:p>
        </p:txBody>
      </p:sp>
      <p:sp>
        <p:nvSpPr>
          <p:cNvPr id="635912" name="Oval 8" descr="Water droplets"/>
          <p:cNvSpPr>
            <a:spLocks noChangeArrowheads="1"/>
          </p:cNvSpPr>
          <p:nvPr/>
        </p:nvSpPr>
        <p:spPr bwMode="auto">
          <a:xfrm>
            <a:off x="2667000" y="38862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H</a:t>
            </a:r>
          </a:p>
        </p:txBody>
      </p:sp>
      <p:sp>
        <p:nvSpPr>
          <p:cNvPr id="635913" name="Oval 9"/>
          <p:cNvSpPr>
            <a:spLocks noChangeArrowheads="1"/>
          </p:cNvSpPr>
          <p:nvPr/>
        </p:nvSpPr>
        <p:spPr bwMode="auto">
          <a:xfrm>
            <a:off x="5943600" y="32766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J</a:t>
            </a:r>
          </a:p>
        </p:txBody>
      </p:sp>
      <p:sp>
        <p:nvSpPr>
          <p:cNvPr id="635914" name="Oval 10"/>
          <p:cNvSpPr>
            <a:spLocks noChangeArrowheads="1"/>
          </p:cNvSpPr>
          <p:nvPr/>
        </p:nvSpPr>
        <p:spPr bwMode="auto">
          <a:xfrm>
            <a:off x="6705600" y="38862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D</a:t>
            </a:r>
          </a:p>
        </p:txBody>
      </p:sp>
      <p:sp>
        <p:nvSpPr>
          <p:cNvPr id="635915" name="Oval 11" descr="Water droplets"/>
          <p:cNvSpPr>
            <a:spLocks noChangeArrowheads="1"/>
          </p:cNvSpPr>
          <p:nvPr/>
        </p:nvSpPr>
        <p:spPr bwMode="auto">
          <a:xfrm>
            <a:off x="3505200" y="30480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C</a:t>
            </a:r>
          </a:p>
        </p:txBody>
      </p:sp>
      <p:sp>
        <p:nvSpPr>
          <p:cNvPr id="635916" name="Oval 12" descr="Water droplets"/>
          <p:cNvSpPr>
            <a:spLocks noChangeArrowheads="1"/>
          </p:cNvSpPr>
          <p:nvPr/>
        </p:nvSpPr>
        <p:spPr bwMode="auto">
          <a:xfrm>
            <a:off x="4572000" y="35814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G</a:t>
            </a:r>
          </a:p>
        </p:txBody>
      </p:sp>
      <p:sp>
        <p:nvSpPr>
          <p:cNvPr id="635917" name="Oval 13"/>
          <p:cNvSpPr>
            <a:spLocks noChangeArrowheads="1"/>
          </p:cNvSpPr>
          <p:nvPr/>
        </p:nvSpPr>
        <p:spPr bwMode="auto">
          <a:xfrm>
            <a:off x="3733800" y="44196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I</a:t>
            </a:r>
          </a:p>
        </p:txBody>
      </p:sp>
      <p:sp>
        <p:nvSpPr>
          <p:cNvPr id="635918" name="Oval 14"/>
          <p:cNvSpPr>
            <a:spLocks noChangeArrowheads="1"/>
          </p:cNvSpPr>
          <p:nvPr/>
        </p:nvSpPr>
        <p:spPr bwMode="auto">
          <a:xfrm>
            <a:off x="5486400" y="41148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K</a:t>
            </a:r>
          </a:p>
        </p:txBody>
      </p:sp>
      <p:sp>
        <p:nvSpPr>
          <p:cNvPr id="635919" name="Line 15"/>
          <p:cNvSpPr>
            <a:spLocks noChangeShapeType="1"/>
          </p:cNvSpPr>
          <p:nvPr/>
        </p:nvSpPr>
        <p:spPr bwMode="auto">
          <a:xfrm flipV="1">
            <a:off x="1981200" y="3352800"/>
            <a:ext cx="304800" cy="3048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5920" name="Line 16"/>
          <p:cNvSpPr>
            <a:spLocks noChangeShapeType="1"/>
          </p:cNvSpPr>
          <p:nvPr/>
        </p:nvSpPr>
        <p:spPr bwMode="auto">
          <a:xfrm flipV="1">
            <a:off x="2743200" y="2743200"/>
            <a:ext cx="457200" cy="2286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5921" name="Line 17"/>
          <p:cNvSpPr>
            <a:spLocks noChangeShapeType="1"/>
          </p:cNvSpPr>
          <p:nvPr/>
        </p:nvSpPr>
        <p:spPr bwMode="auto">
          <a:xfrm>
            <a:off x="2057400" y="3962400"/>
            <a:ext cx="685800" cy="76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5922" name="Line 18"/>
          <p:cNvSpPr>
            <a:spLocks noChangeShapeType="1"/>
          </p:cNvSpPr>
          <p:nvPr/>
        </p:nvSpPr>
        <p:spPr bwMode="auto">
          <a:xfrm>
            <a:off x="2667000" y="3429000"/>
            <a:ext cx="228600" cy="4572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5923" name="Line 19"/>
          <p:cNvSpPr>
            <a:spLocks noChangeShapeType="1"/>
          </p:cNvSpPr>
          <p:nvPr/>
        </p:nvSpPr>
        <p:spPr bwMode="auto">
          <a:xfrm flipH="1">
            <a:off x="3124200" y="3581400"/>
            <a:ext cx="533400" cy="3810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5924" name="Line 20"/>
          <p:cNvSpPr>
            <a:spLocks noChangeShapeType="1"/>
          </p:cNvSpPr>
          <p:nvPr/>
        </p:nvSpPr>
        <p:spPr bwMode="auto">
          <a:xfrm flipH="1">
            <a:off x="3962400" y="2895600"/>
            <a:ext cx="228600" cy="2286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5925" name="Line 21"/>
          <p:cNvSpPr>
            <a:spLocks noChangeShapeType="1"/>
          </p:cNvSpPr>
          <p:nvPr/>
        </p:nvSpPr>
        <p:spPr bwMode="auto">
          <a:xfrm>
            <a:off x="4724400" y="2743200"/>
            <a:ext cx="457200" cy="1524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5926" name="Line 22"/>
          <p:cNvSpPr>
            <a:spLocks noChangeShapeType="1"/>
          </p:cNvSpPr>
          <p:nvPr/>
        </p:nvSpPr>
        <p:spPr bwMode="auto">
          <a:xfrm flipH="1">
            <a:off x="5029200" y="32766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5927" name="Line 23"/>
          <p:cNvSpPr>
            <a:spLocks noChangeShapeType="1"/>
          </p:cNvSpPr>
          <p:nvPr/>
        </p:nvSpPr>
        <p:spPr bwMode="auto">
          <a:xfrm flipH="1">
            <a:off x="4191000" y="4114800"/>
            <a:ext cx="457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5928" name="Line 24"/>
          <p:cNvSpPr>
            <a:spLocks noChangeShapeType="1"/>
          </p:cNvSpPr>
          <p:nvPr/>
        </p:nvSpPr>
        <p:spPr bwMode="auto">
          <a:xfrm>
            <a:off x="4114800" y="3505200"/>
            <a:ext cx="457200" cy="2286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5929" name="Line 25"/>
          <p:cNvSpPr>
            <a:spLocks noChangeShapeType="1"/>
          </p:cNvSpPr>
          <p:nvPr/>
        </p:nvSpPr>
        <p:spPr bwMode="auto">
          <a:xfrm>
            <a:off x="3200400" y="4343400"/>
            <a:ext cx="533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5930" name="Line 26"/>
          <p:cNvSpPr>
            <a:spLocks noChangeShapeType="1"/>
          </p:cNvSpPr>
          <p:nvPr/>
        </p:nvSpPr>
        <p:spPr bwMode="auto">
          <a:xfrm>
            <a:off x="5638800" y="3200400"/>
            <a:ext cx="381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5931" name="Line 27"/>
          <p:cNvSpPr>
            <a:spLocks noChangeShapeType="1"/>
          </p:cNvSpPr>
          <p:nvPr/>
        </p:nvSpPr>
        <p:spPr bwMode="auto">
          <a:xfrm>
            <a:off x="5105400" y="4114800"/>
            <a:ext cx="381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5933" name="Line 29"/>
          <p:cNvSpPr>
            <a:spLocks noChangeShapeType="1"/>
          </p:cNvSpPr>
          <p:nvPr/>
        </p:nvSpPr>
        <p:spPr bwMode="auto">
          <a:xfrm>
            <a:off x="6477000" y="3733800"/>
            <a:ext cx="304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5934" name="Line 30"/>
          <p:cNvSpPr>
            <a:spLocks noChangeShapeType="1"/>
          </p:cNvSpPr>
          <p:nvPr/>
        </p:nvSpPr>
        <p:spPr bwMode="auto">
          <a:xfrm flipH="1">
            <a:off x="6096000" y="4267200"/>
            <a:ext cx="609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5935" name="Line 31"/>
          <p:cNvSpPr>
            <a:spLocks noChangeShapeType="1"/>
          </p:cNvSpPr>
          <p:nvPr/>
        </p:nvSpPr>
        <p:spPr bwMode="auto">
          <a:xfrm flipH="1">
            <a:off x="3733800" y="2590800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5936" name="Line 32"/>
          <p:cNvSpPr>
            <a:spLocks noChangeShapeType="1"/>
          </p:cNvSpPr>
          <p:nvPr/>
        </p:nvSpPr>
        <p:spPr bwMode="auto">
          <a:xfrm>
            <a:off x="3505200" y="2895600"/>
            <a:ext cx="152400" cy="2286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5939" name="Line 35"/>
          <p:cNvSpPr>
            <a:spLocks noChangeShapeType="1"/>
          </p:cNvSpPr>
          <p:nvPr/>
        </p:nvSpPr>
        <p:spPr bwMode="auto">
          <a:xfrm flipH="1">
            <a:off x="4114800" y="2971800"/>
            <a:ext cx="228600" cy="2286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5940" name="Text Box 36"/>
          <p:cNvSpPr txBox="1">
            <a:spLocks noChangeArrowheads="1"/>
          </p:cNvSpPr>
          <p:nvPr/>
        </p:nvSpPr>
        <p:spPr bwMode="auto">
          <a:xfrm>
            <a:off x="1203325" y="5516563"/>
            <a:ext cx="59563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l">
              <a:buFontTx/>
              <a:buChar char="•"/>
            </a:pPr>
            <a:r>
              <a:rPr lang="en-US"/>
              <a:t> Node H receives packet P from two neighbors:</a:t>
            </a:r>
          </a:p>
          <a:p>
            <a:pPr algn="l"/>
            <a:r>
              <a:rPr lang="en-US"/>
              <a:t>   </a:t>
            </a:r>
            <a:r>
              <a:rPr lang="en-US">
                <a:solidFill>
                  <a:srgbClr val="A50021"/>
                </a:solidFill>
              </a:rPr>
              <a:t>potential for collision</a:t>
            </a:r>
            <a:endParaRPr lang="en-US"/>
          </a:p>
        </p:txBody>
      </p:sp>
      <p:sp>
        <p:nvSpPr>
          <p:cNvPr id="635941" name="Oval 37"/>
          <p:cNvSpPr>
            <a:spLocks noChangeArrowheads="1"/>
          </p:cNvSpPr>
          <p:nvPr/>
        </p:nvSpPr>
        <p:spPr bwMode="auto">
          <a:xfrm>
            <a:off x="7162800" y="1905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Z</a:t>
            </a:r>
          </a:p>
        </p:txBody>
      </p:sp>
      <p:sp>
        <p:nvSpPr>
          <p:cNvPr id="635942" name="Oval 38"/>
          <p:cNvSpPr>
            <a:spLocks noChangeArrowheads="1"/>
          </p:cNvSpPr>
          <p:nvPr/>
        </p:nvSpPr>
        <p:spPr bwMode="auto">
          <a:xfrm>
            <a:off x="7467600" y="1143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Y</a:t>
            </a:r>
          </a:p>
        </p:txBody>
      </p:sp>
      <p:sp>
        <p:nvSpPr>
          <p:cNvPr id="635943" name="Line 39"/>
          <p:cNvSpPr>
            <a:spLocks noChangeShapeType="1"/>
          </p:cNvSpPr>
          <p:nvPr/>
        </p:nvSpPr>
        <p:spPr bwMode="auto">
          <a:xfrm flipH="1">
            <a:off x="7543800" y="1752600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5946" name="Oval 42"/>
          <p:cNvSpPr>
            <a:spLocks noChangeArrowheads="1"/>
          </p:cNvSpPr>
          <p:nvPr/>
        </p:nvSpPr>
        <p:spPr bwMode="auto">
          <a:xfrm>
            <a:off x="6934200" y="3048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M</a:t>
            </a:r>
          </a:p>
        </p:txBody>
      </p:sp>
      <p:sp>
        <p:nvSpPr>
          <p:cNvPr id="635947" name="Line 43"/>
          <p:cNvSpPr>
            <a:spLocks noChangeShapeType="1"/>
          </p:cNvSpPr>
          <p:nvPr/>
        </p:nvSpPr>
        <p:spPr bwMode="auto">
          <a:xfrm flipV="1">
            <a:off x="6553200" y="3352800"/>
            <a:ext cx="3810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5951" name="Oval 47"/>
          <p:cNvSpPr>
            <a:spLocks noChangeArrowheads="1"/>
          </p:cNvSpPr>
          <p:nvPr/>
        </p:nvSpPr>
        <p:spPr bwMode="auto">
          <a:xfrm>
            <a:off x="7391400" y="44196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N</a:t>
            </a:r>
          </a:p>
        </p:txBody>
      </p:sp>
      <p:sp>
        <p:nvSpPr>
          <p:cNvPr id="635954" name="Line 50"/>
          <p:cNvSpPr>
            <a:spLocks noChangeShapeType="1"/>
          </p:cNvSpPr>
          <p:nvPr/>
        </p:nvSpPr>
        <p:spPr bwMode="auto">
          <a:xfrm>
            <a:off x="7239000" y="4419600"/>
            <a:ext cx="228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5955" name="Oval 51"/>
          <p:cNvSpPr>
            <a:spLocks noChangeArrowheads="1"/>
          </p:cNvSpPr>
          <p:nvPr/>
        </p:nvSpPr>
        <p:spPr bwMode="auto">
          <a:xfrm>
            <a:off x="7848600" y="3048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L</a:t>
            </a:r>
          </a:p>
        </p:txBody>
      </p:sp>
      <p:sp>
        <p:nvSpPr>
          <p:cNvPr id="635957" name="Line 53"/>
          <p:cNvSpPr>
            <a:spLocks noChangeShapeType="1"/>
          </p:cNvSpPr>
          <p:nvPr/>
        </p:nvSpPr>
        <p:spPr bwMode="auto">
          <a:xfrm>
            <a:off x="7543800" y="33528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Flooding for Data Delivery</a:t>
            </a:r>
          </a:p>
        </p:txBody>
      </p:sp>
      <p:sp>
        <p:nvSpPr>
          <p:cNvPr id="4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F1A44-E5DA-45FF-8CCD-C9031E2EA7A4}" type="slidenum">
              <a:rPr lang="en-US"/>
              <a:pPr/>
              <a:t>21</a:t>
            </a:fld>
            <a:endParaRPr lang="en-US"/>
          </a:p>
        </p:txBody>
      </p:sp>
      <p:sp>
        <p:nvSpPr>
          <p:cNvPr id="636931" name="Oval 3" descr="Water droplets"/>
          <p:cNvSpPr>
            <a:spLocks noChangeArrowheads="1"/>
          </p:cNvSpPr>
          <p:nvPr/>
        </p:nvSpPr>
        <p:spPr bwMode="auto">
          <a:xfrm>
            <a:off x="2209800" y="28956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B</a:t>
            </a:r>
          </a:p>
        </p:txBody>
      </p:sp>
      <p:sp>
        <p:nvSpPr>
          <p:cNvPr id="636932" name="Oval 4" descr="Water droplets"/>
          <p:cNvSpPr>
            <a:spLocks noChangeArrowheads="1"/>
          </p:cNvSpPr>
          <p:nvPr/>
        </p:nvSpPr>
        <p:spPr bwMode="auto">
          <a:xfrm>
            <a:off x="1447800" y="35814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A</a:t>
            </a:r>
          </a:p>
        </p:txBody>
      </p:sp>
      <p:sp>
        <p:nvSpPr>
          <p:cNvPr id="636933" name="Oval 5" descr="Water droplets"/>
          <p:cNvSpPr>
            <a:spLocks noChangeArrowheads="1"/>
          </p:cNvSpPr>
          <p:nvPr/>
        </p:nvSpPr>
        <p:spPr bwMode="auto">
          <a:xfrm>
            <a:off x="3124200" y="22860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S</a:t>
            </a:r>
          </a:p>
        </p:txBody>
      </p:sp>
      <p:sp>
        <p:nvSpPr>
          <p:cNvPr id="636934" name="Oval 6" descr="Water droplets"/>
          <p:cNvSpPr>
            <a:spLocks noChangeArrowheads="1"/>
          </p:cNvSpPr>
          <p:nvPr/>
        </p:nvSpPr>
        <p:spPr bwMode="auto">
          <a:xfrm>
            <a:off x="4114800" y="23622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E</a:t>
            </a:r>
          </a:p>
        </p:txBody>
      </p:sp>
      <p:sp>
        <p:nvSpPr>
          <p:cNvPr id="636935" name="Oval 7" descr="Water droplets"/>
          <p:cNvSpPr>
            <a:spLocks noChangeArrowheads="1"/>
          </p:cNvSpPr>
          <p:nvPr/>
        </p:nvSpPr>
        <p:spPr bwMode="auto">
          <a:xfrm>
            <a:off x="5105400" y="27432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F</a:t>
            </a:r>
          </a:p>
        </p:txBody>
      </p:sp>
      <p:sp>
        <p:nvSpPr>
          <p:cNvPr id="636936" name="Oval 8" descr="Water droplets"/>
          <p:cNvSpPr>
            <a:spLocks noChangeArrowheads="1"/>
          </p:cNvSpPr>
          <p:nvPr/>
        </p:nvSpPr>
        <p:spPr bwMode="auto">
          <a:xfrm>
            <a:off x="2667000" y="38862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H</a:t>
            </a:r>
          </a:p>
        </p:txBody>
      </p:sp>
      <p:sp>
        <p:nvSpPr>
          <p:cNvPr id="636937" name="Oval 9" descr="Water droplets"/>
          <p:cNvSpPr>
            <a:spLocks noChangeArrowheads="1"/>
          </p:cNvSpPr>
          <p:nvPr/>
        </p:nvSpPr>
        <p:spPr bwMode="auto">
          <a:xfrm>
            <a:off x="5943600" y="32766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J</a:t>
            </a:r>
          </a:p>
        </p:txBody>
      </p:sp>
      <p:sp>
        <p:nvSpPr>
          <p:cNvPr id="636938" name="Oval 10"/>
          <p:cNvSpPr>
            <a:spLocks noChangeArrowheads="1"/>
          </p:cNvSpPr>
          <p:nvPr/>
        </p:nvSpPr>
        <p:spPr bwMode="auto">
          <a:xfrm>
            <a:off x="6705600" y="38862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D</a:t>
            </a:r>
          </a:p>
        </p:txBody>
      </p:sp>
      <p:sp>
        <p:nvSpPr>
          <p:cNvPr id="636939" name="Oval 11" descr="Water droplets"/>
          <p:cNvSpPr>
            <a:spLocks noChangeArrowheads="1"/>
          </p:cNvSpPr>
          <p:nvPr/>
        </p:nvSpPr>
        <p:spPr bwMode="auto">
          <a:xfrm>
            <a:off x="3505200" y="30480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C</a:t>
            </a:r>
          </a:p>
        </p:txBody>
      </p:sp>
      <p:sp>
        <p:nvSpPr>
          <p:cNvPr id="636940" name="Oval 12" descr="Water droplets"/>
          <p:cNvSpPr>
            <a:spLocks noChangeArrowheads="1"/>
          </p:cNvSpPr>
          <p:nvPr/>
        </p:nvSpPr>
        <p:spPr bwMode="auto">
          <a:xfrm>
            <a:off x="4572000" y="35814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G</a:t>
            </a:r>
          </a:p>
        </p:txBody>
      </p:sp>
      <p:sp>
        <p:nvSpPr>
          <p:cNvPr id="636941" name="Oval 13" descr="Water droplets"/>
          <p:cNvSpPr>
            <a:spLocks noChangeArrowheads="1"/>
          </p:cNvSpPr>
          <p:nvPr/>
        </p:nvSpPr>
        <p:spPr bwMode="auto">
          <a:xfrm>
            <a:off x="3733800" y="44196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I</a:t>
            </a:r>
          </a:p>
        </p:txBody>
      </p:sp>
      <p:sp>
        <p:nvSpPr>
          <p:cNvPr id="636942" name="Oval 14" descr="Water droplets"/>
          <p:cNvSpPr>
            <a:spLocks noChangeArrowheads="1"/>
          </p:cNvSpPr>
          <p:nvPr/>
        </p:nvSpPr>
        <p:spPr bwMode="auto">
          <a:xfrm>
            <a:off x="5486400" y="41148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K</a:t>
            </a:r>
          </a:p>
        </p:txBody>
      </p:sp>
      <p:sp>
        <p:nvSpPr>
          <p:cNvPr id="636943" name="Line 15"/>
          <p:cNvSpPr>
            <a:spLocks noChangeShapeType="1"/>
          </p:cNvSpPr>
          <p:nvPr/>
        </p:nvSpPr>
        <p:spPr bwMode="auto">
          <a:xfrm flipV="1">
            <a:off x="1981200" y="3352800"/>
            <a:ext cx="304800" cy="3048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6944" name="Line 16"/>
          <p:cNvSpPr>
            <a:spLocks noChangeShapeType="1"/>
          </p:cNvSpPr>
          <p:nvPr/>
        </p:nvSpPr>
        <p:spPr bwMode="auto">
          <a:xfrm flipV="1">
            <a:off x="2743200" y="2743200"/>
            <a:ext cx="457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6945" name="Line 17"/>
          <p:cNvSpPr>
            <a:spLocks noChangeShapeType="1"/>
          </p:cNvSpPr>
          <p:nvPr/>
        </p:nvSpPr>
        <p:spPr bwMode="auto">
          <a:xfrm>
            <a:off x="2057400" y="3962400"/>
            <a:ext cx="685800" cy="762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6946" name="Line 18"/>
          <p:cNvSpPr>
            <a:spLocks noChangeShapeType="1"/>
          </p:cNvSpPr>
          <p:nvPr/>
        </p:nvSpPr>
        <p:spPr bwMode="auto">
          <a:xfrm>
            <a:off x="2667000" y="3429000"/>
            <a:ext cx="228600" cy="4572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6947" name="Line 19"/>
          <p:cNvSpPr>
            <a:spLocks noChangeShapeType="1"/>
          </p:cNvSpPr>
          <p:nvPr/>
        </p:nvSpPr>
        <p:spPr bwMode="auto">
          <a:xfrm flipH="1">
            <a:off x="3124200" y="3581400"/>
            <a:ext cx="533400" cy="3810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6948" name="Line 20"/>
          <p:cNvSpPr>
            <a:spLocks noChangeShapeType="1"/>
          </p:cNvSpPr>
          <p:nvPr/>
        </p:nvSpPr>
        <p:spPr bwMode="auto">
          <a:xfrm flipH="1">
            <a:off x="3962400" y="28956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6949" name="Line 21"/>
          <p:cNvSpPr>
            <a:spLocks noChangeShapeType="1"/>
          </p:cNvSpPr>
          <p:nvPr/>
        </p:nvSpPr>
        <p:spPr bwMode="auto">
          <a:xfrm>
            <a:off x="4724400" y="2743200"/>
            <a:ext cx="457200" cy="1524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6950" name="Line 22"/>
          <p:cNvSpPr>
            <a:spLocks noChangeShapeType="1"/>
          </p:cNvSpPr>
          <p:nvPr/>
        </p:nvSpPr>
        <p:spPr bwMode="auto">
          <a:xfrm flipH="1">
            <a:off x="5029200" y="3276600"/>
            <a:ext cx="228600" cy="3810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6951" name="Line 23"/>
          <p:cNvSpPr>
            <a:spLocks noChangeShapeType="1"/>
          </p:cNvSpPr>
          <p:nvPr/>
        </p:nvSpPr>
        <p:spPr bwMode="auto">
          <a:xfrm flipH="1">
            <a:off x="4191000" y="4114800"/>
            <a:ext cx="457200" cy="3810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6952" name="Line 24"/>
          <p:cNvSpPr>
            <a:spLocks noChangeShapeType="1"/>
          </p:cNvSpPr>
          <p:nvPr/>
        </p:nvSpPr>
        <p:spPr bwMode="auto">
          <a:xfrm>
            <a:off x="4114800" y="3505200"/>
            <a:ext cx="457200" cy="2286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6953" name="Line 25"/>
          <p:cNvSpPr>
            <a:spLocks noChangeShapeType="1"/>
          </p:cNvSpPr>
          <p:nvPr/>
        </p:nvSpPr>
        <p:spPr bwMode="auto">
          <a:xfrm>
            <a:off x="3200400" y="4343400"/>
            <a:ext cx="533400" cy="2286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6954" name="Line 26"/>
          <p:cNvSpPr>
            <a:spLocks noChangeShapeType="1"/>
          </p:cNvSpPr>
          <p:nvPr/>
        </p:nvSpPr>
        <p:spPr bwMode="auto">
          <a:xfrm>
            <a:off x="5638800" y="3200400"/>
            <a:ext cx="381000" cy="1524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6955" name="Line 27"/>
          <p:cNvSpPr>
            <a:spLocks noChangeShapeType="1"/>
          </p:cNvSpPr>
          <p:nvPr/>
        </p:nvSpPr>
        <p:spPr bwMode="auto">
          <a:xfrm>
            <a:off x="5105400" y="4114800"/>
            <a:ext cx="381000" cy="1524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6957" name="Line 29"/>
          <p:cNvSpPr>
            <a:spLocks noChangeShapeType="1"/>
          </p:cNvSpPr>
          <p:nvPr/>
        </p:nvSpPr>
        <p:spPr bwMode="auto">
          <a:xfrm>
            <a:off x="6477000" y="3733800"/>
            <a:ext cx="304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6958" name="Line 30"/>
          <p:cNvSpPr>
            <a:spLocks noChangeShapeType="1"/>
          </p:cNvSpPr>
          <p:nvPr/>
        </p:nvSpPr>
        <p:spPr bwMode="auto">
          <a:xfrm flipH="1">
            <a:off x="6096000" y="4267200"/>
            <a:ext cx="609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6959" name="Line 31"/>
          <p:cNvSpPr>
            <a:spLocks noChangeShapeType="1"/>
          </p:cNvSpPr>
          <p:nvPr/>
        </p:nvSpPr>
        <p:spPr bwMode="auto">
          <a:xfrm flipH="1">
            <a:off x="3733800" y="25908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6960" name="Line 32"/>
          <p:cNvSpPr>
            <a:spLocks noChangeShapeType="1"/>
          </p:cNvSpPr>
          <p:nvPr/>
        </p:nvSpPr>
        <p:spPr bwMode="auto">
          <a:xfrm>
            <a:off x="3505200" y="28956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6963" name="Line 35"/>
          <p:cNvSpPr>
            <a:spLocks noChangeShapeType="1"/>
          </p:cNvSpPr>
          <p:nvPr/>
        </p:nvSpPr>
        <p:spPr bwMode="auto">
          <a:xfrm>
            <a:off x="1981200" y="4114800"/>
            <a:ext cx="685800" cy="762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6964" name="Line 36"/>
          <p:cNvSpPr>
            <a:spLocks noChangeShapeType="1"/>
          </p:cNvSpPr>
          <p:nvPr/>
        </p:nvSpPr>
        <p:spPr bwMode="auto">
          <a:xfrm flipH="1">
            <a:off x="5105400" y="3352800"/>
            <a:ext cx="228600" cy="3810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6965" name="Text Box 37"/>
          <p:cNvSpPr txBox="1">
            <a:spLocks noChangeArrowheads="1"/>
          </p:cNvSpPr>
          <p:nvPr/>
        </p:nvSpPr>
        <p:spPr bwMode="auto">
          <a:xfrm>
            <a:off x="762000" y="5410200"/>
            <a:ext cx="79121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l">
              <a:buFontTx/>
              <a:buChar char="•"/>
            </a:pPr>
            <a:r>
              <a:rPr lang="en-US"/>
              <a:t> Node C receives packet P from G and H, but does not forward</a:t>
            </a:r>
          </a:p>
          <a:p>
            <a:pPr algn="l"/>
            <a:r>
              <a:rPr lang="en-US"/>
              <a:t>   it again, because node C has </a:t>
            </a:r>
            <a:r>
              <a:rPr lang="en-US">
                <a:solidFill>
                  <a:schemeClr val="accent1"/>
                </a:solidFill>
              </a:rPr>
              <a:t>already forwarded packet P</a:t>
            </a:r>
            <a:r>
              <a:rPr lang="en-US"/>
              <a:t> once</a:t>
            </a:r>
          </a:p>
        </p:txBody>
      </p:sp>
      <p:sp>
        <p:nvSpPr>
          <p:cNvPr id="636966" name="Oval 38"/>
          <p:cNvSpPr>
            <a:spLocks noChangeArrowheads="1"/>
          </p:cNvSpPr>
          <p:nvPr/>
        </p:nvSpPr>
        <p:spPr bwMode="auto">
          <a:xfrm>
            <a:off x="7162800" y="1905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Z</a:t>
            </a:r>
          </a:p>
        </p:txBody>
      </p:sp>
      <p:sp>
        <p:nvSpPr>
          <p:cNvPr id="636967" name="Oval 39"/>
          <p:cNvSpPr>
            <a:spLocks noChangeArrowheads="1"/>
          </p:cNvSpPr>
          <p:nvPr/>
        </p:nvSpPr>
        <p:spPr bwMode="auto">
          <a:xfrm>
            <a:off x="7467600" y="1143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Y</a:t>
            </a:r>
          </a:p>
        </p:txBody>
      </p:sp>
      <p:sp>
        <p:nvSpPr>
          <p:cNvPr id="636968" name="Line 40"/>
          <p:cNvSpPr>
            <a:spLocks noChangeShapeType="1"/>
          </p:cNvSpPr>
          <p:nvPr/>
        </p:nvSpPr>
        <p:spPr bwMode="auto">
          <a:xfrm flipH="1">
            <a:off x="7543800" y="1752600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6971" name="Oval 43"/>
          <p:cNvSpPr>
            <a:spLocks noChangeArrowheads="1"/>
          </p:cNvSpPr>
          <p:nvPr/>
        </p:nvSpPr>
        <p:spPr bwMode="auto">
          <a:xfrm>
            <a:off x="6934200" y="3048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M</a:t>
            </a:r>
          </a:p>
        </p:txBody>
      </p:sp>
      <p:sp>
        <p:nvSpPr>
          <p:cNvPr id="636972" name="Line 44"/>
          <p:cNvSpPr>
            <a:spLocks noChangeShapeType="1"/>
          </p:cNvSpPr>
          <p:nvPr/>
        </p:nvSpPr>
        <p:spPr bwMode="auto">
          <a:xfrm flipV="1">
            <a:off x="6553200" y="3352800"/>
            <a:ext cx="3810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6976" name="Oval 48"/>
          <p:cNvSpPr>
            <a:spLocks noChangeArrowheads="1"/>
          </p:cNvSpPr>
          <p:nvPr/>
        </p:nvSpPr>
        <p:spPr bwMode="auto">
          <a:xfrm>
            <a:off x="7391400" y="44196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N</a:t>
            </a:r>
          </a:p>
        </p:txBody>
      </p:sp>
      <p:sp>
        <p:nvSpPr>
          <p:cNvPr id="636977" name="Line 49"/>
          <p:cNvSpPr>
            <a:spLocks noChangeShapeType="1"/>
          </p:cNvSpPr>
          <p:nvPr/>
        </p:nvSpPr>
        <p:spPr bwMode="auto">
          <a:xfrm>
            <a:off x="7239000" y="4419600"/>
            <a:ext cx="228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6978" name="Oval 50"/>
          <p:cNvSpPr>
            <a:spLocks noChangeArrowheads="1"/>
          </p:cNvSpPr>
          <p:nvPr/>
        </p:nvSpPr>
        <p:spPr bwMode="auto">
          <a:xfrm>
            <a:off x="7848600" y="3048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L</a:t>
            </a:r>
          </a:p>
        </p:txBody>
      </p:sp>
      <p:sp>
        <p:nvSpPr>
          <p:cNvPr id="636979" name="Line 51"/>
          <p:cNvSpPr>
            <a:spLocks noChangeShapeType="1"/>
          </p:cNvSpPr>
          <p:nvPr/>
        </p:nvSpPr>
        <p:spPr bwMode="auto">
          <a:xfrm>
            <a:off x="7543800" y="33528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95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Flooding for Data Delivery</a:t>
            </a:r>
          </a:p>
        </p:txBody>
      </p:sp>
      <p:sp>
        <p:nvSpPr>
          <p:cNvPr id="4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A9688-C9AA-4E22-9679-F8097424A83D}" type="slidenum">
              <a:rPr lang="en-US"/>
              <a:pPr/>
              <a:t>22</a:t>
            </a:fld>
            <a:endParaRPr lang="en-US"/>
          </a:p>
        </p:txBody>
      </p:sp>
      <p:sp>
        <p:nvSpPr>
          <p:cNvPr id="637955" name="Oval 1027" descr="Water droplets"/>
          <p:cNvSpPr>
            <a:spLocks noChangeArrowheads="1"/>
          </p:cNvSpPr>
          <p:nvPr/>
        </p:nvSpPr>
        <p:spPr bwMode="auto">
          <a:xfrm>
            <a:off x="2209800" y="28956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B</a:t>
            </a:r>
          </a:p>
        </p:txBody>
      </p:sp>
      <p:sp>
        <p:nvSpPr>
          <p:cNvPr id="637956" name="Oval 1028" descr="Water droplets"/>
          <p:cNvSpPr>
            <a:spLocks noChangeArrowheads="1"/>
          </p:cNvSpPr>
          <p:nvPr/>
        </p:nvSpPr>
        <p:spPr bwMode="auto">
          <a:xfrm>
            <a:off x="1447800" y="35814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A</a:t>
            </a:r>
          </a:p>
        </p:txBody>
      </p:sp>
      <p:sp>
        <p:nvSpPr>
          <p:cNvPr id="637957" name="Oval 1029" descr="Water droplets"/>
          <p:cNvSpPr>
            <a:spLocks noChangeArrowheads="1"/>
          </p:cNvSpPr>
          <p:nvPr/>
        </p:nvSpPr>
        <p:spPr bwMode="auto">
          <a:xfrm>
            <a:off x="3124200" y="22860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S</a:t>
            </a:r>
          </a:p>
        </p:txBody>
      </p:sp>
      <p:sp>
        <p:nvSpPr>
          <p:cNvPr id="637958" name="Oval 1030" descr="Water droplets"/>
          <p:cNvSpPr>
            <a:spLocks noChangeArrowheads="1"/>
          </p:cNvSpPr>
          <p:nvPr/>
        </p:nvSpPr>
        <p:spPr bwMode="auto">
          <a:xfrm>
            <a:off x="4114800" y="23622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E</a:t>
            </a:r>
          </a:p>
        </p:txBody>
      </p:sp>
      <p:sp>
        <p:nvSpPr>
          <p:cNvPr id="637959" name="Oval 1031" descr="Water droplets"/>
          <p:cNvSpPr>
            <a:spLocks noChangeArrowheads="1"/>
          </p:cNvSpPr>
          <p:nvPr/>
        </p:nvSpPr>
        <p:spPr bwMode="auto">
          <a:xfrm>
            <a:off x="5105400" y="27432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F</a:t>
            </a:r>
          </a:p>
        </p:txBody>
      </p:sp>
      <p:sp>
        <p:nvSpPr>
          <p:cNvPr id="637960" name="Oval 1032" descr="Water droplets"/>
          <p:cNvSpPr>
            <a:spLocks noChangeArrowheads="1"/>
          </p:cNvSpPr>
          <p:nvPr/>
        </p:nvSpPr>
        <p:spPr bwMode="auto">
          <a:xfrm>
            <a:off x="2667000" y="38862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H</a:t>
            </a:r>
          </a:p>
        </p:txBody>
      </p:sp>
      <p:sp>
        <p:nvSpPr>
          <p:cNvPr id="637961" name="Oval 1033" descr="Water droplets"/>
          <p:cNvSpPr>
            <a:spLocks noChangeArrowheads="1"/>
          </p:cNvSpPr>
          <p:nvPr/>
        </p:nvSpPr>
        <p:spPr bwMode="auto">
          <a:xfrm>
            <a:off x="5943600" y="32766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J</a:t>
            </a:r>
          </a:p>
        </p:txBody>
      </p:sp>
      <p:sp>
        <p:nvSpPr>
          <p:cNvPr id="637962" name="Oval 1034" descr="Water droplets"/>
          <p:cNvSpPr>
            <a:spLocks noChangeArrowheads="1"/>
          </p:cNvSpPr>
          <p:nvPr/>
        </p:nvSpPr>
        <p:spPr bwMode="auto">
          <a:xfrm>
            <a:off x="6705600" y="38862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D</a:t>
            </a:r>
          </a:p>
        </p:txBody>
      </p:sp>
      <p:sp>
        <p:nvSpPr>
          <p:cNvPr id="637963" name="Oval 1035" descr="Water droplets"/>
          <p:cNvSpPr>
            <a:spLocks noChangeArrowheads="1"/>
          </p:cNvSpPr>
          <p:nvPr/>
        </p:nvSpPr>
        <p:spPr bwMode="auto">
          <a:xfrm>
            <a:off x="3505200" y="30480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C</a:t>
            </a:r>
          </a:p>
        </p:txBody>
      </p:sp>
      <p:sp>
        <p:nvSpPr>
          <p:cNvPr id="637964" name="Oval 1036" descr="Water droplets"/>
          <p:cNvSpPr>
            <a:spLocks noChangeArrowheads="1"/>
          </p:cNvSpPr>
          <p:nvPr/>
        </p:nvSpPr>
        <p:spPr bwMode="auto">
          <a:xfrm>
            <a:off x="4572000" y="35814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G</a:t>
            </a:r>
          </a:p>
        </p:txBody>
      </p:sp>
      <p:sp>
        <p:nvSpPr>
          <p:cNvPr id="637965" name="Oval 1037" descr="Water droplets"/>
          <p:cNvSpPr>
            <a:spLocks noChangeArrowheads="1"/>
          </p:cNvSpPr>
          <p:nvPr/>
        </p:nvSpPr>
        <p:spPr bwMode="auto">
          <a:xfrm>
            <a:off x="3733800" y="44196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I</a:t>
            </a:r>
          </a:p>
        </p:txBody>
      </p:sp>
      <p:sp>
        <p:nvSpPr>
          <p:cNvPr id="637966" name="Oval 1038" descr="Water droplets"/>
          <p:cNvSpPr>
            <a:spLocks noChangeArrowheads="1"/>
          </p:cNvSpPr>
          <p:nvPr/>
        </p:nvSpPr>
        <p:spPr bwMode="auto">
          <a:xfrm>
            <a:off x="5486400" y="41148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K</a:t>
            </a:r>
          </a:p>
        </p:txBody>
      </p:sp>
      <p:sp>
        <p:nvSpPr>
          <p:cNvPr id="637967" name="Line 1039"/>
          <p:cNvSpPr>
            <a:spLocks noChangeShapeType="1"/>
          </p:cNvSpPr>
          <p:nvPr/>
        </p:nvSpPr>
        <p:spPr bwMode="auto">
          <a:xfrm flipV="1">
            <a:off x="1981200" y="3352800"/>
            <a:ext cx="304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7968" name="Line 1040"/>
          <p:cNvSpPr>
            <a:spLocks noChangeShapeType="1"/>
          </p:cNvSpPr>
          <p:nvPr/>
        </p:nvSpPr>
        <p:spPr bwMode="auto">
          <a:xfrm flipV="1">
            <a:off x="2743200" y="2743200"/>
            <a:ext cx="457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7969" name="Line 1041"/>
          <p:cNvSpPr>
            <a:spLocks noChangeShapeType="1"/>
          </p:cNvSpPr>
          <p:nvPr/>
        </p:nvSpPr>
        <p:spPr bwMode="auto">
          <a:xfrm>
            <a:off x="2057400" y="3962400"/>
            <a:ext cx="6858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7970" name="Line 1042"/>
          <p:cNvSpPr>
            <a:spLocks noChangeShapeType="1"/>
          </p:cNvSpPr>
          <p:nvPr/>
        </p:nvSpPr>
        <p:spPr bwMode="auto">
          <a:xfrm>
            <a:off x="2667000" y="3429000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7971" name="Line 1043"/>
          <p:cNvSpPr>
            <a:spLocks noChangeShapeType="1"/>
          </p:cNvSpPr>
          <p:nvPr/>
        </p:nvSpPr>
        <p:spPr bwMode="auto">
          <a:xfrm flipH="1">
            <a:off x="3124200" y="3581400"/>
            <a:ext cx="533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7972" name="Line 1044"/>
          <p:cNvSpPr>
            <a:spLocks noChangeShapeType="1"/>
          </p:cNvSpPr>
          <p:nvPr/>
        </p:nvSpPr>
        <p:spPr bwMode="auto">
          <a:xfrm flipH="1">
            <a:off x="3962400" y="28956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7973" name="Line 1045"/>
          <p:cNvSpPr>
            <a:spLocks noChangeShapeType="1"/>
          </p:cNvSpPr>
          <p:nvPr/>
        </p:nvSpPr>
        <p:spPr bwMode="auto">
          <a:xfrm>
            <a:off x="4724400" y="2743200"/>
            <a:ext cx="457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7974" name="Line 1046"/>
          <p:cNvSpPr>
            <a:spLocks noChangeShapeType="1"/>
          </p:cNvSpPr>
          <p:nvPr/>
        </p:nvSpPr>
        <p:spPr bwMode="auto">
          <a:xfrm flipH="1">
            <a:off x="5029200" y="32766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7975" name="Line 1047"/>
          <p:cNvSpPr>
            <a:spLocks noChangeShapeType="1"/>
          </p:cNvSpPr>
          <p:nvPr/>
        </p:nvSpPr>
        <p:spPr bwMode="auto">
          <a:xfrm flipH="1">
            <a:off x="4191000" y="4114800"/>
            <a:ext cx="457200" cy="3810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7976" name="Line 1048"/>
          <p:cNvSpPr>
            <a:spLocks noChangeShapeType="1"/>
          </p:cNvSpPr>
          <p:nvPr/>
        </p:nvSpPr>
        <p:spPr bwMode="auto">
          <a:xfrm>
            <a:off x="4114800" y="3505200"/>
            <a:ext cx="457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7977" name="Line 1049"/>
          <p:cNvSpPr>
            <a:spLocks noChangeShapeType="1"/>
          </p:cNvSpPr>
          <p:nvPr/>
        </p:nvSpPr>
        <p:spPr bwMode="auto">
          <a:xfrm>
            <a:off x="3200400" y="4343400"/>
            <a:ext cx="533400" cy="2286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7978" name="Line 1050"/>
          <p:cNvSpPr>
            <a:spLocks noChangeShapeType="1"/>
          </p:cNvSpPr>
          <p:nvPr/>
        </p:nvSpPr>
        <p:spPr bwMode="auto">
          <a:xfrm>
            <a:off x="5638800" y="3200400"/>
            <a:ext cx="381000" cy="1524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7979" name="Line 1051"/>
          <p:cNvSpPr>
            <a:spLocks noChangeShapeType="1"/>
          </p:cNvSpPr>
          <p:nvPr/>
        </p:nvSpPr>
        <p:spPr bwMode="auto">
          <a:xfrm>
            <a:off x="5105400" y="4114800"/>
            <a:ext cx="381000" cy="1524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7981" name="Line 1053"/>
          <p:cNvSpPr>
            <a:spLocks noChangeShapeType="1"/>
          </p:cNvSpPr>
          <p:nvPr/>
        </p:nvSpPr>
        <p:spPr bwMode="auto">
          <a:xfrm>
            <a:off x="6477000" y="3733800"/>
            <a:ext cx="304800" cy="2286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7982" name="Line 1054"/>
          <p:cNvSpPr>
            <a:spLocks noChangeShapeType="1"/>
          </p:cNvSpPr>
          <p:nvPr/>
        </p:nvSpPr>
        <p:spPr bwMode="auto">
          <a:xfrm flipH="1">
            <a:off x="6096000" y="4267200"/>
            <a:ext cx="609600" cy="762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7983" name="Line 1055"/>
          <p:cNvSpPr>
            <a:spLocks noChangeShapeType="1"/>
          </p:cNvSpPr>
          <p:nvPr/>
        </p:nvSpPr>
        <p:spPr bwMode="auto">
          <a:xfrm flipH="1">
            <a:off x="3733800" y="25908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7984" name="Line 1056"/>
          <p:cNvSpPr>
            <a:spLocks noChangeShapeType="1"/>
          </p:cNvSpPr>
          <p:nvPr/>
        </p:nvSpPr>
        <p:spPr bwMode="auto">
          <a:xfrm>
            <a:off x="3505200" y="28956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7988" name="Oval 1060"/>
          <p:cNvSpPr>
            <a:spLocks noChangeArrowheads="1"/>
          </p:cNvSpPr>
          <p:nvPr/>
        </p:nvSpPr>
        <p:spPr bwMode="auto">
          <a:xfrm>
            <a:off x="7162800" y="1905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Z</a:t>
            </a:r>
          </a:p>
        </p:txBody>
      </p:sp>
      <p:sp>
        <p:nvSpPr>
          <p:cNvPr id="637989" name="Oval 1061"/>
          <p:cNvSpPr>
            <a:spLocks noChangeArrowheads="1"/>
          </p:cNvSpPr>
          <p:nvPr/>
        </p:nvSpPr>
        <p:spPr bwMode="auto">
          <a:xfrm>
            <a:off x="7467600" y="1143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Y</a:t>
            </a:r>
          </a:p>
        </p:txBody>
      </p:sp>
      <p:sp>
        <p:nvSpPr>
          <p:cNvPr id="637990" name="Line 1062"/>
          <p:cNvSpPr>
            <a:spLocks noChangeShapeType="1"/>
          </p:cNvSpPr>
          <p:nvPr/>
        </p:nvSpPr>
        <p:spPr bwMode="auto">
          <a:xfrm flipH="1">
            <a:off x="7543800" y="1752600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7994" name="Oval 1066" descr="Water droplets"/>
          <p:cNvSpPr>
            <a:spLocks noChangeArrowheads="1"/>
          </p:cNvSpPr>
          <p:nvPr/>
        </p:nvSpPr>
        <p:spPr bwMode="auto">
          <a:xfrm>
            <a:off x="6934200" y="30480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M</a:t>
            </a:r>
          </a:p>
        </p:txBody>
      </p:sp>
      <p:sp>
        <p:nvSpPr>
          <p:cNvPr id="637995" name="Line 1067"/>
          <p:cNvSpPr>
            <a:spLocks noChangeShapeType="1"/>
          </p:cNvSpPr>
          <p:nvPr/>
        </p:nvSpPr>
        <p:spPr bwMode="auto">
          <a:xfrm flipV="1">
            <a:off x="6553200" y="3352800"/>
            <a:ext cx="381000" cy="762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8005" name="Text Box 1077"/>
          <p:cNvSpPr txBox="1">
            <a:spLocks noChangeArrowheads="1"/>
          </p:cNvSpPr>
          <p:nvPr/>
        </p:nvSpPr>
        <p:spPr bwMode="auto">
          <a:xfrm>
            <a:off x="1203325" y="5135563"/>
            <a:ext cx="6858000" cy="161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l">
              <a:buFontTx/>
              <a:buChar char="•"/>
            </a:pPr>
            <a:r>
              <a:rPr lang="en-US"/>
              <a:t> Nodes J and K both broadcast packet P to node D</a:t>
            </a:r>
          </a:p>
          <a:p>
            <a:pPr algn="l">
              <a:buFontTx/>
              <a:buChar char="•"/>
            </a:pPr>
            <a:r>
              <a:rPr lang="en-US"/>
              <a:t> Since nodes J and K are </a:t>
            </a:r>
            <a:r>
              <a:rPr lang="en-US">
                <a:solidFill>
                  <a:srgbClr val="0000FF"/>
                </a:solidFill>
              </a:rPr>
              <a:t>hidden </a:t>
            </a:r>
            <a:r>
              <a:rPr lang="en-US"/>
              <a:t>from each other, their</a:t>
            </a:r>
          </a:p>
          <a:p>
            <a:pPr algn="l"/>
            <a:r>
              <a:rPr lang="en-US"/>
              <a:t>   </a:t>
            </a:r>
            <a:r>
              <a:rPr lang="en-US">
                <a:solidFill>
                  <a:srgbClr val="A50021"/>
                </a:solidFill>
              </a:rPr>
              <a:t>transmissions may collide</a:t>
            </a:r>
            <a:r>
              <a:rPr lang="en-US"/>
              <a:t> </a:t>
            </a:r>
          </a:p>
          <a:p>
            <a:pPr algn="l"/>
            <a:r>
              <a:rPr lang="en-US">
                <a:solidFill>
                  <a:srgbClr val="FF0000"/>
                </a:solidFill>
                <a:latin typeface="Symbol" pitchFamily="18" charset="2"/>
              </a:rPr>
              <a:t>         =&gt;</a:t>
            </a:r>
            <a:r>
              <a:rPr lang="en-US"/>
              <a:t> </a:t>
            </a:r>
            <a:r>
              <a:rPr lang="en-US">
                <a:solidFill>
                  <a:srgbClr val="FF0000"/>
                </a:solidFill>
              </a:rPr>
              <a:t>Packet P may not be delivered to node D at all, </a:t>
            </a:r>
          </a:p>
          <a:p>
            <a:pPr algn="l"/>
            <a:r>
              <a:rPr lang="en-US">
                <a:solidFill>
                  <a:srgbClr val="FF0000"/>
                </a:solidFill>
              </a:rPr>
              <a:t>             despite the use of flooding</a:t>
            </a:r>
          </a:p>
        </p:txBody>
      </p:sp>
      <p:sp>
        <p:nvSpPr>
          <p:cNvPr id="638007" name="Oval 1079"/>
          <p:cNvSpPr>
            <a:spLocks noChangeArrowheads="1"/>
          </p:cNvSpPr>
          <p:nvPr/>
        </p:nvSpPr>
        <p:spPr bwMode="auto">
          <a:xfrm>
            <a:off x="7391400" y="44196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N</a:t>
            </a:r>
          </a:p>
        </p:txBody>
      </p:sp>
      <p:sp>
        <p:nvSpPr>
          <p:cNvPr id="638008" name="Line 1080"/>
          <p:cNvSpPr>
            <a:spLocks noChangeShapeType="1"/>
          </p:cNvSpPr>
          <p:nvPr/>
        </p:nvSpPr>
        <p:spPr bwMode="auto">
          <a:xfrm>
            <a:off x="7239000" y="4419600"/>
            <a:ext cx="228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8009" name="Oval 1081"/>
          <p:cNvSpPr>
            <a:spLocks noChangeArrowheads="1"/>
          </p:cNvSpPr>
          <p:nvPr/>
        </p:nvSpPr>
        <p:spPr bwMode="auto">
          <a:xfrm>
            <a:off x="7848600" y="3048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L</a:t>
            </a:r>
          </a:p>
        </p:txBody>
      </p:sp>
      <p:sp>
        <p:nvSpPr>
          <p:cNvPr id="638010" name="Line 1082"/>
          <p:cNvSpPr>
            <a:spLocks noChangeShapeType="1"/>
          </p:cNvSpPr>
          <p:nvPr/>
        </p:nvSpPr>
        <p:spPr bwMode="auto">
          <a:xfrm>
            <a:off x="7543800" y="33528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Flooding for Data Delivery</a:t>
            </a:r>
          </a:p>
        </p:txBody>
      </p:sp>
      <p:sp>
        <p:nvSpPr>
          <p:cNvPr id="4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F428B-4528-4CD4-A850-F6E50DE80CCE}" type="slidenum">
              <a:rPr lang="en-US"/>
              <a:pPr/>
              <a:t>23</a:t>
            </a:fld>
            <a:endParaRPr lang="en-US"/>
          </a:p>
        </p:txBody>
      </p:sp>
      <p:sp>
        <p:nvSpPr>
          <p:cNvPr id="640003" name="Oval 3" descr="Water droplets"/>
          <p:cNvSpPr>
            <a:spLocks noChangeArrowheads="1"/>
          </p:cNvSpPr>
          <p:nvPr/>
        </p:nvSpPr>
        <p:spPr bwMode="auto">
          <a:xfrm>
            <a:off x="2209800" y="28956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B</a:t>
            </a:r>
          </a:p>
        </p:txBody>
      </p:sp>
      <p:sp>
        <p:nvSpPr>
          <p:cNvPr id="640004" name="Oval 4" descr="Water droplets"/>
          <p:cNvSpPr>
            <a:spLocks noChangeArrowheads="1"/>
          </p:cNvSpPr>
          <p:nvPr/>
        </p:nvSpPr>
        <p:spPr bwMode="auto">
          <a:xfrm>
            <a:off x="1447800" y="35814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A</a:t>
            </a:r>
          </a:p>
        </p:txBody>
      </p:sp>
      <p:sp>
        <p:nvSpPr>
          <p:cNvPr id="640005" name="Oval 5" descr="Water droplets"/>
          <p:cNvSpPr>
            <a:spLocks noChangeArrowheads="1"/>
          </p:cNvSpPr>
          <p:nvPr/>
        </p:nvSpPr>
        <p:spPr bwMode="auto">
          <a:xfrm>
            <a:off x="3124200" y="22860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S</a:t>
            </a:r>
          </a:p>
        </p:txBody>
      </p:sp>
      <p:sp>
        <p:nvSpPr>
          <p:cNvPr id="640006" name="Oval 6" descr="Water droplets"/>
          <p:cNvSpPr>
            <a:spLocks noChangeArrowheads="1"/>
          </p:cNvSpPr>
          <p:nvPr/>
        </p:nvSpPr>
        <p:spPr bwMode="auto">
          <a:xfrm>
            <a:off x="4114800" y="23622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E</a:t>
            </a:r>
          </a:p>
        </p:txBody>
      </p:sp>
      <p:sp>
        <p:nvSpPr>
          <p:cNvPr id="640007" name="Oval 7" descr="Water droplets"/>
          <p:cNvSpPr>
            <a:spLocks noChangeArrowheads="1"/>
          </p:cNvSpPr>
          <p:nvPr/>
        </p:nvSpPr>
        <p:spPr bwMode="auto">
          <a:xfrm>
            <a:off x="5105400" y="27432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F</a:t>
            </a:r>
          </a:p>
        </p:txBody>
      </p:sp>
      <p:sp>
        <p:nvSpPr>
          <p:cNvPr id="640008" name="Oval 8" descr="Water droplets"/>
          <p:cNvSpPr>
            <a:spLocks noChangeArrowheads="1"/>
          </p:cNvSpPr>
          <p:nvPr/>
        </p:nvSpPr>
        <p:spPr bwMode="auto">
          <a:xfrm>
            <a:off x="2667000" y="38862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H</a:t>
            </a:r>
          </a:p>
        </p:txBody>
      </p:sp>
      <p:sp>
        <p:nvSpPr>
          <p:cNvPr id="640009" name="Oval 9" descr="Water droplets"/>
          <p:cNvSpPr>
            <a:spLocks noChangeArrowheads="1"/>
          </p:cNvSpPr>
          <p:nvPr/>
        </p:nvSpPr>
        <p:spPr bwMode="auto">
          <a:xfrm>
            <a:off x="5943600" y="32766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J</a:t>
            </a:r>
          </a:p>
        </p:txBody>
      </p:sp>
      <p:sp>
        <p:nvSpPr>
          <p:cNvPr id="640010" name="Oval 10" descr="Water droplets"/>
          <p:cNvSpPr>
            <a:spLocks noChangeArrowheads="1"/>
          </p:cNvSpPr>
          <p:nvPr/>
        </p:nvSpPr>
        <p:spPr bwMode="auto">
          <a:xfrm>
            <a:off x="6705600" y="38862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D</a:t>
            </a:r>
          </a:p>
        </p:txBody>
      </p:sp>
      <p:sp>
        <p:nvSpPr>
          <p:cNvPr id="640011" name="Oval 11" descr="Water droplets"/>
          <p:cNvSpPr>
            <a:spLocks noChangeArrowheads="1"/>
          </p:cNvSpPr>
          <p:nvPr/>
        </p:nvSpPr>
        <p:spPr bwMode="auto">
          <a:xfrm>
            <a:off x="3505200" y="30480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C</a:t>
            </a:r>
          </a:p>
        </p:txBody>
      </p:sp>
      <p:sp>
        <p:nvSpPr>
          <p:cNvPr id="640012" name="Oval 12" descr="Water droplets"/>
          <p:cNvSpPr>
            <a:spLocks noChangeArrowheads="1"/>
          </p:cNvSpPr>
          <p:nvPr/>
        </p:nvSpPr>
        <p:spPr bwMode="auto">
          <a:xfrm>
            <a:off x="4572000" y="35814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G</a:t>
            </a:r>
          </a:p>
        </p:txBody>
      </p:sp>
      <p:sp>
        <p:nvSpPr>
          <p:cNvPr id="640013" name="Oval 13" descr="Water droplets"/>
          <p:cNvSpPr>
            <a:spLocks noChangeArrowheads="1"/>
          </p:cNvSpPr>
          <p:nvPr/>
        </p:nvSpPr>
        <p:spPr bwMode="auto">
          <a:xfrm>
            <a:off x="3733800" y="44196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I</a:t>
            </a:r>
          </a:p>
        </p:txBody>
      </p:sp>
      <p:sp>
        <p:nvSpPr>
          <p:cNvPr id="640014" name="Oval 14" descr="Water droplets"/>
          <p:cNvSpPr>
            <a:spLocks noChangeArrowheads="1"/>
          </p:cNvSpPr>
          <p:nvPr/>
        </p:nvSpPr>
        <p:spPr bwMode="auto">
          <a:xfrm>
            <a:off x="5486400" y="41148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K</a:t>
            </a:r>
          </a:p>
        </p:txBody>
      </p:sp>
      <p:sp>
        <p:nvSpPr>
          <p:cNvPr id="640015" name="Line 15"/>
          <p:cNvSpPr>
            <a:spLocks noChangeShapeType="1"/>
          </p:cNvSpPr>
          <p:nvPr/>
        </p:nvSpPr>
        <p:spPr bwMode="auto">
          <a:xfrm flipV="1">
            <a:off x="1981200" y="3352800"/>
            <a:ext cx="304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0016" name="Line 16"/>
          <p:cNvSpPr>
            <a:spLocks noChangeShapeType="1"/>
          </p:cNvSpPr>
          <p:nvPr/>
        </p:nvSpPr>
        <p:spPr bwMode="auto">
          <a:xfrm flipV="1">
            <a:off x="2743200" y="2743200"/>
            <a:ext cx="457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0017" name="Line 17"/>
          <p:cNvSpPr>
            <a:spLocks noChangeShapeType="1"/>
          </p:cNvSpPr>
          <p:nvPr/>
        </p:nvSpPr>
        <p:spPr bwMode="auto">
          <a:xfrm>
            <a:off x="2057400" y="3962400"/>
            <a:ext cx="6858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0018" name="Line 18"/>
          <p:cNvSpPr>
            <a:spLocks noChangeShapeType="1"/>
          </p:cNvSpPr>
          <p:nvPr/>
        </p:nvSpPr>
        <p:spPr bwMode="auto">
          <a:xfrm>
            <a:off x="2667000" y="3429000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0019" name="Line 19"/>
          <p:cNvSpPr>
            <a:spLocks noChangeShapeType="1"/>
          </p:cNvSpPr>
          <p:nvPr/>
        </p:nvSpPr>
        <p:spPr bwMode="auto">
          <a:xfrm flipH="1">
            <a:off x="3124200" y="3581400"/>
            <a:ext cx="533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0020" name="Line 20"/>
          <p:cNvSpPr>
            <a:spLocks noChangeShapeType="1"/>
          </p:cNvSpPr>
          <p:nvPr/>
        </p:nvSpPr>
        <p:spPr bwMode="auto">
          <a:xfrm flipH="1">
            <a:off x="3962400" y="28956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0021" name="Line 21"/>
          <p:cNvSpPr>
            <a:spLocks noChangeShapeType="1"/>
          </p:cNvSpPr>
          <p:nvPr/>
        </p:nvSpPr>
        <p:spPr bwMode="auto">
          <a:xfrm>
            <a:off x="4724400" y="2743200"/>
            <a:ext cx="457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0022" name="Line 22"/>
          <p:cNvSpPr>
            <a:spLocks noChangeShapeType="1"/>
          </p:cNvSpPr>
          <p:nvPr/>
        </p:nvSpPr>
        <p:spPr bwMode="auto">
          <a:xfrm flipH="1">
            <a:off x="5029200" y="32766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0023" name="Line 23"/>
          <p:cNvSpPr>
            <a:spLocks noChangeShapeType="1"/>
          </p:cNvSpPr>
          <p:nvPr/>
        </p:nvSpPr>
        <p:spPr bwMode="auto">
          <a:xfrm flipH="1">
            <a:off x="4191000" y="4114800"/>
            <a:ext cx="4572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0024" name="Line 24"/>
          <p:cNvSpPr>
            <a:spLocks noChangeShapeType="1"/>
          </p:cNvSpPr>
          <p:nvPr/>
        </p:nvSpPr>
        <p:spPr bwMode="auto">
          <a:xfrm>
            <a:off x="4114800" y="3505200"/>
            <a:ext cx="457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0025" name="Line 25"/>
          <p:cNvSpPr>
            <a:spLocks noChangeShapeType="1"/>
          </p:cNvSpPr>
          <p:nvPr/>
        </p:nvSpPr>
        <p:spPr bwMode="auto">
          <a:xfrm>
            <a:off x="3200400" y="4343400"/>
            <a:ext cx="5334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0026" name="Line 26"/>
          <p:cNvSpPr>
            <a:spLocks noChangeShapeType="1"/>
          </p:cNvSpPr>
          <p:nvPr/>
        </p:nvSpPr>
        <p:spPr bwMode="auto">
          <a:xfrm>
            <a:off x="5638800" y="3200400"/>
            <a:ext cx="3810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0027" name="Line 27"/>
          <p:cNvSpPr>
            <a:spLocks noChangeShapeType="1"/>
          </p:cNvSpPr>
          <p:nvPr/>
        </p:nvSpPr>
        <p:spPr bwMode="auto">
          <a:xfrm>
            <a:off x="5105400" y="4114800"/>
            <a:ext cx="3810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0029" name="Line 29"/>
          <p:cNvSpPr>
            <a:spLocks noChangeShapeType="1"/>
          </p:cNvSpPr>
          <p:nvPr/>
        </p:nvSpPr>
        <p:spPr bwMode="auto">
          <a:xfrm>
            <a:off x="6477000" y="3733800"/>
            <a:ext cx="3048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0030" name="Line 30"/>
          <p:cNvSpPr>
            <a:spLocks noChangeShapeType="1"/>
          </p:cNvSpPr>
          <p:nvPr/>
        </p:nvSpPr>
        <p:spPr bwMode="auto">
          <a:xfrm flipH="1">
            <a:off x="6096000" y="4267200"/>
            <a:ext cx="609600" cy="76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0031" name="Line 31"/>
          <p:cNvSpPr>
            <a:spLocks noChangeShapeType="1"/>
          </p:cNvSpPr>
          <p:nvPr/>
        </p:nvSpPr>
        <p:spPr bwMode="auto">
          <a:xfrm flipH="1">
            <a:off x="3733800" y="25908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0032" name="Line 32"/>
          <p:cNvSpPr>
            <a:spLocks noChangeShapeType="1"/>
          </p:cNvSpPr>
          <p:nvPr/>
        </p:nvSpPr>
        <p:spPr bwMode="auto">
          <a:xfrm>
            <a:off x="3505200" y="28956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0034" name="Oval 34"/>
          <p:cNvSpPr>
            <a:spLocks noChangeArrowheads="1"/>
          </p:cNvSpPr>
          <p:nvPr/>
        </p:nvSpPr>
        <p:spPr bwMode="auto">
          <a:xfrm>
            <a:off x="7162800" y="1905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Z</a:t>
            </a:r>
          </a:p>
        </p:txBody>
      </p:sp>
      <p:sp>
        <p:nvSpPr>
          <p:cNvPr id="640035" name="Oval 35"/>
          <p:cNvSpPr>
            <a:spLocks noChangeArrowheads="1"/>
          </p:cNvSpPr>
          <p:nvPr/>
        </p:nvSpPr>
        <p:spPr bwMode="auto">
          <a:xfrm>
            <a:off x="7467600" y="1143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Y</a:t>
            </a:r>
          </a:p>
        </p:txBody>
      </p:sp>
      <p:sp>
        <p:nvSpPr>
          <p:cNvPr id="640036" name="Line 36"/>
          <p:cNvSpPr>
            <a:spLocks noChangeShapeType="1"/>
          </p:cNvSpPr>
          <p:nvPr/>
        </p:nvSpPr>
        <p:spPr bwMode="auto">
          <a:xfrm flipH="1">
            <a:off x="7543800" y="1752600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0041" name="Text Box 41"/>
          <p:cNvSpPr txBox="1">
            <a:spLocks noChangeArrowheads="1"/>
          </p:cNvSpPr>
          <p:nvPr/>
        </p:nvSpPr>
        <p:spPr bwMode="auto">
          <a:xfrm>
            <a:off x="1143000" y="5486400"/>
            <a:ext cx="65659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l">
              <a:buFontTx/>
              <a:buChar char="•"/>
            </a:pPr>
            <a:r>
              <a:rPr lang="en-US"/>
              <a:t> Node D </a:t>
            </a:r>
            <a:r>
              <a:rPr lang="en-US">
                <a:solidFill>
                  <a:srgbClr val="A50021"/>
                </a:solidFill>
              </a:rPr>
              <a:t>does not forward</a:t>
            </a:r>
            <a:r>
              <a:rPr lang="en-US"/>
              <a:t> packet P, because node D</a:t>
            </a:r>
          </a:p>
          <a:p>
            <a:pPr algn="l"/>
            <a:r>
              <a:rPr lang="en-US"/>
              <a:t>   is the </a:t>
            </a:r>
            <a:r>
              <a:rPr lang="en-US">
                <a:solidFill>
                  <a:schemeClr val="accent1"/>
                </a:solidFill>
              </a:rPr>
              <a:t>intended destination of packet P</a:t>
            </a:r>
            <a:endParaRPr lang="en-US"/>
          </a:p>
        </p:txBody>
      </p:sp>
      <p:sp>
        <p:nvSpPr>
          <p:cNvPr id="640042" name="Oval 42" descr="Water droplets"/>
          <p:cNvSpPr>
            <a:spLocks noChangeArrowheads="1"/>
          </p:cNvSpPr>
          <p:nvPr/>
        </p:nvSpPr>
        <p:spPr bwMode="auto">
          <a:xfrm>
            <a:off x="6934200" y="30480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M</a:t>
            </a:r>
          </a:p>
        </p:txBody>
      </p:sp>
      <p:sp>
        <p:nvSpPr>
          <p:cNvPr id="640043" name="Line 43"/>
          <p:cNvSpPr>
            <a:spLocks noChangeShapeType="1"/>
          </p:cNvSpPr>
          <p:nvPr/>
        </p:nvSpPr>
        <p:spPr bwMode="auto">
          <a:xfrm flipV="1">
            <a:off x="6553200" y="3352800"/>
            <a:ext cx="381000" cy="762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0048" name="Oval 48"/>
          <p:cNvSpPr>
            <a:spLocks noChangeArrowheads="1"/>
          </p:cNvSpPr>
          <p:nvPr/>
        </p:nvSpPr>
        <p:spPr bwMode="auto">
          <a:xfrm>
            <a:off x="7391400" y="44196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N</a:t>
            </a:r>
          </a:p>
        </p:txBody>
      </p:sp>
      <p:sp>
        <p:nvSpPr>
          <p:cNvPr id="640049" name="Line 49"/>
          <p:cNvSpPr>
            <a:spLocks noChangeShapeType="1"/>
          </p:cNvSpPr>
          <p:nvPr/>
        </p:nvSpPr>
        <p:spPr bwMode="auto">
          <a:xfrm>
            <a:off x="7239000" y="4419600"/>
            <a:ext cx="228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0050" name="Oval 50" descr="Water droplets"/>
          <p:cNvSpPr>
            <a:spLocks noChangeArrowheads="1"/>
          </p:cNvSpPr>
          <p:nvPr/>
        </p:nvSpPr>
        <p:spPr bwMode="auto">
          <a:xfrm>
            <a:off x="7848600" y="30480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L</a:t>
            </a:r>
          </a:p>
        </p:txBody>
      </p:sp>
      <p:sp>
        <p:nvSpPr>
          <p:cNvPr id="640051" name="Line 51"/>
          <p:cNvSpPr>
            <a:spLocks noChangeShapeType="1"/>
          </p:cNvSpPr>
          <p:nvPr/>
        </p:nvSpPr>
        <p:spPr bwMode="auto">
          <a:xfrm>
            <a:off x="7543800" y="3352800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Flooding for Data Delivery</a:t>
            </a:r>
          </a:p>
        </p:txBody>
      </p:sp>
      <p:sp>
        <p:nvSpPr>
          <p:cNvPr id="4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CE5EE-4B71-40DF-9071-AD5BAF259583}" type="slidenum">
              <a:rPr lang="en-US"/>
              <a:pPr/>
              <a:t>24</a:t>
            </a:fld>
            <a:endParaRPr lang="en-US"/>
          </a:p>
        </p:txBody>
      </p:sp>
      <p:sp>
        <p:nvSpPr>
          <p:cNvPr id="641027" name="Oval 3" descr="Water droplets"/>
          <p:cNvSpPr>
            <a:spLocks noChangeArrowheads="1"/>
          </p:cNvSpPr>
          <p:nvPr/>
        </p:nvSpPr>
        <p:spPr bwMode="auto">
          <a:xfrm>
            <a:off x="2209800" y="28956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B</a:t>
            </a:r>
          </a:p>
        </p:txBody>
      </p:sp>
      <p:sp>
        <p:nvSpPr>
          <p:cNvPr id="641028" name="Oval 4" descr="Water droplets"/>
          <p:cNvSpPr>
            <a:spLocks noChangeArrowheads="1"/>
          </p:cNvSpPr>
          <p:nvPr/>
        </p:nvSpPr>
        <p:spPr bwMode="auto">
          <a:xfrm>
            <a:off x="1447800" y="35814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A</a:t>
            </a:r>
          </a:p>
        </p:txBody>
      </p:sp>
      <p:sp>
        <p:nvSpPr>
          <p:cNvPr id="641029" name="Oval 5" descr="Water droplets"/>
          <p:cNvSpPr>
            <a:spLocks noChangeArrowheads="1"/>
          </p:cNvSpPr>
          <p:nvPr/>
        </p:nvSpPr>
        <p:spPr bwMode="auto">
          <a:xfrm>
            <a:off x="3124200" y="22860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S</a:t>
            </a:r>
          </a:p>
        </p:txBody>
      </p:sp>
      <p:sp>
        <p:nvSpPr>
          <p:cNvPr id="641030" name="Oval 6" descr="Water droplets"/>
          <p:cNvSpPr>
            <a:spLocks noChangeArrowheads="1"/>
          </p:cNvSpPr>
          <p:nvPr/>
        </p:nvSpPr>
        <p:spPr bwMode="auto">
          <a:xfrm>
            <a:off x="4114800" y="23622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E</a:t>
            </a:r>
          </a:p>
        </p:txBody>
      </p:sp>
      <p:sp>
        <p:nvSpPr>
          <p:cNvPr id="641031" name="Oval 7" descr="Water droplets"/>
          <p:cNvSpPr>
            <a:spLocks noChangeArrowheads="1"/>
          </p:cNvSpPr>
          <p:nvPr/>
        </p:nvSpPr>
        <p:spPr bwMode="auto">
          <a:xfrm>
            <a:off x="5105400" y="27432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F</a:t>
            </a:r>
          </a:p>
        </p:txBody>
      </p:sp>
      <p:sp>
        <p:nvSpPr>
          <p:cNvPr id="641032" name="Oval 8" descr="Water droplets"/>
          <p:cNvSpPr>
            <a:spLocks noChangeArrowheads="1"/>
          </p:cNvSpPr>
          <p:nvPr/>
        </p:nvSpPr>
        <p:spPr bwMode="auto">
          <a:xfrm>
            <a:off x="2667000" y="38862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H</a:t>
            </a:r>
          </a:p>
        </p:txBody>
      </p:sp>
      <p:sp>
        <p:nvSpPr>
          <p:cNvPr id="641033" name="Oval 9" descr="Water droplets"/>
          <p:cNvSpPr>
            <a:spLocks noChangeArrowheads="1"/>
          </p:cNvSpPr>
          <p:nvPr/>
        </p:nvSpPr>
        <p:spPr bwMode="auto">
          <a:xfrm>
            <a:off x="5943600" y="32766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J</a:t>
            </a:r>
          </a:p>
        </p:txBody>
      </p:sp>
      <p:sp>
        <p:nvSpPr>
          <p:cNvPr id="641034" name="Oval 10" descr="Water droplets"/>
          <p:cNvSpPr>
            <a:spLocks noChangeArrowheads="1"/>
          </p:cNvSpPr>
          <p:nvPr/>
        </p:nvSpPr>
        <p:spPr bwMode="auto">
          <a:xfrm>
            <a:off x="6705600" y="38862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D</a:t>
            </a:r>
          </a:p>
        </p:txBody>
      </p:sp>
      <p:sp>
        <p:nvSpPr>
          <p:cNvPr id="641035" name="Oval 11" descr="Water droplets"/>
          <p:cNvSpPr>
            <a:spLocks noChangeArrowheads="1"/>
          </p:cNvSpPr>
          <p:nvPr/>
        </p:nvSpPr>
        <p:spPr bwMode="auto">
          <a:xfrm>
            <a:off x="3505200" y="30480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C</a:t>
            </a:r>
          </a:p>
        </p:txBody>
      </p:sp>
      <p:sp>
        <p:nvSpPr>
          <p:cNvPr id="641036" name="Oval 12" descr="Water droplets"/>
          <p:cNvSpPr>
            <a:spLocks noChangeArrowheads="1"/>
          </p:cNvSpPr>
          <p:nvPr/>
        </p:nvSpPr>
        <p:spPr bwMode="auto">
          <a:xfrm>
            <a:off x="4572000" y="35814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G</a:t>
            </a:r>
          </a:p>
        </p:txBody>
      </p:sp>
      <p:sp>
        <p:nvSpPr>
          <p:cNvPr id="641037" name="Oval 13" descr="Water droplets"/>
          <p:cNvSpPr>
            <a:spLocks noChangeArrowheads="1"/>
          </p:cNvSpPr>
          <p:nvPr/>
        </p:nvSpPr>
        <p:spPr bwMode="auto">
          <a:xfrm>
            <a:off x="3733800" y="44196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I</a:t>
            </a:r>
          </a:p>
        </p:txBody>
      </p:sp>
      <p:sp>
        <p:nvSpPr>
          <p:cNvPr id="641038" name="Oval 14" descr="Water droplets"/>
          <p:cNvSpPr>
            <a:spLocks noChangeArrowheads="1"/>
          </p:cNvSpPr>
          <p:nvPr/>
        </p:nvSpPr>
        <p:spPr bwMode="auto">
          <a:xfrm>
            <a:off x="5486400" y="41148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K</a:t>
            </a:r>
          </a:p>
        </p:txBody>
      </p:sp>
      <p:sp>
        <p:nvSpPr>
          <p:cNvPr id="641039" name="Line 15"/>
          <p:cNvSpPr>
            <a:spLocks noChangeShapeType="1"/>
          </p:cNvSpPr>
          <p:nvPr/>
        </p:nvSpPr>
        <p:spPr bwMode="auto">
          <a:xfrm flipV="1">
            <a:off x="1981200" y="3352800"/>
            <a:ext cx="304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1040" name="Line 16"/>
          <p:cNvSpPr>
            <a:spLocks noChangeShapeType="1"/>
          </p:cNvSpPr>
          <p:nvPr/>
        </p:nvSpPr>
        <p:spPr bwMode="auto">
          <a:xfrm flipV="1">
            <a:off x="2743200" y="2743200"/>
            <a:ext cx="457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1041" name="Line 17"/>
          <p:cNvSpPr>
            <a:spLocks noChangeShapeType="1"/>
          </p:cNvSpPr>
          <p:nvPr/>
        </p:nvSpPr>
        <p:spPr bwMode="auto">
          <a:xfrm>
            <a:off x="2057400" y="3962400"/>
            <a:ext cx="6858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1042" name="Line 18"/>
          <p:cNvSpPr>
            <a:spLocks noChangeShapeType="1"/>
          </p:cNvSpPr>
          <p:nvPr/>
        </p:nvSpPr>
        <p:spPr bwMode="auto">
          <a:xfrm>
            <a:off x="2667000" y="3429000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1043" name="Line 19"/>
          <p:cNvSpPr>
            <a:spLocks noChangeShapeType="1"/>
          </p:cNvSpPr>
          <p:nvPr/>
        </p:nvSpPr>
        <p:spPr bwMode="auto">
          <a:xfrm flipH="1">
            <a:off x="3124200" y="3581400"/>
            <a:ext cx="533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1044" name="Line 20"/>
          <p:cNvSpPr>
            <a:spLocks noChangeShapeType="1"/>
          </p:cNvSpPr>
          <p:nvPr/>
        </p:nvSpPr>
        <p:spPr bwMode="auto">
          <a:xfrm flipH="1">
            <a:off x="3962400" y="28956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1045" name="Line 21"/>
          <p:cNvSpPr>
            <a:spLocks noChangeShapeType="1"/>
          </p:cNvSpPr>
          <p:nvPr/>
        </p:nvSpPr>
        <p:spPr bwMode="auto">
          <a:xfrm>
            <a:off x="4724400" y="2743200"/>
            <a:ext cx="457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1046" name="Line 22"/>
          <p:cNvSpPr>
            <a:spLocks noChangeShapeType="1"/>
          </p:cNvSpPr>
          <p:nvPr/>
        </p:nvSpPr>
        <p:spPr bwMode="auto">
          <a:xfrm flipH="1">
            <a:off x="5029200" y="32766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1047" name="Line 23"/>
          <p:cNvSpPr>
            <a:spLocks noChangeShapeType="1"/>
          </p:cNvSpPr>
          <p:nvPr/>
        </p:nvSpPr>
        <p:spPr bwMode="auto">
          <a:xfrm flipH="1">
            <a:off x="4191000" y="4114800"/>
            <a:ext cx="4572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1048" name="Line 24"/>
          <p:cNvSpPr>
            <a:spLocks noChangeShapeType="1"/>
          </p:cNvSpPr>
          <p:nvPr/>
        </p:nvSpPr>
        <p:spPr bwMode="auto">
          <a:xfrm>
            <a:off x="4114800" y="3505200"/>
            <a:ext cx="457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1049" name="Line 25"/>
          <p:cNvSpPr>
            <a:spLocks noChangeShapeType="1"/>
          </p:cNvSpPr>
          <p:nvPr/>
        </p:nvSpPr>
        <p:spPr bwMode="auto">
          <a:xfrm>
            <a:off x="3200400" y="4343400"/>
            <a:ext cx="5334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1050" name="Line 26"/>
          <p:cNvSpPr>
            <a:spLocks noChangeShapeType="1"/>
          </p:cNvSpPr>
          <p:nvPr/>
        </p:nvSpPr>
        <p:spPr bwMode="auto">
          <a:xfrm>
            <a:off x="5638800" y="3200400"/>
            <a:ext cx="3810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1051" name="Line 27"/>
          <p:cNvSpPr>
            <a:spLocks noChangeShapeType="1"/>
          </p:cNvSpPr>
          <p:nvPr/>
        </p:nvSpPr>
        <p:spPr bwMode="auto">
          <a:xfrm>
            <a:off x="5105400" y="4114800"/>
            <a:ext cx="3810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1053" name="Line 29"/>
          <p:cNvSpPr>
            <a:spLocks noChangeShapeType="1"/>
          </p:cNvSpPr>
          <p:nvPr/>
        </p:nvSpPr>
        <p:spPr bwMode="auto">
          <a:xfrm>
            <a:off x="6477000" y="3733800"/>
            <a:ext cx="3048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1054" name="Line 30"/>
          <p:cNvSpPr>
            <a:spLocks noChangeShapeType="1"/>
          </p:cNvSpPr>
          <p:nvPr/>
        </p:nvSpPr>
        <p:spPr bwMode="auto">
          <a:xfrm flipH="1">
            <a:off x="6096000" y="4267200"/>
            <a:ext cx="609600" cy="76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1055" name="Line 31"/>
          <p:cNvSpPr>
            <a:spLocks noChangeShapeType="1"/>
          </p:cNvSpPr>
          <p:nvPr/>
        </p:nvSpPr>
        <p:spPr bwMode="auto">
          <a:xfrm flipH="1">
            <a:off x="3733800" y="25908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1056" name="Line 32"/>
          <p:cNvSpPr>
            <a:spLocks noChangeShapeType="1"/>
          </p:cNvSpPr>
          <p:nvPr/>
        </p:nvSpPr>
        <p:spPr bwMode="auto">
          <a:xfrm>
            <a:off x="3505200" y="28956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1057" name="Text Box 33"/>
          <p:cNvSpPr txBox="1">
            <a:spLocks noChangeArrowheads="1"/>
          </p:cNvSpPr>
          <p:nvPr/>
        </p:nvSpPr>
        <p:spPr bwMode="auto">
          <a:xfrm>
            <a:off x="352425" y="4724400"/>
            <a:ext cx="8113713" cy="192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l">
              <a:buFontTx/>
              <a:buChar char="•"/>
            </a:pPr>
            <a:r>
              <a:rPr lang="en-US"/>
              <a:t> </a:t>
            </a:r>
            <a:r>
              <a:rPr lang="en-US">
                <a:solidFill>
                  <a:schemeClr val="accent1"/>
                </a:solidFill>
              </a:rPr>
              <a:t>Flooding completed</a:t>
            </a:r>
            <a:endParaRPr lang="en-US"/>
          </a:p>
          <a:p>
            <a:pPr algn="l">
              <a:buFontTx/>
              <a:buChar char="•"/>
            </a:pPr>
            <a:endParaRPr lang="en-US"/>
          </a:p>
          <a:p>
            <a:pPr algn="l">
              <a:buFontTx/>
              <a:buChar char="•"/>
            </a:pPr>
            <a:r>
              <a:rPr lang="en-US">
                <a:solidFill>
                  <a:srgbClr val="A50021"/>
                </a:solidFill>
              </a:rPr>
              <a:t> </a:t>
            </a:r>
            <a:r>
              <a:rPr lang="en-US"/>
              <a:t>Nodes</a:t>
            </a:r>
            <a:r>
              <a:rPr lang="en-US">
                <a:solidFill>
                  <a:srgbClr val="A50021"/>
                </a:solidFill>
              </a:rPr>
              <a:t> unreachable</a:t>
            </a:r>
            <a:r>
              <a:rPr lang="en-US"/>
              <a:t> from S do not receive packet P (e.g., node Z)</a:t>
            </a:r>
          </a:p>
          <a:p>
            <a:pPr algn="l">
              <a:buFontTx/>
              <a:buChar char="•"/>
            </a:pPr>
            <a:endParaRPr lang="en-US"/>
          </a:p>
          <a:p>
            <a:pPr algn="l">
              <a:buFontTx/>
              <a:buChar char="•"/>
            </a:pPr>
            <a:r>
              <a:rPr lang="en-US"/>
              <a:t> Nodes for which all paths from S go through the destination D</a:t>
            </a:r>
          </a:p>
          <a:p>
            <a:pPr algn="l"/>
            <a:r>
              <a:rPr lang="en-US"/>
              <a:t>  also do not receive packet P (example: node N)</a:t>
            </a:r>
          </a:p>
        </p:txBody>
      </p:sp>
      <p:sp>
        <p:nvSpPr>
          <p:cNvPr id="641058" name="Oval 34"/>
          <p:cNvSpPr>
            <a:spLocks noChangeArrowheads="1"/>
          </p:cNvSpPr>
          <p:nvPr/>
        </p:nvSpPr>
        <p:spPr bwMode="auto">
          <a:xfrm>
            <a:off x="7162800" y="1905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Z</a:t>
            </a:r>
          </a:p>
        </p:txBody>
      </p:sp>
      <p:sp>
        <p:nvSpPr>
          <p:cNvPr id="641059" name="Oval 35"/>
          <p:cNvSpPr>
            <a:spLocks noChangeArrowheads="1"/>
          </p:cNvSpPr>
          <p:nvPr/>
        </p:nvSpPr>
        <p:spPr bwMode="auto">
          <a:xfrm>
            <a:off x="7467600" y="1143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Y</a:t>
            </a:r>
          </a:p>
        </p:txBody>
      </p:sp>
      <p:sp>
        <p:nvSpPr>
          <p:cNvPr id="641060" name="Line 36"/>
          <p:cNvSpPr>
            <a:spLocks noChangeShapeType="1"/>
          </p:cNvSpPr>
          <p:nvPr/>
        </p:nvSpPr>
        <p:spPr bwMode="auto">
          <a:xfrm flipH="1">
            <a:off x="7543800" y="1752600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1063" name="Oval 39" descr="Water droplets"/>
          <p:cNvSpPr>
            <a:spLocks noChangeArrowheads="1"/>
          </p:cNvSpPr>
          <p:nvPr/>
        </p:nvSpPr>
        <p:spPr bwMode="auto">
          <a:xfrm>
            <a:off x="6934200" y="30480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M</a:t>
            </a:r>
          </a:p>
        </p:txBody>
      </p:sp>
      <p:sp>
        <p:nvSpPr>
          <p:cNvPr id="641064" name="Line 40"/>
          <p:cNvSpPr>
            <a:spLocks noChangeShapeType="1"/>
          </p:cNvSpPr>
          <p:nvPr/>
        </p:nvSpPr>
        <p:spPr bwMode="auto">
          <a:xfrm flipV="1">
            <a:off x="6553200" y="3352800"/>
            <a:ext cx="3810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1070" name="Oval 46"/>
          <p:cNvSpPr>
            <a:spLocks noChangeArrowheads="1"/>
          </p:cNvSpPr>
          <p:nvPr/>
        </p:nvSpPr>
        <p:spPr bwMode="auto">
          <a:xfrm>
            <a:off x="7391400" y="44196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N</a:t>
            </a:r>
          </a:p>
        </p:txBody>
      </p:sp>
      <p:sp>
        <p:nvSpPr>
          <p:cNvPr id="641071" name="Line 47"/>
          <p:cNvSpPr>
            <a:spLocks noChangeShapeType="1"/>
          </p:cNvSpPr>
          <p:nvPr/>
        </p:nvSpPr>
        <p:spPr bwMode="auto">
          <a:xfrm>
            <a:off x="7239000" y="4419600"/>
            <a:ext cx="228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1072" name="Oval 48" descr="Water droplets"/>
          <p:cNvSpPr>
            <a:spLocks noChangeArrowheads="1"/>
          </p:cNvSpPr>
          <p:nvPr/>
        </p:nvSpPr>
        <p:spPr bwMode="auto">
          <a:xfrm>
            <a:off x="7848600" y="30480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L</a:t>
            </a:r>
          </a:p>
        </p:txBody>
      </p:sp>
      <p:sp>
        <p:nvSpPr>
          <p:cNvPr id="641073" name="Line 49"/>
          <p:cNvSpPr>
            <a:spLocks noChangeShapeType="1"/>
          </p:cNvSpPr>
          <p:nvPr/>
        </p:nvSpPr>
        <p:spPr bwMode="auto">
          <a:xfrm>
            <a:off x="7543800" y="3352800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Flooding for Data Delivery</a:t>
            </a:r>
          </a:p>
        </p:txBody>
      </p:sp>
      <p:sp>
        <p:nvSpPr>
          <p:cNvPr id="4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321E5-63BB-4916-999B-BD43249D6B47}" type="slidenum">
              <a:rPr lang="en-US"/>
              <a:pPr/>
              <a:t>25</a:t>
            </a:fld>
            <a:endParaRPr lang="en-US"/>
          </a:p>
        </p:txBody>
      </p:sp>
      <p:sp>
        <p:nvSpPr>
          <p:cNvPr id="643075" name="Oval 3" descr="Water droplets"/>
          <p:cNvSpPr>
            <a:spLocks noChangeArrowheads="1"/>
          </p:cNvSpPr>
          <p:nvPr/>
        </p:nvSpPr>
        <p:spPr bwMode="auto">
          <a:xfrm>
            <a:off x="2209800" y="28956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B</a:t>
            </a:r>
          </a:p>
        </p:txBody>
      </p:sp>
      <p:sp>
        <p:nvSpPr>
          <p:cNvPr id="643076" name="Oval 4" descr="Water droplets"/>
          <p:cNvSpPr>
            <a:spLocks noChangeArrowheads="1"/>
          </p:cNvSpPr>
          <p:nvPr/>
        </p:nvSpPr>
        <p:spPr bwMode="auto">
          <a:xfrm>
            <a:off x="1447800" y="35814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A</a:t>
            </a:r>
          </a:p>
        </p:txBody>
      </p:sp>
      <p:sp>
        <p:nvSpPr>
          <p:cNvPr id="643077" name="Oval 5" descr="Water droplets"/>
          <p:cNvSpPr>
            <a:spLocks noChangeArrowheads="1"/>
          </p:cNvSpPr>
          <p:nvPr/>
        </p:nvSpPr>
        <p:spPr bwMode="auto">
          <a:xfrm>
            <a:off x="3124200" y="22860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S</a:t>
            </a:r>
          </a:p>
        </p:txBody>
      </p:sp>
      <p:sp>
        <p:nvSpPr>
          <p:cNvPr id="643078" name="Oval 6" descr="Water droplets"/>
          <p:cNvSpPr>
            <a:spLocks noChangeArrowheads="1"/>
          </p:cNvSpPr>
          <p:nvPr/>
        </p:nvSpPr>
        <p:spPr bwMode="auto">
          <a:xfrm>
            <a:off x="4114800" y="23622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E</a:t>
            </a:r>
          </a:p>
        </p:txBody>
      </p:sp>
      <p:sp>
        <p:nvSpPr>
          <p:cNvPr id="643079" name="Oval 7" descr="Water droplets"/>
          <p:cNvSpPr>
            <a:spLocks noChangeArrowheads="1"/>
          </p:cNvSpPr>
          <p:nvPr/>
        </p:nvSpPr>
        <p:spPr bwMode="auto">
          <a:xfrm>
            <a:off x="5105400" y="27432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F</a:t>
            </a:r>
          </a:p>
        </p:txBody>
      </p:sp>
      <p:sp>
        <p:nvSpPr>
          <p:cNvPr id="643080" name="Oval 8" descr="Water droplets"/>
          <p:cNvSpPr>
            <a:spLocks noChangeArrowheads="1"/>
          </p:cNvSpPr>
          <p:nvPr/>
        </p:nvSpPr>
        <p:spPr bwMode="auto">
          <a:xfrm>
            <a:off x="2667000" y="38862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H</a:t>
            </a:r>
          </a:p>
        </p:txBody>
      </p:sp>
      <p:sp>
        <p:nvSpPr>
          <p:cNvPr id="643081" name="Oval 9" descr="Water droplets"/>
          <p:cNvSpPr>
            <a:spLocks noChangeArrowheads="1"/>
          </p:cNvSpPr>
          <p:nvPr/>
        </p:nvSpPr>
        <p:spPr bwMode="auto">
          <a:xfrm>
            <a:off x="5943600" y="32766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J</a:t>
            </a:r>
          </a:p>
        </p:txBody>
      </p:sp>
      <p:sp>
        <p:nvSpPr>
          <p:cNvPr id="643082" name="Oval 10" descr="Water droplets"/>
          <p:cNvSpPr>
            <a:spLocks noChangeArrowheads="1"/>
          </p:cNvSpPr>
          <p:nvPr/>
        </p:nvSpPr>
        <p:spPr bwMode="auto">
          <a:xfrm>
            <a:off x="6705600" y="38862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D</a:t>
            </a:r>
          </a:p>
        </p:txBody>
      </p:sp>
      <p:sp>
        <p:nvSpPr>
          <p:cNvPr id="643083" name="Oval 11" descr="Water droplets"/>
          <p:cNvSpPr>
            <a:spLocks noChangeArrowheads="1"/>
          </p:cNvSpPr>
          <p:nvPr/>
        </p:nvSpPr>
        <p:spPr bwMode="auto">
          <a:xfrm>
            <a:off x="3505200" y="30480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C</a:t>
            </a:r>
          </a:p>
        </p:txBody>
      </p:sp>
      <p:sp>
        <p:nvSpPr>
          <p:cNvPr id="643084" name="Oval 12" descr="Water droplets"/>
          <p:cNvSpPr>
            <a:spLocks noChangeArrowheads="1"/>
          </p:cNvSpPr>
          <p:nvPr/>
        </p:nvSpPr>
        <p:spPr bwMode="auto">
          <a:xfrm>
            <a:off x="4572000" y="35814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G</a:t>
            </a:r>
          </a:p>
        </p:txBody>
      </p:sp>
      <p:sp>
        <p:nvSpPr>
          <p:cNvPr id="643085" name="Oval 13" descr="Water droplets"/>
          <p:cNvSpPr>
            <a:spLocks noChangeArrowheads="1"/>
          </p:cNvSpPr>
          <p:nvPr/>
        </p:nvSpPr>
        <p:spPr bwMode="auto">
          <a:xfrm>
            <a:off x="3733800" y="44196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I</a:t>
            </a:r>
          </a:p>
        </p:txBody>
      </p:sp>
      <p:sp>
        <p:nvSpPr>
          <p:cNvPr id="643086" name="Oval 14" descr="Water droplets"/>
          <p:cNvSpPr>
            <a:spLocks noChangeArrowheads="1"/>
          </p:cNvSpPr>
          <p:nvPr/>
        </p:nvSpPr>
        <p:spPr bwMode="auto">
          <a:xfrm>
            <a:off x="5486400" y="41148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K</a:t>
            </a:r>
          </a:p>
        </p:txBody>
      </p:sp>
      <p:sp>
        <p:nvSpPr>
          <p:cNvPr id="643087" name="Line 15"/>
          <p:cNvSpPr>
            <a:spLocks noChangeShapeType="1"/>
          </p:cNvSpPr>
          <p:nvPr/>
        </p:nvSpPr>
        <p:spPr bwMode="auto">
          <a:xfrm flipV="1">
            <a:off x="1981200" y="3352800"/>
            <a:ext cx="304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3088" name="Line 16"/>
          <p:cNvSpPr>
            <a:spLocks noChangeShapeType="1"/>
          </p:cNvSpPr>
          <p:nvPr/>
        </p:nvSpPr>
        <p:spPr bwMode="auto">
          <a:xfrm flipV="1">
            <a:off x="2743200" y="2743200"/>
            <a:ext cx="457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3089" name="Line 17"/>
          <p:cNvSpPr>
            <a:spLocks noChangeShapeType="1"/>
          </p:cNvSpPr>
          <p:nvPr/>
        </p:nvSpPr>
        <p:spPr bwMode="auto">
          <a:xfrm>
            <a:off x="2057400" y="3962400"/>
            <a:ext cx="6858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3090" name="Line 18"/>
          <p:cNvSpPr>
            <a:spLocks noChangeShapeType="1"/>
          </p:cNvSpPr>
          <p:nvPr/>
        </p:nvSpPr>
        <p:spPr bwMode="auto">
          <a:xfrm>
            <a:off x="2667000" y="3429000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3091" name="Line 19"/>
          <p:cNvSpPr>
            <a:spLocks noChangeShapeType="1"/>
          </p:cNvSpPr>
          <p:nvPr/>
        </p:nvSpPr>
        <p:spPr bwMode="auto">
          <a:xfrm flipH="1">
            <a:off x="3124200" y="3581400"/>
            <a:ext cx="533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3092" name="Line 20"/>
          <p:cNvSpPr>
            <a:spLocks noChangeShapeType="1"/>
          </p:cNvSpPr>
          <p:nvPr/>
        </p:nvSpPr>
        <p:spPr bwMode="auto">
          <a:xfrm flipH="1">
            <a:off x="3962400" y="28956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3093" name="Line 21"/>
          <p:cNvSpPr>
            <a:spLocks noChangeShapeType="1"/>
          </p:cNvSpPr>
          <p:nvPr/>
        </p:nvSpPr>
        <p:spPr bwMode="auto">
          <a:xfrm>
            <a:off x="4724400" y="2743200"/>
            <a:ext cx="457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3094" name="Line 22"/>
          <p:cNvSpPr>
            <a:spLocks noChangeShapeType="1"/>
          </p:cNvSpPr>
          <p:nvPr/>
        </p:nvSpPr>
        <p:spPr bwMode="auto">
          <a:xfrm flipH="1">
            <a:off x="5029200" y="32766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3095" name="Line 23"/>
          <p:cNvSpPr>
            <a:spLocks noChangeShapeType="1"/>
          </p:cNvSpPr>
          <p:nvPr/>
        </p:nvSpPr>
        <p:spPr bwMode="auto">
          <a:xfrm flipH="1">
            <a:off x="4191000" y="4114800"/>
            <a:ext cx="4572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3096" name="Line 24"/>
          <p:cNvSpPr>
            <a:spLocks noChangeShapeType="1"/>
          </p:cNvSpPr>
          <p:nvPr/>
        </p:nvSpPr>
        <p:spPr bwMode="auto">
          <a:xfrm>
            <a:off x="4114800" y="3505200"/>
            <a:ext cx="457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3097" name="Line 25"/>
          <p:cNvSpPr>
            <a:spLocks noChangeShapeType="1"/>
          </p:cNvSpPr>
          <p:nvPr/>
        </p:nvSpPr>
        <p:spPr bwMode="auto">
          <a:xfrm>
            <a:off x="3200400" y="4343400"/>
            <a:ext cx="5334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3098" name="Line 26"/>
          <p:cNvSpPr>
            <a:spLocks noChangeShapeType="1"/>
          </p:cNvSpPr>
          <p:nvPr/>
        </p:nvSpPr>
        <p:spPr bwMode="auto">
          <a:xfrm>
            <a:off x="5638800" y="3200400"/>
            <a:ext cx="3810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3099" name="Line 27"/>
          <p:cNvSpPr>
            <a:spLocks noChangeShapeType="1"/>
          </p:cNvSpPr>
          <p:nvPr/>
        </p:nvSpPr>
        <p:spPr bwMode="auto">
          <a:xfrm>
            <a:off x="5105400" y="4114800"/>
            <a:ext cx="3810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3101" name="Line 29"/>
          <p:cNvSpPr>
            <a:spLocks noChangeShapeType="1"/>
          </p:cNvSpPr>
          <p:nvPr/>
        </p:nvSpPr>
        <p:spPr bwMode="auto">
          <a:xfrm>
            <a:off x="6477000" y="3733800"/>
            <a:ext cx="3048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3102" name="Line 30"/>
          <p:cNvSpPr>
            <a:spLocks noChangeShapeType="1"/>
          </p:cNvSpPr>
          <p:nvPr/>
        </p:nvSpPr>
        <p:spPr bwMode="auto">
          <a:xfrm flipH="1">
            <a:off x="6096000" y="4267200"/>
            <a:ext cx="609600" cy="76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3103" name="Line 31"/>
          <p:cNvSpPr>
            <a:spLocks noChangeShapeType="1"/>
          </p:cNvSpPr>
          <p:nvPr/>
        </p:nvSpPr>
        <p:spPr bwMode="auto">
          <a:xfrm flipH="1">
            <a:off x="3733800" y="25908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3104" name="Line 32"/>
          <p:cNvSpPr>
            <a:spLocks noChangeShapeType="1"/>
          </p:cNvSpPr>
          <p:nvPr/>
        </p:nvSpPr>
        <p:spPr bwMode="auto">
          <a:xfrm>
            <a:off x="3505200" y="28956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3105" name="Text Box 33"/>
          <p:cNvSpPr txBox="1">
            <a:spLocks noChangeArrowheads="1"/>
          </p:cNvSpPr>
          <p:nvPr/>
        </p:nvSpPr>
        <p:spPr bwMode="auto">
          <a:xfrm>
            <a:off x="457200" y="5410200"/>
            <a:ext cx="6567488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l">
              <a:buFontTx/>
              <a:buChar char="•"/>
            </a:pPr>
            <a:r>
              <a:rPr lang="en-US"/>
              <a:t> Flooding may deliver packets to too many nodes</a:t>
            </a:r>
          </a:p>
          <a:p>
            <a:pPr algn="l"/>
            <a:r>
              <a:rPr lang="en-US"/>
              <a:t>  (in the </a:t>
            </a:r>
            <a:r>
              <a:rPr lang="en-US">
                <a:solidFill>
                  <a:srgbClr val="FF0000"/>
                </a:solidFill>
              </a:rPr>
              <a:t>worst case</a:t>
            </a:r>
            <a:r>
              <a:rPr lang="en-US"/>
              <a:t>, all nodes reachable from sender </a:t>
            </a:r>
          </a:p>
          <a:p>
            <a:pPr algn="l"/>
            <a:r>
              <a:rPr lang="en-US"/>
              <a:t>  may receive the packet)</a:t>
            </a:r>
          </a:p>
        </p:txBody>
      </p:sp>
      <p:sp>
        <p:nvSpPr>
          <p:cNvPr id="643106" name="Oval 34"/>
          <p:cNvSpPr>
            <a:spLocks noChangeArrowheads="1"/>
          </p:cNvSpPr>
          <p:nvPr/>
        </p:nvSpPr>
        <p:spPr bwMode="auto">
          <a:xfrm>
            <a:off x="7162800" y="1905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Z</a:t>
            </a:r>
          </a:p>
        </p:txBody>
      </p:sp>
      <p:sp>
        <p:nvSpPr>
          <p:cNvPr id="643107" name="Oval 35"/>
          <p:cNvSpPr>
            <a:spLocks noChangeArrowheads="1"/>
          </p:cNvSpPr>
          <p:nvPr/>
        </p:nvSpPr>
        <p:spPr bwMode="auto">
          <a:xfrm>
            <a:off x="7467600" y="1143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Y</a:t>
            </a:r>
          </a:p>
        </p:txBody>
      </p:sp>
      <p:sp>
        <p:nvSpPr>
          <p:cNvPr id="643108" name="Line 36"/>
          <p:cNvSpPr>
            <a:spLocks noChangeShapeType="1"/>
          </p:cNvSpPr>
          <p:nvPr/>
        </p:nvSpPr>
        <p:spPr bwMode="auto">
          <a:xfrm flipH="1">
            <a:off x="7543800" y="1752600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3111" name="Oval 39" descr="Water droplets"/>
          <p:cNvSpPr>
            <a:spLocks noChangeArrowheads="1"/>
          </p:cNvSpPr>
          <p:nvPr/>
        </p:nvSpPr>
        <p:spPr bwMode="auto">
          <a:xfrm>
            <a:off x="6934200" y="30480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M</a:t>
            </a:r>
          </a:p>
        </p:txBody>
      </p:sp>
      <p:sp>
        <p:nvSpPr>
          <p:cNvPr id="643112" name="Line 40"/>
          <p:cNvSpPr>
            <a:spLocks noChangeShapeType="1"/>
          </p:cNvSpPr>
          <p:nvPr/>
        </p:nvSpPr>
        <p:spPr bwMode="auto">
          <a:xfrm flipV="1">
            <a:off x="6553200" y="3352800"/>
            <a:ext cx="3810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3117" name="Oval 45"/>
          <p:cNvSpPr>
            <a:spLocks noChangeArrowheads="1"/>
          </p:cNvSpPr>
          <p:nvPr/>
        </p:nvSpPr>
        <p:spPr bwMode="auto">
          <a:xfrm>
            <a:off x="7391400" y="44196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N</a:t>
            </a:r>
          </a:p>
        </p:txBody>
      </p:sp>
      <p:sp>
        <p:nvSpPr>
          <p:cNvPr id="643118" name="Line 46"/>
          <p:cNvSpPr>
            <a:spLocks noChangeShapeType="1"/>
          </p:cNvSpPr>
          <p:nvPr/>
        </p:nvSpPr>
        <p:spPr bwMode="auto">
          <a:xfrm>
            <a:off x="7239000" y="4419600"/>
            <a:ext cx="228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3119" name="Oval 47" descr="Water droplets"/>
          <p:cNvSpPr>
            <a:spLocks noChangeArrowheads="1"/>
          </p:cNvSpPr>
          <p:nvPr/>
        </p:nvSpPr>
        <p:spPr bwMode="auto">
          <a:xfrm>
            <a:off x="7848600" y="30480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L</a:t>
            </a:r>
          </a:p>
        </p:txBody>
      </p:sp>
      <p:sp>
        <p:nvSpPr>
          <p:cNvPr id="643120" name="Line 48"/>
          <p:cNvSpPr>
            <a:spLocks noChangeShapeType="1"/>
          </p:cNvSpPr>
          <p:nvPr/>
        </p:nvSpPr>
        <p:spPr bwMode="auto">
          <a:xfrm>
            <a:off x="7543800" y="33528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9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Flooding for Data Delivery: </a:t>
            </a:r>
            <a:r>
              <a:rPr lang="en-US">
                <a:solidFill>
                  <a:srgbClr val="339933"/>
                </a:solidFill>
              </a:rPr>
              <a:t>Advantages</a:t>
            </a:r>
            <a:endParaRPr lang="en-US"/>
          </a:p>
        </p:txBody>
      </p:sp>
      <p:sp>
        <p:nvSpPr>
          <p:cNvPr id="63897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Simplicity</a:t>
            </a:r>
          </a:p>
          <a:p>
            <a:endParaRPr lang="en-US"/>
          </a:p>
          <a:p>
            <a:r>
              <a:rPr lang="en-US"/>
              <a:t>May be more efficient than other protocols when rate of information transmission is low enough that the overhead of explicit route discovery/maintenance incurred by other protocols is relatively higher</a:t>
            </a:r>
          </a:p>
          <a:p>
            <a:pPr lvl="1"/>
            <a:r>
              <a:rPr lang="en-US"/>
              <a:t>this scenario may occur, for instance, when nodes transmit </a:t>
            </a:r>
            <a:r>
              <a:rPr lang="en-US">
                <a:solidFill>
                  <a:srgbClr val="339933"/>
                </a:solidFill>
              </a:rPr>
              <a:t>small data packets</a:t>
            </a:r>
            <a:r>
              <a:rPr lang="en-US"/>
              <a:t> relatively infrequently, and many topology </a:t>
            </a:r>
            <a:r>
              <a:rPr lang="en-US">
                <a:solidFill>
                  <a:srgbClr val="A50021"/>
                </a:solidFill>
              </a:rPr>
              <a:t>changes occur</a:t>
            </a:r>
            <a:r>
              <a:rPr lang="en-US"/>
              <a:t> between consecutive packet transmissions</a:t>
            </a:r>
          </a:p>
          <a:p>
            <a:pPr lvl="1"/>
            <a:endParaRPr lang="en-US"/>
          </a:p>
          <a:p>
            <a:r>
              <a:rPr lang="en-US"/>
              <a:t>Potentially higher reliability of data delivery</a:t>
            </a:r>
          </a:p>
          <a:p>
            <a:pPr lvl="1"/>
            <a:r>
              <a:rPr lang="en-US"/>
              <a:t>Because packets may be delivered to the destination on multiple paths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6BDFA-4907-47AD-8285-53C166DA7DF2}" type="slidenum">
              <a:rPr lang="en-US"/>
              <a:pPr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0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Flooding for Data Delivery: </a:t>
            </a:r>
            <a:r>
              <a:rPr lang="en-US">
                <a:solidFill>
                  <a:srgbClr val="FF0000"/>
                </a:solidFill>
              </a:rPr>
              <a:t>Disadvantages</a:t>
            </a:r>
            <a:endParaRPr lang="en-US"/>
          </a:p>
        </p:txBody>
      </p:sp>
      <p:sp>
        <p:nvSpPr>
          <p:cNvPr id="64205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dirty="0"/>
              <a:t>Potentially, very high overhead</a:t>
            </a:r>
          </a:p>
          <a:p>
            <a:pPr lvl="1"/>
            <a:r>
              <a:rPr lang="en-US" dirty="0"/>
              <a:t>Data packets may be delivered to too many nodes who do not need to receive them</a:t>
            </a:r>
          </a:p>
          <a:p>
            <a:endParaRPr lang="en-US" dirty="0"/>
          </a:p>
          <a:p>
            <a:r>
              <a:rPr lang="en-US" dirty="0"/>
              <a:t>Potentially lower reliability of data delivery</a:t>
            </a:r>
          </a:p>
          <a:p>
            <a:pPr lvl="1"/>
            <a:r>
              <a:rPr lang="en-US" dirty="0"/>
              <a:t>Flooding uses broadcasting -- hard to implement reliable broadcast delivery without significantly increasing overhead</a:t>
            </a:r>
          </a:p>
          <a:p>
            <a:pPr lvl="1"/>
            <a:r>
              <a:rPr lang="en-US" dirty="0"/>
              <a:t>In our example, nodes J and K may transmit to node D simultaneously, resulting in loss of the packet 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63A3F-4543-44C4-B3C0-934C22A3186F}" type="slidenum">
              <a:rPr lang="en-US"/>
              <a:pPr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Flooding of </a:t>
            </a:r>
            <a:r>
              <a:rPr lang="en-US">
                <a:solidFill>
                  <a:srgbClr val="339933"/>
                </a:solidFill>
              </a:rPr>
              <a:t>Control</a:t>
            </a:r>
            <a:r>
              <a:rPr lang="en-US"/>
              <a:t> Packets</a:t>
            </a:r>
          </a:p>
        </p:txBody>
      </p:sp>
      <p:sp>
        <p:nvSpPr>
          <p:cNvPr id="64512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Many protocols perform (potentially </a:t>
            </a:r>
            <a:r>
              <a:rPr lang="en-US" i="1"/>
              <a:t>limited</a:t>
            </a:r>
            <a:r>
              <a:rPr lang="en-US"/>
              <a:t>) flooding of </a:t>
            </a:r>
            <a:r>
              <a:rPr lang="en-US">
                <a:solidFill>
                  <a:srgbClr val="339933"/>
                </a:solidFill>
              </a:rPr>
              <a:t>control</a:t>
            </a:r>
            <a:r>
              <a:rPr lang="en-US"/>
              <a:t> packets, instead of </a:t>
            </a:r>
            <a:r>
              <a:rPr lang="en-US">
                <a:solidFill>
                  <a:srgbClr val="A50021"/>
                </a:solidFill>
              </a:rPr>
              <a:t>data</a:t>
            </a:r>
            <a:r>
              <a:rPr lang="en-US"/>
              <a:t> packets</a:t>
            </a:r>
          </a:p>
          <a:p>
            <a:endParaRPr lang="en-US"/>
          </a:p>
          <a:p>
            <a:r>
              <a:rPr lang="en-US"/>
              <a:t>The control packets are used to discover routes</a:t>
            </a:r>
          </a:p>
          <a:p>
            <a:endParaRPr lang="en-US"/>
          </a:p>
          <a:p>
            <a:r>
              <a:rPr lang="en-US"/>
              <a:t>Discovered routes are subsequently used to send data packet(s)</a:t>
            </a:r>
          </a:p>
          <a:p>
            <a:endParaRPr lang="en-US"/>
          </a:p>
          <a:p>
            <a:r>
              <a:rPr lang="en-US"/>
              <a:t>Overhead of control packet flooding is </a:t>
            </a:r>
            <a:r>
              <a:rPr lang="en-US">
                <a:solidFill>
                  <a:schemeClr val="accent1"/>
                </a:solidFill>
              </a:rPr>
              <a:t>amortized</a:t>
            </a:r>
            <a:r>
              <a:rPr lang="en-US"/>
              <a:t> over data packets transmitted between consecutive control packet floods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50DF1-1DCF-45D1-B1D1-C9B334FD92A7}" type="slidenum">
              <a:rPr lang="en-US"/>
              <a:pPr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1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Dynamic Source Routing (DSR)</a:t>
            </a:r>
          </a:p>
        </p:txBody>
      </p:sp>
      <p:sp>
        <p:nvSpPr>
          <p:cNvPr id="64614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/>
          </a:p>
          <a:p>
            <a:r>
              <a:rPr lang="en-US"/>
              <a:t>When node S wants to send a packet to node D, but does not know a route to D, node S initiates a </a:t>
            </a:r>
            <a:r>
              <a:rPr lang="en-US">
                <a:solidFill>
                  <a:schemeClr val="accent1"/>
                </a:solidFill>
              </a:rPr>
              <a:t>route discovery</a:t>
            </a:r>
          </a:p>
          <a:p>
            <a:endParaRPr lang="en-US"/>
          </a:p>
          <a:p>
            <a:r>
              <a:rPr lang="en-US"/>
              <a:t>Source node S floods </a:t>
            </a:r>
            <a:r>
              <a:rPr lang="en-US">
                <a:solidFill>
                  <a:srgbClr val="A50021"/>
                </a:solidFill>
              </a:rPr>
              <a:t>Route Request (RREQ)</a:t>
            </a:r>
            <a:r>
              <a:rPr lang="en-US"/>
              <a:t> </a:t>
            </a:r>
          </a:p>
          <a:p>
            <a:endParaRPr lang="en-US"/>
          </a:p>
          <a:p>
            <a:r>
              <a:rPr lang="en-US"/>
              <a:t>Each node </a:t>
            </a:r>
            <a:r>
              <a:rPr lang="en-US">
                <a:solidFill>
                  <a:srgbClr val="339933"/>
                </a:solidFill>
              </a:rPr>
              <a:t>appends own identifier</a:t>
            </a:r>
            <a:r>
              <a:rPr lang="en-US"/>
              <a:t> when forwarding RREQ</a:t>
            </a:r>
          </a:p>
          <a:p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3A8D8-0FF1-4BC2-886E-A49B5F58018F}" type="slidenum">
              <a:rPr lang="en-US"/>
              <a:pPr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Route Discovery in DSR</a:t>
            </a:r>
          </a:p>
        </p:txBody>
      </p:sp>
      <p:sp>
        <p:nvSpPr>
          <p:cNvPr id="4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B8E04-988B-41E6-BAB5-E356564D355C}" type="slidenum">
              <a:rPr lang="en-US"/>
              <a:pPr/>
              <a:t>30</a:t>
            </a:fld>
            <a:endParaRPr lang="en-US"/>
          </a:p>
        </p:txBody>
      </p:sp>
      <p:sp>
        <p:nvSpPr>
          <p:cNvPr id="648195" name="Oval 3"/>
          <p:cNvSpPr>
            <a:spLocks noChangeArrowheads="1"/>
          </p:cNvSpPr>
          <p:nvPr/>
        </p:nvSpPr>
        <p:spPr bwMode="auto">
          <a:xfrm>
            <a:off x="2209800" y="28956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B</a:t>
            </a:r>
          </a:p>
        </p:txBody>
      </p:sp>
      <p:sp>
        <p:nvSpPr>
          <p:cNvPr id="648196" name="Oval 4"/>
          <p:cNvSpPr>
            <a:spLocks noChangeArrowheads="1"/>
          </p:cNvSpPr>
          <p:nvPr/>
        </p:nvSpPr>
        <p:spPr bwMode="auto">
          <a:xfrm>
            <a:off x="1447800" y="35814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A</a:t>
            </a:r>
          </a:p>
        </p:txBody>
      </p:sp>
      <p:sp>
        <p:nvSpPr>
          <p:cNvPr id="648197" name="Oval 5" descr="Water droplets"/>
          <p:cNvSpPr>
            <a:spLocks noChangeArrowheads="1"/>
          </p:cNvSpPr>
          <p:nvPr/>
        </p:nvSpPr>
        <p:spPr bwMode="auto">
          <a:xfrm>
            <a:off x="3124200" y="22860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S</a:t>
            </a:r>
          </a:p>
        </p:txBody>
      </p:sp>
      <p:sp>
        <p:nvSpPr>
          <p:cNvPr id="648198" name="Oval 6"/>
          <p:cNvSpPr>
            <a:spLocks noChangeArrowheads="1"/>
          </p:cNvSpPr>
          <p:nvPr/>
        </p:nvSpPr>
        <p:spPr bwMode="auto">
          <a:xfrm>
            <a:off x="4114800" y="23622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E</a:t>
            </a:r>
          </a:p>
        </p:txBody>
      </p:sp>
      <p:sp>
        <p:nvSpPr>
          <p:cNvPr id="648199" name="Oval 7"/>
          <p:cNvSpPr>
            <a:spLocks noChangeArrowheads="1"/>
          </p:cNvSpPr>
          <p:nvPr/>
        </p:nvSpPr>
        <p:spPr bwMode="auto">
          <a:xfrm>
            <a:off x="5105400" y="27432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F</a:t>
            </a:r>
          </a:p>
        </p:txBody>
      </p:sp>
      <p:sp>
        <p:nvSpPr>
          <p:cNvPr id="648200" name="Oval 8"/>
          <p:cNvSpPr>
            <a:spLocks noChangeArrowheads="1"/>
          </p:cNvSpPr>
          <p:nvPr/>
        </p:nvSpPr>
        <p:spPr bwMode="auto">
          <a:xfrm>
            <a:off x="2667000" y="38862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H</a:t>
            </a:r>
          </a:p>
        </p:txBody>
      </p:sp>
      <p:sp>
        <p:nvSpPr>
          <p:cNvPr id="648201" name="Oval 9"/>
          <p:cNvSpPr>
            <a:spLocks noChangeArrowheads="1"/>
          </p:cNvSpPr>
          <p:nvPr/>
        </p:nvSpPr>
        <p:spPr bwMode="auto">
          <a:xfrm>
            <a:off x="5943600" y="32766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J</a:t>
            </a:r>
          </a:p>
        </p:txBody>
      </p:sp>
      <p:sp>
        <p:nvSpPr>
          <p:cNvPr id="648202" name="Oval 10"/>
          <p:cNvSpPr>
            <a:spLocks noChangeArrowheads="1"/>
          </p:cNvSpPr>
          <p:nvPr/>
        </p:nvSpPr>
        <p:spPr bwMode="auto">
          <a:xfrm>
            <a:off x="6705600" y="38862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D</a:t>
            </a:r>
          </a:p>
        </p:txBody>
      </p:sp>
      <p:sp>
        <p:nvSpPr>
          <p:cNvPr id="648203" name="Oval 11"/>
          <p:cNvSpPr>
            <a:spLocks noChangeArrowheads="1"/>
          </p:cNvSpPr>
          <p:nvPr/>
        </p:nvSpPr>
        <p:spPr bwMode="auto">
          <a:xfrm>
            <a:off x="3505200" y="3048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C</a:t>
            </a:r>
          </a:p>
        </p:txBody>
      </p:sp>
      <p:sp>
        <p:nvSpPr>
          <p:cNvPr id="648204" name="Oval 12"/>
          <p:cNvSpPr>
            <a:spLocks noChangeArrowheads="1"/>
          </p:cNvSpPr>
          <p:nvPr/>
        </p:nvSpPr>
        <p:spPr bwMode="auto">
          <a:xfrm>
            <a:off x="4572000" y="35814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G</a:t>
            </a:r>
          </a:p>
        </p:txBody>
      </p:sp>
      <p:sp>
        <p:nvSpPr>
          <p:cNvPr id="648205" name="Oval 13"/>
          <p:cNvSpPr>
            <a:spLocks noChangeArrowheads="1"/>
          </p:cNvSpPr>
          <p:nvPr/>
        </p:nvSpPr>
        <p:spPr bwMode="auto">
          <a:xfrm>
            <a:off x="3733800" y="44196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I</a:t>
            </a:r>
          </a:p>
        </p:txBody>
      </p:sp>
      <p:sp>
        <p:nvSpPr>
          <p:cNvPr id="648206" name="Oval 14"/>
          <p:cNvSpPr>
            <a:spLocks noChangeArrowheads="1"/>
          </p:cNvSpPr>
          <p:nvPr/>
        </p:nvSpPr>
        <p:spPr bwMode="auto">
          <a:xfrm>
            <a:off x="5486400" y="41148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K</a:t>
            </a:r>
          </a:p>
        </p:txBody>
      </p:sp>
      <p:sp>
        <p:nvSpPr>
          <p:cNvPr id="648207" name="Line 15"/>
          <p:cNvSpPr>
            <a:spLocks noChangeShapeType="1"/>
          </p:cNvSpPr>
          <p:nvPr/>
        </p:nvSpPr>
        <p:spPr bwMode="auto">
          <a:xfrm flipV="1">
            <a:off x="1981200" y="3352800"/>
            <a:ext cx="304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8208" name="Line 16"/>
          <p:cNvSpPr>
            <a:spLocks noChangeShapeType="1"/>
          </p:cNvSpPr>
          <p:nvPr/>
        </p:nvSpPr>
        <p:spPr bwMode="auto">
          <a:xfrm flipV="1">
            <a:off x="2743200" y="2743200"/>
            <a:ext cx="457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8209" name="Line 17"/>
          <p:cNvSpPr>
            <a:spLocks noChangeShapeType="1"/>
          </p:cNvSpPr>
          <p:nvPr/>
        </p:nvSpPr>
        <p:spPr bwMode="auto">
          <a:xfrm>
            <a:off x="2057400" y="3962400"/>
            <a:ext cx="6858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8210" name="Line 18"/>
          <p:cNvSpPr>
            <a:spLocks noChangeShapeType="1"/>
          </p:cNvSpPr>
          <p:nvPr/>
        </p:nvSpPr>
        <p:spPr bwMode="auto">
          <a:xfrm>
            <a:off x="2667000" y="3429000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8211" name="Line 19"/>
          <p:cNvSpPr>
            <a:spLocks noChangeShapeType="1"/>
          </p:cNvSpPr>
          <p:nvPr/>
        </p:nvSpPr>
        <p:spPr bwMode="auto">
          <a:xfrm flipH="1">
            <a:off x="3124200" y="3581400"/>
            <a:ext cx="533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8212" name="Line 20"/>
          <p:cNvSpPr>
            <a:spLocks noChangeShapeType="1"/>
          </p:cNvSpPr>
          <p:nvPr/>
        </p:nvSpPr>
        <p:spPr bwMode="auto">
          <a:xfrm flipH="1">
            <a:off x="3962400" y="28956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8213" name="Line 21"/>
          <p:cNvSpPr>
            <a:spLocks noChangeShapeType="1"/>
          </p:cNvSpPr>
          <p:nvPr/>
        </p:nvSpPr>
        <p:spPr bwMode="auto">
          <a:xfrm>
            <a:off x="4724400" y="2743200"/>
            <a:ext cx="457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8214" name="Line 22"/>
          <p:cNvSpPr>
            <a:spLocks noChangeShapeType="1"/>
          </p:cNvSpPr>
          <p:nvPr/>
        </p:nvSpPr>
        <p:spPr bwMode="auto">
          <a:xfrm flipH="1">
            <a:off x="5029200" y="32766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8215" name="Line 23"/>
          <p:cNvSpPr>
            <a:spLocks noChangeShapeType="1"/>
          </p:cNvSpPr>
          <p:nvPr/>
        </p:nvSpPr>
        <p:spPr bwMode="auto">
          <a:xfrm flipH="1">
            <a:off x="4191000" y="4114800"/>
            <a:ext cx="457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8216" name="Line 24"/>
          <p:cNvSpPr>
            <a:spLocks noChangeShapeType="1"/>
          </p:cNvSpPr>
          <p:nvPr/>
        </p:nvSpPr>
        <p:spPr bwMode="auto">
          <a:xfrm>
            <a:off x="4114800" y="3505200"/>
            <a:ext cx="457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8217" name="Line 25"/>
          <p:cNvSpPr>
            <a:spLocks noChangeShapeType="1"/>
          </p:cNvSpPr>
          <p:nvPr/>
        </p:nvSpPr>
        <p:spPr bwMode="auto">
          <a:xfrm>
            <a:off x="3200400" y="4343400"/>
            <a:ext cx="533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8218" name="Line 26"/>
          <p:cNvSpPr>
            <a:spLocks noChangeShapeType="1"/>
          </p:cNvSpPr>
          <p:nvPr/>
        </p:nvSpPr>
        <p:spPr bwMode="auto">
          <a:xfrm>
            <a:off x="5638800" y="3200400"/>
            <a:ext cx="381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8219" name="Line 27"/>
          <p:cNvSpPr>
            <a:spLocks noChangeShapeType="1"/>
          </p:cNvSpPr>
          <p:nvPr/>
        </p:nvSpPr>
        <p:spPr bwMode="auto">
          <a:xfrm>
            <a:off x="5105400" y="4114800"/>
            <a:ext cx="381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8220" name="Line 28"/>
          <p:cNvSpPr>
            <a:spLocks noChangeShapeType="1"/>
          </p:cNvSpPr>
          <p:nvPr/>
        </p:nvSpPr>
        <p:spPr bwMode="auto">
          <a:xfrm>
            <a:off x="6477000" y="3733800"/>
            <a:ext cx="304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8221" name="Line 29"/>
          <p:cNvSpPr>
            <a:spLocks noChangeShapeType="1"/>
          </p:cNvSpPr>
          <p:nvPr/>
        </p:nvSpPr>
        <p:spPr bwMode="auto">
          <a:xfrm flipH="1">
            <a:off x="6096000" y="4267200"/>
            <a:ext cx="609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8222" name="Line 30"/>
          <p:cNvSpPr>
            <a:spLocks noChangeShapeType="1"/>
          </p:cNvSpPr>
          <p:nvPr/>
        </p:nvSpPr>
        <p:spPr bwMode="auto">
          <a:xfrm flipH="1">
            <a:off x="3733800" y="25908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8223" name="Line 31"/>
          <p:cNvSpPr>
            <a:spLocks noChangeShapeType="1"/>
          </p:cNvSpPr>
          <p:nvPr/>
        </p:nvSpPr>
        <p:spPr bwMode="auto">
          <a:xfrm>
            <a:off x="3505200" y="28956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8226" name="Oval 34"/>
          <p:cNvSpPr>
            <a:spLocks noChangeArrowheads="1"/>
          </p:cNvSpPr>
          <p:nvPr/>
        </p:nvSpPr>
        <p:spPr bwMode="auto">
          <a:xfrm>
            <a:off x="7162800" y="1905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Z</a:t>
            </a:r>
          </a:p>
        </p:txBody>
      </p:sp>
      <p:sp>
        <p:nvSpPr>
          <p:cNvPr id="648227" name="Oval 35"/>
          <p:cNvSpPr>
            <a:spLocks noChangeArrowheads="1"/>
          </p:cNvSpPr>
          <p:nvPr/>
        </p:nvSpPr>
        <p:spPr bwMode="auto">
          <a:xfrm>
            <a:off x="7467600" y="1143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Y</a:t>
            </a:r>
          </a:p>
        </p:txBody>
      </p:sp>
      <p:sp>
        <p:nvSpPr>
          <p:cNvPr id="648228" name="Line 36"/>
          <p:cNvSpPr>
            <a:spLocks noChangeShapeType="1"/>
          </p:cNvSpPr>
          <p:nvPr/>
        </p:nvSpPr>
        <p:spPr bwMode="auto">
          <a:xfrm flipH="1">
            <a:off x="7543800" y="1752600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8229" name="Oval 37" descr="Water droplets"/>
          <p:cNvSpPr>
            <a:spLocks noChangeArrowheads="1"/>
          </p:cNvSpPr>
          <p:nvPr/>
        </p:nvSpPr>
        <p:spPr bwMode="auto">
          <a:xfrm>
            <a:off x="609600" y="55626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8230" name="Text Box 38"/>
          <p:cNvSpPr txBox="1">
            <a:spLocks noChangeArrowheads="1"/>
          </p:cNvSpPr>
          <p:nvPr/>
        </p:nvSpPr>
        <p:spPr bwMode="auto">
          <a:xfrm>
            <a:off x="1447800" y="5715000"/>
            <a:ext cx="69405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l"/>
            <a:r>
              <a:rPr lang="en-US"/>
              <a:t>Represents a node that has received RREQ for D from S</a:t>
            </a:r>
          </a:p>
        </p:txBody>
      </p:sp>
      <p:sp>
        <p:nvSpPr>
          <p:cNvPr id="648231" name="Oval 39"/>
          <p:cNvSpPr>
            <a:spLocks noChangeArrowheads="1"/>
          </p:cNvSpPr>
          <p:nvPr/>
        </p:nvSpPr>
        <p:spPr bwMode="auto">
          <a:xfrm>
            <a:off x="6934200" y="3048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M</a:t>
            </a:r>
          </a:p>
        </p:txBody>
      </p:sp>
      <p:sp>
        <p:nvSpPr>
          <p:cNvPr id="648232" name="Line 40"/>
          <p:cNvSpPr>
            <a:spLocks noChangeShapeType="1"/>
          </p:cNvSpPr>
          <p:nvPr/>
        </p:nvSpPr>
        <p:spPr bwMode="auto">
          <a:xfrm flipV="1">
            <a:off x="6553200" y="3352800"/>
            <a:ext cx="3810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8233" name="Oval 41"/>
          <p:cNvSpPr>
            <a:spLocks noChangeArrowheads="1"/>
          </p:cNvSpPr>
          <p:nvPr/>
        </p:nvSpPr>
        <p:spPr bwMode="auto">
          <a:xfrm>
            <a:off x="7391400" y="44196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N</a:t>
            </a:r>
          </a:p>
        </p:txBody>
      </p:sp>
      <p:sp>
        <p:nvSpPr>
          <p:cNvPr id="648234" name="Line 42"/>
          <p:cNvSpPr>
            <a:spLocks noChangeShapeType="1"/>
          </p:cNvSpPr>
          <p:nvPr/>
        </p:nvSpPr>
        <p:spPr bwMode="auto">
          <a:xfrm>
            <a:off x="7239000" y="4419600"/>
            <a:ext cx="228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8235" name="Oval 43"/>
          <p:cNvSpPr>
            <a:spLocks noChangeArrowheads="1"/>
          </p:cNvSpPr>
          <p:nvPr/>
        </p:nvSpPr>
        <p:spPr bwMode="auto">
          <a:xfrm>
            <a:off x="7848600" y="3048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L</a:t>
            </a:r>
          </a:p>
        </p:txBody>
      </p:sp>
      <p:sp>
        <p:nvSpPr>
          <p:cNvPr id="648236" name="Line 44"/>
          <p:cNvSpPr>
            <a:spLocks noChangeShapeType="1"/>
          </p:cNvSpPr>
          <p:nvPr/>
        </p:nvSpPr>
        <p:spPr bwMode="auto">
          <a:xfrm>
            <a:off x="7543800" y="33528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Route Discovery in DSR</a:t>
            </a:r>
          </a:p>
        </p:txBody>
      </p:sp>
      <p:sp>
        <p:nvSpPr>
          <p:cNvPr id="4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9ADC3-9A35-4E09-966A-1DC29B52ED71}" type="slidenum">
              <a:rPr lang="en-US"/>
              <a:pPr/>
              <a:t>31</a:t>
            </a:fld>
            <a:endParaRPr lang="en-US"/>
          </a:p>
        </p:txBody>
      </p:sp>
      <p:sp>
        <p:nvSpPr>
          <p:cNvPr id="649219" name="Oval 3" descr="Water droplets"/>
          <p:cNvSpPr>
            <a:spLocks noChangeArrowheads="1"/>
          </p:cNvSpPr>
          <p:nvPr/>
        </p:nvSpPr>
        <p:spPr bwMode="auto">
          <a:xfrm>
            <a:off x="2209800" y="28956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B</a:t>
            </a:r>
          </a:p>
        </p:txBody>
      </p:sp>
      <p:sp>
        <p:nvSpPr>
          <p:cNvPr id="649220" name="Oval 4"/>
          <p:cNvSpPr>
            <a:spLocks noChangeArrowheads="1"/>
          </p:cNvSpPr>
          <p:nvPr/>
        </p:nvSpPr>
        <p:spPr bwMode="auto">
          <a:xfrm>
            <a:off x="1447800" y="35814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A</a:t>
            </a:r>
          </a:p>
        </p:txBody>
      </p:sp>
      <p:sp>
        <p:nvSpPr>
          <p:cNvPr id="649221" name="Oval 5" descr="Water droplets"/>
          <p:cNvSpPr>
            <a:spLocks noChangeArrowheads="1"/>
          </p:cNvSpPr>
          <p:nvPr/>
        </p:nvSpPr>
        <p:spPr bwMode="auto">
          <a:xfrm>
            <a:off x="3124200" y="22860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S</a:t>
            </a:r>
          </a:p>
        </p:txBody>
      </p:sp>
      <p:sp>
        <p:nvSpPr>
          <p:cNvPr id="649222" name="Oval 6" descr="Water droplets"/>
          <p:cNvSpPr>
            <a:spLocks noChangeArrowheads="1"/>
          </p:cNvSpPr>
          <p:nvPr/>
        </p:nvSpPr>
        <p:spPr bwMode="auto">
          <a:xfrm>
            <a:off x="4114800" y="23622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E</a:t>
            </a:r>
          </a:p>
        </p:txBody>
      </p:sp>
      <p:sp>
        <p:nvSpPr>
          <p:cNvPr id="649223" name="Oval 7"/>
          <p:cNvSpPr>
            <a:spLocks noChangeArrowheads="1"/>
          </p:cNvSpPr>
          <p:nvPr/>
        </p:nvSpPr>
        <p:spPr bwMode="auto">
          <a:xfrm>
            <a:off x="5105400" y="27432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F</a:t>
            </a:r>
          </a:p>
        </p:txBody>
      </p:sp>
      <p:sp>
        <p:nvSpPr>
          <p:cNvPr id="649224" name="Oval 8"/>
          <p:cNvSpPr>
            <a:spLocks noChangeArrowheads="1"/>
          </p:cNvSpPr>
          <p:nvPr/>
        </p:nvSpPr>
        <p:spPr bwMode="auto">
          <a:xfrm>
            <a:off x="2667000" y="38862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H</a:t>
            </a:r>
          </a:p>
        </p:txBody>
      </p:sp>
      <p:sp>
        <p:nvSpPr>
          <p:cNvPr id="649225" name="Oval 9"/>
          <p:cNvSpPr>
            <a:spLocks noChangeArrowheads="1"/>
          </p:cNvSpPr>
          <p:nvPr/>
        </p:nvSpPr>
        <p:spPr bwMode="auto">
          <a:xfrm>
            <a:off x="5943600" y="32766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J</a:t>
            </a:r>
          </a:p>
        </p:txBody>
      </p:sp>
      <p:sp>
        <p:nvSpPr>
          <p:cNvPr id="649226" name="Oval 10"/>
          <p:cNvSpPr>
            <a:spLocks noChangeArrowheads="1"/>
          </p:cNvSpPr>
          <p:nvPr/>
        </p:nvSpPr>
        <p:spPr bwMode="auto">
          <a:xfrm>
            <a:off x="6705600" y="38862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D</a:t>
            </a:r>
          </a:p>
        </p:txBody>
      </p:sp>
      <p:sp>
        <p:nvSpPr>
          <p:cNvPr id="649227" name="Oval 11" descr="Water droplets"/>
          <p:cNvSpPr>
            <a:spLocks noChangeArrowheads="1"/>
          </p:cNvSpPr>
          <p:nvPr/>
        </p:nvSpPr>
        <p:spPr bwMode="auto">
          <a:xfrm>
            <a:off x="3505200" y="30480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C</a:t>
            </a:r>
          </a:p>
        </p:txBody>
      </p:sp>
      <p:sp>
        <p:nvSpPr>
          <p:cNvPr id="649228" name="Oval 12"/>
          <p:cNvSpPr>
            <a:spLocks noChangeArrowheads="1"/>
          </p:cNvSpPr>
          <p:nvPr/>
        </p:nvSpPr>
        <p:spPr bwMode="auto">
          <a:xfrm>
            <a:off x="4572000" y="35814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G</a:t>
            </a:r>
          </a:p>
        </p:txBody>
      </p:sp>
      <p:sp>
        <p:nvSpPr>
          <p:cNvPr id="649229" name="Oval 13"/>
          <p:cNvSpPr>
            <a:spLocks noChangeArrowheads="1"/>
          </p:cNvSpPr>
          <p:nvPr/>
        </p:nvSpPr>
        <p:spPr bwMode="auto">
          <a:xfrm>
            <a:off x="3733800" y="44196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I</a:t>
            </a:r>
          </a:p>
        </p:txBody>
      </p:sp>
      <p:sp>
        <p:nvSpPr>
          <p:cNvPr id="649230" name="Oval 14"/>
          <p:cNvSpPr>
            <a:spLocks noChangeArrowheads="1"/>
          </p:cNvSpPr>
          <p:nvPr/>
        </p:nvSpPr>
        <p:spPr bwMode="auto">
          <a:xfrm>
            <a:off x="5486400" y="41148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K</a:t>
            </a:r>
          </a:p>
        </p:txBody>
      </p:sp>
      <p:sp>
        <p:nvSpPr>
          <p:cNvPr id="649231" name="Line 15"/>
          <p:cNvSpPr>
            <a:spLocks noChangeShapeType="1"/>
          </p:cNvSpPr>
          <p:nvPr/>
        </p:nvSpPr>
        <p:spPr bwMode="auto">
          <a:xfrm flipV="1">
            <a:off x="1981200" y="3352800"/>
            <a:ext cx="304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9232" name="Line 16"/>
          <p:cNvSpPr>
            <a:spLocks noChangeShapeType="1"/>
          </p:cNvSpPr>
          <p:nvPr/>
        </p:nvSpPr>
        <p:spPr bwMode="auto">
          <a:xfrm flipV="1">
            <a:off x="2743200" y="2743200"/>
            <a:ext cx="457200" cy="2286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9233" name="Line 17"/>
          <p:cNvSpPr>
            <a:spLocks noChangeShapeType="1"/>
          </p:cNvSpPr>
          <p:nvPr/>
        </p:nvSpPr>
        <p:spPr bwMode="auto">
          <a:xfrm>
            <a:off x="2057400" y="3962400"/>
            <a:ext cx="6858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9234" name="Line 18"/>
          <p:cNvSpPr>
            <a:spLocks noChangeShapeType="1"/>
          </p:cNvSpPr>
          <p:nvPr/>
        </p:nvSpPr>
        <p:spPr bwMode="auto">
          <a:xfrm>
            <a:off x="2667000" y="3429000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9235" name="Line 19"/>
          <p:cNvSpPr>
            <a:spLocks noChangeShapeType="1"/>
          </p:cNvSpPr>
          <p:nvPr/>
        </p:nvSpPr>
        <p:spPr bwMode="auto">
          <a:xfrm flipH="1">
            <a:off x="3124200" y="3581400"/>
            <a:ext cx="533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9236" name="Line 20"/>
          <p:cNvSpPr>
            <a:spLocks noChangeShapeType="1"/>
          </p:cNvSpPr>
          <p:nvPr/>
        </p:nvSpPr>
        <p:spPr bwMode="auto">
          <a:xfrm flipH="1">
            <a:off x="3962400" y="28956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9237" name="Line 21"/>
          <p:cNvSpPr>
            <a:spLocks noChangeShapeType="1"/>
          </p:cNvSpPr>
          <p:nvPr/>
        </p:nvSpPr>
        <p:spPr bwMode="auto">
          <a:xfrm>
            <a:off x="4724400" y="2743200"/>
            <a:ext cx="457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9238" name="Line 22"/>
          <p:cNvSpPr>
            <a:spLocks noChangeShapeType="1"/>
          </p:cNvSpPr>
          <p:nvPr/>
        </p:nvSpPr>
        <p:spPr bwMode="auto">
          <a:xfrm flipH="1">
            <a:off x="5029200" y="32766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9239" name="Line 23"/>
          <p:cNvSpPr>
            <a:spLocks noChangeShapeType="1"/>
          </p:cNvSpPr>
          <p:nvPr/>
        </p:nvSpPr>
        <p:spPr bwMode="auto">
          <a:xfrm flipH="1">
            <a:off x="4191000" y="4114800"/>
            <a:ext cx="457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9240" name="Line 24"/>
          <p:cNvSpPr>
            <a:spLocks noChangeShapeType="1"/>
          </p:cNvSpPr>
          <p:nvPr/>
        </p:nvSpPr>
        <p:spPr bwMode="auto">
          <a:xfrm>
            <a:off x="4114800" y="3505200"/>
            <a:ext cx="457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9241" name="Line 25"/>
          <p:cNvSpPr>
            <a:spLocks noChangeShapeType="1"/>
          </p:cNvSpPr>
          <p:nvPr/>
        </p:nvSpPr>
        <p:spPr bwMode="auto">
          <a:xfrm>
            <a:off x="3200400" y="4343400"/>
            <a:ext cx="533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9242" name="Line 26"/>
          <p:cNvSpPr>
            <a:spLocks noChangeShapeType="1"/>
          </p:cNvSpPr>
          <p:nvPr/>
        </p:nvSpPr>
        <p:spPr bwMode="auto">
          <a:xfrm>
            <a:off x="5638800" y="3200400"/>
            <a:ext cx="381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9243" name="Line 27"/>
          <p:cNvSpPr>
            <a:spLocks noChangeShapeType="1"/>
          </p:cNvSpPr>
          <p:nvPr/>
        </p:nvSpPr>
        <p:spPr bwMode="auto">
          <a:xfrm>
            <a:off x="5105400" y="4114800"/>
            <a:ext cx="381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9244" name="Line 28"/>
          <p:cNvSpPr>
            <a:spLocks noChangeShapeType="1"/>
          </p:cNvSpPr>
          <p:nvPr/>
        </p:nvSpPr>
        <p:spPr bwMode="auto">
          <a:xfrm>
            <a:off x="6477000" y="3733800"/>
            <a:ext cx="304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9245" name="Line 29"/>
          <p:cNvSpPr>
            <a:spLocks noChangeShapeType="1"/>
          </p:cNvSpPr>
          <p:nvPr/>
        </p:nvSpPr>
        <p:spPr bwMode="auto">
          <a:xfrm flipH="1">
            <a:off x="6096000" y="4267200"/>
            <a:ext cx="609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9246" name="Line 30"/>
          <p:cNvSpPr>
            <a:spLocks noChangeShapeType="1"/>
          </p:cNvSpPr>
          <p:nvPr/>
        </p:nvSpPr>
        <p:spPr bwMode="auto">
          <a:xfrm flipH="1">
            <a:off x="3733800" y="2590800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9247" name="Line 31"/>
          <p:cNvSpPr>
            <a:spLocks noChangeShapeType="1"/>
          </p:cNvSpPr>
          <p:nvPr/>
        </p:nvSpPr>
        <p:spPr bwMode="auto">
          <a:xfrm>
            <a:off x="3505200" y="2895600"/>
            <a:ext cx="152400" cy="2286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9248" name="Line 32"/>
          <p:cNvSpPr>
            <a:spLocks noChangeShapeType="1"/>
          </p:cNvSpPr>
          <p:nvPr/>
        </p:nvSpPr>
        <p:spPr bwMode="auto">
          <a:xfrm>
            <a:off x="990600" y="5715000"/>
            <a:ext cx="685800" cy="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9249" name="Text Box 33"/>
          <p:cNvSpPr txBox="1">
            <a:spLocks noChangeArrowheads="1"/>
          </p:cNvSpPr>
          <p:nvPr/>
        </p:nvSpPr>
        <p:spPr bwMode="auto">
          <a:xfrm>
            <a:off x="1752600" y="5486400"/>
            <a:ext cx="43322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l"/>
            <a:r>
              <a:rPr lang="en-US"/>
              <a:t>Represents transmission of RREQ</a:t>
            </a:r>
          </a:p>
        </p:txBody>
      </p:sp>
      <p:sp>
        <p:nvSpPr>
          <p:cNvPr id="649252" name="Oval 36"/>
          <p:cNvSpPr>
            <a:spLocks noChangeArrowheads="1"/>
          </p:cNvSpPr>
          <p:nvPr/>
        </p:nvSpPr>
        <p:spPr bwMode="auto">
          <a:xfrm>
            <a:off x="7162800" y="1905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Z</a:t>
            </a:r>
          </a:p>
        </p:txBody>
      </p:sp>
      <p:sp>
        <p:nvSpPr>
          <p:cNvPr id="649253" name="Oval 37"/>
          <p:cNvSpPr>
            <a:spLocks noChangeArrowheads="1"/>
          </p:cNvSpPr>
          <p:nvPr/>
        </p:nvSpPr>
        <p:spPr bwMode="auto">
          <a:xfrm>
            <a:off x="7467600" y="1143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Y</a:t>
            </a:r>
          </a:p>
        </p:txBody>
      </p:sp>
      <p:sp>
        <p:nvSpPr>
          <p:cNvPr id="649254" name="Line 38"/>
          <p:cNvSpPr>
            <a:spLocks noChangeShapeType="1"/>
          </p:cNvSpPr>
          <p:nvPr/>
        </p:nvSpPr>
        <p:spPr bwMode="auto">
          <a:xfrm flipH="1">
            <a:off x="7543800" y="1752600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9255" name="Text Box 39"/>
          <p:cNvSpPr txBox="1">
            <a:spLocks noChangeArrowheads="1"/>
          </p:cNvSpPr>
          <p:nvPr/>
        </p:nvSpPr>
        <p:spPr bwMode="auto">
          <a:xfrm>
            <a:off x="0" y="1524000"/>
            <a:ext cx="30765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dirty="0"/>
              <a:t>Broadcast transmission</a:t>
            </a:r>
          </a:p>
        </p:txBody>
      </p:sp>
      <p:sp>
        <p:nvSpPr>
          <p:cNvPr id="649256" name="Freeform 40"/>
          <p:cNvSpPr>
            <a:spLocks/>
          </p:cNvSpPr>
          <p:nvPr/>
        </p:nvSpPr>
        <p:spPr bwMode="auto">
          <a:xfrm>
            <a:off x="1143000" y="1828800"/>
            <a:ext cx="1676400" cy="7620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672" y="192"/>
              </a:cxn>
              <a:cxn ang="0">
                <a:pos x="1056" y="480"/>
              </a:cxn>
            </a:cxnLst>
            <a:rect l="0" t="0" r="r" b="b"/>
            <a:pathLst>
              <a:path w="1056" h="480">
                <a:moveTo>
                  <a:pt x="0" y="0"/>
                </a:moveTo>
                <a:cubicBezTo>
                  <a:pt x="248" y="56"/>
                  <a:pt x="496" y="112"/>
                  <a:pt x="672" y="192"/>
                </a:cubicBezTo>
                <a:cubicBezTo>
                  <a:pt x="848" y="272"/>
                  <a:pt x="984" y="424"/>
                  <a:pt x="1056" y="48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9257" name="Oval 41"/>
          <p:cNvSpPr>
            <a:spLocks noChangeArrowheads="1"/>
          </p:cNvSpPr>
          <p:nvPr/>
        </p:nvSpPr>
        <p:spPr bwMode="auto">
          <a:xfrm>
            <a:off x="6934200" y="3048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M</a:t>
            </a:r>
          </a:p>
        </p:txBody>
      </p:sp>
      <p:sp>
        <p:nvSpPr>
          <p:cNvPr id="649258" name="Line 42"/>
          <p:cNvSpPr>
            <a:spLocks noChangeShapeType="1"/>
          </p:cNvSpPr>
          <p:nvPr/>
        </p:nvSpPr>
        <p:spPr bwMode="auto">
          <a:xfrm flipV="1">
            <a:off x="6553200" y="3352800"/>
            <a:ext cx="3810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9259" name="Oval 43"/>
          <p:cNvSpPr>
            <a:spLocks noChangeArrowheads="1"/>
          </p:cNvSpPr>
          <p:nvPr/>
        </p:nvSpPr>
        <p:spPr bwMode="auto">
          <a:xfrm>
            <a:off x="7391400" y="44196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N</a:t>
            </a:r>
          </a:p>
        </p:txBody>
      </p:sp>
      <p:sp>
        <p:nvSpPr>
          <p:cNvPr id="649260" name="Line 44"/>
          <p:cNvSpPr>
            <a:spLocks noChangeShapeType="1"/>
          </p:cNvSpPr>
          <p:nvPr/>
        </p:nvSpPr>
        <p:spPr bwMode="auto">
          <a:xfrm>
            <a:off x="7239000" y="4419600"/>
            <a:ext cx="228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9261" name="Oval 45"/>
          <p:cNvSpPr>
            <a:spLocks noChangeArrowheads="1"/>
          </p:cNvSpPr>
          <p:nvPr/>
        </p:nvSpPr>
        <p:spPr bwMode="auto">
          <a:xfrm>
            <a:off x="7848600" y="3048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L</a:t>
            </a:r>
          </a:p>
        </p:txBody>
      </p:sp>
      <p:sp>
        <p:nvSpPr>
          <p:cNvPr id="649262" name="Line 46"/>
          <p:cNvSpPr>
            <a:spLocks noChangeShapeType="1"/>
          </p:cNvSpPr>
          <p:nvPr/>
        </p:nvSpPr>
        <p:spPr bwMode="auto">
          <a:xfrm>
            <a:off x="7543800" y="33528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9263" name="Text Box 47"/>
          <p:cNvSpPr txBox="1">
            <a:spLocks noChangeArrowheads="1"/>
          </p:cNvSpPr>
          <p:nvPr/>
        </p:nvSpPr>
        <p:spPr bwMode="auto">
          <a:xfrm>
            <a:off x="4251325" y="1935163"/>
            <a:ext cx="184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49264" name="Text Box 48"/>
          <p:cNvSpPr txBox="1">
            <a:spLocks noChangeArrowheads="1"/>
          </p:cNvSpPr>
          <p:nvPr/>
        </p:nvSpPr>
        <p:spPr bwMode="auto">
          <a:xfrm>
            <a:off x="3657600" y="1981200"/>
            <a:ext cx="5222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/>
              <a:t>[S]</a:t>
            </a:r>
          </a:p>
        </p:txBody>
      </p:sp>
      <p:sp>
        <p:nvSpPr>
          <p:cNvPr id="649265" name="Text Box 49"/>
          <p:cNvSpPr txBox="1">
            <a:spLocks noChangeArrowheads="1"/>
          </p:cNvSpPr>
          <p:nvPr/>
        </p:nvSpPr>
        <p:spPr bwMode="auto">
          <a:xfrm>
            <a:off x="838200" y="6172200"/>
            <a:ext cx="69072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l"/>
            <a:r>
              <a:rPr lang="en-US">
                <a:solidFill>
                  <a:srgbClr val="0000FF"/>
                </a:solidFill>
              </a:rPr>
              <a:t>[X,Y]     Represents list of identifiers appended to RREQ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Route Discovery in DSR</a:t>
            </a:r>
          </a:p>
        </p:txBody>
      </p:sp>
      <p:sp>
        <p:nvSpPr>
          <p:cNvPr id="4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36668-82BE-4439-9CBF-D5CFBB868D33}" type="slidenum">
              <a:rPr lang="en-US"/>
              <a:pPr/>
              <a:t>32</a:t>
            </a:fld>
            <a:endParaRPr lang="en-US"/>
          </a:p>
        </p:txBody>
      </p:sp>
      <p:sp>
        <p:nvSpPr>
          <p:cNvPr id="650243" name="Oval 3" descr="Water droplets"/>
          <p:cNvSpPr>
            <a:spLocks noChangeArrowheads="1"/>
          </p:cNvSpPr>
          <p:nvPr/>
        </p:nvSpPr>
        <p:spPr bwMode="auto">
          <a:xfrm>
            <a:off x="2209800" y="28956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B</a:t>
            </a:r>
          </a:p>
        </p:txBody>
      </p:sp>
      <p:sp>
        <p:nvSpPr>
          <p:cNvPr id="650244" name="Oval 4" descr="Water droplets"/>
          <p:cNvSpPr>
            <a:spLocks noChangeArrowheads="1"/>
          </p:cNvSpPr>
          <p:nvPr/>
        </p:nvSpPr>
        <p:spPr bwMode="auto">
          <a:xfrm>
            <a:off x="1447800" y="35814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A</a:t>
            </a:r>
          </a:p>
        </p:txBody>
      </p:sp>
      <p:sp>
        <p:nvSpPr>
          <p:cNvPr id="650245" name="Oval 5" descr="Water droplets"/>
          <p:cNvSpPr>
            <a:spLocks noChangeArrowheads="1"/>
          </p:cNvSpPr>
          <p:nvPr/>
        </p:nvSpPr>
        <p:spPr bwMode="auto">
          <a:xfrm>
            <a:off x="3124200" y="22860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S</a:t>
            </a:r>
          </a:p>
        </p:txBody>
      </p:sp>
      <p:sp>
        <p:nvSpPr>
          <p:cNvPr id="650246" name="Oval 6" descr="Water droplets"/>
          <p:cNvSpPr>
            <a:spLocks noChangeArrowheads="1"/>
          </p:cNvSpPr>
          <p:nvPr/>
        </p:nvSpPr>
        <p:spPr bwMode="auto">
          <a:xfrm>
            <a:off x="4114800" y="23622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E</a:t>
            </a:r>
          </a:p>
        </p:txBody>
      </p:sp>
      <p:sp>
        <p:nvSpPr>
          <p:cNvPr id="650247" name="Oval 7" descr="Water droplets"/>
          <p:cNvSpPr>
            <a:spLocks noChangeArrowheads="1"/>
          </p:cNvSpPr>
          <p:nvPr/>
        </p:nvSpPr>
        <p:spPr bwMode="auto">
          <a:xfrm>
            <a:off x="5105400" y="27432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F</a:t>
            </a:r>
          </a:p>
        </p:txBody>
      </p:sp>
      <p:sp>
        <p:nvSpPr>
          <p:cNvPr id="650248" name="Oval 8" descr="Water droplets"/>
          <p:cNvSpPr>
            <a:spLocks noChangeArrowheads="1"/>
          </p:cNvSpPr>
          <p:nvPr/>
        </p:nvSpPr>
        <p:spPr bwMode="auto">
          <a:xfrm>
            <a:off x="2667000" y="38862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H</a:t>
            </a:r>
          </a:p>
        </p:txBody>
      </p:sp>
      <p:sp>
        <p:nvSpPr>
          <p:cNvPr id="650249" name="Oval 9"/>
          <p:cNvSpPr>
            <a:spLocks noChangeArrowheads="1"/>
          </p:cNvSpPr>
          <p:nvPr/>
        </p:nvSpPr>
        <p:spPr bwMode="auto">
          <a:xfrm>
            <a:off x="5943600" y="32766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J</a:t>
            </a:r>
          </a:p>
        </p:txBody>
      </p:sp>
      <p:sp>
        <p:nvSpPr>
          <p:cNvPr id="650250" name="Oval 10"/>
          <p:cNvSpPr>
            <a:spLocks noChangeArrowheads="1"/>
          </p:cNvSpPr>
          <p:nvPr/>
        </p:nvSpPr>
        <p:spPr bwMode="auto">
          <a:xfrm>
            <a:off x="6705600" y="38862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D</a:t>
            </a:r>
          </a:p>
        </p:txBody>
      </p:sp>
      <p:sp>
        <p:nvSpPr>
          <p:cNvPr id="650251" name="Oval 11" descr="Water droplets"/>
          <p:cNvSpPr>
            <a:spLocks noChangeArrowheads="1"/>
          </p:cNvSpPr>
          <p:nvPr/>
        </p:nvSpPr>
        <p:spPr bwMode="auto">
          <a:xfrm>
            <a:off x="3505200" y="30480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C</a:t>
            </a:r>
          </a:p>
        </p:txBody>
      </p:sp>
      <p:sp>
        <p:nvSpPr>
          <p:cNvPr id="650252" name="Oval 12" descr="Water droplets"/>
          <p:cNvSpPr>
            <a:spLocks noChangeArrowheads="1"/>
          </p:cNvSpPr>
          <p:nvPr/>
        </p:nvSpPr>
        <p:spPr bwMode="auto">
          <a:xfrm>
            <a:off x="4572000" y="35814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G</a:t>
            </a:r>
          </a:p>
        </p:txBody>
      </p:sp>
      <p:sp>
        <p:nvSpPr>
          <p:cNvPr id="650253" name="Oval 13"/>
          <p:cNvSpPr>
            <a:spLocks noChangeArrowheads="1"/>
          </p:cNvSpPr>
          <p:nvPr/>
        </p:nvSpPr>
        <p:spPr bwMode="auto">
          <a:xfrm>
            <a:off x="3733800" y="44196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I</a:t>
            </a:r>
          </a:p>
        </p:txBody>
      </p:sp>
      <p:sp>
        <p:nvSpPr>
          <p:cNvPr id="650254" name="Oval 14"/>
          <p:cNvSpPr>
            <a:spLocks noChangeArrowheads="1"/>
          </p:cNvSpPr>
          <p:nvPr/>
        </p:nvSpPr>
        <p:spPr bwMode="auto">
          <a:xfrm>
            <a:off x="5486400" y="41148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K</a:t>
            </a:r>
          </a:p>
        </p:txBody>
      </p:sp>
      <p:sp>
        <p:nvSpPr>
          <p:cNvPr id="650255" name="Line 15"/>
          <p:cNvSpPr>
            <a:spLocks noChangeShapeType="1"/>
          </p:cNvSpPr>
          <p:nvPr/>
        </p:nvSpPr>
        <p:spPr bwMode="auto">
          <a:xfrm flipV="1">
            <a:off x="1981200" y="3352800"/>
            <a:ext cx="304800" cy="3048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0256" name="Line 16"/>
          <p:cNvSpPr>
            <a:spLocks noChangeShapeType="1"/>
          </p:cNvSpPr>
          <p:nvPr/>
        </p:nvSpPr>
        <p:spPr bwMode="auto">
          <a:xfrm flipV="1">
            <a:off x="2743200" y="2743200"/>
            <a:ext cx="457200" cy="2286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0257" name="Line 17"/>
          <p:cNvSpPr>
            <a:spLocks noChangeShapeType="1"/>
          </p:cNvSpPr>
          <p:nvPr/>
        </p:nvSpPr>
        <p:spPr bwMode="auto">
          <a:xfrm>
            <a:off x="2057400" y="3962400"/>
            <a:ext cx="685800" cy="76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0258" name="Line 18"/>
          <p:cNvSpPr>
            <a:spLocks noChangeShapeType="1"/>
          </p:cNvSpPr>
          <p:nvPr/>
        </p:nvSpPr>
        <p:spPr bwMode="auto">
          <a:xfrm>
            <a:off x="2667000" y="3429000"/>
            <a:ext cx="228600" cy="4572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0259" name="Line 19"/>
          <p:cNvSpPr>
            <a:spLocks noChangeShapeType="1"/>
          </p:cNvSpPr>
          <p:nvPr/>
        </p:nvSpPr>
        <p:spPr bwMode="auto">
          <a:xfrm flipH="1">
            <a:off x="3124200" y="3581400"/>
            <a:ext cx="533400" cy="3810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0260" name="Line 20"/>
          <p:cNvSpPr>
            <a:spLocks noChangeShapeType="1"/>
          </p:cNvSpPr>
          <p:nvPr/>
        </p:nvSpPr>
        <p:spPr bwMode="auto">
          <a:xfrm flipH="1">
            <a:off x="3962400" y="2895600"/>
            <a:ext cx="228600" cy="2286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0261" name="Line 21"/>
          <p:cNvSpPr>
            <a:spLocks noChangeShapeType="1"/>
          </p:cNvSpPr>
          <p:nvPr/>
        </p:nvSpPr>
        <p:spPr bwMode="auto">
          <a:xfrm>
            <a:off x="4724400" y="2743200"/>
            <a:ext cx="457200" cy="1524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0262" name="Line 22"/>
          <p:cNvSpPr>
            <a:spLocks noChangeShapeType="1"/>
          </p:cNvSpPr>
          <p:nvPr/>
        </p:nvSpPr>
        <p:spPr bwMode="auto">
          <a:xfrm flipH="1">
            <a:off x="5029200" y="32766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0263" name="Line 23"/>
          <p:cNvSpPr>
            <a:spLocks noChangeShapeType="1"/>
          </p:cNvSpPr>
          <p:nvPr/>
        </p:nvSpPr>
        <p:spPr bwMode="auto">
          <a:xfrm flipH="1">
            <a:off x="4191000" y="4114800"/>
            <a:ext cx="457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0264" name="Line 24"/>
          <p:cNvSpPr>
            <a:spLocks noChangeShapeType="1"/>
          </p:cNvSpPr>
          <p:nvPr/>
        </p:nvSpPr>
        <p:spPr bwMode="auto">
          <a:xfrm>
            <a:off x="4114800" y="3505200"/>
            <a:ext cx="457200" cy="2286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0265" name="Line 25"/>
          <p:cNvSpPr>
            <a:spLocks noChangeShapeType="1"/>
          </p:cNvSpPr>
          <p:nvPr/>
        </p:nvSpPr>
        <p:spPr bwMode="auto">
          <a:xfrm>
            <a:off x="3200400" y="4343400"/>
            <a:ext cx="533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0266" name="Line 26"/>
          <p:cNvSpPr>
            <a:spLocks noChangeShapeType="1"/>
          </p:cNvSpPr>
          <p:nvPr/>
        </p:nvSpPr>
        <p:spPr bwMode="auto">
          <a:xfrm>
            <a:off x="5638800" y="3200400"/>
            <a:ext cx="381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0267" name="Line 27"/>
          <p:cNvSpPr>
            <a:spLocks noChangeShapeType="1"/>
          </p:cNvSpPr>
          <p:nvPr/>
        </p:nvSpPr>
        <p:spPr bwMode="auto">
          <a:xfrm>
            <a:off x="5105400" y="4114800"/>
            <a:ext cx="381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0268" name="Line 28"/>
          <p:cNvSpPr>
            <a:spLocks noChangeShapeType="1"/>
          </p:cNvSpPr>
          <p:nvPr/>
        </p:nvSpPr>
        <p:spPr bwMode="auto">
          <a:xfrm>
            <a:off x="6477000" y="3733800"/>
            <a:ext cx="304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0269" name="Line 29"/>
          <p:cNvSpPr>
            <a:spLocks noChangeShapeType="1"/>
          </p:cNvSpPr>
          <p:nvPr/>
        </p:nvSpPr>
        <p:spPr bwMode="auto">
          <a:xfrm flipH="1">
            <a:off x="6096000" y="4267200"/>
            <a:ext cx="609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0270" name="Line 30"/>
          <p:cNvSpPr>
            <a:spLocks noChangeShapeType="1"/>
          </p:cNvSpPr>
          <p:nvPr/>
        </p:nvSpPr>
        <p:spPr bwMode="auto">
          <a:xfrm flipH="1">
            <a:off x="3733800" y="2590800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0271" name="Line 31"/>
          <p:cNvSpPr>
            <a:spLocks noChangeShapeType="1"/>
          </p:cNvSpPr>
          <p:nvPr/>
        </p:nvSpPr>
        <p:spPr bwMode="auto">
          <a:xfrm>
            <a:off x="3505200" y="2895600"/>
            <a:ext cx="152400" cy="2286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0272" name="Line 32"/>
          <p:cNvSpPr>
            <a:spLocks noChangeShapeType="1"/>
          </p:cNvSpPr>
          <p:nvPr/>
        </p:nvSpPr>
        <p:spPr bwMode="auto">
          <a:xfrm flipH="1">
            <a:off x="4114800" y="2971800"/>
            <a:ext cx="228600" cy="2286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0273" name="Text Box 33"/>
          <p:cNvSpPr txBox="1">
            <a:spLocks noChangeArrowheads="1"/>
          </p:cNvSpPr>
          <p:nvPr/>
        </p:nvSpPr>
        <p:spPr bwMode="auto">
          <a:xfrm>
            <a:off x="1203325" y="5516563"/>
            <a:ext cx="652145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l">
              <a:buFontTx/>
              <a:buChar char="•"/>
            </a:pPr>
            <a:r>
              <a:rPr lang="en-US"/>
              <a:t> Node H receives packet RREQ from two neighbors:</a:t>
            </a:r>
          </a:p>
          <a:p>
            <a:pPr algn="l"/>
            <a:r>
              <a:rPr lang="en-US"/>
              <a:t>   </a:t>
            </a:r>
            <a:r>
              <a:rPr lang="en-US">
                <a:solidFill>
                  <a:srgbClr val="A50021"/>
                </a:solidFill>
              </a:rPr>
              <a:t>potential for collision</a:t>
            </a:r>
            <a:endParaRPr lang="en-US"/>
          </a:p>
        </p:txBody>
      </p:sp>
      <p:sp>
        <p:nvSpPr>
          <p:cNvPr id="650274" name="Oval 34"/>
          <p:cNvSpPr>
            <a:spLocks noChangeArrowheads="1"/>
          </p:cNvSpPr>
          <p:nvPr/>
        </p:nvSpPr>
        <p:spPr bwMode="auto">
          <a:xfrm>
            <a:off x="7162800" y="1905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Z</a:t>
            </a:r>
          </a:p>
        </p:txBody>
      </p:sp>
      <p:sp>
        <p:nvSpPr>
          <p:cNvPr id="650275" name="Oval 35"/>
          <p:cNvSpPr>
            <a:spLocks noChangeArrowheads="1"/>
          </p:cNvSpPr>
          <p:nvPr/>
        </p:nvSpPr>
        <p:spPr bwMode="auto">
          <a:xfrm>
            <a:off x="7467600" y="1143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Y</a:t>
            </a:r>
          </a:p>
        </p:txBody>
      </p:sp>
      <p:sp>
        <p:nvSpPr>
          <p:cNvPr id="650276" name="Line 36"/>
          <p:cNvSpPr>
            <a:spLocks noChangeShapeType="1"/>
          </p:cNvSpPr>
          <p:nvPr/>
        </p:nvSpPr>
        <p:spPr bwMode="auto">
          <a:xfrm flipH="1">
            <a:off x="7543800" y="1752600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0277" name="Oval 37"/>
          <p:cNvSpPr>
            <a:spLocks noChangeArrowheads="1"/>
          </p:cNvSpPr>
          <p:nvPr/>
        </p:nvSpPr>
        <p:spPr bwMode="auto">
          <a:xfrm>
            <a:off x="6934200" y="3048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M</a:t>
            </a:r>
          </a:p>
        </p:txBody>
      </p:sp>
      <p:sp>
        <p:nvSpPr>
          <p:cNvPr id="650278" name="Line 38"/>
          <p:cNvSpPr>
            <a:spLocks noChangeShapeType="1"/>
          </p:cNvSpPr>
          <p:nvPr/>
        </p:nvSpPr>
        <p:spPr bwMode="auto">
          <a:xfrm flipV="1">
            <a:off x="6553200" y="3352800"/>
            <a:ext cx="3810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0279" name="Oval 39"/>
          <p:cNvSpPr>
            <a:spLocks noChangeArrowheads="1"/>
          </p:cNvSpPr>
          <p:nvPr/>
        </p:nvSpPr>
        <p:spPr bwMode="auto">
          <a:xfrm>
            <a:off x="7391400" y="44196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N</a:t>
            </a:r>
          </a:p>
        </p:txBody>
      </p:sp>
      <p:sp>
        <p:nvSpPr>
          <p:cNvPr id="650280" name="Line 40"/>
          <p:cNvSpPr>
            <a:spLocks noChangeShapeType="1"/>
          </p:cNvSpPr>
          <p:nvPr/>
        </p:nvSpPr>
        <p:spPr bwMode="auto">
          <a:xfrm>
            <a:off x="7239000" y="4419600"/>
            <a:ext cx="228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0281" name="Oval 41"/>
          <p:cNvSpPr>
            <a:spLocks noChangeArrowheads="1"/>
          </p:cNvSpPr>
          <p:nvPr/>
        </p:nvSpPr>
        <p:spPr bwMode="auto">
          <a:xfrm>
            <a:off x="7848600" y="3048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L</a:t>
            </a:r>
          </a:p>
        </p:txBody>
      </p:sp>
      <p:sp>
        <p:nvSpPr>
          <p:cNvPr id="650282" name="Line 42"/>
          <p:cNvSpPr>
            <a:spLocks noChangeShapeType="1"/>
          </p:cNvSpPr>
          <p:nvPr/>
        </p:nvSpPr>
        <p:spPr bwMode="auto">
          <a:xfrm>
            <a:off x="7543800" y="33528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0284" name="Text Box 44"/>
          <p:cNvSpPr txBox="1">
            <a:spLocks noChangeArrowheads="1"/>
          </p:cNvSpPr>
          <p:nvPr/>
        </p:nvSpPr>
        <p:spPr bwMode="auto">
          <a:xfrm>
            <a:off x="4724400" y="2286000"/>
            <a:ext cx="762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/>
              <a:t>[S,E]</a:t>
            </a:r>
          </a:p>
        </p:txBody>
      </p:sp>
      <p:sp>
        <p:nvSpPr>
          <p:cNvPr id="650285" name="Text Box 45"/>
          <p:cNvSpPr txBox="1">
            <a:spLocks noChangeArrowheads="1"/>
          </p:cNvSpPr>
          <p:nvPr/>
        </p:nvSpPr>
        <p:spPr bwMode="auto">
          <a:xfrm>
            <a:off x="3652838" y="3687763"/>
            <a:ext cx="7762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/>
              <a:t>[S,C]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Route Discovery in DSR</a:t>
            </a:r>
          </a:p>
        </p:txBody>
      </p:sp>
      <p:sp>
        <p:nvSpPr>
          <p:cNvPr id="4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B3A99-96FF-4A9C-9471-B937EF59E9B8}" type="slidenum">
              <a:rPr lang="en-US"/>
              <a:pPr/>
              <a:t>33</a:t>
            </a:fld>
            <a:endParaRPr lang="en-US"/>
          </a:p>
        </p:txBody>
      </p:sp>
      <p:sp>
        <p:nvSpPr>
          <p:cNvPr id="651267" name="Oval 3" descr="Water droplets"/>
          <p:cNvSpPr>
            <a:spLocks noChangeArrowheads="1"/>
          </p:cNvSpPr>
          <p:nvPr/>
        </p:nvSpPr>
        <p:spPr bwMode="auto">
          <a:xfrm>
            <a:off x="2209800" y="28956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B</a:t>
            </a:r>
          </a:p>
        </p:txBody>
      </p:sp>
      <p:sp>
        <p:nvSpPr>
          <p:cNvPr id="651268" name="Oval 4" descr="Water droplets"/>
          <p:cNvSpPr>
            <a:spLocks noChangeArrowheads="1"/>
          </p:cNvSpPr>
          <p:nvPr/>
        </p:nvSpPr>
        <p:spPr bwMode="auto">
          <a:xfrm>
            <a:off x="1447800" y="35814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A</a:t>
            </a:r>
          </a:p>
        </p:txBody>
      </p:sp>
      <p:sp>
        <p:nvSpPr>
          <p:cNvPr id="651269" name="Oval 5" descr="Water droplets"/>
          <p:cNvSpPr>
            <a:spLocks noChangeArrowheads="1"/>
          </p:cNvSpPr>
          <p:nvPr/>
        </p:nvSpPr>
        <p:spPr bwMode="auto">
          <a:xfrm>
            <a:off x="3124200" y="22860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S</a:t>
            </a:r>
          </a:p>
        </p:txBody>
      </p:sp>
      <p:sp>
        <p:nvSpPr>
          <p:cNvPr id="651270" name="Oval 6" descr="Water droplets"/>
          <p:cNvSpPr>
            <a:spLocks noChangeArrowheads="1"/>
          </p:cNvSpPr>
          <p:nvPr/>
        </p:nvSpPr>
        <p:spPr bwMode="auto">
          <a:xfrm>
            <a:off x="4114800" y="23622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E</a:t>
            </a:r>
          </a:p>
        </p:txBody>
      </p:sp>
      <p:sp>
        <p:nvSpPr>
          <p:cNvPr id="651271" name="Oval 7" descr="Water droplets"/>
          <p:cNvSpPr>
            <a:spLocks noChangeArrowheads="1"/>
          </p:cNvSpPr>
          <p:nvPr/>
        </p:nvSpPr>
        <p:spPr bwMode="auto">
          <a:xfrm>
            <a:off x="5105400" y="27432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F</a:t>
            </a:r>
          </a:p>
        </p:txBody>
      </p:sp>
      <p:sp>
        <p:nvSpPr>
          <p:cNvPr id="651272" name="Oval 8" descr="Water droplets"/>
          <p:cNvSpPr>
            <a:spLocks noChangeArrowheads="1"/>
          </p:cNvSpPr>
          <p:nvPr/>
        </p:nvSpPr>
        <p:spPr bwMode="auto">
          <a:xfrm>
            <a:off x="2667000" y="38862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H</a:t>
            </a:r>
          </a:p>
        </p:txBody>
      </p:sp>
      <p:sp>
        <p:nvSpPr>
          <p:cNvPr id="651273" name="Oval 9" descr="Water droplets"/>
          <p:cNvSpPr>
            <a:spLocks noChangeArrowheads="1"/>
          </p:cNvSpPr>
          <p:nvPr/>
        </p:nvSpPr>
        <p:spPr bwMode="auto">
          <a:xfrm>
            <a:off x="5943600" y="32766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J</a:t>
            </a:r>
          </a:p>
        </p:txBody>
      </p:sp>
      <p:sp>
        <p:nvSpPr>
          <p:cNvPr id="651274" name="Oval 10"/>
          <p:cNvSpPr>
            <a:spLocks noChangeArrowheads="1"/>
          </p:cNvSpPr>
          <p:nvPr/>
        </p:nvSpPr>
        <p:spPr bwMode="auto">
          <a:xfrm>
            <a:off x="6705600" y="38862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D</a:t>
            </a:r>
          </a:p>
        </p:txBody>
      </p:sp>
      <p:sp>
        <p:nvSpPr>
          <p:cNvPr id="651275" name="Oval 11" descr="Water droplets"/>
          <p:cNvSpPr>
            <a:spLocks noChangeArrowheads="1"/>
          </p:cNvSpPr>
          <p:nvPr/>
        </p:nvSpPr>
        <p:spPr bwMode="auto">
          <a:xfrm>
            <a:off x="3505200" y="30480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C</a:t>
            </a:r>
          </a:p>
        </p:txBody>
      </p:sp>
      <p:sp>
        <p:nvSpPr>
          <p:cNvPr id="651276" name="Oval 12" descr="Water droplets"/>
          <p:cNvSpPr>
            <a:spLocks noChangeArrowheads="1"/>
          </p:cNvSpPr>
          <p:nvPr/>
        </p:nvSpPr>
        <p:spPr bwMode="auto">
          <a:xfrm>
            <a:off x="4572000" y="35814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G</a:t>
            </a:r>
          </a:p>
        </p:txBody>
      </p:sp>
      <p:sp>
        <p:nvSpPr>
          <p:cNvPr id="651277" name="Oval 13" descr="Water droplets"/>
          <p:cNvSpPr>
            <a:spLocks noChangeArrowheads="1"/>
          </p:cNvSpPr>
          <p:nvPr/>
        </p:nvSpPr>
        <p:spPr bwMode="auto">
          <a:xfrm>
            <a:off x="3733800" y="44196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I</a:t>
            </a:r>
          </a:p>
        </p:txBody>
      </p:sp>
      <p:sp>
        <p:nvSpPr>
          <p:cNvPr id="651278" name="Oval 14" descr="Water droplets"/>
          <p:cNvSpPr>
            <a:spLocks noChangeArrowheads="1"/>
          </p:cNvSpPr>
          <p:nvPr/>
        </p:nvSpPr>
        <p:spPr bwMode="auto">
          <a:xfrm>
            <a:off x="5486400" y="41148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K</a:t>
            </a:r>
          </a:p>
        </p:txBody>
      </p:sp>
      <p:sp>
        <p:nvSpPr>
          <p:cNvPr id="651279" name="Line 15"/>
          <p:cNvSpPr>
            <a:spLocks noChangeShapeType="1"/>
          </p:cNvSpPr>
          <p:nvPr/>
        </p:nvSpPr>
        <p:spPr bwMode="auto">
          <a:xfrm flipV="1">
            <a:off x="1981200" y="3352800"/>
            <a:ext cx="304800" cy="3048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1280" name="Line 16"/>
          <p:cNvSpPr>
            <a:spLocks noChangeShapeType="1"/>
          </p:cNvSpPr>
          <p:nvPr/>
        </p:nvSpPr>
        <p:spPr bwMode="auto">
          <a:xfrm flipV="1">
            <a:off x="2743200" y="2743200"/>
            <a:ext cx="457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1281" name="Line 17"/>
          <p:cNvSpPr>
            <a:spLocks noChangeShapeType="1"/>
          </p:cNvSpPr>
          <p:nvPr/>
        </p:nvSpPr>
        <p:spPr bwMode="auto">
          <a:xfrm>
            <a:off x="2057400" y="3962400"/>
            <a:ext cx="685800" cy="762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1282" name="Line 18"/>
          <p:cNvSpPr>
            <a:spLocks noChangeShapeType="1"/>
          </p:cNvSpPr>
          <p:nvPr/>
        </p:nvSpPr>
        <p:spPr bwMode="auto">
          <a:xfrm>
            <a:off x="2667000" y="3429000"/>
            <a:ext cx="228600" cy="4572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1283" name="Line 19"/>
          <p:cNvSpPr>
            <a:spLocks noChangeShapeType="1"/>
          </p:cNvSpPr>
          <p:nvPr/>
        </p:nvSpPr>
        <p:spPr bwMode="auto">
          <a:xfrm flipH="1">
            <a:off x="3124200" y="3581400"/>
            <a:ext cx="533400" cy="3810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1284" name="Line 20"/>
          <p:cNvSpPr>
            <a:spLocks noChangeShapeType="1"/>
          </p:cNvSpPr>
          <p:nvPr/>
        </p:nvSpPr>
        <p:spPr bwMode="auto">
          <a:xfrm flipH="1">
            <a:off x="3962400" y="28956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1285" name="Line 21"/>
          <p:cNvSpPr>
            <a:spLocks noChangeShapeType="1"/>
          </p:cNvSpPr>
          <p:nvPr/>
        </p:nvSpPr>
        <p:spPr bwMode="auto">
          <a:xfrm>
            <a:off x="4724400" y="2743200"/>
            <a:ext cx="457200" cy="1524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1286" name="Line 22"/>
          <p:cNvSpPr>
            <a:spLocks noChangeShapeType="1"/>
          </p:cNvSpPr>
          <p:nvPr/>
        </p:nvSpPr>
        <p:spPr bwMode="auto">
          <a:xfrm flipH="1">
            <a:off x="5029200" y="3276600"/>
            <a:ext cx="228600" cy="3810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1287" name="Line 23"/>
          <p:cNvSpPr>
            <a:spLocks noChangeShapeType="1"/>
          </p:cNvSpPr>
          <p:nvPr/>
        </p:nvSpPr>
        <p:spPr bwMode="auto">
          <a:xfrm flipH="1">
            <a:off x="4191000" y="4114800"/>
            <a:ext cx="457200" cy="3810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1288" name="Line 24"/>
          <p:cNvSpPr>
            <a:spLocks noChangeShapeType="1"/>
          </p:cNvSpPr>
          <p:nvPr/>
        </p:nvSpPr>
        <p:spPr bwMode="auto">
          <a:xfrm>
            <a:off x="4114800" y="3505200"/>
            <a:ext cx="457200" cy="2286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1289" name="Line 25"/>
          <p:cNvSpPr>
            <a:spLocks noChangeShapeType="1"/>
          </p:cNvSpPr>
          <p:nvPr/>
        </p:nvSpPr>
        <p:spPr bwMode="auto">
          <a:xfrm>
            <a:off x="3200400" y="4343400"/>
            <a:ext cx="533400" cy="2286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1290" name="Line 26"/>
          <p:cNvSpPr>
            <a:spLocks noChangeShapeType="1"/>
          </p:cNvSpPr>
          <p:nvPr/>
        </p:nvSpPr>
        <p:spPr bwMode="auto">
          <a:xfrm>
            <a:off x="5638800" y="3200400"/>
            <a:ext cx="381000" cy="1524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1291" name="Line 27"/>
          <p:cNvSpPr>
            <a:spLocks noChangeShapeType="1"/>
          </p:cNvSpPr>
          <p:nvPr/>
        </p:nvSpPr>
        <p:spPr bwMode="auto">
          <a:xfrm>
            <a:off x="5105400" y="4114800"/>
            <a:ext cx="381000" cy="1524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1292" name="Line 28"/>
          <p:cNvSpPr>
            <a:spLocks noChangeShapeType="1"/>
          </p:cNvSpPr>
          <p:nvPr/>
        </p:nvSpPr>
        <p:spPr bwMode="auto">
          <a:xfrm>
            <a:off x="6477000" y="3733800"/>
            <a:ext cx="304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1293" name="Line 29"/>
          <p:cNvSpPr>
            <a:spLocks noChangeShapeType="1"/>
          </p:cNvSpPr>
          <p:nvPr/>
        </p:nvSpPr>
        <p:spPr bwMode="auto">
          <a:xfrm flipH="1">
            <a:off x="6096000" y="4267200"/>
            <a:ext cx="609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1294" name="Line 30"/>
          <p:cNvSpPr>
            <a:spLocks noChangeShapeType="1"/>
          </p:cNvSpPr>
          <p:nvPr/>
        </p:nvSpPr>
        <p:spPr bwMode="auto">
          <a:xfrm flipH="1">
            <a:off x="3733800" y="25908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1295" name="Line 31"/>
          <p:cNvSpPr>
            <a:spLocks noChangeShapeType="1"/>
          </p:cNvSpPr>
          <p:nvPr/>
        </p:nvSpPr>
        <p:spPr bwMode="auto">
          <a:xfrm>
            <a:off x="3505200" y="28956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1296" name="Line 32"/>
          <p:cNvSpPr>
            <a:spLocks noChangeShapeType="1"/>
          </p:cNvSpPr>
          <p:nvPr/>
        </p:nvSpPr>
        <p:spPr bwMode="auto">
          <a:xfrm>
            <a:off x="1981200" y="4114800"/>
            <a:ext cx="685800" cy="762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1297" name="Line 33"/>
          <p:cNvSpPr>
            <a:spLocks noChangeShapeType="1"/>
          </p:cNvSpPr>
          <p:nvPr/>
        </p:nvSpPr>
        <p:spPr bwMode="auto">
          <a:xfrm flipH="1">
            <a:off x="5105400" y="3352800"/>
            <a:ext cx="228600" cy="3810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1298" name="Text Box 34"/>
          <p:cNvSpPr txBox="1">
            <a:spLocks noChangeArrowheads="1"/>
          </p:cNvSpPr>
          <p:nvPr/>
        </p:nvSpPr>
        <p:spPr bwMode="auto">
          <a:xfrm>
            <a:off x="762000" y="5410200"/>
            <a:ext cx="7602538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l">
              <a:buFontTx/>
              <a:buChar char="•"/>
            </a:pPr>
            <a:r>
              <a:rPr lang="en-US"/>
              <a:t> Node C receives RREQ from G and H, but does not forward</a:t>
            </a:r>
          </a:p>
          <a:p>
            <a:pPr algn="l"/>
            <a:r>
              <a:rPr lang="en-US"/>
              <a:t>   it again, because node C has </a:t>
            </a:r>
            <a:r>
              <a:rPr lang="en-US">
                <a:solidFill>
                  <a:schemeClr val="accent1"/>
                </a:solidFill>
              </a:rPr>
              <a:t>already forwarded RREQ</a:t>
            </a:r>
            <a:r>
              <a:rPr lang="en-US"/>
              <a:t> once</a:t>
            </a:r>
          </a:p>
        </p:txBody>
      </p:sp>
      <p:sp>
        <p:nvSpPr>
          <p:cNvPr id="651299" name="Oval 35"/>
          <p:cNvSpPr>
            <a:spLocks noChangeArrowheads="1"/>
          </p:cNvSpPr>
          <p:nvPr/>
        </p:nvSpPr>
        <p:spPr bwMode="auto">
          <a:xfrm>
            <a:off x="7162800" y="1905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Z</a:t>
            </a:r>
          </a:p>
        </p:txBody>
      </p:sp>
      <p:sp>
        <p:nvSpPr>
          <p:cNvPr id="651300" name="Oval 36"/>
          <p:cNvSpPr>
            <a:spLocks noChangeArrowheads="1"/>
          </p:cNvSpPr>
          <p:nvPr/>
        </p:nvSpPr>
        <p:spPr bwMode="auto">
          <a:xfrm>
            <a:off x="7467600" y="1143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Y</a:t>
            </a:r>
          </a:p>
        </p:txBody>
      </p:sp>
      <p:sp>
        <p:nvSpPr>
          <p:cNvPr id="651301" name="Line 37"/>
          <p:cNvSpPr>
            <a:spLocks noChangeShapeType="1"/>
          </p:cNvSpPr>
          <p:nvPr/>
        </p:nvSpPr>
        <p:spPr bwMode="auto">
          <a:xfrm flipH="1">
            <a:off x="7543800" y="1752600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1302" name="Oval 38"/>
          <p:cNvSpPr>
            <a:spLocks noChangeArrowheads="1"/>
          </p:cNvSpPr>
          <p:nvPr/>
        </p:nvSpPr>
        <p:spPr bwMode="auto">
          <a:xfrm>
            <a:off x="6934200" y="3048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M</a:t>
            </a:r>
          </a:p>
        </p:txBody>
      </p:sp>
      <p:sp>
        <p:nvSpPr>
          <p:cNvPr id="651303" name="Line 39"/>
          <p:cNvSpPr>
            <a:spLocks noChangeShapeType="1"/>
          </p:cNvSpPr>
          <p:nvPr/>
        </p:nvSpPr>
        <p:spPr bwMode="auto">
          <a:xfrm flipV="1">
            <a:off x="6553200" y="3352800"/>
            <a:ext cx="3810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1304" name="Oval 40"/>
          <p:cNvSpPr>
            <a:spLocks noChangeArrowheads="1"/>
          </p:cNvSpPr>
          <p:nvPr/>
        </p:nvSpPr>
        <p:spPr bwMode="auto">
          <a:xfrm>
            <a:off x="7391400" y="44196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N</a:t>
            </a:r>
          </a:p>
        </p:txBody>
      </p:sp>
      <p:sp>
        <p:nvSpPr>
          <p:cNvPr id="651305" name="Line 41"/>
          <p:cNvSpPr>
            <a:spLocks noChangeShapeType="1"/>
          </p:cNvSpPr>
          <p:nvPr/>
        </p:nvSpPr>
        <p:spPr bwMode="auto">
          <a:xfrm>
            <a:off x="7239000" y="4419600"/>
            <a:ext cx="228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1306" name="Oval 42"/>
          <p:cNvSpPr>
            <a:spLocks noChangeArrowheads="1"/>
          </p:cNvSpPr>
          <p:nvPr/>
        </p:nvSpPr>
        <p:spPr bwMode="auto">
          <a:xfrm>
            <a:off x="7848600" y="3048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L</a:t>
            </a:r>
          </a:p>
        </p:txBody>
      </p:sp>
      <p:sp>
        <p:nvSpPr>
          <p:cNvPr id="651307" name="Line 43"/>
          <p:cNvSpPr>
            <a:spLocks noChangeShapeType="1"/>
          </p:cNvSpPr>
          <p:nvPr/>
        </p:nvSpPr>
        <p:spPr bwMode="auto">
          <a:xfrm>
            <a:off x="7543800" y="33528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1308" name="Text Box 44"/>
          <p:cNvSpPr txBox="1">
            <a:spLocks noChangeArrowheads="1"/>
          </p:cNvSpPr>
          <p:nvPr/>
        </p:nvSpPr>
        <p:spPr bwMode="auto">
          <a:xfrm>
            <a:off x="4495800" y="4343400"/>
            <a:ext cx="10429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l"/>
            <a:r>
              <a:rPr lang="en-US"/>
              <a:t>[S,C,G]</a:t>
            </a:r>
          </a:p>
        </p:txBody>
      </p:sp>
      <p:sp>
        <p:nvSpPr>
          <p:cNvPr id="651309" name="Text Box 45"/>
          <p:cNvSpPr txBox="1">
            <a:spLocks noChangeArrowheads="1"/>
          </p:cNvSpPr>
          <p:nvPr/>
        </p:nvSpPr>
        <p:spPr bwMode="auto">
          <a:xfrm>
            <a:off x="5699125" y="2849563"/>
            <a:ext cx="9874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l"/>
            <a:r>
              <a:rPr lang="en-US"/>
              <a:t>[S,E,F]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Route Discovery in DSR</a:t>
            </a:r>
          </a:p>
        </p:txBody>
      </p:sp>
      <p:sp>
        <p:nvSpPr>
          <p:cNvPr id="4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51C37-DC2B-4E05-8D44-5431FA33BE88}" type="slidenum">
              <a:rPr lang="en-US"/>
              <a:pPr/>
              <a:t>34</a:t>
            </a:fld>
            <a:endParaRPr lang="en-US"/>
          </a:p>
        </p:txBody>
      </p:sp>
      <p:sp>
        <p:nvSpPr>
          <p:cNvPr id="652291" name="Oval 3" descr="Water droplets"/>
          <p:cNvSpPr>
            <a:spLocks noChangeArrowheads="1"/>
          </p:cNvSpPr>
          <p:nvPr/>
        </p:nvSpPr>
        <p:spPr bwMode="auto">
          <a:xfrm>
            <a:off x="2209800" y="28956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B</a:t>
            </a:r>
          </a:p>
        </p:txBody>
      </p:sp>
      <p:sp>
        <p:nvSpPr>
          <p:cNvPr id="652292" name="Oval 4" descr="Water droplets"/>
          <p:cNvSpPr>
            <a:spLocks noChangeArrowheads="1"/>
          </p:cNvSpPr>
          <p:nvPr/>
        </p:nvSpPr>
        <p:spPr bwMode="auto">
          <a:xfrm>
            <a:off x="1447800" y="35814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A</a:t>
            </a:r>
          </a:p>
        </p:txBody>
      </p:sp>
      <p:sp>
        <p:nvSpPr>
          <p:cNvPr id="652293" name="Oval 5" descr="Water droplets"/>
          <p:cNvSpPr>
            <a:spLocks noChangeArrowheads="1"/>
          </p:cNvSpPr>
          <p:nvPr/>
        </p:nvSpPr>
        <p:spPr bwMode="auto">
          <a:xfrm>
            <a:off x="3124200" y="22860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S</a:t>
            </a:r>
          </a:p>
        </p:txBody>
      </p:sp>
      <p:sp>
        <p:nvSpPr>
          <p:cNvPr id="652294" name="Oval 6" descr="Water droplets"/>
          <p:cNvSpPr>
            <a:spLocks noChangeArrowheads="1"/>
          </p:cNvSpPr>
          <p:nvPr/>
        </p:nvSpPr>
        <p:spPr bwMode="auto">
          <a:xfrm>
            <a:off x="4114800" y="23622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E</a:t>
            </a:r>
          </a:p>
        </p:txBody>
      </p:sp>
      <p:sp>
        <p:nvSpPr>
          <p:cNvPr id="652295" name="Oval 7" descr="Water droplets"/>
          <p:cNvSpPr>
            <a:spLocks noChangeArrowheads="1"/>
          </p:cNvSpPr>
          <p:nvPr/>
        </p:nvSpPr>
        <p:spPr bwMode="auto">
          <a:xfrm>
            <a:off x="5105400" y="27432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F</a:t>
            </a:r>
          </a:p>
        </p:txBody>
      </p:sp>
      <p:sp>
        <p:nvSpPr>
          <p:cNvPr id="652296" name="Oval 8" descr="Water droplets"/>
          <p:cNvSpPr>
            <a:spLocks noChangeArrowheads="1"/>
          </p:cNvSpPr>
          <p:nvPr/>
        </p:nvSpPr>
        <p:spPr bwMode="auto">
          <a:xfrm>
            <a:off x="2667000" y="38862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H</a:t>
            </a:r>
          </a:p>
        </p:txBody>
      </p:sp>
      <p:sp>
        <p:nvSpPr>
          <p:cNvPr id="652297" name="Oval 9" descr="Water droplets"/>
          <p:cNvSpPr>
            <a:spLocks noChangeArrowheads="1"/>
          </p:cNvSpPr>
          <p:nvPr/>
        </p:nvSpPr>
        <p:spPr bwMode="auto">
          <a:xfrm>
            <a:off x="5943600" y="32766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J</a:t>
            </a:r>
          </a:p>
        </p:txBody>
      </p:sp>
      <p:sp>
        <p:nvSpPr>
          <p:cNvPr id="652298" name="Oval 10" descr="Water droplets"/>
          <p:cNvSpPr>
            <a:spLocks noChangeArrowheads="1"/>
          </p:cNvSpPr>
          <p:nvPr/>
        </p:nvSpPr>
        <p:spPr bwMode="auto">
          <a:xfrm>
            <a:off x="6705600" y="38862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D</a:t>
            </a:r>
          </a:p>
        </p:txBody>
      </p:sp>
      <p:sp>
        <p:nvSpPr>
          <p:cNvPr id="652299" name="Oval 11" descr="Water droplets"/>
          <p:cNvSpPr>
            <a:spLocks noChangeArrowheads="1"/>
          </p:cNvSpPr>
          <p:nvPr/>
        </p:nvSpPr>
        <p:spPr bwMode="auto">
          <a:xfrm>
            <a:off x="3505200" y="30480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C</a:t>
            </a:r>
          </a:p>
        </p:txBody>
      </p:sp>
      <p:sp>
        <p:nvSpPr>
          <p:cNvPr id="652300" name="Oval 12" descr="Water droplets"/>
          <p:cNvSpPr>
            <a:spLocks noChangeArrowheads="1"/>
          </p:cNvSpPr>
          <p:nvPr/>
        </p:nvSpPr>
        <p:spPr bwMode="auto">
          <a:xfrm>
            <a:off x="4572000" y="35814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G</a:t>
            </a:r>
          </a:p>
        </p:txBody>
      </p:sp>
      <p:sp>
        <p:nvSpPr>
          <p:cNvPr id="652301" name="Oval 13" descr="Water droplets"/>
          <p:cNvSpPr>
            <a:spLocks noChangeArrowheads="1"/>
          </p:cNvSpPr>
          <p:nvPr/>
        </p:nvSpPr>
        <p:spPr bwMode="auto">
          <a:xfrm>
            <a:off x="3733800" y="44196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I</a:t>
            </a:r>
          </a:p>
        </p:txBody>
      </p:sp>
      <p:sp>
        <p:nvSpPr>
          <p:cNvPr id="652302" name="Oval 14" descr="Water droplets"/>
          <p:cNvSpPr>
            <a:spLocks noChangeArrowheads="1"/>
          </p:cNvSpPr>
          <p:nvPr/>
        </p:nvSpPr>
        <p:spPr bwMode="auto">
          <a:xfrm>
            <a:off x="5486400" y="41148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K</a:t>
            </a:r>
          </a:p>
        </p:txBody>
      </p:sp>
      <p:sp>
        <p:nvSpPr>
          <p:cNvPr id="652303" name="Line 15"/>
          <p:cNvSpPr>
            <a:spLocks noChangeShapeType="1"/>
          </p:cNvSpPr>
          <p:nvPr/>
        </p:nvSpPr>
        <p:spPr bwMode="auto">
          <a:xfrm flipV="1">
            <a:off x="1981200" y="3352800"/>
            <a:ext cx="304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2304" name="Line 16"/>
          <p:cNvSpPr>
            <a:spLocks noChangeShapeType="1"/>
          </p:cNvSpPr>
          <p:nvPr/>
        </p:nvSpPr>
        <p:spPr bwMode="auto">
          <a:xfrm flipV="1">
            <a:off x="2743200" y="2743200"/>
            <a:ext cx="457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2305" name="Line 17"/>
          <p:cNvSpPr>
            <a:spLocks noChangeShapeType="1"/>
          </p:cNvSpPr>
          <p:nvPr/>
        </p:nvSpPr>
        <p:spPr bwMode="auto">
          <a:xfrm>
            <a:off x="2057400" y="3962400"/>
            <a:ext cx="6858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2306" name="Line 18"/>
          <p:cNvSpPr>
            <a:spLocks noChangeShapeType="1"/>
          </p:cNvSpPr>
          <p:nvPr/>
        </p:nvSpPr>
        <p:spPr bwMode="auto">
          <a:xfrm>
            <a:off x="2667000" y="3429000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2307" name="Line 19"/>
          <p:cNvSpPr>
            <a:spLocks noChangeShapeType="1"/>
          </p:cNvSpPr>
          <p:nvPr/>
        </p:nvSpPr>
        <p:spPr bwMode="auto">
          <a:xfrm flipH="1">
            <a:off x="3124200" y="3581400"/>
            <a:ext cx="533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2308" name="Line 20"/>
          <p:cNvSpPr>
            <a:spLocks noChangeShapeType="1"/>
          </p:cNvSpPr>
          <p:nvPr/>
        </p:nvSpPr>
        <p:spPr bwMode="auto">
          <a:xfrm flipH="1">
            <a:off x="3962400" y="28956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2309" name="Line 21"/>
          <p:cNvSpPr>
            <a:spLocks noChangeShapeType="1"/>
          </p:cNvSpPr>
          <p:nvPr/>
        </p:nvSpPr>
        <p:spPr bwMode="auto">
          <a:xfrm>
            <a:off x="4724400" y="2743200"/>
            <a:ext cx="457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2310" name="Line 22"/>
          <p:cNvSpPr>
            <a:spLocks noChangeShapeType="1"/>
          </p:cNvSpPr>
          <p:nvPr/>
        </p:nvSpPr>
        <p:spPr bwMode="auto">
          <a:xfrm flipH="1">
            <a:off x="5029200" y="32766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2311" name="Line 23"/>
          <p:cNvSpPr>
            <a:spLocks noChangeShapeType="1"/>
          </p:cNvSpPr>
          <p:nvPr/>
        </p:nvSpPr>
        <p:spPr bwMode="auto">
          <a:xfrm flipH="1">
            <a:off x="4191000" y="4114800"/>
            <a:ext cx="457200" cy="3810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2312" name="Line 24"/>
          <p:cNvSpPr>
            <a:spLocks noChangeShapeType="1"/>
          </p:cNvSpPr>
          <p:nvPr/>
        </p:nvSpPr>
        <p:spPr bwMode="auto">
          <a:xfrm>
            <a:off x="4114800" y="3505200"/>
            <a:ext cx="457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2313" name="Line 25"/>
          <p:cNvSpPr>
            <a:spLocks noChangeShapeType="1"/>
          </p:cNvSpPr>
          <p:nvPr/>
        </p:nvSpPr>
        <p:spPr bwMode="auto">
          <a:xfrm>
            <a:off x="3200400" y="4343400"/>
            <a:ext cx="533400" cy="2286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2314" name="Line 26"/>
          <p:cNvSpPr>
            <a:spLocks noChangeShapeType="1"/>
          </p:cNvSpPr>
          <p:nvPr/>
        </p:nvSpPr>
        <p:spPr bwMode="auto">
          <a:xfrm>
            <a:off x="5638800" y="3200400"/>
            <a:ext cx="381000" cy="1524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2315" name="Line 27"/>
          <p:cNvSpPr>
            <a:spLocks noChangeShapeType="1"/>
          </p:cNvSpPr>
          <p:nvPr/>
        </p:nvSpPr>
        <p:spPr bwMode="auto">
          <a:xfrm>
            <a:off x="5105400" y="4114800"/>
            <a:ext cx="381000" cy="1524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2316" name="Line 28"/>
          <p:cNvSpPr>
            <a:spLocks noChangeShapeType="1"/>
          </p:cNvSpPr>
          <p:nvPr/>
        </p:nvSpPr>
        <p:spPr bwMode="auto">
          <a:xfrm>
            <a:off x="6477000" y="3733800"/>
            <a:ext cx="304800" cy="2286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2317" name="Line 29"/>
          <p:cNvSpPr>
            <a:spLocks noChangeShapeType="1"/>
          </p:cNvSpPr>
          <p:nvPr/>
        </p:nvSpPr>
        <p:spPr bwMode="auto">
          <a:xfrm flipH="1">
            <a:off x="6096000" y="4267200"/>
            <a:ext cx="609600" cy="762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2318" name="Line 30"/>
          <p:cNvSpPr>
            <a:spLocks noChangeShapeType="1"/>
          </p:cNvSpPr>
          <p:nvPr/>
        </p:nvSpPr>
        <p:spPr bwMode="auto">
          <a:xfrm flipH="1">
            <a:off x="3733800" y="25908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2319" name="Line 31"/>
          <p:cNvSpPr>
            <a:spLocks noChangeShapeType="1"/>
          </p:cNvSpPr>
          <p:nvPr/>
        </p:nvSpPr>
        <p:spPr bwMode="auto">
          <a:xfrm>
            <a:off x="3505200" y="28956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2320" name="Oval 32"/>
          <p:cNvSpPr>
            <a:spLocks noChangeArrowheads="1"/>
          </p:cNvSpPr>
          <p:nvPr/>
        </p:nvSpPr>
        <p:spPr bwMode="auto">
          <a:xfrm>
            <a:off x="7162800" y="1905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Z</a:t>
            </a:r>
          </a:p>
        </p:txBody>
      </p:sp>
      <p:sp>
        <p:nvSpPr>
          <p:cNvPr id="652321" name="Oval 33"/>
          <p:cNvSpPr>
            <a:spLocks noChangeArrowheads="1"/>
          </p:cNvSpPr>
          <p:nvPr/>
        </p:nvSpPr>
        <p:spPr bwMode="auto">
          <a:xfrm>
            <a:off x="7467600" y="1143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Y</a:t>
            </a:r>
          </a:p>
        </p:txBody>
      </p:sp>
      <p:sp>
        <p:nvSpPr>
          <p:cNvPr id="652322" name="Line 34"/>
          <p:cNvSpPr>
            <a:spLocks noChangeShapeType="1"/>
          </p:cNvSpPr>
          <p:nvPr/>
        </p:nvSpPr>
        <p:spPr bwMode="auto">
          <a:xfrm flipH="1">
            <a:off x="7543800" y="1752600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2323" name="Oval 35" descr="Water droplets"/>
          <p:cNvSpPr>
            <a:spLocks noChangeArrowheads="1"/>
          </p:cNvSpPr>
          <p:nvPr/>
        </p:nvSpPr>
        <p:spPr bwMode="auto">
          <a:xfrm>
            <a:off x="6934200" y="30480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M</a:t>
            </a:r>
          </a:p>
        </p:txBody>
      </p:sp>
      <p:sp>
        <p:nvSpPr>
          <p:cNvPr id="652324" name="Line 36"/>
          <p:cNvSpPr>
            <a:spLocks noChangeShapeType="1"/>
          </p:cNvSpPr>
          <p:nvPr/>
        </p:nvSpPr>
        <p:spPr bwMode="auto">
          <a:xfrm flipV="1">
            <a:off x="6553200" y="3352800"/>
            <a:ext cx="381000" cy="762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2325" name="Text Box 37"/>
          <p:cNvSpPr txBox="1">
            <a:spLocks noChangeArrowheads="1"/>
          </p:cNvSpPr>
          <p:nvPr/>
        </p:nvSpPr>
        <p:spPr bwMode="auto">
          <a:xfrm>
            <a:off x="685800" y="5562600"/>
            <a:ext cx="68580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l">
              <a:buFontTx/>
              <a:buChar char="•"/>
            </a:pPr>
            <a:r>
              <a:rPr lang="en-US"/>
              <a:t> Nodes J and K both broadcast RREQ to node D</a:t>
            </a:r>
          </a:p>
          <a:p>
            <a:pPr algn="l">
              <a:buFontTx/>
              <a:buChar char="•"/>
            </a:pPr>
            <a:r>
              <a:rPr lang="en-US"/>
              <a:t> Since nodes J and K are </a:t>
            </a:r>
            <a:r>
              <a:rPr lang="en-US">
                <a:solidFill>
                  <a:srgbClr val="0000FF"/>
                </a:solidFill>
              </a:rPr>
              <a:t>hidden </a:t>
            </a:r>
            <a:r>
              <a:rPr lang="en-US"/>
              <a:t>from each other, their</a:t>
            </a:r>
          </a:p>
          <a:p>
            <a:pPr algn="l"/>
            <a:r>
              <a:rPr lang="en-US"/>
              <a:t>   </a:t>
            </a:r>
            <a:r>
              <a:rPr lang="en-US">
                <a:solidFill>
                  <a:srgbClr val="A50021"/>
                </a:solidFill>
              </a:rPr>
              <a:t>transmissions may collide</a:t>
            </a:r>
            <a:r>
              <a:rPr lang="en-US"/>
              <a:t> 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652326" name="Oval 38"/>
          <p:cNvSpPr>
            <a:spLocks noChangeArrowheads="1"/>
          </p:cNvSpPr>
          <p:nvPr/>
        </p:nvSpPr>
        <p:spPr bwMode="auto">
          <a:xfrm>
            <a:off x="7391400" y="44196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N</a:t>
            </a:r>
          </a:p>
        </p:txBody>
      </p:sp>
      <p:sp>
        <p:nvSpPr>
          <p:cNvPr id="652327" name="Line 39"/>
          <p:cNvSpPr>
            <a:spLocks noChangeShapeType="1"/>
          </p:cNvSpPr>
          <p:nvPr/>
        </p:nvSpPr>
        <p:spPr bwMode="auto">
          <a:xfrm>
            <a:off x="7239000" y="4419600"/>
            <a:ext cx="228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2328" name="Oval 40"/>
          <p:cNvSpPr>
            <a:spLocks noChangeArrowheads="1"/>
          </p:cNvSpPr>
          <p:nvPr/>
        </p:nvSpPr>
        <p:spPr bwMode="auto">
          <a:xfrm>
            <a:off x="7848600" y="3048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L</a:t>
            </a:r>
          </a:p>
        </p:txBody>
      </p:sp>
      <p:sp>
        <p:nvSpPr>
          <p:cNvPr id="652329" name="Line 41"/>
          <p:cNvSpPr>
            <a:spLocks noChangeShapeType="1"/>
          </p:cNvSpPr>
          <p:nvPr/>
        </p:nvSpPr>
        <p:spPr bwMode="auto">
          <a:xfrm>
            <a:off x="7543800" y="33528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2330" name="Text Box 42"/>
          <p:cNvSpPr txBox="1">
            <a:spLocks noChangeArrowheads="1"/>
          </p:cNvSpPr>
          <p:nvPr/>
        </p:nvSpPr>
        <p:spPr bwMode="auto">
          <a:xfrm>
            <a:off x="6019800" y="4495800"/>
            <a:ext cx="12969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l"/>
            <a:r>
              <a:rPr lang="en-US"/>
              <a:t>[S,C,G,K]</a:t>
            </a:r>
          </a:p>
        </p:txBody>
      </p:sp>
      <p:sp>
        <p:nvSpPr>
          <p:cNvPr id="652331" name="Text Box 43"/>
          <p:cNvSpPr txBox="1">
            <a:spLocks noChangeArrowheads="1"/>
          </p:cNvSpPr>
          <p:nvPr/>
        </p:nvSpPr>
        <p:spPr bwMode="auto">
          <a:xfrm>
            <a:off x="5867400" y="2819400"/>
            <a:ext cx="11985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/>
              <a:t>[S,E,F,J]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Route Discovery in DSR</a:t>
            </a:r>
          </a:p>
        </p:txBody>
      </p:sp>
      <p:sp>
        <p:nvSpPr>
          <p:cNvPr id="4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84FD-C5E5-4333-8976-84CFF122F88B}" type="slidenum">
              <a:rPr lang="en-US"/>
              <a:pPr/>
              <a:t>35</a:t>
            </a:fld>
            <a:endParaRPr lang="en-US"/>
          </a:p>
        </p:txBody>
      </p:sp>
      <p:sp>
        <p:nvSpPr>
          <p:cNvPr id="653315" name="Oval 3" descr="Water droplets"/>
          <p:cNvSpPr>
            <a:spLocks noChangeArrowheads="1"/>
          </p:cNvSpPr>
          <p:nvPr/>
        </p:nvSpPr>
        <p:spPr bwMode="auto">
          <a:xfrm>
            <a:off x="2209800" y="28956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B</a:t>
            </a:r>
          </a:p>
        </p:txBody>
      </p:sp>
      <p:sp>
        <p:nvSpPr>
          <p:cNvPr id="653316" name="Oval 4" descr="Water droplets"/>
          <p:cNvSpPr>
            <a:spLocks noChangeArrowheads="1"/>
          </p:cNvSpPr>
          <p:nvPr/>
        </p:nvSpPr>
        <p:spPr bwMode="auto">
          <a:xfrm>
            <a:off x="1447800" y="35814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A</a:t>
            </a:r>
          </a:p>
        </p:txBody>
      </p:sp>
      <p:sp>
        <p:nvSpPr>
          <p:cNvPr id="653317" name="Oval 5" descr="Water droplets"/>
          <p:cNvSpPr>
            <a:spLocks noChangeArrowheads="1"/>
          </p:cNvSpPr>
          <p:nvPr/>
        </p:nvSpPr>
        <p:spPr bwMode="auto">
          <a:xfrm>
            <a:off x="3124200" y="22860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S</a:t>
            </a:r>
          </a:p>
        </p:txBody>
      </p:sp>
      <p:sp>
        <p:nvSpPr>
          <p:cNvPr id="653318" name="Oval 6" descr="Water droplets"/>
          <p:cNvSpPr>
            <a:spLocks noChangeArrowheads="1"/>
          </p:cNvSpPr>
          <p:nvPr/>
        </p:nvSpPr>
        <p:spPr bwMode="auto">
          <a:xfrm>
            <a:off x="4114800" y="23622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E</a:t>
            </a:r>
          </a:p>
        </p:txBody>
      </p:sp>
      <p:sp>
        <p:nvSpPr>
          <p:cNvPr id="653319" name="Oval 7" descr="Water droplets"/>
          <p:cNvSpPr>
            <a:spLocks noChangeArrowheads="1"/>
          </p:cNvSpPr>
          <p:nvPr/>
        </p:nvSpPr>
        <p:spPr bwMode="auto">
          <a:xfrm>
            <a:off x="5105400" y="27432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F</a:t>
            </a:r>
          </a:p>
        </p:txBody>
      </p:sp>
      <p:sp>
        <p:nvSpPr>
          <p:cNvPr id="653320" name="Oval 8" descr="Water droplets"/>
          <p:cNvSpPr>
            <a:spLocks noChangeArrowheads="1"/>
          </p:cNvSpPr>
          <p:nvPr/>
        </p:nvSpPr>
        <p:spPr bwMode="auto">
          <a:xfrm>
            <a:off x="2667000" y="38862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H</a:t>
            </a:r>
          </a:p>
        </p:txBody>
      </p:sp>
      <p:sp>
        <p:nvSpPr>
          <p:cNvPr id="653321" name="Oval 9" descr="Water droplets"/>
          <p:cNvSpPr>
            <a:spLocks noChangeArrowheads="1"/>
          </p:cNvSpPr>
          <p:nvPr/>
        </p:nvSpPr>
        <p:spPr bwMode="auto">
          <a:xfrm>
            <a:off x="5943600" y="32766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J</a:t>
            </a:r>
          </a:p>
        </p:txBody>
      </p:sp>
      <p:sp>
        <p:nvSpPr>
          <p:cNvPr id="653322" name="Oval 10" descr="Water droplets"/>
          <p:cNvSpPr>
            <a:spLocks noChangeArrowheads="1"/>
          </p:cNvSpPr>
          <p:nvPr/>
        </p:nvSpPr>
        <p:spPr bwMode="auto">
          <a:xfrm>
            <a:off x="6705600" y="38862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D</a:t>
            </a:r>
          </a:p>
        </p:txBody>
      </p:sp>
      <p:sp>
        <p:nvSpPr>
          <p:cNvPr id="653323" name="Oval 11" descr="Water droplets"/>
          <p:cNvSpPr>
            <a:spLocks noChangeArrowheads="1"/>
          </p:cNvSpPr>
          <p:nvPr/>
        </p:nvSpPr>
        <p:spPr bwMode="auto">
          <a:xfrm>
            <a:off x="3505200" y="30480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C</a:t>
            </a:r>
          </a:p>
        </p:txBody>
      </p:sp>
      <p:sp>
        <p:nvSpPr>
          <p:cNvPr id="653324" name="Oval 12" descr="Water droplets"/>
          <p:cNvSpPr>
            <a:spLocks noChangeArrowheads="1"/>
          </p:cNvSpPr>
          <p:nvPr/>
        </p:nvSpPr>
        <p:spPr bwMode="auto">
          <a:xfrm>
            <a:off x="4572000" y="35814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G</a:t>
            </a:r>
          </a:p>
        </p:txBody>
      </p:sp>
      <p:sp>
        <p:nvSpPr>
          <p:cNvPr id="653325" name="Oval 13" descr="Water droplets"/>
          <p:cNvSpPr>
            <a:spLocks noChangeArrowheads="1"/>
          </p:cNvSpPr>
          <p:nvPr/>
        </p:nvSpPr>
        <p:spPr bwMode="auto">
          <a:xfrm>
            <a:off x="3733800" y="44196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I</a:t>
            </a:r>
          </a:p>
        </p:txBody>
      </p:sp>
      <p:sp>
        <p:nvSpPr>
          <p:cNvPr id="653326" name="Oval 14" descr="Water droplets"/>
          <p:cNvSpPr>
            <a:spLocks noChangeArrowheads="1"/>
          </p:cNvSpPr>
          <p:nvPr/>
        </p:nvSpPr>
        <p:spPr bwMode="auto">
          <a:xfrm>
            <a:off x="5486400" y="41148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K</a:t>
            </a:r>
          </a:p>
        </p:txBody>
      </p:sp>
      <p:sp>
        <p:nvSpPr>
          <p:cNvPr id="653327" name="Line 15"/>
          <p:cNvSpPr>
            <a:spLocks noChangeShapeType="1"/>
          </p:cNvSpPr>
          <p:nvPr/>
        </p:nvSpPr>
        <p:spPr bwMode="auto">
          <a:xfrm flipV="1">
            <a:off x="1981200" y="3352800"/>
            <a:ext cx="304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3328" name="Line 16"/>
          <p:cNvSpPr>
            <a:spLocks noChangeShapeType="1"/>
          </p:cNvSpPr>
          <p:nvPr/>
        </p:nvSpPr>
        <p:spPr bwMode="auto">
          <a:xfrm flipV="1">
            <a:off x="2743200" y="2743200"/>
            <a:ext cx="457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3329" name="Line 17"/>
          <p:cNvSpPr>
            <a:spLocks noChangeShapeType="1"/>
          </p:cNvSpPr>
          <p:nvPr/>
        </p:nvSpPr>
        <p:spPr bwMode="auto">
          <a:xfrm>
            <a:off x="2057400" y="3962400"/>
            <a:ext cx="6858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3330" name="Line 18"/>
          <p:cNvSpPr>
            <a:spLocks noChangeShapeType="1"/>
          </p:cNvSpPr>
          <p:nvPr/>
        </p:nvSpPr>
        <p:spPr bwMode="auto">
          <a:xfrm>
            <a:off x="2667000" y="3429000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3331" name="Line 19"/>
          <p:cNvSpPr>
            <a:spLocks noChangeShapeType="1"/>
          </p:cNvSpPr>
          <p:nvPr/>
        </p:nvSpPr>
        <p:spPr bwMode="auto">
          <a:xfrm flipH="1">
            <a:off x="3124200" y="3581400"/>
            <a:ext cx="533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3332" name="Line 20"/>
          <p:cNvSpPr>
            <a:spLocks noChangeShapeType="1"/>
          </p:cNvSpPr>
          <p:nvPr/>
        </p:nvSpPr>
        <p:spPr bwMode="auto">
          <a:xfrm flipH="1">
            <a:off x="3962400" y="28956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3333" name="Line 21"/>
          <p:cNvSpPr>
            <a:spLocks noChangeShapeType="1"/>
          </p:cNvSpPr>
          <p:nvPr/>
        </p:nvSpPr>
        <p:spPr bwMode="auto">
          <a:xfrm>
            <a:off x="4724400" y="2743200"/>
            <a:ext cx="457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3334" name="Line 22"/>
          <p:cNvSpPr>
            <a:spLocks noChangeShapeType="1"/>
          </p:cNvSpPr>
          <p:nvPr/>
        </p:nvSpPr>
        <p:spPr bwMode="auto">
          <a:xfrm flipH="1">
            <a:off x="5029200" y="32766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3335" name="Line 23"/>
          <p:cNvSpPr>
            <a:spLocks noChangeShapeType="1"/>
          </p:cNvSpPr>
          <p:nvPr/>
        </p:nvSpPr>
        <p:spPr bwMode="auto">
          <a:xfrm flipH="1">
            <a:off x="4191000" y="4114800"/>
            <a:ext cx="4572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3336" name="Line 24"/>
          <p:cNvSpPr>
            <a:spLocks noChangeShapeType="1"/>
          </p:cNvSpPr>
          <p:nvPr/>
        </p:nvSpPr>
        <p:spPr bwMode="auto">
          <a:xfrm>
            <a:off x="4114800" y="3505200"/>
            <a:ext cx="457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3337" name="Line 25"/>
          <p:cNvSpPr>
            <a:spLocks noChangeShapeType="1"/>
          </p:cNvSpPr>
          <p:nvPr/>
        </p:nvSpPr>
        <p:spPr bwMode="auto">
          <a:xfrm>
            <a:off x="3200400" y="4343400"/>
            <a:ext cx="5334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3338" name="Line 26"/>
          <p:cNvSpPr>
            <a:spLocks noChangeShapeType="1"/>
          </p:cNvSpPr>
          <p:nvPr/>
        </p:nvSpPr>
        <p:spPr bwMode="auto">
          <a:xfrm>
            <a:off x="5638800" y="3200400"/>
            <a:ext cx="3810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3339" name="Line 27"/>
          <p:cNvSpPr>
            <a:spLocks noChangeShapeType="1"/>
          </p:cNvSpPr>
          <p:nvPr/>
        </p:nvSpPr>
        <p:spPr bwMode="auto">
          <a:xfrm>
            <a:off x="5105400" y="4114800"/>
            <a:ext cx="3810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3340" name="Line 28"/>
          <p:cNvSpPr>
            <a:spLocks noChangeShapeType="1"/>
          </p:cNvSpPr>
          <p:nvPr/>
        </p:nvSpPr>
        <p:spPr bwMode="auto">
          <a:xfrm>
            <a:off x="6477000" y="3733800"/>
            <a:ext cx="3048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3341" name="Line 29"/>
          <p:cNvSpPr>
            <a:spLocks noChangeShapeType="1"/>
          </p:cNvSpPr>
          <p:nvPr/>
        </p:nvSpPr>
        <p:spPr bwMode="auto">
          <a:xfrm flipH="1">
            <a:off x="6096000" y="4267200"/>
            <a:ext cx="609600" cy="76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3342" name="Line 30"/>
          <p:cNvSpPr>
            <a:spLocks noChangeShapeType="1"/>
          </p:cNvSpPr>
          <p:nvPr/>
        </p:nvSpPr>
        <p:spPr bwMode="auto">
          <a:xfrm flipH="1">
            <a:off x="3733800" y="25908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3343" name="Line 31"/>
          <p:cNvSpPr>
            <a:spLocks noChangeShapeType="1"/>
          </p:cNvSpPr>
          <p:nvPr/>
        </p:nvSpPr>
        <p:spPr bwMode="auto">
          <a:xfrm>
            <a:off x="3505200" y="28956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3344" name="Oval 32"/>
          <p:cNvSpPr>
            <a:spLocks noChangeArrowheads="1"/>
          </p:cNvSpPr>
          <p:nvPr/>
        </p:nvSpPr>
        <p:spPr bwMode="auto">
          <a:xfrm>
            <a:off x="7162800" y="1905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Z</a:t>
            </a:r>
          </a:p>
        </p:txBody>
      </p:sp>
      <p:sp>
        <p:nvSpPr>
          <p:cNvPr id="653345" name="Oval 33"/>
          <p:cNvSpPr>
            <a:spLocks noChangeArrowheads="1"/>
          </p:cNvSpPr>
          <p:nvPr/>
        </p:nvSpPr>
        <p:spPr bwMode="auto">
          <a:xfrm>
            <a:off x="7467600" y="1143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Y</a:t>
            </a:r>
          </a:p>
        </p:txBody>
      </p:sp>
      <p:sp>
        <p:nvSpPr>
          <p:cNvPr id="653346" name="Line 34"/>
          <p:cNvSpPr>
            <a:spLocks noChangeShapeType="1"/>
          </p:cNvSpPr>
          <p:nvPr/>
        </p:nvSpPr>
        <p:spPr bwMode="auto">
          <a:xfrm flipH="1">
            <a:off x="7543800" y="1752600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3347" name="Text Box 35"/>
          <p:cNvSpPr txBox="1">
            <a:spLocks noChangeArrowheads="1"/>
          </p:cNvSpPr>
          <p:nvPr/>
        </p:nvSpPr>
        <p:spPr bwMode="auto">
          <a:xfrm>
            <a:off x="1066800" y="5715000"/>
            <a:ext cx="6256338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l">
              <a:buFontTx/>
              <a:buChar char="•"/>
            </a:pPr>
            <a:r>
              <a:rPr lang="en-US"/>
              <a:t> Node D </a:t>
            </a:r>
            <a:r>
              <a:rPr lang="en-US">
                <a:solidFill>
                  <a:srgbClr val="A50021"/>
                </a:solidFill>
              </a:rPr>
              <a:t>does not forward</a:t>
            </a:r>
            <a:r>
              <a:rPr lang="en-US"/>
              <a:t> RREQ, because node D</a:t>
            </a:r>
          </a:p>
          <a:p>
            <a:pPr algn="l"/>
            <a:r>
              <a:rPr lang="en-US"/>
              <a:t>   is the </a:t>
            </a:r>
            <a:r>
              <a:rPr lang="en-US">
                <a:solidFill>
                  <a:schemeClr val="accent1"/>
                </a:solidFill>
              </a:rPr>
              <a:t>intended target </a:t>
            </a:r>
            <a:r>
              <a:rPr lang="en-US"/>
              <a:t>of the route discovery</a:t>
            </a:r>
          </a:p>
        </p:txBody>
      </p:sp>
      <p:sp>
        <p:nvSpPr>
          <p:cNvPr id="653348" name="Oval 36" descr="Water droplets"/>
          <p:cNvSpPr>
            <a:spLocks noChangeArrowheads="1"/>
          </p:cNvSpPr>
          <p:nvPr/>
        </p:nvSpPr>
        <p:spPr bwMode="auto">
          <a:xfrm>
            <a:off x="6934200" y="30480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M</a:t>
            </a:r>
          </a:p>
        </p:txBody>
      </p:sp>
      <p:sp>
        <p:nvSpPr>
          <p:cNvPr id="653349" name="Line 37"/>
          <p:cNvSpPr>
            <a:spLocks noChangeShapeType="1"/>
          </p:cNvSpPr>
          <p:nvPr/>
        </p:nvSpPr>
        <p:spPr bwMode="auto">
          <a:xfrm flipV="1">
            <a:off x="6553200" y="3352800"/>
            <a:ext cx="381000" cy="762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3350" name="Oval 38"/>
          <p:cNvSpPr>
            <a:spLocks noChangeArrowheads="1"/>
          </p:cNvSpPr>
          <p:nvPr/>
        </p:nvSpPr>
        <p:spPr bwMode="auto">
          <a:xfrm>
            <a:off x="7391400" y="44196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N</a:t>
            </a:r>
          </a:p>
        </p:txBody>
      </p:sp>
      <p:sp>
        <p:nvSpPr>
          <p:cNvPr id="653351" name="Line 39"/>
          <p:cNvSpPr>
            <a:spLocks noChangeShapeType="1"/>
          </p:cNvSpPr>
          <p:nvPr/>
        </p:nvSpPr>
        <p:spPr bwMode="auto">
          <a:xfrm>
            <a:off x="7239000" y="4419600"/>
            <a:ext cx="228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3352" name="Oval 40" descr="Water droplets"/>
          <p:cNvSpPr>
            <a:spLocks noChangeArrowheads="1"/>
          </p:cNvSpPr>
          <p:nvPr/>
        </p:nvSpPr>
        <p:spPr bwMode="auto">
          <a:xfrm>
            <a:off x="7848600" y="30480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L</a:t>
            </a:r>
          </a:p>
        </p:txBody>
      </p:sp>
      <p:sp>
        <p:nvSpPr>
          <p:cNvPr id="653353" name="Line 41"/>
          <p:cNvSpPr>
            <a:spLocks noChangeShapeType="1"/>
          </p:cNvSpPr>
          <p:nvPr/>
        </p:nvSpPr>
        <p:spPr bwMode="auto">
          <a:xfrm>
            <a:off x="7543800" y="3352800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3354" name="Text Box 42"/>
          <p:cNvSpPr txBox="1">
            <a:spLocks noChangeArrowheads="1"/>
          </p:cNvSpPr>
          <p:nvPr/>
        </p:nvSpPr>
        <p:spPr bwMode="auto">
          <a:xfrm>
            <a:off x="6705600" y="2667000"/>
            <a:ext cx="14795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/>
              <a:t>[S,E,F,J,M]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Route Discovery in DSR</a:t>
            </a:r>
          </a:p>
        </p:txBody>
      </p:sp>
      <p:sp>
        <p:nvSpPr>
          <p:cNvPr id="65638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/>
          </a:p>
          <a:p>
            <a:r>
              <a:rPr lang="en-US"/>
              <a:t>Destination D on receiving the first RREQ, sends a </a:t>
            </a:r>
            <a:r>
              <a:rPr lang="en-US">
                <a:solidFill>
                  <a:srgbClr val="339933"/>
                </a:solidFill>
              </a:rPr>
              <a:t>Route Reply (RREP)</a:t>
            </a:r>
          </a:p>
          <a:p>
            <a:endParaRPr lang="en-US">
              <a:solidFill>
                <a:srgbClr val="339933"/>
              </a:solidFill>
            </a:endParaRPr>
          </a:p>
          <a:p>
            <a:r>
              <a:rPr lang="en-US"/>
              <a:t>RREP is sent on a route obtained by </a:t>
            </a:r>
            <a:r>
              <a:rPr lang="en-US">
                <a:solidFill>
                  <a:srgbClr val="FF0000"/>
                </a:solidFill>
              </a:rPr>
              <a:t>reversing</a:t>
            </a:r>
            <a:r>
              <a:rPr lang="en-US"/>
              <a:t> the route appended to received RREQ</a:t>
            </a:r>
          </a:p>
          <a:p>
            <a:pPr lvl="1"/>
            <a:endParaRPr lang="en-US">
              <a:solidFill>
                <a:srgbClr val="0000FF"/>
              </a:solidFill>
            </a:endParaRPr>
          </a:p>
          <a:p>
            <a:r>
              <a:rPr lang="en-US"/>
              <a:t>RREP </a:t>
            </a:r>
            <a:r>
              <a:rPr lang="en-US">
                <a:solidFill>
                  <a:srgbClr val="0000FF"/>
                </a:solidFill>
              </a:rPr>
              <a:t>includes the route</a:t>
            </a:r>
            <a:r>
              <a:rPr lang="en-US"/>
              <a:t> from S to D on which RREQ was received by node D</a:t>
            </a:r>
            <a:endParaRPr lang="en-US" sz="200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1CED5-F7F9-46A6-9367-BF9DA7C98D34}" type="slidenum">
              <a:rPr lang="en-US"/>
              <a:pPr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Route Reply in DSR</a:t>
            </a:r>
          </a:p>
        </p:txBody>
      </p:sp>
      <p:sp>
        <p:nvSpPr>
          <p:cNvPr id="4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392BE-2C2F-420E-9103-C0765BA270A7}" type="slidenum">
              <a:rPr lang="en-US"/>
              <a:pPr/>
              <a:t>37</a:t>
            </a:fld>
            <a:endParaRPr lang="en-US"/>
          </a:p>
        </p:txBody>
      </p:sp>
      <p:sp>
        <p:nvSpPr>
          <p:cNvPr id="658435" name="Oval 3" descr="Water droplets"/>
          <p:cNvSpPr>
            <a:spLocks noChangeArrowheads="1"/>
          </p:cNvSpPr>
          <p:nvPr/>
        </p:nvSpPr>
        <p:spPr bwMode="auto">
          <a:xfrm>
            <a:off x="2209800" y="28956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B</a:t>
            </a:r>
          </a:p>
        </p:txBody>
      </p:sp>
      <p:sp>
        <p:nvSpPr>
          <p:cNvPr id="658436" name="Oval 4" descr="Water droplets"/>
          <p:cNvSpPr>
            <a:spLocks noChangeArrowheads="1"/>
          </p:cNvSpPr>
          <p:nvPr/>
        </p:nvSpPr>
        <p:spPr bwMode="auto">
          <a:xfrm>
            <a:off x="1447800" y="35814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A</a:t>
            </a:r>
          </a:p>
        </p:txBody>
      </p:sp>
      <p:sp>
        <p:nvSpPr>
          <p:cNvPr id="658437" name="Oval 5" descr="Water droplets"/>
          <p:cNvSpPr>
            <a:spLocks noChangeArrowheads="1"/>
          </p:cNvSpPr>
          <p:nvPr/>
        </p:nvSpPr>
        <p:spPr bwMode="auto">
          <a:xfrm>
            <a:off x="3124200" y="22860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S</a:t>
            </a:r>
          </a:p>
        </p:txBody>
      </p:sp>
      <p:sp>
        <p:nvSpPr>
          <p:cNvPr id="658438" name="Oval 6" descr="Water droplets"/>
          <p:cNvSpPr>
            <a:spLocks noChangeArrowheads="1"/>
          </p:cNvSpPr>
          <p:nvPr/>
        </p:nvSpPr>
        <p:spPr bwMode="auto">
          <a:xfrm>
            <a:off x="4114800" y="23622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E</a:t>
            </a:r>
          </a:p>
        </p:txBody>
      </p:sp>
      <p:sp>
        <p:nvSpPr>
          <p:cNvPr id="658439" name="Oval 7" descr="Water droplets"/>
          <p:cNvSpPr>
            <a:spLocks noChangeArrowheads="1"/>
          </p:cNvSpPr>
          <p:nvPr/>
        </p:nvSpPr>
        <p:spPr bwMode="auto">
          <a:xfrm>
            <a:off x="5105400" y="27432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F</a:t>
            </a:r>
          </a:p>
        </p:txBody>
      </p:sp>
      <p:sp>
        <p:nvSpPr>
          <p:cNvPr id="658440" name="Oval 8" descr="Water droplets"/>
          <p:cNvSpPr>
            <a:spLocks noChangeArrowheads="1"/>
          </p:cNvSpPr>
          <p:nvPr/>
        </p:nvSpPr>
        <p:spPr bwMode="auto">
          <a:xfrm>
            <a:off x="2667000" y="38862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H</a:t>
            </a:r>
          </a:p>
        </p:txBody>
      </p:sp>
      <p:sp>
        <p:nvSpPr>
          <p:cNvPr id="658441" name="Oval 9" descr="Water droplets"/>
          <p:cNvSpPr>
            <a:spLocks noChangeArrowheads="1"/>
          </p:cNvSpPr>
          <p:nvPr/>
        </p:nvSpPr>
        <p:spPr bwMode="auto">
          <a:xfrm>
            <a:off x="5943600" y="32766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J</a:t>
            </a:r>
          </a:p>
        </p:txBody>
      </p:sp>
      <p:sp>
        <p:nvSpPr>
          <p:cNvPr id="658442" name="Oval 10" descr="Water droplets"/>
          <p:cNvSpPr>
            <a:spLocks noChangeArrowheads="1"/>
          </p:cNvSpPr>
          <p:nvPr/>
        </p:nvSpPr>
        <p:spPr bwMode="auto">
          <a:xfrm>
            <a:off x="6705600" y="38862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D</a:t>
            </a:r>
          </a:p>
        </p:txBody>
      </p:sp>
      <p:sp>
        <p:nvSpPr>
          <p:cNvPr id="658443" name="Oval 11" descr="Water droplets"/>
          <p:cNvSpPr>
            <a:spLocks noChangeArrowheads="1"/>
          </p:cNvSpPr>
          <p:nvPr/>
        </p:nvSpPr>
        <p:spPr bwMode="auto">
          <a:xfrm>
            <a:off x="3505200" y="30480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C</a:t>
            </a:r>
          </a:p>
        </p:txBody>
      </p:sp>
      <p:sp>
        <p:nvSpPr>
          <p:cNvPr id="658444" name="Oval 12" descr="Water droplets"/>
          <p:cNvSpPr>
            <a:spLocks noChangeArrowheads="1"/>
          </p:cNvSpPr>
          <p:nvPr/>
        </p:nvSpPr>
        <p:spPr bwMode="auto">
          <a:xfrm>
            <a:off x="4572000" y="35814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G</a:t>
            </a:r>
          </a:p>
        </p:txBody>
      </p:sp>
      <p:sp>
        <p:nvSpPr>
          <p:cNvPr id="658445" name="Oval 13" descr="Water droplets"/>
          <p:cNvSpPr>
            <a:spLocks noChangeArrowheads="1"/>
          </p:cNvSpPr>
          <p:nvPr/>
        </p:nvSpPr>
        <p:spPr bwMode="auto">
          <a:xfrm>
            <a:off x="3733800" y="44196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I</a:t>
            </a:r>
          </a:p>
        </p:txBody>
      </p:sp>
      <p:sp>
        <p:nvSpPr>
          <p:cNvPr id="658446" name="Oval 14" descr="Water droplets"/>
          <p:cNvSpPr>
            <a:spLocks noChangeArrowheads="1"/>
          </p:cNvSpPr>
          <p:nvPr/>
        </p:nvSpPr>
        <p:spPr bwMode="auto">
          <a:xfrm>
            <a:off x="5486400" y="41148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K</a:t>
            </a:r>
          </a:p>
        </p:txBody>
      </p:sp>
      <p:sp>
        <p:nvSpPr>
          <p:cNvPr id="658447" name="Line 15"/>
          <p:cNvSpPr>
            <a:spLocks noChangeShapeType="1"/>
          </p:cNvSpPr>
          <p:nvPr/>
        </p:nvSpPr>
        <p:spPr bwMode="auto">
          <a:xfrm flipV="1">
            <a:off x="1981200" y="3352800"/>
            <a:ext cx="304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8448" name="Line 16"/>
          <p:cNvSpPr>
            <a:spLocks noChangeShapeType="1"/>
          </p:cNvSpPr>
          <p:nvPr/>
        </p:nvSpPr>
        <p:spPr bwMode="auto">
          <a:xfrm flipV="1">
            <a:off x="2743200" y="2743200"/>
            <a:ext cx="457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8449" name="Line 17"/>
          <p:cNvSpPr>
            <a:spLocks noChangeShapeType="1"/>
          </p:cNvSpPr>
          <p:nvPr/>
        </p:nvSpPr>
        <p:spPr bwMode="auto">
          <a:xfrm>
            <a:off x="2057400" y="3962400"/>
            <a:ext cx="6858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8450" name="Line 18"/>
          <p:cNvSpPr>
            <a:spLocks noChangeShapeType="1"/>
          </p:cNvSpPr>
          <p:nvPr/>
        </p:nvSpPr>
        <p:spPr bwMode="auto">
          <a:xfrm>
            <a:off x="2667000" y="3429000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8451" name="Line 19"/>
          <p:cNvSpPr>
            <a:spLocks noChangeShapeType="1"/>
          </p:cNvSpPr>
          <p:nvPr/>
        </p:nvSpPr>
        <p:spPr bwMode="auto">
          <a:xfrm flipH="1">
            <a:off x="3124200" y="3581400"/>
            <a:ext cx="533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8452" name="Line 20"/>
          <p:cNvSpPr>
            <a:spLocks noChangeShapeType="1"/>
          </p:cNvSpPr>
          <p:nvPr/>
        </p:nvSpPr>
        <p:spPr bwMode="auto">
          <a:xfrm flipH="1">
            <a:off x="3962400" y="28956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8453" name="Line 21"/>
          <p:cNvSpPr>
            <a:spLocks noChangeShapeType="1"/>
          </p:cNvSpPr>
          <p:nvPr/>
        </p:nvSpPr>
        <p:spPr bwMode="auto">
          <a:xfrm>
            <a:off x="4724400" y="2743200"/>
            <a:ext cx="457200" cy="15240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8454" name="Line 22"/>
          <p:cNvSpPr>
            <a:spLocks noChangeShapeType="1"/>
          </p:cNvSpPr>
          <p:nvPr/>
        </p:nvSpPr>
        <p:spPr bwMode="auto">
          <a:xfrm flipH="1">
            <a:off x="5029200" y="32766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8455" name="Line 23"/>
          <p:cNvSpPr>
            <a:spLocks noChangeShapeType="1"/>
          </p:cNvSpPr>
          <p:nvPr/>
        </p:nvSpPr>
        <p:spPr bwMode="auto">
          <a:xfrm flipH="1">
            <a:off x="4191000" y="4114800"/>
            <a:ext cx="4572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8456" name="Line 24"/>
          <p:cNvSpPr>
            <a:spLocks noChangeShapeType="1"/>
          </p:cNvSpPr>
          <p:nvPr/>
        </p:nvSpPr>
        <p:spPr bwMode="auto">
          <a:xfrm>
            <a:off x="4114800" y="3505200"/>
            <a:ext cx="457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8457" name="Line 25"/>
          <p:cNvSpPr>
            <a:spLocks noChangeShapeType="1"/>
          </p:cNvSpPr>
          <p:nvPr/>
        </p:nvSpPr>
        <p:spPr bwMode="auto">
          <a:xfrm>
            <a:off x="3200400" y="4343400"/>
            <a:ext cx="5334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8458" name="Line 26"/>
          <p:cNvSpPr>
            <a:spLocks noChangeShapeType="1"/>
          </p:cNvSpPr>
          <p:nvPr/>
        </p:nvSpPr>
        <p:spPr bwMode="auto">
          <a:xfrm>
            <a:off x="5638800" y="3200400"/>
            <a:ext cx="381000" cy="15240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8459" name="Line 27"/>
          <p:cNvSpPr>
            <a:spLocks noChangeShapeType="1"/>
          </p:cNvSpPr>
          <p:nvPr/>
        </p:nvSpPr>
        <p:spPr bwMode="auto">
          <a:xfrm>
            <a:off x="5105400" y="4114800"/>
            <a:ext cx="3810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8460" name="Line 28"/>
          <p:cNvSpPr>
            <a:spLocks noChangeShapeType="1"/>
          </p:cNvSpPr>
          <p:nvPr/>
        </p:nvSpPr>
        <p:spPr bwMode="auto">
          <a:xfrm>
            <a:off x="6477000" y="3733800"/>
            <a:ext cx="304800" cy="22860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8461" name="Line 29"/>
          <p:cNvSpPr>
            <a:spLocks noChangeShapeType="1"/>
          </p:cNvSpPr>
          <p:nvPr/>
        </p:nvSpPr>
        <p:spPr bwMode="auto">
          <a:xfrm flipH="1">
            <a:off x="6096000" y="4267200"/>
            <a:ext cx="609600" cy="76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8462" name="Line 30"/>
          <p:cNvSpPr>
            <a:spLocks noChangeShapeType="1"/>
          </p:cNvSpPr>
          <p:nvPr/>
        </p:nvSpPr>
        <p:spPr bwMode="auto">
          <a:xfrm flipH="1">
            <a:off x="3733800" y="2590800"/>
            <a:ext cx="381000" cy="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8463" name="Line 31"/>
          <p:cNvSpPr>
            <a:spLocks noChangeShapeType="1"/>
          </p:cNvSpPr>
          <p:nvPr/>
        </p:nvSpPr>
        <p:spPr bwMode="auto">
          <a:xfrm>
            <a:off x="3505200" y="28956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8464" name="Oval 32"/>
          <p:cNvSpPr>
            <a:spLocks noChangeArrowheads="1"/>
          </p:cNvSpPr>
          <p:nvPr/>
        </p:nvSpPr>
        <p:spPr bwMode="auto">
          <a:xfrm>
            <a:off x="7162800" y="1905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Z</a:t>
            </a:r>
          </a:p>
        </p:txBody>
      </p:sp>
      <p:sp>
        <p:nvSpPr>
          <p:cNvPr id="658465" name="Oval 33"/>
          <p:cNvSpPr>
            <a:spLocks noChangeArrowheads="1"/>
          </p:cNvSpPr>
          <p:nvPr/>
        </p:nvSpPr>
        <p:spPr bwMode="auto">
          <a:xfrm>
            <a:off x="7467600" y="1143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Y</a:t>
            </a:r>
          </a:p>
        </p:txBody>
      </p:sp>
      <p:sp>
        <p:nvSpPr>
          <p:cNvPr id="658466" name="Line 34"/>
          <p:cNvSpPr>
            <a:spLocks noChangeShapeType="1"/>
          </p:cNvSpPr>
          <p:nvPr/>
        </p:nvSpPr>
        <p:spPr bwMode="auto">
          <a:xfrm flipH="1">
            <a:off x="7543800" y="1752600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8468" name="Oval 36" descr="Water droplets"/>
          <p:cNvSpPr>
            <a:spLocks noChangeArrowheads="1"/>
          </p:cNvSpPr>
          <p:nvPr/>
        </p:nvSpPr>
        <p:spPr bwMode="auto">
          <a:xfrm>
            <a:off x="6934200" y="30480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M</a:t>
            </a:r>
          </a:p>
        </p:txBody>
      </p:sp>
      <p:sp>
        <p:nvSpPr>
          <p:cNvPr id="658470" name="Oval 38"/>
          <p:cNvSpPr>
            <a:spLocks noChangeArrowheads="1"/>
          </p:cNvSpPr>
          <p:nvPr/>
        </p:nvSpPr>
        <p:spPr bwMode="auto">
          <a:xfrm>
            <a:off x="7391400" y="44196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N</a:t>
            </a:r>
          </a:p>
        </p:txBody>
      </p:sp>
      <p:sp>
        <p:nvSpPr>
          <p:cNvPr id="658471" name="Line 39"/>
          <p:cNvSpPr>
            <a:spLocks noChangeShapeType="1"/>
          </p:cNvSpPr>
          <p:nvPr/>
        </p:nvSpPr>
        <p:spPr bwMode="auto">
          <a:xfrm>
            <a:off x="7239000" y="4419600"/>
            <a:ext cx="228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8472" name="Oval 40" descr="Water droplets"/>
          <p:cNvSpPr>
            <a:spLocks noChangeArrowheads="1"/>
          </p:cNvSpPr>
          <p:nvPr/>
        </p:nvSpPr>
        <p:spPr bwMode="auto">
          <a:xfrm>
            <a:off x="7848600" y="30480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L</a:t>
            </a:r>
          </a:p>
        </p:txBody>
      </p:sp>
      <p:sp>
        <p:nvSpPr>
          <p:cNvPr id="658475" name="Line 43"/>
          <p:cNvSpPr>
            <a:spLocks noChangeShapeType="1"/>
          </p:cNvSpPr>
          <p:nvPr/>
        </p:nvSpPr>
        <p:spPr bwMode="auto">
          <a:xfrm flipV="1">
            <a:off x="6553200" y="3352800"/>
            <a:ext cx="3810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8476" name="Line 44"/>
          <p:cNvSpPr>
            <a:spLocks noChangeShapeType="1"/>
          </p:cNvSpPr>
          <p:nvPr/>
        </p:nvSpPr>
        <p:spPr bwMode="auto">
          <a:xfrm>
            <a:off x="7543800" y="33528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8478" name="Text Box 46"/>
          <p:cNvSpPr txBox="1">
            <a:spLocks noChangeArrowheads="1"/>
          </p:cNvSpPr>
          <p:nvPr/>
        </p:nvSpPr>
        <p:spPr bwMode="auto">
          <a:xfrm>
            <a:off x="4800600" y="2286000"/>
            <a:ext cx="22304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>
                <a:solidFill>
                  <a:srgbClr val="A50021"/>
                </a:solidFill>
              </a:rPr>
              <a:t>RREP [S,E,F,J,D]</a:t>
            </a:r>
            <a:endParaRPr lang="en-US"/>
          </a:p>
        </p:txBody>
      </p:sp>
      <p:sp>
        <p:nvSpPr>
          <p:cNvPr id="658479" name="Line 47"/>
          <p:cNvSpPr>
            <a:spLocks noChangeShapeType="1"/>
          </p:cNvSpPr>
          <p:nvPr/>
        </p:nvSpPr>
        <p:spPr bwMode="auto">
          <a:xfrm flipH="1">
            <a:off x="1143000" y="6248400"/>
            <a:ext cx="381000" cy="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8481" name="Text Box 49"/>
          <p:cNvSpPr txBox="1">
            <a:spLocks noChangeArrowheads="1"/>
          </p:cNvSpPr>
          <p:nvPr/>
        </p:nvSpPr>
        <p:spPr bwMode="auto">
          <a:xfrm>
            <a:off x="1676400" y="6019800"/>
            <a:ext cx="44338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l"/>
            <a:r>
              <a:rPr lang="en-US"/>
              <a:t>Represents RREP control message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762000"/>
          </a:xfrm>
        </p:spPr>
        <p:txBody>
          <a:bodyPr>
            <a:normAutofit fontScale="90000"/>
          </a:bodyPr>
          <a:lstStyle/>
          <a:p>
            <a:r>
              <a:rPr lang="en-US" dirty="0"/>
              <a:t>Route Reply in DSR</a:t>
            </a:r>
          </a:p>
        </p:txBody>
      </p:sp>
      <p:sp>
        <p:nvSpPr>
          <p:cNvPr id="686083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600200"/>
            <a:ext cx="7772400" cy="45720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Route Reply can be sent by reversing the route in Route Request (RREQ) only if links are guaranteed to be bi-directional</a:t>
            </a:r>
          </a:p>
          <a:p>
            <a:pPr lvl="1"/>
            <a:r>
              <a:rPr lang="en-US" dirty="0"/>
              <a:t>To ensure this, RREQ should be forwarded only if it received on a link that is known to be bi-directional</a:t>
            </a:r>
          </a:p>
          <a:p>
            <a:endParaRPr lang="en-US" dirty="0"/>
          </a:p>
          <a:p>
            <a:r>
              <a:rPr lang="en-US" dirty="0"/>
              <a:t>If unidirectional (asymmetric) links are allowed, then RREP may need a route discovery for S from node D </a:t>
            </a:r>
          </a:p>
          <a:p>
            <a:pPr lvl="1"/>
            <a:r>
              <a:rPr lang="en-US" dirty="0"/>
              <a:t>Unless node D already knows a route to node S</a:t>
            </a:r>
          </a:p>
          <a:p>
            <a:pPr lvl="1"/>
            <a:r>
              <a:rPr lang="en-US" dirty="0"/>
              <a:t>If a route discovery is initiated by D for a route to S, then the Route Reply is piggybacked on  the Route Request from D.</a:t>
            </a:r>
          </a:p>
          <a:p>
            <a:endParaRPr lang="en-US" dirty="0"/>
          </a:p>
          <a:p>
            <a:r>
              <a:rPr lang="en-US" dirty="0"/>
              <a:t>If IEEE 802.11 MAC is used to send data, then links have to be bi-directional (since </a:t>
            </a:r>
            <a:r>
              <a:rPr lang="en-US" dirty="0" err="1"/>
              <a:t>Ack</a:t>
            </a:r>
            <a:r>
              <a:rPr lang="en-US" dirty="0"/>
              <a:t> is used)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569EA-79A0-4909-B8B9-4B888E87929B}" type="slidenum">
              <a:rPr lang="en-US"/>
              <a:pPr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Dynamic Source Routing (DSR)</a:t>
            </a:r>
          </a:p>
        </p:txBody>
      </p:sp>
      <p:sp>
        <p:nvSpPr>
          <p:cNvPr id="65741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sz="2000"/>
          </a:p>
          <a:p>
            <a:r>
              <a:rPr lang="en-US"/>
              <a:t>Node S on receiving RREP, caches the route included in the RREP</a:t>
            </a:r>
          </a:p>
          <a:p>
            <a:endParaRPr lang="en-US"/>
          </a:p>
          <a:p>
            <a:r>
              <a:rPr lang="en-US"/>
              <a:t>When node S sends a data packet to D, the entire route is included in the packet header</a:t>
            </a:r>
          </a:p>
          <a:p>
            <a:pPr lvl="1"/>
            <a:r>
              <a:rPr lang="en-US"/>
              <a:t>hence the name </a:t>
            </a:r>
            <a:r>
              <a:rPr lang="en-US">
                <a:solidFill>
                  <a:srgbClr val="339933"/>
                </a:solidFill>
              </a:rPr>
              <a:t>source routing</a:t>
            </a:r>
          </a:p>
          <a:p>
            <a:pPr lvl="1"/>
            <a:endParaRPr lang="en-US">
              <a:solidFill>
                <a:srgbClr val="339933"/>
              </a:solidFill>
            </a:endParaRPr>
          </a:p>
          <a:p>
            <a:r>
              <a:rPr lang="en-US"/>
              <a:t>Intermediate nodes use the </a:t>
            </a:r>
            <a:r>
              <a:rPr lang="en-US">
                <a:solidFill>
                  <a:schemeClr val="accent1"/>
                </a:solidFill>
              </a:rPr>
              <a:t>source route</a:t>
            </a:r>
            <a:r>
              <a:rPr lang="en-US"/>
              <a:t> included in a packet to determine to whom a packet should be forwarded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50A5F-6960-4E4C-ADE5-A7A738826D21}" type="slidenum">
              <a:rPr lang="en-US"/>
              <a:pPr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Delivery in DSR</a:t>
            </a:r>
          </a:p>
        </p:txBody>
      </p:sp>
      <p:sp>
        <p:nvSpPr>
          <p:cNvPr id="4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DB4AA-E825-4ABE-B317-58726CBE2834}" type="slidenum">
              <a:rPr lang="en-US"/>
              <a:pPr/>
              <a:t>40</a:t>
            </a:fld>
            <a:endParaRPr lang="en-US"/>
          </a:p>
        </p:txBody>
      </p:sp>
      <p:sp>
        <p:nvSpPr>
          <p:cNvPr id="660483" name="Oval 3" descr="Water droplets"/>
          <p:cNvSpPr>
            <a:spLocks noChangeArrowheads="1"/>
          </p:cNvSpPr>
          <p:nvPr/>
        </p:nvSpPr>
        <p:spPr bwMode="auto">
          <a:xfrm>
            <a:off x="2209800" y="28956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B</a:t>
            </a:r>
          </a:p>
        </p:txBody>
      </p:sp>
      <p:sp>
        <p:nvSpPr>
          <p:cNvPr id="660484" name="Oval 4" descr="Water droplets"/>
          <p:cNvSpPr>
            <a:spLocks noChangeArrowheads="1"/>
          </p:cNvSpPr>
          <p:nvPr/>
        </p:nvSpPr>
        <p:spPr bwMode="auto">
          <a:xfrm>
            <a:off x="1447800" y="35814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A</a:t>
            </a:r>
          </a:p>
        </p:txBody>
      </p:sp>
      <p:sp>
        <p:nvSpPr>
          <p:cNvPr id="660485" name="Oval 5" descr="Water droplets"/>
          <p:cNvSpPr>
            <a:spLocks noChangeArrowheads="1"/>
          </p:cNvSpPr>
          <p:nvPr/>
        </p:nvSpPr>
        <p:spPr bwMode="auto">
          <a:xfrm>
            <a:off x="3124200" y="22860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S</a:t>
            </a:r>
          </a:p>
        </p:txBody>
      </p:sp>
      <p:sp>
        <p:nvSpPr>
          <p:cNvPr id="660486" name="Oval 6" descr="Water droplets"/>
          <p:cNvSpPr>
            <a:spLocks noChangeArrowheads="1"/>
          </p:cNvSpPr>
          <p:nvPr/>
        </p:nvSpPr>
        <p:spPr bwMode="auto">
          <a:xfrm>
            <a:off x="4114800" y="23622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E</a:t>
            </a:r>
          </a:p>
        </p:txBody>
      </p:sp>
      <p:sp>
        <p:nvSpPr>
          <p:cNvPr id="660487" name="Oval 7" descr="Water droplets"/>
          <p:cNvSpPr>
            <a:spLocks noChangeArrowheads="1"/>
          </p:cNvSpPr>
          <p:nvPr/>
        </p:nvSpPr>
        <p:spPr bwMode="auto">
          <a:xfrm>
            <a:off x="5105400" y="27432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F</a:t>
            </a:r>
          </a:p>
        </p:txBody>
      </p:sp>
      <p:sp>
        <p:nvSpPr>
          <p:cNvPr id="660488" name="Oval 8" descr="Water droplets"/>
          <p:cNvSpPr>
            <a:spLocks noChangeArrowheads="1"/>
          </p:cNvSpPr>
          <p:nvPr/>
        </p:nvSpPr>
        <p:spPr bwMode="auto">
          <a:xfrm>
            <a:off x="2667000" y="38862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H</a:t>
            </a:r>
          </a:p>
        </p:txBody>
      </p:sp>
      <p:sp>
        <p:nvSpPr>
          <p:cNvPr id="660489" name="Oval 9" descr="Water droplets"/>
          <p:cNvSpPr>
            <a:spLocks noChangeArrowheads="1"/>
          </p:cNvSpPr>
          <p:nvPr/>
        </p:nvSpPr>
        <p:spPr bwMode="auto">
          <a:xfrm>
            <a:off x="5943600" y="32766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J</a:t>
            </a:r>
          </a:p>
        </p:txBody>
      </p:sp>
      <p:sp>
        <p:nvSpPr>
          <p:cNvPr id="660490" name="Oval 10" descr="Water droplets"/>
          <p:cNvSpPr>
            <a:spLocks noChangeArrowheads="1"/>
          </p:cNvSpPr>
          <p:nvPr/>
        </p:nvSpPr>
        <p:spPr bwMode="auto">
          <a:xfrm>
            <a:off x="6705600" y="38862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D</a:t>
            </a:r>
          </a:p>
        </p:txBody>
      </p:sp>
      <p:sp>
        <p:nvSpPr>
          <p:cNvPr id="660491" name="Oval 11" descr="Water droplets"/>
          <p:cNvSpPr>
            <a:spLocks noChangeArrowheads="1"/>
          </p:cNvSpPr>
          <p:nvPr/>
        </p:nvSpPr>
        <p:spPr bwMode="auto">
          <a:xfrm>
            <a:off x="3505200" y="30480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C</a:t>
            </a:r>
          </a:p>
        </p:txBody>
      </p:sp>
      <p:sp>
        <p:nvSpPr>
          <p:cNvPr id="660492" name="Oval 12" descr="Water droplets"/>
          <p:cNvSpPr>
            <a:spLocks noChangeArrowheads="1"/>
          </p:cNvSpPr>
          <p:nvPr/>
        </p:nvSpPr>
        <p:spPr bwMode="auto">
          <a:xfrm>
            <a:off x="4572000" y="35814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G</a:t>
            </a:r>
          </a:p>
        </p:txBody>
      </p:sp>
      <p:sp>
        <p:nvSpPr>
          <p:cNvPr id="660493" name="Oval 13" descr="Water droplets"/>
          <p:cNvSpPr>
            <a:spLocks noChangeArrowheads="1"/>
          </p:cNvSpPr>
          <p:nvPr/>
        </p:nvSpPr>
        <p:spPr bwMode="auto">
          <a:xfrm>
            <a:off x="3733800" y="44196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I</a:t>
            </a:r>
          </a:p>
        </p:txBody>
      </p:sp>
      <p:sp>
        <p:nvSpPr>
          <p:cNvPr id="660494" name="Oval 14" descr="Water droplets"/>
          <p:cNvSpPr>
            <a:spLocks noChangeArrowheads="1"/>
          </p:cNvSpPr>
          <p:nvPr/>
        </p:nvSpPr>
        <p:spPr bwMode="auto">
          <a:xfrm>
            <a:off x="5486400" y="41148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K</a:t>
            </a:r>
          </a:p>
        </p:txBody>
      </p:sp>
      <p:sp>
        <p:nvSpPr>
          <p:cNvPr id="660495" name="Line 15"/>
          <p:cNvSpPr>
            <a:spLocks noChangeShapeType="1"/>
          </p:cNvSpPr>
          <p:nvPr/>
        </p:nvSpPr>
        <p:spPr bwMode="auto">
          <a:xfrm flipV="1">
            <a:off x="1981200" y="3352800"/>
            <a:ext cx="304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0496" name="Line 16"/>
          <p:cNvSpPr>
            <a:spLocks noChangeShapeType="1"/>
          </p:cNvSpPr>
          <p:nvPr/>
        </p:nvSpPr>
        <p:spPr bwMode="auto">
          <a:xfrm flipV="1">
            <a:off x="2743200" y="2743200"/>
            <a:ext cx="457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0497" name="Line 17"/>
          <p:cNvSpPr>
            <a:spLocks noChangeShapeType="1"/>
          </p:cNvSpPr>
          <p:nvPr/>
        </p:nvSpPr>
        <p:spPr bwMode="auto">
          <a:xfrm>
            <a:off x="2057400" y="3962400"/>
            <a:ext cx="6858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0498" name="Line 18"/>
          <p:cNvSpPr>
            <a:spLocks noChangeShapeType="1"/>
          </p:cNvSpPr>
          <p:nvPr/>
        </p:nvSpPr>
        <p:spPr bwMode="auto">
          <a:xfrm>
            <a:off x="2667000" y="3429000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0499" name="Line 19"/>
          <p:cNvSpPr>
            <a:spLocks noChangeShapeType="1"/>
          </p:cNvSpPr>
          <p:nvPr/>
        </p:nvSpPr>
        <p:spPr bwMode="auto">
          <a:xfrm flipH="1">
            <a:off x="3124200" y="3581400"/>
            <a:ext cx="533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0500" name="Line 20"/>
          <p:cNvSpPr>
            <a:spLocks noChangeShapeType="1"/>
          </p:cNvSpPr>
          <p:nvPr/>
        </p:nvSpPr>
        <p:spPr bwMode="auto">
          <a:xfrm flipH="1">
            <a:off x="3962400" y="28956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0501" name="Line 21"/>
          <p:cNvSpPr>
            <a:spLocks noChangeShapeType="1"/>
          </p:cNvSpPr>
          <p:nvPr/>
        </p:nvSpPr>
        <p:spPr bwMode="auto">
          <a:xfrm>
            <a:off x="4724400" y="2743200"/>
            <a:ext cx="457200" cy="1524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0502" name="Line 22"/>
          <p:cNvSpPr>
            <a:spLocks noChangeShapeType="1"/>
          </p:cNvSpPr>
          <p:nvPr/>
        </p:nvSpPr>
        <p:spPr bwMode="auto">
          <a:xfrm flipH="1">
            <a:off x="5029200" y="32766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0503" name="Line 23"/>
          <p:cNvSpPr>
            <a:spLocks noChangeShapeType="1"/>
          </p:cNvSpPr>
          <p:nvPr/>
        </p:nvSpPr>
        <p:spPr bwMode="auto">
          <a:xfrm flipH="1">
            <a:off x="4191000" y="4114800"/>
            <a:ext cx="4572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0504" name="Line 24"/>
          <p:cNvSpPr>
            <a:spLocks noChangeShapeType="1"/>
          </p:cNvSpPr>
          <p:nvPr/>
        </p:nvSpPr>
        <p:spPr bwMode="auto">
          <a:xfrm>
            <a:off x="4114800" y="3505200"/>
            <a:ext cx="457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0505" name="Line 25"/>
          <p:cNvSpPr>
            <a:spLocks noChangeShapeType="1"/>
          </p:cNvSpPr>
          <p:nvPr/>
        </p:nvSpPr>
        <p:spPr bwMode="auto">
          <a:xfrm>
            <a:off x="3200400" y="4343400"/>
            <a:ext cx="5334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0506" name="Line 26"/>
          <p:cNvSpPr>
            <a:spLocks noChangeShapeType="1"/>
          </p:cNvSpPr>
          <p:nvPr/>
        </p:nvSpPr>
        <p:spPr bwMode="auto">
          <a:xfrm>
            <a:off x="5638800" y="3200400"/>
            <a:ext cx="381000" cy="1524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0507" name="Line 27"/>
          <p:cNvSpPr>
            <a:spLocks noChangeShapeType="1"/>
          </p:cNvSpPr>
          <p:nvPr/>
        </p:nvSpPr>
        <p:spPr bwMode="auto">
          <a:xfrm>
            <a:off x="5105400" y="4114800"/>
            <a:ext cx="3810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0508" name="Line 28"/>
          <p:cNvSpPr>
            <a:spLocks noChangeShapeType="1"/>
          </p:cNvSpPr>
          <p:nvPr/>
        </p:nvSpPr>
        <p:spPr bwMode="auto">
          <a:xfrm>
            <a:off x="6477000" y="3733800"/>
            <a:ext cx="304800" cy="2286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0509" name="Line 29"/>
          <p:cNvSpPr>
            <a:spLocks noChangeShapeType="1"/>
          </p:cNvSpPr>
          <p:nvPr/>
        </p:nvSpPr>
        <p:spPr bwMode="auto">
          <a:xfrm flipH="1">
            <a:off x="6096000" y="4267200"/>
            <a:ext cx="609600" cy="76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0510" name="Line 30"/>
          <p:cNvSpPr>
            <a:spLocks noChangeShapeType="1"/>
          </p:cNvSpPr>
          <p:nvPr/>
        </p:nvSpPr>
        <p:spPr bwMode="auto">
          <a:xfrm flipH="1">
            <a:off x="3733800" y="2590800"/>
            <a:ext cx="3810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0511" name="Line 31"/>
          <p:cNvSpPr>
            <a:spLocks noChangeShapeType="1"/>
          </p:cNvSpPr>
          <p:nvPr/>
        </p:nvSpPr>
        <p:spPr bwMode="auto">
          <a:xfrm>
            <a:off x="3505200" y="28956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0512" name="Oval 32"/>
          <p:cNvSpPr>
            <a:spLocks noChangeArrowheads="1"/>
          </p:cNvSpPr>
          <p:nvPr/>
        </p:nvSpPr>
        <p:spPr bwMode="auto">
          <a:xfrm>
            <a:off x="7162800" y="1905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Z</a:t>
            </a:r>
          </a:p>
        </p:txBody>
      </p:sp>
      <p:sp>
        <p:nvSpPr>
          <p:cNvPr id="660513" name="Oval 33"/>
          <p:cNvSpPr>
            <a:spLocks noChangeArrowheads="1"/>
          </p:cNvSpPr>
          <p:nvPr/>
        </p:nvSpPr>
        <p:spPr bwMode="auto">
          <a:xfrm>
            <a:off x="7467600" y="1143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Y</a:t>
            </a:r>
          </a:p>
        </p:txBody>
      </p:sp>
      <p:sp>
        <p:nvSpPr>
          <p:cNvPr id="660514" name="Line 34"/>
          <p:cNvSpPr>
            <a:spLocks noChangeShapeType="1"/>
          </p:cNvSpPr>
          <p:nvPr/>
        </p:nvSpPr>
        <p:spPr bwMode="auto">
          <a:xfrm flipH="1">
            <a:off x="7543800" y="1752600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0515" name="Oval 35" descr="Water droplets"/>
          <p:cNvSpPr>
            <a:spLocks noChangeArrowheads="1"/>
          </p:cNvSpPr>
          <p:nvPr/>
        </p:nvSpPr>
        <p:spPr bwMode="auto">
          <a:xfrm>
            <a:off x="6934200" y="30480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M</a:t>
            </a:r>
          </a:p>
        </p:txBody>
      </p:sp>
      <p:sp>
        <p:nvSpPr>
          <p:cNvPr id="660516" name="Line 36"/>
          <p:cNvSpPr>
            <a:spLocks noChangeShapeType="1"/>
          </p:cNvSpPr>
          <p:nvPr/>
        </p:nvSpPr>
        <p:spPr bwMode="auto">
          <a:xfrm flipV="1">
            <a:off x="6553200" y="3352800"/>
            <a:ext cx="381000" cy="76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0517" name="Oval 37"/>
          <p:cNvSpPr>
            <a:spLocks noChangeArrowheads="1"/>
          </p:cNvSpPr>
          <p:nvPr/>
        </p:nvSpPr>
        <p:spPr bwMode="auto">
          <a:xfrm>
            <a:off x="7391400" y="44196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N</a:t>
            </a:r>
          </a:p>
        </p:txBody>
      </p:sp>
      <p:sp>
        <p:nvSpPr>
          <p:cNvPr id="660518" name="Line 38"/>
          <p:cNvSpPr>
            <a:spLocks noChangeShapeType="1"/>
          </p:cNvSpPr>
          <p:nvPr/>
        </p:nvSpPr>
        <p:spPr bwMode="auto">
          <a:xfrm>
            <a:off x="7239000" y="4419600"/>
            <a:ext cx="228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0519" name="Oval 39" descr="Water droplets"/>
          <p:cNvSpPr>
            <a:spLocks noChangeArrowheads="1"/>
          </p:cNvSpPr>
          <p:nvPr/>
        </p:nvSpPr>
        <p:spPr bwMode="auto">
          <a:xfrm>
            <a:off x="7848600" y="30480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L</a:t>
            </a:r>
          </a:p>
        </p:txBody>
      </p:sp>
      <p:sp>
        <p:nvSpPr>
          <p:cNvPr id="660520" name="Line 40"/>
          <p:cNvSpPr>
            <a:spLocks noChangeShapeType="1"/>
          </p:cNvSpPr>
          <p:nvPr/>
        </p:nvSpPr>
        <p:spPr bwMode="auto">
          <a:xfrm>
            <a:off x="7543800" y="3352800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0522" name="Text Box 42"/>
          <p:cNvSpPr txBox="1">
            <a:spLocks noChangeArrowheads="1"/>
          </p:cNvSpPr>
          <p:nvPr/>
        </p:nvSpPr>
        <p:spPr bwMode="auto">
          <a:xfrm>
            <a:off x="3641725" y="2011363"/>
            <a:ext cx="22304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l"/>
            <a:r>
              <a:rPr lang="en-US">
                <a:solidFill>
                  <a:schemeClr val="accent1"/>
                </a:solidFill>
              </a:rPr>
              <a:t>DATA [S,E,F,J,D]</a:t>
            </a:r>
          </a:p>
        </p:txBody>
      </p:sp>
      <p:sp>
        <p:nvSpPr>
          <p:cNvPr id="660523" name="Text Box 43"/>
          <p:cNvSpPr txBox="1">
            <a:spLocks noChangeArrowheads="1"/>
          </p:cNvSpPr>
          <p:nvPr/>
        </p:nvSpPr>
        <p:spPr bwMode="auto">
          <a:xfrm>
            <a:off x="822325" y="5897563"/>
            <a:ext cx="53863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l"/>
            <a:r>
              <a:rPr lang="en-US"/>
              <a:t>Packet header size grows with route length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4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When to Perform a Route Discovery</a:t>
            </a:r>
          </a:p>
        </p:txBody>
      </p:sp>
      <p:sp>
        <p:nvSpPr>
          <p:cNvPr id="10874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When node S wants to send data to node D, but does not know a valid route node D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46739-8643-49FD-9D21-C7FC50C46C28}" type="slidenum">
              <a:rPr lang="en-US"/>
              <a:pPr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5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DSR Optimization: </a:t>
            </a:r>
            <a:r>
              <a:rPr lang="en-US">
                <a:solidFill>
                  <a:schemeClr val="accent1"/>
                </a:solidFill>
              </a:rPr>
              <a:t>Route Caching</a:t>
            </a:r>
            <a:endParaRPr lang="en-US"/>
          </a:p>
        </p:txBody>
      </p:sp>
      <p:sp>
        <p:nvSpPr>
          <p:cNvPr id="66150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Each node caches a new route it learns by </a:t>
            </a:r>
            <a:r>
              <a:rPr lang="en-US" i="1"/>
              <a:t>any means</a:t>
            </a:r>
          </a:p>
          <a:p>
            <a:r>
              <a:rPr lang="en-US"/>
              <a:t>When node S finds </a:t>
            </a:r>
            <a:r>
              <a:rPr lang="en-US">
                <a:solidFill>
                  <a:schemeClr val="accent1"/>
                </a:solidFill>
              </a:rPr>
              <a:t>route [S,E,F,J,D]</a:t>
            </a:r>
            <a:r>
              <a:rPr lang="en-US"/>
              <a:t> to node D, node S also learns route [S,E,F] to node F</a:t>
            </a:r>
          </a:p>
          <a:p>
            <a:r>
              <a:rPr lang="en-US"/>
              <a:t>When node K receives </a:t>
            </a:r>
            <a:r>
              <a:rPr lang="en-US">
                <a:solidFill>
                  <a:srgbClr val="A50021"/>
                </a:solidFill>
              </a:rPr>
              <a:t>Route Request [S,C,G] </a:t>
            </a:r>
            <a:r>
              <a:rPr lang="en-US"/>
              <a:t>destined for node, node K learns route [K,G,C,S] to node S</a:t>
            </a:r>
          </a:p>
          <a:p>
            <a:r>
              <a:rPr lang="en-US"/>
              <a:t>When node F forwards </a:t>
            </a:r>
            <a:r>
              <a:rPr lang="en-US">
                <a:solidFill>
                  <a:srgbClr val="FF0000"/>
                </a:solidFill>
              </a:rPr>
              <a:t>Route Reply RREP</a:t>
            </a:r>
            <a:r>
              <a:rPr lang="en-US"/>
              <a:t> </a:t>
            </a:r>
            <a:r>
              <a:rPr lang="en-US">
                <a:solidFill>
                  <a:srgbClr val="FF0000"/>
                </a:solidFill>
              </a:rPr>
              <a:t>[S,E,F,J,D],</a:t>
            </a:r>
            <a:r>
              <a:rPr lang="en-US"/>
              <a:t> node F learns route [F,J,D] to node D</a:t>
            </a:r>
          </a:p>
          <a:p>
            <a:r>
              <a:rPr lang="en-US"/>
              <a:t>When node E forwards </a:t>
            </a:r>
            <a:r>
              <a:rPr lang="en-US">
                <a:solidFill>
                  <a:schemeClr val="accent2"/>
                </a:solidFill>
              </a:rPr>
              <a:t>Data [S,E,F,J,D]</a:t>
            </a:r>
            <a:r>
              <a:rPr lang="en-US"/>
              <a:t> it learns route [E,F,J,D] to node D</a:t>
            </a:r>
          </a:p>
          <a:p>
            <a:r>
              <a:rPr lang="en-US"/>
              <a:t>A node may also learn a route when it overhears Data packets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14A95-A958-4E2A-832F-A1D8E72256E6}" type="slidenum">
              <a:rPr lang="en-US"/>
              <a:pPr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569" name="Rectangle 1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 of Route Caching</a:t>
            </a:r>
          </a:p>
        </p:txBody>
      </p:sp>
      <p:sp>
        <p:nvSpPr>
          <p:cNvPr id="663570" name="Rectangle 18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en-US"/>
          </a:p>
          <a:p>
            <a:r>
              <a:rPr lang="en-US"/>
              <a:t>When node S learns that a route to node D is broken, it uses another route from its local cache, if such a route to D exists in its cache. Otherwise, node S initiates route discovery by sending a route request</a:t>
            </a:r>
          </a:p>
          <a:p>
            <a:endParaRPr lang="en-US"/>
          </a:p>
          <a:p>
            <a:r>
              <a:rPr lang="en-US"/>
              <a:t>Node X on receiving a Route Request for some node D can send a Route Reply if node X knows a route to node D</a:t>
            </a:r>
          </a:p>
          <a:p>
            <a:endParaRPr lang="en-US"/>
          </a:p>
          <a:p>
            <a:r>
              <a:rPr lang="en-US"/>
              <a:t>Use of route cache </a:t>
            </a:r>
          </a:p>
          <a:p>
            <a:pPr lvl="1"/>
            <a:r>
              <a:rPr lang="en-US"/>
              <a:t>can speed up route discovery</a:t>
            </a:r>
          </a:p>
          <a:p>
            <a:pPr lvl="1"/>
            <a:r>
              <a:rPr lang="en-US"/>
              <a:t>can reduce propagation of route requests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3E3E7-B3A8-4B9A-AF6B-830B14A4A16F}" type="slidenum">
              <a:rPr lang="en-US"/>
              <a:pPr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 of Route Caching</a:t>
            </a:r>
          </a:p>
        </p:txBody>
      </p:sp>
      <p:sp>
        <p:nvSpPr>
          <p:cNvPr id="4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570C4-4088-431C-B0C0-481CE2418CBC}" type="slidenum">
              <a:rPr lang="en-US"/>
              <a:pPr/>
              <a:t>44</a:t>
            </a:fld>
            <a:endParaRPr lang="en-US"/>
          </a:p>
        </p:txBody>
      </p:sp>
      <p:sp>
        <p:nvSpPr>
          <p:cNvPr id="664579" name="Oval 3"/>
          <p:cNvSpPr>
            <a:spLocks noChangeArrowheads="1"/>
          </p:cNvSpPr>
          <p:nvPr/>
        </p:nvSpPr>
        <p:spPr bwMode="auto">
          <a:xfrm>
            <a:off x="2209800" y="28956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B</a:t>
            </a:r>
          </a:p>
        </p:txBody>
      </p:sp>
      <p:sp>
        <p:nvSpPr>
          <p:cNvPr id="664580" name="Oval 4"/>
          <p:cNvSpPr>
            <a:spLocks noChangeArrowheads="1"/>
          </p:cNvSpPr>
          <p:nvPr/>
        </p:nvSpPr>
        <p:spPr bwMode="auto">
          <a:xfrm>
            <a:off x="1447800" y="35814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A</a:t>
            </a:r>
          </a:p>
        </p:txBody>
      </p:sp>
      <p:sp>
        <p:nvSpPr>
          <p:cNvPr id="664581" name="Oval 5"/>
          <p:cNvSpPr>
            <a:spLocks noChangeArrowheads="1"/>
          </p:cNvSpPr>
          <p:nvPr/>
        </p:nvSpPr>
        <p:spPr bwMode="auto">
          <a:xfrm>
            <a:off x="3124200" y="2286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S</a:t>
            </a:r>
          </a:p>
        </p:txBody>
      </p:sp>
      <p:sp>
        <p:nvSpPr>
          <p:cNvPr id="664582" name="Oval 6"/>
          <p:cNvSpPr>
            <a:spLocks noChangeArrowheads="1"/>
          </p:cNvSpPr>
          <p:nvPr/>
        </p:nvSpPr>
        <p:spPr bwMode="auto">
          <a:xfrm>
            <a:off x="4114800" y="23622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E</a:t>
            </a:r>
          </a:p>
        </p:txBody>
      </p:sp>
      <p:sp>
        <p:nvSpPr>
          <p:cNvPr id="664583" name="Oval 7"/>
          <p:cNvSpPr>
            <a:spLocks noChangeArrowheads="1"/>
          </p:cNvSpPr>
          <p:nvPr/>
        </p:nvSpPr>
        <p:spPr bwMode="auto">
          <a:xfrm>
            <a:off x="5105400" y="27432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F</a:t>
            </a:r>
          </a:p>
        </p:txBody>
      </p:sp>
      <p:sp>
        <p:nvSpPr>
          <p:cNvPr id="664584" name="Oval 8"/>
          <p:cNvSpPr>
            <a:spLocks noChangeArrowheads="1"/>
          </p:cNvSpPr>
          <p:nvPr/>
        </p:nvSpPr>
        <p:spPr bwMode="auto">
          <a:xfrm>
            <a:off x="2667000" y="38862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H</a:t>
            </a:r>
          </a:p>
        </p:txBody>
      </p:sp>
      <p:sp>
        <p:nvSpPr>
          <p:cNvPr id="664585" name="Oval 9"/>
          <p:cNvSpPr>
            <a:spLocks noChangeArrowheads="1"/>
          </p:cNvSpPr>
          <p:nvPr/>
        </p:nvSpPr>
        <p:spPr bwMode="auto">
          <a:xfrm>
            <a:off x="5943600" y="32766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J</a:t>
            </a:r>
          </a:p>
        </p:txBody>
      </p:sp>
      <p:sp>
        <p:nvSpPr>
          <p:cNvPr id="664586" name="Oval 10"/>
          <p:cNvSpPr>
            <a:spLocks noChangeArrowheads="1"/>
          </p:cNvSpPr>
          <p:nvPr/>
        </p:nvSpPr>
        <p:spPr bwMode="auto">
          <a:xfrm>
            <a:off x="6705600" y="38862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D</a:t>
            </a:r>
          </a:p>
        </p:txBody>
      </p:sp>
      <p:sp>
        <p:nvSpPr>
          <p:cNvPr id="664587" name="Oval 11"/>
          <p:cNvSpPr>
            <a:spLocks noChangeArrowheads="1"/>
          </p:cNvSpPr>
          <p:nvPr/>
        </p:nvSpPr>
        <p:spPr bwMode="auto">
          <a:xfrm>
            <a:off x="3505200" y="3048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C</a:t>
            </a:r>
          </a:p>
        </p:txBody>
      </p:sp>
      <p:sp>
        <p:nvSpPr>
          <p:cNvPr id="664588" name="Oval 12"/>
          <p:cNvSpPr>
            <a:spLocks noChangeArrowheads="1"/>
          </p:cNvSpPr>
          <p:nvPr/>
        </p:nvSpPr>
        <p:spPr bwMode="auto">
          <a:xfrm>
            <a:off x="4572000" y="35814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G</a:t>
            </a:r>
          </a:p>
        </p:txBody>
      </p:sp>
      <p:sp>
        <p:nvSpPr>
          <p:cNvPr id="664589" name="Oval 13"/>
          <p:cNvSpPr>
            <a:spLocks noChangeArrowheads="1"/>
          </p:cNvSpPr>
          <p:nvPr/>
        </p:nvSpPr>
        <p:spPr bwMode="auto">
          <a:xfrm>
            <a:off x="3733800" y="44196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I</a:t>
            </a:r>
          </a:p>
        </p:txBody>
      </p:sp>
      <p:sp>
        <p:nvSpPr>
          <p:cNvPr id="664590" name="Oval 14"/>
          <p:cNvSpPr>
            <a:spLocks noChangeArrowheads="1"/>
          </p:cNvSpPr>
          <p:nvPr/>
        </p:nvSpPr>
        <p:spPr bwMode="auto">
          <a:xfrm>
            <a:off x="5486400" y="41148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K</a:t>
            </a:r>
          </a:p>
        </p:txBody>
      </p:sp>
      <p:sp>
        <p:nvSpPr>
          <p:cNvPr id="664591" name="Line 15"/>
          <p:cNvSpPr>
            <a:spLocks noChangeShapeType="1"/>
          </p:cNvSpPr>
          <p:nvPr/>
        </p:nvSpPr>
        <p:spPr bwMode="auto">
          <a:xfrm flipV="1">
            <a:off x="1981200" y="3352800"/>
            <a:ext cx="304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4592" name="Line 16"/>
          <p:cNvSpPr>
            <a:spLocks noChangeShapeType="1"/>
          </p:cNvSpPr>
          <p:nvPr/>
        </p:nvSpPr>
        <p:spPr bwMode="auto">
          <a:xfrm flipV="1">
            <a:off x="2743200" y="2743200"/>
            <a:ext cx="457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4593" name="Line 17"/>
          <p:cNvSpPr>
            <a:spLocks noChangeShapeType="1"/>
          </p:cNvSpPr>
          <p:nvPr/>
        </p:nvSpPr>
        <p:spPr bwMode="auto">
          <a:xfrm>
            <a:off x="2057400" y="3962400"/>
            <a:ext cx="6858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4594" name="Line 18"/>
          <p:cNvSpPr>
            <a:spLocks noChangeShapeType="1"/>
          </p:cNvSpPr>
          <p:nvPr/>
        </p:nvSpPr>
        <p:spPr bwMode="auto">
          <a:xfrm>
            <a:off x="2667000" y="3429000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4595" name="Line 19"/>
          <p:cNvSpPr>
            <a:spLocks noChangeShapeType="1"/>
          </p:cNvSpPr>
          <p:nvPr/>
        </p:nvSpPr>
        <p:spPr bwMode="auto">
          <a:xfrm flipH="1">
            <a:off x="3124200" y="3581400"/>
            <a:ext cx="533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4596" name="Line 20"/>
          <p:cNvSpPr>
            <a:spLocks noChangeShapeType="1"/>
          </p:cNvSpPr>
          <p:nvPr/>
        </p:nvSpPr>
        <p:spPr bwMode="auto">
          <a:xfrm flipH="1">
            <a:off x="3962400" y="28956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4597" name="Line 21"/>
          <p:cNvSpPr>
            <a:spLocks noChangeShapeType="1"/>
          </p:cNvSpPr>
          <p:nvPr/>
        </p:nvSpPr>
        <p:spPr bwMode="auto">
          <a:xfrm>
            <a:off x="4724400" y="2743200"/>
            <a:ext cx="457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4598" name="Line 22"/>
          <p:cNvSpPr>
            <a:spLocks noChangeShapeType="1"/>
          </p:cNvSpPr>
          <p:nvPr/>
        </p:nvSpPr>
        <p:spPr bwMode="auto">
          <a:xfrm flipH="1">
            <a:off x="5029200" y="32766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4599" name="Line 23"/>
          <p:cNvSpPr>
            <a:spLocks noChangeShapeType="1"/>
          </p:cNvSpPr>
          <p:nvPr/>
        </p:nvSpPr>
        <p:spPr bwMode="auto">
          <a:xfrm flipH="1">
            <a:off x="4191000" y="4114800"/>
            <a:ext cx="457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4600" name="Line 24"/>
          <p:cNvSpPr>
            <a:spLocks noChangeShapeType="1"/>
          </p:cNvSpPr>
          <p:nvPr/>
        </p:nvSpPr>
        <p:spPr bwMode="auto">
          <a:xfrm>
            <a:off x="4114800" y="3505200"/>
            <a:ext cx="457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4601" name="Line 25"/>
          <p:cNvSpPr>
            <a:spLocks noChangeShapeType="1"/>
          </p:cNvSpPr>
          <p:nvPr/>
        </p:nvSpPr>
        <p:spPr bwMode="auto">
          <a:xfrm>
            <a:off x="3200400" y="4343400"/>
            <a:ext cx="533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4602" name="Line 26"/>
          <p:cNvSpPr>
            <a:spLocks noChangeShapeType="1"/>
          </p:cNvSpPr>
          <p:nvPr/>
        </p:nvSpPr>
        <p:spPr bwMode="auto">
          <a:xfrm>
            <a:off x="5638800" y="3200400"/>
            <a:ext cx="381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4603" name="Line 27"/>
          <p:cNvSpPr>
            <a:spLocks noChangeShapeType="1"/>
          </p:cNvSpPr>
          <p:nvPr/>
        </p:nvSpPr>
        <p:spPr bwMode="auto">
          <a:xfrm>
            <a:off x="5105400" y="4114800"/>
            <a:ext cx="381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4604" name="Line 28"/>
          <p:cNvSpPr>
            <a:spLocks noChangeShapeType="1"/>
          </p:cNvSpPr>
          <p:nvPr/>
        </p:nvSpPr>
        <p:spPr bwMode="auto">
          <a:xfrm>
            <a:off x="6477000" y="3733800"/>
            <a:ext cx="304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4605" name="Line 29"/>
          <p:cNvSpPr>
            <a:spLocks noChangeShapeType="1"/>
          </p:cNvSpPr>
          <p:nvPr/>
        </p:nvSpPr>
        <p:spPr bwMode="auto">
          <a:xfrm flipH="1">
            <a:off x="6096000" y="4267200"/>
            <a:ext cx="609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4606" name="Line 30"/>
          <p:cNvSpPr>
            <a:spLocks noChangeShapeType="1"/>
          </p:cNvSpPr>
          <p:nvPr/>
        </p:nvSpPr>
        <p:spPr bwMode="auto">
          <a:xfrm flipH="1">
            <a:off x="3733800" y="25908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4607" name="Line 31"/>
          <p:cNvSpPr>
            <a:spLocks noChangeShapeType="1"/>
          </p:cNvSpPr>
          <p:nvPr/>
        </p:nvSpPr>
        <p:spPr bwMode="auto">
          <a:xfrm>
            <a:off x="3505200" y="28956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4612" name="Text Box 36"/>
          <p:cNvSpPr txBox="1">
            <a:spLocks noChangeArrowheads="1"/>
          </p:cNvSpPr>
          <p:nvPr/>
        </p:nvSpPr>
        <p:spPr bwMode="auto">
          <a:xfrm>
            <a:off x="762000" y="5715000"/>
            <a:ext cx="6086346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l"/>
            <a:r>
              <a:rPr lang="en-US" dirty="0"/>
              <a:t>	Represents cached route at a node</a:t>
            </a:r>
          </a:p>
          <a:p>
            <a:pPr algn="l"/>
            <a:r>
              <a:rPr lang="en-US" dirty="0"/>
              <a:t>               (DSR maintains the cached routes in a tree format)</a:t>
            </a:r>
          </a:p>
        </p:txBody>
      </p:sp>
      <p:sp>
        <p:nvSpPr>
          <p:cNvPr id="664613" name="Oval 37"/>
          <p:cNvSpPr>
            <a:spLocks noChangeArrowheads="1"/>
          </p:cNvSpPr>
          <p:nvPr/>
        </p:nvSpPr>
        <p:spPr bwMode="auto">
          <a:xfrm>
            <a:off x="6934200" y="3048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M</a:t>
            </a:r>
          </a:p>
        </p:txBody>
      </p:sp>
      <p:sp>
        <p:nvSpPr>
          <p:cNvPr id="664614" name="Line 38"/>
          <p:cNvSpPr>
            <a:spLocks noChangeShapeType="1"/>
          </p:cNvSpPr>
          <p:nvPr/>
        </p:nvSpPr>
        <p:spPr bwMode="auto">
          <a:xfrm flipV="1">
            <a:off x="6553200" y="3352800"/>
            <a:ext cx="3810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4615" name="Oval 39"/>
          <p:cNvSpPr>
            <a:spLocks noChangeArrowheads="1"/>
          </p:cNvSpPr>
          <p:nvPr/>
        </p:nvSpPr>
        <p:spPr bwMode="auto">
          <a:xfrm>
            <a:off x="7391400" y="44196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N</a:t>
            </a:r>
          </a:p>
        </p:txBody>
      </p:sp>
      <p:sp>
        <p:nvSpPr>
          <p:cNvPr id="664616" name="Line 40"/>
          <p:cNvSpPr>
            <a:spLocks noChangeShapeType="1"/>
          </p:cNvSpPr>
          <p:nvPr/>
        </p:nvSpPr>
        <p:spPr bwMode="auto">
          <a:xfrm>
            <a:off x="7239000" y="4419600"/>
            <a:ext cx="228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4617" name="Oval 41"/>
          <p:cNvSpPr>
            <a:spLocks noChangeArrowheads="1"/>
          </p:cNvSpPr>
          <p:nvPr/>
        </p:nvSpPr>
        <p:spPr bwMode="auto">
          <a:xfrm>
            <a:off x="7848600" y="3048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L</a:t>
            </a:r>
          </a:p>
        </p:txBody>
      </p:sp>
      <p:sp>
        <p:nvSpPr>
          <p:cNvPr id="664618" name="Line 42"/>
          <p:cNvSpPr>
            <a:spLocks noChangeShapeType="1"/>
          </p:cNvSpPr>
          <p:nvPr/>
        </p:nvSpPr>
        <p:spPr bwMode="auto">
          <a:xfrm>
            <a:off x="7543800" y="33528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4620" name="Text Box 44"/>
          <p:cNvSpPr txBox="1">
            <a:spLocks noChangeArrowheads="1"/>
          </p:cNvSpPr>
          <p:nvPr/>
        </p:nvSpPr>
        <p:spPr bwMode="auto">
          <a:xfrm>
            <a:off x="2235200" y="1873250"/>
            <a:ext cx="1327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800"/>
              <a:t>[S,E,F,J,D]</a:t>
            </a:r>
          </a:p>
        </p:txBody>
      </p:sp>
      <p:sp>
        <p:nvSpPr>
          <p:cNvPr id="664621" name="Text Box 45"/>
          <p:cNvSpPr txBox="1">
            <a:spLocks noChangeArrowheads="1"/>
          </p:cNvSpPr>
          <p:nvPr/>
        </p:nvSpPr>
        <p:spPr bwMode="auto">
          <a:xfrm>
            <a:off x="3790950" y="2025650"/>
            <a:ext cx="1111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800"/>
              <a:t>[E,F,J,D]</a:t>
            </a:r>
          </a:p>
        </p:txBody>
      </p:sp>
      <p:sp>
        <p:nvSpPr>
          <p:cNvPr id="664623" name="Text Box 47"/>
          <p:cNvSpPr txBox="1">
            <a:spLocks noChangeArrowheads="1"/>
          </p:cNvSpPr>
          <p:nvPr/>
        </p:nvSpPr>
        <p:spPr bwMode="auto">
          <a:xfrm>
            <a:off x="3305175" y="3671888"/>
            <a:ext cx="7175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800"/>
              <a:t>[C,S]</a:t>
            </a:r>
          </a:p>
        </p:txBody>
      </p:sp>
      <p:sp>
        <p:nvSpPr>
          <p:cNvPr id="664624" name="Text Box 48"/>
          <p:cNvSpPr txBox="1">
            <a:spLocks noChangeArrowheads="1"/>
          </p:cNvSpPr>
          <p:nvPr/>
        </p:nvSpPr>
        <p:spPr bwMode="auto">
          <a:xfrm>
            <a:off x="4308475" y="4129088"/>
            <a:ext cx="9588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800"/>
              <a:t>[G,C,S]</a:t>
            </a:r>
          </a:p>
        </p:txBody>
      </p:sp>
      <p:sp>
        <p:nvSpPr>
          <p:cNvPr id="664626" name="Text Box 50"/>
          <p:cNvSpPr txBox="1">
            <a:spLocks noChangeArrowheads="1"/>
          </p:cNvSpPr>
          <p:nvPr/>
        </p:nvSpPr>
        <p:spPr bwMode="auto">
          <a:xfrm>
            <a:off x="4957763" y="2452688"/>
            <a:ext cx="1682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800"/>
              <a:t>[F,J,D],[F,E,S]</a:t>
            </a:r>
          </a:p>
        </p:txBody>
      </p:sp>
      <p:sp>
        <p:nvSpPr>
          <p:cNvPr id="664627" name="Text Box 51"/>
          <p:cNvSpPr txBox="1">
            <a:spLocks noChangeArrowheads="1"/>
          </p:cNvSpPr>
          <p:nvPr/>
        </p:nvSpPr>
        <p:spPr bwMode="auto">
          <a:xfrm>
            <a:off x="5840413" y="2986088"/>
            <a:ext cx="10985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800"/>
              <a:t>[J,F,E,S]</a:t>
            </a:r>
            <a:endParaRPr lang="en-US"/>
          </a:p>
        </p:txBody>
      </p:sp>
      <p:sp>
        <p:nvSpPr>
          <p:cNvPr id="664628" name="Oval 52"/>
          <p:cNvSpPr>
            <a:spLocks noChangeArrowheads="1"/>
          </p:cNvSpPr>
          <p:nvPr/>
        </p:nvSpPr>
        <p:spPr bwMode="auto">
          <a:xfrm>
            <a:off x="5867400" y="50292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Z</a:t>
            </a:r>
          </a:p>
        </p:txBody>
      </p:sp>
      <p:sp>
        <p:nvSpPr>
          <p:cNvPr id="664631" name="Line 55"/>
          <p:cNvSpPr>
            <a:spLocks noChangeShapeType="1"/>
          </p:cNvSpPr>
          <p:nvPr/>
        </p:nvSpPr>
        <p:spPr bwMode="auto">
          <a:xfrm>
            <a:off x="5867400" y="47244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4632" name="Line 56"/>
          <p:cNvSpPr>
            <a:spLocks noChangeShapeType="1"/>
          </p:cNvSpPr>
          <p:nvPr/>
        </p:nvSpPr>
        <p:spPr bwMode="auto">
          <a:xfrm>
            <a:off x="5867400" y="46482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4633" name="Line 57"/>
          <p:cNvSpPr>
            <a:spLocks noChangeShapeType="1"/>
          </p:cNvSpPr>
          <p:nvPr/>
        </p:nvSpPr>
        <p:spPr bwMode="auto">
          <a:xfrm flipH="1">
            <a:off x="6324600" y="4495800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Use of Route Caching:</a:t>
            </a:r>
            <a:br>
              <a:rPr lang="en-US"/>
            </a:br>
            <a:r>
              <a:rPr lang="en-US">
                <a:solidFill>
                  <a:srgbClr val="FF0000"/>
                </a:solidFill>
              </a:rPr>
              <a:t>Can Speed up Route Discovery</a:t>
            </a:r>
            <a:endParaRPr lang="en-US"/>
          </a:p>
        </p:txBody>
      </p:sp>
      <p:sp>
        <p:nvSpPr>
          <p:cNvPr id="5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68293-61E3-41A2-B6A5-4611D33B8433}" type="slidenum">
              <a:rPr lang="en-US"/>
              <a:pPr/>
              <a:t>45</a:t>
            </a:fld>
            <a:endParaRPr lang="en-US"/>
          </a:p>
        </p:txBody>
      </p:sp>
      <p:sp>
        <p:nvSpPr>
          <p:cNvPr id="665603" name="Oval 3"/>
          <p:cNvSpPr>
            <a:spLocks noChangeArrowheads="1"/>
          </p:cNvSpPr>
          <p:nvPr/>
        </p:nvSpPr>
        <p:spPr bwMode="auto">
          <a:xfrm>
            <a:off x="2209800" y="28956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B</a:t>
            </a:r>
          </a:p>
        </p:txBody>
      </p:sp>
      <p:sp>
        <p:nvSpPr>
          <p:cNvPr id="665604" name="Oval 4"/>
          <p:cNvSpPr>
            <a:spLocks noChangeArrowheads="1"/>
          </p:cNvSpPr>
          <p:nvPr/>
        </p:nvSpPr>
        <p:spPr bwMode="auto">
          <a:xfrm>
            <a:off x="1447800" y="35814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A</a:t>
            </a:r>
          </a:p>
        </p:txBody>
      </p:sp>
      <p:sp>
        <p:nvSpPr>
          <p:cNvPr id="665605" name="Oval 5"/>
          <p:cNvSpPr>
            <a:spLocks noChangeArrowheads="1"/>
          </p:cNvSpPr>
          <p:nvPr/>
        </p:nvSpPr>
        <p:spPr bwMode="auto">
          <a:xfrm>
            <a:off x="3124200" y="2286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S</a:t>
            </a:r>
          </a:p>
        </p:txBody>
      </p:sp>
      <p:sp>
        <p:nvSpPr>
          <p:cNvPr id="665606" name="Oval 6"/>
          <p:cNvSpPr>
            <a:spLocks noChangeArrowheads="1"/>
          </p:cNvSpPr>
          <p:nvPr/>
        </p:nvSpPr>
        <p:spPr bwMode="auto">
          <a:xfrm>
            <a:off x="4114800" y="23622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E</a:t>
            </a:r>
          </a:p>
        </p:txBody>
      </p:sp>
      <p:sp>
        <p:nvSpPr>
          <p:cNvPr id="665607" name="Oval 7"/>
          <p:cNvSpPr>
            <a:spLocks noChangeArrowheads="1"/>
          </p:cNvSpPr>
          <p:nvPr/>
        </p:nvSpPr>
        <p:spPr bwMode="auto">
          <a:xfrm>
            <a:off x="5105400" y="27432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F</a:t>
            </a:r>
          </a:p>
        </p:txBody>
      </p:sp>
      <p:sp>
        <p:nvSpPr>
          <p:cNvPr id="665608" name="Oval 8"/>
          <p:cNvSpPr>
            <a:spLocks noChangeArrowheads="1"/>
          </p:cNvSpPr>
          <p:nvPr/>
        </p:nvSpPr>
        <p:spPr bwMode="auto">
          <a:xfrm>
            <a:off x="2667000" y="38862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H</a:t>
            </a:r>
          </a:p>
        </p:txBody>
      </p:sp>
      <p:sp>
        <p:nvSpPr>
          <p:cNvPr id="665609" name="Oval 9"/>
          <p:cNvSpPr>
            <a:spLocks noChangeArrowheads="1"/>
          </p:cNvSpPr>
          <p:nvPr/>
        </p:nvSpPr>
        <p:spPr bwMode="auto">
          <a:xfrm>
            <a:off x="5943600" y="32766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J</a:t>
            </a:r>
          </a:p>
        </p:txBody>
      </p:sp>
      <p:sp>
        <p:nvSpPr>
          <p:cNvPr id="665610" name="Oval 10"/>
          <p:cNvSpPr>
            <a:spLocks noChangeArrowheads="1"/>
          </p:cNvSpPr>
          <p:nvPr/>
        </p:nvSpPr>
        <p:spPr bwMode="auto">
          <a:xfrm>
            <a:off x="6705600" y="38862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D</a:t>
            </a:r>
          </a:p>
        </p:txBody>
      </p:sp>
      <p:sp>
        <p:nvSpPr>
          <p:cNvPr id="665611" name="Oval 11"/>
          <p:cNvSpPr>
            <a:spLocks noChangeArrowheads="1"/>
          </p:cNvSpPr>
          <p:nvPr/>
        </p:nvSpPr>
        <p:spPr bwMode="auto">
          <a:xfrm>
            <a:off x="3505200" y="3048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C</a:t>
            </a:r>
          </a:p>
        </p:txBody>
      </p:sp>
      <p:sp>
        <p:nvSpPr>
          <p:cNvPr id="665612" name="Oval 12"/>
          <p:cNvSpPr>
            <a:spLocks noChangeArrowheads="1"/>
          </p:cNvSpPr>
          <p:nvPr/>
        </p:nvSpPr>
        <p:spPr bwMode="auto">
          <a:xfrm>
            <a:off x="4572000" y="35814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G</a:t>
            </a:r>
          </a:p>
        </p:txBody>
      </p:sp>
      <p:sp>
        <p:nvSpPr>
          <p:cNvPr id="665613" name="Oval 13"/>
          <p:cNvSpPr>
            <a:spLocks noChangeArrowheads="1"/>
          </p:cNvSpPr>
          <p:nvPr/>
        </p:nvSpPr>
        <p:spPr bwMode="auto">
          <a:xfrm>
            <a:off x="3733800" y="44196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I</a:t>
            </a:r>
          </a:p>
        </p:txBody>
      </p:sp>
      <p:sp>
        <p:nvSpPr>
          <p:cNvPr id="665614" name="Oval 14"/>
          <p:cNvSpPr>
            <a:spLocks noChangeArrowheads="1"/>
          </p:cNvSpPr>
          <p:nvPr/>
        </p:nvSpPr>
        <p:spPr bwMode="auto">
          <a:xfrm>
            <a:off x="5486400" y="41148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K</a:t>
            </a:r>
          </a:p>
        </p:txBody>
      </p:sp>
      <p:sp>
        <p:nvSpPr>
          <p:cNvPr id="665615" name="Line 15"/>
          <p:cNvSpPr>
            <a:spLocks noChangeShapeType="1"/>
          </p:cNvSpPr>
          <p:nvPr/>
        </p:nvSpPr>
        <p:spPr bwMode="auto">
          <a:xfrm flipV="1">
            <a:off x="1981200" y="3352800"/>
            <a:ext cx="304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5616" name="Line 16"/>
          <p:cNvSpPr>
            <a:spLocks noChangeShapeType="1"/>
          </p:cNvSpPr>
          <p:nvPr/>
        </p:nvSpPr>
        <p:spPr bwMode="auto">
          <a:xfrm flipV="1">
            <a:off x="2743200" y="2743200"/>
            <a:ext cx="457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5617" name="Line 17"/>
          <p:cNvSpPr>
            <a:spLocks noChangeShapeType="1"/>
          </p:cNvSpPr>
          <p:nvPr/>
        </p:nvSpPr>
        <p:spPr bwMode="auto">
          <a:xfrm>
            <a:off x="2057400" y="3962400"/>
            <a:ext cx="6858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5618" name="Line 18"/>
          <p:cNvSpPr>
            <a:spLocks noChangeShapeType="1"/>
          </p:cNvSpPr>
          <p:nvPr/>
        </p:nvSpPr>
        <p:spPr bwMode="auto">
          <a:xfrm>
            <a:off x="2667000" y="3429000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5619" name="Line 19"/>
          <p:cNvSpPr>
            <a:spLocks noChangeShapeType="1"/>
          </p:cNvSpPr>
          <p:nvPr/>
        </p:nvSpPr>
        <p:spPr bwMode="auto">
          <a:xfrm flipH="1">
            <a:off x="3124200" y="3581400"/>
            <a:ext cx="533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5620" name="Line 20"/>
          <p:cNvSpPr>
            <a:spLocks noChangeShapeType="1"/>
          </p:cNvSpPr>
          <p:nvPr/>
        </p:nvSpPr>
        <p:spPr bwMode="auto">
          <a:xfrm flipH="1">
            <a:off x="3962400" y="28956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5621" name="Line 21"/>
          <p:cNvSpPr>
            <a:spLocks noChangeShapeType="1"/>
          </p:cNvSpPr>
          <p:nvPr/>
        </p:nvSpPr>
        <p:spPr bwMode="auto">
          <a:xfrm>
            <a:off x="4724400" y="2743200"/>
            <a:ext cx="457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5622" name="Line 22"/>
          <p:cNvSpPr>
            <a:spLocks noChangeShapeType="1"/>
          </p:cNvSpPr>
          <p:nvPr/>
        </p:nvSpPr>
        <p:spPr bwMode="auto">
          <a:xfrm flipH="1">
            <a:off x="5029200" y="32766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5623" name="Line 23"/>
          <p:cNvSpPr>
            <a:spLocks noChangeShapeType="1"/>
          </p:cNvSpPr>
          <p:nvPr/>
        </p:nvSpPr>
        <p:spPr bwMode="auto">
          <a:xfrm flipH="1">
            <a:off x="4191000" y="4114800"/>
            <a:ext cx="457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5624" name="Line 24"/>
          <p:cNvSpPr>
            <a:spLocks noChangeShapeType="1"/>
          </p:cNvSpPr>
          <p:nvPr/>
        </p:nvSpPr>
        <p:spPr bwMode="auto">
          <a:xfrm>
            <a:off x="4114800" y="3505200"/>
            <a:ext cx="457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5625" name="Line 25"/>
          <p:cNvSpPr>
            <a:spLocks noChangeShapeType="1"/>
          </p:cNvSpPr>
          <p:nvPr/>
        </p:nvSpPr>
        <p:spPr bwMode="auto">
          <a:xfrm>
            <a:off x="3200400" y="4343400"/>
            <a:ext cx="533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5626" name="Line 26"/>
          <p:cNvSpPr>
            <a:spLocks noChangeShapeType="1"/>
          </p:cNvSpPr>
          <p:nvPr/>
        </p:nvSpPr>
        <p:spPr bwMode="auto">
          <a:xfrm>
            <a:off x="5638800" y="3200400"/>
            <a:ext cx="381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5627" name="Line 27"/>
          <p:cNvSpPr>
            <a:spLocks noChangeShapeType="1"/>
          </p:cNvSpPr>
          <p:nvPr/>
        </p:nvSpPr>
        <p:spPr bwMode="auto">
          <a:xfrm>
            <a:off x="5105400" y="4114800"/>
            <a:ext cx="381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5628" name="Line 28"/>
          <p:cNvSpPr>
            <a:spLocks noChangeShapeType="1"/>
          </p:cNvSpPr>
          <p:nvPr/>
        </p:nvSpPr>
        <p:spPr bwMode="auto">
          <a:xfrm>
            <a:off x="6477000" y="3733800"/>
            <a:ext cx="304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5629" name="Line 29"/>
          <p:cNvSpPr>
            <a:spLocks noChangeShapeType="1"/>
          </p:cNvSpPr>
          <p:nvPr/>
        </p:nvSpPr>
        <p:spPr bwMode="auto">
          <a:xfrm flipH="1">
            <a:off x="6096000" y="4267200"/>
            <a:ext cx="609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5630" name="Line 30"/>
          <p:cNvSpPr>
            <a:spLocks noChangeShapeType="1"/>
          </p:cNvSpPr>
          <p:nvPr/>
        </p:nvSpPr>
        <p:spPr bwMode="auto">
          <a:xfrm flipH="1">
            <a:off x="3733800" y="25908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5631" name="Line 31"/>
          <p:cNvSpPr>
            <a:spLocks noChangeShapeType="1"/>
          </p:cNvSpPr>
          <p:nvPr/>
        </p:nvSpPr>
        <p:spPr bwMode="auto">
          <a:xfrm>
            <a:off x="3505200" y="28956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5632" name="Oval 32" descr="Water droplets"/>
          <p:cNvSpPr>
            <a:spLocks noChangeArrowheads="1"/>
          </p:cNvSpPr>
          <p:nvPr/>
        </p:nvSpPr>
        <p:spPr bwMode="auto">
          <a:xfrm>
            <a:off x="5867400" y="50292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Z</a:t>
            </a:r>
          </a:p>
        </p:txBody>
      </p:sp>
      <p:sp>
        <p:nvSpPr>
          <p:cNvPr id="665636" name="Oval 36"/>
          <p:cNvSpPr>
            <a:spLocks noChangeArrowheads="1"/>
          </p:cNvSpPr>
          <p:nvPr/>
        </p:nvSpPr>
        <p:spPr bwMode="auto">
          <a:xfrm>
            <a:off x="6934200" y="3048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M</a:t>
            </a:r>
          </a:p>
        </p:txBody>
      </p:sp>
      <p:sp>
        <p:nvSpPr>
          <p:cNvPr id="665637" name="Line 37"/>
          <p:cNvSpPr>
            <a:spLocks noChangeShapeType="1"/>
          </p:cNvSpPr>
          <p:nvPr/>
        </p:nvSpPr>
        <p:spPr bwMode="auto">
          <a:xfrm flipV="1">
            <a:off x="6553200" y="3352800"/>
            <a:ext cx="3810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5638" name="Oval 38"/>
          <p:cNvSpPr>
            <a:spLocks noChangeArrowheads="1"/>
          </p:cNvSpPr>
          <p:nvPr/>
        </p:nvSpPr>
        <p:spPr bwMode="auto">
          <a:xfrm>
            <a:off x="7391400" y="44196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N</a:t>
            </a:r>
          </a:p>
        </p:txBody>
      </p:sp>
      <p:sp>
        <p:nvSpPr>
          <p:cNvPr id="665639" name="Line 39"/>
          <p:cNvSpPr>
            <a:spLocks noChangeShapeType="1"/>
          </p:cNvSpPr>
          <p:nvPr/>
        </p:nvSpPr>
        <p:spPr bwMode="auto">
          <a:xfrm>
            <a:off x="7239000" y="4419600"/>
            <a:ext cx="228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5640" name="Oval 40"/>
          <p:cNvSpPr>
            <a:spLocks noChangeArrowheads="1"/>
          </p:cNvSpPr>
          <p:nvPr/>
        </p:nvSpPr>
        <p:spPr bwMode="auto">
          <a:xfrm>
            <a:off x="7848600" y="3048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L</a:t>
            </a:r>
          </a:p>
        </p:txBody>
      </p:sp>
      <p:sp>
        <p:nvSpPr>
          <p:cNvPr id="665641" name="Line 41"/>
          <p:cNvSpPr>
            <a:spLocks noChangeShapeType="1"/>
          </p:cNvSpPr>
          <p:nvPr/>
        </p:nvSpPr>
        <p:spPr bwMode="auto">
          <a:xfrm>
            <a:off x="7543800" y="33528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5642" name="Text Box 42"/>
          <p:cNvSpPr txBox="1">
            <a:spLocks noChangeArrowheads="1"/>
          </p:cNvSpPr>
          <p:nvPr/>
        </p:nvSpPr>
        <p:spPr bwMode="auto">
          <a:xfrm>
            <a:off x="2235200" y="1873250"/>
            <a:ext cx="1327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800"/>
              <a:t>[S,E,F,J,D]</a:t>
            </a:r>
          </a:p>
        </p:txBody>
      </p:sp>
      <p:sp>
        <p:nvSpPr>
          <p:cNvPr id="665643" name="Text Box 43"/>
          <p:cNvSpPr txBox="1">
            <a:spLocks noChangeArrowheads="1"/>
          </p:cNvSpPr>
          <p:nvPr/>
        </p:nvSpPr>
        <p:spPr bwMode="auto">
          <a:xfrm>
            <a:off x="3790950" y="2025650"/>
            <a:ext cx="1111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800"/>
              <a:t>[E,F,J,D]</a:t>
            </a:r>
          </a:p>
        </p:txBody>
      </p:sp>
      <p:sp>
        <p:nvSpPr>
          <p:cNvPr id="665644" name="Text Box 44"/>
          <p:cNvSpPr txBox="1">
            <a:spLocks noChangeArrowheads="1"/>
          </p:cNvSpPr>
          <p:nvPr/>
        </p:nvSpPr>
        <p:spPr bwMode="auto">
          <a:xfrm>
            <a:off x="3305175" y="3671888"/>
            <a:ext cx="7175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800"/>
              <a:t>[C,S]</a:t>
            </a:r>
          </a:p>
        </p:txBody>
      </p:sp>
      <p:sp>
        <p:nvSpPr>
          <p:cNvPr id="665645" name="Text Box 45"/>
          <p:cNvSpPr txBox="1">
            <a:spLocks noChangeArrowheads="1"/>
          </p:cNvSpPr>
          <p:nvPr/>
        </p:nvSpPr>
        <p:spPr bwMode="auto">
          <a:xfrm>
            <a:off x="4267200" y="3276600"/>
            <a:ext cx="9588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800"/>
              <a:t>[G,C,S]</a:t>
            </a:r>
          </a:p>
        </p:txBody>
      </p:sp>
      <p:sp>
        <p:nvSpPr>
          <p:cNvPr id="665646" name="Text Box 46"/>
          <p:cNvSpPr txBox="1">
            <a:spLocks noChangeArrowheads="1"/>
          </p:cNvSpPr>
          <p:nvPr/>
        </p:nvSpPr>
        <p:spPr bwMode="auto">
          <a:xfrm>
            <a:off x="4957763" y="2452688"/>
            <a:ext cx="1682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800"/>
              <a:t>[F,J,D],[F,E,S]</a:t>
            </a:r>
          </a:p>
        </p:txBody>
      </p:sp>
      <p:sp>
        <p:nvSpPr>
          <p:cNvPr id="665647" name="Text Box 47"/>
          <p:cNvSpPr txBox="1">
            <a:spLocks noChangeArrowheads="1"/>
          </p:cNvSpPr>
          <p:nvPr/>
        </p:nvSpPr>
        <p:spPr bwMode="auto">
          <a:xfrm>
            <a:off x="5840413" y="2986088"/>
            <a:ext cx="10985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800"/>
              <a:t>[J,F,E,S]</a:t>
            </a:r>
            <a:endParaRPr lang="en-US"/>
          </a:p>
        </p:txBody>
      </p:sp>
      <p:sp>
        <p:nvSpPr>
          <p:cNvPr id="665648" name="Line 48"/>
          <p:cNvSpPr>
            <a:spLocks noChangeShapeType="1"/>
          </p:cNvSpPr>
          <p:nvPr/>
        </p:nvSpPr>
        <p:spPr bwMode="auto">
          <a:xfrm>
            <a:off x="5867400" y="4724400"/>
            <a:ext cx="228600" cy="3810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5649" name="Text Box 49"/>
          <p:cNvSpPr txBox="1">
            <a:spLocks noChangeArrowheads="1"/>
          </p:cNvSpPr>
          <p:nvPr/>
        </p:nvSpPr>
        <p:spPr bwMode="auto">
          <a:xfrm>
            <a:off x="5105400" y="4876800"/>
            <a:ext cx="844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800"/>
              <a:t>RREQ</a:t>
            </a:r>
            <a:endParaRPr lang="en-US"/>
          </a:p>
        </p:txBody>
      </p:sp>
      <p:sp>
        <p:nvSpPr>
          <p:cNvPr id="665650" name="Line 50"/>
          <p:cNvSpPr>
            <a:spLocks noChangeShapeType="1"/>
          </p:cNvSpPr>
          <p:nvPr/>
        </p:nvSpPr>
        <p:spPr bwMode="auto">
          <a:xfrm flipV="1">
            <a:off x="6324600" y="4495800"/>
            <a:ext cx="533400" cy="6096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5651" name="Text Box 51"/>
          <p:cNvSpPr txBox="1">
            <a:spLocks noChangeArrowheads="1"/>
          </p:cNvSpPr>
          <p:nvPr/>
        </p:nvSpPr>
        <p:spPr bwMode="auto">
          <a:xfrm>
            <a:off x="304800" y="5334000"/>
            <a:ext cx="4989513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l"/>
            <a:r>
              <a:rPr lang="en-US"/>
              <a:t>When node Z sends a route request</a:t>
            </a:r>
          </a:p>
          <a:p>
            <a:pPr algn="l"/>
            <a:r>
              <a:rPr lang="en-US"/>
              <a:t>for node C, node K sends back a route</a:t>
            </a:r>
          </a:p>
          <a:p>
            <a:pPr algn="l"/>
            <a:r>
              <a:rPr lang="en-US"/>
              <a:t>reply [Z,K,G,C] to node Z using a locally</a:t>
            </a:r>
          </a:p>
          <a:p>
            <a:pPr algn="l"/>
            <a:r>
              <a:rPr lang="en-US"/>
              <a:t>cached route</a:t>
            </a:r>
          </a:p>
        </p:txBody>
      </p:sp>
      <p:sp>
        <p:nvSpPr>
          <p:cNvPr id="665652" name="Text Box 52"/>
          <p:cNvSpPr txBox="1">
            <a:spLocks noChangeArrowheads="1"/>
          </p:cNvSpPr>
          <p:nvPr/>
        </p:nvSpPr>
        <p:spPr bwMode="auto">
          <a:xfrm>
            <a:off x="4419600" y="4343400"/>
            <a:ext cx="1187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800"/>
              <a:t>[K,G,C,S]</a:t>
            </a:r>
          </a:p>
        </p:txBody>
      </p:sp>
      <p:sp>
        <p:nvSpPr>
          <p:cNvPr id="665653" name="Line 53"/>
          <p:cNvSpPr>
            <a:spLocks noChangeShapeType="1"/>
          </p:cNvSpPr>
          <p:nvPr/>
        </p:nvSpPr>
        <p:spPr bwMode="auto">
          <a:xfrm>
            <a:off x="6019800" y="4648200"/>
            <a:ext cx="304800" cy="30480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5654" name="Text Box 54"/>
          <p:cNvSpPr txBox="1">
            <a:spLocks noChangeArrowheads="1"/>
          </p:cNvSpPr>
          <p:nvPr/>
        </p:nvSpPr>
        <p:spPr bwMode="auto">
          <a:xfrm>
            <a:off x="5943600" y="4495800"/>
            <a:ext cx="819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l"/>
            <a:r>
              <a:rPr lang="en-US" sz="1800"/>
              <a:t>RREP</a:t>
            </a:r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6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Use of Route Caching:</a:t>
            </a:r>
            <a:br>
              <a:rPr lang="en-US" dirty="0"/>
            </a:br>
            <a:r>
              <a:rPr lang="en-US" sz="3600" dirty="0">
                <a:solidFill>
                  <a:srgbClr val="FF0000"/>
                </a:solidFill>
              </a:rPr>
              <a:t>Can Reduce Propagation of Route Requests</a:t>
            </a:r>
            <a:endParaRPr lang="en-US" dirty="0"/>
          </a:p>
        </p:txBody>
      </p:sp>
      <p:sp>
        <p:nvSpPr>
          <p:cNvPr id="5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B89C7-B3A2-417F-8D86-EE5FBC061BB9}" type="slidenum">
              <a:rPr lang="en-US"/>
              <a:pPr/>
              <a:t>46</a:t>
            </a:fld>
            <a:endParaRPr lang="en-US"/>
          </a:p>
        </p:txBody>
      </p:sp>
      <p:sp>
        <p:nvSpPr>
          <p:cNvPr id="666627" name="Oval 3"/>
          <p:cNvSpPr>
            <a:spLocks noChangeArrowheads="1"/>
          </p:cNvSpPr>
          <p:nvPr/>
        </p:nvSpPr>
        <p:spPr bwMode="auto">
          <a:xfrm>
            <a:off x="2209800" y="28956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B</a:t>
            </a:r>
          </a:p>
        </p:txBody>
      </p:sp>
      <p:sp>
        <p:nvSpPr>
          <p:cNvPr id="666628" name="Oval 4"/>
          <p:cNvSpPr>
            <a:spLocks noChangeArrowheads="1"/>
          </p:cNvSpPr>
          <p:nvPr/>
        </p:nvSpPr>
        <p:spPr bwMode="auto">
          <a:xfrm>
            <a:off x="1447800" y="35814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A</a:t>
            </a:r>
          </a:p>
        </p:txBody>
      </p:sp>
      <p:sp>
        <p:nvSpPr>
          <p:cNvPr id="666629" name="Oval 5"/>
          <p:cNvSpPr>
            <a:spLocks noChangeArrowheads="1"/>
          </p:cNvSpPr>
          <p:nvPr/>
        </p:nvSpPr>
        <p:spPr bwMode="auto">
          <a:xfrm>
            <a:off x="3124200" y="2286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S</a:t>
            </a:r>
          </a:p>
        </p:txBody>
      </p:sp>
      <p:sp>
        <p:nvSpPr>
          <p:cNvPr id="666630" name="Oval 6"/>
          <p:cNvSpPr>
            <a:spLocks noChangeArrowheads="1"/>
          </p:cNvSpPr>
          <p:nvPr/>
        </p:nvSpPr>
        <p:spPr bwMode="auto">
          <a:xfrm>
            <a:off x="4114800" y="23622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E</a:t>
            </a:r>
          </a:p>
        </p:txBody>
      </p:sp>
      <p:sp>
        <p:nvSpPr>
          <p:cNvPr id="666631" name="Oval 7"/>
          <p:cNvSpPr>
            <a:spLocks noChangeArrowheads="1"/>
          </p:cNvSpPr>
          <p:nvPr/>
        </p:nvSpPr>
        <p:spPr bwMode="auto">
          <a:xfrm>
            <a:off x="5105400" y="27432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F</a:t>
            </a:r>
          </a:p>
        </p:txBody>
      </p:sp>
      <p:sp>
        <p:nvSpPr>
          <p:cNvPr id="666632" name="Oval 8"/>
          <p:cNvSpPr>
            <a:spLocks noChangeArrowheads="1"/>
          </p:cNvSpPr>
          <p:nvPr/>
        </p:nvSpPr>
        <p:spPr bwMode="auto">
          <a:xfrm>
            <a:off x="2667000" y="38862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H</a:t>
            </a:r>
          </a:p>
        </p:txBody>
      </p:sp>
      <p:sp>
        <p:nvSpPr>
          <p:cNvPr id="666633" name="Oval 9"/>
          <p:cNvSpPr>
            <a:spLocks noChangeArrowheads="1"/>
          </p:cNvSpPr>
          <p:nvPr/>
        </p:nvSpPr>
        <p:spPr bwMode="auto">
          <a:xfrm>
            <a:off x="5943600" y="32766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J</a:t>
            </a:r>
          </a:p>
        </p:txBody>
      </p:sp>
      <p:sp>
        <p:nvSpPr>
          <p:cNvPr id="666634" name="Oval 10"/>
          <p:cNvSpPr>
            <a:spLocks noChangeArrowheads="1"/>
          </p:cNvSpPr>
          <p:nvPr/>
        </p:nvSpPr>
        <p:spPr bwMode="auto">
          <a:xfrm>
            <a:off x="6705600" y="38862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D</a:t>
            </a:r>
          </a:p>
        </p:txBody>
      </p:sp>
      <p:sp>
        <p:nvSpPr>
          <p:cNvPr id="666635" name="Oval 11"/>
          <p:cNvSpPr>
            <a:spLocks noChangeArrowheads="1"/>
          </p:cNvSpPr>
          <p:nvPr/>
        </p:nvSpPr>
        <p:spPr bwMode="auto">
          <a:xfrm>
            <a:off x="3505200" y="3048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C</a:t>
            </a:r>
          </a:p>
        </p:txBody>
      </p:sp>
      <p:sp>
        <p:nvSpPr>
          <p:cNvPr id="666636" name="Oval 12"/>
          <p:cNvSpPr>
            <a:spLocks noChangeArrowheads="1"/>
          </p:cNvSpPr>
          <p:nvPr/>
        </p:nvSpPr>
        <p:spPr bwMode="auto">
          <a:xfrm>
            <a:off x="4572000" y="35814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G</a:t>
            </a:r>
          </a:p>
        </p:txBody>
      </p:sp>
      <p:sp>
        <p:nvSpPr>
          <p:cNvPr id="666637" name="Oval 13"/>
          <p:cNvSpPr>
            <a:spLocks noChangeArrowheads="1"/>
          </p:cNvSpPr>
          <p:nvPr/>
        </p:nvSpPr>
        <p:spPr bwMode="auto">
          <a:xfrm>
            <a:off x="3733800" y="44196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I</a:t>
            </a:r>
          </a:p>
        </p:txBody>
      </p:sp>
      <p:sp>
        <p:nvSpPr>
          <p:cNvPr id="666638" name="Oval 14"/>
          <p:cNvSpPr>
            <a:spLocks noChangeArrowheads="1"/>
          </p:cNvSpPr>
          <p:nvPr/>
        </p:nvSpPr>
        <p:spPr bwMode="auto">
          <a:xfrm>
            <a:off x="5486400" y="41148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K</a:t>
            </a:r>
          </a:p>
        </p:txBody>
      </p:sp>
      <p:sp>
        <p:nvSpPr>
          <p:cNvPr id="666639" name="Line 15"/>
          <p:cNvSpPr>
            <a:spLocks noChangeShapeType="1"/>
          </p:cNvSpPr>
          <p:nvPr/>
        </p:nvSpPr>
        <p:spPr bwMode="auto">
          <a:xfrm flipV="1">
            <a:off x="1981200" y="3352800"/>
            <a:ext cx="304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6640" name="Line 16"/>
          <p:cNvSpPr>
            <a:spLocks noChangeShapeType="1"/>
          </p:cNvSpPr>
          <p:nvPr/>
        </p:nvSpPr>
        <p:spPr bwMode="auto">
          <a:xfrm flipV="1">
            <a:off x="2743200" y="2743200"/>
            <a:ext cx="457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6641" name="Line 17"/>
          <p:cNvSpPr>
            <a:spLocks noChangeShapeType="1"/>
          </p:cNvSpPr>
          <p:nvPr/>
        </p:nvSpPr>
        <p:spPr bwMode="auto">
          <a:xfrm>
            <a:off x="2057400" y="3962400"/>
            <a:ext cx="6858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6642" name="Line 18"/>
          <p:cNvSpPr>
            <a:spLocks noChangeShapeType="1"/>
          </p:cNvSpPr>
          <p:nvPr/>
        </p:nvSpPr>
        <p:spPr bwMode="auto">
          <a:xfrm>
            <a:off x="2667000" y="3429000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6643" name="Line 19"/>
          <p:cNvSpPr>
            <a:spLocks noChangeShapeType="1"/>
          </p:cNvSpPr>
          <p:nvPr/>
        </p:nvSpPr>
        <p:spPr bwMode="auto">
          <a:xfrm flipH="1">
            <a:off x="3124200" y="3581400"/>
            <a:ext cx="533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6644" name="Line 20"/>
          <p:cNvSpPr>
            <a:spLocks noChangeShapeType="1"/>
          </p:cNvSpPr>
          <p:nvPr/>
        </p:nvSpPr>
        <p:spPr bwMode="auto">
          <a:xfrm flipH="1">
            <a:off x="3962400" y="28956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6645" name="Line 21"/>
          <p:cNvSpPr>
            <a:spLocks noChangeShapeType="1"/>
          </p:cNvSpPr>
          <p:nvPr/>
        </p:nvSpPr>
        <p:spPr bwMode="auto">
          <a:xfrm>
            <a:off x="4724400" y="2743200"/>
            <a:ext cx="457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6646" name="Line 22"/>
          <p:cNvSpPr>
            <a:spLocks noChangeShapeType="1"/>
          </p:cNvSpPr>
          <p:nvPr/>
        </p:nvSpPr>
        <p:spPr bwMode="auto">
          <a:xfrm flipH="1">
            <a:off x="5029200" y="32766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6647" name="Line 23"/>
          <p:cNvSpPr>
            <a:spLocks noChangeShapeType="1"/>
          </p:cNvSpPr>
          <p:nvPr/>
        </p:nvSpPr>
        <p:spPr bwMode="auto">
          <a:xfrm flipH="1">
            <a:off x="4191000" y="4114800"/>
            <a:ext cx="457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6648" name="Line 24"/>
          <p:cNvSpPr>
            <a:spLocks noChangeShapeType="1"/>
          </p:cNvSpPr>
          <p:nvPr/>
        </p:nvSpPr>
        <p:spPr bwMode="auto">
          <a:xfrm>
            <a:off x="4114800" y="3505200"/>
            <a:ext cx="457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6649" name="Line 25"/>
          <p:cNvSpPr>
            <a:spLocks noChangeShapeType="1"/>
          </p:cNvSpPr>
          <p:nvPr/>
        </p:nvSpPr>
        <p:spPr bwMode="auto">
          <a:xfrm>
            <a:off x="3200400" y="4343400"/>
            <a:ext cx="533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6650" name="Line 26"/>
          <p:cNvSpPr>
            <a:spLocks noChangeShapeType="1"/>
          </p:cNvSpPr>
          <p:nvPr/>
        </p:nvSpPr>
        <p:spPr bwMode="auto">
          <a:xfrm>
            <a:off x="5638800" y="3200400"/>
            <a:ext cx="381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6651" name="Line 27"/>
          <p:cNvSpPr>
            <a:spLocks noChangeShapeType="1"/>
          </p:cNvSpPr>
          <p:nvPr/>
        </p:nvSpPr>
        <p:spPr bwMode="auto">
          <a:xfrm>
            <a:off x="5105400" y="4114800"/>
            <a:ext cx="381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6652" name="Line 28"/>
          <p:cNvSpPr>
            <a:spLocks noChangeShapeType="1"/>
          </p:cNvSpPr>
          <p:nvPr/>
        </p:nvSpPr>
        <p:spPr bwMode="auto">
          <a:xfrm>
            <a:off x="6477000" y="3733800"/>
            <a:ext cx="304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6653" name="Line 29"/>
          <p:cNvSpPr>
            <a:spLocks noChangeShapeType="1"/>
          </p:cNvSpPr>
          <p:nvPr/>
        </p:nvSpPr>
        <p:spPr bwMode="auto">
          <a:xfrm flipH="1">
            <a:off x="6096000" y="4267200"/>
            <a:ext cx="609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6654" name="Line 30"/>
          <p:cNvSpPr>
            <a:spLocks noChangeShapeType="1"/>
          </p:cNvSpPr>
          <p:nvPr/>
        </p:nvSpPr>
        <p:spPr bwMode="auto">
          <a:xfrm flipH="1">
            <a:off x="3733800" y="25908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6655" name="Line 31"/>
          <p:cNvSpPr>
            <a:spLocks noChangeShapeType="1"/>
          </p:cNvSpPr>
          <p:nvPr/>
        </p:nvSpPr>
        <p:spPr bwMode="auto">
          <a:xfrm>
            <a:off x="3505200" y="28956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6656" name="Oval 32" descr="Water droplets"/>
          <p:cNvSpPr>
            <a:spLocks noChangeArrowheads="1"/>
          </p:cNvSpPr>
          <p:nvPr/>
        </p:nvSpPr>
        <p:spPr bwMode="auto">
          <a:xfrm>
            <a:off x="5867400" y="50292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Z</a:t>
            </a:r>
          </a:p>
        </p:txBody>
      </p:sp>
      <p:sp>
        <p:nvSpPr>
          <p:cNvPr id="666657" name="Oval 33"/>
          <p:cNvSpPr>
            <a:spLocks noChangeArrowheads="1"/>
          </p:cNvSpPr>
          <p:nvPr/>
        </p:nvSpPr>
        <p:spPr bwMode="auto">
          <a:xfrm>
            <a:off x="7467600" y="17526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Y</a:t>
            </a:r>
          </a:p>
        </p:txBody>
      </p:sp>
      <p:sp>
        <p:nvSpPr>
          <p:cNvPr id="666658" name="Oval 34"/>
          <p:cNvSpPr>
            <a:spLocks noChangeArrowheads="1"/>
          </p:cNvSpPr>
          <p:nvPr/>
        </p:nvSpPr>
        <p:spPr bwMode="auto">
          <a:xfrm>
            <a:off x="6934200" y="3048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M</a:t>
            </a:r>
          </a:p>
        </p:txBody>
      </p:sp>
      <p:sp>
        <p:nvSpPr>
          <p:cNvPr id="666659" name="Line 35"/>
          <p:cNvSpPr>
            <a:spLocks noChangeShapeType="1"/>
          </p:cNvSpPr>
          <p:nvPr/>
        </p:nvSpPr>
        <p:spPr bwMode="auto">
          <a:xfrm flipV="1">
            <a:off x="6553200" y="3352800"/>
            <a:ext cx="3810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6660" name="Oval 36"/>
          <p:cNvSpPr>
            <a:spLocks noChangeArrowheads="1"/>
          </p:cNvSpPr>
          <p:nvPr/>
        </p:nvSpPr>
        <p:spPr bwMode="auto">
          <a:xfrm>
            <a:off x="7391400" y="44196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N</a:t>
            </a:r>
          </a:p>
        </p:txBody>
      </p:sp>
      <p:sp>
        <p:nvSpPr>
          <p:cNvPr id="666661" name="Line 37"/>
          <p:cNvSpPr>
            <a:spLocks noChangeShapeType="1"/>
          </p:cNvSpPr>
          <p:nvPr/>
        </p:nvSpPr>
        <p:spPr bwMode="auto">
          <a:xfrm>
            <a:off x="7239000" y="4419600"/>
            <a:ext cx="228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6662" name="Oval 38"/>
          <p:cNvSpPr>
            <a:spLocks noChangeArrowheads="1"/>
          </p:cNvSpPr>
          <p:nvPr/>
        </p:nvSpPr>
        <p:spPr bwMode="auto">
          <a:xfrm>
            <a:off x="7848600" y="3048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L</a:t>
            </a:r>
          </a:p>
        </p:txBody>
      </p:sp>
      <p:sp>
        <p:nvSpPr>
          <p:cNvPr id="666663" name="Line 39"/>
          <p:cNvSpPr>
            <a:spLocks noChangeShapeType="1"/>
          </p:cNvSpPr>
          <p:nvPr/>
        </p:nvSpPr>
        <p:spPr bwMode="auto">
          <a:xfrm>
            <a:off x="7543800" y="33528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6664" name="Text Box 40"/>
          <p:cNvSpPr txBox="1">
            <a:spLocks noChangeArrowheads="1"/>
          </p:cNvSpPr>
          <p:nvPr/>
        </p:nvSpPr>
        <p:spPr bwMode="auto">
          <a:xfrm>
            <a:off x="2235200" y="1873250"/>
            <a:ext cx="1327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800"/>
              <a:t>[S,E,F,J,D]</a:t>
            </a:r>
          </a:p>
        </p:txBody>
      </p:sp>
      <p:sp>
        <p:nvSpPr>
          <p:cNvPr id="666665" name="Text Box 41"/>
          <p:cNvSpPr txBox="1">
            <a:spLocks noChangeArrowheads="1"/>
          </p:cNvSpPr>
          <p:nvPr/>
        </p:nvSpPr>
        <p:spPr bwMode="auto">
          <a:xfrm>
            <a:off x="3790950" y="2025650"/>
            <a:ext cx="1111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800"/>
              <a:t>[E,F,J,D]</a:t>
            </a:r>
          </a:p>
        </p:txBody>
      </p:sp>
      <p:sp>
        <p:nvSpPr>
          <p:cNvPr id="666666" name="Text Box 42"/>
          <p:cNvSpPr txBox="1">
            <a:spLocks noChangeArrowheads="1"/>
          </p:cNvSpPr>
          <p:nvPr/>
        </p:nvSpPr>
        <p:spPr bwMode="auto">
          <a:xfrm>
            <a:off x="3305175" y="3671888"/>
            <a:ext cx="7175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800"/>
              <a:t>[C,S]</a:t>
            </a:r>
          </a:p>
        </p:txBody>
      </p:sp>
      <p:sp>
        <p:nvSpPr>
          <p:cNvPr id="666667" name="Text Box 43"/>
          <p:cNvSpPr txBox="1">
            <a:spLocks noChangeArrowheads="1"/>
          </p:cNvSpPr>
          <p:nvPr/>
        </p:nvSpPr>
        <p:spPr bwMode="auto">
          <a:xfrm>
            <a:off x="4267200" y="3276600"/>
            <a:ext cx="9588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800"/>
              <a:t>[G,C,S]</a:t>
            </a:r>
          </a:p>
        </p:txBody>
      </p:sp>
      <p:sp>
        <p:nvSpPr>
          <p:cNvPr id="666668" name="Text Box 44"/>
          <p:cNvSpPr txBox="1">
            <a:spLocks noChangeArrowheads="1"/>
          </p:cNvSpPr>
          <p:nvPr/>
        </p:nvSpPr>
        <p:spPr bwMode="auto">
          <a:xfrm>
            <a:off x="4957763" y="2452688"/>
            <a:ext cx="1682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800"/>
              <a:t>[F,J,D],[F,E,S]</a:t>
            </a:r>
          </a:p>
        </p:txBody>
      </p:sp>
      <p:sp>
        <p:nvSpPr>
          <p:cNvPr id="666669" name="Text Box 45"/>
          <p:cNvSpPr txBox="1">
            <a:spLocks noChangeArrowheads="1"/>
          </p:cNvSpPr>
          <p:nvPr/>
        </p:nvSpPr>
        <p:spPr bwMode="auto">
          <a:xfrm>
            <a:off x="5840413" y="2986088"/>
            <a:ext cx="10985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800"/>
              <a:t>[J,F,E,S]</a:t>
            </a:r>
            <a:endParaRPr lang="en-US"/>
          </a:p>
        </p:txBody>
      </p:sp>
      <p:sp>
        <p:nvSpPr>
          <p:cNvPr id="666670" name="Line 46"/>
          <p:cNvSpPr>
            <a:spLocks noChangeShapeType="1"/>
          </p:cNvSpPr>
          <p:nvPr/>
        </p:nvSpPr>
        <p:spPr bwMode="auto">
          <a:xfrm>
            <a:off x="5867400" y="4724400"/>
            <a:ext cx="228600" cy="3810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6671" name="Text Box 47"/>
          <p:cNvSpPr txBox="1">
            <a:spLocks noChangeArrowheads="1"/>
          </p:cNvSpPr>
          <p:nvPr/>
        </p:nvSpPr>
        <p:spPr bwMode="auto">
          <a:xfrm>
            <a:off x="5105400" y="4876800"/>
            <a:ext cx="844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800"/>
              <a:t>RREQ</a:t>
            </a:r>
            <a:endParaRPr lang="en-US"/>
          </a:p>
        </p:txBody>
      </p:sp>
      <p:sp>
        <p:nvSpPr>
          <p:cNvPr id="666673" name="Text Box 49"/>
          <p:cNvSpPr txBox="1">
            <a:spLocks noChangeArrowheads="1"/>
          </p:cNvSpPr>
          <p:nvPr/>
        </p:nvSpPr>
        <p:spPr bwMode="auto">
          <a:xfrm>
            <a:off x="228600" y="5638800"/>
            <a:ext cx="595996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l"/>
            <a:r>
              <a:rPr lang="en-US" dirty="0"/>
              <a:t>Assume that there is no link between D and Z.</a:t>
            </a:r>
          </a:p>
          <a:p>
            <a:pPr algn="l"/>
            <a:r>
              <a:rPr lang="en-US" dirty="0"/>
              <a:t>Route Reply (RREP) from node K </a:t>
            </a:r>
            <a:r>
              <a:rPr lang="en-US" dirty="0">
                <a:solidFill>
                  <a:srgbClr val="FF0000"/>
                </a:solidFill>
              </a:rPr>
              <a:t>limits flooding</a:t>
            </a:r>
            <a:r>
              <a:rPr lang="en-US" dirty="0"/>
              <a:t> of RREQ.</a:t>
            </a:r>
          </a:p>
        </p:txBody>
      </p:sp>
      <p:sp>
        <p:nvSpPr>
          <p:cNvPr id="666674" name="Text Box 50"/>
          <p:cNvSpPr txBox="1">
            <a:spLocks noChangeArrowheads="1"/>
          </p:cNvSpPr>
          <p:nvPr/>
        </p:nvSpPr>
        <p:spPr bwMode="auto">
          <a:xfrm>
            <a:off x="4419600" y="4343400"/>
            <a:ext cx="1187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800"/>
              <a:t>[K,G,C,S]</a:t>
            </a:r>
          </a:p>
        </p:txBody>
      </p:sp>
      <p:sp>
        <p:nvSpPr>
          <p:cNvPr id="666675" name="Line 51"/>
          <p:cNvSpPr>
            <a:spLocks noChangeShapeType="1"/>
          </p:cNvSpPr>
          <p:nvPr/>
        </p:nvSpPr>
        <p:spPr bwMode="auto">
          <a:xfrm>
            <a:off x="6019800" y="4648200"/>
            <a:ext cx="304800" cy="30480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6676" name="Text Box 52"/>
          <p:cNvSpPr txBox="1">
            <a:spLocks noChangeArrowheads="1"/>
          </p:cNvSpPr>
          <p:nvPr/>
        </p:nvSpPr>
        <p:spPr bwMode="auto">
          <a:xfrm>
            <a:off x="6308725" y="4616450"/>
            <a:ext cx="819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l"/>
            <a:r>
              <a:rPr lang="en-US" sz="1800"/>
              <a:t>RREP</a:t>
            </a:r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514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/>
              <a:t>Route Error (RERR)</a:t>
            </a:r>
          </a:p>
        </p:txBody>
      </p:sp>
      <p:sp>
        <p:nvSpPr>
          <p:cNvPr id="4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27F11-6767-462A-A73A-BD42E2A2D8D8}" type="slidenum">
              <a:rPr lang="en-US"/>
              <a:pPr/>
              <a:t>47</a:t>
            </a:fld>
            <a:endParaRPr lang="en-US"/>
          </a:p>
        </p:txBody>
      </p:sp>
      <p:sp>
        <p:nvSpPr>
          <p:cNvPr id="1088515" name="Oval 3" descr="Water droplets"/>
          <p:cNvSpPr>
            <a:spLocks noChangeArrowheads="1"/>
          </p:cNvSpPr>
          <p:nvPr/>
        </p:nvSpPr>
        <p:spPr bwMode="auto">
          <a:xfrm>
            <a:off x="2209800" y="28956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B</a:t>
            </a:r>
          </a:p>
        </p:txBody>
      </p:sp>
      <p:sp>
        <p:nvSpPr>
          <p:cNvPr id="1088516" name="Oval 4" descr="Water droplets"/>
          <p:cNvSpPr>
            <a:spLocks noChangeArrowheads="1"/>
          </p:cNvSpPr>
          <p:nvPr/>
        </p:nvSpPr>
        <p:spPr bwMode="auto">
          <a:xfrm>
            <a:off x="1447800" y="35814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A</a:t>
            </a:r>
          </a:p>
        </p:txBody>
      </p:sp>
      <p:sp>
        <p:nvSpPr>
          <p:cNvPr id="1088517" name="Oval 5" descr="Water droplets"/>
          <p:cNvSpPr>
            <a:spLocks noChangeArrowheads="1"/>
          </p:cNvSpPr>
          <p:nvPr/>
        </p:nvSpPr>
        <p:spPr bwMode="auto">
          <a:xfrm>
            <a:off x="3124200" y="22860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S</a:t>
            </a:r>
          </a:p>
        </p:txBody>
      </p:sp>
      <p:sp>
        <p:nvSpPr>
          <p:cNvPr id="1088518" name="Oval 6" descr="Water droplets"/>
          <p:cNvSpPr>
            <a:spLocks noChangeArrowheads="1"/>
          </p:cNvSpPr>
          <p:nvPr/>
        </p:nvSpPr>
        <p:spPr bwMode="auto">
          <a:xfrm>
            <a:off x="4114800" y="23622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E</a:t>
            </a:r>
          </a:p>
        </p:txBody>
      </p:sp>
      <p:sp>
        <p:nvSpPr>
          <p:cNvPr id="1088519" name="Oval 7" descr="Water droplets"/>
          <p:cNvSpPr>
            <a:spLocks noChangeArrowheads="1"/>
          </p:cNvSpPr>
          <p:nvPr/>
        </p:nvSpPr>
        <p:spPr bwMode="auto">
          <a:xfrm>
            <a:off x="5105400" y="27432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F</a:t>
            </a:r>
          </a:p>
        </p:txBody>
      </p:sp>
      <p:sp>
        <p:nvSpPr>
          <p:cNvPr id="1088520" name="Oval 8" descr="Water droplets"/>
          <p:cNvSpPr>
            <a:spLocks noChangeArrowheads="1"/>
          </p:cNvSpPr>
          <p:nvPr/>
        </p:nvSpPr>
        <p:spPr bwMode="auto">
          <a:xfrm>
            <a:off x="2667000" y="38862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H</a:t>
            </a:r>
          </a:p>
        </p:txBody>
      </p:sp>
      <p:sp>
        <p:nvSpPr>
          <p:cNvPr id="1088521" name="Oval 9" descr="Water droplets"/>
          <p:cNvSpPr>
            <a:spLocks noChangeArrowheads="1"/>
          </p:cNvSpPr>
          <p:nvPr/>
        </p:nvSpPr>
        <p:spPr bwMode="auto">
          <a:xfrm>
            <a:off x="5943600" y="32766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J</a:t>
            </a:r>
          </a:p>
        </p:txBody>
      </p:sp>
      <p:sp>
        <p:nvSpPr>
          <p:cNvPr id="1088522" name="Oval 10" descr="Water droplets"/>
          <p:cNvSpPr>
            <a:spLocks noChangeArrowheads="1"/>
          </p:cNvSpPr>
          <p:nvPr/>
        </p:nvSpPr>
        <p:spPr bwMode="auto">
          <a:xfrm>
            <a:off x="6705600" y="38862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D</a:t>
            </a:r>
          </a:p>
        </p:txBody>
      </p:sp>
      <p:sp>
        <p:nvSpPr>
          <p:cNvPr id="1088523" name="Oval 11" descr="Water droplets"/>
          <p:cNvSpPr>
            <a:spLocks noChangeArrowheads="1"/>
          </p:cNvSpPr>
          <p:nvPr/>
        </p:nvSpPr>
        <p:spPr bwMode="auto">
          <a:xfrm>
            <a:off x="3505200" y="30480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C</a:t>
            </a:r>
          </a:p>
        </p:txBody>
      </p:sp>
      <p:sp>
        <p:nvSpPr>
          <p:cNvPr id="1088524" name="Oval 12" descr="Water droplets"/>
          <p:cNvSpPr>
            <a:spLocks noChangeArrowheads="1"/>
          </p:cNvSpPr>
          <p:nvPr/>
        </p:nvSpPr>
        <p:spPr bwMode="auto">
          <a:xfrm>
            <a:off x="4572000" y="35814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G</a:t>
            </a:r>
          </a:p>
        </p:txBody>
      </p:sp>
      <p:sp>
        <p:nvSpPr>
          <p:cNvPr id="1088525" name="Oval 13" descr="Water droplets"/>
          <p:cNvSpPr>
            <a:spLocks noChangeArrowheads="1"/>
          </p:cNvSpPr>
          <p:nvPr/>
        </p:nvSpPr>
        <p:spPr bwMode="auto">
          <a:xfrm>
            <a:off x="3733800" y="44196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I</a:t>
            </a:r>
          </a:p>
        </p:txBody>
      </p:sp>
      <p:sp>
        <p:nvSpPr>
          <p:cNvPr id="1088526" name="Oval 14" descr="Water droplets"/>
          <p:cNvSpPr>
            <a:spLocks noChangeArrowheads="1"/>
          </p:cNvSpPr>
          <p:nvPr/>
        </p:nvSpPr>
        <p:spPr bwMode="auto">
          <a:xfrm>
            <a:off x="5486400" y="41148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K</a:t>
            </a:r>
          </a:p>
        </p:txBody>
      </p:sp>
      <p:sp>
        <p:nvSpPr>
          <p:cNvPr id="1088527" name="Line 15"/>
          <p:cNvSpPr>
            <a:spLocks noChangeShapeType="1"/>
          </p:cNvSpPr>
          <p:nvPr/>
        </p:nvSpPr>
        <p:spPr bwMode="auto">
          <a:xfrm flipV="1">
            <a:off x="1981200" y="3352800"/>
            <a:ext cx="304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28" name="Line 16"/>
          <p:cNvSpPr>
            <a:spLocks noChangeShapeType="1"/>
          </p:cNvSpPr>
          <p:nvPr/>
        </p:nvSpPr>
        <p:spPr bwMode="auto">
          <a:xfrm flipV="1">
            <a:off x="2743200" y="2743200"/>
            <a:ext cx="457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29" name="Line 17"/>
          <p:cNvSpPr>
            <a:spLocks noChangeShapeType="1"/>
          </p:cNvSpPr>
          <p:nvPr/>
        </p:nvSpPr>
        <p:spPr bwMode="auto">
          <a:xfrm>
            <a:off x="2057400" y="3962400"/>
            <a:ext cx="6858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30" name="Line 18"/>
          <p:cNvSpPr>
            <a:spLocks noChangeShapeType="1"/>
          </p:cNvSpPr>
          <p:nvPr/>
        </p:nvSpPr>
        <p:spPr bwMode="auto">
          <a:xfrm>
            <a:off x="2667000" y="3429000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31" name="Line 19"/>
          <p:cNvSpPr>
            <a:spLocks noChangeShapeType="1"/>
          </p:cNvSpPr>
          <p:nvPr/>
        </p:nvSpPr>
        <p:spPr bwMode="auto">
          <a:xfrm flipH="1">
            <a:off x="3124200" y="3581400"/>
            <a:ext cx="533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32" name="Line 20"/>
          <p:cNvSpPr>
            <a:spLocks noChangeShapeType="1"/>
          </p:cNvSpPr>
          <p:nvPr/>
        </p:nvSpPr>
        <p:spPr bwMode="auto">
          <a:xfrm flipH="1">
            <a:off x="3962400" y="28956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33" name="Line 21"/>
          <p:cNvSpPr>
            <a:spLocks noChangeShapeType="1"/>
          </p:cNvSpPr>
          <p:nvPr/>
        </p:nvSpPr>
        <p:spPr bwMode="auto">
          <a:xfrm>
            <a:off x="4724400" y="2743200"/>
            <a:ext cx="457200" cy="152400"/>
          </a:xfrm>
          <a:prstGeom prst="line">
            <a:avLst/>
          </a:prstGeom>
          <a:noFill/>
          <a:ln w="38100" cap="rnd">
            <a:solidFill>
              <a:srgbClr val="FF0000"/>
            </a:solidFill>
            <a:prstDash val="sysDot"/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34" name="Line 22"/>
          <p:cNvSpPr>
            <a:spLocks noChangeShapeType="1"/>
          </p:cNvSpPr>
          <p:nvPr/>
        </p:nvSpPr>
        <p:spPr bwMode="auto">
          <a:xfrm flipH="1">
            <a:off x="5029200" y="32766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35" name="Line 23"/>
          <p:cNvSpPr>
            <a:spLocks noChangeShapeType="1"/>
          </p:cNvSpPr>
          <p:nvPr/>
        </p:nvSpPr>
        <p:spPr bwMode="auto">
          <a:xfrm flipH="1">
            <a:off x="4191000" y="4114800"/>
            <a:ext cx="4572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36" name="Line 24"/>
          <p:cNvSpPr>
            <a:spLocks noChangeShapeType="1"/>
          </p:cNvSpPr>
          <p:nvPr/>
        </p:nvSpPr>
        <p:spPr bwMode="auto">
          <a:xfrm>
            <a:off x="4114800" y="3505200"/>
            <a:ext cx="457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37" name="Line 25"/>
          <p:cNvSpPr>
            <a:spLocks noChangeShapeType="1"/>
          </p:cNvSpPr>
          <p:nvPr/>
        </p:nvSpPr>
        <p:spPr bwMode="auto">
          <a:xfrm>
            <a:off x="3200400" y="4343400"/>
            <a:ext cx="5334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38" name="Line 26"/>
          <p:cNvSpPr>
            <a:spLocks noChangeShapeType="1"/>
          </p:cNvSpPr>
          <p:nvPr/>
        </p:nvSpPr>
        <p:spPr bwMode="auto">
          <a:xfrm>
            <a:off x="5638800" y="3200400"/>
            <a:ext cx="381000" cy="152400"/>
          </a:xfrm>
          <a:prstGeom prst="line">
            <a:avLst/>
          </a:prstGeom>
          <a:noFill/>
          <a:ln w="38100" cap="rnd">
            <a:solidFill>
              <a:srgbClr val="FF0000"/>
            </a:solidFill>
            <a:prstDash val="sysDot"/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39" name="Line 27"/>
          <p:cNvSpPr>
            <a:spLocks noChangeShapeType="1"/>
          </p:cNvSpPr>
          <p:nvPr/>
        </p:nvSpPr>
        <p:spPr bwMode="auto">
          <a:xfrm>
            <a:off x="5105400" y="4114800"/>
            <a:ext cx="3810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40" name="Line 28"/>
          <p:cNvSpPr>
            <a:spLocks noChangeShapeType="1"/>
          </p:cNvSpPr>
          <p:nvPr/>
        </p:nvSpPr>
        <p:spPr bwMode="auto">
          <a:xfrm>
            <a:off x="6477000" y="3733800"/>
            <a:ext cx="304800" cy="2286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41" name="Line 29"/>
          <p:cNvSpPr>
            <a:spLocks noChangeShapeType="1"/>
          </p:cNvSpPr>
          <p:nvPr/>
        </p:nvSpPr>
        <p:spPr bwMode="auto">
          <a:xfrm flipH="1">
            <a:off x="6096000" y="4267200"/>
            <a:ext cx="609600" cy="76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42" name="Line 30"/>
          <p:cNvSpPr>
            <a:spLocks noChangeShapeType="1"/>
          </p:cNvSpPr>
          <p:nvPr/>
        </p:nvSpPr>
        <p:spPr bwMode="auto">
          <a:xfrm flipH="1">
            <a:off x="3733800" y="2590800"/>
            <a:ext cx="381000" cy="0"/>
          </a:xfrm>
          <a:prstGeom prst="line">
            <a:avLst/>
          </a:prstGeom>
          <a:noFill/>
          <a:ln w="38100" cap="rnd">
            <a:solidFill>
              <a:srgbClr val="FF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43" name="Line 31"/>
          <p:cNvSpPr>
            <a:spLocks noChangeShapeType="1"/>
          </p:cNvSpPr>
          <p:nvPr/>
        </p:nvSpPr>
        <p:spPr bwMode="auto">
          <a:xfrm>
            <a:off x="3505200" y="28956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44" name="Oval 32"/>
          <p:cNvSpPr>
            <a:spLocks noChangeArrowheads="1"/>
          </p:cNvSpPr>
          <p:nvPr/>
        </p:nvSpPr>
        <p:spPr bwMode="auto">
          <a:xfrm>
            <a:off x="7162800" y="1905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Z</a:t>
            </a:r>
          </a:p>
        </p:txBody>
      </p:sp>
      <p:sp>
        <p:nvSpPr>
          <p:cNvPr id="1088545" name="Oval 33"/>
          <p:cNvSpPr>
            <a:spLocks noChangeArrowheads="1"/>
          </p:cNvSpPr>
          <p:nvPr/>
        </p:nvSpPr>
        <p:spPr bwMode="auto">
          <a:xfrm>
            <a:off x="7467600" y="1143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Y</a:t>
            </a:r>
          </a:p>
        </p:txBody>
      </p:sp>
      <p:sp>
        <p:nvSpPr>
          <p:cNvPr id="1088546" name="Line 34"/>
          <p:cNvSpPr>
            <a:spLocks noChangeShapeType="1"/>
          </p:cNvSpPr>
          <p:nvPr/>
        </p:nvSpPr>
        <p:spPr bwMode="auto">
          <a:xfrm flipH="1">
            <a:off x="7543800" y="1752600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47" name="Oval 35" descr="Water droplets"/>
          <p:cNvSpPr>
            <a:spLocks noChangeArrowheads="1"/>
          </p:cNvSpPr>
          <p:nvPr/>
        </p:nvSpPr>
        <p:spPr bwMode="auto">
          <a:xfrm>
            <a:off x="6934200" y="30480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M</a:t>
            </a:r>
          </a:p>
        </p:txBody>
      </p:sp>
      <p:sp>
        <p:nvSpPr>
          <p:cNvPr id="1088548" name="Line 36"/>
          <p:cNvSpPr>
            <a:spLocks noChangeShapeType="1"/>
          </p:cNvSpPr>
          <p:nvPr/>
        </p:nvSpPr>
        <p:spPr bwMode="auto">
          <a:xfrm flipV="1">
            <a:off x="6553200" y="3352800"/>
            <a:ext cx="381000" cy="76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49" name="Oval 37"/>
          <p:cNvSpPr>
            <a:spLocks noChangeArrowheads="1"/>
          </p:cNvSpPr>
          <p:nvPr/>
        </p:nvSpPr>
        <p:spPr bwMode="auto">
          <a:xfrm>
            <a:off x="7391400" y="44196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N</a:t>
            </a:r>
          </a:p>
        </p:txBody>
      </p:sp>
      <p:sp>
        <p:nvSpPr>
          <p:cNvPr id="1088550" name="Line 38"/>
          <p:cNvSpPr>
            <a:spLocks noChangeShapeType="1"/>
          </p:cNvSpPr>
          <p:nvPr/>
        </p:nvSpPr>
        <p:spPr bwMode="auto">
          <a:xfrm>
            <a:off x="7239000" y="4419600"/>
            <a:ext cx="228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51" name="Oval 39" descr="Water droplets"/>
          <p:cNvSpPr>
            <a:spLocks noChangeArrowheads="1"/>
          </p:cNvSpPr>
          <p:nvPr/>
        </p:nvSpPr>
        <p:spPr bwMode="auto">
          <a:xfrm>
            <a:off x="7848600" y="3048000"/>
            <a:ext cx="609600" cy="60960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L</a:t>
            </a:r>
          </a:p>
        </p:txBody>
      </p:sp>
      <p:sp>
        <p:nvSpPr>
          <p:cNvPr id="1088552" name="Line 40"/>
          <p:cNvSpPr>
            <a:spLocks noChangeShapeType="1"/>
          </p:cNvSpPr>
          <p:nvPr/>
        </p:nvSpPr>
        <p:spPr bwMode="auto">
          <a:xfrm>
            <a:off x="7543800" y="3352800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53" name="Text Box 41"/>
          <p:cNvSpPr txBox="1">
            <a:spLocks noChangeArrowheads="1"/>
          </p:cNvSpPr>
          <p:nvPr/>
        </p:nvSpPr>
        <p:spPr bwMode="auto">
          <a:xfrm>
            <a:off x="4572000" y="1965325"/>
            <a:ext cx="15541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l"/>
            <a:r>
              <a:rPr lang="en-US">
                <a:solidFill>
                  <a:srgbClr val="FF0000"/>
                </a:solidFill>
              </a:rPr>
              <a:t>RERR [J-D]</a:t>
            </a:r>
            <a:endParaRPr lang="en-US">
              <a:solidFill>
                <a:schemeClr val="accent1"/>
              </a:solidFill>
            </a:endParaRPr>
          </a:p>
        </p:txBody>
      </p:sp>
      <p:sp>
        <p:nvSpPr>
          <p:cNvPr id="1088554" name="Text Box 42"/>
          <p:cNvSpPr txBox="1">
            <a:spLocks noChangeArrowheads="1"/>
          </p:cNvSpPr>
          <p:nvPr/>
        </p:nvSpPr>
        <p:spPr bwMode="auto">
          <a:xfrm>
            <a:off x="0" y="5299075"/>
            <a:ext cx="84582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l"/>
            <a:r>
              <a:rPr lang="en-US" dirty="0"/>
              <a:t>J sends a route error to S along route J-F-E-S when its attempt to forward the data packet S (with route SEFJD) on J-D fails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Nodes hearing RERR  (Route Error) update their route cache to remove link J-D</a:t>
            </a:r>
          </a:p>
        </p:txBody>
      </p:sp>
      <p:sp>
        <p:nvSpPr>
          <p:cNvPr id="1088555" name="Line 43"/>
          <p:cNvSpPr>
            <a:spLocks noChangeShapeType="1"/>
          </p:cNvSpPr>
          <p:nvPr/>
        </p:nvSpPr>
        <p:spPr bwMode="auto">
          <a:xfrm flipH="1">
            <a:off x="6553200" y="3657600"/>
            <a:ext cx="1524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56" name="Line 44"/>
          <p:cNvSpPr>
            <a:spLocks noChangeShapeType="1"/>
          </p:cNvSpPr>
          <p:nvPr/>
        </p:nvSpPr>
        <p:spPr bwMode="auto">
          <a:xfrm flipH="1">
            <a:off x="6477000" y="3733800"/>
            <a:ext cx="457200" cy="152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650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Route Caching: </a:t>
            </a:r>
            <a:r>
              <a:rPr lang="en-US">
                <a:solidFill>
                  <a:srgbClr val="FF0000"/>
                </a:solidFill>
              </a:rPr>
              <a:t>Beware!</a:t>
            </a:r>
            <a:endParaRPr lang="en-US"/>
          </a:p>
        </p:txBody>
      </p:sp>
      <p:sp>
        <p:nvSpPr>
          <p:cNvPr id="667651" name="Rectangle 1027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Stale caches can adversely affect performance</a:t>
            </a:r>
          </a:p>
          <a:p>
            <a:endParaRPr lang="en-US" dirty="0"/>
          </a:p>
          <a:p>
            <a:r>
              <a:rPr lang="en-US" dirty="0"/>
              <a:t>With passage of time and host mobility, cached routes may become invalid</a:t>
            </a:r>
          </a:p>
          <a:p>
            <a:endParaRPr lang="en-US" dirty="0"/>
          </a:p>
          <a:p>
            <a:r>
              <a:rPr lang="en-US" dirty="0"/>
              <a:t>A sender host may try several stale routes (obtained from local cache, or replied from cache by other nodes), before finding a good route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47511-5D94-4CEB-93C2-4B93E5DF3BAD}" type="slidenum">
              <a:rPr lang="en-US"/>
              <a:pPr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704088"/>
            <a:ext cx="88392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Dynamic Source Routing: </a:t>
            </a:r>
            <a:br>
              <a:rPr lang="en-US" dirty="0"/>
            </a:br>
            <a:r>
              <a:rPr lang="en-US" dirty="0"/>
              <a:t>Advantages</a:t>
            </a:r>
          </a:p>
        </p:txBody>
      </p:sp>
      <p:sp>
        <p:nvSpPr>
          <p:cNvPr id="6696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/>
          </a:p>
          <a:p>
            <a:r>
              <a:rPr lang="en-US"/>
              <a:t>Routes maintained only between nodes who need to communicate</a:t>
            </a:r>
          </a:p>
          <a:p>
            <a:pPr lvl="1"/>
            <a:r>
              <a:rPr lang="en-US"/>
              <a:t>reduces overhead of route maintenance</a:t>
            </a:r>
          </a:p>
          <a:p>
            <a:pPr lvl="1"/>
            <a:endParaRPr lang="en-US"/>
          </a:p>
          <a:p>
            <a:r>
              <a:rPr lang="en-US"/>
              <a:t>Route caching can further reduce route discovery overhead</a:t>
            </a:r>
          </a:p>
          <a:p>
            <a:pPr lvl="1"/>
            <a:endParaRPr lang="en-US" sz="2400"/>
          </a:p>
          <a:p>
            <a:r>
              <a:rPr lang="en-US"/>
              <a:t>A single route discovery may yield many routes to the destination, due to intermediate nodes replying from local caches</a:t>
            </a:r>
          </a:p>
          <a:p>
            <a:pPr lvl="1"/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F12E7-87AA-4700-B3B0-928AA6B85663}" type="slidenum">
              <a:rPr lang="en-US"/>
              <a:pPr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533400"/>
            <a:ext cx="7772400" cy="723900"/>
          </a:xfrm>
        </p:spPr>
        <p:txBody>
          <a:bodyPr>
            <a:normAutofit fontScale="90000"/>
          </a:bodyPr>
          <a:lstStyle/>
          <a:p>
            <a:r>
              <a:rPr lang="en-US" dirty="0"/>
              <a:t>Disadvantages</a:t>
            </a:r>
          </a:p>
        </p:txBody>
      </p:sp>
      <p:sp>
        <p:nvSpPr>
          <p:cNvPr id="670723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600200"/>
            <a:ext cx="7772400" cy="493395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Packet header size grows with route length due to source routing</a:t>
            </a:r>
          </a:p>
          <a:p>
            <a:endParaRPr lang="en-US" dirty="0"/>
          </a:p>
          <a:p>
            <a:r>
              <a:rPr lang="en-US" dirty="0"/>
              <a:t>Flood of route requests may potentially reach all nodes in the network</a:t>
            </a:r>
          </a:p>
          <a:p>
            <a:endParaRPr lang="en-US" dirty="0"/>
          </a:p>
          <a:p>
            <a:r>
              <a:rPr lang="en-US" dirty="0"/>
              <a:t>Care must be taken to avoid collisions between route requests propagated by neighboring nodes</a:t>
            </a:r>
          </a:p>
          <a:p>
            <a:pPr lvl="1"/>
            <a:r>
              <a:rPr lang="en-US" dirty="0"/>
              <a:t>insertion of random delays before forwarding RREQ</a:t>
            </a:r>
          </a:p>
          <a:p>
            <a:pPr lvl="1"/>
            <a:endParaRPr lang="en-US" dirty="0"/>
          </a:p>
          <a:p>
            <a:r>
              <a:rPr lang="en-US" dirty="0"/>
              <a:t>Increased contention if too many route replies come back due to nodes replying using their local cache</a:t>
            </a:r>
          </a:p>
          <a:p>
            <a:pPr lvl="1"/>
            <a:r>
              <a:rPr lang="en-US" dirty="0"/>
              <a:t>Route Reply </a:t>
            </a:r>
            <a:r>
              <a:rPr lang="en-US" i="1" dirty="0"/>
              <a:t>Storm</a:t>
            </a:r>
            <a:r>
              <a:rPr lang="en-US" dirty="0"/>
              <a:t> problem</a:t>
            </a:r>
          </a:p>
          <a:p>
            <a:pPr lvl="1"/>
            <a:r>
              <a:rPr lang="en-US" dirty="0"/>
              <a:t>Reply storm may be eased by preventing a node from sending RREP if it hears another RREP with a shorter route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1B47C-D3F3-4E63-890F-1EB9B00C68C9}" type="slidenum">
              <a:rPr lang="en-US"/>
              <a:pPr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8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Disadvantages</a:t>
            </a:r>
          </a:p>
        </p:txBody>
      </p:sp>
      <p:sp>
        <p:nvSpPr>
          <p:cNvPr id="7208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An intermediate node may send Route Reply using a stale cached route, thus polluting other caches</a:t>
            </a:r>
          </a:p>
          <a:p>
            <a:pPr lvl="1"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This problem can be eased if some mechanism to purge (potentially) invalid cached routes is incorporated. </a:t>
            </a:r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Some proposals for cache invalidation,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Static timeouts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Adaptive timeouts based on link stability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4E5DD-159E-4D30-9F3A-CB22E7EE738A}" type="slidenum">
              <a:rPr lang="en-US"/>
              <a:pPr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Flooding of Control Packets</a:t>
            </a:r>
          </a:p>
        </p:txBody>
      </p:sp>
      <p:sp>
        <p:nvSpPr>
          <p:cNvPr id="6717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How to reduce the scope of the route request flood ?</a:t>
            </a:r>
          </a:p>
          <a:p>
            <a:pPr lvl="1"/>
            <a:r>
              <a:rPr lang="en-US" dirty="0"/>
              <a:t>LAR </a:t>
            </a:r>
          </a:p>
          <a:p>
            <a:pPr lvl="1"/>
            <a:r>
              <a:rPr lang="en-US" dirty="0"/>
              <a:t>Query localization</a:t>
            </a:r>
            <a:endParaRPr lang="en-US" dirty="0">
              <a:solidFill>
                <a:schemeClr val="hlink"/>
              </a:solidFill>
            </a:endParaRPr>
          </a:p>
          <a:p>
            <a:pPr lvl="1"/>
            <a:endParaRPr lang="en-US" dirty="0"/>
          </a:p>
          <a:p>
            <a:r>
              <a:rPr lang="en-US" dirty="0"/>
              <a:t>How to reduce redundant broadcasts ?</a:t>
            </a:r>
          </a:p>
          <a:p>
            <a:pPr lvl="1"/>
            <a:r>
              <a:rPr lang="en-US" dirty="0"/>
              <a:t>The Broadcast Storm Problem</a:t>
            </a:r>
            <a:endParaRPr lang="en-US" dirty="0">
              <a:solidFill>
                <a:schemeClr val="hlink"/>
              </a:solidFill>
            </a:endParaRPr>
          </a:p>
          <a:p>
            <a:pPr lvl="1"/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CE7DC-F021-4224-9154-2C4BC59B96E9}" type="slidenum">
              <a:rPr lang="en-US"/>
              <a:pPr/>
              <a:t>52</a:t>
            </a:fld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221</TotalTime>
  <Words>2839</Words>
  <Application>Microsoft Macintosh PowerPoint</Application>
  <PresentationFormat>On-screen Show (4:3)</PresentationFormat>
  <Paragraphs>743</Paragraphs>
  <Slides>52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9" baseType="lpstr">
      <vt:lpstr>Arial Black</vt:lpstr>
      <vt:lpstr>Calibri</vt:lpstr>
      <vt:lpstr>Constantia</vt:lpstr>
      <vt:lpstr>Marlett</vt:lpstr>
      <vt:lpstr>Symbol</vt:lpstr>
      <vt:lpstr>Wingdings 2</vt:lpstr>
      <vt:lpstr>Flow</vt:lpstr>
      <vt:lpstr>Mobile Ad Hoc Networks Routing</vt:lpstr>
      <vt:lpstr>Outline</vt:lpstr>
      <vt:lpstr>Mobile Ad Hoc Networks</vt:lpstr>
      <vt:lpstr>Mobile Ad Hoc Networks</vt:lpstr>
      <vt:lpstr>Mobile Ad Hoc Networks (MANET)</vt:lpstr>
      <vt:lpstr>Why Ad Hoc Networks ?</vt:lpstr>
      <vt:lpstr>Many Variations</vt:lpstr>
      <vt:lpstr>Many Variations</vt:lpstr>
      <vt:lpstr>Many Variations</vt:lpstr>
      <vt:lpstr>Challenges</vt:lpstr>
      <vt:lpstr>Research on Mobile Ad Hoc Networks</vt:lpstr>
      <vt:lpstr>Why is Routing in MANET different ?</vt:lpstr>
      <vt:lpstr>Unicast Routing Protocols</vt:lpstr>
      <vt:lpstr>Routing Protocols</vt:lpstr>
      <vt:lpstr>Trade-Off</vt:lpstr>
      <vt:lpstr>Overview of Unicast Routing Protocols</vt:lpstr>
      <vt:lpstr>Flooding for Data Delivery</vt:lpstr>
      <vt:lpstr>Flooding for Data Delivery</vt:lpstr>
      <vt:lpstr>Flooding for Data Delivery</vt:lpstr>
      <vt:lpstr>Flooding for Data Delivery</vt:lpstr>
      <vt:lpstr>Flooding for Data Delivery</vt:lpstr>
      <vt:lpstr>Flooding for Data Delivery</vt:lpstr>
      <vt:lpstr>Flooding for Data Delivery</vt:lpstr>
      <vt:lpstr>Flooding for Data Delivery</vt:lpstr>
      <vt:lpstr>Flooding for Data Delivery</vt:lpstr>
      <vt:lpstr>Flooding for Data Delivery: Advantages</vt:lpstr>
      <vt:lpstr>Flooding for Data Delivery: Disadvantages</vt:lpstr>
      <vt:lpstr>Flooding of Control Packets</vt:lpstr>
      <vt:lpstr>Dynamic Source Routing (DSR)</vt:lpstr>
      <vt:lpstr>Route Discovery in DSR</vt:lpstr>
      <vt:lpstr>Route Discovery in DSR</vt:lpstr>
      <vt:lpstr>Route Discovery in DSR</vt:lpstr>
      <vt:lpstr>Route Discovery in DSR</vt:lpstr>
      <vt:lpstr>Route Discovery in DSR</vt:lpstr>
      <vt:lpstr>Route Discovery in DSR</vt:lpstr>
      <vt:lpstr>Route Discovery in DSR</vt:lpstr>
      <vt:lpstr>Route Reply in DSR</vt:lpstr>
      <vt:lpstr>Route Reply in DSR</vt:lpstr>
      <vt:lpstr>Dynamic Source Routing (DSR)</vt:lpstr>
      <vt:lpstr>Data Delivery in DSR</vt:lpstr>
      <vt:lpstr>When to Perform a Route Discovery</vt:lpstr>
      <vt:lpstr>DSR Optimization: Route Caching</vt:lpstr>
      <vt:lpstr>Use of Route Caching</vt:lpstr>
      <vt:lpstr>Use of Route Caching</vt:lpstr>
      <vt:lpstr>Use of Route Caching: Can Speed up Route Discovery</vt:lpstr>
      <vt:lpstr>Use of Route Caching: Can Reduce Propagation of Route Requests</vt:lpstr>
      <vt:lpstr>Route Error (RERR)</vt:lpstr>
      <vt:lpstr>Route Caching: Beware!</vt:lpstr>
      <vt:lpstr>Dynamic Source Routing:  Advantages</vt:lpstr>
      <vt:lpstr>Disadvantages</vt:lpstr>
      <vt:lpstr>Disadvantages</vt:lpstr>
      <vt:lpstr>Flooding of Control Packets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Ad Hoc Networks Routing</dc:title>
  <dc:creator>MuaZzam KhaTTak</dc:creator>
  <cp:lastModifiedBy>Sarah Sajid</cp:lastModifiedBy>
  <cp:revision>20</cp:revision>
  <dcterms:created xsi:type="dcterms:W3CDTF">2013-11-08T07:04:15Z</dcterms:created>
  <dcterms:modified xsi:type="dcterms:W3CDTF">2020-10-06T11:14:55Z</dcterms:modified>
</cp:coreProperties>
</file>