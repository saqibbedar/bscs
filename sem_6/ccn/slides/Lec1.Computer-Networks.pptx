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28"/>
  </p:notesMasterIdLst>
  <p:sldIdLst>
    <p:sldId id="295" r:id="rId2"/>
    <p:sldId id="506" r:id="rId3"/>
    <p:sldId id="296" r:id="rId4"/>
    <p:sldId id="260" r:id="rId5"/>
    <p:sldId id="274" r:id="rId6"/>
    <p:sldId id="275" r:id="rId7"/>
    <p:sldId id="276" r:id="rId8"/>
    <p:sldId id="299" r:id="rId9"/>
    <p:sldId id="261" r:id="rId10"/>
    <p:sldId id="281" r:id="rId11"/>
    <p:sldId id="279" r:id="rId12"/>
    <p:sldId id="280" r:id="rId13"/>
    <p:sldId id="300" r:id="rId14"/>
    <p:sldId id="301" r:id="rId15"/>
    <p:sldId id="302" r:id="rId16"/>
    <p:sldId id="303" r:id="rId17"/>
    <p:sldId id="304" r:id="rId18"/>
    <p:sldId id="305" r:id="rId19"/>
    <p:sldId id="294" r:id="rId20"/>
    <p:sldId id="262" r:id="rId21"/>
    <p:sldId id="282" r:id="rId22"/>
    <p:sldId id="283" r:id="rId23"/>
    <p:sldId id="263" r:id="rId24"/>
    <p:sldId id="297" r:id="rId25"/>
    <p:sldId id="264" r:id="rId26"/>
    <p:sldId id="298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>
          <p15:clr>
            <a:srgbClr val="A4A3A4"/>
          </p15:clr>
        </p15:guide>
        <p15:guide id="2" orient="horz" pos="4176">
          <p15:clr>
            <a:srgbClr val="A4A3A4"/>
          </p15:clr>
        </p15:guide>
        <p15:guide id="3" orient="horz" pos="1008">
          <p15:clr>
            <a:srgbClr val="A4A3A4"/>
          </p15:clr>
        </p15:guide>
        <p15:guide id="4" pos="2880">
          <p15:clr>
            <a:srgbClr val="A4A3A4"/>
          </p15:clr>
        </p15:guide>
        <p15:guide id="5" pos="288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7" autoAdjust="0"/>
    <p:restoredTop sz="94611"/>
  </p:normalViewPr>
  <p:slideViewPr>
    <p:cSldViewPr>
      <p:cViewPr varScale="1">
        <p:scale>
          <a:sx n="117" d="100"/>
          <a:sy n="117" d="100"/>
        </p:scale>
        <p:origin x="1506" y="108"/>
      </p:cViewPr>
      <p:guideLst>
        <p:guide orient="horz" pos="2208"/>
        <p:guide orient="horz" pos="4176"/>
        <p:guide orient="horz" pos="1008"/>
        <p:guide pos="2880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9" d="100"/>
          <a:sy n="109" d="100"/>
        </p:scale>
        <p:origin x="-212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CD3863C-83B8-8094-7674-D193E00F99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0496704-6540-11AF-4C9A-01E3EAB30F8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D41F3BF6-6E92-6845-A3B2-CEA809FE3CA9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7972247E-431B-EF04-D1FA-1E7C9082E18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9F0B3B1-9236-D492-6D92-0127428FEEB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9E7B246F-ED24-DB86-1E02-38DE2EDB64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" charset="0"/>
              </a:defRPr>
            </a:lvl1pPr>
          </a:lstStyle>
          <a:p>
            <a:pPr>
              <a:defRPr/>
            </a:pPr>
            <a:fld id="{6F8A3608-B26A-4F4F-99C9-8621FE891A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>
            <a:extLst>
              <a:ext uri="{FF2B5EF4-FFF2-40B4-BE49-F238E27FC236}">
                <a16:creationId xmlns:a16="http://schemas.microsoft.com/office/drawing/2014/main" id="{8036171E-F20B-0633-D745-5E91D7B2D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Notes Placeholder 2">
            <a:extLst>
              <a:ext uri="{FF2B5EF4-FFF2-40B4-BE49-F238E27FC236}">
                <a16:creationId xmlns:a16="http://schemas.microsoft.com/office/drawing/2014/main" id="{69615E15-F90F-96F6-1B30-DF2A052D7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896938"/>
            <a:r>
              <a:rPr lang="en-US" altLang="en-US">
                <a:latin typeface="Times" panose="02020603050405020304" pitchFamily="18" charset="0"/>
              </a:rPr>
              <a:t>Updated on: 20/11/2016</a:t>
            </a:r>
          </a:p>
          <a:p>
            <a:pPr defTabSz="896938" eaLnBrk="1" hangingPunct="1"/>
            <a:endParaRPr lang="en-US" altLang="en-US">
              <a:latin typeface="Times" panose="02020603050405020304" pitchFamily="18" charset="0"/>
            </a:endParaRPr>
          </a:p>
        </p:txBody>
      </p:sp>
      <p:sp>
        <p:nvSpPr>
          <p:cNvPr id="46083" name="Slide Number Placeholder 3">
            <a:extLst>
              <a:ext uri="{FF2B5EF4-FFF2-40B4-BE49-F238E27FC236}">
                <a16:creationId xmlns:a16="http://schemas.microsoft.com/office/drawing/2014/main" id="{4B857856-9388-A855-659F-DCC549A5E4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2A1EF19D-8635-4D57-BB54-98D988481B46}" type="slidenum">
              <a:rPr kumimoji="1"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新細明體" panose="020B0604030504040204" pitchFamily="18" charset="-120"/>
              </a:rPr>
              <a:pPr/>
              <a:t>2</a:t>
            </a:fld>
            <a:endParaRPr kumimoji="1" lang="en-US" altLang="en-US" sz="1200">
              <a:solidFill>
                <a:srgbClr val="000000"/>
              </a:solidFill>
              <a:latin typeface="Arial" panose="020B0604020202020204" pitchFamily="34" charset="0"/>
              <a:ea typeface="新細明體" panose="020B0604030504040204" pitchFamily="18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8BE5B0C8-2E81-6590-81C5-DCFC87CBAA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DD7CD3AC-DA83-4092-8804-400BB3F94309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2D0E703E-BAF4-3AD2-E05B-A08B4AA1313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293D513-1FB8-7D3C-6A6E-4274A8612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BC534B91-ECE0-FAD3-B462-1B8044B75D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158506A8-3134-42F1-94C3-A2509628C9F4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F9236F7E-816F-725A-AA67-7A63F46CCF6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2C6E691F-0A0B-372D-C6B1-A473B1ECB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E89B304E-0F64-A1CA-80B0-048E976B93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AC54DDEA-D346-4FD4-9E12-C767D7E41C71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64FA54C7-9026-5F92-2B23-97690BB95A9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E2D020A8-498F-194C-23BB-4EBCDC7305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835257A6-AFFA-B205-64F5-3F43F664D5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C1DAC13C-7597-4354-9CD2-D8B1318396AB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502E60B4-605F-0762-13D6-3E7E13A1109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AE14427F-095A-8533-493B-2B50E44F48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A0AF64F6-4BDF-03BC-B99C-D34DBFF269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D23DD9D4-F795-4A8C-952D-DD9BD7AD3A7E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A31DE1F1-7A13-8680-D935-30135BDA10C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4F25024-357E-0BA1-76C1-AC6291AB24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196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590800"/>
            <a:ext cx="7772400" cy="1470025"/>
          </a:xfrm>
        </p:spPr>
        <p:txBody>
          <a:bodyPr/>
          <a:lstStyle>
            <a:lvl1pPr>
              <a:defRPr sz="4800" b="1">
                <a:solidFill>
                  <a:schemeClr val="accent2"/>
                </a:solidFill>
              </a:defRPr>
            </a:lvl1pPr>
          </a:lstStyle>
          <a:p>
            <a:r>
              <a:rPr lang="en-US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4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A54D60-6EAE-6EF4-B259-616EB88F53F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15-</a:t>
            </a:r>
            <a:fld id="{BF021FBC-E066-409F-9313-9B300A8DE39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3599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6E2D8B2-EFAA-DF02-F132-57F0B359A3A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15-</a:t>
            </a:r>
            <a:fld id="{A551B0DC-AB72-4B2E-AA75-7AE31BAB7BD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329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B52EF-B798-0DF5-5785-6C6065DC606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15-</a:t>
            </a:r>
            <a:fld id="{2E373CC7-8621-4600-9ED0-F95E6D04522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223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3640441-5EA6-51FF-8AED-65648F7C7E4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15-</a:t>
            </a:r>
            <a:fld id="{EECDC35C-48BE-4315-A2C3-6FE8D9B1184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8947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DE94DE8-49DD-1419-6C99-5BF9C94F2A0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15-</a:t>
            </a:r>
            <a:fld id="{F33FB790-3A4D-49EB-9FF4-4FEF7C110E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8444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5DFF9F3-E22E-5BD9-62D7-197F4831BC2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15-</a:t>
            </a:r>
            <a:fld id="{FB3D71E3-86B0-4DC5-A06C-BD993CC9D6F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981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114D7-F123-0805-8384-0E80D0F6701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15-</a:t>
            </a:r>
            <a:fld id="{3E8FDE78-C10D-4AFA-AA4B-7624BA6F57D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76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99D390-DB11-027B-C3F9-CB88237DAD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15-</a:t>
            </a:r>
            <a:fld id="{73F9BF97-325A-477F-9EBD-6E28484EA22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48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FAE845A-A1E6-25AF-5FBF-D25328E5B8E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15-</a:t>
            </a:r>
            <a:fld id="{FE37CFA3-8383-4235-993A-DA37DD4218A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3017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1455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19125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F01995-0D7B-DF6F-7504-2B769DD0D36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15-</a:t>
            </a:r>
            <a:fld id="{396833D7-53E8-48FC-9F3E-FF45E5F8BF0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911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089CDF8-C6EB-BE1D-DB99-16DE10BF2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152400"/>
            <a:ext cx="7543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97DF0E5-134D-D056-6CE9-DD3CBF255C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76400"/>
            <a:ext cx="82296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1F3DB049-8AE8-D111-28FF-65B199BE98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15-</a:t>
            </a:r>
            <a:fld id="{E7A0B31E-1149-4441-8436-8605568A720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jpeg"/><Relationship Id="rId18" Type="http://schemas.openxmlformats.org/officeDocument/2006/relationships/image" Target="../media/image19.pn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itle 1">
            <a:extLst>
              <a:ext uri="{FF2B5EF4-FFF2-40B4-BE49-F238E27FC236}">
                <a16:creationId xmlns:a16="http://schemas.microsoft.com/office/drawing/2014/main" id="{08F0EDCF-50E8-D05F-3FA3-DAA823895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Computer Networks</a:t>
            </a:r>
          </a:p>
        </p:txBody>
      </p:sp>
      <p:sp>
        <p:nvSpPr>
          <p:cNvPr id="13314" name="Content Placeholder 2">
            <a:extLst>
              <a:ext uri="{FF2B5EF4-FFF2-40B4-BE49-F238E27FC236}">
                <a16:creationId xmlns:a16="http://schemas.microsoft.com/office/drawing/2014/main" id="{56AE0311-4181-81FB-5621-D4D6001FAB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58175" cy="4681538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sz="4000" b="1"/>
          </a:p>
          <a:p>
            <a:pPr eaLnBrk="1" hangingPunct="1"/>
            <a:endParaRPr lang="en-US" altLang="en-US" sz="4000" b="1"/>
          </a:p>
          <a:p>
            <a:pPr lvl="4" eaLnBrk="1" hangingPunct="1">
              <a:buFontTx/>
              <a:buNone/>
            </a:pPr>
            <a:endParaRPr lang="en-US" altLang="en-US" sz="2800" b="1"/>
          </a:p>
          <a:p>
            <a:pPr lvl="4" eaLnBrk="1" hangingPunct="1">
              <a:buFontTx/>
              <a:buNone/>
            </a:pPr>
            <a:endParaRPr lang="en-US" altLang="en-US" sz="2800" b="1"/>
          </a:p>
          <a:p>
            <a:pPr lvl="4" eaLnBrk="1" hangingPunct="1">
              <a:buFontTx/>
              <a:buNone/>
            </a:pPr>
            <a:endParaRPr lang="en-US" altLang="en-US" sz="2800" b="1"/>
          </a:p>
          <a:p>
            <a:pPr lvl="4" eaLnBrk="1" hangingPunct="1">
              <a:buFontTx/>
              <a:buNone/>
            </a:pPr>
            <a:endParaRPr lang="en-US" altLang="en-US" sz="2800" b="1"/>
          </a:p>
          <a:p>
            <a:pPr lvl="4" eaLnBrk="1" hangingPunct="1">
              <a:buFontTx/>
              <a:buNone/>
            </a:pPr>
            <a:endParaRPr lang="en-US" altLang="en-US" sz="2800" b="1"/>
          </a:p>
          <a:p>
            <a:pPr lvl="4" eaLnBrk="1" hangingPunct="1">
              <a:buFontTx/>
              <a:buNone/>
            </a:pPr>
            <a:r>
              <a:rPr lang="en-US" altLang="en-US" sz="2800" b="1"/>
              <a:t>				</a:t>
            </a:r>
            <a:r>
              <a:rPr lang="en-US" altLang="en-US" sz="2400" b="1"/>
              <a:t>Dr. Muazzam A. Khan</a:t>
            </a:r>
          </a:p>
        </p:txBody>
      </p:sp>
      <p:sp>
        <p:nvSpPr>
          <p:cNvPr id="13315" name="Slide Number Placeholder 3">
            <a:extLst>
              <a:ext uri="{FF2B5EF4-FFF2-40B4-BE49-F238E27FC236}">
                <a16:creationId xmlns:a16="http://schemas.microsoft.com/office/drawing/2014/main" id="{80269C6E-5AC2-8C6E-6EF5-481A1C5A6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84BCA089-BBFF-4232-9086-29F16874592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/>
          </a:p>
        </p:txBody>
      </p:sp>
      <p:pic>
        <p:nvPicPr>
          <p:cNvPr id="13316" name="Picture 2" descr="C:\Users\MuaZzam KhaTTak\Downloads\Slide1.jpg">
            <a:extLst>
              <a:ext uri="{FF2B5EF4-FFF2-40B4-BE49-F238E27FC236}">
                <a16:creationId xmlns:a16="http://schemas.microsoft.com/office/drawing/2014/main" id="{04E341D3-6200-7DF1-3408-A20C02EBD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25" y="1685925"/>
            <a:ext cx="57721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FDFB5720-9B0F-7F39-3589-AD2D936CF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" y="1006475"/>
            <a:ext cx="7475538" cy="1185863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defRPr/>
            </a:pPr>
            <a:r>
              <a:rPr lang="en-GB" sz="1950" b="1" dirty="0">
                <a:cs typeface="Arial" panose="020B0604020202020204" pitchFamily="34" charset="0"/>
              </a:rPr>
              <a:t>Prof. Dr. Muazzam A. Khan Khattak </a:t>
            </a:r>
            <a:r>
              <a:rPr lang="en-GB" sz="1725" b="1" dirty="0">
                <a:cs typeface="Arial" panose="020B0604020202020204" pitchFamily="34" charset="0"/>
              </a:rPr>
              <a:t>(SM NADRA/IEEE/PAS/AAAI)</a:t>
            </a:r>
            <a:br>
              <a:rPr lang="en-GB" sz="1875" b="1" dirty="0">
                <a:cs typeface="Arial" panose="020B0604020202020204" pitchFamily="34" charset="0"/>
              </a:rPr>
            </a:br>
            <a:r>
              <a:rPr lang="en-GB" sz="1575" b="1" dirty="0">
                <a:cs typeface="Arial" panose="020B0604020202020204" pitchFamily="34" charset="0"/>
              </a:rPr>
              <a:t>Listed in Top 2% Scientists of The World 2024, 25/Gold Medal PAS </a:t>
            </a:r>
            <a:br>
              <a:rPr lang="en-GB" sz="1575" b="1" dirty="0">
                <a:cs typeface="Arial" panose="020B0604020202020204" pitchFamily="34" charset="0"/>
              </a:rPr>
            </a:br>
            <a:r>
              <a:rPr lang="en-GB" sz="1575" dirty="0">
                <a:cs typeface="Arial" panose="020B0604020202020204" pitchFamily="34" charset="0"/>
              </a:rPr>
              <a:t>Director </a:t>
            </a:r>
            <a:r>
              <a:rPr lang="en-GB" sz="1575" dirty="0" err="1">
                <a:cs typeface="Arial" panose="020B0604020202020204" pitchFamily="34" charset="0"/>
              </a:rPr>
              <a:t>Farabi</a:t>
            </a:r>
            <a:r>
              <a:rPr lang="en-GB" sz="1575" dirty="0">
                <a:cs typeface="Arial" panose="020B0604020202020204" pitchFamily="34" charset="0"/>
              </a:rPr>
              <a:t> Centre AI &amp; CS, S&amp;T, ICESCO Chair.</a:t>
            </a:r>
            <a:br>
              <a:rPr lang="en-GB" sz="1575" dirty="0">
                <a:cs typeface="Arial" panose="020B0604020202020204" pitchFamily="34" charset="0"/>
              </a:rPr>
            </a:br>
            <a:r>
              <a:rPr lang="en-GB" sz="1575" dirty="0">
                <a:cs typeface="Arial" panose="020B0604020202020204" pitchFamily="34" charset="0"/>
              </a:rPr>
              <a:t>Chairperson UNESCO IFAP National Committee, Pakistan.</a:t>
            </a:r>
            <a:endParaRPr lang="en-US" sz="1575" dirty="0">
              <a:cs typeface="Arial" panose="020B0604020202020204" pitchFamily="34" charset="0"/>
            </a:endParaRPr>
          </a:p>
        </p:txBody>
      </p:sp>
      <p:pic>
        <p:nvPicPr>
          <p:cNvPr id="45058" name="Picture 2">
            <a:extLst>
              <a:ext uri="{FF2B5EF4-FFF2-40B4-BE49-F238E27FC236}">
                <a16:creationId xmlns:a16="http://schemas.microsoft.com/office/drawing/2014/main" id="{DD617537-D983-7ECE-33BE-44A5228ED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988" y="1006475"/>
            <a:ext cx="1735137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E9ECB29-D194-7224-2B46-73100178A1A6}"/>
              </a:ext>
            </a:extLst>
          </p:cNvPr>
          <p:cNvSpPr txBox="1">
            <a:spLocks/>
          </p:cNvSpPr>
          <p:nvPr/>
        </p:nvSpPr>
        <p:spPr bwMode="auto">
          <a:xfrm>
            <a:off x="4567300" y="2881752"/>
            <a:ext cx="4576700" cy="2976629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marL="144661" indent="-144661">
              <a:spcBef>
                <a:spcPct val="20000"/>
              </a:spcBef>
              <a:defRPr/>
            </a:pPr>
            <a:r>
              <a:rPr lang="en-GB" sz="1238" b="1" kern="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International Collaborations</a:t>
            </a:r>
            <a:endParaRPr lang="en-GB" sz="1050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marL="669">
              <a:spcBef>
                <a:spcPct val="20000"/>
              </a:spcBef>
              <a:defRPr/>
            </a:pPr>
            <a:r>
              <a:rPr lang="en-GB" sz="1200" b="1" kern="0" dirty="0">
                <a:solidFill>
                  <a:schemeClr val="bg2">
                    <a:lumMod val="10000"/>
                  </a:schemeClr>
                </a:solidFill>
              </a:rPr>
              <a:t>China</a:t>
            </a:r>
          </a:p>
          <a:p>
            <a:pPr marL="129257" indent="-128588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solidFill>
                  <a:schemeClr val="bg2">
                    <a:lumMod val="10000"/>
                  </a:schemeClr>
                </a:solidFill>
              </a:rPr>
              <a:t>Harbin Institute of Technology, Weihai, Northwest Polytech University, Uni of Electronic Sci &amp; Technology, China.</a:t>
            </a:r>
            <a:endParaRPr lang="en-GB" sz="1050" b="1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marL="669">
              <a:spcBef>
                <a:spcPct val="20000"/>
              </a:spcBef>
              <a:defRPr/>
            </a:pPr>
            <a:r>
              <a:rPr lang="en-GB" sz="1050" b="1" kern="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USA </a:t>
            </a:r>
          </a:p>
          <a:p>
            <a:pPr marL="46881" indent="-46212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sz="1013" kern="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University of Missouri, Kansas State Uni, UNC Charlotte,  TEXAM University.</a:t>
            </a:r>
          </a:p>
          <a:p>
            <a:pPr marL="669">
              <a:spcBef>
                <a:spcPct val="20000"/>
              </a:spcBef>
              <a:defRPr/>
            </a:pPr>
            <a:r>
              <a:rPr lang="en-GB" sz="1050" b="1" kern="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UK &amp; Germany</a:t>
            </a:r>
          </a:p>
          <a:p>
            <a:pPr marL="46881" indent="-46212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sz="1013" kern="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Uni of West London , Uni of Glasgow, Uni of Edinburgh, Napier, </a:t>
            </a:r>
            <a:r>
              <a:rPr lang="en-US" sz="9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Uni of Ulm, Uni of Munich.  </a:t>
            </a:r>
            <a:endParaRPr lang="en-GB" sz="1013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marL="669">
              <a:spcBef>
                <a:spcPct val="20000"/>
              </a:spcBef>
              <a:defRPr/>
            </a:pPr>
            <a:r>
              <a:rPr lang="en-US" sz="1013" b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Kazakhstan &amp; Saudi Arabia    </a:t>
            </a:r>
            <a:endParaRPr lang="en-GB" sz="1013" b="1" kern="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  <a:p>
            <a:pPr marL="46881" indent="-46212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sz="1013" kern="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Prince Sultan Uni,</a:t>
            </a:r>
            <a:r>
              <a:rPr lang="en-US" sz="1013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Imam Uni, Prince Muqrin Uni,</a:t>
            </a:r>
          </a:p>
          <a:p>
            <a:pPr marL="669">
              <a:spcBef>
                <a:spcPct val="20000"/>
              </a:spcBef>
              <a:defRPr/>
            </a:pPr>
            <a:r>
              <a:rPr lang="en-US" sz="1013" b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Türkiye &amp; Malaysia</a:t>
            </a:r>
          </a:p>
          <a:p>
            <a:pPr marL="214982" indent="-214313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sz="1013" kern="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USAK Uni,</a:t>
            </a:r>
            <a:r>
              <a:rPr lang="en-US" sz="1013" kern="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University of Malaya, Sunway Uni,</a:t>
            </a:r>
          </a:p>
          <a:p>
            <a:pPr marL="669">
              <a:spcBef>
                <a:spcPct val="20000"/>
              </a:spcBef>
              <a:defRPr/>
            </a:pPr>
            <a:r>
              <a:rPr lang="en-GB" sz="900" b="1" kern="0" dirty="0">
                <a:solidFill>
                  <a:schemeClr val="bg2">
                    <a:lumMod val="10000"/>
                  </a:schemeClr>
                </a:solidFill>
              </a:rPr>
              <a:t>Azerbaijan</a:t>
            </a:r>
          </a:p>
          <a:p>
            <a:pPr marL="669">
              <a:spcBef>
                <a:spcPct val="20000"/>
              </a:spcBef>
              <a:defRPr/>
            </a:pPr>
            <a:r>
              <a:rPr lang="en-GB" sz="900" kern="0" dirty="0">
                <a:solidFill>
                  <a:schemeClr val="bg2">
                    <a:lumMod val="10000"/>
                  </a:schemeClr>
                </a:solidFill>
              </a:rPr>
              <a:t>Baku State University,</a:t>
            </a:r>
            <a:r>
              <a:rPr lang="en-US" sz="1013" kern="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</a:t>
            </a:r>
          </a:p>
          <a:p>
            <a:pPr marL="669">
              <a:spcBef>
                <a:spcPct val="20000"/>
              </a:spcBef>
              <a:defRPr/>
            </a:pPr>
            <a:endParaRPr lang="en-GB" sz="1013" kern="0" dirty="0">
              <a:solidFill>
                <a:schemeClr val="bg2">
                  <a:lumMod val="10000"/>
                </a:schemeClr>
              </a:solidFill>
              <a:latin typeface="Times" pitchFamily="2" charset="0"/>
            </a:endParaRPr>
          </a:p>
          <a:p>
            <a:pPr marL="670">
              <a:spcBef>
                <a:spcPct val="20000"/>
              </a:spcBef>
              <a:defRPr/>
            </a:pPr>
            <a:endParaRPr lang="en-GB" sz="844" dirty="0">
              <a:solidFill>
                <a:schemeClr val="bg2">
                  <a:lumMod val="10000"/>
                </a:schemeClr>
              </a:solidFill>
              <a:latin typeface="Time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287035-13DB-BCFF-055F-830653A339B6}"/>
              </a:ext>
            </a:extLst>
          </p:cNvPr>
          <p:cNvSpPr txBox="1"/>
          <p:nvPr/>
        </p:nvSpPr>
        <p:spPr>
          <a:xfrm>
            <a:off x="0" y="4554538"/>
            <a:ext cx="4567238" cy="1303337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PK" sz="1238" b="1" dirty="0">
                <a:latin typeface="+mj-lt"/>
                <a:cs typeface="Times New Roman" panose="02020603050405020304" pitchFamily="18" charset="0"/>
              </a:rPr>
              <a:t>International Editorial and Organiser Roles</a:t>
            </a:r>
          </a:p>
          <a:p>
            <a:pPr>
              <a:defRPr/>
            </a:pPr>
            <a:endParaRPr lang="en-PK" sz="1013" b="1" dirty="0">
              <a:latin typeface="+mj-lt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PK" sz="1125" dirty="0">
                <a:latin typeface="+mj-lt"/>
                <a:cs typeface="Times New Roman" panose="02020603050405020304" pitchFamily="18" charset="0"/>
              </a:rPr>
              <a:t>Co-Chair HoNET-ICT 2018,19,20,21,22</a:t>
            </a:r>
            <a:r>
              <a:rPr lang="en-PK" sz="1125">
                <a:latin typeface="+mj-lt"/>
                <a:cs typeface="Times New Roman" panose="02020603050405020304" pitchFamily="18" charset="0"/>
              </a:rPr>
              <a:t>, 23,</a:t>
            </a:r>
            <a:r>
              <a:rPr lang="en-US" sz="1125" dirty="0">
                <a:latin typeface="+mj-lt"/>
                <a:cs typeface="Times New Roman" panose="02020603050405020304" pitchFamily="18" charset="0"/>
              </a:rPr>
              <a:t> 24,2025 </a:t>
            </a:r>
          </a:p>
          <a:p>
            <a:pPr>
              <a:defRPr/>
            </a:pPr>
            <a:r>
              <a:rPr lang="en-PK" sz="1125">
                <a:latin typeface="+mj-lt"/>
                <a:cs typeface="Times New Roman" panose="02020603050405020304" pitchFamily="18" charset="0"/>
              </a:rPr>
              <a:t>C-CoDE-2019</a:t>
            </a:r>
            <a:r>
              <a:rPr lang="en-PK" sz="1125" dirty="0">
                <a:latin typeface="+mj-lt"/>
                <a:cs typeface="Times New Roman" panose="02020603050405020304" pitchFamily="18" charset="0"/>
              </a:rPr>
              <a:t>, 22. I-CoD-2 2022, </a:t>
            </a:r>
            <a:r>
              <a:rPr lang="en-PK" sz="1125">
                <a:latin typeface="+mj-lt"/>
                <a:cs typeface="Times New Roman" panose="02020603050405020304" pitchFamily="18" charset="0"/>
              </a:rPr>
              <a:t>2023,</a:t>
            </a:r>
            <a:r>
              <a:rPr lang="en-US" sz="1125" dirty="0">
                <a:latin typeface="+mj-lt"/>
                <a:cs typeface="Times New Roman" panose="02020603050405020304" pitchFamily="18" charset="0"/>
              </a:rPr>
              <a:t> 2025</a:t>
            </a:r>
            <a:endParaRPr lang="en-PK" sz="1125" dirty="0">
              <a:latin typeface="+mj-lt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PK" sz="1125" dirty="0">
                <a:latin typeface="+mj-lt"/>
                <a:cs typeface="Times New Roman" panose="02020603050405020304" pitchFamily="18" charset="0"/>
              </a:rPr>
              <a:t>Associate Editor IEEE Access,  </a:t>
            </a:r>
          </a:p>
          <a:p>
            <a:pPr>
              <a:defRPr/>
            </a:pPr>
            <a:r>
              <a:rPr lang="en-PK" sz="1125" dirty="0">
                <a:latin typeface="+mj-lt"/>
                <a:cs typeface="Times New Roman" panose="02020603050405020304" pitchFamily="18" charset="0"/>
              </a:rPr>
              <a:t>Guest Editior in Journal: Computer Material and Continoua. </a:t>
            </a:r>
          </a:p>
          <a:p>
            <a:pPr>
              <a:defRPr/>
            </a:pPr>
            <a:r>
              <a:rPr lang="en-PK" sz="1125" dirty="0">
                <a:latin typeface="+mj-lt"/>
                <a:cs typeface="Times New Roman" panose="02020603050405020304" pitchFamily="18" charset="0"/>
              </a:rPr>
              <a:t>Reviewer in IEEE Transactions, Elsvier Journals, </a:t>
            </a:r>
            <a:r>
              <a:rPr lang="en-PK" sz="1125">
                <a:latin typeface="+mj-lt"/>
                <a:cs typeface="Times New Roman" panose="02020603050405020304" pitchFamily="18" charset="0"/>
              </a:rPr>
              <a:t>Springer </a:t>
            </a:r>
            <a:r>
              <a:rPr lang="en-US" sz="1125" dirty="0">
                <a:latin typeface="+mj-lt"/>
                <a:cs typeface="Times New Roman" panose="02020603050405020304" pitchFamily="18" charset="0"/>
              </a:rPr>
              <a:t>&amp;</a:t>
            </a:r>
            <a:r>
              <a:rPr lang="en-PK" sz="1125">
                <a:latin typeface="+mj-lt"/>
                <a:cs typeface="Times New Roman" panose="02020603050405020304" pitchFamily="18" charset="0"/>
              </a:rPr>
              <a:t> </a:t>
            </a:r>
            <a:r>
              <a:rPr lang="en-PK" sz="1125" dirty="0">
                <a:latin typeface="+mj-lt"/>
                <a:cs typeface="Times New Roman" panose="02020603050405020304" pitchFamily="18" charset="0"/>
              </a:rPr>
              <a:t>Wiley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B13483-98BB-F44E-021F-F9C0FC0A0A23}"/>
              </a:ext>
            </a:extLst>
          </p:cNvPr>
          <p:cNvSpPr txBox="1">
            <a:spLocks/>
          </p:cNvSpPr>
          <p:nvPr/>
        </p:nvSpPr>
        <p:spPr bwMode="auto">
          <a:xfrm>
            <a:off x="0" y="2881752"/>
            <a:ext cx="4567300" cy="1672298"/>
          </a:xfrm>
          <a:prstGeom prst="rect">
            <a:avLst/>
          </a:prstGeom>
          <a:solidFill>
            <a:schemeClr val="bg1"/>
          </a:solidFill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GB" sz="1238" b="1" kern="0" dirty="0">
                <a:solidFill>
                  <a:schemeClr val="tx1"/>
                </a:solidFill>
                <a:latin typeface="+mj-lt"/>
              </a:rPr>
              <a:t>Research Profile:</a:t>
            </a:r>
          </a:p>
          <a:p>
            <a:pPr>
              <a:spcBef>
                <a:spcPct val="20000"/>
              </a:spcBef>
              <a:defRPr/>
            </a:pPr>
            <a:r>
              <a:rPr lang="en-GB" sz="1125" kern="0" dirty="0">
                <a:solidFill>
                  <a:schemeClr val="tx1"/>
                </a:solidFill>
                <a:latin typeface="+mj-lt"/>
              </a:rPr>
              <a:t>International Grants:  350 M</a:t>
            </a:r>
          </a:p>
          <a:p>
            <a:pPr>
              <a:spcBef>
                <a:spcPct val="20000"/>
              </a:spcBef>
              <a:defRPr/>
            </a:pPr>
            <a:r>
              <a:rPr lang="en-GB" sz="1125" kern="0" dirty="0">
                <a:solidFill>
                  <a:schemeClr val="tx1"/>
                </a:solidFill>
                <a:latin typeface="+mj-lt"/>
              </a:rPr>
              <a:t>OIC, ICESCO, UMKC, PAS, CHINA,  </a:t>
            </a:r>
          </a:p>
          <a:p>
            <a:pPr>
              <a:spcBef>
                <a:spcPct val="20000"/>
              </a:spcBef>
              <a:defRPr/>
            </a:pPr>
            <a:r>
              <a:rPr lang="en-GB" sz="1125" kern="0" dirty="0">
                <a:solidFill>
                  <a:schemeClr val="tx1"/>
                </a:solidFill>
                <a:latin typeface="+mj-lt"/>
              </a:rPr>
              <a:t>International Publications: 230</a:t>
            </a:r>
          </a:p>
          <a:p>
            <a:pPr marL="120551" indent="-120551">
              <a:spcBef>
                <a:spcPct val="20000"/>
              </a:spcBef>
              <a:defRPr/>
            </a:pPr>
            <a:r>
              <a:rPr lang="en-GB" sz="1125" kern="0" dirty="0">
                <a:solidFill>
                  <a:schemeClr val="tx1"/>
                </a:solidFill>
                <a:latin typeface="+mj-lt"/>
              </a:rPr>
              <a:t>Impact Factor: 400+</a:t>
            </a:r>
          </a:p>
          <a:p>
            <a:pPr marL="120551" indent="-120551">
              <a:spcBef>
                <a:spcPct val="20000"/>
              </a:spcBef>
              <a:defRPr/>
            </a:pPr>
            <a:r>
              <a:rPr lang="en-GB" sz="1125" kern="0" dirty="0">
                <a:solidFill>
                  <a:schemeClr val="tx1"/>
                </a:solidFill>
                <a:latin typeface="+mj-lt"/>
              </a:rPr>
              <a:t>Citations: 6614+</a:t>
            </a:r>
          </a:p>
          <a:p>
            <a:pPr marL="120551" indent="-120551">
              <a:spcBef>
                <a:spcPct val="20000"/>
              </a:spcBef>
              <a:defRPr/>
            </a:pPr>
            <a:r>
              <a:rPr lang="en-GB" sz="1125" kern="0" dirty="0">
                <a:solidFill>
                  <a:schemeClr val="tx1"/>
                </a:solidFill>
                <a:latin typeface="+mj-lt"/>
              </a:rPr>
              <a:t>H-Index – 45</a:t>
            </a:r>
          </a:p>
          <a:p>
            <a:pPr marL="120551" indent="-120551">
              <a:spcBef>
                <a:spcPct val="20000"/>
              </a:spcBef>
              <a:defRPr/>
            </a:pPr>
            <a:r>
              <a:rPr lang="en-GB" sz="1125" b="1" kern="0" dirty="0">
                <a:solidFill>
                  <a:schemeClr val="tx1"/>
                </a:solidFill>
                <a:latin typeface="+mj-lt"/>
              </a:rPr>
              <a:t>Product Developed</a:t>
            </a:r>
            <a:r>
              <a:rPr lang="en-GB" sz="1125" kern="0" dirty="0">
                <a:solidFill>
                  <a:schemeClr val="tx1"/>
                </a:solidFill>
                <a:latin typeface="+mj-lt"/>
              </a:rPr>
              <a:t>: Safe Roam, Pollution </a:t>
            </a:r>
            <a:r>
              <a:rPr lang="en-GB" sz="1125" kern="0" dirty="0" err="1">
                <a:solidFill>
                  <a:schemeClr val="tx1"/>
                </a:solidFill>
                <a:latin typeface="+mj-lt"/>
              </a:rPr>
              <a:t>Moniter</a:t>
            </a:r>
            <a:r>
              <a:rPr lang="en-GB" sz="1125" kern="0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marL="144661" indent="-144661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GB" sz="1013" b="1" kern="0" dirty="0">
              <a:solidFill>
                <a:schemeClr val="accent1">
                  <a:lumMod val="20000"/>
                  <a:lumOff val="80000"/>
                </a:schemeClr>
              </a:solidFill>
              <a:latin typeface="Times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C28A1E-AC9E-35F5-75B4-BE91DFB0C3AA}"/>
              </a:ext>
            </a:extLst>
          </p:cNvPr>
          <p:cNvSpPr txBox="1">
            <a:spLocks/>
          </p:cNvSpPr>
          <p:nvPr/>
        </p:nvSpPr>
        <p:spPr bwMode="auto">
          <a:xfrm>
            <a:off x="0" y="2192338"/>
            <a:ext cx="7392988" cy="6889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-144661">
              <a:spcBef>
                <a:spcPct val="20000"/>
              </a:spcBef>
              <a:defRPr/>
            </a:pPr>
            <a:r>
              <a:rPr lang="en-US" sz="1238" b="1" dirty="0">
                <a:solidFill>
                  <a:prstClr val="black"/>
                </a:solidFill>
                <a:latin typeface="+mj-lt"/>
              </a:rPr>
              <a:t>  Research Areas</a:t>
            </a:r>
          </a:p>
          <a:p>
            <a:pPr marL="144661" indent="-144661">
              <a:buFont typeface="Wingdings" pitchFamily="2" charset="2"/>
              <a:buChar char="§"/>
              <a:defRPr/>
            </a:pPr>
            <a:r>
              <a:rPr lang="en-US" sz="1238" kern="0" dirty="0">
                <a:solidFill>
                  <a:prstClr val="black"/>
                </a:solidFill>
                <a:latin typeface="+mj-lt"/>
              </a:rPr>
              <a:t>Artificial Intelligence (AI), Internet of Things (IoTs), Smart Cities, </a:t>
            </a:r>
          </a:p>
          <a:p>
            <a:pPr marL="144661" indent="-144661">
              <a:buFont typeface="Wingdings" pitchFamily="2" charset="2"/>
              <a:buChar char="§"/>
              <a:defRPr/>
            </a:pPr>
            <a:r>
              <a:rPr lang="en-US" sz="1238" kern="0" dirty="0">
                <a:solidFill>
                  <a:prstClr val="black"/>
                </a:solidFill>
                <a:latin typeface="+mj-lt"/>
              </a:rPr>
              <a:t>Intelligent Networks, Information Security.</a:t>
            </a:r>
          </a:p>
        </p:txBody>
      </p:sp>
      <p:sp>
        <p:nvSpPr>
          <p:cNvPr id="45067" name="Date Placeholder 2">
            <a:extLst>
              <a:ext uri="{FF2B5EF4-FFF2-40B4-BE49-F238E27FC236}">
                <a16:creationId xmlns:a16="http://schemas.microsoft.com/office/drawing/2014/main" id="{A611A049-2B8A-5270-E87B-2C4DB6E84D2E}"/>
              </a:ext>
            </a:extLst>
          </p:cNvPr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fld id="{B62DB5C0-C3CD-432D-BBD5-5905E6397452}" type="datetime1">
              <a:rPr lang="en-US" altLang="en-US" sz="1400" b="1">
                <a:latin typeface="Arial" panose="020B0604020202020204" pitchFamily="34" charset="0"/>
              </a:rPr>
              <a:pPr algn="r"/>
              <a:t>4/28/2026</a:t>
            </a:fld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45068" name="Slide Number Placeholder 7">
            <a:extLst>
              <a:ext uri="{FF2B5EF4-FFF2-40B4-BE49-F238E27FC236}">
                <a16:creationId xmlns:a16="http://schemas.microsoft.com/office/drawing/2014/main" id="{4FEF823B-0701-C68C-8664-0F3C1D68AAB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457950" y="6356350"/>
            <a:ext cx="20574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457200"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indent="-285750" defTabSz="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indent="-228600" defTabSz="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indent="-228600" defTabSz="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indent="-228600" defTabSz="4572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indent="-228600" defTabSz="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43A8A31-71C0-47F3-B33E-98DD3331094D}" type="slidenum">
              <a:rPr lang="en-US" altLang="en-US" sz="1200" b="0" smtClean="0">
                <a:solidFill>
                  <a:srgbClr val="767676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 b="0">
              <a:solidFill>
                <a:srgbClr val="767676"/>
              </a:solidFill>
            </a:endParaRPr>
          </a:p>
        </p:txBody>
      </p:sp>
      <p:pic>
        <p:nvPicPr>
          <p:cNvPr id="45069" name="Picture 2" descr="Flag of the United States of America | History, Meaning, Facts, &amp; Design |  Britannica">
            <a:extLst>
              <a:ext uri="{FF2B5EF4-FFF2-40B4-BE49-F238E27FC236}">
                <a16:creationId xmlns:a16="http://schemas.microsoft.com/office/drawing/2014/main" id="{53A49786-D04F-1D81-20CB-2F3745809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575" y="4068763"/>
            <a:ext cx="612775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0" name="Picture 4" descr="Britain, england, flag, great, kingdom, uk, united icon - Download on  Iconfinder">
            <a:extLst>
              <a:ext uri="{FF2B5EF4-FFF2-40B4-BE49-F238E27FC236}">
                <a16:creationId xmlns:a16="http://schemas.microsoft.com/office/drawing/2014/main" id="{15F67997-7502-4A0B-A17A-A526CC7A2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65" b="19582"/>
          <a:stretch>
            <a:fillRect/>
          </a:stretch>
        </p:blipFill>
        <p:spPr bwMode="auto">
          <a:xfrm>
            <a:off x="8181975" y="3514725"/>
            <a:ext cx="4873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1" name="Picture 6" descr="Flag of Germany | History, Meaning, WW1, &amp; WW2 | Britannica">
            <a:extLst>
              <a:ext uri="{FF2B5EF4-FFF2-40B4-BE49-F238E27FC236}">
                <a16:creationId xmlns:a16="http://schemas.microsoft.com/office/drawing/2014/main" id="{07E87E83-CD31-545C-DD63-6FE8CF5A9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0" y="3525838"/>
            <a:ext cx="488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2" name="Picture 8" descr="14,800+ China Flag Stock Photos, Pictures &amp; Royalty-Free Images - iStock |  American flag, Four seasons, China">
            <a:extLst>
              <a:ext uri="{FF2B5EF4-FFF2-40B4-BE49-F238E27FC236}">
                <a16:creationId xmlns:a16="http://schemas.microsoft.com/office/drawing/2014/main" id="{1FAF430A-1E68-C7FE-674F-438BAEED4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2876550"/>
            <a:ext cx="6889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3" name="Picture 10">
            <a:extLst>
              <a:ext uri="{FF2B5EF4-FFF2-40B4-BE49-F238E27FC236}">
                <a16:creationId xmlns:a16="http://schemas.microsoft.com/office/drawing/2014/main" id="{5A0B2000-512B-866E-6BCE-00C2BD271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738" y="4584700"/>
            <a:ext cx="681037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4" name="Picture 12" descr="Flag of Saudi Arabia | History, Symbolism &amp; Meaning | Britannica">
            <a:extLst>
              <a:ext uri="{FF2B5EF4-FFF2-40B4-BE49-F238E27FC236}">
                <a16:creationId xmlns:a16="http://schemas.microsoft.com/office/drawing/2014/main" id="{0D2C3DF2-0222-7BA2-C68A-591C96F3E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700" y="4583113"/>
            <a:ext cx="68262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5" name="Picture 14" descr="Flag of Turkey - Wikipedia">
            <a:extLst>
              <a:ext uri="{FF2B5EF4-FFF2-40B4-BE49-F238E27FC236}">
                <a16:creationId xmlns:a16="http://schemas.microsoft.com/office/drawing/2014/main" id="{259786C7-B566-C7A0-EB74-08775B5DF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4388" y="5033963"/>
            <a:ext cx="693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6" name="Picture 16" descr="Flag of Malaysia - Wikipedia">
            <a:extLst>
              <a:ext uri="{FF2B5EF4-FFF2-40B4-BE49-F238E27FC236}">
                <a16:creationId xmlns:a16="http://schemas.microsoft.com/office/drawing/2014/main" id="{3D368A5A-D154-95D6-490A-4F3146BCB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163" y="5045075"/>
            <a:ext cx="654050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7" name="Picture 2" descr="Flag of Azerbaijan - Wikipedia">
            <a:extLst>
              <a:ext uri="{FF2B5EF4-FFF2-40B4-BE49-F238E27FC236}">
                <a16:creationId xmlns:a16="http://schemas.microsoft.com/office/drawing/2014/main" id="{F9DDE919-A710-1CDB-4784-FD4ED5252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7238" y="5461000"/>
            <a:ext cx="693737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8" name="Picture 2">
            <a:extLst>
              <a:ext uri="{FF2B5EF4-FFF2-40B4-BE49-F238E27FC236}">
                <a16:creationId xmlns:a16="http://schemas.microsoft.com/office/drawing/2014/main" id="{8BE5C786-4A2F-9DAE-A14B-AFFA85BF5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4078288"/>
            <a:ext cx="62071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79" name="Picture 2" descr="British Council - Acted">
            <a:extLst>
              <a:ext uri="{FF2B5EF4-FFF2-40B4-BE49-F238E27FC236}">
                <a16:creationId xmlns:a16="http://schemas.microsoft.com/office/drawing/2014/main" id="{0C3AD58E-C9BE-16AD-17D2-DFD6B30DB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763" y="2925763"/>
            <a:ext cx="852487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0" name="Picture 4" descr="ICESCO AT COP 16 - ICESCO">
            <a:extLst>
              <a:ext uri="{FF2B5EF4-FFF2-40B4-BE49-F238E27FC236}">
                <a16:creationId xmlns:a16="http://schemas.microsoft.com/office/drawing/2014/main" id="{61405031-5866-C1F3-BF9D-465BFA4EE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8538" y="2894013"/>
            <a:ext cx="86995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1" name="Picture 6" descr="Pakistan Academy of Sciences - Wikipedia">
            <a:extLst>
              <a:ext uri="{FF2B5EF4-FFF2-40B4-BE49-F238E27FC236}">
                <a16:creationId xmlns:a16="http://schemas.microsoft.com/office/drawing/2014/main" id="{1B5F33C1-B10B-0863-3396-0085FAF83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288" y="3271838"/>
            <a:ext cx="69215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2" name="Picture 8" descr="University of Missouri–Kansas City ...">
            <a:extLst>
              <a:ext uri="{FF2B5EF4-FFF2-40B4-BE49-F238E27FC236}">
                <a16:creationId xmlns:a16="http://schemas.microsoft.com/office/drawing/2014/main" id="{03569919-DAE6-CAAA-F848-54BD4E11D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738" y="3313113"/>
            <a:ext cx="6794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3" name="Picture 12" descr="IZhO">
            <a:extLst>
              <a:ext uri="{FF2B5EF4-FFF2-40B4-BE49-F238E27FC236}">
                <a16:creationId xmlns:a16="http://schemas.microsoft.com/office/drawing/2014/main" id="{D0F1E206-BD2C-D505-703A-85556F0D6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3654425"/>
            <a:ext cx="10287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84" name="Picture 14" descr="Ignite National Technology Fund - Wikipedia">
            <a:extLst>
              <a:ext uri="{FF2B5EF4-FFF2-40B4-BE49-F238E27FC236}">
                <a16:creationId xmlns:a16="http://schemas.microsoft.com/office/drawing/2014/main" id="{290EC9D3-329B-8221-E484-603B95176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688" y="4019550"/>
            <a:ext cx="76676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83C30FE5-B117-6AF8-EA0F-872478339B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Course Objectives</a:t>
            </a:r>
            <a:endParaRPr lang="en-US" altLang="en-US" sz="3200"/>
          </a:p>
        </p:txBody>
      </p:sp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9324D3B3-C8A8-1101-F922-1C00568A55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After successfully completing the course, students will be able to</a:t>
            </a:r>
          </a:p>
          <a:p>
            <a:pPr lvl="1" algn="just"/>
            <a:r>
              <a:rPr lang="en-US" altLang="en-US" sz="2400"/>
              <a:t>Apply knowledge and analyze some networking protocols.</a:t>
            </a:r>
          </a:p>
          <a:p>
            <a:pPr lvl="1" algn="just"/>
            <a:r>
              <a:rPr lang="en-US" altLang="en-US" sz="2400"/>
              <a:t>Design and implement simple computer networks.</a:t>
            </a:r>
          </a:p>
          <a:p>
            <a:pPr lvl="1" algn="just"/>
            <a:r>
              <a:rPr lang="en-US" altLang="en-US" sz="2400"/>
              <a:t>Identify, formulate, and solve network engineering problems.</a:t>
            </a:r>
          </a:p>
          <a:p>
            <a:pPr lvl="1" algn="just"/>
            <a:r>
              <a:rPr lang="en-US" altLang="en-US" sz="2400"/>
              <a:t>Use techniques, skills, and modern networking tools necessary for engineering practice.</a:t>
            </a:r>
            <a:endParaRPr lang="en-US" altLang="en-US"/>
          </a:p>
          <a:p>
            <a:endParaRPr lang="en-US" altLang="en-US"/>
          </a:p>
        </p:txBody>
      </p:sp>
      <p:sp>
        <p:nvSpPr>
          <p:cNvPr id="14339" name="Slide Number Placeholder 3">
            <a:extLst>
              <a:ext uri="{FF2B5EF4-FFF2-40B4-BE49-F238E27FC236}">
                <a16:creationId xmlns:a16="http://schemas.microsoft.com/office/drawing/2014/main" id="{D4E9E9AF-8249-B538-7E08-43888AB7D4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0AE2C14A-9E12-4619-B5DF-EA924D22F89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3">
            <a:extLst>
              <a:ext uri="{FF2B5EF4-FFF2-40B4-BE49-F238E27FC236}">
                <a16:creationId xmlns:a16="http://schemas.microsoft.com/office/drawing/2014/main" id="{B7221982-0FF5-9B54-04DB-FF543A709F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64F1C0B7-53CF-4033-8878-F6D0B2D4301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6E80A781-0BA8-3D76-56B3-B74B3D2EA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Networking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60A6F75-351F-5620-909C-BE77D5B33D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altLang="en-US">
                <a:solidFill>
                  <a:srgbClr val="3333FF"/>
                </a:solidFill>
              </a:rPr>
              <a:t>C</a:t>
            </a:r>
            <a:r>
              <a:rPr lang="en-US" altLang="en-US" b="1">
                <a:solidFill>
                  <a:srgbClr val="3333FF"/>
                </a:solidFill>
              </a:rPr>
              <a:t>omputer network</a:t>
            </a:r>
            <a:r>
              <a:rPr lang="en-US" altLang="en-US"/>
              <a:t>   A collection of computing devices that are connected in various ways in order to communicate and share resources</a:t>
            </a:r>
          </a:p>
          <a:p>
            <a:pPr algn="just" eaLnBrk="1" hangingPunct="1">
              <a:buFontTx/>
              <a:buNone/>
            </a:pPr>
            <a:r>
              <a:rPr lang="en-US" altLang="en-US"/>
              <a:t>	Usually, the connections between computers in a network are made using physical wires or cables</a:t>
            </a:r>
          </a:p>
          <a:p>
            <a:pPr lvl="1" algn="just" eaLnBrk="1" hangingPunct="1">
              <a:buFontTx/>
              <a:buNone/>
            </a:pPr>
            <a:r>
              <a:rPr lang="en-US" altLang="en-US"/>
              <a:t>	However, some connections are </a:t>
            </a:r>
            <a:r>
              <a:rPr lang="en-US" altLang="en-US" b="1">
                <a:solidFill>
                  <a:srgbClr val="3333FF"/>
                </a:solidFill>
              </a:rPr>
              <a:t>wireless</a:t>
            </a:r>
            <a:r>
              <a:rPr lang="en-US" altLang="en-US"/>
              <a:t>, using radio waves or infrared signals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3">
            <a:extLst>
              <a:ext uri="{FF2B5EF4-FFF2-40B4-BE49-F238E27FC236}">
                <a16:creationId xmlns:a16="http://schemas.microsoft.com/office/drawing/2014/main" id="{F2CC2A90-EBF8-EC99-3B9B-1EAF153D9A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3F2D56ED-39B0-4ABD-A665-2DD623CA941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66EF6AFB-F906-66DB-EAAB-5CB533E0D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Networking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4AD6864-D3B7-E290-F98C-4E4749D615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generic term </a:t>
            </a:r>
            <a:r>
              <a:rPr lang="en-US" altLang="en-US" b="1">
                <a:solidFill>
                  <a:srgbClr val="3333FF"/>
                </a:solidFill>
              </a:rPr>
              <a:t>node</a:t>
            </a:r>
            <a:r>
              <a:rPr lang="en-US" altLang="en-US"/>
              <a:t> or </a:t>
            </a:r>
            <a:r>
              <a:rPr lang="en-US" altLang="en-US" b="1">
                <a:solidFill>
                  <a:srgbClr val="3333FF"/>
                </a:solidFill>
              </a:rPr>
              <a:t>host</a:t>
            </a:r>
            <a:r>
              <a:rPr lang="en-US" altLang="en-US"/>
              <a:t> refers to any device on a network</a:t>
            </a:r>
          </a:p>
          <a:p>
            <a:pPr eaLnBrk="1" hangingPunct="1"/>
            <a:r>
              <a:rPr lang="en-US" altLang="en-US" b="1">
                <a:solidFill>
                  <a:srgbClr val="3333FF"/>
                </a:solidFill>
              </a:rPr>
              <a:t>Data transfer rate</a:t>
            </a:r>
            <a:r>
              <a:rPr lang="en-US" altLang="en-US" b="1"/>
              <a:t> </a:t>
            </a:r>
            <a:r>
              <a:rPr lang="en-US" altLang="en-US"/>
              <a:t>  The speed with which data is moved from one place on a network to another</a:t>
            </a:r>
            <a:r>
              <a:rPr lang="en-US" altLang="en-US" b="1"/>
              <a:t> </a:t>
            </a:r>
          </a:p>
          <a:p>
            <a:pPr eaLnBrk="1" hangingPunct="1"/>
            <a:r>
              <a:rPr lang="en-US" altLang="en-US"/>
              <a:t>Data transfer rate is a </a:t>
            </a:r>
            <a:r>
              <a:rPr lang="en-US" altLang="en-US">
                <a:solidFill>
                  <a:srgbClr val="3333FF"/>
                </a:solidFill>
              </a:rPr>
              <a:t>key issue</a:t>
            </a:r>
            <a:r>
              <a:rPr lang="en-US" altLang="en-US"/>
              <a:t> in computer networks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3">
            <a:extLst>
              <a:ext uri="{FF2B5EF4-FFF2-40B4-BE49-F238E27FC236}">
                <a16:creationId xmlns:a16="http://schemas.microsoft.com/office/drawing/2014/main" id="{1358F7E1-6537-AF3C-84B8-DDB115B4C8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B7C870BA-9343-420A-A576-601D9948C08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2F7D3F3-FAAF-537E-5A6C-968FBD6213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Networking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C65B62E-AA3A-05ED-DB79-900718DD90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1828800"/>
          </a:xfrm>
        </p:spPr>
        <p:txBody>
          <a:bodyPr/>
          <a:lstStyle/>
          <a:p>
            <a:pPr eaLnBrk="1" hangingPunct="1"/>
            <a:r>
              <a:rPr lang="en-US" altLang="en-US"/>
              <a:t>Computer networks have opened up an entire frontier in the world of computing called the </a:t>
            </a:r>
            <a:r>
              <a:rPr lang="en-US" altLang="en-US" b="1"/>
              <a:t>client/server model</a:t>
            </a:r>
            <a:endParaRPr lang="en-US" altLang="en-US"/>
          </a:p>
        </p:txBody>
      </p:sp>
      <p:pic>
        <p:nvPicPr>
          <p:cNvPr id="17412" name="Picture 4" descr="c15f01">
            <a:extLst>
              <a:ext uri="{FF2B5EF4-FFF2-40B4-BE49-F238E27FC236}">
                <a16:creationId xmlns:a16="http://schemas.microsoft.com/office/drawing/2014/main" id="{222FC2E8-11E8-25A8-1F22-E39B97277EA1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3641725"/>
            <a:ext cx="5676900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 Box 5">
            <a:extLst>
              <a:ext uri="{FF2B5EF4-FFF2-40B4-BE49-F238E27FC236}">
                <a16:creationId xmlns:a16="http://schemas.microsoft.com/office/drawing/2014/main" id="{5EBF4AD9-3F4C-E07D-A7CA-9B9ED710F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6324600"/>
            <a:ext cx="3267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327CB8"/>
                </a:solidFill>
              </a:rPr>
              <a:t>Figure 15.1  </a:t>
            </a:r>
            <a:r>
              <a:rPr lang="en-US" altLang="en-US" sz="1400" b="1"/>
              <a:t>Client/Server interaction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3">
            <a:extLst>
              <a:ext uri="{FF2B5EF4-FFF2-40B4-BE49-F238E27FC236}">
                <a16:creationId xmlns:a16="http://schemas.microsoft.com/office/drawing/2014/main" id="{8CA768E8-96B6-596E-07C5-C4DDA9B743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36588BB4-8642-4F14-8772-1CF105F5B8F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8508BDC5-398B-C823-9654-C7CF698B1F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Networking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F667B64-EEB3-EA16-8B3B-26EAF40A0A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3333FF"/>
                </a:solidFill>
              </a:rPr>
              <a:t>File server</a:t>
            </a:r>
            <a:r>
              <a:rPr lang="en-US" altLang="en-US"/>
              <a:t>  A computer that stores and manages files for multiple users on a network</a:t>
            </a:r>
          </a:p>
          <a:p>
            <a:pPr eaLnBrk="1" hangingPunct="1"/>
            <a:r>
              <a:rPr lang="en-US" altLang="en-US" b="1">
                <a:solidFill>
                  <a:srgbClr val="3333FF"/>
                </a:solidFill>
              </a:rPr>
              <a:t>Web server</a:t>
            </a:r>
            <a:r>
              <a:rPr lang="en-US" altLang="en-US"/>
              <a:t>  A computer dedicated to responding to requests (from the browser client) for web pages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62C8A7D4-E53C-F60A-86A4-1B312419DF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51D95-31FF-3F19-023B-867D7CB0E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458200" cy="4572000"/>
          </a:xfrm>
        </p:spPr>
        <p:txBody>
          <a:bodyPr/>
          <a:lstStyle/>
          <a:p>
            <a:pPr>
              <a:defRPr/>
            </a:pPr>
            <a:r>
              <a:rPr lang="en-US" dirty="0"/>
              <a:t>2 Basic types of servers: 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♦ Iterative - server handles one client at a time. 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♦ Concurrent - server handles many clients at a time.</a:t>
            </a:r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E6147C02-52BB-424D-2C7F-1CC2AA424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642C33F8-9C9B-45CE-837B-B8DF8EE2FD8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3">
            <a:extLst>
              <a:ext uri="{FF2B5EF4-FFF2-40B4-BE49-F238E27FC236}">
                <a16:creationId xmlns:a16="http://schemas.microsoft.com/office/drawing/2014/main" id="{C0771CBE-10D9-23A0-DCE1-032B7E471A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A281E964-9119-4513-9D67-3EE091D2D84C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73610087-E45B-4E31-22CA-CC3EE4D53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Types of Networks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1964A20-8795-EF6C-98EB-6CA938D6C2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3333FF"/>
                </a:solidFill>
              </a:rPr>
              <a:t>Local-area network</a:t>
            </a:r>
            <a:r>
              <a:rPr lang="en-US" altLang="en-US" b="1"/>
              <a:t> (LAN)</a:t>
            </a:r>
            <a:r>
              <a:rPr lang="en-US" altLang="en-US"/>
              <a:t>   A network that connects a relatively small number of machines in a relatively close geographical area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2">
            <a:extLst>
              <a:ext uri="{FF2B5EF4-FFF2-40B4-BE49-F238E27FC236}">
                <a16:creationId xmlns:a16="http://schemas.microsoft.com/office/drawing/2014/main" id="{C018F1C5-F499-CE31-B40C-3CF03D0FA2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0B389477-0F23-43AF-B84E-55075274957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A7A7FFB8-DA55-8C8A-579F-3F4BE686F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Types of Networks</a:t>
            </a:r>
          </a:p>
        </p:txBody>
      </p:sp>
      <p:pic>
        <p:nvPicPr>
          <p:cNvPr id="21507" name="Picture 4" descr="c15f03">
            <a:extLst>
              <a:ext uri="{FF2B5EF4-FFF2-40B4-BE49-F238E27FC236}">
                <a16:creationId xmlns:a16="http://schemas.microsoft.com/office/drawing/2014/main" id="{7268166A-1C67-5005-9AC5-238FB02C6C3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600200"/>
            <a:ext cx="7696200" cy="446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Text Box 5">
            <a:extLst>
              <a:ext uri="{FF2B5EF4-FFF2-40B4-BE49-F238E27FC236}">
                <a16:creationId xmlns:a16="http://schemas.microsoft.com/office/drawing/2014/main" id="{FEF18D79-9917-CE96-0928-5C8B6E67B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11875"/>
            <a:ext cx="6019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327CB8"/>
                </a:solidFill>
              </a:rPr>
              <a:t>Figure  </a:t>
            </a:r>
            <a:r>
              <a:rPr lang="en-US" altLang="en-US" sz="1400" b="1"/>
              <a:t>Local-area networks connected across a distance to create a wide-area network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3">
            <a:extLst>
              <a:ext uri="{FF2B5EF4-FFF2-40B4-BE49-F238E27FC236}">
                <a16:creationId xmlns:a16="http://schemas.microsoft.com/office/drawing/2014/main" id="{455A96C8-1BB9-0235-D2B5-B08E515741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54501635-2943-4CDE-A947-9B47EC5AD326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CF9B4775-A0C6-CB54-39B7-798C03A05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Types of Networks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B6CC550-231C-3335-D989-B37C5F2D3F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b="1">
                <a:solidFill>
                  <a:srgbClr val="3333FF"/>
                </a:solidFill>
              </a:rPr>
              <a:t>Wide-area network</a:t>
            </a:r>
            <a:r>
              <a:rPr lang="en-US" altLang="en-US" sz="2800" b="1"/>
              <a:t> (WAN)</a:t>
            </a:r>
            <a:r>
              <a:rPr lang="en-US" altLang="en-US" sz="2800"/>
              <a:t>   A network that connects two or more local-area networks over a potentially large geographic distance</a:t>
            </a:r>
            <a:endParaRPr lang="en-US" altLang="en-US"/>
          </a:p>
          <a:p>
            <a:pPr lvl="1" eaLnBrk="1" hangingPunct="1">
              <a:buFontTx/>
              <a:buNone/>
            </a:pPr>
            <a:r>
              <a:rPr lang="en-US" altLang="en-US" sz="2400"/>
              <a:t>	Often one particular node on a LAN is set up to serve as a </a:t>
            </a:r>
            <a:r>
              <a:rPr lang="en-US" altLang="en-US" sz="2400" b="1">
                <a:solidFill>
                  <a:srgbClr val="3333FF"/>
                </a:solidFill>
              </a:rPr>
              <a:t>gateway</a:t>
            </a:r>
            <a:r>
              <a:rPr lang="en-US" altLang="en-US" sz="2400" b="1"/>
              <a:t> </a:t>
            </a:r>
            <a:r>
              <a:rPr lang="en-US" altLang="en-US" sz="2400"/>
              <a:t>to handle all communication going between that LAN and other networks</a:t>
            </a: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 sz="2800"/>
              <a:t>	Communication between networks is called internetworking</a:t>
            </a:r>
            <a:endParaRPr lang="en-US" altLang="en-US"/>
          </a:p>
          <a:p>
            <a:pPr lvl="1" eaLnBrk="1" hangingPunct="1">
              <a:buFontTx/>
              <a:buNone/>
            </a:pPr>
            <a:r>
              <a:rPr lang="en-US" altLang="en-US" sz="2400"/>
              <a:t>	The </a:t>
            </a:r>
            <a:r>
              <a:rPr lang="en-US" altLang="en-US" sz="2400" b="1">
                <a:solidFill>
                  <a:srgbClr val="3333FF"/>
                </a:solidFill>
              </a:rPr>
              <a:t>Internet</a:t>
            </a:r>
            <a:r>
              <a:rPr lang="en-US" altLang="en-US" sz="2400" b="1"/>
              <a:t>,</a:t>
            </a:r>
            <a:r>
              <a:rPr lang="en-US" altLang="en-US" sz="2400"/>
              <a:t> as we know it today, is essentially the ultimate wide-area network, spanning the entire globe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3">
            <a:extLst>
              <a:ext uri="{FF2B5EF4-FFF2-40B4-BE49-F238E27FC236}">
                <a16:creationId xmlns:a16="http://schemas.microsoft.com/office/drawing/2014/main" id="{930C1EF8-D66D-A779-6DC0-BC653FEFC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83842856-FEFB-4881-BEBD-84D5A72105F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B40FAD2D-1C4A-5B52-C953-FF4559AF67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Types of Networks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2B059BA-FA6C-595A-A9DF-E75D3554C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2133600"/>
            <a:ext cx="8229600" cy="41148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3333FF"/>
                </a:solidFill>
              </a:rPr>
              <a:t>M</a:t>
            </a:r>
            <a:r>
              <a:rPr lang="en-US" altLang="en-US" b="1">
                <a:solidFill>
                  <a:srgbClr val="3333FF"/>
                </a:solidFill>
              </a:rPr>
              <a:t>etropolitan-area network</a:t>
            </a:r>
            <a:r>
              <a:rPr lang="en-US" altLang="en-US" b="1"/>
              <a:t> (MAN)</a:t>
            </a:r>
            <a:r>
              <a:rPr lang="en-US" altLang="en-US"/>
              <a:t>  The communication infrastructures that have been developed in and around large cities</a:t>
            </a:r>
          </a:p>
          <a:p>
            <a:pPr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68E03CAB-C4AF-31EE-A7DF-B9FFBEE6F5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Topology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F3230F71-B77D-E753-96AE-C9E9ADEE66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557338"/>
            <a:ext cx="8642350" cy="2133600"/>
          </a:xfrm>
        </p:spPr>
        <p:txBody>
          <a:bodyPr/>
          <a:lstStyle/>
          <a:p>
            <a:pPr eaLnBrk="1" hangingPunct="1"/>
            <a:r>
              <a:rPr lang="en-US" altLang="en-US"/>
              <a:t>Physical or logical arrangement</a:t>
            </a:r>
          </a:p>
          <a:p>
            <a:pPr eaLnBrk="1" hangingPunct="1"/>
            <a:r>
              <a:rPr lang="en-US" altLang="en-US"/>
              <a:t>4 basic types: mesh, star, bus, ring, hybrid</a:t>
            </a:r>
          </a:p>
          <a:p>
            <a:pPr eaLnBrk="1" hangingPunct="1"/>
            <a:r>
              <a:rPr lang="en-US" altLang="en-US"/>
              <a:t>May often see hybrid</a:t>
            </a:r>
          </a:p>
        </p:txBody>
      </p:sp>
      <p:pic>
        <p:nvPicPr>
          <p:cNvPr id="24579" name="Picture 4">
            <a:extLst>
              <a:ext uri="{FF2B5EF4-FFF2-40B4-BE49-F238E27FC236}">
                <a16:creationId xmlns:a16="http://schemas.microsoft.com/office/drawing/2014/main" id="{F7E1BFC6-6B84-9B40-818C-74B80A7FC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005263"/>
            <a:ext cx="6389688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1D5E6D8C-FEC2-285D-927A-A89DF39EA3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242888"/>
            <a:ext cx="33782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Mesh Topology</a:t>
            </a:r>
          </a:p>
        </p:txBody>
      </p:sp>
      <p:pic>
        <p:nvPicPr>
          <p:cNvPr id="25602" name="Picture 6">
            <a:extLst>
              <a:ext uri="{FF2B5EF4-FFF2-40B4-BE49-F238E27FC236}">
                <a16:creationId xmlns:a16="http://schemas.microsoft.com/office/drawing/2014/main" id="{8B26F1E7-55B2-78DA-96D9-B5B390453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1412875"/>
            <a:ext cx="4216400" cy="313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Rectangle 7">
            <a:extLst>
              <a:ext uri="{FF2B5EF4-FFF2-40B4-BE49-F238E27FC236}">
                <a16:creationId xmlns:a16="http://schemas.microsoft.com/office/drawing/2014/main" id="{620EE122-D9A9-A9CE-4FB4-4183287F6B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7950" y="1628775"/>
            <a:ext cx="4262438" cy="3168650"/>
          </a:xfrm>
          <a:noFill/>
        </p:spPr>
        <p:txBody>
          <a:bodyPr/>
          <a:lstStyle/>
          <a:p>
            <a:pPr eaLnBrk="1" hangingPunct="1"/>
            <a:r>
              <a:rPr lang="en-US" altLang="en-US" sz="2400"/>
              <a:t>Dedicated point-to-point links to every other device</a:t>
            </a:r>
          </a:p>
          <a:p>
            <a:pPr eaLnBrk="1" hangingPunct="1"/>
            <a:r>
              <a:rPr lang="en-US" altLang="en-US" sz="2400"/>
              <a:t>n(n-1)/2 physical channels to link n devices</a:t>
            </a:r>
          </a:p>
          <a:p>
            <a:pPr eaLnBrk="1" hangingPunct="1"/>
            <a:r>
              <a:rPr lang="en-US" altLang="en-US" sz="2400"/>
              <a:t>Every device on network must have n-1 I/O ports</a:t>
            </a:r>
          </a:p>
        </p:txBody>
      </p:sp>
      <p:sp>
        <p:nvSpPr>
          <p:cNvPr id="12294" name="Rectangle 9">
            <a:extLst>
              <a:ext uri="{FF2B5EF4-FFF2-40B4-BE49-F238E27FC236}">
                <a16:creationId xmlns:a16="http://schemas.microsoft.com/office/drawing/2014/main" id="{12C2B9C0-1C15-8AC7-2A76-9952DAAEC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876800"/>
            <a:ext cx="9144000" cy="1981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en-US" b="1" dirty="0">
                <a:latin typeface="+mn-lt"/>
              </a:rPr>
              <a:t>Advantages: </a:t>
            </a:r>
            <a:r>
              <a:rPr lang="en-US" altLang="en-US" dirty="0">
                <a:latin typeface="+mn-lt"/>
              </a:rPr>
              <a:t>Dedicated links, Robust, Security and privacy, Easy fault identification and isolation</a:t>
            </a:r>
          </a:p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en-US" b="1" dirty="0">
                <a:latin typeface="+mn-lt"/>
              </a:rPr>
              <a:t>Disadvantages: </a:t>
            </a:r>
            <a:r>
              <a:rPr lang="en-US" altLang="en-US" dirty="0">
                <a:latin typeface="+mn-lt"/>
              </a:rPr>
              <a:t>Bulk of wiring, No of I/O ports, expensive, Difficult installation and reconnection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9E53E9B1-CA7C-B150-2923-AC3606B8D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204788"/>
            <a:ext cx="2952750" cy="1136650"/>
          </a:xfrm>
        </p:spPr>
        <p:txBody>
          <a:bodyPr/>
          <a:lstStyle/>
          <a:p>
            <a:pPr eaLnBrk="1" hangingPunct="1"/>
            <a:r>
              <a:rPr lang="en-US" altLang="en-US" sz="3200" b="1" u="sng"/>
              <a:t>Star Topology</a:t>
            </a:r>
          </a:p>
        </p:txBody>
      </p:sp>
      <p:pic>
        <p:nvPicPr>
          <p:cNvPr id="26626" name="Picture 4">
            <a:extLst>
              <a:ext uri="{FF2B5EF4-FFF2-40B4-BE49-F238E27FC236}">
                <a16:creationId xmlns:a16="http://schemas.microsoft.com/office/drawing/2014/main" id="{BE59FD27-8EDF-6B07-A236-6BDFA13C2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888" y="1630363"/>
            <a:ext cx="4802187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5">
            <a:extLst>
              <a:ext uri="{FF2B5EF4-FFF2-40B4-BE49-F238E27FC236}">
                <a16:creationId xmlns:a16="http://schemas.microsoft.com/office/drawing/2014/main" id="{EA45BB69-F3B9-D85B-1006-796B389384A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2075" y="1770063"/>
            <a:ext cx="4114800" cy="3097212"/>
          </a:xfrm>
          <a:noFill/>
        </p:spPr>
        <p:txBody>
          <a:bodyPr/>
          <a:lstStyle/>
          <a:p>
            <a:pPr eaLnBrk="1" hangingPunct="1"/>
            <a:r>
              <a:rPr lang="en-US" altLang="en-US" sz="2800"/>
              <a:t>Dedicated point-to-point links to central controller (hub)</a:t>
            </a:r>
          </a:p>
          <a:p>
            <a:pPr eaLnBrk="1" hangingPunct="1"/>
            <a:r>
              <a:rPr lang="en-US" altLang="en-US" sz="2800"/>
              <a:t>Controller acts </a:t>
            </a:r>
            <a:br>
              <a:rPr lang="en-US" altLang="en-US" sz="2800"/>
            </a:br>
            <a:r>
              <a:rPr lang="en-US" altLang="en-US" sz="2800"/>
              <a:t>as exchange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24691E44-126E-A19F-1638-8FDCC55CC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4419600"/>
            <a:ext cx="8915400" cy="2438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en-US" sz="2800" b="1" dirty="0">
                <a:latin typeface="+mn-lt"/>
              </a:rPr>
              <a:t>Advantages: </a:t>
            </a:r>
            <a:r>
              <a:rPr lang="en-US" altLang="en-US" sz="2800" dirty="0">
                <a:latin typeface="+mn-lt"/>
              </a:rPr>
              <a:t>Less expensive then mesh, Easy to install and configure, robustness, easy fault isolation and identification</a:t>
            </a:r>
          </a:p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r>
              <a:rPr lang="en-US" altLang="en-US" sz="2800" b="1" dirty="0">
                <a:latin typeface="+mn-lt"/>
              </a:rPr>
              <a:t>Disadvantages: </a:t>
            </a:r>
            <a:r>
              <a:rPr lang="en-US" altLang="en-US" sz="2800" dirty="0">
                <a:latin typeface="+mn-lt"/>
              </a:rPr>
              <a:t>More cabling required then ring and bus.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AEDB537C-72E3-B116-E599-F77E1D4FC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366713"/>
            <a:ext cx="4105275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Bus Topology</a:t>
            </a:r>
          </a:p>
        </p:txBody>
      </p:sp>
      <p:pic>
        <p:nvPicPr>
          <p:cNvPr id="27650" name="Picture 4">
            <a:extLst>
              <a:ext uri="{FF2B5EF4-FFF2-40B4-BE49-F238E27FC236}">
                <a16:creationId xmlns:a16="http://schemas.microsoft.com/office/drawing/2014/main" id="{1A28FD76-CEE5-6DF1-BE60-BFD1E1A27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788" y="1760538"/>
            <a:ext cx="7888287" cy="166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Rectangle 5">
            <a:extLst>
              <a:ext uri="{FF2B5EF4-FFF2-40B4-BE49-F238E27FC236}">
                <a16:creationId xmlns:a16="http://schemas.microsoft.com/office/drawing/2014/main" id="{7D3F365B-D834-0EF4-79FA-B13F2EF3B1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4925" y="3913188"/>
            <a:ext cx="8964613" cy="2971800"/>
          </a:xfrm>
        </p:spPr>
        <p:txBody>
          <a:bodyPr/>
          <a:lstStyle/>
          <a:p>
            <a:pPr marL="251460" eaLnBrk="1" hangingPunct="1">
              <a:spcBef>
                <a:spcPts val="480"/>
              </a:spcBef>
              <a:defRPr/>
            </a:pPr>
            <a:r>
              <a:rPr lang="en-US" altLang="en-US" sz="2800" dirty="0"/>
              <a:t>Multipoint configuration</a:t>
            </a:r>
          </a:p>
          <a:p>
            <a:pPr marL="251460" eaLnBrk="1" hangingPunct="1">
              <a:spcBef>
                <a:spcPts val="480"/>
              </a:spcBef>
              <a:defRPr/>
            </a:pPr>
            <a:r>
              <a:rPr lang="en-US" altLang="en-US" sz="2800" dirty="0"/>
              <a:t>One cable acts as a backbone to link all devices</a:t>
            </a:r>
          </a:p>
          <a:p>
            <a:pPr eaLnBrk="1" hangingPunct="1">
              <a:defRPr/>
            </a:pPr>
            <a:r>
              <a:rPr lang="en-US" altLang="en-US" sz="2800" b="1" dirty="0"/>
              <a:t>Advantages: </a:t>
            </a:r>
            <a:r>
              <a:rPr lang="en-US" altLang="en-US" sz="2400" dirty="0"/>
              <a:t>Less cabling, Easy to install and reconfigure</a:t>
            </a:r>
            <a:endParaRPr lang="en-US" altLang="en-US" sz="2800" b="1" dirty="0"/>
          </a:p>
          <a:p>
            <a:pPr eaLnBrk="1" hangingPunct="1">
              <a:defRPr/>
            </a:pPr>
            <a:r>
              <a:rPr lang="en-US" altLang="en-US" sz="2800" b="1" dirty="0"/>
              <a:t>Disadvantages:</a:t>
            </a:r>
            <a:r>
              <a:rPr lang="en-US" altLang="en-US" sz="2800" dirty="0"/>
              <a:t> </a:t>
            </a:r>
            <a:r>
              <a:rPr lang="en-US" altLang="en-US" sz="2400" dirty="0"/>
              <a:t>Limited no of taps supported, Difficult reconnection and fault isolation.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1CFC2397-92FB-A913-7D31-EA4781ECC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Ring Topology</a:t>
            </a:r>
          </a:p>
        </p:txBody>
      </p:sp>
      <p:pic>
        <p:nvPicPr>
          <p:cNvPr id="28674" name="Picture 4">
            <a:extLst>
              <a:ext uri="{FF2B5EF4-FFF2-40B4-BE49-F238E27FC236}">
                <a16:creationId xmlns:a16="http://schemas.microsoft.com/office/drawing/2014/main" id="{B693D853-0363-AC0A-C7BD-36AA1E86F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557338"/>
            <a:ext cx="8593137" cy="248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Rectangle 5">
            <a:extLst>
              <a:ext uri="{FF2B5EF4-FFF2-40B4-BE49-F238E27FC236}">
                <a16:creationId xmlns:a16="http://schemas.microsoft.com/office/drawing/2014/main" id="{93DBDE43-8D68-3C50-625A-8E2532BBBD6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4191000"/>
            <a:ext cx="9144000" cy="2286000"/>
          </a:xfrm>
        </p:spPr>
        <p:txBody>
          <a:bodyPr/>
          <a:lstStyle/>
          <a:p>
            <a:pPr marL="68580" eaLnBrk="1" hangingPunct="1">
              <a:spcBef>
                <a:spcPts val="0"/>
              </a:spcBef>
              <a:defRPr/>
            </a:pPr>
            <a:r>
              <a:rPr lang="en-US" altLang="en-US" sz="2400" dirty="0"/>
              <a:t>Dedicated point-to-point configuration to neighbors</a:t>
            </a:r>
          </a:p>
          <a:p>
            <a:pPr marL="68580" eaLnBrk="1" hangingPunct="1">
              <a:spcBef>
                <a:spcPts val="0"/>
              </a:spcBef>
              <a:defRPr/>
            </a:pPr>
            <a:r>
              <a:rPr lang="en-US" altLang="en-US" sz="2400" dirty="0"/>
              <a:t>Signal is passed from device to device until it reaches destination</a:t>
            </a:r>
          </a:p>
          <a:p>
            <a:pPr marL="68580" eaLnBrk="1" hangingPunct="1">
              <a:spcBef>
                <a:spcPts val="0"/>
              </a:spcBef>
              <a:defRPr/>
            </a:pPr>
            <a:r>
              <a:rPr lang="en-US" altLang="en-US" sz="2400" dirty="0"/>
              <a:t>Each device functions as a repeater</a:t>
            </a:r>
          </a:p>
          <a:p>
            <a:pPr eaLnBrk="1" hangingPunct="1">
              <a:defRPr/>
            </a:pPr>
            <a:r>
              <a:rPr lang="en-US" altLang="en-US" sz="2400" b="1" dirty="0"/>
              <a:t>Advantages: </a:t>
            </a:r>
            <a:r>
              <a:rPr lang="en-US" altLang="en-US" sz="2400" dirty="0"/>
              <a:t>Less cabling, Easy to install and reconfigure</a:t>
            </a:r>
            <a:endParaRPr lang="en-US" altLang="en-US" sz="2400" b="1" dirty="0"/>
          </a:p>
          <a:p>
            <a:pPr eaLnBrk="1" hangingPunct="1">
              <a:defRPr/>
            </a:pPr>
            <a:r>
              <a:rPr lang="en-US" altLang="en-US" sz="2400" b="1" dirty="0"/>
              <a:t>Disadvantages:</a:t>
            </a:r>
            <a:r>
              <a:rPr lang="en-US" altLang="en-US" sz="2400" dirty="0"/>
              <a:t> Break can disable entire network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278CC85E-228C-22C3-6961-79DECC9A7C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 sz="3600" b="1" u="sng"/>
              <a:t>Hybrid Topology</a:t>
            </a:r>
          </a:p>
        </p:txBody>
      </p:sp>
      <p:pic>
        <p:nvPicPr>
          <p:cNvPr id="29698" name="Picture 4">
            <a:extLst>
              <a:ext uri="{FF2B5EF4-FFF2-40B4-BE49-F238E27FC236}">
                <a16:creationId xmlns:a16="http://schemas.microsoft.com/office/drawing/2014/main" id="{9D794EC4-3329-33AF-4650-98B39ABE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1490663"/>
            <a:ext cx="6883400" cy="414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3">
            <a:extLst>
              <a:ext uri="{FF2B5EF4-FFF2-40B4-BE49-F238E27FC236}">
                <a16:creationId xmlns:a16="http://schemas.microsoft.com/office/drawing/2014/main" id="{C087C54C-3977-95A9-200F-F0D06F0D4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80C42C57-9AEA-4A99-A3E2-F019778BFB0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F177379E-6D06-4102-F9EE-CE47E47F2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i="1"/>
              <a:t>So, who owns the Internet?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846C8057-0C17-F4B4-C3BD-8DDCCED47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indent="0" eaLnBrk="1" hangingPunct="1">
              <a:buFontTx/>
              <a:buNone/>
            </a:pPr>
            <a:r>
              <a:rPr lang="en-US" altLang="en-US"/>
              <a:t>Well, nobody does. No single person or company owns the Internet or even controls it entirely. As a wide-area network, it is made up of many smaller networks. These smaller networks are often owned and managed by a person or organization. The Internet, then, is really defined by how connections can be made between these networks.	</a:t>
            </a:r>
          </a:p>
          <a:p>
            <a:pPr indent="0" eaLnBrk="1" hangingPunct="1"/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3">
            <a:extLst>
              <a:ext uri="{FF2B5EF4-FFF2-40B4-BE49-F238E27FC236}">
                <a16:creationId xmlns:a16="http://schemas.microsoft.com/office/drawing/2014/main" id="{90E559E3-7B35-BB2D-2D19-01D3F1BF80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24FBD66A-7CC0-4D5F-BC46-95503CA09DC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2EB1D604-A89B-1DAF-C6B2-8E8B23F4AE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Internet Connections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3A96C1F7-B01C-6E3E-5008-23354E7E2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3333FF"/>
                </a:solidFill>
              </a:rPr>
              <a:t>Internet backbone</a:t>
            </a:r>
            <a:r>
              <a:rPr lang="en-US" altLang="en-US"/>
              <a:t>  A set of high-speed networks that carry Internet traffic</a:t>
            </a:r>
          </a:p>
          <a:p>
            <a:pPr eaLnBrk="1" hangingPunct="1">
              <a:buFontTx/>
              <a:buNone/>
            </a:pPr>
            <a:r>
              <a:rPr lang="en-US" altLang="en-US"/>
              <a:t>	These networks are provided by companies such as AT&amp;T, GTE, and IBM</a:t>
            </a:r>
          </a:p>
          <a:p>
            <a:pPr eaLnBrk="1" hangingPunct="1"/>
            <a:r>
              <a:rPr lang="en-US" altLang="en-US" b="1">
                <a:solidFill>
                  <a:srgbClr val="3333FF"/>
                </a:solidFill>
              </a:rPr>
              <a:t>Internet service provider</a:t>
            </a:r>
            <a:r>
              <a:rPr lang="en-US" altLang="en-US" b="1"/>
              <a:t> (ISP)</a:t>
            </a:r>
            <a:r>
              <a:rPr lang="en-US" altLang="en-US"/>
              <a:t>  A company that provides other companies or individuals with access to the Internet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3">
            <a:extLst>
              <a:ext uri="{FF2B5EF4-FFF2-40B4-BE49-F238E27FC236}">
                <a16:creationId xmlns:a16="http://schemas.microsoft.com/office/drawing/2014/main" id="{A32104A4-1FA9-B54A-F612-8D811EA8F5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8C031FE7-13CB-462B-B88D-578053DC776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0243968A-97DB-DBFF-9721-1918A56E3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Internet Connections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F2C7DDD-0E1A-7433-3FAA-BDCFC556BA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There are various technologies available that you can use to connect a home computer to the Internet</a:t>
            </a:r>
            <a:endParaRPr lang="en-US" altLang="en-US"/>
          </a:p>
          <a:p>
            <a:pPr lvl="1" eaLnBrk="1" hangingPunct="1">
              <a:spcBef>
                <a:spcPct val="50000"/>
              </a:spcBef>
            </a:pPr>
            <a:r>
              <a:rPr lang="en-US" altLang="en-US" sz="2100"/>
              <a:t>A </a:t>
            </a:r>
            <a:r>
              <a:rPr lang="en-US" altLang="en-US" sz="2100" b="1">
                <a:solidFill>
                  <a:srgbClr val="3333FF"/>
                </a:solidFill>
              </a:rPr>
              <a:t>phone modem</a:t>
            </a:r>
            <a:r>
              <a:rPr lang="en-US" altLang="en-US" sz="2100"/>
              <a:t> converts computer data into an analog audio signal for transfer over a telephone line, and then a modem at the destination converts it back again into data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100"/>
              <a:t>A </a:t>
            </a:r>
            <a:r>
              <a:rPr lang="en-US" altLang="en-US" sz="2100" b="1">
                <a:solidFill>
                  <a:srgbClr val="3333FF"/>
                </a:solidFill>
              </a:rPr>
              <a:t>digital subscriber line</a:t>
            </a:r>
            <a:r>
              <a:rPr lang="en-US" altLang="en-US" sz="2100" b="1"/>
              <a:t> (DSL)</a:t>
            </a:r>
            <a:r>
              <a:rPr lang="en-US" altLang="en-US" sz="2100"/>
              <a:t> uses regular copper phone lines to transfer digital data to and from the phone company’s central office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en-US" sz="2100"/>
              <a:t>A </a:t>
            </a:r>
            <a:r>
              <a:rPr lang="en-US" altLang="en-US" sz="2100" b="1">
                <a:solidFill>
                  <a:srgbClr val="3333FF"/>
                </a:solidFill>
              </a:rPr>
              <a:t>cable modem</a:t>
            </a:r>
            <a:r>
              <a:rPr lang="en-US" altLang="en-US" sz="2100" b="1"/>
              <a:t> </a:t>
            </a:r>
            <a:r>
              <a:rPr lang="en-US" altLang="en-US" sz="2100"/>
              <a:t>uses</a:t>
            </a:r>
            <a:r>
              <a:rPr lang="en-US" altLang="en-US" sz="2100" b="1"/>
              <a:t> </a:t>
            </a:r>
            <a:r>
              <a:rPr lang="en-US" altLang="en-US" sz="2100"/>
              <a:t>the same line that your cable TV signals come in on to transfer the data back and forth</a:t>
            </a:r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3">
            <a:extLst>
              <a:ext uri="{FF2B5EF4-FFF2-40B4-BE49-F238E27FC236}">
                <a16:creationId xmlns:a16="http://schemas.microsoft.com/office/drawing/2014/main" id="{7D5104F9-7BB2-5E43-DEDC-F1517B31A2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7BF88A3E-B327-4A38-A317-DF492BF5896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CFE11AD2-D134-1E00-EEBF-02D4C70ED8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Internet Connections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ADEF503-8E8B-68F0-D838-24101CEEA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800" b="1">
                <a:solidFill>
                  <a:srgbClr val="3333FF"/>
                </a:solidFill>
              </a:rPr>
              <a:t>Broadband</a:t>
            </a:r>
            <a:r>
              <a:rPr lang="en-US" altLang="en-US" sz="2800" b="1"/>
              <a:t>  </a:t>
            </a:r>
            <a:r>
              <a:rPr lang="en-US" altLang="en-US" sz="2800"/>
              <a:t>A connection in which transfer speeds are faster than 128 bits per second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DSL connections and cable modems are broadband connections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/>
              <a:t>The speed for </a:t>
            </a:r>
            <a:r>
              <a:rPr lang="en-US" altLang="en-US" sz="2400" b="1"/>
              <a:t>downloads</a:t>
            </a:r>
            <a:r>
              <a:rPr lang="en-US" altLang="en-US" sz="2400"/>
              <a:t> (getting data from the Internet to your home computer) may not be the same as </a:t>
            </a:r>
            <a:r>
              <a:rPr lang="en-US" altLang="en-US" sz="2400" b="1"/>
              <a:t>uploads</a:t>
            </a:r>
            <a:r>
              <a:rPr lang="en-US" altLang="en-US" sz="2400"/>
              <a:t> (sending data from your home computer to the Internet)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89" name="Picture 4" descr="c15f04">
            <a:extLst>
              <a:ext uri="{FF2B5EF4-FFF2-40B4-BE49-F238E27FC236}">
                <a16:creationId xmlns:a16="http://schemas.microsoft.com/office/drawing/2014/main" id="{224654BB-15CF-FAAA-D505-7611F20B06D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70325"/>
            <a:ext cx="7315200" cy="275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0" name="Rectangle 2">
            <a:extLst>
              <a:ext uri="{FF2B5EF4-FFF2-40B4-BE49-F238E27FC236}">
                <a16:creationId xmlns:a16="http://schemas.microsoft.com/office/drawing/2014/main" id="{D55A2A54-6BF5-62CB-20D3-2356FF9A4E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Packet Switching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FD02D92-1F23-A2C5-C9AD-E3D06EAE1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2286000"/>
          </a:xfrm>
        </p:spPr>
        <p:txBody>
          <a:bodyPr/>
          <a:lstStyle/>
          <a:p>
            <a:pPr eaLnBrk="1" hangingPunct="1"/>
            <a:r>
              <a:rPr lang="en-US" altLang="en-US" sz="2400"/>
              <a:t>To improve the efficiency of transferring information over a shared communication line, messages are divided into fixed-sized, numbered </a:t>
            </a:r>
            <a:r>
              <a:rPr lang="en-US" altLang="en-US" sz="2400" b="1">
                <a:solidFill>
                  <a:srgbClr val="3333FF"/>
                </a:solidFill>
              </a:rPr>
              <a:t>packets</a:t>
            </a:r>
            <a:endParaRPr lang="en-US" altLang="en-US" sz="2400"/>
          </a:p>
          <a:p>
            <a:pPr eaLnBrk="1" hangingPunct="1"/>
            <a:r>
              <a:rPr lang="en-US" altLang="en-US" sz="2400"/>
              <a:t>Network devices called routers are used to direct packets between networks</a:t>
            </a:r>
            <a:endParaRPr lang="en-US" altLang="en-US"/>
          </a:p>
        </p:txBody>
      </p:sp>
      <p:sp>
        <p:nvSpPr>
          <p:cNvPr id="37892" name="Text Box 5">
            <a:extLst>
              <a:ext uri="{FF2B5EF4-FFF2-40B4-BE49-F238E27FC236}">
                <a16:creationId xmlns:a16="http://schemas.microsoft.com/office/drawing/2014/main" id="{B5849E66-DBFF-9239-9505-60C499099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810000"/>
            <a:ext cx="14097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327CB8"/>
                </a:solidFill>
              </a:rPr>
              <a:t>Figure  </a:t>
            </a:r>
            <a:br>
              <a:rPr lang="en-US" altLang="en-US" sz="1400" b="1">
                <a:solidFill>
                  <a:srgbClr val="327CB8"/>
                </a:solidFill>
              </a:rPr>
            </a:br>
            <a:r>
              <a:rPr lang="en-US" altLang="en-US" sz="1400" b="1"/>
              <a:t>Messages sent by packet switching</a:t>
            </a:r>
          </a:p>
        </p:txBody>
      </p:sp>
      <p:sp>
        <p:nvSpPr>
          <p:cNvPr id="37893" name="Rectangle 6">
            <a:extLst>
              <a:ext uri="{FF2B5EF4-FFF2-40B4-BE49-F238E27FC236}">
                <a16:creationId xmlns:a16="http://schemas.microsoft.com/office/drawing/2014/main" id="{A8318E12-07FB-9790-7655-C3B02B4FA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1400" b="1"/>
              <a:t>15-18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BF68197C-FDD9-DEC9-D751-1F9353A5F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Circuit Switching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37EB0B08-88C1-8243-2DAB-A28F85BD2B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45550" cy="2592387"/>
          </a:xfrm>
        </p:spPr>
        <p:txBody>
          <a:bodyPr/>
          <a:lstStyle/>
          <a:p>
            <a:pPr marL="460375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ea typeface="宋体" panose="02010600030101010101" pitchFamily="2" charset="-122"/>
              </a:rPr>
              <a:t>There is a d</a:t>
            </a:r>
            <a:r>
              <a:rPr lang="en-US" altLang="en-US" sz="2400"/>
              <a:t>edicated communication path between two stations (end-to-end)</a:t>
            </a:r>
            <a:endParaRPr lang="en-US" altLang="zh-CN" sz="2400">
              <a:ea typeface="宋体" panose="02010600030101010101" pitchFamily="2" charset="-122"/>
            </a:endParaRPr>
          </a:p>
          <a:p>
            <a:pPr marL="460375" lvl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zh-CN" sz="2400">
              <a:ea typeface="宋体" panose="02010600030101010101" pitchFamily="2" charset="-122"/>
            </a:endParaRPr>
          </a:p>
          <a:p>
            <a:pPr marL="460375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sz="2400">
                <a:ea typeface="宋体" panose="02010600030101010101" pitchFamily="2" charset="-122"/>
              </a:rPr>
              <a:t>The path is a connected sequence of links between network nodes. </a:t>
            </a:r>
          </a:p>
          <a:p>
            <a:pPr marL="460375"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/>
              <a:t>The switches must know how to find the route to the destination and how to allocate bandwidth (channel) to establish </a:t>
            </a:r>
            <a:r>
              <a:rPr lang="en-US" altLang="zh-CN" sz="2400">
                <a:ea typeface="宋体" panose="02010600030101010101" pitchFamily="2" charset="-122"/>
              </a:rPr>
              <a:t>a </a:t>
            </a:r>
            <a:r>
              <a:rPr lang="en-US" altLang="en-US" sz="2400"/>
              <a:t>connection.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38915" name="Text Box 5">
            <a:extLst>
              <a:ext uri="{FF2B5EF4-FFF2-40B4-BE49-F238E27FC236}">
                <a16:creationId xmlns:a16="http://schemas.microsoft.com/office/drawing/2014/main" id="{76AEF54F-D647-41B0-C11C-55D59AC06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348163"/>
            <a:ext cx="14097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rgbClr val="327CB8"/>
                </a:solidFill>
              </a:rPr>
              <a:t>Figure  </a:t>
            </a:r>
            <a:br>
              <a:rPr lang="en-US" altLang="en-US" sz="1400" b="1">
                <a:solidFill>
                  <a:srgbClr val="327CB8"/>
                </a:solidFill>
              </a:rPr>
            </a:br>
            <a:r>
              <a:rPr lang="en-US" altLang="en-US" sz="1400" b="1"/>
              <a:t>Messages sent by Circuit switching</a:t>
            </a:r>
          </a:p>
        </p:txBody>
      </p:sp>
      <p:sp>
        <p:nvSpPr>
          <p:cNvPr id="38916" name="Rectangle 6">
            <a:extLst>
              <a:ext uri="{FF2B5EF4-FFF2-40B4-BE49-F238E27FC236}">
                <a16:creationId xmlns:a16="http://schemas.microsoft.com/office/drawing/2014/main" id="{F7EF25CF-260E-208D-3CE9-95995AB8A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en-US" sz="1400" b="1"/>
              <a:t>15-18</a:t>
            </a:r>
          </a:p>
        </p:txBody>
      </p:sp>
      <p:pic>
        <p:nvPicPr>
          <p:cNvPr id="38917" name="Picture 1">
            <a:extLst>
              <a:ext uri="{FF2B5EF4-FFF2-40B4-BE49-F238E27FC236}">
                <a16:creationId xmlns:a16="http://schemas.microsoft.com/office/drawing/2014/main" id="{E97D8E6A-697E-BC74-8D0D-A03BDA19A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292600"/>
            <a:ext cx="6872287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3">
            <a:extLst>
              <a:ext uri="{FF2B5EF4-FFF2-40B4-BE49-F238E27FC236}">
                <a16:creationId xmlns:a16="http://schemas.microsoft.com/office/drawing/2014/main" id="{C36EC68D-55D7-29A2-DF77-49A1843E2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856E8EE9-455C-42DB-A091-52FB0C6462A2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B88F49F1-9AD8-04FC-8E7A-905E98B1D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>
                <a:solidFill>
                  <a:schemeClr val="tx1"/>
                </a:solidFill>
              </a:rPr>
              <a:t>   Systems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A130784-2EFE-FF3F-DEBB-E42A774C39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12875"/>
            <a:ext cx="903605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b="1">
                <a:solidFill>
                  <a:srgbClr val="3333FF"/>
                </a:solidFill>
              </a:rPr>
              <a:t>Proprietary system</a:t>
            </a:r>
            <a:r>
              <a:rPr lang="en-US" altLang="en-US" sz="2800"/>
              <a:t>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A system that uses technologies kept private by a particular commercial vendor.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en-US" sz="2400"/>
              <a:t>	</a:t>
            </a: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 sz="2800" b="1">
                <a:solidFill>
                  <a:srgbClr val="3333FF"/>
                </a:solidFill>
              </a:rPr>
              <a:t>Interoperability</a:t>
            </a:r>
            <a:r>
              <a:rPr lang="en-US" altLang="en-US" sz="280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The ability of software and hardware on multiple machines and from multiple commercial vendors to communicate.</a:t>
            </a:r>
            <a:r>
              <a:rPr lang="en-US" altLang="en-US" sz="2400"/>
              <a:t>	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b="1">
                <a:solidFill>
                  <a:srgbClr val="3333FF"/>
                </a:solidFill>
              </a:rPr>
              <a:t>Open systems</a:t>
            </a:r>
            <a:r>
              <a:rPr lang="en-US" altLang="en-US" sz="2800"/>
              <a:t>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Systems based on a common model of network architecture and a suite of protocols used in its implementation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Number Placeholder 3">
            <a:extLst>
              <a:ext uri="{FF2B5EF4-FFF2-40B4-BE49-F238E27FC236}">
                <a16:creationId xmlns:a16="http://schemas.microsoft.com/office/drawing/2014/main" id="{5B096B32-823C-14B7-2E50-FFC5CC50E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5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/>
              <a:t>15-</a:t>
            </a:r>
            <a:fld id="{B73425D4-4921-422B-A4AC-5D04F23FE9B2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0AD1DD13-94A1-CD5D-01ED-B9417FF77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>
                <a:solidFill>
                  <a:schemeClr val="tx1"/>
                </a:solidFill>
              </a:rPr>
              <a:t>  Network Models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4BD48D1A-3B42-CFC1-3B39-A581EC2D20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12875"/>
            <a:ext cx="9036050" cy="45720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endParaRPr lang="en-US" sz="2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/>
              <a:t>Using a formal model allows us to deal with various aspects of Networks.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/>
              <a:t>We will look at two popular models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dirty="0"/>
              <a:t>      1. OSI reference model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sz="2800" dirty="0"/>
              <a:t>      2. TCP/IP model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/>
              <a:t>Both models are based on the concept of layering</a:t>
            </a:r>
            <a:endParaRPr lang="en-US" alt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0_design">
  <a:themeElements>
    <a:clrScheme name="cs0_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s0_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cs0_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0_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0_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0_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0_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0_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0_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0_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0_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0_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0_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0_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OS9:Desktop Folder:cs0_design.pot</Template>
  <TotalTime>80</TotalTime>
  <Words>1380</Words>
  <Application>Microsoft Office PowerPoint</Application>
  <PresentationFormat>On-screen Show (4:3)</PresentationFormat>
  <Paragraphs>171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Times</vt:lpstr>
      <vt:lpstr>Arial</vt:lpstr>
      <vt:lpstr>Times New Roman</vt:lpstr>
      <vt:lpstr>Wingdings</vt:lpstr>
      <vt:lpstr>宋体</vt:lpstr>
      <vt:lpstr>新細明體</vt:lpstr>
      <vt:lpstr>cs0_design</vt:lpstr>
      <vt:lpstr>Computer Networks</vt:lpstr>
      <vt:lpstr>Prof. Dr. Muazzam A. Khan Khattak (SM NADRA/IEEE/PAS/AAAI) Listed in Top 2% Scientists of The World 2024, 25/Gold Medal PAS  Director Farabi Centre AI &amp; CS, S&amp;T, ICESCO Chair. Chairperson UNESCO IFAP National Committee, Pakistan.</vt:lpstr>
      <vt:lpstr>Course Objectives</vt:lpstr>
      <vt:lpstr>Networking</vt:lpstr>
      <vt:lpstr>Networking</vt:lpstr>
      <vt:lpstr>Networking</vt:lpstr>
      <vt:lpstr>Networking</vt:lpstr>
      <vt:lpstr>Servers</vt:lpstr>
      <vt:lpstr>Types of Networks</vt:lpstr>
      <vt:lpstr>Types of Networks</vt:lpstr>
      <vt:lpstr>Types of Networks</vt:lpstr>
      <vt:lpstr>Types of Networks</vt:lpstr>
      <vt:lpstr>Topology</vt:lpstr>
      <vt:lpstr>Mesh Topology</vt:lpstr>
      <vt:lpstr>Star Topology</vt:lpstr>
      <vt:lpstr>Bus Topology</vt:lpstr>
      <vt:lpstr>Ring Topology</vt:lpstr>
      <vt:lpstr>Hybrid Topology</vt:lpstr>
      <vt:lpstr>So, who owns the Internet?</vt:lpstr>
      <vt:lpstr>Internet Connections</vt:lpstr>
      <vt:lpstr>Internet Connections</vt:lpstr>
      <vt:lpstr>Internet Connections</vt:lpstr>
      <vt:lpstr>Packet Switching</vt:lpstr>
      <vt:lpstr>Circuit Switching</vt:lpstr>
      <vt:lpstr>   Systems</vt:lpstr>
      <vt:lpstr>  Network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Microsoft Office User</dc:creator>
  <cp:lastModifiedBy>Saqib Bedar</cp:lastModifiedBy>
  <cp:revision>25</cp:revision>
  <dcterms:created xsi:type="dcterms:W3CDTF">2018-02-11T17:26:11Z</dcterms:created>
  <dcterms:modified xsi:type="dcterms:W3CDTF">2026-04-28T06:05:59Z</dcterms:modified>
</cp:coreProperties>
</file>