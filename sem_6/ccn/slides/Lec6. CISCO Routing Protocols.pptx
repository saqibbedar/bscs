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33"/>
  </p:notesMasterIdLst>
  <p:handoutMasterIdLst>
    <p:handoutMasterId r:id="rId34"/>
  </p:handoutMasterIdLst>
  <p:sldIdLst>
    <p:sldId id="386" r:id="rId2"/>
    <p:sldId id="414" r:id="rId3"/>
    <p:sldId id="455" r:id="rId4"/>
    <p:sldId id="456" r:id="rId5"/>
    <p:sldId id="457" r:id="rId6"/>
    <p:sldId id="458" r:id="rId7"/>
    <p:sldId id="459" r:id="rId8"/>
    <p:sldId id="461" r:id="rId9"/>
    <p:sldId id="462" r:id="rId10"/>
    <p:sldId id="463" r:id="rId11"/>
    <p:sldId id="464" r:id="rId12"/>
    <p:sldId id="465" r:id="rId13"/>
    <p:sldId id="467" r:id="rId14"/>
    <p:sldId id="468" r:id="rId15"/>
    <p:sldId id="469" r:id="rId16"/>
    <p:sldId id="470" r:id="rId17"/>
    <p:sldId id="471" r:id="rId18"/>
    <p:sldId id="472" r:id="rId19"/>
    <p:sldId id="473" r:id="rId20"/>
    <p:sldId id="474" r:id="rId21"/>
    <p:sldId id="475" r:id="rId22"/>
    <p:sldId id="476" r:id="rId23"/>
    <p:sldId id="477" r:id="rId24"/>
    <p:sldId id="478" r:id="rId25"/>
    <p:sldId id="479" r:id="rId26"/>
    <p:sldId id="480" r:id="rId27"/>
    <p:sldId id="481" r:id="rId28"/>
    <p:sldId id="482" r:id="rId29"/>
    <p:sldId id="483" r:id="rId30"/>
    <p:sldId id="484" r:id="rId31"/>
    <p:sldId id="413" r:id="rId32"/>
  </p:sldIdLst>
  <p:sldSz cx="9144000" cy="6858000" type="screen4x3"/>
  <p:notesSz cx="6854825" cy="9083675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>
          <p15:clr>
            <a:srgbClr val="A4A3A4"/>
          </p15:clr>
        </p15:guide>
        <p15:guide id="2" orient="horz" pos="864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2B4"/>
    <a:srgbClr val="35297D"/>
    <a:srgbClr val="00252E"/>
    <a:srgbClr val="FFFF9B"/>
    <a:srgbClr val="FFCC68"/>
    <a:srgbClr val="FFE59B"/>
    <a:srgbClr val="F6BF69"/>
    <a:srgbClr val="708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9" autoAdjust="0"/>
    <p:restoredTop sz="95833" autoAdjust="0"/>
  </p:normalViewPr>
  <p:slideViewPr>
    <p:cSldViewPr snapToGrid="0">
      <p:cViewPr varScale="1">
        <p:scale>
          <a:sx n="119" d="100"/>
          <a:sy n="119" d="100"/>
        </p:scale>
        <p:origin x="1194" y="84"/>
      </p:cViewPr>
      <p:guideLst>
        <p:guide orient="horz" pos="2736"/>
        <p:guide orient="horz" pos="864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-2909" y="-86"/>
      </p:cViewPr>
      <p:guideLst>
        <p:guide orient="horz" pos="2861"/>
        <p:guide pos="215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8943116D-E554-2C1F-B989-8C4511163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764588"/>
            <a:ext cx="67103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49" tIns="49756" rIns="94849" bIns="49756">
            <a:spAutoFit/>
          </a:bodyPr>
          <a:lstStyle>
            <a:lvl1pPr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en-US" sz="800" b="1"/>
              <a:t>Copyright © 2001, Cisco Systems, Inc. All rights reserved. Printed in USA.</a:t>
            </a:r>
            <a:br>
              <a:rPr lang="en-US" altLang="en-US" sz="800" b="1"/>
            </a:br>
            <a:r>
              <a:rPr lang="en-US" altLang="en-US" sz="800" b="1"/>
              <a:t>Presentation_ID.scr</a:t>
            </a:r>
          </a:p>
        </p:txBody>
      </p:sp>
      <p:sp>
        <p:nvSpPr>
          <p:cNvPr id="4099" name="Line 5">
            <a:extLst>
              <a:ext uri="{FF2B5EF4-FFF2-40B4-BE49-F238E27FC236}">
                <a16:creationId xmlns:a16="http://schemas.microsoft.com/office/drawing/2014/main" id="{CE87E13C-9986-DDD9-B0E1-48CF39CA2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813" y="8778875"/>
            <a:ext cx="6551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>
            <a:extLst>
              <a:ext uri="{FF2B5EF4-FFF2-40B4-BE49-F238E27FC236}">
                <a16:creationId xmlns:a16="http://schemas.microsoft.com/office/drawing/2014/main" id="{0DF70D3E-A346-C5A5-85D9-5763B323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8410575"/>
            <a:ext cx="43973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75" name="Rectangle 9">
            <a:extLst>
              <a:ext uri="{FF2B5EF4-FFF2-40B4-BE49-F238E27FC236}">
                <a16:creationId xmlns:a16="http://schemas.microsoft.com/office/drawing/2014/main" id="{C2F04851-05EC-8B06-6079-3C09318C9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585200"/>
            <a:ext cx="25622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35" tIns="49014" rIns="93435" bIns="49014">
            <a:spAutoFit/>
          </a:bodyPr>
          <a:lstStyle>
            <a:lvl1pPr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en-US" sz="800" b="1"/>
              <a:t>© 2001, Cisco Systems, Inc. All rights reserved.</a:t>
            </a:r>
          </a:p>
          <a:p>
            <a:pPr algn="l">
              <a:lnSpc>
                <a:spcPct val="100000"/>
              </a:lnSpc>
            </a:pPr>
            <a:r>
              <a:rPr lang="en-US" altLang="en-US" sz="800" b="1"/>
              <a:t>&lt;Title of Course (ACRO) vX.X&gt;</a:t>
            </a:r>
          </a:p>
        </p:txBody>
      </p:sp>
      <p:sp>
        <p:nvSpPr>
          <p:cNvPr id="3076" name="Line 10">
            <a:extLst>
              <a:ext uri="{FF2B5EF4-FFF2-40B4-BE49-F238E27FC236}">
                <a16:creationId xmlns:a16="http://schemas.microsoft.com/office/drawing/2014/main" id="{0BC6E57C-E5DD-FFD4-A753-102BDC327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" y="8599488"/>
            <a:ext cx="650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D9E24537-3C07-4E49-B91F-35CA4E378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8480425"/>
            <a:ext cx="795338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380" tIns="0" rIns="18380" bIns="0" numCol="1" anchor="b" anchorCtr="0" compatLnSpc="1">
            <a:prstTxWarp prst="textNoShape">
              <a:avLst/>
            </a:prstTxWarp>
          </a:bodyPr>
          <a:lstStyle>
            <a:lvl1pPr algn="r" defTabSz="881063">
              <a:defRPr sz="800"/>
            </a:lvl1pPr>
          </a:lstStyle>
          <a:p>
            <a:fld id="{820BC1EC-BB60-4A32-8388-1840B3F3054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8" name="Rectangle 12">
            <a:extLst>
              <a:ext uri="{FF2B5EF4-FFF2-40B4-BE49-F238E27FC236}">
                <a16:creationId xmlns:a16="http://schemas.microsoft.com/office/drawing/2014/main" id="{F2064C35-B8AA-E15E-1CD0-6DB6EDF4DA6F}"/>
              </a:ext>
            </a:extLst>
          </p:cNvPr>
          <p:cNvSpPr>
            <a:spLocks noChangeAspect="1" noChangeArrowheads="1" noTextEdit="1"/>
          </p:cNvSpPr>
          <p:nvPr>
            <p:ph type="sldImg" idx="2"/>
          </p:nvPr>
        </p:nvSpPr>
        <p:spPr bwMode="auto">
          <a:xfrm>
            <a:off x="855663" y="239713"/>
            <a:ext cx="5200650" cy="3900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9" name="Rectangle 13">
            <a:extLst>
              <a:ext uri="{FF2B5EF4-FFF2-40B4-BE49-F238E27FC236}">
                <a16:creationId xmlns:a16="http://schemas.microsoft.com/office/drawing/2014/main" id="{178F93CC-3677-8FBF-63CE-D8C1D3839C2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95288" y="4278313"/>
            <a:ext cx="5986462" cy="415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35" tIns="49014" rIns="93435" bIns="490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1">
            <a:extLst>
              <a:ext uri="{FF2B5EF4-FFF2-40B4-BE49-F238E27FC236}">
                <a16:creationId xmlns:a16="http://schemas.microsoft.com/office/drawing/2014/main" id="{B97D7521-E940-2673-9386-8CFE4A3A46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9EF374F8-6CAA-4785-9E09-1F5E670A027E}" type="slidenum">
              <a:rPr lang="en-US" altLang="en-US" sz="800"/>
              <a:pPr algn="r">
                <a:lnSpc>
                  <a:spcPct val="100000"/>
                </a:lnSpc>
              </a:pPr>
              <a:t>1</a:t>
            </a:fld>
            <a:endParaRPr lang="en-US" altLang="en-US" sz="80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D34E790-EC87-74C7-87D7-3D46C0F7587E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xfrm>
            <a:off x="858838" y="239713"/>
            <a:ext cx="5199062" cy="3898900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C10D10C-A468-3EE5-9805-7C2F9107E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4278313"/>
            <a:ext cx="598487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>
            <a:extLst>
              <a:ext uri="{FF2B5EF4-FFF2-40B4-BE49-F238E27FC236}">
                <a16:creationId xmlns:a16="http://schemas.microsoft.com/office/drawing/2014/main" id="{5386D206-8243-2739-B837-397CDAC61D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D1C7F3FB-CE97-4831-87C0-AA70C8147740}" type="slidenum">
              <a:rPr lang="en-US" altLang="en-US" sz="800"/>
              <a:pPr algn="r">
                <a:lnSpc>
                  <a:spcPct val="100000"/>
                </a:lnSpc>
              </a:pPr>
              <a:t>2</a:t>
            </a:fld>
            <a:endParaRPr lang="en-US" altLang="en-US" sz="80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74C2F562-146F-3F27-01DD-76B9DF79BD17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19ABA0C-8CF3-8F26-6E82-D70BE3CFA7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1">
            <a:extLst>
              <a:ext uri="{FF2B5EF4-FFF2-40B4-BE49-F238E27FC236}">
                <a16:creationId xmlns:a16="http://schemas.microsoft.com/office/drawing/2014/main" id="{366D95B5-87A6-9D5C-3863-A63CAD03F1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36351339-455F-4F99-9CFE-F7BFB0B6F95D}" type="slidenum">
              <a:rPr lang="en-US" altLang="en-US" sz="800"/>
              <a:pPr algn="r">
                <a:lnSpc>
                  <a:spcPct val="100000"/>
                </a:lnSpc>
              </a:pPr>
              <a:t>3</a:t>
            </a:fld>
            <a:endParaRPr lang="en-US" altLang="en-US" sz="80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4C685DA1-FC08-4ED8-4E55-150EE9D0ABB9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8D5F2AF-AEC7-CC43-50CB-5955F8848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1">
            <a:extLst>
              <a:ext uri="{FF2B5EF4-FFF2-40B4-BE49-F238E27FC236}">
                <a16:creationId xmlns:a16="http://schemas.microsoft.com/office/drawing/2014/main" id="{00339BC7-4930-5C13-B41E-265118BFD2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DF74A066-5DED-4A14-977D-827E7BA29646}" type="slidenum">
              <a:rPr lang="en-US" altLang="en-US" sz="800"/>
              <a:pPr algn="r">
                <a:lnSpc>
                  <a:spcPct val="100000"/>
                </a:lnSpc>
              </a:pPr>
              <a:t>4</a:t>
            </a:fld>
            <a:endParaRPr lang="en-US" altLang="en-US" sz="800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C080EFD1-ECC2-7A91-D8E5-94773AAE2705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7C47EE3-A9C1-9048-8969-F0F950C86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1">
            <a:extLst>
              <a:ext uri="{FF2B5EF4-FFF2-40B4-BE49-F238E27FC236}">
                <a16:creationId xmlns:a16="http://schemas.microsoft.com/office/drawing/2014/main" id="{0F9A7259-B857-83E5-338C-6ECD5EFE3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C8624AA3-85A6-49B0-A867-6C50A6AD2B29}" type="slidenum">
              <a:rPr lang="en-US" altLang="en-US" sz="800"/>
              <a:pPr algn="r">
                <a:lnSpc>
                  <a:spcPct val="100000"/>
                </a:lnSpc>
              </a:pPr>
              <a:t>5</a:t>
            </a:fld>
            <a:endParaRPr lang="en-US" altLang="en-US" sz="80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C9FB28B-E787-8738-42D9-DAD7F66D7FC3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495263F-D302-52B1-CB64-B6DB3E3E0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1">
            <a:extLst>
              <a:ext uri="{FF2B5EF4-FFF2-40B4-BE49-F238E27FC236}">
                <a16:creationId xmlns:a16="http://schemas.microsoft.com/office/drawing/2014/main" id="{B5E82901-3575-1CDB-B1F2-6CC870074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A53BAA54-C045-4559-8701-01BD9CD9CC43}" type="slidenum">
              <a:rPr lang="en-US" altLang="en-US" sz="800"/>
              <a:pPr algn="r">
                <a:lnSpc>
                  <a:spcPct val="100000"/>
                </a:lnSpc>
              </a:pPr>
              <a:t>6</a:t>
            </a:fld>
            <a:endParaRPr lang="en-US" altLang="en-US" sz="8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5DE0C42-BFCC-4E17-A4F1-18BEFCB58890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5CA1DE6-CC64-0F74-06BF-682795F8A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1">
            <a:extLst>
              <a:ext uri="{FF2B5EF4-FFF2-40B4-BE49-F238E27FC236}">
                <a16:creationId xmlns:a16="http://schemas.microsoft.com/office/drawing/2014/main" id="{F2D5332E-7796-2B23-FA33-BBD536C935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14EDDCB0-D360-4CA2-A7A8-48C04544B7B2}" type="slidenum">
              <a:rPr lang="en-US" altLang="en-US" sz="800"/>
              <a:pPr algn="r">
                <a:lnSpc>
                  <a:spcPct val="100000"/>
                </a:lnSpc>
              </a:pPr>
              <a:t>7</a:t>
            </a:fld>
            <a:endParaRPr lang="en-US" altLang="en-US" sz="8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45675120-8826-7F43-7CF6-EF0AA78BA01D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8EFE9A0-D829-6643-6D79-582BF064EC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1">
            <a:extLst>
              <a:ext uri="{FF2B5EF4-FFF2-40B4-BE49-F238E27FC236}">
                <a16:creationId xmlns:a16="http://schemas.microsoft.com/office/drawing/2014/main" id="{ECFE0BC3-F62F-6315-EAE4-E28949B91B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B4ED64F7-3478-435F-AC9E-3B8248B3B892}" type="slidenum">
              <a:rPr lang="en-US" altLang="en-US" sz="800"/>
              <a:pPr algn="r">
                <a:lnSpc>
                  <a:spcPct val="100000"/>
                </a:lnSpc>
              </a:pPr>
              <a:t>8</a:t>
            </a:fld>
            <a:endParaRPr lang="en-US" altLang="en-US" sz="8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20B20707-55ED-9782-EBD7-B35E4F82EFF1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C845BF8-9CD5-681C-2634-948D7B9AB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>
            <a:extLst>
              <a:ext uri="{FF2B5EF4-FFF2-40B4-BE49-F238E27FC236}">
                <a16:creationId xmlns:a16="http://schemas.microsoft.com/office/drawing/2014/main" id="{08AB22D9-4935-7D3B-9BD2-FB741B590E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15DA01B9-630D-4A06-AE25-04308BF8C7F4}" type="slidenum">
              <a:rPr lang="en-US" altLang="en-US" sz="800"/>
              <a:pPr algn="r">
                <a:lnSpc>
                  <a:spcPct val="100000"/>
                </a:lnSpc>
              </a:pPr>
              <a:t>9</a:t>
            </a:fld>
            <a:endParaRPr lang="en-US" altLang="en-US" sz="8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8351923B-AD23-4157-7389-894C01BFBB81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7545CC8-2266-A18A-446C-8628B885C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1">
            <a:extLst>
              <a:ext uri="{FF2B5EF4-FFF2-40B4-BE49-F238E27FC236}">
                <a16:creationId xmlns:a16="http://schemas.microsoft.com/office/drawing/2014/main" id="{CE1EC022-9B88-5245-A81C-CC05239B3E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255A8DFE-B154-4D1C-A5DA-6548DBD26A5C}" type="slidenum">
              <a:rPr lang="en-US" altLang="en-US" sz="800"/>
              <a:pPr algn="r">
                <a:lnSpc>
                  <a:spcPct val="100000"/>
                </a:lnSpc>
              </a:pPr>
              <a:t>10</a:t>
            </a:fld>
            <a:endParaRPr lang="en-US" altLang="en-US" sz="8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2665EE4E-7BD9-8FCB-3D78-72645CCB4304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A5029C8-DD77-F2C2-3657-A375C5868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1">
            <a:extLst>
              <a:ext uri="{FF2B5EF4-FFF2-40B4-BE49-F238E27FC236}">
                <a16:creationId xmlns:a16="http://schemas.microsoft.com/office/drawing/2014/main" id="{2D170367-87F6-4573-B10B-9E603B626A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57C7B1B0-A735-451C-ADE7-38CA098B8249}" type="slidenum">
              <a:rPr lang="en-US" altLang="en-US" sz="800"/>
              <a:pPr algn="r">
                <a:lnSpc>
                  <a:spcPct val="100000"/>
                </a:lnSpc>
              </a:pPr>
              <a:t>11</a:t>
            </a:fld>
            <a:endParaRPr lang="en-US" altLang="en-US" sz="8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6898098-A82F-4419-AF73-6855B0AAB0E6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0C3A499-B16C-77A8-4476-1748A9DAA8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>
            <a:extLst>
              <a:ext uri="{FF2B5EF4-FFF2-40B4-BE49-F238E27FC236}">
                <a16:creationId xmlns:a16="http://schemas.microsoft.com/office/drawing/2014/main" id="{86A043E8-A7A6-736F-D6C0-E0D9E05422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DEE8CEB7-D064-4C64-8B14-FEE33F19CB96}" type="slidenum">
              <a:rPr lang="en-US" altLang="en-US" sz="800"/>
              <a:pPr algn="r">
                <a:lnSpc>
                  <a:spcPct val="100000"/>
                </a:lnSpc>
              </a:pPr>
              <a:t>12</a:t>
            </a:fld>
            <a:endParaRPr lang="en-US" altLang="en-US" sz="80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5A167A02-E0E0-3A96-1FBB-D62D32A48161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6B307AB-DE53-5017-9648-A3955A1BD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1">
            <a:extLst>
              <a:ext uri="{FF2B5EF4-FFF2-40B4-BE49-F238E27FC236}">
                <a16:creationId xmlns:a16="http://schemas.microsoft.com/office/drawing/2014/main" id="{34BF0A99-AEB4-9BCC-9E72-C11FEA792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BBAC217B-33F3-4680-BEAC-E716245777AA}" type="slidenum">
              <a:rPr lang="en-US" altLang="en-US" sz="800"/>
              <a:pPr algn="r">
                <a:lnSpc>
                  <a:spcPct val="100000"/>
                </a:lnSpc>
              </a:pPr>
              <a:t>13</a:t>
            </a:fld>
            <a:endParaRPr lang="en-US" altLang="en-US" sz="8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3E3B7CC3-9ED9-AC89-550A-0B36898B36D4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63E77A5-9A18-214E-7746-9077B6A9C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1">
            <a:extLst>
              <a:ext uri="{FF2B5EF4-FFF2-40B4-BE49-F238E27FC236}">
                <a16:creationId xmlns:a16="http://schemas.microsoft.com/office/drawing/2014/main" id="{8D774850-9EE0-D976-936F-E5E224273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6A16DD15-D7C2-4E77-BCD1-D0314AF4B0BC}" type="slidenum">
              <a:rPr lang="en-US" altLang="en-US" sz="800"/>
              <a:pPr algn="r">
                <a:lnSpc>
                  <a:spcPct val="100000"/>
                </a:lnSpc>
              </a:pPr>
              <a:t>14</a:t>
            </a:fld>
            <a:endParaRPr lang="en-US" altLang="en-US" sz="8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4F8C1024-E2A6-B5D0-62EE-E70787DDCF03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420FC73-4E16-1A6E-1589-F9BAE4774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1">
            <a:extLst>
              <a:ext uri="{FF2B5EF4-FFF2-40B4-BE49-F238E27FC236}">
                <a16:creationId xmlns:a16="http://schemas.microsoft.com/office/drawing/2014/main" id="{FE79EC66-FA36-E266-0757-B43BB908D4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F8BE86C5-5F18-4892-BA72-FF159CDB68C5}" type="slidenum">
              <a:rPr lang="en-US" altLang="en-US" sz="800"/>
              <a:pPr algn="r">
                <a:lnSpc>
                  <a:spcPct val="100000"/>
                </a:lnSpc>
              </a:pPr>
              <a:t>15</a:t>
            </a:fld>
            <a:endParaRPr lang="en-US" altLang="en-US" sz="8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9AE1F74-ADF5-6460-2EA7-6E20D6AF7BF3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361A576-AD74-CE3D-34DB-675B1E2C6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1">
            <a:extLst>
              <a:ext uri="{FF2B5EF4-FFF2-40B4-BE49-F238E27FC236}">
                <a16:creationId xmlns:a16="http://schemas.microsoft.com/office/drawing/2014/main" id="{10C48843-6CDF-10B1-98D9-FB2810954C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DFEFFE43-A304-4C01-97D7-670ECB21B6F7}" type="slidenum">
              <a:rPr lang="en-US" altLang="en-US" sz="800"/>
              <a:pPr algn="r">
                <a:lnSpc>
                  <a:spcPct val="100000"/>
                </a:lnSpc>
              </a:pPr>
              <a:t>16</a:t>
            </a:fld>
            <a:endParaRPr lang="en-US" altLang="en-US" sz="8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878FD5D-5A6A-29D1-380E-FDC63F8A50F7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A158F82-D980-F768-A308-E12778122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1">
            <a:extLst>
              <a:ext uri="{FF2B5EF4-FFF2-40B4-BE49-F238E27FC236}">
                <a16:creationId xmlns:a16="http://schemas.microsoft.com/office/drawing/2014/main" id="{F265212F-2543-FFF0-5605-03C99F28AF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C8DDD70B-BCEA-4A2B-B71E-72BCE046687E}" type="slidenum">
              <a:rPr lang="en-US" altLang="en-US" sz="800"/>
              <a:pPr algn="r">
                <a:lnSpc>
                  <a:spcPct val="100000"/>
                </a:lnSpc>
              </a:pPr>
              <a:t>17</a:t>
            </a:fld>
            <a:endParaRPr lang="en-US" altLang="en-US" sz="8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431D5E6F-75D7-5C56-BF09-51E4D8583BB0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4285437-2DE5-5267-69E1-C531E1AC1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1">
            <a:extLst>
              <a:ext uri="{FF2B5EF4-FFF2-40B4-BE49-F238E27FC236}">
                <a16:creationId xmlns:a16="http://schemas.microsoft.com/office/drawing/2014/main" id="{FCD7FE61-C252-B3E7-8F58-6CDEB4D33A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821F01A2-66E2-45B6-809C-CA807AB0D196}" type="slidenum">
              <a:rPr lang="en-US" altLang="en-US" sz="800"/>
              <a:pPr algn="r">
                <a:lnSpc>
                  <a:spcPct val="100000"/>
                </a:lnSpc>
              </a:pPr>
              <a:t>18</a:t>
            </a:fld>
            <a:endParaRPr lang="en-US" altLang="en-US" sz="8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345A74AC-5F83-E46F-BEC8-78D540898136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30E69D8-4E27-485E-D0C1-F2B1D9B91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1">
            <a:extLst>
              <a:ext uri="{FF2B5EF4-FFF2-40B4-BE49-F238E27FC236}">
                <a16:creationId xmlns:a16="http://schemas.microsoft.com/office/drawing/2014/main" id="{F898218B-624B-1866-6E94-FC328993B8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B3EE6AF0-D559-42D1-914F-C9DBFA7ADF69}" type="slidenum">
              <a:rPr lang="en-US" altLang="en-US" sz="800"/>
              <a:pPr algn="r">
                <a:lnSpc>
                  <a:spcPct val="100000"/>
                </a:lnSpc>
              </a:pPr>
              <a:t>19</a:t>
            </a:fld>
            <a:endParaRPr lang="en-US" altLang="en-US" sz="8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A9D16D76-F811-6206-48AF-B4C34D716563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6486944-31D4-D1C3-0CCD-43307AD2B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1">
            <a:extLst>
              <a:ext uri="{FF2B5EF4-FFF2-40B4-BE49-F238E27FC236}">
                <a16:creationId xmlns:a16="http://schemas.microsoft.com/office/drawing/2014/main" id="{DEEA42EA-0ECC-0258-1301-B14DDF14E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C463AA63-08A5-41DF-8EF9-76C2FEAE38E5}" type="slidenum">
              <a:rPr lang="en-US" altLang="en-US" sz="800"/>
              <a:pPr algn="r">
                <a:lnSpc>
                  <a:spcPct val="100000"/>
                </a:lnSpc>
              </a:pPr>
              <a:t>20</a:t>
            </a:fld>
            <a:endParaRPr lang="en-US" altLang="en-US" sz="8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9AAC6100-9604-B783-8FA4-DD92B509B153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AB8AF3E-142D-D898-E5F2-4ADD1E836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1">
            <a:extLst>
              <a:ext uri="{FF2B5EF4-FFF2-40B4-BE49-F238E27FC236}">
                <a16:creationId xmlns:a16="http://schemas.microsoft.com/office/drawing/2014/main" id="{09217F72-817A-63EF-77ED-AD92276057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2587983A-2AA4-4680-8C69-1C9CE09727BE}" type="slidenum">
              <a:rPr lang="en-US" altLang="en-US" sz="800"/>
              <a:pPr algn="r">
                <a:lnSpc>
                  <a:spcPct val="100000"/>
                </a:lnSpc>
              </a:pPr>
              <a:t>21</a:t>
            </a:fld>
            <a:endParaRPr lang="en-US" altLang="en-US" sz="8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8B9C1642-7B69-5976-E4A7-31C0B5D938CD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4BC3FF1-F005-FBA4-CFCE-4C35DBA25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1">
            <a:extLst>
              <a:ext uri="{FF2B5EF4-FFF2-40B4-BE49-F238E27FC236}">
                <a16:creationId xmlns:a16="http://schemas.microsoft.com/office/drawing/2014/main" id="{C7487BE7-5C43-209C-B3FA-8B35BAF0A6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1027DCB9-EDC2-4822-B283-B35F2864AD92}" type="slidenum">
              <a:rPr lang="en-US" altLang="en-US" sz="800"/>
              <a:pPr algn="r">
                <a:lnSpc>
                  <a:spcPct val="100000"/>
                </a:lnSpc>
              </a:pPr>
              <a:t>22</a:t>
            </a:fld>
            <a:endParaRPr lang="en-US" altLang="en-US" sz="8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45C91618-D364-C3DA-CC88-E7E880F87BA2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D1DD719-544D-CFCF-2EFE-4AD53CE39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1">
            <a:extLst>
              <a:ext uri="{FF2B5EF4-FFF2-40B4-BE49-F238E27FC236}">
                <a16:creationId xmlns:a16="http://schemas.microsoft.com/office/drawing/2014/main" id="{20A33468-B676-515D-C473-421130D8BF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8D9BF85B-4EC8-49DA-8074-479D1BACF6D6}" type="slidenum">
              <a:rPr lang="en-US" altLang="en-US" sz="800"/>
              <a:pPr algn="r">
                <a:lnSpc>
                  <a:spcPct val="100000"/>
                </a:lnSpc>
              </a:pPr>
              <a:t>23</a:t>
            </a:fld>
            <a:endParaRPr lang="en-US" altLang="en-US" sz="8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0843C02A-1D34-09B0-BE1B-19F4D018B9C8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00478A9-15DD-8A24-2393-68070B9D9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1">
            <a:extLst>
              <a:ext uri="{FF2B5EF4-FFF2-40B4-BE49-F238E27FC236}">
                <a16:creationId xmlns:a16="http://schemas.microsoft.com/office/drawing/2014/main" id="{649660A6-8D1B-1498-F91D-05AD2F7E37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33C76AAD-A550-469C-9EBB-2F0C5ECDCBDA}" type="slidenum">
              <a:rPr lang="en-US" altLang="en-US" sz="800"/>
              <a:pPr algn="r">
                <a:lnSpc>
                  <a:spcPct val="100000"/>
                </a:lnSpc>
              </a:pPr>
              <a:t>24</a:t>
            </a:fld>
            <a:endParaRPr lang="en-US" altLang="en-US" sz="80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6304278C-A3B0-5E4F-0B92-AD52F56C588E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F601C66-5AB2-0512-1B51-6E3953BF4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1">
            <a:extLst>
              <a:ext uri="{FF2B5EF4-FFF2-40B4-BE49-F238E27FC236}">
                <a16:creationId xmlns:a16="http://schemas.microsoft.com/office/drawing/2014/main" id="{80D6124D-74D9-4E40-A97D-6059ACC1C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5DB7400F-5498-4149-97BE-FD198B5A34A6}" type="slidenum">
              <a:rPr lang="en-US" altLang="en-US" sz="800"/>
              <a:pPr algn="r">
                <a:lnSpc>
                  <a:spcPct val="100000"/>
                </a:lnSpc>
              </a:pPr>
              <a:t>25</a:t>
            </a:fld>
            <a:endParaRPr lang="en-US" altLang="en-US" sz="8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AB33F507-27BB-B5F6-52C6-0C76BD5C9A9D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62D330B-CEE0-DF5B-2FFA-516614988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>
            <a:extLst>
              <a:ext uri="{FF2B5EF4-FFF2-40B4-BE49-F238E27FC236}">
                <a16:creationId xmlns:a16="http://schemas.microsoft.com/office/drawing/2014/main" id="{4CE9F6A4-31C3-47B2-E178-2752168BE5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12908528-B682-4356-8647-4AFAF8FCCE46}" type="slidenum">
              <a:rPr lang="en-US" altLang="en-US" sz="800"/>
              <a:pPr algn="r">
                <a:lnSpc>
                  <a:spcPct val="100000"/>
                </a:lnSpc>
              </a:pPr>
              <a:t>26</a:t>
            </a:fld>
            <a:endParaRPr lang="en-US" altLang="en-US" sz="8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D8E49A76-D170-524A-9CCE-E897E9C32B8C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5DA22AB-A50C-44B7-820E-F196BD3E0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>
            <a:extLst>
              <a:ext uri="{FF2B5EF4-FFF2-40B4-BE49-F238E27FC236}">
                <a16:creationId xmlns:a16="http://schemas.microsoft.com/office/drawing/2014/main" id="{37646BB3-08BA-2F6C-C22F-712A5823B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33373B67-9379-4C04-994C-D96AFDC38CD8}" type="slidenum">
              <a:rPr lang="en-US" altLang="en-US" sz="800"/>
              <a:pPr algn="r">
                <a:lnSpc>
                  <a:spcPct val="100000"/>
                </a:lnSpc>
              </a:pPr>
              <a:t>27</a:t>
            </a:fld>
            <a:endParaRPr lang="en-US" altLang="en-US" sz="8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0806D915-C237-01E5-7538-09B2E677B7C7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1B7E22E-D50D-CEF3-8D03-CEA65CC5A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>
            <a:extLst>
              <a:ext uri="{FF2B5EF4-FFF2-40B4-BE49-F238E27FC236}">
                <a16:creationId xmlns:a16="http://schemas.microsoft.com/office/drawing/2014/main" id="{4C378286-B274-96A5-5403-0986ED504C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67F725EC-6797-41D2-B142-72024638142D}" type="slidenum">
              <a:rPr lang="en-US" altLang="en-US" sz="800"/>
              <a:pPr algn="r">
                <a:lnSpc>
                  <a:spcPct val="100000"/>
                </a:lnSpc>
              </a:pPr>
              <a:t>28</a:t>
            </a:fld>
            <a:endParaRPr lang="en-US" altLang="en-US" sz="8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B8312A93-2B04-D474-ACFA-4C21C53DA7AE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8BF6FD1-92C5-FC04-7819-3A4920118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1">
            <a:extLst>
              <a:ext uri="{FF2B5EF4-FFF2-40B4-BE49-F238E27FC236}">
                <a16:creationId xmlns:a16="http://schemas.microsoft.com/office/drawing/2014/main" id="{7EEF4B1C-A804-53C1-EB4A-8B35202A26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EDFE3120-14E3-4233-93E0-B85650C20029}" type="slidenum">
              <a:rPr lang="en-US" altLang="en-US" sz="800"/>
              <a:pPr algn="r">
                <a:lnSpc>
                  <a:spcPct val="100000"/>
                </a:lnSpc>
              </a:pPr>
              <a:t>29</a:t>
            </a:fld>
            <a:endParaRPr lang="en-US" altLang="en-US" sz="8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B855D981-A4AB-0167-ABD8-19976B5EB509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059293C-07A2-6ADD-FFB0-1AFCA8B9C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1">
            <a:extLst>
              <a:ext uri="{FF2B5EF4-FFF2-40B4-BE49-F238E27FC236}">
                <a16:creationId xmlns:a16="http://schemas.microsoft.com/office/drawing/2014/main" id="{50A10349-FACD-4BA1-13A3-083E0E8F3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86F26BD4-96F1-45A2-A83A-F8A4DD1E069B}" type="slidenum">
              <a:rPr lang="en-US" altLang="en-US" sz="800"/>
              <a:pPr algn="r">
                <a:lnSpc>
                  <a:spcPct val="100000"/>
                </a:lnSpc>
              </a:pPr>
              <a:t>30</a:t>
            </a:fld>
            <a:endParaRPr lang="en-US" altLang="en-US" sz="8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CC1EFB05-2F61-9515-6720-B7162E346F49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6251A0E-F467-5C36-8248-8A314787B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1">
            <a:extLst>
              <a:ext uri="{FF2B5EF4-FFF2-40B4-BE49-F238E27FC236}">
                <a16:creationId xmlns:a16="http://schemas.microsoft.com/office/drawing/2014/main" id="{E766FECC-6A29-42AB-1C86-C4A5472752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CB5A32F5-B1BC-4755-9681-D73535D8BDDA}" type="slidenum">
              <a:rPr lang="en-US" altLang="en-US" sz="800"/>
              <a:pPr algn="r">
                <a:lnSpc>
                  <a:spcPct val="100000"/>
                </a:lnSpc>
              </a:pPr>
              <a:t>31</a:t>
            </a:fld>
            <a:endParaRPr lang="en-US" altLang="en-US" sz="8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E7C54B34-C808-67CB-E36E-73C2143FF528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FA98826-57C9-A899-894C-9CA4CACB5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Pt_CoverArt1">
            <a:extLst>
              <a:ext uri="{FF2B5EF4-FFF2-40B4-BE49-F238E27FC236}">
                <a16:creationId xmlns:a16="http://schemas.microsoft.com/office/drawing/2014/main" id="{B230A993-A4C8-0F58-F024-DE55E8098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EB65C08-44C3-E6BB-3945-5D06BC9D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en-US" sz="700">
                <a:solidFill>
                  <a:srgbClr val="D3D3D3"/>
                </a:solidFill>
              </a:rPr>
              <a:t>© 2007 Cisco Systems, Inc. All rights reserved.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7D903E-23DE-DE6F-13AF-3695F4EE0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33447-F4EE-BBA7-2BE2-5D9B7901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BC11C22F-9B47-4CFD-8731-03EB3B3863ED}" type="slidenum">
              <a:rPr lang="en-US" altLang="en-US" sz="1000">
                <a:solidFill>
                  <a:srgbClr val="D3D3D3"/>
                </a:solidFill>
              </a:rPr>
              <a:pPr algn="r">
                <a:lnSpc>
                  <a:spcPct val="100000"/>
                </a:lnSpc>
              </a:pPr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pic>
        <p:nvPicPr>
          <p:cNvPr id="6" name="Picture 9" descr="Cisco_NewLogo">
            <a:extLst>
              <a:ext uri="{FF2B5EF4-FFF2-40B4-BE49-F238E27FC236}">
                <a16:creationId xmlns:a16="http://schemas.microsoft.com/office/drawing/2014/main" id="{72DCAD67-8842-05D6-83D2-5DDBD75ED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Cisco">
            <a:extLst>
              <a:ext uri="{FF2B5EF4-FFF2-40B4-BE49-F238E27FC236}">
                <a16:creationId xmlns:a16="http://schemas.microsoft.com/office/drawing/2014/main" id="{4FF58DB1-A0D4-7ABD-04A6-32CB89E2D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DEE2CD96-A5B8-1606-AC1C-4A07ABBF9A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23050"/>
            <a:ext cx="8032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/>
              <a:t>Version 4.0</a:t>
            </a:r>
            <a:endParaRPr lang="en-US" altLang="en-US"/>
          </a:p>
        </p:txBody>
      </p:sp>
      <p:sp>
        <p:nvSpPr>
          <p:cNvPr id="1267719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6772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9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954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980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9002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9002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452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808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12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64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041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997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248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627063"/>
            <a:ext cx="2035175" cy="4845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627063"/>
            <a:ext cx="5957887" cy="4845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61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8543EE-BCAC-6603-3C65-15CA7C37D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62706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266692" name="Rectangle 4">
            <a:extLst>
              <a:ext uri="{FF2B5EF4-FFF2-40B4-BE49-F238E27FC236}">
                <a16:creationId xmlns:a16="http://schemas.microsoft.com/office/drawing/2014/main" id="{0871D79D-367F-08EC-8F2D-37387E87E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F1223EC1-297B-4C04-98AE-FF34233E4D51}" type="slidenum">
              <a:rPr lang="en-US" altLang="en-US" sz="1000">
                <a:solidFill>
                  <a:srgbClr val="D3D3D3"/>
                </a:solidFill>
              </a:rPr>
              <a:pPr algn="r">
                <a:lnSpc>
                  <a:spcPct val="100000"/>
                </a:lnSpc>
              </a:pPr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01C1D352-063A-9B08-F172-CBE8E5D8D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9002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9" name="Picture 6" descr="PPt_TopBand_Artwork">
            <a:extLst>
              <a:ext uri="{FF2B5EF4-FFF2-40B4-BE49-F238E27FC236}">
                <a16:creationId xmlns:a16="http://schemas.microsoft.com/office/drawing/2014/main" id="{59013398-FE86-9CCB-09AA-1D530A5A4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7">
            <a:extLst>
              <a:ext uri="{FF2B5EF4-FFF2-40B4-BE49-F238E27FC236}">
                <a16:creationId xmlns:a16="http://schemas.microsoft.com/office/drawing/2014/main" id="{EAEB9506-C086-59FF-8645-ABDBE1979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en-US" sz="700">
                <a:solidFill>
                  <a:srgbClr val="D3D3D3"/>
                </a:solidFill>
              </a:rPr>
              <a:t>© 2007 Cisco Systems, Inc. All rights reserved.</a:t>
            </a: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A63B8BB6-63A4-0306-11DA-558325323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–"/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•"/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–"/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»"/>
        <a:defRPr sz="2000">
          <a:solidFill>
            <a:schemeClr val="tx1"/>
          </a:solidFill>
          <a:latin typeface="+mn-lt"/>
        </a:defRPr>
      </a:lvl5pPr>
      <a:lvl6pPr marL="20621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F1F56663-DBE9-B66C-7601-5009F81A3B32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800"/>
              <a:t>Routing Protocols and Concepts </a:t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64E85EEB-D363-710B-51C9-EDB2414011AE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50875" y="4733925"/>
            <a:ext cx="6940550" cy="6731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Dr. Muazzam A. Khan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8A90F3CA-766B-4F4C-2A48-19DCEDCA8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81F0580D-47E7-43A5-62FF-60C017CE8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392238"/>
            <a:ext cx="7940675" cy="5076825"/>
          </a:xfrm>
        </p:spPr>
        <p:txBody>
          <a:bodyPr/>
          <a:lstStyle/>
          <a:p>
            <a:pPr marL="457200" indent="-457200" eaLnBrk="1" hangingPunct="1"/>
            <a:r>
              <a:rPr lang="en-US" altLang="en-US"/>
              <a:t>Identify the characteristics of distance vector routing protocols.</a:t>
            </a:r>
          </a:p>
          <a:p>
            <a:pPr marL="457200" indent="-457200" eaLnBrk="1" hangingPunct="1"/>
            <a:r>
              <a:rPr lang="en-US" altLang="en-US"/>
              <a:t>Describe the network discovery process of distance vector routing protocols using Routing Information Protocol (RIP).</a:t>
            </a:r>
          </a:p>
          <a:p>
            <a:pPr marL="457200" indent="-457200" eaLnBrk="1" hangingPunct="1"/>
            <a:r>
              <a:rPr lang="en-US" altLang="en-US"/>
              <a:t>Describe the processes to maintain accurate routing tables used by distance vector routing protocols.</a:t>
            </a:r>
          </a:p>
          <a:p>
            <a:pPr marL="457200" indent="-457200" eaLnBrk="1" hangingPunct="1"/>
            <a:r>
              <a:rPr lang="en-US" altLang="en-US"/>
              <a:t>Identify the conditions leading to a routing loop and explain the implications for router performance.</a:t>
            </a:r>
          </a:p>
          <a:p>
            <a:pPr marL="457200" indent="-457200" eaLnBrk="1" hangingPunct="1"/>
            <a:r>
              <a:rPr lang="en-US" altLang="en-US"/>
              <a:t>Recognize that distance vector routing protocols are in use today.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F71AA35E-97F2-FD03-AF11-32BB4C701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Distance Vector Routing Protocols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FE86D66F-1D89-0A05-4EDC-E4B488A776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1988" y="1404938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Examples of Distance Vector routing protocols</a:t>
            </a:r>
            <a:r>
              <a:rPr lang="en-US" altLang="en-US"/>
              <a:t>:</a:t>
            </a:r>
          </a:p>
          <a:p>
            <a:pPr marL="688975" lvl="1" indent="-225425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Routing Information Protocol</a:t>
            </a:r>
            <a:r>
              <a:rPr lang="en-US" altLang="en-US" sz="2400"/>
              <a:t> (RIP) </a:t>
            </a:r>
          </a:p>
          <a:p>
            <a:pPr marL="688975" lvl="1" indent="-225425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Interior Gateway Routing Protocol</a:t>
            </a:r>
            <a:r>
              <a:rPr lang="en-US" altLang="en-US" sz="2400"/>
              <a:t> (IGRP) </a:t>
            </a:r>
          </a:p>
          <a:p>
            <a:pPr marL="688975" lvl="1" indent="-225425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Enhanced Interior Gateway Routing Protocol</a:t>
            </a:r>
            <a:r>
              <a:rPr lang="en-US" altLang="en-US" sz="2400"/>
              <a:t> (EIGRP)</a:t>
            </a:r>
            <a:r>
              <a:rPr lang="en-US" altLang="en-US" sz="2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98D2F57F-0C85-EB56-07B5-369D8F664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Distance Vector Routing Protocols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1EDB4EBD-897E-963D-768B-CB3DC672E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419225"/>
            <a:ext cx="7940675" cy="4465638"/>
          </a:xfrm>
        </p:spPr>
        <p:txBody>
          <a:bodyPr/>
          <a:lstStyle/>
          <a:p>
            <a:pPr eaLnBrk="1" hangingPunct="1"/>
            <a:r>
              <a:rPr lang="en-US" altLang="en-US" b="1"/>
              <a:t>Distance Vector Technology</a:t>
            </a:r>
            <a:r>
              <a:rPr lang="en-US" altLang="en-US"/>
              <a:t> - the Meaning of Distance Vector</a:t>
            </a:r>
          </a:p>
          <a:p>
            <a:pPr marL="688975" lvl="1" indent="-225425" eaLnBrk="1" hangingPunct="1"/>
            <a:r>
              <a:rPr lang="en-US" altLang="en-US" sz="2400"/>
              <a:t>A router using distance vector routing protocols knows 2 things:</a:t>
            </a:r>
          </a:p>
          <a:p>
            <a:pPr marL="1139825" lvl="2" indent="-225425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Distance </a:t>
            </a:r>
            <a:r>
              <a:rPr lang="en-US" altLang="en-US" sz="2400"/>
              <a:t>to final destination</a:t>
            </a:r>
          </a:p>
          <a:p>
            <a:pPr marL="1139825" lvl="2" indent="-225425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Vector, or direction, </a:t>
            </a:r>
            <a:r>
              <a:rPr lang="en-US" altLang="en-US" sz="2400"/>
              <a:t>traffic should be directed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A12AA808-7211-C943-AE6A-5E63C6DA8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17538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Distance Vector Routing Protocols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A62EF477-C8C7-4BAA-1F27-D0FCD3142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9288" y="1401763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Characteristics of Distance Vector routing protocols</a:t>
            </a:r>
            <a:r>
              <a:rPr lang="en-US" altLang="en-US"/>
              <a:t>:</a:t>
            </a:r>
          </a:p>
          <a:p>
            <a:pPr marL="688975" lvl="1" indent="-225425" eaLnBrk="1" hangingPunct="1">
              <a:spcBef>
                <a:spcPct val="25000"/>
              </a:spcBef>
            </a:pPr>
            <a:r>
              <a:rPr lang="en-US" altLang="en-US"/>
              <a:t>Periodic updates</a:t>
            </a:r>
          </a:p>
          <a:p>
            <a:pPr marL="688975" lvl="1" indent="-225425" eaLnBrk="1" hangingPunct="1">
              <a:spcBef>
                <a:spcPct val="25000"/>
              </a:spcBef>
            </a:pPr>
            <a:r>
              <a:rPr lang="en-US" altLang="en-US"/>
              <a:t>Neighbors 			 </a:t>
            </a:r>
          </a:p>
          <a:p>
            <a:pPr marL="688975" lvl="1" indent="-225425" eaLnBrk="1" hangingPunct="1">
              <a:spcBef>
                <a:spcPct val="25000"/>
              </a:spcBef>
            </a:pPr>
            <a:r>
              <a:rPr lang="en-US" altLang="en-US"/>
              <a:t>Broadcast updates</a:t>
            </a:r>
          </a:p>
          <a:p>
            <a:pPr marL="688975" lvl="1" indent="-225425" eaLnBrk="1" hangingPunct="1">
              <a:spcBef>
                <a:spcPct val="25000"/>
              </a:spcBef>
            </a:pPr>
            <a:r>
              <a:rPr lang="en-US" altLang="en-US"/>
              <a:t>Entire routing table is included with routing update</a:t>
            </a:r>
            <a:r>
              <a:rPr lang="en-US" altLang="en-US" sz="2400"/>
              <a:t> </a:t>
            </a:r>
          </a:p>
        </p:txBody>
      </p:sp>
      <p:pic>
        <p:nvPicPr>
          <p:cNvPr id="13315" name="Picture 4">
            <a:extLst>
              <a:ext uri="{FF2B5EF4-FFF2-40B4-BE49-F238E27FC236}">
                <a16:creationId xmlns:a16="http://schemas.microsoft.com/office/drawing/2014/main" id="{6B1FE50D-0950-789E-33FE-F16B7E4D4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75" y="3708400"/>
            <a:ext cx="4992688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D020E0CE-3E84-4213-6367-A36327613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63575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Distance Vector Routing Protocols</a:t>
            </a:r>
          </a:p>
        </p:txBody>
      </p:sp>
      <p:sp>
        <p:nvSpPr>
          <p:cNvPr id="15362" name="Rectangle 5">
            <a:extLst>
              <a:ext uri="{FF2B5EF4-FFF2-40B4-BE49-F238E27FC236}">
                <a16:creationId xmlns:a16="http://schemas.microsoft.com/office/drawing/2014/main" id="{6BE9D997-DFB0-27C4-198E-D99995D82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393825"/>
            <a:ext cx="82708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4675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Routing Protocol Algorithm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/>
              <a:t>	Defined as </a:t>
            </a:r>
            <a:r>
              <a:rPr lang="en-US" altLang="en-US">
                <a:solidFill>
                  <a:srgbClr val="0000FF"/>
                </a:solidFill>
              </a:rPr>
              <a:t>a procedure for accomplishing a certain task</a:t>
            </a:r>
          </a:p>
        </p:txBody>
      </p:sp>
      <p:pic>
        <p:nvPicPr>
          <p:cNvPr id="15363" name="Picture 6">
            <a:extLst>
              <a:ext uri="{FF2B5EF4-FFF2-40B4-BE49-F238E27FC236}">
                <a16:creationId xmlns:a16="http://schemas.microsoft.com/office/drawing/2014/main" id="{19CCCF0B-6CC9-3F06-3B6F-C0FFF5F1A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71738"/>
            <a:ext cx="728662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C750D389-327F-CCE2-E003-391A60B02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Distance Vector Routing Protocols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7A8B1A10-D3CB-B834-745B-9822CE8A0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1403350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/>
              <a:t>Routing Protocol Characteristics</a:t>
            </a:r>
          </a:p>
          <a:p>
            <a:pPr marL="688975" lvl="1" indent="-225425" eaLnBrk="1" hangingPunct="1"/>
            <a:r>
              <a:rPr lang="en-US" altLang="en-US" sz="2400">
                <a:solidFill>
                  <a:srgbClr val="0000FF"/>
                </a:solidFill>
              </a:rPr>
              <a:t>Criteria used to compare routing protocols</a:t>
            </a:r>
            <a:r>
              <a:rPr lang="en-US" altLang="en-US" sz="2400"/>
              <a:t> includes</a:t>
            </a:r>
          </a:p>
          <a:p>
            <a:pPr marL="1139825" lvl="2" indent="-225425" eaLnBrk="1" hangingPunct="1"/>
            <a:r>
              <a:rPr lang="en-US" altLang="en-US"/>
              <a:t>Time to convergence </a:t>
            </a:r>
          </a:p>
          <a:p>
            <a:pPr marL="1139825" lvl="2" indent="-225425" eaLnBrk="1" hangingPunct="1"/>
            <a:r>
              <a:rPr lang="en-US" altLang="en-US"/>
              <a:t>Scalability </a:t>
            </a:r>
          </a:p>
          <a:p>
            <a:pPr marL="1139825" lvl="2" indent="-225425" eaLnBrk="1" hangingPunct="1"/>
            <a:r>
              <a:rPr lang="en-US" altLang="en-US"/>
              <a:t>Resource usage </a:t>
            </a:r>
          </a:p>
          <a:p>
            <a:pPr marL="1139825" lvl="2" indent="-225425" eaLnBrk="1" hangingPunct="1"/>
            <a:r>
              <a:rPr lang="en-US" altLang="en-US"/>
              <a:t>Implementation &amp; maintenance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A46673E-6108-21BE-D7D5-766DF1202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Network Discovery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8EF4CC7-6B2F-0E7E-C85D-46D388AC5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393825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Router initial start up</a:t>
            </a:r>
            <a:r>
              <a:rPr lang="en-US" altLang="en-US"/>
              <a:t> (Cold Starts)</a:t>
            </a:r>
          </a:p>
          <a:p>
            <a:pPr marL="688975" lvl="1" indent="-225425" eaLnBrk="1" hangingPunct="1"/>
            <a:r>
              <a:rPr lang="en-US" altLang="en-US" sz="2400" b="1">
                <a:solidFill>
                  <a:srgbClr val="0000FF"/>
                </a:solidFill>
              </a:rPr>
              <a:t>Initial network discovery</a:t>
            </a:r>
          </a:p>
          <a:p>
            <a:pPr marL="1139825" lvl="2" indent="-225425" eaLnBrk="1" hangingPunct="1"/>
            <a:r>
              <a:rPr lang="en-US" altLang="en-US" sz="2400"/>
              <a:t>Directly connected networks are initially placed in routing table </a:t>
            </a:r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38C230BC-53DD-6A79-F7D9-32A8E37B4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3335338"/>
            <a:ext cx="6124575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17C0466-ED32-E16F-A3B2-675858AF0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9925" y="628650"/>
            <a:ext cx="8145463" cy="838200"/>
          </a:xfrm>
        </p:spPr>
        <p:txBody>
          <a:bodyPr/>
          <a:lstStyle/>
          <a:p>
            <a:pPr eaLnBrk="1" hangingPunct="1"/>
            <a:r>
              <a:rPr lang="en-US" altLang="en-US"/>
              <a:t>Network Discovery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ADC9A2C6-2331-FB0D-2694-2ED4D57A5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1398588"/>
            <a:ext cx="7969250" cy="5400675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b="1"/>
              <a:t>Initial Exchange</a:t>
            </a:r>
            <a:r>
              <a:rPr lang="en-US" altLang="en-US"/>
              <a:t> of Routing Information</a:t>
            </a:r>
          </a:p>
          <a:p>
            <a:pPr marL="692150" lvl="1" indent="-234950" eaLnBrk="1" hangingPunct="1">
              <a:spcBef>
                <a:spcPct val="10000"/>
              </a:spcBef>
            </a:pPr>
            <a:r>
              <a:rPr lang="en-US" altLang="en-US"/>
              <a:t>If </a:t>
            </a:r>
            <a:r>
              <a:rPr lang="en-US" altLang="en-US">
                <a:solidFill>
                  <a:srgbClr val="0000FF"/>
                </a:solidFill>
              </a:rPr>
              <a:t>a routing protocol</a:t>
            </a:r>
            <a:r>
              <a:rPr lang="en-US" altLang="en-US"/>
              <a:t> is </a:t>
            </a:r>
            <a:r>
              <a:rPr lang="en-US" altLang="en-US">
                <a:solidFill>
                  <a:srgbClr val="0000FF"/>
                </a:solidFill>
              </a:rPr>
              <a:t>configured</a:t>
            </a:r>
            <a:r>
              <a:rPr lang="en-US" altLang="en-US"/>
              <a:t> then:</a:t>
            </a:r>
          </a:p>
          <a:p>
            <a:pPr marL="1149350" lvl="2" indent="-234950" eaLnBrk="1" hangingPunct="1">
              <a:spcBef>
                <a:spcPct val="10000"/>
              </a:spcBef>
            </a:pPr>
            <a:r>
              <a:rPr lang="en-US" altLang="en-US"/>
              <a:t>Routers will exchange routing information</a:t>
            </a:r>
          </a:p>
          <a:p>
            <a:pPr marL="1149350" lvl="2" indent="-234950" eaLnBrk="1" hangingPunct="1">
              <a:spcBef>
                <a:spcPct val="10000"/>
              </a:spcBef>
            </a:pPr>
            <a:r>
              <a:rPr lang="en-US" altLang="en-US"/>
              <a:t>Routing updates received from other routers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/>
              <a:t>Router checks update for new information</a:t>
            </a:r>
          </a:p>
          <a:p>
            <a:pPr marL="692150" lvl="1" indent="-234950" eaLnBrk="1" hangingPunct="1">
              <a:spcBef>
                <a:spcPct val="10000"/>
              </a:spcBef>
            </a:pPr>
            <a:r>
              <a:rPr lang="en-US" altLang="en-US">
                <a:solidFill>
                  <a:srgbClr val="0000FF"/>
                </a:solidFill>
              </a:rPr>
              <a:t>If</a:t>
            </a:r>
            <a:r>
              <a:rPr lang="en-US" altLang="en-US"/>
              <a:t> there is </a:t>
            </a:r>
            <a:r>
              <a:rPr lang="en-US" altLang="en-US">
                <a:solidFill>
                  <a:srgbClr val="0000FF"/>
                </a:solidFill>
              </a:rPr>
              <a:t>new information</a:t>
            </a:r>
            <a:r>
              <a:rPr lang="en-US" altLang="en-US"/>
              <a:t>:</a:t>
            </a:r>
          </a:p>
          <a:p>
            <a:pPr marL="1149350" lvl="2" indent="-234950" eaLnBrk="1" hangingPunct="1">
              <a:spcBef>
                <a:spcPct val="10000"/>
              </a:spcBef>
            </a:pPr>
            <a:r>
              <a:rPr lang="en-US" altLang="en-US"/>
              <a:t>Metric is updated</a:t>
            </a:r>
          </a:p>
          <a:p>
            <a:pPr marL="1149350" lvl="2" indent="-234950" eaLnBrk="1" hangingPunct="1">
              <a:spcBef>
                <a:spcPct val="10000"/>
              </a:spcBef>
            </a:pPr>
            <a:r>
              <a:rPr lang="en-US" altLang="en-US"/>
              <a:t>New information is stored in routing table</a:t>
            </a:r>
          </a:p>
        </p:txBody>
      </p:sp>
      <p:pic>
        <p:nvPicPr>
          <p:cNvPr id="21507" name="Picture 5">
            <a:extLst>
              <a:ext uri="{FF2B5EF4-FFF2-40B4-BE49-F238E27FC236}">
                <a16:creationId xmlns:a16="http://schemas.microsoft.com/office/drawing/2014/main" id="{EAA3BF1B-69F6-C80A-644E-AF06230A1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8" y="4122738"/>
            <a:ext cx="4745037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F751C9D-CDAC-9A3A-004F-569626959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8813" y="623888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Network Discovery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1CA55EF0-7851-CF40-3EAE-F410D7D7E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75" y="1370013"/>
            <a:ext cx="8274050" cy="4913312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en-US" b="1"/>
              <a:t>Exchange of Routing Information</a:t>
            </a:r>
          </a:p>
          <a:p>
            <a:pPr marL="692150" lvl="1" indent="-234950" eaLnBrk="1" hangingPunct="1">
              <a:spcBef>
                <a:spcPct val="15000"/>
              </a:spcBef>
            </a:pPr>
            <a:r>
              <a:rPr lang="en-US" altLang="en-US" sz="2400" b="1"/>
              <a:t>Router convergence</a:t>
            </a:r>
            <a:r>
              <a:rPr lang="en-US" altLang="en-US" sz="2400"/>
              <a:t> is reached when</a:t>
            </a:r>
          </a:p>
          <a:p>
            <a:pPr marL="1149350" lvl="2" indent="-234950" eaLnBrk="1" hangingPunct="1">
              <a:spcBef>
                <a:spcPct val="15000"/>
              </a:spcBef>
            </a:pPr>
            <a:r>
              <a:rPr lang="en-US" altLang="en-US"/>
              <a:t>All </a:t>
            </a:r>
            <a:r>
              <a:rPr lang="en-US" altLang="en-US">
                <a:solidFill>
                  <a:srgbClr val="0000FF"/>
                </a:solidFill>
              </a:rPr>
              <a:t>routing tables</a:t>
            </a:r>
            <a:r>
              <a:rPr lang="en-US" altLang="en-US"/>
              <a:t> in the network </a:t>
            </a:r>
            <a:r>
              <a:rPr lang="en-US" altLang="en-US">
                <a:solidFill>
                  <a:srgbClr val="0000FF"/>
                </a:solidFill>
              </a:rPr>
              <a:t>contain the same network information</a:t>
            </a:r>
          </a:p>
          <a:p>
            <a:pPr marL="692150" lvl="1" indent="-234950" eaLnBrk="1" hangingPunct="1">
              <a:spcBef>
                <a:spcPct val="15000"/>
              </a:spcBef>
            </a:pPr>
            <a:r>
              <a:rPr lang="en-US" altLang="en-US" sz="2400"/>
              <a:t>Routers continue to exchange routing information</a:t>
            </a:r>
          </a:p>
          <a:p>
            <a:pPr marL="1149350" lvl="2" indent="-234950" eaLnBrk="1" hangingPunct="1">
              <a:spcBef>
                <a:spcPct val="15000"/>
              </a:spcBef>
            </a:pPr>
            <a:r>
              <a:rPr lang="en-US" altLang="en-US"/>
              <a:t>If </a:t>
            </a:r>
            <a:r>
              <a:rPr lang="en-US" altLang="en-US">
                <a:solidFill>
                  <a:srgbClr val="0000FF"/>
                </a:solidFill>
              </a:rPr>
              <a:t>no new information</a:t>
            </a:r>
            <a:r>
              <a:rPr lang="en-US" altLang="en-US"/>
              <a:t> is found </a:t>
            </a:r>
            <a:r>
              <a:rPr lang="en-US" altLang="en-US">
                <a:solidFill>
                  <a:srgbClr val="0000FF"/>
                </a:solidFill>
              </a:rPr>
              <a:t>then Convergence</a:t>
            </a:r>
            <a:r>
              <a:rPr lang="en-US" altLang="en-US"/>
              <a:t> is </a:t>
            </a:r>
            <a:r>
              <a:rPr lang="en-US" altLang="en-US">
                <a:solidFill>
                  <a:srgbClr val="0000FF"/>
                </a:solidFill>
              </a:rPr>
              <a:t>reached</a:t>
            </a:r>
          </a:p>
        </p:txBody>
      </p:sp>
      <p:pic>
        <p:nvPicPr>
          <p:cNvPr id="23555" name="Picture 5">
            <a:extLst>
              <a:ext uri="{FF2B5EF4-FFF2-40B4-BE49-F238E27FC236}">
                <a16:creationId xmlns:a16="http://schemas.microsoft.com/office/drawing/2014/main" id="{433268A1-2E69-30A9-0424-24A03CFC5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624263"/>
            <a:ext cx="616267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63BDCEED-DD1A-0960-FA58-6D695C6AF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6275" y="622300"/>
            <a:ext cx="8145463" cy="838200"/>
          </a:xfrm>
        </p:spPr>
        <p:txBody>
          <a:bodyPr/>
          <a:lstStyle/>
          <a:p>
            <a:pPr marL="609600" indent="-609600" eaLnBrk="1" hangingPunct="1"/>
            <a:r>
              <a:rPr lang="en-US" altLang="en-US"/>
              <a:t>Network Discovery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8913B869-E7B0-7AF5-9F61-42DF7FF68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9288" y="1387475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00FF"/>
                </a:solidFill>
              </a:rPr>
              <a:t>Convergence must be reached</a:t>
            </a:r>
            <a:r>
              <a:rPr lang="en-US" altLang="en-US"/>
              <a:t> before a network is considered completely operable </a:t>
            </a:r>
          </a:p>
          <a:p>
            <a:pPr eaLnBrk="1" hangingPunct="1"/>
            <a:r>
              <a:rPr lang="en-US" altLang="en-US"/>
              <a:t>Speed of achieving convergence consists of 2 interdependent categories</a:t>
            </a:r>
          </a:p>
          <a:p>
            <a:pPr lvl="1" indent="0" eaLnBrk="1" hangingPunct="1"/>
            <a:r>
              <a:rPr lang="en-US" altLang="en-US"/>
              <a:t>	Speed of broadcasting routing information</a:t>
            </a:r>
          </a:p>
          <a:p>
            <a:pPr lvl="1" indent="0" eaLnBrk="1" hangingPunct="1"/>
            <a:r>
              <a:rPr lang="en-US" altLang="en-US"/>
              <a:t>	Speed of calculating routes</a:t>
            </a:r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C7D1E3C5-0E35-198E-C41C-018AC0274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163" y="3597275"/>
            <a:ext cx="40005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214BC854-82E0-5E87-7E8C-A40A2001E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Table Maintenance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EA63D90-3245-7A4A-4493-5ADC647CB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1385888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Periodic Updates</a:t>
            </a:r>
            <a:r>
              <a:rPr lang="en-US" altLang="en-US"/>
              <a:t>: RIPv1 &amp; RIPv2</a:t>
            </a:r>
          </a:p>
          <a:p>
            <a:pPr marL="692150" lvl="1" indent="-234950" eaLnBrk="1" hangingPunct="1"/>
            <a:r>
              <a:rPr lang="en-US" altLang="en-US"/>
              <a:t>These are </a:t>
            </a:r>
            <a:r>
              <a:rPr lang="en-US" altLang="en-US">
                <a:solidFill>
                  <a:srgbClr val="0000FF"/>
                </a:solidFill>
              </a:rPr>
              <a:t>time intervals</a:t>
            </a:r>
            <a:r>
              <a:rPr lang="en-US" altLang="en-US"/>
              <a:t> in which a router sends out its entire routing table</a:t>
            </a:r>
          </a:p>
        </p:txBody>
      </p:sp>
      <p:pic>
        <p:nvPicPr>
          <p:cNvPr id="27651" name="Picture 5">
            <a:extLst>
              <a:ext uri="{FF2B5EF4-FFF2-40B4-BE49-F238E27FC236}">
                <a16:creationId xmlns:a16="http://schemas.microsoft.com/office/drawing/2014/main" id="{A992B090-0D05-DE2B-7EA2-E8B1F37A4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2870200"/>
            <a:ext cx="6010275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BD92C809-6CC6-D02A-346E-42EFA3CD5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Table Maintenance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6A0D7F90-2474-00B5-15EF-EDACF47C0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8175" y="1397000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Bounded Updates: EIGRP</a:t>
            </a:r>
          </a:p>
          <a:p>
            <a:pPr eaLnBrk="1" hangingPunct="1"/>
            <a:r>
              <a:rPr lang="en-US" altLang="en-US"/>
              <a:t>EIRPG routing updates are: </a:t>
            </a:r>
          </a:p>
          <a:p>
            <a:pPr lvl="1" indent="0" eaLnBrk="1" hangingPunct="1"/>
            <a:r>
              <a:rPr lang="en-US" altLang="en-US"/>
              <a:t>	Partial updates </a:t>
            </a:r>
          </a:p>
          <a:p>
            <a:pPr lvl="1" indent="0" eaLnBrk="1" hangingPunct="1"/>
            <a:r>
              <a:rPr lang="en-US" altLang="en-US"/>
              <a:t>	Triggered by topology changes </a:t>
            </a:r>
          </a:p>
          <a:p>
            <a:pPr lvl="1" indent="0" eaLnBrk="1" hangingPunct="1"/>
            <a:r>
              <a:rPr lang="en-US" altLang="en-US"/>
              <a:t>	Non periodic </a:t>
            </a:r>
          </a:p>
        </p:txBody>
      </p:sp>
      <p:pic>
        <p:nvPicPr>
          <p:cNvPr id="29699" name="Picture 4">
            <a:extLst>
              <a:ext uri="{FF2B5EF4-FFF2-40B4-BE49-F238E27FC236}">
                <a16:creationId xmlns:a16="http://schemas.microsoft.com/office/drawing/2014/main" id="{F151F5CD-683D-A093-11F5-85CE8A782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3" y="3670300"/>
            <a:ext cx="5376862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E46270CB-31D6-F2E2-7B68-10CBAC94A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3500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Routing Table Maintenance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66A7B8E7-6A28-985B-D668-0712A4867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377950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Triggered Updates</a:t>
            </a:r>
          </a:p>
          <a:p>
            <a:pPr lvl="1" indent="0" eaLnBrk="1" hangingPunct="1"/>
            <a:r>
              <a:rPr lang="en-US" altLang="en-US" sz="2400">
                <a:solidFill>
                  <a:srgbClr val="0000FF"/>
                </a:solidFill>
              </a:rPr>
              <a:t>Conditions in which triggered updates are sent</a:t>
            </a:r>
          </a:p>
          <a:p>
            <a:pPr lvl="1" indent="0" eaLnBrk="1" hangingPunct="1"/>
            <a:r>
              <a:rPr lang="en-US" altLang="en-US" sz="2400"/>
              <a:t>	Interface changes state</a:t>
            </a:r>
          </a:p>
          <a:p>
            <a:pPr lvl="1" indent="0" eaLnBrk="1" hangingPunct="1"/>
            <a:r>
              <a:rPr lang="en-US" altLang="en-US" sz="2400"/>
              <a:t>	Route becomes unreachable</a:t>
            </a:r>
          </a:p>
          <a:p>
            <a:pPr lvl="1" indent="0" eaLnBrk="1" hangingPunct="1"/>
            <a:r>
              <a:rPr lang="en-US" altLang="en-US" sz="2400"/>
              <a:t>	Route is placed in routing table</a:t>
            </a:r>
          </a:p>
        </p:txBody>
      </p:sp>
      <p:pic>
        <p:nvPicPr>
          <p:cNvPr id="31747" name="Picture 5">
            <a:extLst>
              <a:ext uri="{FF2B5EF4-FFF2-40B4-BE49-F238E27FC236}">
                <a16:creationId xmlns:a16="http://schemas.microsoft.com/office/drawing/2014/main" id="{841FF5CC-DE16-D10B-A2B6-4DDC0B95C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4308475"/>
            <a:ext cx="7546975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5">
            <a:extLst>
              <a:ext uri="{FF2B5EF4-FFF2-40B4-BE49-F238E27FC236}">
                <a16:creationId xmlns:a16="http://schemas.microsoft.com/office/drawing/2014/main" id="{07198C2A-DD5F-B474-05AB-5885254D9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0" y="3217863"/>
            <a:ext cx="4532313" cy="30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4" name="Rectangle 2">
            <a:extLst>
              <a:ext uri="{FF2B5EF4-FFF2-40B4-BE49-F238E27FC236}">
                <a16:creationId xmlns:a16="http://schemas.microsoft.com/office/drawing/2014/main" id="{D8B364EA-E93F-0CFF-4276-9E223EE1C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63500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Routing Table Maintenance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B991D79-F4FB-E17F-B7CA-20FD167EE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7063" y="1377950"/>
            <a:ext cx="7804150" cy="4827588"/>
          </a:xfrm>
        </p:spPr>
        <p:txBody>
          <a:bodyPr/>
          <a:lstStyle/>
          <a:p>
            <a:pPr eaLnBrk="1" hangingPunct="1"/>
            <a:r>
              <a:rPr lang="en-US" altLang="en-US" b="1"/>
              <a:t>Random Jitter</a:t>
            </a:r>
          </a:p>
          <a:p>
            <a:pPr marL="688975" lvl="1" indent="-225425" eaLnBrk="1" hangingPunct="1"/>
            <a:r>
              <a:rPr lang="en-US" altLang="en-US">
                <a:solidFill>
                  <a:srgbClr val="0000FF"/>
                </a:solidFill>
              </a:rPr>
              <a:t>Synchronized updates</a:t>
            </a:r>
            <a:r>
              <a:rPr lang="en-US" altLang="en-US"/>
              <a:t> - a condition where multiple routers on multi access LAN segments transmit routing updates at the same time.</a:t>
            </a:r>
          </a:p>
          <a:p>
            <a:pPr marL="1139825" lvl="2" indent="-225425" eaLnBrk="1" hangingPunct="1"/>
            <a:r>
              <a:rPr lang="en-US" altLang="en-US">
                <a:solidFill>
                  <a:schemeClr val="accent2"/>
                </a:solidFill>
              </a:rPr>
              <a:t>Problems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/>
              <a:t>with synchronized updates</a:t>
            </a:r>
          </a:p>
          <a:p>
            <a:pPr marL="1603375" lvl="3" indent="-225425" eaLnBrk="1" hangingPunct="1"/>
            <a:r>
              <a:rPr lang="en-US" altLang="en-US"/>
              <a:t>Bandwidth consumption</a:t>
            </a:r>
          </a:p>
          <a:p>
            <a:pPr marL="1603375" lvl="3" indent="-225425" eaLnBrk="1" hangingPunct="1"/>
            <a:r>
              <a:rPr lang="en-US" altLang="en-US"/>
              <a:t>Packet collisions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1BAF4310-D520-E376-16E6-E7B778C6A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628650"/>
            <a:ext cx="8145463" cy="838200"/>
          </a:xfrm>
        </p:spPr>
        <p:txBody>
          <a:bodyPr/>
          <a:lstStyle/>
          <a:p>
            <a:pPr eaLnBrk="1" hangingPunct="1"/>
            <a:r>
              <a:rPr lang="en-US" altLang="en-US"/>
              <a:t>Routing Loops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2411AA2D-C624-3DBF-0340-2FB186129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9288" y="1389063"/>
            <a:ext cx="3587750" cy="4486275"/>
          </a:xfrm>
        </p:spPr>
        <p:txBody>
          <a:bodyPr/>
          <a:lstStyle/>
          <a:p>
            <a:pPr eaLnBrk="1" hangingPunct="1"/>
            <a:r>
              <a:rPr lang="en-US" altLang="en-US" b="1"/>
              <a:t>Routing loops</a:t>
            </a:r>
            <a:r>
              <a:rPr lang="en-US" altLang="en-US"/>
              <a:t> are </a:t>
            </a:r>
          </a:p>
          <a:p>
            <a:pPr marL="688975" lvl="1" indent="-225425" eaLnBrk="1" hangingPunct="1"/>
            <a:r>
              <a:rPr lang="en-US" altLang="en-US"/>
              <a:t>	A condition in 	which </a:t>
            </a:r>
            <a:r>
              <a:rPr lang="en-US" altLang="en-US">
                <a:solidFill>
                  <a:srgbClr val="0000FF"/>
                </a:solidFill>
              </a:rPr>
              <a:t>a packet is continuously transmitted</a:t>
            </a:r>
            <a:r>
              <a:rPr lang="en-US" altLang="en-US"/>
              <a:t> within a series of routers without ever reaching its destination.</a:t>
            </a:r>
          </a:p>
        </p:txBody>
      </p:sp>
      <p:pic>
        <p:nvPicPr>
          <p:cNvPr id="35843" name="Picture 4">
            <a:extLst>
              <a:ext uri="{FF2B5EF4-FFF2-40B4-BE49-F238E27FC236}">
                <a16:creationId xmlns:a16="http://schemas.microsoft.com/office/drawing/2014/main" id="{28E92561-1A46-E9E5-CC16-A98C32394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638" y="1214438"/>
            <a:ext cx="4591050" cy="51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59ABFCDA-FFC5-28F2-ED15-5694A416D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Loops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879AD9AB-BA25-71B9-1C95-01EE5663D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1450975"/>
            <a:ext cx="7940675" cy="4243388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b="1"/>
              <a:t>Routing loops</a:t>
            </a:r>
            <a:r>
              <a:rPr lang="en-US" altLang="en-US" sz="2000"/>
              <a:t> may be </a:t>
            </a:r>
            <a:r>
              <a:rPr lang="en-US" altLang="en-US" sz="2000">
                <a:solidFill>
                  <a:srgbClr val="0000FF"/>
                </a:solidFill>
              </a:rPr>
              <a:t>caused by</a:t>
            </a:r>
            <a:r>
              <a:rPr lang="en-US" altLang="en-US" sz="2000"/>
              <a:t>:</a:t>
            </a:r>
          </a:p>
          <a:p>
            <a:pPr lvl="1" indent="0" eaLnBrk="1" hangingPunct="1">
              <a:lnSpc>
                <a:spcPct val="85000"/>
              </a:lnSpc>
            </a:pPr>
            <a:r>
              <a:rPr lang="en-US" altLang="en-US"/>
              <a:t>	Incorrectly configured static routes</a:t>
            </a:r>
          </a:p>
          <a:p>
            <a:pPr lvl="1" indent="0" eaLnBrk="1" hangingPunct="1">
              <a:lnSpc>
                <a:spcPct val="85000"/>
              </a:lnSpc>
            </a:pPr>
            <a:r>
              <a:rPr lang="en-US" altLang="en-US"/>
              <a:t>	Incorrectly configured route redistribution</a:t>
            </a:r>
          </a:p>
          <a:p>
            <a:pPr lvl="1" indent="0" eaLnBrk="1" hangingPunct="1">
              <a:lnSpc>
                <a:spcPct val="85000"/>
              </a:lnSpc>
            </a:pPr>
            <a:r>
              <a:rPr lang="en-US" altLang="en-US"/>
              <a:t>	Slow convergence</a:t>
            </a:r>
          </a:p>
          <a:p>
            <a:pPr lvl="1" indent="0" eaLnBrk="1" hangingPunct="1">
              <a:lnSpc>
                <a:spcPct val="85000"/>
              </a:lnSpc>
              <a:buFontTx/>
              <a:buNone/>
            </a:pPr>
            <a:endParaRPr lang="en-US" altLang="en-US"/>
          </a:p>
          <a:p>
            <a:pPr eaLnBrk="1" hangingPunct="1">
              <a:lnSpc>
                <a:spcPct val="85000"/>
              </a:lnSpc>
            </a:pPr>
            <a:r>
              <a:rPr lang="en-US" altLang="en-US" b="1"/>
              <a:t>Routing loops</a:t>
            </a:r>
            <a:r>
              <a:rPr lang="en-US" altLang="en-US" sz="2000"/>
              <a:t> can </a:t>
            </a:r>
            <a:r>
              <a:rPr lang="en-US" altLang="en-US" sz="2000">
                <a:solidFill>
                  <a:srgbClr val="0000FF"/>
                </a:solidFill>
              </a:rPr>
              <a:t>create the following issues</a:t>
            </a:r>
            <a:r>
              <a:rPr lang="en-US" altLang="en-US" sz="2000"/>
              <a:t>:</a:t>
            </a:r>
          </a:p>
          <a:p>
            <a:pPr lvl="1" indent="0" eaLnBrk="1" hangingPunct="1">
              <a:lnSpc>
                <a:spcPct val="85000"/>
              </a:lnSpc>
            </a:pPr>
            <a:r>
              <a:rPr lang="en-US" altLang="en-US"/>
              <a:t>	Excess use of bandwidth</a:t>
            </a:r>
          </a:p>
          <a:p>
            <a:pPr lvl="1" indent="0" eaLnBrk="1" hangingPunct="1">
              <a:lnSpc>
                <a:spcPct val="85000"/>
              </a:lnSpc>
            </a:pPr>
            <a:r>
              <a:rPr lang="en-US" altLang="en-US"/>
              <a:t>	CPU resources may be strained</a:t>
            </a:r>
          </a:p>
          <a:p>
            <a:pPr lvl="1" indent="0" eaLnBrk="1" hangingPunct="1">
              <a:lnSpc>
                <a:spcPct val="85000"/>
              </a:lnSpc>
            </a:pPr>
            <a:r>
              <a:rPr lang="en-US" altLang="en-US"/>
              <a:t>	Network convergence is degraded</a:t>
            </a:r>
          </a:p>
          <a:p>
            <a:pPr lvl="1" indent="0" eaLnBrk="1" hangingPunct="1">
              <a:lnSpc>
                <a:spcPct val="85000"/>
              </a:lnSpc>
            </a:pPr>
            <a:r>
              <a:rPr lang="en-US" altLang="en-US"/>
              <a:t>	Routing updates may be lost or not processed in a timely 	manner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C3D923C4-2D5F-3368-BD66-7862950C0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Loops 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0AFE15C3-A4A2-843F-3657-1792D7C37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1404938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Count to Infinity</a:t>
            </a:r>
          </a:p>
          <a:p>
            <a:pPr marL="688975" lvl="1" indent="-225425" eaLnBrk="1" hangingPunct="1"/>
            <a:r>
              <a:rPr lang="en-US" altLang="en-US"/>
              <a:t>This is </a:t>
            </a:r>
            <a:r>
              <a:rPr lang="en-US" altLang="en-US">
                <a:solidFill>
                  <a:srgbClr val="0000FF"/>
                </a:solidFill>
              </a:rPr>
              <a:t>a routing loop whereby packets bounce infinitely around a network</a:t>
            </a:r>
          </a:p>
        </p:txBody>
      </p:sp>
      <p:pic>
        <p:nvPicPr>
          <p:cNvPr id="39939" name="Picture 4">
            <a:extLst>
              <a:ext uri="{FF2B5EF4-FFF2-40B4-BE49-F238E27FC236}">
                <a16:creationId xmlns:a16="http://schemas.microsoft.com/office/drawing/2014/main" id="{C7871035-037C-59F9-7E96-D803EC18B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8" y="2738438"/>
            <a:ext cx="5618162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7A1E730D-45FC-3EC0-2F2A-E8FC7515A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Loops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B03F2167-54EC-2525-C02D-EA6C755B1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1825" y="1382713"/>
            <a:ext cx="8059738" cy="3571875"/>
          </a:xfrm>
        </p:spPr>
        <p:txBody>
          <a:bodyPr/>
          <a:lstStyle/>
          <a:p>
            <a:pPr eaLnBrk="1" hangingPunct="1"/>
            <a:r>
              <a:rPr lang="en-US" altLang="en-US"/>
              <a:t>Setting a maximum</a:t>
            </a:r>
          </a:p>
          <a:p>
            <a:pPr eaLnBrk="1" hangingPunct="1"/>
            <a:r>
              <a:rPr lang="en-US" altLang="en-US" b="1"/>
              <a:t>Distance Vector routing protocols</a:t>
            </a:r>
            <a:r>
              <a:rPr lang="en-US" altLang="en-US"/>
              <a:t> </a:t>
            </a:r>
            <a:r>
              <a:rPr lang="en-US" altLang="en-US">
                <a:solidFill>
                  <a:srgbClr val="0000FF"/>
                </a:solidFill>
              </a:rPr>
              <a:t>set a specified metric value to indicate infinity</a:t>
            </a:r>
          </a:p>
          <a:p>
            <a:pPr marL="688975" lvl="1" indent="-225425" eaLnBrk="1" hangingPunct="1"/>
            <a:r>
              <a:rPr lang="en-US" altLang="en-US"/>
              <a:t>Once a router “counts to infinity” it marks the route as unreachable</a:t>
            </a:r>
          </a:p>
        </p:txBody>
      </p:sp>
      <p:pic>
        <p:nvPicPr>
          <p:cNvPr id="41987" name="Picture 4">
            <a:extLst>
              <a:ext uri="{FF2B5EF4-FFF2-40B4-BE49-F238E27FC236}">
                <a16:creationId xmlns:a16="http://schemas.microsoft.com/office/drawing/2014/main" id="{1F479372-340E-3F7F-2735-94493A95D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0" y="3622675"/>
            <a:ext cx="5380038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4">
            <a:extLst>
              <a:ext uri="{FF2B5EF4-FFF2-40B4-BE49-F238E27FC236}">
                <a16:creationId xmlns:a16="http://schemas.microsoft.com/office/drawing/2014/main" id="{87203C2B-C5A2-ED4A-D88B-C16090305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" y="3279775"/>
            <a:ext cx="7545388" cy="304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4" name="Rectangle 2">
            <a:extLst>
              <a:ext uri="{FF2B5EF4-FFF2-40B4-BE49-F238E27FC236}">
                <a16:creationId xmlns:a16="http://schemas.microsoft.com/office/drawing/2014/main" id="{969ECDA9-46B6-B79C-AFC2-8A06F2ED1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38175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Routing Loops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A446A8F-8F23-DCA3-8B96-35D22D288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1350" y="1433513"/>
            <a:ext cx="7940675" cy="357187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/>
              <a:t>Preventing loops with holddown timers</a:t>
            </a:r>
          </a:p>
          <a:p>
            <a:pPr marL="688975" lvl="1" indent="-225425" eaLnBrk="1" hangingPunct="1">
              <a:lnSpc>
                <a:spcPct val="85000"/>
              </a:lnSpc>
            </a:pPr>
            <a:r>
              <a:rPr lang="en-US" altLang="en-US">
                <a:solidFill>
                  <a:srgbClr val="0000FF"/>
                </a:solidFill>
              </a:rPr>
              <a:t>Holddown timers</a:t>
            </a:r>
            <a:r>
              <a:rPr lang="en-US" altLang="en-US"/>
              <a:t> allow a router to not accept any changes to a route for a specified period of time</a:t>
            </a:r>
          </a:p>
          <a:p>
            <a:pPr marL="688975" lvl="1" indent="-225425" eaLnBrk="1" hangingPunct="1">
              <a:lnSpc>
                <a:spcPct val="85000"/>
              </a:lnSpc>
            </a:pPr>
            <a:r>
              <a:rPr lang="en-US" altLang="en-US">
                <a:solidFill>
                  <a:srgbClr val="0000FF"/>
                </a:solidFill>
              </a:rPr>
              <a:t>Point of using holddown timers</a:t>
            </a:r>
          </a:p>
          <a:p>
            <a:pPr marL="1139825" lvl="2" indent="-225425" eaLnBrk="1" hangingPunct="1">
              <a:lnSpc>
                <a:spcPct val="85000"/>
              </a:lnSpc>
            </a:pPr>
            <a:r>
              <a:rPr lang="en-US" altLang="en-US"/>
              <a:t>Allows routing updates to propagate through network with the most current information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FC448EDC-B447-36CE-DB56-3875A91BC5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36588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Routing Loops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8426DE1-00A6-AEFE-A1C1-A67164AC5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1381125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b="1"/>
              <a:t>Split Horizon Rule</a:t>
            </a:r>
            <a:r>
              <a:rPr lang="en-US" altLang="en-US"/>
              <a:t> is </a:t>
            </a:r>
            <a:r>
              <a:rPr lang="en-US" altLang="en-US">
                <a:solidFill>
                  <a:srgbClr val="0000FF"/>
                </a:solidFill>
              </a:rPr>
              <a:t>used to prevent routing loops</a:t>
            </a:r>
          </a:p>
          <a:p>
            <a:pPr eaLnBrk="1" hangingPunct="1"/>
            <a:r>
              <a:rPr lang="en-US" altLang="en-US" b="1"/>
              <a:t>Split Horizon rule</a:t>
            </a:r>
            <a:r>
              <a:rPr lang="en-US" altLang="en-US"/>
              <a:t>:</a:t>
            </a:r>
          </a:p>
          <a:p>
            <a:pPr marL="688975" lvl="1" indent="-225425" eaLnBrk="1" hangingPunct="1"/>
            <a:r>
              <a:rPr lang="en-US" altLang="en-US"/>
              <a:t>	A router should not advertise a network through the interface from which the update came</a:t>
            </a:r>
          </a:p>
        </p:txBody>
      </p:sp>
      <p:pic>
        <p:nvPicPr>
          <p:cNvPr id="46083" name="Picture 4">
            <a:extLst>
              <a:ext uri="{FF2B5EF4-FFF2-40B4-BE49-F238E27FC236}">
                <a16:creationId xmlns:a16="http://schemas.microsoft.com/office/drawing/2014/main" id="{45DEE7D8-D34A-F16C-0F23-B70ECC84B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63" y="3508375"/>
            <a:ext cx="6159500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13652068-608B-22BE-DEFE-B48C64E29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Loops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31C543A9-CB72-704B-0355-6DDB21169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6588" y="1385888"/>
            <a:ext cx="3676650" cy="5194300"/>
          </a:xfrm>
        </p:spPr>
        <p:txBody>
          <a:bodyPr/>
          <a:lstStyle/>
          <a:p>
            <a:pPr eaLnBrk="1" hangingPunct="1"/>
            <a:r>
              <a:rPr lang="en-US" altLang="en-US" b="1"/>
              <a:t>Split horizon </a:t>
            </a:r>
            <a:r>
              <a:rPr lang="en-US" altLang="en-US" b="1">
                <a:solidFill>
                  <a:srgbClr val="0000FF"/>
                </a:solidFill>
              </a:rPr>
              <a:t>with</a:t>
            </a:r>
            <a:r>
              <a:rPr lang="en-US" altLang="en-US" b="1"/>
              <a:t> poison reverse </a:t>
            </a:r>
          </a:p>
          <a:p>
            <a:pPr marL="688975" lvl="1" indent="-225425" eaLnBrk="1" hangingPunct="1"/>
            <a:r>
              <a:rPr lang="en-US" altLang="en-US"/>
              <a:t>	The rule states that once a router learns of an unreachable route through an interface, advertise it as unreachable back through the same interface</a:t>
            </a:r>
          </a:p>
        </p:txBody>
      </p:sp>
      <p:pic>
        <p:nvPicPr>
          <p:cNvPr id="48131" name="Picture 4">
            <a:extLst>
              <a:ext uri="{FF2B5EF4-FFF2-40B4-BE49-F238E27FC236}">
                <a16:creationId xmlns:a16="http://schemas.microsoft.com/office/drawing/2014/main" id="{88DC6C3D-979C-ABB5-BCCA-4E9D3833E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863" y="1493838"/>
            <a:ext cx="4378325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3F407CAC-2870-724B-190A-F2BC07F38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1350" y="630238"/>
            <a:ext cx="8145463" cy="838200"/>
          </a:xfrm>
        </p:spPr>
        <p:txBody>
          <a:bodyPr/>
          <a:lstStyle/>
          <a:p>
            <a:pPr eaLnBrk="1" hangingPunct="1"/>
            <a:r>
              <a:rPr lang="en-US" altLang="en-US"/>
              <a:t>Routing Loops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AA01E80C-6AD5-17F6-CC7A-EBA825DE2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8175" y="1390650"/>
            <a:ext cx="7940675" cy="5418138"/>
          </a:xfrm>
        </p:spPr>
        <p:txBody>
          <a:bodyPr/>
          <a:lstStyle/>
          <a:p>
            <a:pPr eaLnBrk="1" hangingPunct="1"/>
            <a:r>
              <a:rPr lang="en-US" altLang="en-US" b="1"/>
              <a:t>IP &amp; TTL</a:t>
            </a:r>
          </a:p>
          <a:p>
            <a:pPr marL="688975" lvl="1" indent="-225425" eaLnBrk="1" hangingPunct="1"/>
            <a:r>
              <a:rPr lang="en-US" altLang="en-US" sz="2400" b="1">
                <a:solidFill>
                  <a:srgbClr val="0000FF"/>
                </a:solidFill>
              </a:rPr>
              <a:t>Purpose of the TTL field</a:t>
            </a:r>
          </a:p>
          <a:p>
            <a:pPr marL="1139825" lvl="2" indent="-225425" eaLnBrk="1" hangingPunct="1"/>
            <a:r>
              <a:rPr lang="en-US" altLang="en-US"/>
              <a:t>The TTL field is found in an IP header and is </a:t>
            </a:r>
            <a:r>
              <a:rPr lang="en-US" altLang="en-US">
                <a:solidFill>
                  <a:srgbClr val="0000FF"/>
                </a:solidFill>
              </a:rPr>
              <a:t>used to prevent packets from endlessly traveling on a network</a:t>
            </a:r>
          </a:p>
          <a:p>
            <a:pPr eaLnBrk="1" hangingPunct="1"/>
            <a:r>
              <a:rPr lang="en-US" altLang="en-US" b="1"/>
              <a:t>How the TTL field works</a:t>
            </a:r>
          </a:p>
          <a:p>
            <a:pPr marL="688975" lvl="1" indent="-225425" eaLnBrk="1" hangingPunct="1"/>
            <a:r>
              <a:rPr lang="en-US" altLang="en-US"/>
              <a:t>	</a:t>
            </a:r>
            <a:r>
              <a:rPr lang="en-US" altLang="en-US" sz="2400"/>
              <a:t>TTL field contains a numeric value</a:t>
            </a:r>
          </a:p>
          <a:p>
            <a:pPr marL="1139825" lvl="2" indent="-225425" eaLnBrk="1" hangingPunct="1"/>
            <a:r>
              <a:rPr lang="en-US" altLang="en-US"/>
              <a:t>The </a:t>
            </a:r>
            <a:r>
              <a:rPr lang="en-US" altLang="en-US">
                <a:solidFill>
                  <a:srgbClr val="0000FF"/>
                </a:solidFill>
              </a:rPr>
              <a:t>numeric value is decreased by one</a:t>
            </a:r>
            <a:r>
              <a:rPr lang="en-US" altLang="en-US"/>
              <a:t> by every router on the route to the destination</a:t>
            </a:r>
          </a:p>
          <a:p>
            <a:pPr marL="1139825" lvl="2" indent="-225425" eaLnBrk="1" hangingPunct="1"/>
            <a:r>
              <a:rPr lang="en-US" altLang="en-US"/>
              <a:t>If </a:t>
            </a:r>
            <a:r>
              <a:rPr lang="en-US" altLang="en-US">
                <a:solidFill>
                  <a:srgbClr val="0000FF"/>
                </a:solidFill>
              </a:rPr>
              <a:t>numeric value reaches</a:t>
            </a:r>
            <a:r>
              <a:rPr lang="en-US" altLang="en-US"/>
              <a:t> </a:t>
            </a:r>
            <a:r>
              <a:rPr lang="en-US" altLang="en-US">
                <a:solidFill>
                  <a:schemeClr val="accent2"/>
                </a:solidFill>
              </a:rPr>
              <a:t>0</a:t>
            </a:r>
            <a:r>
              <a:rPr lang="en-US" altLang="en-US"/>
              <a:t> then Packet is discarded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844A1072-871F-46B5-9A99-98782842E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38175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Routing Protocols Today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9BDD5690-0877-D86C-AABB-468551AD9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1350" y="1433513"/>
            <a:ext cx="7940675" cy="1954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Factors used to determine whether to use RIP or EIGRP include</a:t>
            </a:r>
          </a:p>
          <a:p>
            <a:pPr marL="688975" lvl="1" indent="-225425" eaLnBrk="1" hangingPunct="1">
              <a:lnSpc>
                <a:spcPct val="90000"/>
              </a:lnSpc>
            </a:pPr>
            <a:r>
              <a:rPr lang="en-US" altLang="en-US"/>
              <a:t>	Network size</a:t>
            </a:r>
          </a:p>
          <a:p>
            <a:pPr marL="688975" lvl="1" indent="-225425" eaLnBrk="1" hangingPunct="1">
              <a:lnSpc>
                <a:spcPct val="90000"/>
              </a:lnSpc>
            </a:pPr>
            <a:r>
              <a:rPr lang="en-US" altLang="en-US"/>
              <a:t>	Compatibility between models of routers</a:t>
            </a:r>
          </a:p>
          <a:p>
            <a:pPr marL="688975" lvl="1" indent="-225425" eaLnBrk="1" hangingPunct="1">
              <a:lnSpc>
                <a:spcPct val="90000"/>
              </a:lnSpc>
            </a:pPr>
            <a:r>
              <a:rPr lang="en-US" altLang="en-US"/>
              <a:t>	Administrative knowledge</a:t>
            </a:r>
          </a:p>
        </p:txBody>
      </p:sp>
      <p:pic>
        <p:nvPicPr>
          <p:cNvPr id="52227" name="Picture 5">
            <a:extLst>
              <a:ext uri="{FF2B5EF4-FFF2-40B4-BE49-F238E27FC236}">
                <a16:creationId xmlns:a16="http://schemas.microsoft.com/office/drawing/2014/main" id="{25EFBF9C-2EC1-1EEC-C81C-A4F0FBD0C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40100"/>
            <a:ext cx="8337550" cy="325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1C421542-0C94-8A0A-5DF8-A2CDBF4D6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Protocols Today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383D10A6-FBC9-6692-61C2-1B659F70C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1392238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 b="1"/>
              <a:t>RIP</a:t>
            </a:r>
          </a:p>
          <a:p>
            <a:pPr marL="688975" lvl="1" indent="-225425" eaLnBrk="1" hangingPunct="1"/>
            <a:r>
              <a:rPr lang="en-US" altLang="en-US" sz="2400" b="1">
                <a:solidFill>
                  <a:srgbClr val="0000FF"/>
                </a:solidFill>
              </a:rPr>
              <a:t>Features of RIP:</a:t>
            </a:r>
          </a:p>
          <a:p>
            <a:pPr marL="1139825" lvl="2" indent="-225425" eaLnBrk="1" hangingPunct="1"/>
            <a:r>
              <a:rPr lang="en-US" altLang="en-US" sz="2400"/>
              <a:t>Supports </a:t>
            </a:r>
            <a:r>
              <a:rPr lang="en-US" altLang="en-US" sz="2400">
                <a:solidFill>
                  <a:srgbClr val="0000FF"/>
                </a:solidFill>
              </a:rPr>
              <a:t>split horizon &amp; split horizon with poison reverse</a:t>
            </a:r>
          </a:p>
          <a:p>
            <a:pPr marL="1139825" lvl="2" indent="-225425" eaLnBrk="1" hangingPunct="1"/>
            <a:r>
              <a:rPr lang="en-US" altLang="en-US" sz="2400"/>
              <a:t>Capable of </a:t>
            </a:r>
            <a:r>
              <a:rPr lang="en-US" altLang="en-US" sz="2400">
                <a:solidFill>
                  <a:srgbClr val="0000FF"/>
                </a:solidFill>
              </a:rPr>
              <a:t>load balancing</a:t>
            </a:r>
            <a:r>
              <a:rPr lang="en-US" altLang="en-US" sz="2400"/>
              <a:t> </a:t>
            </a:r>
          </a:p>
          <a:p>
            <a:pPr marL="1139825" lvl="2" indent="-225425" eaLnBrk="1" hangingPunct="1"/>
            <a:r>
              <a:rPr lang="en-US" altLang="en-US" sz="2400">
                <a:solidFill>
                  <a:srgbClr val="0000FF"/>
                </a:solidFill>
              </a:rPr>
              <a:t>Easy to configure</a:t>
            </a:r>
          </a:p>
          <a:p>
            <a:pPr marL="1139825" lvl="2" indent="-225425" eaLnBrk="1" hangingPunct="1"/>
            <a:r>
              <a:rPr lang="en-US" altLang="en-US" sz="2400">
                <a:solidFill>
                  <a:srgbClr val="0000FF"/>
                </a:solidFill>
              </a:rPr>
              <a:t>Works in a multi vendor router environment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4555796D-32D1-B37D-77A2-3A2F98011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Routing Protocols Today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2AF12447-37B5-13D6-34AB-469222023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430338"/>
            <a:ext cx="7940675" cy="357187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b="1"/>
              <a:t>EIGRP</a:t>
            </a:r>
          </a:p>
          <a:p>
            <a:pPr marL="688975" lvl="1" indent="-225425" eaLnBrk="1" hangingPunct="1">
              <a:lnSpc>
                <a:spcPct val="85000"/>
              </a:lnSpc>
            </a:pPr>
            <a:r>
              <a:rPr lang="en-US" altLang="en-US" sz="2400" b="1">
                <a:solidFill>
                  <a:srgbClr val="0000FF"/>
                </a:solidFill>
              </a:rPr>
              <a:t>Features of EIGRP</a:t>
            </a:r>
            <a:r>
              <a:rPr lang="en-US" altLang="en-US" sz="2400" b="1"/>
              <a:t>:</a:t>
            </a:r>
          </a:p>
          <a:p>
            <a:pPr marL="1139825" lvl="2" indent="-225425" eaLnBrk="1" hangingPunct="1">
              <a:lnSpc>
                <a:spcPct val="85000"/>
              </a:lnSpc>
            </a:pPr>
            <a:r>
              <a:rPr lang="en-US" altLang="en-US" sz="2400"/>
              <a:t>Triggered updates</a:t>
            </a:r>
          </a:p>
          <a:p>
            <a:pPr marL="1139825" lvl="2" indent="-225425" eaLnBrk="1" hangingPunct="1">
              <a:lnSpc>
                <a:spcPct val="85000"/>
              </a:lnSpc>
            </a:pPr>
            <a:r>
              <a:rPr lang="en-US" altLang="en-US" sz="2400"/>
              <a:t>EIGRP hello protocol used to establish neighbor adjacencies</a:t>
            </a:r>
          </a:p>
          <a:p>
            <a:pPr marL="1139825" lvl="2" indent="-225425" eaLnBrk="1" hangingPunct="1">
              <a:lnSpc>
                <a:spcPct val="85000"/>
              </a:lnSpc>
            </a:pPr>
            <a:r>
              <a:rPr lang="en-US" altLang="en-US" sz="2400"/>
              <a:t>Supports VLSM &amp; route summarization</a:t>
            </a:r>
          </a:p>
          <a:p>
            <a:pPr marL="1139825" lvl="2" indent="-225425" eaLnBrk="1" hangingPunct="1">
              <a:lnSpc>
                <a:spcPct val="85000"/>
              </a:lnSpc>
            </a:pPr>
            <a:r>
              <a:rPr lang="en-US" altLang="en-US" sz="2400"/>
              <a:t>Use of topology table to maintain all routes</a:t>
            </a:r>
          </a:p>
          <a:p>
            <a:pPr marL="1139825" lvl="2" indent="-225425" eaLnBrk="1" hangingPunct="1">
              <a:lnSpc>
                <a:spcPct val="85000"/>
              </a:lnSpc>
            </a:pPr>
            <a:r>
              <a:rPr lang="en-US" altLang="en-US" sz="2400"/>
              <a:t>Classless distance vector routing protocol</a:t>
            </a:r>
          </a:p>
          <a:p>
            <a:pPr marL="1139825" lvl="2" indent="-225425" eaLnBrk="1" hangingPunct="1">
              <a:lnSpc>
                <a:spcPct val="85000"/>
              </a:lnSpc>
            </a:pPr>
            <a:r>
              <a:rPr lang="en-US" altLang="en-US" sz="2400"/>
              <a:t>Cisco proprietary protocol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615E14D0-8E65-A8BC-BB4D-DB7ED1068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293A56A7-0B12-D0C9-4B96-49145BF2B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2463" y="1392238"/>
            <a:ext cx="8166100" cy="4811712"/>
          </a:xfrm>
        </p:spPr>
        <p:txBody>
          <a:bodyPr/>
          <a:lstStyle/>
          <a:p>
            <a:pPr eaLnBrk="1" hangingPunct="1"/>
            <a:r>
              <a:rPr lang="en-US" altLang="en-US" b="1"/>
              <a:t>Characteristics of Distance Vector routing protocols</a:t>
            </a:r>
          </a:p>
          <a:p>
            <a:pPr marL="688975" lvl="1" indent="-225425" eaLnBrk="1" hangingPunct="1"/>
            <a:r>
              <a:rPr lang="en-US" altLang="en-US"/>
              <a:t>Periodic updates</a:t>
            </a:r>
          </a:p>
          <a:p>
            <a:pPr marL="688975" lvl="1" indent="-225425" eaLnBrk="1" hangingPunct="1"/>
            <a:r>
              <a:rPr lang="en-US" altLang="en-US"/>
              <a:t>RIP routing updates include the entire routing table</a:t>
            </a:r>
          </a:p>
          <a:p>
            <a:pPr marL="688975" lvl="1" indent="-225425" eaLnBrk="1" hangingPunct="1"/>
            <a:r>
              <a:rPr lang="en-US" altLang="en-US"/>
              <a:t>Neighbors are defined as routers that share a link and are configured to use the same protocol</a:t>
            </a:r>
          </a:p>
          <a:p>
            <a:pPr eaLnBrk="1" hangingPunct="1"/>
            <a:r>
              <a:rPr lang="en-US" altLang="en-US" b="1"/>
              <a:t>The network discovery process for D.V. routing protocol</a:t>
            </a:r>
          </a:p>
          <a:p>
            <a:pPr marL="688975" lvl="1" indent="-225425" eaLnBrk="1" hangingPunct="1"/>
            <a:r>
              <a:rPr lang="en-US" altLang="en-US"/>
              <a:t>Directly connected routes are placed in routing table 1</a:t>
            </a:r>
            <a:r>
              <a:rPr lang="en-US" altLang="en-US" baseline="30000"/>
              <a:t>st</a:t>
            </a:r>
          </a:p>
          <a:p>
            <a:pPr marL="688975" lvl="1" indent="-225425" eaLnBrk="1" hangingPunct="1"/>
            <a:r>
              <a:rPr lang="en-US" altLang="en-US"/>
              <a:t>If a routing protocol is configured then</a:t>
            </a:r>
          </a:p>
          <a:p>
            <a:pPr marL="1139825" lvl="2" indent="-225425" eaLnBrk="1" hangingPunct="1"/>
            <a:r>
              <a:rPr lang="en-US" altLang="en-US"/>
              <a:t>Routers will exchange routing information</a:t>
            </a:r>
          </a:p>
          <a:p>
            <a:pPr marL="688975" lvl="1" indent="-225425" eaLnBrk="1" hangingPunct="1"/>
            <a:r>
              <a:rPr lang="en-US" altLang="en-US"/>
              <a:t>Convergence is reached when all network routers have the    </a:t>
            </a:r>
          </a:p>
          <a:p>
            <a:pPr marL="688975" lvl="1" indent="-225425" eaLnBrk="1" hangingPunct="1">
              <a:buFontTx/>
              <a:buNone/>
            </a:pPr>
            <a:r>
              <a:rPr lang="en-US" altLang="en-US"/>
              <a:t>  same network information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C3B959AA-7E4F-498F-3826-AEC623239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C56512E3-4275-440A-B609-9ED668DAB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1350" y="1392238"/>
            <a:ext cx="8221663" cy="5021262"/>
          </a:xfrm>
        </p:spPr>
        <p:txBody>
          <a:bodyPr/>
          <a:lstStyle/>
          <a:p>
            <a:pPr eaLnBrk="1" hangingPunct="1">
              <a:tabLst>
                <a:tab pos="688975" algn="l"/>
              </a:tabLst>
            </a:pPr>
            <a:r>
              <a:rPr lang="en-US" altLang="en-US" b="1"/>
              <a:t>D.V. routing protocols maintains routing tables by</a:t>
            </a:r>
          </a:p>
          <a:p>
            <a:pPr marL="688975" lvl="1" indent="-225425" eaLnBrk="1" hangingPunct="1">
              <a:tabLst>
                <a:tab pos="688975" algn="l"/>
              </a:tabLst>
            </a:pPr>
            <a:r>
              <a:rPr lang="en-US" altLang="en-US"/>
              <a:t>RIP sending out periodic updates</a:t>
            </a:r>
          </a:p>
          <a:p>
            <a:pPr marL="688975" lvl="1" indent="-225425" eaLnBrk="1" hangingPunct="1">
              <a:tabLst>
                <a:tab pos="688975" algn="l"/>
              </a:tabLst>
            </a:pPr>
            <a:r>
              <a:rPr lang="en-US" altLang="en-US"/>
              <a:t>RIP using 4 different timers to  ensure information is accurate and convergence is achieved in a timely manner</a:t>
            </a:r>
          </a:p>
          <a:p>
            <a:pPr marL="688975" lvl="1" indent="-225425" eaLnBrk="1" hangingPunct="1">
              <a:tabLst>
                <a:tab pos="688975" algn="l"/>
              </a:tabLst>
            </a:pPr>
            <a:r>
              <a:rPr lang="en-US" altLang="en-US"/>
              <a:t>EIGRP sending out triggered updates</a:t>
            </a:r>
          </a:p>
          <a:p>
            <a:pPr eaLnBrk="1" hangingPunct="1">
              <a:tabLst>
                <a:tab pos="688975" algn="l"/>
              </a:tabLst>
            </a:pPr>
            <a:r>
              <a:rPr lang="en-US" altLang="en-US" b="1"/>
              <a:t>D.V. routing protocols may be prone to routing loops</a:t>
            </a:r>
          </a:p>
          <a:p>
            <a:pPr marL="688975" lvl="1" indent="-225425" eaLnBrk="1" hangingPunct="1">
              <a:tabLst>
                <a:tab pos="688975" algn="l"/>
              </a:tabLst>
            </a:pPr>
            <a:r>
              <a:rPr lang="en-US" altLang="en-US"/>
              <a:t> routing loops are a condition in which packets continuously traverse a network</a:t>
            </a:r>
          </a:p>
          <a:p>
            <a:pPr marL="688975" lvl="1" indent="-225425" eaLnBrk="1" hangingPunct="1">
              <a:tabLst>
                <a:tab pos="688975" algn="l"/>
              </a:tabLst>
            </a:pPr>
            <a:r>
              <a:rPr lang="en-US" altLang="en-US"/>
              <a:t>Mechanisms used to minimize routing loops include defining maximum hop count, holddown timers, split horizon, route poisoning and triggered updates</a:t>
            </a:r>
          </a:p>
          <a:p>
            <a:pPr marL="688975" lvl="1" indent="-225425" eaLnBrk="1" hangingPunct="1">
              <a:tabLst>
                <a:tab pos="688975" algn="l"/>
              </a:tabLst>
            </a:pPr>
            <a:endParaRPr lang="en-US" altLang="en-US"/>
          </a:p>
          <a:p>
            <a:pPr marL="688975" lvl="1" indent="-225425" eaLnBrk="1" hangingPunct="1">
              <a:buFontTx/>
              <a:buNone/>
              <a:tabLst>
                <a:tab pos="688975" algn="l"/>
              </a:tabLst>
            </a:pP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F74D0905-9AEB-6C15-B08C-51E64970D7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3500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5B6A9FF1-4C36-13A7-2E26-FF6E3F991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238" y="1385888"/>
            <a:ext cx="7940675" cy="5200650"/>
          </a:xfrm>
        </p:spPr>
        <p:txBody>
          <a:bodyPr/>
          <a:lstStyle/>
          <a:p>
            <a:pPr eaLnBrk="1" hangingPunct="1"/>
            <a:r>
              <a:rPr lang="en-US" altLang="en-US" b="1"/>
              <a:t>Conditions that can lead to routing loops include</a:t>
            </a:r>
          </a:p>
          <a:p>
            <a:pPr marL="688975" lvl="1" indent="-225425" eaLnBrk="1" hangingPunct="1"/>
            <a:r>
              <a:rPr lang="en-US" altLang="en-US"/>
              <a:t>Incorrectly configured static routes</a:t>
            </a:r>
          </a:p>
          <a:p>
            <a:pPr marL="688975" lvl="1" indent="-225425" eaLnBrk="1" hangingPunct="1"/>
            <a:r>
              <a:rPr lang="en-US" altLang="en-US"/>
              <a:t>Incorrectly configured route redistribution</a:t>
            </a:r>
          </a:p>
          <a:p>
            <a:pPr marL="688975" lvl="1" indent="-225425" eaLnBrk="1" hangingPunct="1"/>
            <a:r>
              <a:rPr lang="en-US" altLang="en-US"/>
              <a:t>Slow convergence</a:t>
            </a:r>
          </a:p>
          <a:p>
            <a:pPr marL="688975" lvl="1" indent="-225425" eaLnBrk="1" hangingPunct="1"/>
            <a:r>
              <a:rPr lang="en-US" altLang="en-US"/>
              <a:t>Incorrectly configured discard routes</a:t>
            </a:r>
          </a:p>
          <a:p>
            <a:pPr eaLnBrk="1" hangingPunct="1"/>
            <a:r>
              <a:rPr lang="en-US" altLang="en-US" b="1"/>
              <a:t>How routing loops can impact network performance includes:</a:t>
            </a:r>
          </a:p>
          <a:p>
            <a:pPr marL="688975" lvl="1" indent="-225425" eaLnBrk="1" hangingPunct="1"/>
            <a:r>
              <a:rPr lang="en-US" altLang="en-US"/>
              <a:t>Excess use of bandwidth</a:t>
            </a:r>
          </a:p>
          <a:p>
            <a:pPr marL="688975" lvl="1" indent="-225425" eaLnBrk="1" hangingPunct="1"/>
            <a:r>
              <a:rPr lang="en-US" altLang="en-US"/>
              <a:t>CPU resources may be strained</a:t>
            </a:r>
          </a:p>
          <a:p>
            <a:pPr marL="688975" lvl="1" indent="-225425" eaLnBrk="1" hangingPunct="1"/>
            <a:r>
              <a:rPr lang="en-US" altLang="en-US"/>
              <a:t>Network convergence is degraded</a:t>
            </a:r>
          </a:p>
          <a:p>
            <a:pPr marL="688975" lvl="1" indent="-225425" eaLnBrk="1" hangingPunct="1"/>
            <a:r>
              <a:rPr lang="en-US" altLang="en-US"/>
              <a:t>Routing updates may be lost or not processed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963271CF-0C02-BCC2-25C1-DA3EA4C5A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439B1C31-3CCC-1761-AF8B-FDA32D2E6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1400175"/>
            <a:ext cx="7940675" cy="4168775"/>
          </a:xfrm>
        </p:spPr>
        <p:txBody>
          <a:bodyPr/>
          <a:lstStyle/>
          <a:p>
            <a:pPr eaLnBrk="1" hangingPunct="1"/>
            <a:r>
              <a:rPr lang="en-US" altLang="en-US" b="1"/>
              <a:t>Routing Information Protocol (RIP)</a:t>
            </a:r>
          </a:p>
          <a:p>
            <a:pPr marL="688975" lvl="1" indent="-225425" eaLnBrk="1" hangingPunct="1"/>
            <a:r>
              <a:rPr lang="en-US" altLang="en-US"/>
              <a:t>A distance vector protocol that has 2 versions</a:t>
            </a:r>
          </a:p>
          <a:p>
            <a:pPr marL="1139825" lvl="2" indent="-225425" eaLnBrk="1" hangingPunct="1"/>
            <a:r>
              <a:rPr lang="en-US" altLang="en-US"/>
              <a:t>RIPv1 - a classful routing protocol</a:t>
            </a:r>
          </a:p>
          <a:p>
            <a:pPr marL="1139825" lvl="2" indent="-225425" eaLnBrk="1" hangingPunct="1"/>
            <a:r>
              <a:rPr lang="en-US" altLang="en-US"/>
              <a:t>RIPv2 - a classless routing protocol</a:t>
            </a:r>
          </a:p>
          <a:p>
            <a:pPr eaLnBrk="1" hangingPunct="1"/>
            <a:r>
              <a:rPr lang="en-US" altLang="en-US" b="1"/>
              <a:t>Enhanced Interior Gateway Routing Protocol (EIGRP)</a:t>
            </a:r>
          </a:p>
          <a:p>
            <a:pPr marL="688975" lvl="1" indent="-225425" eaLnBrk="1" hangingPunct="1"/>
            <a:r>
              <a:rPr lang="en-US" altLang="en-US"/>
              <a:t>A distance vector routing protocols that has some features of link state routing protocols</a:t>
            </a:r>
          </a:p>
          <a:p>
            <a:pPr marL="688975" lvl="1" indent="-225425" eaLnBrk="1" hangingPunct="1"/>
            <a:r>
              <a:rPr lang="en-US" altLang="en-US"/>
              <a:t>A Cisco proprietary routing protocol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1" name="Group 2">
            <a:extLst>
              <a:ext uri="{FF2B5EF4-FFF2-40B4-BE49-F238E27FC236}">
                <a16:creationId xmlns:a16="http://schemas.microsoft.com/office/drawing/2014/main" id="{B662942F-DAE8-6629-59BB-274F211C2A7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4383088"/>
            <a:chOff x="0" y="0"/>
            <a:chExt cx="5760" cy="2761"/>
          </a:xfrm>
        </p:grpSpPr>
        <p:grpSp>
          <p:nvGrpSpPr>
            <p:cNvPr id="66562" name="Group 3">
              <a:extLst>
                <a:ext uri="{FF2B5EF4-FFF2-40B4-BE49-F238E27FC236}">
                  <a16:creationId xmlns:a16="http://schemas.microsoft.com/office/drawing/2014/main" id="{B8737870-62FB-4F08-AADD-017BC2F46B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1485"/>
              <a:ext cx="2400" cy="1276"/>
              <a:chOff x="3272" y="1316"/>
              <a:chExt cx="1889" cy="1002"/>
            </a:xfrm>
          </p:grpSpPr>
          <p:sp>
            <p:nvSpPr>
              <p:cNvPr id="66564" name="AutoShape 4">
                <a:extLst>
                  <a:ext uri="{FF2B5EF4-FFF2-40B4-BE49-F238E27FC236}">
                    <a16:creationId xmlns:a16="http://schemas.microsoft.com/office/drawing/2014/main" id="{494AFFCA-92D3-6769-0A82-96A08A8D2CC6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272" y="1316"/>
                <a:ext cx="1889" cy="10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65" name="Rectangle 5">
                <a:extLst>
                  <a:ext uri="{FF2B5EF4-FFF2-40B4-BE49-F238E27FC236}">
                    <a16:creationId xmlns:a16="http://schemas.microsoft.com/office/drawing/2014/main" id="{149F1781-16B2-036A-DAA1-35594E849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1980"/>
                <a:ext cx="86" cy="325"/>
              </a:xfrm>
              <a:prstGeom prst="rect">
                <a:avLst/>
              </a:pr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lnSpc>
                    <a:spcPct val="90000"/>
                  </a:lnSpc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ctr">
                  <a:lnSpc>
                    <a:spcPct val="90000"/>
                  </a:lnSpc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ctr">
                  <a:lnSpc>
                    <a:spcPct val="90000"/>
                  </a:lnSpc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ctr">
                  <a:lnSpc>
                    <a:spcPct val="90000"/>
                  </a:lnSpc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ctr">
                  <a:lnSpc>
                    <a:spcPct val="90000"/>
                  </a:lnSpc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6566" name="Freeform 6">
                <a:extLst>
                  <a:ext uri="{FF2B5EF4-FFF2-40B4-BE49-F238E27FC236}">
                    <a16:creationId xmlns:a16="http://schemas.microsoft.com/office/drawing/2014/main" id="{3748217E-C200-86B2-3343-DCC48D9B9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1971"/>
                <a:ext cx="249" cy="343"/>
              </a:xfrm>
              <a:custGeom>
                <a:avLst/>
                <a:gdLst>
                  <a:gd name="T0" fmla="*/ 19701 w 58"/>
                  <a:gd name="T1" fmla="*/ 8125 h 80"/>
                  <a:gd name="T2" fmla="*/ 14249 w 58"/>
                  <a:gd name="T3" fmla="*/ 6783 h 80"/>
                  <a:gd name="T4" fmla="*/ 7114 w 58"/>
                  <a:gd name="T5" fmla="*/ 13548 h 80"/>
                  <a:gd name="T6" fmla="*/ 14249 w 58"/>
                  <a:gd name="T7" fmla="*/ 20258 h 80"/>
                  <a:gd name="T8" fmla="*/ 19701 w 58"/>
                  <a:gd name="T9" fmla="*/ 18916 h 80"/>
                  <a:gd name="T10" fmla="*/ 19701 w 58"/>
                  <a:gd name="T11" fmla="*/ 26012 h 80"/>
                  <a:gd name="T12" fmla="*/ 13935 w 58"/>
                  <a:gd name="T13" fmla="*/ 27041 h 80"/>
                  <a:gd name="T14" fmla="*/ 0 w 58"/>
                  <a:gd name="T15" fmla="*/ 13548 h 80"/>
                  <a:gd name="T16" fmla="*/ 13935 w 58"/>
                  <a:gd name="T17" fmla="*/ 0 h 80"/>
                  <a:gd name="T18" fmla="*/ 19701 w 58"/>
                  <a:gd name="T19" fmla="*/ 1029 h 80"/>
                  <a:gd name="T20" fmla="*/ 19701 w 58"/>
                  <a:gd name="T21" fmla="*/ 8125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"/>
                  <a:gd name="T34" fmla="*/ 0 h 80"/>
                  <a:gd name="T35" fmla="*/ 58 w 58"/>
                  <a:gd name="T36" fmla="*/ 80 h 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" h="80">
                    <a:moveTo>
                      <a:pt x="58" y="24"/>
                    </a:moveTo>
                    <a:cubicBezTo>
                      <a:pt x="58" y="23"/>
                      <a:pt x="51" y="20"/>
                      <a:pt x="42" y="20"/>
                    </a:cubicBezTo>
                    <a:cubicBezTo>
                      <a:pt x="30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1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1" y="0"/>
                    </a:cubicBezTo>
                    <a:cubicBezTo>
                      <a:pt x="50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67" name="Freeform 7">
                <a:extLst>
                  <a:ext uri="{FF2B5EF4-FFF2-40B4-BE49-F238E27FC236}">
                    <a16:creationId xmlns:a16="http://schemas.microsoft.com/office/drawing/2014/main" id="{D8B217BF-3814-14F5-4AD4-4D88AD9E2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1971"/>
                <a:ext cx="249" cy="343"/>
              </a:xfrm>
              <a:custGeom>
                <a:avLst/>
                <a:gdLst>
                  <a:gd name="T0" fmla="*/ 19701 w 58"/>
                  <a:gd name="T1" fmla="*/ 8125 h 80"/>
                  <a:gd name="T2" fmla="*/ 14249 w 58"/>
                  <a:gd name="T3" fmla="*/ 6783 h 80"/>
                  <a:gd name="T4" fmla="*/ 7114 w 58"/>
                  <a:gd name="T5" fmla="*/ 13548 h 80"/>
                  <a:gd name="T6" fmla="*/ 14249 w 58"/>
                  <a:gd name="T7" fmla="*/ 20258 h 80"/>
                  <a:gd name="T8" fmla="*/ 19701 w 58"/>
                  <a:gd name="T9" fmla="*/ 18916 h 80"/>
                  <a:gd name="T10" fmla="*/ 19701 w 58"/>
                  <a:gd name="T11" fmla="*/ 26012 h 80"/>
                  <a:gd name="T12" fmla="*/ 13601 w 58"/>
                  <a:gd name="T13" fmla="*/ 27041 h 80"/>
                  <a:gd name="T14" fmla="*/ 0 w 58"/>
                  <a:gd name="T15" fmla="*/ 13548 h 80"/>
                  <a:gd name="T16" fmla="*/ 13601 w 58"/>
                  <a:gd name="T17" fmla="*/ 0 h 80"/>
                  <a:gd name="T18" fmla="*/ 19701 w 58"/>
                  <a:gd name="T19" fmla="*/ 1029 h 80"/>
                  <a:gd name="T20" fmla="*/ 19701 w 58"/>
                  <a:gd name="T21" fmla="*/ 8125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"/>
                  <a:gd name="T34" fmla="*/ 0 h 80"/>
                  <a:gd name="T35" fmla="*/ 58 w 58"/>
                  <a:gd name="T36" fmla="*/ 80 h 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" h="80">
                    <a:moveTo>
                      <a:pt x="58" y="24"/>
                    </a:moveTo>
                    <a:cubicBezTo>
                      <a:pt x="57" y="23"/>
                      <a:pt x="51" y="20"/>
                      <a:pt x="42" y="20"/>
                    </a:cubicBezTo>
                    <a:cubicBezTo>
                      <a:pt x="29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0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0" y="0"/>
                    </a:cubicBezTo>
                    <a:cubicBezTo>
                      <a:pt x="49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68" name="Freeform 8">
                <a:extLst>
                  <a:ext uri="{FF2B5EF4-FFF2-40B4-BE49-F238E27FC236}">
                    <a16:creationId xmlns:a16="http://schemas.microsoft.com/office/drawing/2014/main" id="{D7B3C1CE-C3E9-959A-AB75-D499E48769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43" y="1971"/>
                <a:ext cx="342" cy="343"/>
              </a:xfrm>
              <a:custGeom>
                <a:avLst/>
                <a:gdLst>
                  <a:gd name="T0" fmla="*/ 26719 w 80"/>
                  <a:gd name="T1" fmla="*/ 13548 h 80"/>
                  <a:gd name="T2" fmla="*/ 13359 w 80"/>
                  <a:gd name="T3" fmla="*/ 27041 h 80"/>
                  <a:gd name="T4" fmla="*/ 0 w 80"/>
                  <a:gd name="T5" fmla="*/ 13548 h 80"/>
                  <a:gd name="T6" fmla="*/ 13359 w 80"/>
                  <a:gd name="T7" fmla="*/ 0 h 80"/>
                  <a:gd name="T8" fmla="*/ 26719 w 80"/>
                  <a:gd name="T9" fmla="*/ 13548 h 80"/>
                  <a:gd name="T10" fmla="*/ 13359 w 80"/>
                  <a:gd name="T11" fmla="*/ 6783 h 80"/>
                  <a:gd name="T12" fmla="*/ 6725 w 80"/>
                  <a:gd name="T13" fmla="*/ 13548 h 80"/>
                  <a:gd name="T14" fmla="*/ 13359 w 80"/>
                  <a:gd name="T15" fmla="*/ 20258 h 80"/>
                  <a:gd name="T16" fmla="*/ 19994 w 80"/>
                  <a:gd name="T17" fmla="*/ 13548 h 80"/>
                  <a:gd name="T18" fmla="*/ 13359 w 80"/>
                  <a:gd name="T19" fmla="*/ 6783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80"/>
                  <a:gd name="T32" fmla="*/ 80 w 80"/>
                  <a:gd name="T33" fmla="*/ 80 h 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80">
                    <a:moveTo>
                      <a:pt x="80" y="40"/>
                    </a:moveTo>
                    <a:cubicBezTo>
                      <a:pt x="80" y="62"/>
                      <a:pt x="64" y="80"/>
                      <a:pt x="40" y="80"/>
                    </a:cubicBezTo>
                    <a:cubicBezTo>
                      <a:pt x="16" y="80"/>
                      <a:pt x="0" y="62"/>
                      <a:pt x="0" y="40"/>
                    </a:cubicBezTo>
                    <a:cubicBezTo>
                      <a:pt x="0" y="18"/>
                      <a:pt x="16" y="0"/>
                      <a:pt x="40" y="0"/>
                    </a:cubicBezTo>
                    <a:cubicBezTo>
                      <a:pt x="64" y="0"/>
                      <a:pt x="80" y="18"/>
                      <a:pt x="80" y="40"/>
                    </a:cubicBezTo>
                    <a:moveTo>
                      <a:pt x="40" y="20"/>
                    </a:moveTo>
                    <a:cubicBezTo>
                      <a:pt x="29" y="20"/>
                      <a:pt x="20" y="29"/>
                      <a:pt x="20" y="40"/>
                    </a:cubicBezTo>
                    <a:cubicBezTo>
                      <a:pt x="20" y="51"/>
                      <a:pt x="29" y="60"/>
                      <a:pt x="40" y="60"/>
                    </a:cubicBezTo>
                    <a:cubicBezTo>
                      <a:pt x="51" y="60"/>
                      <a:pt x="60" y="51"/>
                      <a:pt x="60" y="40"/>
                    </a:cubicBezTo>
                    <a:cubicBezTo>
                      <a:pt x="60" y="29"/>
                      <a:pt x="51" y="20"/>
                      <a:pt x="40" y="20"/>
                    </a:cubicBezTo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69" name="Freeform 9">
                <a:extLst>
                  <a:ext uri="{FF2B5EF4-FFF2-40B4-BE49-F238E27FC236}">
                    <a16:creationId xmlns:a16="http://schemas.microsoft.com/office/drawing/2014/main" id="{D9A466C3-11F9-1554-263E-ECBF23EE2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0" y="1971"/>
                <a:ext cx="223" cy="343"/>
              </a:xfrm>
              <a:custGeom>
                <a:avLst/>
                <a:gdLst>
                  <a:gd name="T0" fmla="*/ 15927 w 52"/>
                  <a:gd name="T1" fmla="*/ 6380 h 80"/>
                  <a:gd name="T2" fmla="*/ 10816 w 52"/>
                  <a:gd name="T3" fmla="*/ 5754 h 80"/>
                  <a:gd name="T4" fmla="*/ 6784 w 52"/>
                  <a:gd name="T5" fmla="*/ 7795 h 80"/>
                  <a:gd name="T6" fmla="*/ 9782 w 52"/>
                  <a:gd name="T7" fmla="*/ 10166 h 80"/>
                  <a:gd name="T8" fmla="*/ 11515 w 52"/>
                  <a:gd name="T9" fmla="*/ 10792 h 80"/>
                  <a:gd name="T10" fmla="*/ 17583 w 52"/>
                  <a:gd name="T11" fmla="*/ 18290 h 80"/>
                  <a:gd name="T12" fmla="*/ 7097 w 52"/>
                  <a:gd name="T13" fmla="*/ 27041 h 80"/>
                  <a:gd name="T14" fmla="*/ 0 w 52"/>
                  <a:gd name="T15" fmla="*/ 26012 h 80"/>
                  <a:gd name="T16" fmla="*/ 0 w 52"/>
                  <a:gd name="T17" fmla="*/ 20258 h 80"/>
                  <a:gd name="T18" fmla="*/ 6068 w 52"/>
                  <a:gd name="T19" fmla="*/ 21287 h 80"/>
                  <a:gd name="T20" fmla="*/ 10816 w 52"/>
                  <a:gd name="T21" fmla="*/ 18916 h 80"/>
                  <a:gd name="T22" fmla="*/ 7818 w 52"/>
                  <a:gd name="T23" fmla="*/ 16232 h 80"/>
                  <a:gd name="T24" fmla="*/ 6381 w 52"/>
                  <a:gd name="T25" fmla="*/ 15919 h 80"/>
                  <a:gd name="T26" fmla="*/ 0 w 52"/>
                  <a:gd name="T27" fmla="*/ 8125 h 80"/>
                  <a:gd name="T28" fmla="*/ 9473 w 52"/>
                  <a:gd name="T29" fmla="*/ 0 h 80"/>
                  <a:gd name="T30" fmla="*/ 15927 w 52"/>
                  <a:gd name="T31" fmla="*/ 1029 h 80"/>
                  <a:gd name="T32" fmla="*/ 15927 w 52"/>
                  <a:gd name="T33" fmla="*/ 6380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2"/>
                  <a:gd name="T52" fmla="*/ 0 h 80"/>
                  <a:gd name="T53" fmla="*/ 52 w 52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2" h="80">
                    <a:moveTo>
                      <a:pt x="47" y="19"/>
                    </a:moveTo>
                    <a:cubicBezTo>
                      <a:pt x="47" y="19"/>
                      <a:pt x="38" y="17"/>
                      <a:pt x="32" y="17"/>
                    </a:cubicBezTo>
                    <a:cubicBezTo>
                      <a:pt x="24" y="17"/>
                      <a:pt x="20" y="19"/>
                      <a:pt x="20" y="23"/>
                    </a:cubicBezTo>
                    <a:cubicBezTo>
                      <a:pt x="20" y="28"/>
                      <a:pt x="26" y="29"/>
                      <a:pt x="29" y="30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7" y="36"/>
                      <a:pt x="52" y="45"/>
                      <a:pt x="52" y="54"/>
                    </a:cubicBezTo>
                    <a:cubicBezTo>
                      <a:pt x="52" y="73"/>
                      <a:pt x="35" y="80"/>
                      <a:pt x="21" y="80"/>
                    </a:cubicBezTo>
                    <a:cubicBezTo>
                      <a:pt x="10" y="80"/>
                      <a:pt x="1" y="78"/>
                      <a:pt x="0" y="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2" y="60"/>
                      <a:pt x="10" y="63"/>
                      <a:pt x="18" y="63"/>
                    </a:cubicBezTo>
                    <a:cubicBezTo>
                      <a:pt x="28" y="63"/>
                      <a:pt x="32" y="60"/>
                      <a:pt x="32" y="56"/>
                    </a:cubicBezTo>
                    <a:cubicBezTo>
                      <a:pt x="32" y="52"/>
                      <a:pt x="28" y="49"/>
                      <a:pt x="23" y="48"/>
                    </a:cubicBezTo>
                    <a:cubicBezTo>
                      <a:pt x="22" y="48"/>
                      <a:pt x="21" y="47"/>
                      <a:pt x="19" y="47"/>
                    </a:cubicBezTo>
                    <a:cubicBezTo>
                      <a:pt x="9" y="43"/>
                      <a:pt x="0" y="37"/>
                      <a:pt x="0" y="24"/>
                    </a:cubicBezTo>
                    <a:cubicBezTo>
                      <a:pt x="0" y="10"/>
                      <a:pt x="10" y="0"/>
                      <a:pt x="28" y="0"/>
                    </a:cubicBezTo>
                    <a:cubicBezTo>
                      <a:pt x="37" y="0"/>
                      <a:pt x="46" y="3"/>
                      <a:pt x="47" y="3"/>
                    </a:cubicBezTo>
                    <a:lnTo>
                      <a:pt x="47" y="19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0" name="Freeform 10">
                <a:extLst>
                  <a:ext uri="{FF2B5EF4-FFF2-40B4-BE49-F238E27FC236}">
                    <a16:creationId xmlns:a16="http://schemas.microsoft.com/office/drawing/2014/main" id="{F7F4A4BF-2423-09D8-EE6B-168F91564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1586"/>
                <a:ext cx="81" cy="167"/>
              </a:xfrm>
              <a:custGeom>
                <a:avLst/>
                <a:gdLst>
                  <a:gd name="T0" fmla="*/ 6271 w 19"/>
                  <a:gd name="T1" fmla="*/ 3374 h 39"/>
                  <a:gd name="T2" fmla="*/ 3325 w 19"/>
                  <a:gd name="T3" fmla="*/ 0 h 39"/>
                  <a:gd name="T4" fmla="*/ 0 w 19"/>
                  <a:gd name="T5" fmla="*/ 3374 h 39"/>
                  <a:gd name="T6" fmla="*/ 0 w 19"/>
                  <a:gd name="T7" fmla="*/ 10050 h 39"/>
                  <a:gd name="T8" fmla="*/ 3325 w 19"/>
                  <a:gd name="T9" fmla="*/ 13112 h 39"/>
                  <a:gd name="T10" fmla="*/ 6271 w 19"/>
                  <a:gd name="T11" fmla="*/ 10050 h 39"/>
                  <a:gd name="T12" fmla="*/ 6271 w 19"/>
                  <a:gd name="T13" fmla="*/ 3374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9"/>
                  <a:gd name="T23" fmla="*/ 19 w 19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10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1" name="Freeform 11">
                <a:extLst>
                  <a:ext uri="{FF2B5EF4-FFF2-40B4-BE49-F238E27FC236}">
                    <a16:creationId xmlns:a16="http://schemas.microsoft.com/office/drawing/2014/main" id="{66558F4F-8922-DBA2-2399-D0608A5BC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1474"/>
                <a:ext cx="81" cy="279"/>
              </a:xfrm>
              <a:custGeom>
                <a:avLst/>
                <a:gdLst>
                  <a:gd name="T0" fmla="*/ 6271 w 19"/>
                  <a:gd name="T1" fmla="*/ 3078 h 65"/>
                  <a:gd name="T2" fmla="*/ 2946 w 19"/>
                  <a:gd name="T3" fmla="*/ 0 h 65"/>
                  <a:gd name="T4" fmla="*/ 0 w 19"/>
                  <a:gd name="T5" fmla="*/ 3078 h 65"/>
                  <a:gd name="T6" fmla="*/ 0 w 19"/>
                  <a:gd name="T7" fmla="*/ 18976 h 65"/>
                  <a:gd name="T8" fmla="*/ 2946 w 19"/>
                  <a:gd name="T9" fmla="*/ 22071 h 65"/>
                  <a:gd name="T10" fmla="*/ 6271 w 19"/>
                  <a:gd name="T11" fmla="*/ 18976 h 65"/>
                  <a:gd name="T12" fmla="*/ 6271 w 19"/>
                  <a:gd name="T13" fmla="*/ 3078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4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2" name="Freeform 12">
                <a:extLst>
                  <a:ext uri="{FF2B5EF4-FFF2-40B4-BE49-F238E27FC236}">
                    <a16:creationId xmlns:a16="http://schemas.microsoft.com/office/drawing/2014/main" id="{825DE583-8BCC-81C5-0B53-14BB23B27F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320"/>
                <a:ext cx="81" cy="514"/>
              </a:xfrm>
              <a:custGeom>
                <a:avLst/>
                <a:gdLst>
                  <a:gd name="T0" fmla="*/ 6271 w 19"/>
                  <a:gd name="T1" fmla="*/ 3063 h 120"/>
                  <a:gd name="T2" fmla="*/ 3325 w 19"/>
                  <a:gd name="T3" fmla="*/ 0 h 120"/>
                  <a:gd name="T4" fmla="*/ 0 w 19"/>
                  <a:gd name="T5" fmla="*/ 3063 h 120"/>
                  <a:gd name="T6" fmla="*/ 0 w 19"/>
                  <a:gd name="T7" fmla="*/ 37338 h 120"/>
                  <a:gd name="T8" fmla="*/ 3325 w 19"/>
                  <a:gd name="T9" fmla="*/ 40400 h 120"/>
                  <a:gd name="T10" fmla="*/ 6271 w 19"/>
                  <a:gd name="T11" fmla="*/ 37338 h 120"/>
                  <a:gd name="T12" fmla="*/ 6271 w 19"/>
                  <a:gd name="T13" fmla="*/ 3063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20"/>
                  <a:gd name="T23" fmla="*/ 19 w 19"/>
                  <a:gd name="T24" fmla="*/ 120 h 1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5" y="120"/>
                      <a:pt x="10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3" name="Freeform 13">
                <a:extLst>
                  <a:ext uri="{FF2B5EF4-FFF2-40B4-BE49-F238E27FC236}">
                    <a16:creationId xmlns:a16="http://schemas.microsoft.com/office/drawing/2014/main" id="{04432F4C-5990-B2C0-2AFE-63A1AE67F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1474"/>
                <a:ext cx="81" cy="279"/>
              </a:xfrm>
              <a:custGeom>
                <a:avLst/>
                <a:gdLst>
                  <a:gd name="T0" fmla="*/ 6271 w 19"/>
                  <a:gd name="T1" fmla="*/ 3078 h 65"/>
                  <a:gd name="T2" fmla="*/ 2946 w 19"/>
                  <a:gd name="T3" fmla="*/ 0 h 65"/>
                  <a:gd name="T4" fmla="*/ 0 w 19"/>
                  <a:gd name="T5" fmla="*/ 3078 h 65"/>
                  <a:gd name="T6" fmla="*/ 0 w 19"/>
                  <a:gd name="T7" fmla="*/ 18976 h 65"/>
                  <a:gd name="T8" fmla="*/ 2946 w 19"/>
                  <a:gd name="T9" fmla="*/ 22071 h 65"/>
                  <a:gd name="T10" fmla="*/ 6271 w 19"/>
                  <a:gd name="T11" fmla="*/ 18976 h 65"/>
                  <a:gd name="T12" fmla="*/ 6271 w 19"/>
                  <a:gd name="T13" fmla="*/ 3078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4" name="Freeform 14">
                <a:extLst>
                  <a:ext uri="{FF2B5EF4-FFF2-40B4-BE49-F238E27FC236}">
                    <a16:creationId xmlns:a16="http://schemas.microsoft.com/office/drawing/2014/main" id="{1C574753-6FC6-F7A8-F14F-42E503266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586"/>
                <a:ext cx="86" cy="167"/>
              </a:xfrm>
              <a:custGeom>
                <a:avLst/>
                <a:gdLst>
                  <a:gd name="T0" fmla="*/ 6841 w 20"/>
                  <a:gd name="T1" fmla="*/ 3374 h 39"/>
                  <a:gd name="T2" fmla="*/ 3419 w 20"/>
                  <a:gd name="T3" fmla="*/ 0 h 39"/>
                  <a:gd name="T4" fmla="*/ 0 w 20"/>
                  <a:gd name="T5" fmla="*/ 3374 h 39"/>
                  <a:gd name="T6" fmla="*/ 0 w 20"/>
                  <a:gd name="T7" fmla="*/ 10050 h 39"/>
                  <a:gd name="T8" fmla="*/ 3419 w 20"/>
                  <a:gd name="T9" fmla="*/ 13112 h 39"/>
                  <a:gd name="T10" fmla="*/ 6841 w 20"/>
                  <a:gd name="T11" fmla="*/ 10050 h 39"/>
                  <a:gd name="T12" fmla="*/ 6841 w 20"/>
                  <a:gd name="T13" fmla="*/ 3374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39"/>
                  <a:gd name="T23" fmla="*/ 20 w 20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39">
                    <a:moveTo>
                      <a:pt x="20" y="10"/>
                    </a:moveTo>
                    <a:cubicBezTo>
                      <a:pt x="20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5" y="39"/>
                      <a:pt x="10" y="39"/>
                    </a:cubicBezTo>
                    <a:cubicBezTo>
                      <a:pt x="15" y="39"/>
                      <a:pt x="20" y="35"/>
                      <a:pt x="20" y="30"/>
                    </a:cubicBezTo>
                    <a:lnTo>
                      <a:pt x="20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5" name="Freeform 15">
                <a:extLst>
                  <a:ext uri="{FF2B5EF4-FFF2-40B4-BE49-F238E27FC236}">
                    <a16:creationId xmlns:a16="http://schemas.microsoft.com/office/drawing/2014/main" id="{61C5D56A-F119-809E-98D9-FB7CC46C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1474"/>
                <a:ext cx="82" cy="279"/>
              </a:xfrm>
              <a:custGeom>
                <a:avLst/>
                <a:gdLst>
                  <a:gd name="T0" fmla="*/ 6595 w 19"/>
                  <a:gd name="T1" fmla="*/ 3078 h 65"/>
                  <a:gd name="T2" fmla="*/ 3466 w 19"/>
                  <a:gd name="T3" fmla="*/ 0 h 65"/>
                  <a:gd name="T4" fmla="*/ 0 w 19"/>
                  <a:gd name="T5" fmla="*/ 3078 h 65"/>
                  <a:gd name="T6" fmla="*/ 0 w 19"/>
                  <a:gd name="T7" fmla="*/ 18976 h 65"/>
                  <a:gd name="T8" fmla="*/ 3466 w 19"/>
                  <a:gd name="T9" fmla="*/ 22071 h 65"/>
                  <a:gd name="T10" fmla="*/ 6595 w 19"/>
                  <a:gd name="T11" fmla="*/ 18976 h 65"/>
                  <a:gd name="T12" fmla="*/ 6595 w 19"/>
                  <a:gd name="T13" fmla="*/ 3078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6" name="Freeform 16">
                <a:extLst>
                  <a:ext uri="{FF2B5EF4-FFF2-40B4-BE49-F238E27FC236}">
                    <a16:creationId xmlns:a16="http://schemas.microsoft.com/office/drawing/2014/main" id="{B13C79C9-C39F-2850-543E-58831EC64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5" y="1320"/>
                <a:ext cx="82" cy="514"/>
              </a:xfrm>
              <a:custGeom>
                <a:avLst/>
                <a:gdLst>
                  <a:gd name="T0" fmla="*/ 6595 w 19"/>
                  <a:gd name="T1" fmla="*/ 3063 h 120"/>
                  <a:gd name="T2" fmla="*/ 3129 w 19"/>
                  <a:gd name="T3" fmla="*/ 0 h 120"/>
                  <a:gd name="T4" fmla="*/ 0 w 19"/>
                  <a:gd name="T5" fmla="*/ 3063 h 120"/>
                  <a:gd name="T6" fmla="*/ 0 w 19"/>
                  <a:gd name="T7" fmla="*/ 37338 h 120"/>
                  <a:gd name="T8" fmla="*/ 3129 w 19"/>
                  <a:gd name="T9" fmla="*/ 40400 h 120"/>
                  <a:gd name="T10" fmla="*/ 6595 w 19"/>
                  <a:gd name="T11" fmla="*/ 37338 h 120"/>
                  <a:gd name="T12" fmla="*/ 6595 w 19"/>
                  <a:gd name="T13" fmla="*/ 3063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20"/>
                  <a:gd name="T23" fmla="*/ 19 w 19"/>
                  <a:gd name="T24" fmla="*/ 120 h 1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4" y="120"/>
                      <a:pt x="9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7" name="Freeform 17">
                <a:extLst>
                  <a:ext uri="{FF2B5EF4-FFF2-40B4-BE49-F238E27FC236}">
                    <a16:creationId xmlns:a16="http://schemas.microsoft.com/office/drawing/2014/main" id="{1064D2FC-2C11-5F50-1616-93EDAA2A6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1474"/>
                <a:ext cx="82" cy="279"/>
              </a:xfrm>
              <a:custGeom>
                <a:avLst/>
                <a:gdLst>
                  <a:gd name="T0" fmla="*/ 6595 w 19"/>
                  <a:gd name="T1" fmla="*/ 3078 h 65"/>
                  <a:gd name="T2" fmla="*/ 3466 w 19"/>
                  <a:gd name="T3" fmla="*/ 0 h 65"/>
                  <a:gd name="T4" fmla="*/ 0 w 19"/>
                  <a:gd name="T5" fmla="*/ 3078 h 65"/>
                  <a:gd name="T6" fmla="*/ 0 w 19"/>
                  <a:gd name="T7" fmla="*/ 18976 h 65"/>
                  <a:gd name="T8" fmla="*/ 3466 w 19"/>
                  <a:gd name="T9" fmla="*/ 22071 h 65"/>
                  <a:gd name="T10" fmla="*/ 6595 w 19"/>
                  <a:gd name="T11" fmla="*/ 18976 h 65"/>
                  <a:gd name="T12" fmla="*/ 6595 w 19"/>
                  <a:gd name="T13" fmla="*/ 3078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5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8" name="Freeform 18">
                <a:extLst>
                  <a:ext uri="{FF2B5EF4-FFF2-40B4-BE49-F238E27FC236}">
                    <a16:creationId xmlns:a16="http://schemas.microsoft.com/office/drawing/2014/main" id="{9A51D015-D962-849E-B7D4-2BCE53ECF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5" y="1586"/>
                <a:ext cx="82" cy="167"/>
              </a:xfrm>
              <a:custGeom>
                <a:avLst/>
                <a:gdLst>
                  <a:gd name="T0" fmla="*/ 6595 w 19"/>
                  <a:gd name="T1" fmla="*/ 3374 h 39"/>
                  <a:gd name="T2" fmla="*/ 3129 w 19"/>
                  <a:gd name="T3" fmla="*/ 0 h 39"/>
                  <a:gd name="T4" fmla="*/ 0 w 19"/>
                  <a:gd name="T5" fmla="*/ 3374 h 39"/>
                  <a:gd name="T6" fmla="*/ 0 w 19"/>
                  <a:gd name="T7" fmla="*/ 10050 h 39"/>
                  <a:gd name="T8" fmla="*/ 3129 w 19"/>
                  <a:gd name="T9" fmla="*/ 13112 h 39"/>
                  <a:gd name="T10" fmla="*/ 6595 w 19"/>
                  <a:gd name="T11" fmla="*/ 10050 h 39"/>
                  <a:gd name="T12" fmla="*/ 6595 w 19"/>
                  <a:gd name="T13" fmla="*/ 3374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9"/>
                  <a:gd name="T23" fmla="*/ 19 w 19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9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6563" name="Rectangle 19">
              <a:extLst>
                <a:ext uri="{FF2B5EF4-FFF2-40B4-BE49-F238E27FC236}">
                  <a16:creationId xmlns:a16="http://schemas.microsoft.com/office/drawing/2014/main" id="{CA335DF0-D1D9-B2F8-A4C6-D3B078288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124" tIns="41061" rIns="82124" bIns="41061" anchor="ctr"/>
            <a:lstStyle>
              <a:lvl1pPr algn="ctr">
                <a:lnSpc>
                  <a:spcPct val="90000"/>
                </a:lnSpc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lnSpc>
                  <a:spcPct val="90000"/>
                </a:lnSpc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lnSpc>
                  <a:spcPct val="90000"/>
                </a:lnSpc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lnSpc>
                  <a:spcPct val="90000"/>
                </a:lnSpc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lnSpc>
                  <a:spcPct val="90000"/>
                </a:lnSpc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Ciscopresentationwhite.10.3.06</Template>
  <TotalTime>533</TotalTime>
  <Pages>28</Pages>
  <Words>1177</Words>
  <Application>Microsoft Office PowerPoint</Application>
  <PresentationFormat>On-screen Show (4:3)</PresentationFormat>
  <Paragraphs>210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  <vt:variant>
        <vt:lpstr>Custom Shows</vt:lpstr>
      </vt:variant>
      <vt:variant>
        <vt:i4>1</vt:i4>
      </vt:variant>
    </vt:vector>
  </HeadingPairs>
  <TitlesOfParts>
    <vt:vector size="35" baseType="lpstr">
      <vt:lpstr>Arial</vt:lpstr>
      <vt:lpstr>Wingdings</vt:lpstr>
      <vt:lpstr>PPT-TMPLT-WHT_C</vt:lpstr>
      <vt:lpstr>Routing Protocols and Concepts  </vt:lpstr>
      <vt:lpstr>Objectives</vt:lpstr>
      <vt:lpstr>Distance Vector Routing Protocols</vt:lpstr>
      <vt:lpstr>Distance Vector Routing Protocols</vt:lpstr>
      <vt:lpstr>Distance Vector Routing Protocols</vt:lpstr>
      <vt:lpstr>Distance Vector Routing Protocols</vt:lpstr>
      <vt:lpstr>Distance Vector Routing Protocols</vt:lpstr>
      <vt:lpstr>Network Discovery</vt:lpstr>
      <vt:lpstr>Network Discovery</vt:lpstr>
      <vt:lpstr>Network Discovery</vt:lpstr>
      <vt:lpstr>Network Discovery</vt:lpstr>
      <vt:lpstr>Routing Table Maintenance</vt:lpstr>
      <vt:lpstr>Routing Table Maintenance</vt:lpstr>
      <vt:lpstr>Routing Table Maintenance</vt:lpstr>
      <vt:lpstr>Routing Table Maintenance</vt:lpstr>
      <vt:lpstr>Routing Loops</vt:lpstr>
      <vt:lpstr>Routing Loops</vt:lpstr>
      <vt:lpstr>Routing Loops </vt:lpstr>
      <vt:lpstr>Routing Loops</vt:lpstr>
      <vt:lpstr>Routing Loops</vt:lpstr>
      <vt:lpstr>Routing Loops</vt:lpstr>
      <vt:lpstr>Routing Loops</vt:lpstr>
      <vt:lpstr>Routing Loops</vt:lpstr>
      <vt:lpstr>Routing Protocols Today</vt:lpstr>
      <vt:lpstr>Routing Protocols Today</vt:lpstr>
      <vt:lpstr>Routing Protocols Today</vt:lpstr>
      <vt:lpstr>Summary</vt:lpstr>
      <vt:lpstr>Summary</vt:lpstr>
      <vt:lpstr>Summary</vt:lpstr>
      <vt:lpstr>Summary</vt:lpstr>
      <vt:lpstr>PowerPoint Presentation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 Protocols and Concepts</dc:title>
  <dc:creator>Microsoft Office User</dc:creator>
  <cp:lastModifiedBy>Saqib Bedar</cp:lastModifiedBy>
  <cp:revision>2</cp:revision>
  <cp:lastPrinted>1999-01-27T00:54:54Z</cp:lastPrinted>
  <dcterms:created xsi:type="dcterms:W3CDTF">2018-04-04T10:26:05Z</dcterms:created>
  <dcterms:modified xsi:type="dcterms:W3CDTF">2026-04-28T06:07:00Z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Jenita Bangloy">
    <vt:lpwstr>12.21.01 - Copyright date changed to 2002</vt:lpwstr>
  </property>
  <property fmtid="{D5CDD505-2E9C-101B-9397-08002B2CF9AE}" pid="3" name="Jenita ">
    <vt:lpwstr>12.21.01 - Line tool now defaults to 3 points size and black color. Previous version created white line which is not visible</vt:lpwstr>
  </property>
  <property fmtid="{D5CDD505-2E9C-101B-9397-08002B2CF9AE}" pid="4" name="JBangloy">
    <vt:lpwstr>12.21.01 - All remaining Helvetica changed to Arial</vt:lpwstr>
  </property>
</Properties>
</file>