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2" r:id="rId1"/>
  </p:sldMasterIdLst>
  <p:notesMasterIdLst>
    <p:notesMasterId r:id="rId40"/>
  </p:notesMasterIdLst>
  <p:handoutMasterIdLst>
    <p:handoutMasterId r:id="rId41"/>
  </p:handoutMasterIdLst>
  <p:sldIdLst>
    <p:sldId id="386" r:id="rId2"/>
    <p:sldId id="414" r:id="rId3"/>
    <p:sldId id="436" r:id="rId4"/>
    <p:sldId id="454" r:id="rId5"/>
    <p:sldId id="455" r:id="rId6"/>
    <p:sldId id="479" r:id="rId7"/>
    <p:sldId id="477" r:id="rId8"/>
    <p:sldId id="478" r:id="rId9"/>
    <p:sldId id="453" r:id="rId10"/>
    <p:sldId id="465" r:id="rId11"/>
    <p:sldId id="451" r:id="rId12"/>
    <p:sldId id="466" r:id="rId13"/>
    <p:sldId id="480" r:id="rId14"/>
    <p:sldId id="481" r:id="rId15"/>
    <p:sldId id="456" r:id="rId16"/>
    <p:sldId id="452" r:id="rId17"/>
    <p:sldId id="467" r:id="rId18"/>
    <p:sldId id="469" r:id="rId19"/>
    <p:sldId id="482" r:id="rId20"/>
    <p:sldId id="464" r:id="rId21"/>
    <p:sldId id="484" r:id="rId22"/>
    <p:sldId id="470" r:id="rId23"/>
    <p:sldId id="485" r:id="rId24"/>
    <p:sldId id="486" r:id="rId25"/>
    <p:sldId id="487" r:id="rId26"/>
    <p:sldId id="488" r:id="rId27"/>
    <p:sldId id="489" r:id="rId28"/>
    <p:sldId id="471" r:id="rId29"/>
    <p:sldId id="472" r:id="rId30"/>
    <p:sldId id="490" r:id="rId31"/>
    <p:sldId id="473" r:id="rId32"/>
    <p:sldId id="491" r:id="rId33"/>
    <p:sldId id="475" r:id="rId34"/>
    <p:sldId id="476" r:id="rId35"/>
    <p:sldId id="460" r:id="rId36"/>
    <p:sldId id="462" r:id="rId37"/>
    <p:sldId id="450" r:id="rId38"/>
    <p:sldId id="413" r:id="rId39"/>
  </p:sldIdLst>
  <p:sldSz cx="9144000" cy="6858000" type="screen4x3"/>
  <p:notesSz cx="6854825" cy="90836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36">
          <p15:clr>
            <a:srgbClr val="A4A3A4"/>
          </p15:clr>
        </p15:guide>
        <p15:guide id="2" orient="horz" pos="864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61">
          <p15:clr>
            <a:srgbClr val="A4A3A4"/>
          </p15:clr>
        </p15:guide>
        <p15:guide id="2" pos="215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15" autoAdjust="0"/>
    <p:restoredTop sz="94290" autoAdjust="0"/>
  </p:normalViewPr>
  <p:slideViewPr>
    <p:cSldViewPr snapToGrid="0">
      <p:cViewPr varScale="1">
        <p:scale>
          <a:sx n="117" d="100"/>
          <a:sy n="117" d="100"/>
        </p:scale>
        <p:origin x="1302" y="84"/>
      </p:cViewPr>
      <p:guideLst>
        <p:guide orient="horz" pos="2736"/>
        <p:guide orient="horz" pos="864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-2558" y="-77"/>
      </p:cViewPr>
      <p:guideLst>
        <p:guide orient="horz" pos="2861"/>
        <p:guide pos="215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70D46320-A35B-E045-B35E-AC182940F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3" y="8764588"/>
            <a:ext cx="671036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849" tIns="49756" rIns="94849" bIns="49756">
            <a:spAutoFit/>
          </a:bodyPr>
          <a:lstStyle>
            <a:lvl1pPr algn="ctr" defTabSz="606425">
              <a:lnSpc>
                <a:spcPct val="90000"/>
              </a:lnSpc>
              <a:tabLst>
                <a:tab pos="2366963" algn="l"/>
                <a:tab pos="4789488" algn="l"/>
              </a:tabLst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algn="ctr" defTabSz="606425">
              <a:lnSpc>
                <a:spcPct val="90000"/>
              </a:lnSpc>
              <a:tabLst>
                <a:tab pos="2366963" algn="l"/>
                <a:tab pos="4789488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algn="ctr" defTabSz="606425">
              <a:lnSpc>
                <a:spcPct val="90000"/>
              </a:lnSpc>
              <a:tabLst>
                <a:tab pos="2366963" algn="l"/>
                <a:tab pos="4789488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ctr" defTabSz="606425">
              <a:lnSpc>
                <a:spcPct val="90000"/>
              </a:lnSpc>
              <a:tabLst>
                <a:tab pos="2366963" algn="l"/>
                <a:tab pos="4789488" algn="l"/>
              </a:tabLst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algn="ctr" defTabSz="606425">
              <a:lnSpc>
                <a:spcPct val="90000"/>
              </a:lnSpc>
              <a:tabLst>
                <a:tab pos="2366963" algn="l"/>
                <a:tab pos="4789488" algn="l"/>
              </a:tabLst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60642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66963" algn="l"/>
                <a:tab pos="4789488" algn="l"/>
              </a:tabLs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60642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66963" algn="l"/>
                <a:tab pos="4789488" algn="l"/>
              </a:tabLs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60642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66963" algn="l"/>
                <a:tab pos="4789488" algn="l"/>
              </a:tabLs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60642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66963" algn="l"/>
                <a:tab pos="4789488" algn="l"/>
              </a:tabLs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lnSpc>
                <a:spcPct val="100000"/>
              </a:lnSpc>
              <a:defRPr/>
            </a:pPr>
            <a:r>
              <a:rPr lang="en-US" altLang="en-US" sz="800" b="1"/>
              <a:t>Copyright © 2001, Cisco Systems, Inc. All rights reserved. Printed in USA.</a:t>
            </a:r>
            <a:br>
              <a:rPr lang="en-US" altLang="en-US" sz="800" b="1"/>
            </a:br>
            <a:r>
              <a:rPr lang="en-US" altLang="en-US" sz="800" b="1"/>
              <a:t>Presentation_ID.scr</a:t>
            </a:r>
          </a:p>
        </p:txBody>
      </p:sp>
      <p:sp>
        <p:nvSpPr>
          <p:cNvPr id="4099" name="Line 5">
            <a:extLst>
              <a:ext uri="{FF2B5EF4-FFF2-40B4-BE49-F238E27FC236}">
                <a16:creationId xmlns:a16="http://schemas.microsoft.com/office/drawing/2014/main" id="{5E243C19-2784-A038-1026-83673F3010C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813" y="8778875"/>
            <a:ext cx="65516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>
            <a:extLst>
              <a:ext uri="{FF2B5EF4-FFF2-40B4-BE49-F238E27FC236}">
                <a16:creationId xmlns:a16="http://schemas.microsoft.com/office/drawing/2014/main" id="{D232D531-BD63-9441-8D1C-88840E8E1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75" y="8410575"/>
            <a:ext cx="439738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algn="ctr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algn="ctr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ctr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algn="ctr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9">
            <a:extLst>
              <a:ext uri="{FF2B5EF4-FFF2-40B4-BE49-F238E27FC236}">
                <a16:creationId xmlns:a16="http://schemas.microsoft.com/office/drawing/2014/main" id="{22063BD6-89FF-E340-995C-4D9572C86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3" y="8585200"/>
            <a:ext cx="25622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435" tIns="49014" rIns="93435" bIns="49014">
            <a:spAutoFit/>
          </a:bodyPr>
          <a:lstStyle>
            <a:lvl1pPr algn="ctr" defTabSz="596900">
              <a:lnSpc>
                <a:spcPct val="90000"/>
              </a:lnSpc>
              <a:tabLst>
                <a:tab pos="2332038" algn="l"/>
                <a:tab pos="4718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algn="ctr" defTabSz="596900">
              <a:lnSpc>
                <a:spcPct val="90000"/>
              </a:lnSpc>
              <a:tabLst>
                <a:tab pos="2332038" algn="l"/>
                <a:tab pos="4718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algn="ctr" defTabSz="596900">
              <a:lnSpc>
                <a:spcPct val="90000"/>
              </a:lnSpc>
              <a:tabLst>
                <a:tab pos="2332038" algn="l"/>
                <a:tab pos="4718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ctr" defTabSz="596900">
              <a:lnSpc>
                <a:spcPct val="90000"/>
              </a:lnSpc>
              <a:tabLst>
                <a:tab pos="2332038" algn="l"/>
                <a:tab pos="4718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algn="ctr" defTabSz="596900">
              <a:lnSpc>
                <a:spcPct val="90000"/>
              </a:lnSpc>
              <a:tabLst>
                <a:tab pos="2332038" algn="l"/>
                <a:tab pos="4718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5969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32038" algn="l"/>
                <a:tab pos="4718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5969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32038" algn="l"/>
                <a:tab pos="4718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5969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32038" algn="l"/>
                <a:tab pos="4718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5969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32038" algn="l"/>
                <a:tab pos="4718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lnSpc>
                <a:spcPct val="100000"/>
              </a:lnSpc>
              <a:defRPr/>
            </a:pPr>
            <a:r>
              <a:rPr lang="en-US" altLang="en-US" sz="800" b="1"/>
              <a:t>© 2001, Cisco Systems, Inc. All rights reserved.</a:t>
            </a:r>
          </a:p>
          <a:p>
            <a:pPr algn="l">
              <a:lnSpc>
                <a:spcPct val="100000"/>
              </a:lnSpc>
              <a:defRPr/>
            </a:pPr>
            <a:r>
              <a:rPr lang="en-US" altLang="en-US" sz="800" b="1"/>
              <a:t>&lt;Title of Course (ACRO) vX.X&gt;</a:t>
            </a:r>
          </a:p>
        </p:txBody>
      </p:sp>
      <p:sp>
        <p:nvSpPr>
          <p:cNvPr id="3076" name="Line 10">
            <a:extLst>
              <a:ext uri="{FF2B5EF4-FFF2-40B4-BE49-F238E27FC236}">
                <a16:creationId xmlns:a16="http://schemas.microsoft.com/office/drawing/2014/main" id="{7B9DB94C-2442-AFBC-5996-8BD32A212C3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225" y="8599488"/>
            <a:ext cx="6503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3307" name="Rectangle 11">
            <a:extLst>
              <a:ext uri="{FF2B5EF4-FFF2-40B4-BE49-F238E27FC236}">
                <a16:creationId xmlns:a16="http://schemas.microsoft.com/office/drawing/2014/main" id="{A75AFE6A-0410-A34E-81B5-6A24DD93F5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550" y="8480425"/>
            <a:ext cx="795338" cy="28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380" tIns="0" rIns="18380" bIns="0" numCol="1" anchor="b" anchorCtr="0" compatLnSpc="1">
            <a:prstTxWarp prst="textNoShape">
              <a:avLst/>
            </a:prstTxWarp>
          </a:bodyPr>
          <a:lstStyle>
            <a:lvl1pPr algn="r" defTabSz="881063">
              <a:defRPr sz="800"/>
            </a:lvl1pPr>
          </a:lstStyle>
          <a:p>
            <a:fld id="{BAFADCDD-237B-4B66-8265-D18E43726CD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078" name="Rectangle 12">
            <a:extLst>
              <a:ext uri="{FF2B5EF4-FFF2-40B4-BE49-F238E27FC236}">
                <a16:creationId xmlns:a16="http://schemas.microsoft.com/office/drawing/2014/main" id="{339B0FE7-8C5D-29DC-837E-6F9E4A95D44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5663" y="239713"/>
            <a:ext cx="5200650" cy="39004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3309" name="Rectangle 13">
            <a:extLst>
              <a:ext uri="{FF2B5EF4-FFF2-40B4-BE49-F238E27FC236}">
                <a16:creationId xmlns:a16="http://schemas.microsoft.com/office/drawing/2014/main" id="{98B22342-DF4F-1741-BB39-FF5BD3EE75B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95288" y="4278313"/>
            <a:ext cx="5986462" cy="415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35" tIns="49014" rIns="93435" bIns="490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482600" indent="-120650" algn="l" defTabSz="1020763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1">
            <a:extLst>
              <a:ext uri="{FF2B5EF4-FFF2-40B4-BE49-F238E27FC236}">
                <a16:creationId xmlns:a16="http://schemas.microsoft.com/office/drawing/2014/main" id="{9DB9D67C-AEE3-06E3-19EA-D3228D4DE3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884DD1A7-3223-466A-922B-10E3DFCA8AE8}" type="slidenum">
              <a:rPr lang="en-US" altLang="en-US" sz="80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</a:t>
            </a:fld>
            <a:endParaRPr lang="en-US" altLang="en-US" sz="800"/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75A169D3-4035-5B1A-5CC2-0FFE7A35FF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8838" y="239713"/>
            <a:ext cx="5199062" cy="3898900"/>
          </a:xfrm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2DE7A8E-FC49-774A-142F-5990753584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6875" y="4278313"/>
            <a:ext cx="5984875" cy="4156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1">
            <a:extLst>
              <a:ext uri="{FF2B5EF4-FFF2-40B4-BE49-F238E27FC236}">
                <a16:creationId xmlns:a16="http://schemas.microsoft.com/office/drawing/2014/main" id="{F325A502-8435-79A2-1146-5A0DD7B66D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A48B9E61-46E1-4EDA-81E8-75D745732C8A}" type="slidenum">
              <a:rPr lang="en-US" altLang="en-US" sz="80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</a:t>
            </a:fld>
            <a:endParaRPr lang="en-US" altLang="en-US" sz="800"/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64959B70-C8C5-B715-194A-65293FFADC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073A036-8343-3592-0D42-D262228170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1">
            <a:extLst>
              <a:ext uri="{FF2B5EF4-FFF2-40B4-BE49-F238E27FC236}">
                <a16:creationId xmlns:a16="http://schemas.microsoft.com/office/drawing/2014/main" id="{DA28F690-A6F5-3C64-090A-A6D4D5B639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56ABF8C6-B8E1-44B8-903A-AA4963C0F9F1}" type="slidenum">
              <a:rPr lang="en-US" altLang="en-US" sz="80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3</a:t>
            </a:fld>
            <a:endParaRPr lang="en-US" altLang="en-US" sz="800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40AE5E46-0ED6-A524-35F4-AB4707ACF8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DDFB033-064D-863B-68A3-07F8FB8CF8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1">
            <a:extLst>
              <a:ext uri="{FF2B5EF4-FFF2-40B4-BE49-F238E27FC236}">
                <a16:creationId xmlns:a16="http://schemas.microsoft.com/office/drawing/2014/main" id="{4E50457D-89B0-7A33-9638-1B7FECD362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C09F8B48-5E00-4C31-89D9-6B72B36E529E}" type="slidenum">
              <a:rPr lang="en-US" altLang="en-US" sz="80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4</a:t>
            </a:fld>
            <a:endParaRPr lang="en-US" altLang="en-US" sz="800"/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FEB583E7-42D4-1B90-FB41-06AEDD0878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3CBBBA3-297E-3146-7555-C3462701BA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1">
            <a:extLst>
              <a:ext uri="{FF2B5EF4-FFF2-40B4-BE49-F238E27FC236}">
                <a16:creationId xmlns:a16="http://schemas.microsoft.com/office/drawing/2014/main" id="{C9BEFB8A-A6F4-08D9-02A7-293FC41363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FF5E1AAA-DF02-4C68-BD33-A7EA875009C0}" type="slidenum">
              <a:rPr lang="en-US" altLang="en-US" sz="80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5</a:t>
            </a:fld>
            <a:endParaRPr lang="en-US" altLang="en-US" sz="800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37D96B67-48BB-C832-BF5D-A105CD847B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D1DDDCEA-D2A8-AA54-9552-32B4131603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1">
            <a:extLst>
              <a:ext uri="{FF2B5EF4-FFF2-40B4-BE49-F238E27FC236}">
                <a16:creationId xmlns:a16="http://schemas.microsoft.com/office/drawing/2014/main" id="{C580F9E5-0C7F-F863-EB4B-89E0E4621B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AD669490-744A-45AB-AB90-6EB1CACF81D5}" type="slidenum">
              <a:rPr lang="en-US" altLang="en-US" sz="80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9</a:t>
            </a:fld>
            <a:endParaRPr lang="en-US" altLang="en-US" sz="800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21283DD2-796B-4A70-3A01-0010602CCB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4B301668-FE3B-6203-F3C0-D335D0FCFA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>
            <a:extLst>
              <a:ext uri="{FF2B5EF4-FFF2-40B4-BE49-F238E27FC236}">
                <a16:creationId xmlns:a16="http://schemas.microsoft.com/office/drawing/2014/main" id="{7E6A5FD0-3262-3AA1-900E-0380D2869B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12F49918-4B23-4528-A0AA-36C5D9D4022E}" type="slidenum">
              <a:rPr lang="en-US" altLang="en-US" sz="80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11</a:t>
            </a:fld>
            <a:endParaRPr lang="en-US" altLang="en-US" sz="800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A154A279-51EF-8273-A4E5-97DA0C7EE1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375BC998-EACF-E6D4-196D-16E58B876F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1">
            <a:extLst>
              <a:ext uri="{FF2B5EF4-FFF2-40B4-BE49-F238E27FC236}">
                <a16:creationId xmlns:a16="http://schemas.microsoft.com/office/drawing/2014/main" id="{0543FB44-C165-8A8A-CBB8-3316E9F4FD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2C2E1398-0165-4758-8DD3-A5CF2B80B4FD}" type="slidenum">
              <a:rPr lang="en-US" altLang="en-US" sz="80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15</a:t>
            </a:fld>
            <a:endParaRPr lang="en-US" altLang="en-US" sz="800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51E96E29-BDAA-5517-9964-281D56F7A1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DBAD6BA5-A1A9-3F71-0E8C-F35C018994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1">
            <a:extLst>
              <a:ext uri="{FF2B5EF4-FFF2-40B4-BE49-F238E27FC236}">
                <a16:creationId xmlns:a16="http://schemas.microsoft.com/office/drawing/2014/main" id="{396938B8-3F24-311C-80E9-EFE0297AE9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98A13D6D-6565-4800-8717-3DAA717DCABD}" type="slidenum">
              <a:rPr lang="en-US" altLang="en-US" sz="80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16</a:t>
            </a:fld>
            <a:endParaRPr lang="en-US" altLang="en-US" sz="800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3E9E25A7-C8C2-8452-FA57-0B22100E0E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826B35A0-6D5A-F7BD-F40C-D551C95CA9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1">
            <a:extLst>
              <a:ext uri="{FF2B5EF4-FFF2-40B4-BE49-F238E27FC236}">
                <a16:creationId xmlns:a16="http://schemas.microsoft.com/office/drawing/2014/main" id="{2AF1CD98-4909-E32F-A135-053C45554B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12260175-C507-44B3-BCB8-8F05230A3481}" type="slidenum">
              <a:rPr lang="en-US" altLang="en-US" sz="80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17</a:t>
            </a:fld>
            <a:endParaRPr lang="en-US" altLang="en-US" sz="800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7A9592B9-1915-70B5-65C5-AFFED390B7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AB36CA8D-2D37-458D-D44F-7A6EB658DF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1">
            <a:extLst>
              <a:ext uri="{FF2B5EF4-FFF2-40B4-BE49-F238E27FC236}">
                <a16:creationId xmlns:a16="http://schemas.microsoft.com/office/drawing/2014/main" id="{26499648-4111-94C3-D378-9183A246CA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482CD06A-4772-4DFD-83BC-69A43B597315}" type="slidenum">
              <a:rPr lang="en-US" altLang="en-US" sz="80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18</a:t>
            </a:fld>
            <a:endParaRPr lang="en-US" altLang="en-US" sz="800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D5ADC540-62E7-A479-CF41-99C9CEF4CD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0519287B-AFFD-36D5-7130-8845C19F7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1">
            <a:extLst>
              <a:ext uri="{FF2B5EF4-FFF2-40B4-BE49-F238E27FC236}">
                <a16:creationId xmlns:a16="http://schemas.microsoft.com/office/drawing/2014/main" id="{89272722-D835-5FBE-18DA-61DB14949F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0A80FE17-4F09-4F58-9540-65844D507FAB}" type="slidenum">
              <a:rPr lang="en-US" altLang="en-US" sz="80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20</a:t>
            </a:fld>
            <a:endParaRPr lang="en-US" altLang="en-US" sz="800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7484F95D-C235-9650-4652-9FFD66D12F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89EC4284-DB91-78E8-6F29-5B58E92B6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1">
            <a:extLst>
              <a:ext uri="{FF2B5EF4-FFF2-40B4-BE49-F238E27FC236}">
                <a16:creationId xmlns:a16="http://schemas.microsoft.com/office/drawing/2014/main" id="{C5CFDA25-2F99-13C4-880A-871A964A55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0E5C181C-54A8-4B51-BD5E-8BF3E94E152F}" type="slidenum">
              <a:rPr lang="en-US" altLang="en-US" sz="80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22</a:t>
            </a:fld>
            <a:endParaRPr lang="en-US" altLang="en-US" sz="800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49880176-92F4-BFAC-1F61-7C48AD6984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71DA70D6-B55F-8853-E1BF-BE0869FC1C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11">
            <a:extLst>
              <a:ext uri="{FF2B5EF4-FFF2-40B4-BE49-F238E27FC236}">
                <a16:creationId xmlns:a16="http://schemas.microsoft.com/office/drawing/2014/main" id="{FC33D34E-6462-FFA2-3DF3-EE780AF38A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FC2DD54A-6AE9-4D73-B0B5-6DAEC15F8A60}" type="slidenum">
              <a:rPr lang="en-US" altLang="en-US" sz="80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28</a:t>
            </a:fld>
            <a:endParaRPr lang="en-US" altLang="en-US" sz="800"/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CAC1BC85-D3D8-989D-66F9-7EDF1B560D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0F0EF9BE-2E81-8B4A-276B-4E00F8D984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1">
            <a:extLst>
              <a:ext uri="{FF2B5EF4-FFF2-40B4-BE49-F238E27FC236}">
                <a16:creationId xmlns:a16="http://schemas.microsoft.com/office/drawing/2014/main" id="{79BD713B-8A67-8F65-2F17-2978CB3479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618437AC-7212-4DB1-8029-D2FB0F6C9736}" type="slidenum">
              <a:rPr lang="en-US" altLang="en-US" sz="80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29</a:t>
            </a:fld>
            <a:endParaRPr lang="en-US" altLang="en-US" sz="800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4A0A6449-F60E-239C-DC05-3B87093C2D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BCB79AD8-6EE2-273F-92E0-CC58920CFE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11">
            <a:extLst>
              <a:ext uri="{FF2B5EF4-FFF2-40B4-BE49-F238E27FC236}">
                <a16:creationId xmlns:a16="http://schemas.microsoft.com/office/drawing/2014/main" id="{5E7F83A0-B92E-8245-D5F8-507FF95967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17EAB61F-4F1C-4729-BE28-CFF726D59E03}" type="slidenum">
              <a:rPr lang="en-US" altLang="en-US" sz="80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31</a:t>
            </a:fld>
            <a:endParaRPr lang="en-US" altLang="en-US" sz="800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982D19AA-D4A8-9BB1-B40E-A2D8C5BBFB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52235FC1-A604-59B6-5C4B-DC575F8F54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11">
            <a:extLst>
              <a:ext uri="{FF2B5EF4-FFF2-40B4-BE49-F238E27FC236}">
                <a16:creationId xmlns:a16="http://schemas.microsoft.com/office/drawing/2014/main" id="{C923D2F7-ED9E-4CB7-1DD7-07B3EDFBAE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521C0FA4-46C0-4C79-96B1-0C200D4B8C66}" type="slidenum">
              <a:rPr lang="en-US" altLang="en-US" sz="80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33</a:t>
            </a:fld>
            <a:endParaRPr lang="en-US" altLang="en-US" sz="800"/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7C6301CF-FD00-6CEB-1581-CD5AB3A5B1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ACCA60E3-4173-A994-2673-A771093ACC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>
            <a:extLst>
              <a:ext uri="{FF2B5EF4-FFF2-40B4-BE49-F238E27FC236}">
                <a16:creationId xmlns:a16="http://schemas.microsoft.com/office/drawing/2014/main" id="{5D45C0E4-2E86-C64D-46B4-9860DEF755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05EECAC6-1165-41A0-A264-6BCA4D1B97A7}" type="slidenum">
              <a:rPr lang="en-US" altLang="en-US" sz="80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34</a:t>
            </a:fld>
            <a:endParaRPr lang="en-US" altLang="en-US" sz="800"/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2AC56FD7-CEB9-EB9B-DD60-325CFD5C97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4A2CCEE8-B883-00E2-D1E0-DBDA24BB38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>
            <a:extLst>
              <a:ext uri="{FF2B5EF4-FFF2-40B4-BE49-F238E27FC236}">
                <a16:creationId xmlns:a16="http://schemas.microsoft.com/office/drawing/2014/main" id="{57C44CFB-83CB-2FF7-C0CA-730B28FFD0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2008EC2E-A9AF-4FCE-96F5-43A10BCCE588}" type="slidenum">
              <a:rPr lang="en-US" altLang="en-US" sz="80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35</a:t>
            </a:fld>
            <a:endParaRPr lang="en-US" altLang="en-US" sz="800"/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92F18CA2-0247-1631-575E-9795F7B96D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A9CEC59C-1609-2DAB-2E19-71CDEABD90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11">
            <a:extLst>
              <a:ext uri="{FF2B5EF4-FFF2-40B4-BE49-F238E27FC236}">
                <a16:creationId xmlns:a16="http://schemas.microsoft.com/office/drawing/2014/main" id="{FDB56FBE-96EB-F150-EEC8-1CE4D3DB17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366BDF48-A053-4E9E-AD00-13BEB2E0517E}" type="slidenum">
              <a:rPr lang="en-US" altLang="en-US" sz="80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36</a:t>
            </a:fld>
            <a:endParaRPr lang="en-US" altLang="en-US" sz="800"/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1542868B-F86E-7108-6790-22739A1859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CFA885D9-E4E9-DF8C-81BA-8B64272A01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1">
            <a:extLst>
              <a:ext uri="{FF2B5EF4-FFF2-40B4-BE49-F238E27FC236}">
                <a16:creationId xmlns:a16="http://schemas.microsoft.com/office/drawing/2014/main" id="{B47322B4-5161-368B-E1E2-F8A0A38F23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28DA5FA3-8626-49F2-A205-F9CAA9E6CA8C}" type="slidenum">
              <a:rPr lang="en-US" altLang="en-US" sz="80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37</a:t>
            </a:fld>
            <a:endParaRPr lang="en-US" altLang="en-US" sz="800"/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38956443-FA2C-8C12-45CF-61E783E018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66CCD551-BF17-DE51-9A9B-18337BA715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11">
            <a:extLst>
              <a:ext uri="{FF2B5EF4-FFF2-40B4-BE49-F238E27FC236}">
                <a16:creationId xmlns:a16="http://schemas.microsoft.com/office/drawing/2014/main" id="{0DE8616D-6E09-D683-3854-143E8B986B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500B4755-4A61-464A-B7A4-4B6133603ADA}" type="slidenum">
              <a:rPr lang="en-US" altLang="en-US" sz="80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38</a:t>
            </a:fld>
            <a:endParaRPr lang="en-US" altLang="en-US" sz="800"/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A41C8EC2-AFFD-92FA-7E9E-90ED40FDE2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E147E098-BD49-32FA-04C8-37FD88F8A4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Pt_CoverArt1">
            <a:extLst>
              <a:ext uri="{FF2B5EF4-FFF2-40B4-BE49-F238E27FC236}">
                <a16:creationId xmlns:a16="http://schemas.microsoft.com/office/drawing/2014/main" id="{1F909DDA-B001-955C-65DE-483604332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AD4CDBB0-268E-E052-C73C-53F945A99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>
            <a:lvl1pPr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lnSpc>
                <a:spcPct val="100000"/>
              </a:lnSpc>
              <a:defRPr/>
            </a:pPr>
            <a:r>
              <a:rPr lang="en-US" altLang="en-US" sz="700">
                <a:solidFill>
                  <a:srgbClr val="D3D3D3"/>
                </a:solidFill>
              </a:rPr>
              <a:t>© 2007 Cisco Systems, Inc. All rights reserved.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1E0C2C-C9CF-40DB-4425-6D6E52CA9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>
            <a:lvl1pPr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lnSpc>
                <a:spcPct val="100000"/>
              </a:lnSpc>
              <a:defRPr/>
            </a:pPr>
            <a:r>
              <a:rPr lang="en-US" altLang="en-US" sz="700">
                <a:solidFill>
                  <a:srgbClr val="D3D3D3"/>
                </a:solidFill>
              </a:rPr>
              <a:t>Cisco Public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694544F-7CD5-CBE2-3509-16F02F60C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75" y="6565900"/>
            <a:ext cx="96202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>
            <a:lvl1pPr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lnSpc>
                <a:spcPct val="100000"/>
              </a:lnSpc>
              <a:defRPr/>
            </a:pPr>
            <a:r>
              <a:rPr lang="en-US" altLang="en-US" sz="700">
                <a:solidFill>
                  <a:srgbClr val="D3D3D3"/>
                </a:solidFill>
              </a:rPr>
              <a:t>ITE PC v4.0</a:t>
            </a:r>
          </a:p>
          <a:p>
            <a:pPr algn="l">
              <a:lnSpc>
                <a:spcPct val="100000"/>
              </a:lnSpc>
              <a:defRPr/>
            </a:pPr>
            <a:r>
              <a:rPr lang="en-US" altLang="en-US" sz="700">
                <a:solidFill>
                  <a:srgbClr val="D3D3D3"/>
                </a:solidFill>
              </a:rPr>
              <a:t>Chapter 1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0738944-31D5-F8F7-F4D9-AF5F89211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>
            <a:lvl1pPr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CF19B47-8A66-4AFA-BFB7-6C3567833FF6}" type="slidenum">
              <a:rPr lang="en-US" altLang="en-US" sz="1000">
                <a:solidFill>
                  <a:srgbClr val="D3D3D3"/>
                </a:solidFill>
              </a:rPr>
              <a:pPr algn="r"/>
              <a:t>‹#›</a:t>
            </a:fld>
            <a:endParaRPr lang="en-US" altLang="en-US" sz="1000">
              <a:solidFill>
                <a:srgbClr val="D3D3D3"/>
              </a:solidFill>
            </a:endParaRPr>
          </a:p>
        </p:txBody>
      </p:sp>
      <p:pic>
        <p:nvPicPr>
          <p:cNvPr id="7" name="Picture 9" descr="Cisco_NewLogo">
            <a:extLst>
              <a:ext uri="{FF2B5EF4-FFF2-40B4-BE49-F238E27FC236}">
                <a16:creationId xmlns:a16="http://schemas.microsoft.com/office/drawing/2014/main" id="{914E7207-C614-5AFF-F87F-46E5D09D6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0" descr="Cisco">
            <a:extLst>
              <a:ext uri="{FF2B5EF4-FFF2-40B4-BE49-F238E27FC236}">
                <a16:creationId xmlns:a16="http://schemas.microsoft.com/office/drawing/2014/main" id="{9BDD7E75-D325-D15E-2AAD-7AE50C0B7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25063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25064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46339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1827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13498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19002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19002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8225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3415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86036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3770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699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4032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4977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627063"/>
            <a:ext cx="2035175" cy="4845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627063"/>
            <a:ext cx="5957887" cy="48450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8445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CA5323E-C161-CF3C-1E04-995B212560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627063"/>
            <a:ext cx="814546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Title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1177B4C-A17E-F141-9005-8B86F8A75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75" y="6565900"/>
            <a:ext cx="96202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>
            <a:lvl1pPr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lnSpc>
                <a:spcPct val="100000"/>
              </a:lnSpc>
              <a:defRPr/>
            </a:pPr>
            <a:r>
              <a:rPr lang="en-US" altLang="en-US" sz="700">
                <a:solidFill>
                  <a:srgbClr val="D3D3D3"/>
                </a:solidFill>
              </a:rPr>
              <a:t>ITE PC v4.0</a:t>
            </a:r>
          </a:p>
          <a:p>
            <a:pPr algn="l">
              <a:lnSpc>
                <a:spcPct val="100000"/>
              </a:lnSpc>
              <a:defRPr/>
            </a:pPr>
            <a:r>
              <a:rPr lang="en-US" altLang="en-US" sz="700">
                <a:solidFill>
                  <a:srgbClr val="D3D3D3"/>
                </a:solidFill>
              </a:rPr>
              <a:t>Chapter 1</a:t>
            </a:r>
          </a:p>
        </p:txBody>
      </p:sp>
      <p:sp>
        <p:nvSpPr>
          <p:cNvPr id="1324036" name="Rectangle 4">
            <a:extLst>
              <a:ext uri="{FF2B5EF4-FFF2-40B4-BE49-F238E27FC236}">
                <a16:creationId xmlns:a16="http://schemas.microsoft.com/office/drawing/2014/main" id="{D47EE014-8117-6642-81E1-5392DF141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>
            <a:lvl1pPr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DC4EB2B-9D3F-4A39-BC39-0FC4F01D9B8D}" type="slidenum">
              <a:rPr lang="en-US" altLang="en-US" sz="1000">
                <a:solidFill>
                  <a:srgbClr val="D3D3D3"/>
                </a:solidFill>
              </a:rPr>
              <a:pPr algn="r"/>
              <a:t>‹#›</a:t>
            </a:fld>
            <a:endParaRPr lang="en-US" altLang="en-US" sz="1000">
              <a:solidFill>
                <a:srgbClr val="D3D3D3"/>
              </a:solidFill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DB340F7-EDC8-3BF5-3C85-82EE580A4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1900238"/>
            <a:ext cx="7940675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Body Text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30" name="Picture 6" descr="PPt_TopBand_Artwork">
            <a:extLst>
              <a:ext uri="{FF2B5EF4-FFF2-40B4-BE49-F238E27FC236}">
                <a16:creationId xmlns:a16="http://schemas.microsoft.com/office/drawing/2014/main" id="{1089CA2E-EF9C-B775-C882-1EC95B483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7">
            <a:extLst>
              <a:ext uri="{FF2B5EF4-FFF2-40B4-BE49-F238E27FC236}">
                <a16:creationId xmlns:a16="http://schemas.microsoft.com/office/drawing/2014/main" id="{CC1AA311-6491-E643-B760-EF0E3E918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>
            <a:lvl1pPr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lnSpc>
                <a:spcPct val="100000"/>
              </a:lnSpc>
              <a:defRPr/>
            </a:pPr>
            <a:r>
              <a:rPr lang="en-US" altLang="en-US" sz="700">
                <a:solidFill>
                  <a:srgbClr val="D3D3D3"/>
                </a:solidFill>
              </a:rPr>
              <a:t>© 2007 Cisco Systems, Inc. All rights reserved.</a:t>
            </a: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AC25FA6-B990-014D-96B9-119DFE08A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>
            <a:lvl1pPr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algn="ctr" defTabSz="814388">
              <a:lnSpc>
                <a:spcPct val="90000"/>
              </a:lnSpc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lnSpc>
                <a:spcPct val="100000"/>
              </a:lnSpc>
              <a:defRPr/>
            </a:pPr>
            <a:r>
              <a:rPr lang="en-US" altLang="en-US" sz="700">
                <a:solidFill>
                  <a:srgbClr val="D3D3D3"/>
                </a:solidFill>
              </a:rPr>
              <a:t>Cisco 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804863" indent="-23018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buChar char="–"/>
        <a:defRPr sz="2000">
          <a:solidFill>
            <a:schemeClr val="tx1"/>
          </a:solidFill>
          <a:latin typeface="+mn-lt"/>
        </a:defRPr>
      </a:lvl2pPr>
      <a:lvl3pPr marL="1146175" indent="-22701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buChar char="•"/>
        <a:defRPr sz="2000">
          <a:solidFill>
            <a:schemeClr val="tx1"/>
          </a:solidFill>
          <a:latin typeface="+mn-lt"/>
        </a:defRPr>
      </a:lvl3pPr>
      <a:lvl4pPr marL="1487488" indent="-22701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buChar char="–"/>
        <a:defRPr sz="2000">
          <a:solidFill>
            <a:schemeClr val="tx1"/>
          </a:solidFill>
          <a:latin typeface="+mn-lt"/>
        </a:defRPr>
      </a:lvl4pPr>
      <a:lvl5pPr marL="1828800" indent="-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buChar char="»"/>
        <a:defRPr sz="2000">
          <a:solidFill>
            <a:schemeClr val="tx1"/>
          </a:solidFill>
          <a:latin typeface="+mn-lt"/>
        </a:defRPr>
      </a:lvl5pPr>
      <a:lvl6pPr marL="2286000" indent="-223838" algn="l" defTabSz="814388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buChar char="»"/>
        <a:defRPr sz="2000">
          <a:solidFill>
            <a:schemeClr val="tx1"/>
          </a:solidFill>
          <a:latin typeface="+mn-lt"/>
        </a:defRPr>
      </a:lvl6pPr>
      <a:lvl7pPr marL="2743200" indent="-223838" algn="l" defTabSz="814388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buChar char="»"/>
        <a:defRPr sz="2000">
          <a:solidFill>
            <a:schemeClr val="tx1"/>
          </a:solidFill>
          <a:latin typeface="+mn-lt"/>
        </a:defRPr>
      </a:lvl7pPr>
      <a:lvl8pPr marL="3200400" indent="-223838" algn="l" defTabSz="814388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buChar char="»"/>
        <a:defRPr sz="2000">
          <a:solidFill>
            <a:schemeClr val="tx1"/>
          </a:solidFill>
          <a:latin typeface="+mn-lt"/>
        </a:defRPr>
      </a:lvl8pPr>
      <a:lvl9pPr marL="3657600" indent="-223838" algn="l" defTabSz="814388" rtl="0" fontAlgn="base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9CF20459-B1FC-D552-0432-0455A8B9CCDC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2600"/>
              <a:t>Application Layer Functionality and Protocols</a:t>
            </a:r>
          </a:p>
        </p:txBody>
      </p:sp>
      <p:sp>
        <p:nvSpPr>
          <p:cNvPr id="5122" name="Rectangle 3">
            <a:extLst>
              <a:ext uri="{FF2B5EF4-FFF2-40B4-BE49-F238E27FC236}">
                <a16:creationId xmlns:a16="http://schemas.microsoft.com/office/drawing/2014/main" id="{F589F191-83C0-81A6-D65A-D0CD2495B1E4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50875" y="4733925"/>
            <a:ext cx="6940550" cy="515938"/>
          </a:xfrm>
          <a:noFill/>
        </p:spPr>
        <p:txBody>
          <a:bodyPr/>
          <a:lstStyle/>
          <a:p>
            <a:pPr eaLnBrk="1" hangingPunct="1">
              <a:lnSpc>
                <a:spcPct val="70000"/>
              </a:lnSpc>
            </a:pPr>
            <a:r>
              <a:rPr lang="en-US" altLang="en-US" sz="1800"/>
              <a:t>Dr. Muazzam A. Khan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87AA54F6-8FC4-CB1E-81EE-B34086C7B3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03DD7738-D5D5-7046-9388-CA0D4864A2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8288" y="1392238"/>
            <a:ext cx="8756650" cy="5076825"/>
          </a:xfrm>
        </p:spPr>
        <p:txBody>
          <a:bodyPr/>
          <a:lstStyle/>
          <a:p>
            <a:pPr marL="457200" indent="-457200" eaLnBrk="1" hangingPunct="1">
              <a:buFont typeface="Wingdings" charset="2"/>
              <a:buChar char="§"/>
              <a:defRPr/>
            </a:pPr>
            <a:endParaRPr lang="en-US" altLang="en-US" sz="2600" dirty="0"/>
          </a:p>
          <a:p>
            <a:pPr marL="457200" indent="-457200" eaLnBrk="1" hangingPunct="1">
              <a:buFont typeface="Wingdings" charset="2"/>
              <a:buChar char="§"/>
              <a:defRPr/>
            </a:pPr>
            <a:r>
              <a:rPr lang="en-US" altLang="en-US" sz="2600" dirty="0"/>
              <a:t>Define the application layer as the source and destination of data for communication across networks.</a:t>
            </a:r>
          </a:p>
          <a:p>
            <a:pPr marL="457200" indent="-457200" eaLnBrk="1" hangingPunct="1">
              <a:buFont typeface="Wingdings" charset="2"/>
              <a:buChar char="§"/>
              <a:defRPr/>
            </a:pPr>
            <a:r>
              <a:rPr lang="en-US" altLang="en-US" sz="2600" dirty="0"/>
              <a:t>Explain the role of protocols in supporting communication between server and client processes.</a:t>
            </a:r>
          </a:p>
          <a:p>
            <a:pPr marL="457200" indent="-457200" eaLnBrk="1" hangingPunct="1">
              <a:buFont typeface="Wingdings" charset="2"/>
              <a:buChar char="§"/>
              <a:defRPr/>
            </a:pPr>
            <a:r>
              <a:rPr lang="en-US" altLang="en-US" sz="2600" dirty="0"/>
              <a:t>Describe the features, operation, and use of well-known application layer services </a:t>
            </a:r>
          </a:p>
          <a:p>
            <a:pPr marL="0" indent="0" eaLnBrk="1" hangingPunct="1">
              <a:buFont typeface="Wingdings" charset="2"/>
              <a:buNone/>
              <a:defRPr/>
            </a:pPr>
            <a:r>
              <a:rPr lang="en-US" altLang="en-US" sz="2600" dirty="0"/>
              <a:t>    (HTTP, DNS, SMTP, FTP).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AA4043FF-84F4-63E4-65DD-F4CD094D52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8288" y="782638"/>
            <a:ext cx="8828087" cy="838200"/>
          </a:xfrm>
        </p:spPr>
        <p:txBody>
          <a:bodyPr/>
          <a:lstStyle/>
          <a:p>
            <a:pPr eaLnBrk="1" hangingPunct="1"/>
            <a:r>
              <a:rPr lang="en-US" altLang="en-US"/>
              <a:t>Applications – </a:t>
            </a:r>
            <a:br>
              <a:rPr lang="en-US" altLang="en-US"/>
            </a:br>
            <a:r>
              <a:rPr lang="en-US" altLang="en-US" sz="2600"/>
              <a:t>The Interface Btw Human and Data Networks 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3341A9EC-820F-9EB5-9BC3-EFDFFEF45D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2900" y="1952625"/>
            <a:ext cx="4340225" cy="4905375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People use application that enables them to send and receive data.</a:t>
            </a:r>
          </a:p>
          <a:p>
            <a:pPr eaLnBrk="1" hangingPunct="1"/>
            <a:r>
              <a:rPr lang="en-US" altLang="en-US" sz="2000" dirty="0"/>
              <a:t>As a network professionals it is important to know </a:t>
            </a:r>
          </a:p>
          <a:p>
            <a:pPr eaLnBrk="1" hangingPunct="1"/>
            <a:r>
              <a:rPr lang="en-US" altLang="en-US" sz="2000" dirty="0"/>
              <a:t>How they work </a:t>
            </a:r>
          </a:p>
          <a:p>
            <a:pPr eaLnBrk="1" hangingPunct="1"/>
            <a:r>
              <a:rPr lang="en-US" altLang="en-US" sz="2000" dirty="0"/>
              <a:t>How they format, </a:t>
            </a:r>
          </a:p>
          <a:p>
            <a:pPr eaLnBrk="1" hangingPunct="1"/>
            <a:r>
              <a:rPr lang="en-US" altLang="en-US" sz="2000" dirty="0"/>
              <a:t>How to send and interpret data.</a:t>
            </a:r>
          </a:p>
          <a:p>
            <a:pPr eaLnBrk="1" hangingPunct="1"/>
            <a:r>
              <a:rPr lang="en-US" altLang="en-US" sz="2000" dirty="0"/>
              <a:t>This can be achieved easier by using the OSI layered model</a:t>
            </a:r>
            <a:r>
              <a:rPr lang="en-US" altLang="en-US" dirty="0"/>
              <a:t> </a:t>
            </a:r>
          </a:p>
          <a:p>
            <a:pPr eaLnBrk="1" hangingPunct="1"/>
            <a:endParaRPr lang="en-US" altLang="en-US" dirty="0"/>
          </a:p>
        </p:txBody>
      </p:sp>
      <p:pic>
        <p:nvPicPr>
          <p:cNvPr id="9219" name="Picture 11">
            <a:extLst>
              <a:ext uri="{FF2B5EF4-FFF2-40B4-BE49-F238E27FC236}">
                <a16:creationId xmlns:a16="http://schemas.microsoft.com/office/drawing/2014/main" id="{632E7EF5-C57C-ED26-22C6-87DE99F5C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350" y="2055813"/>
            <a:ext cx="4391025" cy="280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29C382D5-02DB-7CB8-802A-63508D6592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742950"/>
            <a:ext cx="8143875" cy="569913"/>
          </a:xfrm>
        </p:spPr>
        <p:txBody>
          <a:bodyPr/>
          <a:lstStyle/>
          <a:p>
            <a:pPr eaLnBrk="1" hangingPunct="1"/>
            <a:r>
              <a:rPr lang="en-US" altLang="en-US"/>
              <a:t>OSI and TCP/IP Model 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A50F7C48-8724-E5E3-AADA-1562CDEBC7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5900" y="1581150"/>
            <a:ext cx="4389438" cy="5076825"/>
          </a:xfrm>
        </p:spPr>
        <p:txBody>
          <a:bodyPr/>
          <a:lstStyle/>
          <a:p>
            <a:pPr eaLnBrk="1" hangingPunct="1"/>
            <a:r>
              <a:rPr lang="en-US" altLang="en-US" sz="1700" dirty="0"/>
              <a:t>OSI model divides the network to 7 layers </a:t>
            </a:r>
          </a:p>
          <a:p>
            <a:pPr eaLnBrk="1" hangingPunct="1"/>
            <a:endParaRPr lang="en-US" altLang="en-US" sz="1700" dirty="0"/>
          </a:p>
          <a:p>
            <a:pPr eaLnBrk="1" hangingPunct="1"/>
            <a:r>
              <a:rPr lang="en-US" altLang="en-US" sz="1700" dirty="0"/>
              <a:t>Each of which has unique functionality with specific services and protocols</a:t>
            </a:r>
          </a:p>
          <a:p>
            <a:pPr eaLnBrk="1" hangingPunct="1"/>
            <a:endParaRPr lang="en-US" altLang="en-US" sz="1700" dirty="0"/>
          </a:p>
          <a:p>
            <a:pPr eaLnBrk="1" hangingPunct="1"/>
            <a:r>
              <a:rPr lang="en-US" altLang="en-US" sz="1700" dirty="0"/>
              <a:t>The data is passed from one layer to the next proceeding down the hierarchy to the Physical layer.</a:t>
            </a:r>
          </a:p>
          <a:p>
            <a:pPr eaLnBrk="1" hangingPunct="1"/>
            <a:endParaRPr lang="en-US" altLang="en-US" sz="1700" dirty="0"/>
          </a:p>
          <a:p>
            <a:pPr eaLnBrk="1" hangingPunct="1"/>
            <a:r>
              <a:rPr lang="en-US" altLang="en-US" sz="1700" dirty="0"/>
              <a:t>The data that passed over the channel to the destination host proceeding the hierarchy ending at the Application layer.</a:t>
            </a:r>
          </a:p>
        </p:txBody>
      </p:sp>
      <p:pic>
        <p:nvPicPr>
          <p:cNvPr id="11267" name="Image">
            <a:extLst>
              <a:ext uri="{FF2B5EF4-FFF2-40B4-BE49-F238E27FC236}">
                <a16:creationId xmlns:a16="http://schemas.microsoft.com/office/drawing/2014/main" id="{229E8D0E-0C21-C8E7-BF75-17C403A739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575" y="1720850"/>
            <a:ext cx="4289425" cy="371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278CCA3F-47FB-FA5A-8C8E-00844C443D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3200" y="446088"/>
            <a:ext cx="8145463" cy="838200"/>
          </a:xfrm>
        </p:spPr>
        <p:txBody>
          <a:bodyPr/>
          <a:lstStyle/>
          <a:p>
            <a:pPr eaLnBrk="1" hangingPunct="1"/>
            <a:r>
              <a:rPr lang="en-US" altLang="en-US"/>
              <a:t>Application Layer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636C5888-C552-3D64-1A11-CD868F241A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3200" y="1660525"/>
            <a:ext cx="4811713" cy="5089525"/>
          </a:xfrm>
        </p:spPr>
        <p:txBody>
          <a:bodyPr/>
          <a:lstStyle/>
          <a:p>
            <a:r>
              <a:rPr lang="en-US" altLang="en-US" sz="2000" dirty="0"/>
              <a:t>The application layer acts as interface between the applications and the underlying network. </a:t>
            </a:r>
          </a:p>
          <a:p>
            <a:r>
              <a:rPr lang="en-US" altLang="en-US" sz="2000" dirty="0"/>
              <a:t>Application layer protocols help exchange data between programs running on the source and destination hosts. </a:t>
            </a:r>
          </a:p>
          <a:p>
            <a:r>
              <a:rPr lang="en-US" altLang="en-US" sz="2000" dirty="0"/>
              <a:t>The TCP/IP application layer performs the functions of the upper three layers of the OSI model. </a:t>
            </a:r>
          </a:p>
          <a:p>
            <a:r>
              <a:rPr lang="en-US" altLang="en-US" sz="2000" dirty="0"/>
              <a:t>Common application layer protocols include: HTTP, FTP, TFTP, DNS. </a:t>
            </a:r>
          </a:p>
        </p:txBody>
      </p:sp>
      <p:pic>
        <p:nvPicPr>
          <p:cNvPr id="13315" name="Picture 4">
            <a:extLst>
              <a:ext uri="{FF2B5EF4-FFF2-40B4-BE49-F238E27FC236}">
                <a16:creationId xmlns:a16="http://schemas.microsoft.com/office/drawing/2014/main" id="{260EC13D-E849-C0FF-DEF5-3795377B6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538" y="2087563"/>
            <a:ext cx="3954462" cy="328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1516C89A-176B-198F-B80A-43A83EEB5F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492125"/>
            <a:ext cx="8145462" cy="838200"/>
          </a:xfrm>
        </p:spPr>
        <p:txBody>
          <a:bodyPr/>
          <a:lstStyle/>
          <a:p>
            <a:r>
              <a:rPr lang="en-US" altLang="en-US"/>
              <a:t>Application Layer</a:t>
            </a:r>
          </a:p>
        </p:txBody>
      </p:sp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F0915140-74AC-636C-3112-AFA8B46226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55638" y="1563688"/>
            <a:ext cx="7940675" cy="2093912"/>
          </a:xfrm>
        </p:spPr>
        <p:txBody>
          <a:bodyPr/>
          <a:lstStyle/>
          <a:p>
            <a:r>
              <a:rPr lang="en-US" altLang="en-US" dirty="0"/>
              <a:t>Application protocols specify the format and control information necessary for common Internet functions. </a:t>
            </a:r>
          </a:p>
          <a:p>
            <a:r>
              <a:rPr lang="en-US" altLang="en-US" dirty="0"/>
              <a:t>Application layer protocols implemented on the source and destination host must be compatible to allow communication. </a:t>
            </a:r>
          </a:p>
          <a:p>
            <a:endParaRPr lang="en-US" altLang="en-US" dirty="0"/>
          </a:p>
        </p:txBody>
      </p:sp>
      <p:sp>
        <p:nvSpPr>
          <p:cNvPr id="15363" name="TextBox 6">
            <a:extLst>
              <a:ext uri="{FF2B5EF4-FFF2-40B4-BE49-F238E27FC236}">
                <a16:creationId xmlns:a16="http://schemas.microsoft.com/office/drawing/2014/main" id="{4ED3FCBC-B136-CC79-1D7C-97FDFAF0C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88" y="3832225"/>
            <a:ext cx="8099425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endParaRPr lang="en-US" altLang="en-US"/>
          </a:p>
          <a:p>
            <a:pPr algn="ctr">
              <a:lnSpc>
                <a:spcPct val="90000"/>
              </a:lnSpc>
            </a:pPr>
            <a:endParaRPr lang="en-US" altLang="en-US"/>
          </a:p>
        </p:txBody>
      </p:sp>
      <p:pic>
        <p:nvPicPr>
          <p:cNvPr id="15364" name="Image">
            <a:extLst>
              <a:ext uri="{FF2B5EF4-FFF2-40B4-BE49-F238E27FC236}">
                <a16:creationId xmlns:a16="http://schemas.microsoft.com/office/drawing/2014/main" id="{8072BD40-EBA3-E413-E8D8-EB96FD64C9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8" y="3770313"/>
            <a:ext cx="8520112" cy="14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Image">
            <a:extLst>
              <a:ext uri="{FF2B5EF4-FFF2-40B4-BE49-F238E27FC236}">
                <a16:creationId xmlns:a16="http://schemas.microsoft.com/office/drawing/2014/main" id="{75A954BB-B02A-32D6-372F-72B5012D81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8" y="5178425"/>
            <a:ext cx="8520112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0A92E85A-1D77-CA80-41A4-1C7AFCC9A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533400"/>
            <a:ext cx="8145462" cy="838200"/>
          </a:xfrm>
        </p:spPr>
        <p:txBody>
          <a:bodyPr/>
          <a:lstStyle/>
          <a:p>
            <a:r>
              <a:rPr lang="en-US" altLang="en-US"/>
              <a:t>Presentation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D1EE4-B508-794A-8ADA-3FD204FCB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00" y="1560513"/>
            <a:ext cx="4773613" cy="4960937"/>
          </a:xfrm>
        </p:spPr>
        <p:txBody>
          <a:bodyPr/>
          <a:lstStyle/>
          <a:p>
            <a:pPr>
              <a:buFont typeface="Wingdings" charset="2"/>
              <a:buChar char="§"/>
              <a:defRPr/>
            </a:pPr>
            <a:r>
              <a:rPr lang="en-US" sz="2000" dirty="0"/>
              <a:t>The presentation layer has three primary functions: </a:t>
            </a:r>
          </a:p>
          <a:p>
            <a:pPr lvl="1" eaLnBrk="1" hangingPunct="1">
              <a:lnSpc>
                <a:spcPct val="75000"/>
              </a:lnSpc>
              <a:defRPr/>
            </a:pPr>
            <a:r>
              <a:rPr lang="en-US" sz="1600" dirty="0"/>
              <a:t>Format data     </a:t>
            </a:r>
            <a:endParaRPr lang="en-US" altLang="en-US" sz="1600" dirty="0"/>
          </a:p>
          <a:p>
            <a:pPr lvl="1" eaLnBrk="1" hangingPunct="1">
              <a:lnSpc>
                <a:spcPct val="75000"/>
              </a:lnSpc>
              <a:defRPr/>
            </a:pPr>
            <a:r>
              <a:rPr lang="en-US" altLang="en-US" sz="1600" dirty="0"/>
              <a:t>Compress data </a:t>
            </a:r>
          </a:p>
          <a:p>
            <a:pPr lvl="1" eaLnBrk="1" hangingPunct="1">
              <a:lnSpc>
                <a:spcPct val="75000"/>
              </a:lnSpc>
              <a:defRPr/>
            </a:pPr>
            <a:r>
              <a:rPr lang="en-US" altLang="en-US" sz="1600" dirty="0"/>
              <a:t>Encrypt data</a:t>
            </a:r>
          </a:p>
          <a:p>
            <a:pPr marL="574675" lvl="1" indent="0" eaLnBrk="1" hangingPunct="1">
              <a:lnSpc>
                <a:spcPct val="75000"/>
              </a:lnSpc>
              <a:buFontTx/>
              <a:buNone/>
              <a:defRPr/>
            </a:pPr>
            <a:endParaRPr lang="en-US" altLang="en-US" sz="1600" dirty="0"/>
          </a:p>
          <a:p>
            <a:pPr eaLnBrk="1" hangingPunct="1">
              <a:lnSpc>
                <a:spcPct val="75000"/>
              </a:lnSpc>
              <a:buFont typeface="Wingdings" charset="2"/>
              <a:buChar char="§"/>
              <a:defRPr/>
            </a:pPr>
            <a:r>
              <a:rPr lang="en-US" sz="1800" dirty="0"/>
              <a:t>Common standards for video include QuickTime and Motion Picture Experts Group (MPEG). </a:t>
            </a:r>
          </a:p>
          <a:p>
            <a:pPr>
              <a:buFont typeface="Wingdings" charset="2"/>
              <a:buChar char="§"/>
              <a:defRPr/>
            </a:pPr>
            <a:r>
              <a:rPr lang="en-US" sz="1800" dirty="0"/>
              <a:t>Common graphic image formats are: </a:t>
            </a:r>
          </a:p>
          <a:p>
            <a:pPr>
              <a:buFont typeface="Wingdings" charset="2"/>
              <a:buChar char="§"/>
              <a:defRPr/>
            </a:pPr>
            <a:r>
              <a:rPr lang="en-US" sz="1800" dirty="0"/>
              <a:t>Graphics Interchange Format (GIF) </a:t>
            </a:r>
          </a:p>
          <a:p>
            <a:pPr>
              <a:buFont typeface="Wingdings" charset="2"/>
              <a:buChar char="§"/>
              <a:defRPr/>
            </a:pPr>
            <a:r>
              <a:rPr lang="en-US" sz="1800" dirty="0"/>
              <a:t>Joint Photographic Experts Group (JPEG) </a:t>
            </a:r>
          </a:p>
          <a:p>
            <a:pPr>
              <a:buFont typeface="Wingdings" charset="2"/>
              <a:buChar char="§"/>
              <a:defRPr/>
            </a:pPr>
            <a:r>
              <a:rPr lang="en-US" sz="1800" dirty="0"/>
              <a:t>Portable Network Graphics (PNG) format </a:t>
            </a:r>
          </a:p>
          <a:p>
            <a:pPr eaLnBrk="1" hangingPunct="1">
              <a:lnSpc>
                <a:spcPct val="75000"/>
              </a:lnSpc>
              <a:buFont typeface="Wingdings" charset="2"/>
              <a:buChar char="§"/>
              <a:defRPr/>
            </a:pPr>
            <a:endParaRPr lang="en-US" sz="1800" dirty="0"/>
          </a:p>
          <a:p>
            <a:pPr eaLnBrk="1" hangingPunct="1">
              <a:lnSpc>
                <a:spcPct val="75000"/>
              </a:lnSpc>
              <a:buFont typeface="Wingdings" charset="2"/>
              <a:buChar char="§"/>
              <a:defRPr/>
            </a:pPr>
            <a:endParaRPr lang="en-US" altLang="en-US" sz="1800" dirty="0"/>
          </a:p>
          <a:p>
            <a:pPr eaLnBrk="1" hangingPunct="1">
              <a:lnSpc>
                <a:spcPct val="75000"/>
              </a:lnSpc>
              <a:buFont typeface="Wingdings" charset="2"/>
              <a:buChar char="§"/>
              <a:defRPr/>
            </a:pPr>
            <a:endParaRPr lang="en-US" altLang="en-US" sz="1800" dirty="0"/>
          </a:p>
          <a:p>
            <a:pPr>
              <a:buFont typeface="Wingdings" charset="2"/>
              <a:buChar char="§"/>
              <a:defRPr/>
            </a:pPr>
            <a:endParaRPr lang="en-US" dirty="0"/>
          </a:p>
        </p:txBody>
      </p:sp>
      <p:pic>
        <p:nvPicPr>
          <p:cNvPr id="16387" name="Image">
            <a:extLst>
              <a:ext uri="{FF2B5EF4-FFF2-40B4-BE49-F238E27FC236}">
                <a16:creationId xmlns:a16="http://schemas.microsoft.com/office/drawing/2014/main" id="{097AA1BF-2975-ED8D-52D8-1193DF2E0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2070100"/>
            <a:ext cx="3805238" cy="322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61DD47AF-A8D7-704A-3217-021E2629E1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Session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9AB53-8998-8D40-A500-591CB395D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§"/>
              <a:defRPr/>
            </a:pPr>
            <a:r>
              <a:rPr lang="en-US" dirty="0"/>
              <a:t>The session layer creates and maintains dialogs between source and destination applications. </a:t>
            </a:r>
          </a:p>
          <a:p>
            <a:pPr>
              <a:buFont typeface="Wingdings" charset="2"/>
              <a:buChar char="§"/>
              <a:defRPr/>
            </a:pPr>
            <a:r>
              <a:rPr lang="en-US" dirty="0"/>
              <a:t>The session layer handles </a:t>
            </a:r>
          </a:p>
          <a:p>
            <a:pPr marL="641350" indent="-241300">
              <a:buFont typeface="Wingdings" charset="2"/>
              <a:buChar char="§"/>
              <a:tabLst>
                <a:tab pos="560388" algn="l"/>
              </a:tabLst>
              <a:defRPr/>
            </a:pPr>
            <a:r>
              <a:rPr lang="en-US" dirty="0"/>
              <a:t>The exchange of information to initiate dialogs, </a:t>
            </a:r>
          </a:p>
          <a:p>
            <a:pPr marL="641350" indent="-241300">
              <a:buFont typeface="Wingdings" charset="2"/>
              <a:buChar char="§"/>
              <a:tabLst>
                <a:tab pos="560388" algn="l"/>
              </a:tabLst>
              <a:defRPr/>
            </a:pPr>
            <a:r>
              <a:rPr lang="en-US" dirty="0"/>
              <a:t>Keep them active,  </a:t>
            </a:r>
          </a:p>
          <a:p>
            <a:pPr marL="641350" indent="-241300">
              <a:buFont typeface="Wingdings" charset="2"/>
              <a:buChar char="§"/>
              <a:tabLst>
                <a:tab pos="560388" algn="l"/>
              </a:tabLst>
              <a:defRPr/>
            </a:pPr>
            <a:r>
              <a:rPr lang="en-US" dirty="0"/>
              <a:t>Restart sessions that are disrupted or idle for a long period of time. </a:t>
            </a:r>
            <a:endParaRPr lang="en-US" altLang="en-US" dirty="0"/>
          </a:p>
          <a:p>
            <a:pPr>
              <a:buFont typeface="Wingdings" charset="2"/>
              <a:buChar char="§"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4">
            <a:extLst>
              <a:ext uri="{FF2B5EF4-FFF2-40B4-BE49-F238E27FC236}">
                <a16:creationId xmlns:a16="http://schemas.microsoft.com/office/drawing/2014/main" id="{A26B2619-47BD-C270-0A63-7E33F5C5E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713" y="3313113"/>
            <a:ext cx="4586287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4" name="Rectangle 2">
            <a:extLst>
              <a:ext uri="{FF2B5EF4-FFF2-40B4-BE49-F238E27FC236}">
                <a16:creationId xmlns:a16="http://schemas.microsoft.com/office/drawing/2014/main" id="{7A52CB8C-90AB-C869-CF79-45F6D40D16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349250"/>
            <a:ext cx="8145462" cy="838200"/>
          </a:xfrm>
        </p:spPr>
        <p:txBody>
          <a:bodyPr/>
          <a:lstStyle/>
          <a:p>
            <a:pPr algn="ctr" eaLnBrk="1" hangingPunct="1"/>
            <a:r>
              <a:rPr lang="en-US" altLang="en-US"/>
              <a:t>Application Layer Protocols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A7BA3A08-F8F2-E445-B3A3-65166679E6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331913"/>
            <a:ext cx="4868863" cy="5202237"/>
          </a:xfrm>
        </p:spPr>
        <p:txBody>
          <a:bodyPr/>
          <a:lstStyle/>
          <a:p>
            <a:pPr eaLnBrk="1" hangingPunct="1">
              <a:buFont typeface="Wingdings" charset="2"/>
              <a:buChar char="§"/>
              <a:defRPr/>
            </a:pPr>
            <a:r>
              <a:rPr lang="en-US" altLang="en-US" sz="1800" dirty="0"/>
              <a:t>Widely used Application layer protocols that are used</a:t>
            </a:r>
          </a:p>
          <a:p>
            <a:pPr marL="295275" lvl="1" indent="-173038" eaLnBrk="1" hangingPunct="1">
              <a:defRPr/>
            </a:pPr>
            <a:endParaRPr lang="en-US" altLang="en-US" sz="1600" b="1" dirty="0"/>
          </a:p>
          <a:p>
            <a:pPr marL="295275" lvl="1" indent="-173038" eaLnBrk="1" hangingPunct="1">
              <a:defRPr/>
            </a:pPr>
            <a:r>
              <a:rPr lang="en-US" altLang="en-US" sz="1600" b="1" dirty="0"/>
              <a:t>Domain Name Service Protocol (DNS) </a:t>
            </a:r>
            <a:r>
              <a:rPr lang="en-US" altLang="en-US" sz="1600" dirty="0"/>
              <a:t>is used to resolve Internet names to IP addresses</a:t>
            </a:r>
          </a:p>
          <a:p>
            <a:pPr marL="295275" lvl="1" indent="-234950" eaLnBrk="1" hangingPunct="1">
              <a:defRPr/>
            </a:pPr>
            <a:endParaRPr lang="en-US" altLang="en-US" sz="1600" b="1" dirty="0"/>
          </a:p>
          <a:p>
            <a:pPr marL="295275" lvl="1" indent="-234950" eaLnBrk="1" hangingPunct="1">
              <a:defRPr/>
            </a:pPr>
            <a:r>
              <a:rPr lang="en-US" altLang="en-US" sz="1600" b="1" dirty="0"/>
              <a:t>Hypertext Transfer Protocol (HTTP) </a:t>
            </a:r>
            <a:r>
              <a:rPr lang="en-US" altLang="en-US" sz="1600" dirty="0"/>
              <a:t>is used to transfer files that make up the Web pages of the World Wide Web</a:t>
            </a:r>
          </a:p>
          <a:p>
            <a:pPr marL="295275" lvl="1" indent="-234950" eaLnBrk="1" hangingPunct="1">
              <a:defRPr/>
            </a:pPr>
            <a:endParaRPr lang="en-US" altLang="en-US" sz="1600" b="1" dirty="0"/>
          </a:p>
          <a:p>
            <a:pPr marL="295275" lvl="1" indent="-234950" eaLnBrk="1" hangingPunct="1">
              <a:defRPr/>
            </a:pPr>
            <a:r>
              <a:rPr lang="en-US" altLang="en-US" sz="1600" b="1" dirty="0"/>
              <a:t>Simple Mail </a:t>
            </a:r>
            <a:r>
              <a:rPr lang="en-US" altLang="en-US" sz="1600" b="1" dirty="0" err="1"/>
              <a:t>Transfe</a:t>
            </a:r>
            <a:r>
              <a:rPr lang="en-US" altLang="en-US" sz="1600" b="1" dirty="0"/>
              <a:t> Protocol (SMTP) </a:t>
            </a:r>
            <a:r>
              <a:rPr lang="en-US" altLang="en-US" sz="1600" dirty="0"/>
              <a:t>is used for the transfer of mail messages and attachments</a:t>
            </a:r>
          </a:p>
          <a:p>
            <a:pPr marL="295275" lvl="1" indent="-234950" eaLnBrk="1" hangingPunct="1">
              <a:defRPr/>
            </a:pPr>
            <a:endParaRPr lang="en-US" altLang="en-US" sz="1600" b="1" dirty="0"/>
          </a:p>
          <a:p>
            <a:pPr marL="295275" lvl="1" indent="-234950" eaLnBrk="1" hangingPunct="1">
              <a:defRPr/>
            </a:pPr>
            <a:r>
              <a:rPr lang="en-US" altLang="en-US" sz="1600" b="1" dirty="0"/>
              <a:t>Telnet,</a:t>
            </a:r>
            <a:r>
              <a:rPr lang="en-US" altLang="en-US" sz="1600" dirty="0"/>
              <a:t> is used to provide remote access to servers and networking devices</a:t>
            </a:r>
          </a:p>
          <a:p>
            <a:pPr marL="295275" lvl="1" indent="-234950" eaLnBrk="1" hangingPunct="1">
              <a:defRPr/>
            </a:pPr>
            <a:r>
              <a:rPr lang="en-US" altLang="en-US" sz="1600" b="1" dirty="0"/>
              <a:t>File Transfer Protocol (FTP) </a:t>
            </a:r>
            <a:r>
              <a:rPr lang="en-US" altLang="en-US" sz="1600" dirty="0"/>
              <a:t>is used for interactive file transfer between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B33B5554-F6A7-2F90-D9E4-ADC40B43F2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382588"/>
            <a:ext cx="8145462" cy="838200"/>
          </a:xfrm>
        </p:spPr>
        <p:txBody>
          <a:bodyPr/>
          <a:lstStyle/>
          <a:p>
            <a:pPr algn="ctr" eaLnBrk="1" hangingPunct="1"/>
            <a:r>
              <a:rPr lang="en-US" altLang="en-US"/>
              <a:t>Application Layer Software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8FFC3494-A535-CD4E-ABE6-0820E66BF5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3213" y="1311275"/>
            <a:ext cx="8674100" cy="2309813"/>
          </a:xfrm>
        </p:spPr>
        <p:txBody>
          <a:bodyPr/>
          <a:lstStyle/>
          <a:p>
            <a:pPr eaLnBrk="1" hangingPunct="1">
              <a:lnSpc>
                <a:spcPct val="75000"/>
              </a:lnSpc>
              <a:buFont typeface="Wingdings" charset="2"/>
              <a:buChar char="§"/>
              <a:defRPr/>
            </a:pPr>
            <a:r>
              <a:rPr lang="en-US" altLang="en-US" sz="1800" dirty="0"/>
              <a:t>There are two forms of software processes that provide access to the network: </a:t>
            </a:r>
          </a:p>
          <a:p>
            <a:pPr marL="0" indent="0" eaLnBrk="1" hangingPunct="1">
              <a:lnSpc>
                <a:spcPct val="75000"/>
              </a:lnSpc>
              <a:buFont typeface="Wingdings" charset="2"/>
              <a:buNone/>
              <a:defRPr/>
            </a:pPr>
            <a:r>
              <a:rPr lang="en-US" altLang="en-US" sz="1800" dirty="0"/>
              <a:t>   Applications and Services</a:t>
            </a:r>
          </a:p>
          <a:p>
            <a:pPr eaLnBrk="1" hangingPunct="1">
              <a:lnSpc>
                <a:spcPct val="75000"/>
              </a:lnSpc>
              <a:buFont typeface="Wingdings" charset="2"/>
              <a:buChar char="§"/>
              <a:defRPr/>
            </a:pPr>
            <a:r>
              <a:rPr lang="en-US" altLang="en-US" sz="1800" b="1" dirty="0"/>
              <a:t>Network-Aware Application</a:t>
            </a:r>
            <a:r>
              <a:rPr lang="en-US" altLang="en-US" sz="1800" dirty="0"/>
              <a:t>: they implement the application layer protocols and are able to communicate directly with the lower layers of the protocol stack e.g. E-mail clients and web browsers</a:t>
            </a:r>
          </a:p>
          <a:p>
            <a:pPr eaLnBrk="1" hangingPunct="1">
              <a:lnSpc>
                <a:spcPct val="75000"/>
              </a:lnSpc>
              <a:buFont typeface="Wingdings" charset="2"/>
              <a:buChar char="§"/>
              <a:defRPr/>
            </a:pPr>
            <a:r>
              <a:rPr lang="en-US" altLang="en-US" sz="1800" b="1" dirty="0"/>
              <a:t>Application Layer Services: </a:t>
            </a:r>
            <a:r>
              <a:rPr lang="en-US" altLang="en-US" sz="1800" dirty="0"/>
              <a:t>Other programs may need the assistance of Application layer services to use network resources, like file transfer or network print spooling. These services prepare the data for transfer</a:t>
            </a:r>
          </a:p>
        </p:txBody>
      </p:sp>
      <p:pic>
        <p:nvPicPr>
          <p:cNvPr id="20483" name="Picture 4">
            <a:extLst>
              <a:ext uri="{FF2B5EF4-FFF2-40B4-BE49-F238E27FC236}">
                <a16:creationId xmlns:a16="http://schemas.microsoft.com/office/drawing/2014/main" id="{706A3760-214F-910B-4B0A-3F8A5840A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95" t="21358" r="4274" b="23157"/>
          <a:stretch>
            <a:fillRect/>
          </a:stretch>
        </p:blipFill>
        <p:spPr bwMode="auto">
          <a:xfrm>
            <a:off x="1971675" y="3695700"/>
            <a:ext cx="5337175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Rectangle 5">
            <a:extLst>
              <a:ext uri="{FF2B5EF4-FFF2-40B4-BE49-F238E27FC236}">
                <a16:creationId xmlns:a16="http://schemas.microsoft.com/office/drawing/2014/main" id="{C37881D7-534C-719D-157C-0D93EF443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4250" y="4692650"/>
            <a:ext cx="501650" cy="1397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124" tIns="41061" rIns="82124" bIns="4106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endParaRPr lang="en-US" altLang="en-US"/>
          </a:p>
        </p:txBody>
      </p:sp>
      <p:sp>
        <p:nvSpPr>
          <p:cNvPr id="20485" name="Rectangle 10">
            <a:extLst>
              <a:ext uri="{FF2B5EF4-FFF2-40B4-BE49-F238E27FC236}">
                <a16:creationId xmlns:a16="http://schemas.microsoft.com/office/drawing/2014/main" id="{988C72EC-0281-C64C-4AD5-94D7D9CD7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4725" y="5273675"/>
            <a:ext cx="501650" cy="115888"/>
          </a:xfrm>
          <a:prstGeom prst="rect">
            <a:avLst/>
          </a:prstGeom>
          <a:noFill/>
          <a:ln w="38100">
            <a:solidFill>
              <a:srgbClr val="35297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2124" tIns="41061" rIns="82124" bIns="4106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endParaRPr lang="en-US" altLang="en-US"/>
          </a:p>
        </p:txBody>
      </p:sp>
      <p:sp>
        <p:nvSpPr>
          <p:cNvPr id="20486" name="Freeform 11">
            <a:extLst>
              <a:ext uri="{FF2B5EF4-FFF2-40B4-BE49-F238E27FC236}">
                <a16:creationId xmlns:a16="http://schemas.microsoft.com/office/drawing/2014/main" id="{9AB16960-5565-9D73-A19F-D2C5F57FB25D}"/>
              </a:ext>
            </a:extLst>
          </p:cNvPr>
          <p:cNvSpPr>
            <a:spLocks/>
          </p:cNvSpPr>
          <p:nvPr/>
        </p:nvSpPr>
        <p:spPr bwMode="auto">
          <a:xfrm>
            <a:off x="2776538" y="4752975"/>
            <a:ext cx="2571750" cy="52388"/>
          </a:xfrm>
          <a:custGeom>
            <a:avLst/>
            <a:gdLst>
              <a:gd name="T0" fmla="*/ 2147483646 w 1620"/>
              <a:gd name="T1" fmla="*/ 2147483646 h 33"/>
              <a:gd name="T2" fmla="*/ 2147483646 w 1620"/>
              <a:gd name="T3" fmla="*/ 2147483646 h 33"/>
              <a:gd name="T4" fmla="*/ 2147483646 w 1620"/>
              <a:gd name="T5" fmla="*/ 0 h 33"/>
              <a:gd name="T6" fmla="*/ 0 w 1620"/>
              <a:gd name="T7" fmla="*/ 0 h 33"/>
              <a:gd name="T8" fmla="*/ 0 60000 65536"/>
              <a:gd name="T9" fmla="*/ 0 60000 65536"/>
              <a:gd name="T10" fmla="*/ 0 60000 65536"/>
              <a:gd name="T11" fmla="*/ 0 60000 65536"/>
              <a:gd name="T12" fmla="*/ 0 w 1620"/>
              <a:gd name="T13" fmla="*/ 0 h 33"/>
              <a:gd name="T14" fmla="*/ 1620 w 1620"/>
              <a:gd name="T15" fmla="*/ 33 h 3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0" h="33">
                <a:moveTo>
                  <a:pt x="1620" y="33"/>
                </a:moveTo>
                <a:lnTo>
                  <a:pt x="741" y="33"/>
                </a:lnTo>
                <a:lnTo>
                  <a:pt x="741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124" tIns="41061" rIns="82124" bIns="41061" anchor="ctr">
            <a:spAutoFit/>
          </a:bodyPr>
          <a:lstStyle/>
          <a:p>
            <a:endParaRPr lang="en-US"/>
          </a:p>
        </p:txBody>
      </p:sp>
      <p:sp>
        <p:nvSpPr>
          <p:cNvPr id="20487" name="Freeform 13">
            <a:extLst>
              <a:ext uri="{FF2B5EF4-FFF2-40B4-BE49-F238E27FC236}">
                <a16:creationId xmlns:a16="http://schemas.microsoft.com/office/drawing/2014/main" id="{4DB25F7C-054B-B3CA-5C8D-18B3CD35626F}"/>
              </a:ext>
            </a:extLst>
          </p:cNvPr>
          <p:cNvSpPr>
            <a:spLocks/>
          </p:cNvSpPr>
          <p:nvPr/>
        </p:nvSpPr>
        <p:spPr bwMode="auto">
          <a:xfrm>
            <a:off x="2768600" y="5270500"/>
            <a:ext cx="2571750" cy="57150"/>
          </a:xfrm>
          <a:custGeom>
            <a:avLst/>
            <a:gdLst>
              <a:gd name="T0" fmla="*/ 2147483646 w 1620"/>
              <a:gd name="T1" fmla="*/ 0 h 36"/>
              <a:gd name="T2" fmla="*/ 2147483646 w 1620"/>
              <a:gd name="T3" fmla="*/ 0 h 36"/>
              <a:gd name="T4" fmla="*/ 2147483646 w 1620"/>
              <a:gd name="T5" fmla="*/ 2147483646 h 36"/>
              <a:gd name="T6" fmla="*/ 0 w 1620"/>
              <a:gd name="T7" fmla="*/ 2147483646 h 36"/>
              <a:gd name="T8" fmla="*/ 0 60000 65536"/>
              <a:gd name="T9" fmla="*/ 0 60000 65536"/>
              <a:gd name="T10" fmla="*/ 0 60000 65536"/>
              <a:gd name="T11" fmla="*/ 0 60000 65536"/>
              <a:gd name="T12" fmla="*/ 0 w 1620"/>
              <a:gd name="T13" fmla="*/ 0 h 36"/>
              <a:gd name="T14" fmla="*/ 1620 w 1620"/>
              <a:gd name="T15" fmla="*/ 36 h 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0" h="36">
                <a:moveTo>
                  <a:pt x="1620" y="0"/>
                </a:moveTo>
                <a:lnTo>
                  <a:pt x="740" y="0"/>
                </a:lnTo>
                <a:lnTo>
                  <a:pt x="740" y="36"/>
                </a:lnTo>
                <a:lnTo>
                  <a:pt x="0" y="36"/>
                </a:lnTo>
              </a:path>
            </a:pathLst>
          </a:custGeom>
          <a:noFill/>
          <a:ln w="12700">
            <a:solidFill>
              <a:srgbClr val="35297D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124" tIns="41061" rIns="82124" bIns="41061" anchor="ctr">
            <a:spAutoFit/>
          </a:bodyPr>
          <a:lstStyle/>
          <a:p>
            <a:endParaRPr lang="en-US"/>
          </a:p>
        </p:txBody>
      </p:sp>
      <p:sp>
        <p:nvSpPr>
          <p:cNvPr id="20488" name="Rectangle 16">
            <a:extLst>
              <a:ext uri="{FF2B5EF4-FFF2-40B4-BE49-F238E27FC236}">
                <a16:creationId xmlns:a16="http://schemas.microsoft.com/office/drawing/2014/main" id="{A5A28892-75D6-0444-CD9C-2E29A408C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1550" y="6076950"/>
            <a:ext cx="590550" cy="139700"/>
          </a:xfrm>
          <a:prstGeom prst="rect">
            <a:avLst/>
          </a:prstGeom>
          <a:noFill/>
          <a:ln w="38100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2124" tIns="41061" rIns="82124" bIns="4106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endParaRPr lang="en-US" altLang="en-US"/>
          </a:p>
        </p:txBody>
      </p:sp>
      <p:sp>
        <p:nvSpPr>
          <p:cNvPr id="20489" name="Freeform 17">
            <a:extLst>
              <a:ext uri="{FF2B5EF4-FFF2-40B4-BE49-F238E27FC236}">
                <a16:creationId xmlns:a16="http://schemas.microsoft.com/office/drawing/2014/main" id="{8977AD15-51D7-5777-7A9A-ECF1CE9FB49D}"/>
              </a:ext>
            </a:extLst>
          </p:cNvPr>
          <p:cNvSpPr>
            <a:spLocks/>
          </p:cNvSpPr>
          <p:nvPr/>
        </p:nvSpPr>
        <p:spPr bwMode="auto">
          <a:xfrm>
            <a:off x="2844800" y="5746750"/>
            <a:ext cx="2495550" cy="393700"/>
          </a:xfrm>
          <a:custGeom>
            <a:avLst/>
            <a:gdLst>
              <a:gd name="T0" fmla="*/ 2147483646 w 1572"/>
              <a:gd name="T1" fmla="*/ 0 h 248"/>
              <a:gd name="T2" fmla="*/ 2147483646 w 1572"/>
              <a:gd name="T3" fmla="*/ 0 h 248"/>
              <a:gd name="T4" fmla="*/ 2147483646 w 1572"/>
              <a:gd name="T5" fmla="*/ 2147483646 h 248"/>
              <a:gd name="T6" fmla="*/ 0 w 1572"/>
              <a:gd name="T7" fmla="*/ 2147483646 h 248"/>
              <a:gd name="T8" fmla="*/ 0 60000 65536"/>
              <a:gd name="T9" fmla="*/ 0 60000 65536"/>
              <a:gd name="T10" fmla="*/ 0 60000 65536"/>
              <a:gd name="T11" fmla="*/ 0 60000 65536"/>
              <a:gd name="T12" fmla="*/ 0 w 1572"/>
              <a:gd name="T13" fmla="*/ 0 h 248"/>
              <a:gd name="T14" fmla="*/ 1572 w 1572"/>
              <a:gd name="T15" fmla="*/ 248 h 24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72" h="248">
                <a:moveTo>
                  <a:pt x="1572" y="0"/>
                </a:moveTo>
                <a:lnTo>
                  <a:pt x="692" y="0"/>
                </a:lnTo>
                <a:lnTo>
                  <a:pt x="692" y="248"/>
                </a:lnTo>
                <a:lnTo>
                  <a:pt x="0" y="248"/>
                </a:lnTo>
              </a:path>
            </a:pathLst>
          </a:custGeom>
          <a:noFill/>
          <a:ln w="12700">
            <a:solidFill>
              <a:srgbClr val="0099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124" tIns="41061" rIns="82124" bIns="41061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08E790F3-FCDE-1C7E-1AF9-B4EFC0D256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550863"/>
            <a:ext cx="8145462" cy="838200"/>
          </a:xfrm>
        </p:spPr>
        <p:txBody>
          <a:bodyPr/>
          <a:lstStyle/>
          <a:p>
            <a:pPr algn="ctr" eaLnBrk="1" hangingPunct="1"/>
            <a:r>
              <a:rPr lang="en-US" altLang="en-US"/>
              <a:t>The Client/Server Model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CF701A99-9C5B-49D8-9A99-8AA49625AA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4950" y="1520825"/>
            <a:ext cx="8723313" cy="2085975"/>
          </a:xfrm>
        </p:spPr>
        <p:txBody>
          <a:bodyPr/>
          <a:lstStyle/>
          <a:p>
            <a:pPr eaLnBrk="1" hangingPunct="1"/>
            <a:r>
              <a:rPr lang="en-US" altLang="en-US" sz="2000"/>
              <a:t>The device requesting the information is called a client </a:t>
            </a:r>
          </a:p>
          <a:p>
            <a:pPr eaLnBrk="1" hangingPunct="1"/>
            <a:r>
              <a:rPr lang="en-US" altLang="en-US" sz="2000"/>
              <a:t>The device responding to the request is called a server</a:t>
            </a:r>
          </a:p>
          <a:p>
            <a:pPr eaLnBrk="1" hangingPunct="1"/>
            <a:r>
              <a:rPr lang="en-US" altLang="en-US" sz="2000"/>
              <a:t>Client and server processes are considered to be in the Application layer</a:t>
            </a:r>
          </a:p>
          <a:p>
            <a:pPr eaLnBrk="1" hangingPunct="1"/>
            <a:r>
              <a:rPr lang="en-US" altLang="en-US" sz="2000"/>
              <a:t>Application layer protocols describe the format of the requests and responses between clients and servers</a:t>
            </a:r>
          </a:p>
        </p:txBody>
      </p:sp>
      <p:pic>
        <p:nvPicPr>
          <p:cNvPr id="21507" name="Picture 4">
            <a:extLst>
              <a:ext uri="{FF2B5EF4-FFF2-40B4-BE49-F238E27FC236}">
                <a16:creationId xmlns:a16="http://schemas.microsoft.com/office/drawing/2014/main" id="{15001C86-2C0D-A955-3FDC-F75F7945D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363" y="3835400"/>
            <a:ext cx="7124700" cy="272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5">
            <a:extLst>
              <a:ext uri="{FF2B5EF4-FFF2-40B4-BE49-F238E27FC236}">
                <a16:creationId xmlns:a16="http://schemas.microsoft.com/office/drawing/2014/main" id="{6BAD17C7-29FA-E439-7A5A-E0360A923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99" t="48799" r="22092" b="34578"/>
          <a:stretch>
            <a:fillRect/>
          </a:stretch>
        </p:blipFill>
        <p:spPr bwMode="auto">
          <a:xfrm>
            <a:off x="3163888" y="5233988"/>
            <a:ext cx="3227387" cy="90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617F6EE1-7D75-6D57-19AC-8A6FD552C7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479425"/>
            <a:ext cx="8145462" cy="838200"/>
          </a:xfrm>
        </p:spPr>
        <p:txBody>
          <a:bodyPr/>
          <a:lstStyle/>
          <a:p>
            <a:pPr algn="ctr" eaLnBrk="1" hangingPunct="1"/>
            <a:r>
              <a:rPr lang="en-US" altLang="en-US"/>
              <a:t>Servers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51A27765-6D40-0B28-D7DC-85A5EC6295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4163" y="1408113"/>
            <a:ext cx="8748712" cy="2516187"/>
          </a:xfrm>
        </p:spPr>
        <p:txBody>
          <a:bodyPr/>
          <a:lstStyle/>
          <a:p>
            <a:pPr eaLnBrk="1" hangingPunct="1">
              <a:lnSpc>
                <a:spcPct val="75000"/>
              </a:lnSpc>
            </a:pPr>
            <a:r>
              <a:rPr lang="en-US" altLang="en-US" sz="1900"/>
              <a:t>A server is usually a computer that contains information to be shared with many client systems (web pages, documents, databases, pictures, video, audio, etc)</a:t>
            </a:r>
          </a:p>
          <a:p>
            <a:pPr eaLnBrk="1" hangingPunct="1">
              <a:lnSpc>
                <a:spcPct val="75000"/>
              </a:lnSpc>
            </a:pPr>
            <a:r>
              <a:rPr lang="en-US" altLang="en-US" sz="1900"/>
              <a:t>Servers might require client authentication</a:t>
            </a:r>
          </a:p>
          <a:p>
            <a:pPr eaLnBrk="1" hangingPunct="1">
              <a:lnSpc>
                <a:spcPct val="75000"/>
              </a:lnSpc>
            </a:pPr>
            <a:r>
              <a:rPr lang="en-US" altLang="en-US" sz="1900"/>
              <a:t>In a client/server network, the server runs a service, or process, sometimes called a server daemon</a:t>
            </a:r>
          </a:p>
        </p:txBody>
      </p:sp>
      <p:pic>
        <p:nvPicPr>
          <p:cNvPr id="23555" name="Picture 4">
            <a:extLst>
              <a:ext uri="{FF2B5EF4-FFF2-40B4-BE49-F238E27FC236}">
                <a16:creationId xmlns:a16="http://schemas.microsoft.com/office/drawing/2014/main" id="{8363FC52-34EE-6A13-97DF-0FE097258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67" t="18333" r="3021" b="23000"/>
          <a:stretch>
            <a:fillRect/>
          </a:stretch>
        </p:blipFill>
        <p:spPr bwMode="auto">
          <a:xfrm>
            <a:off x="2197100" y="3924300"/>
            <a:ext cx="4826000" cy="293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ext 1">
            <a:extLst>
              <a:ext uri="{FF2B5EF4-FFF2-40B4-BE49-F238E27FC236}">
                <a16:creationId xmlns:a16="http://schemas.microsoft.com/office/drawing/2014/main" id="{FC4A5CE6-87E7-DBF6-5234-E23DD094A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2850" y="6180138"/>
            <a:ext cx="377825" cy="7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500">
                <a:solidFill>
                  <a:srgbClr val="808080"/>
                </a:solidFill>
                <a:cs typeface="Arial" panose="020B0604020202020204" pitchFamily="34" charset="0"/>
              </a:rPr>
              <a:t>Cisco Public</a:t>
            </a:r>
            <a:endParaRPr lang="en-US" altLang="en-US" sz="500">
              <a:cs typeface="Arial" panose="020B0604020202020204" pitchFamily="34" charset="0"/>
            </a:endParaRPr>
          </a:p>
        </p:txBody>
      </p:sp>
      <p:sp>
        <p:nvSpPr>
          <p:cNvPr id="24578" name="text 1">
            <a:extLst>
              <a:ext uri="{FF2B5EF4-FFF2-40B4-BE49-F238E27FC236}">
                <a16:creationId xmlns:a16="http://schemas.microsoft.com/office/drawing/2014/main" id="{9AD7B21F-845F-5DA9-5DEB-F786350AA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1175" y="6176963"/>
            <a:ext cx="74613" cy="7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500">
                <a:solidFill>
                  <a:srgbClr val="808080"/>
                </a:solidFill>
                <a:cs typeface="Arial" panose="020B0604020202020204" pitchFamily="34" charset="0"/>
              </a:rPr>
              <a:t>11</a:t>
            </a:r>
            <a:endParaRPr lang="en-US" altLang="en-US" sz="500">
              <a:cs typeface="Arial" panose="020B0604020202020204" pitchFamily="34" charset="0"/>
            </a:endParaRPr>
          </a:p>
        </p:txBody>
      </p:sp>
      <p:sp>
        <p:nvSpPr>
          <p:cNvPr id="24579" name="text 1">
            <a:extLst>
              <a:ext uri="{FF2B5EF4-FFF2-40B4-BE49-F238E27FC236}">
                <a16:creationId xmlns:a16="http://schemas.microsoft.com/office/drawing/2014/main" id="{80D3A300-1E11-ADA8-CBAB-09ACE0362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675" y="1628775"/>
            <a:ext cx="8564563" cy="241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71450" indent="-1714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500">
                <a:cs typeface="Arial" panose="020B0604020202020204" pitchFamily="34" charset="0"/>
              </a:rPr>
              <a:t>•  </a:t>
            </a:r>
            <a:r>
              <a:rPr lang="en-US" altLang="en-US" sz="2000">
                <a:cs typeface="Arial" panose="020B0604020202020204" pitchFamily="34" charset="0"/>
              </a:rPr>
              <a:t>In (P2P) Networking the data is accessed without the use of a dedicated server.</a:t>
            </a:r>
          </a:p>
          <a:p>
            <a:r>
              <a:rPr lang="en-US" altLang="en-US" sz="2000">
                <a:cs typeface="Arial" panose="020B0604020202020204" pitchFamily="34" charset="0"/>
              </a:rPr>
              <a:t>•  Two or more computers can be connected to a P2P network to share</a:t>
            </a:r>
          </a:p>
          <a:p>
            <a:r>
              <a:rPr lang="en-US" altLang="en-US" sz="2000">
                <a:cs typeface="Arial" panose="020B0604020202020204" pitchFamily="34" charset="0"/>
              </a:rPr>
              <a:t>resources.</a:t>
            </a:r>
          </a:p>
          <a:p>
            <a:r>
              <a:rPr lang="en-US" altLang="en-US" sz="2000">
                <a:cs typeface="Arial" panose="020B0604020202020204" pitchFamily="34" charset="0"/>
              </a:rPr>
              <a:t>•  Every connected end device (a peer) can function as both a server and</a:t>
            </a:r>
          </a:p>
          <a:p>
            <a:r>
              <a:rPr lang="en-US" altLang="en-US" sz="2000">
                <a:cs typeface="Arial" panose="020B0604020202020204" pitchFamily="34" charset="0"/>
              </a:rPr>
              <a:t>a client.</a:t>
            </a:r>
          </a:p>
          <a:p>
            <a:endParaRPr lang="en-US" altLang="en-US" sz="2000">
              <a:cs typeface="Arial" panose="020B0604020202020204" pitchFamily="34" charset="0"/>
            </a:endParaRPr>
          </a:p>
          <a:p>
            <a:endParaRPr lang="en-US" altLang="en-US" sz="1700">
              <a:cs typeface="Arial" panose="020B0604020202020204" pitchFamily="34" charset="0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1038CC69-3779-6A40-A130-D1833D7E6FD2}"/>
              </a:ext>
            </a:extLst>
          </p:cNvPr>
          <p:cNvSpPr txBox="1"/>
          <p:nvPr/>
        </p:nvSpPr>
        <p:spPr>
          <a:xfrm>
            <a:off x="444500" y="4498975"/>
            <a:ext cx="3076575" cy="7810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sz="1514" spc="9" dirty="0">
                <a:latin typeface="Arial"/>
                <a:cs typeface="Arial"/>
              </a:rPr>
              <a:t>•  </a:t>
            </a:r>
            <a:r>
              <a:rPr sz="1685" spc="9" dirty="0">
                <a:latin typeface="Arial"/>
                <a:cs typeface="Arial"/>
              </a:rPr>
              <a:t>The roles of client and</a:t>
            </a:r>
            <a:endParaRPr sz="1625" dirty="0">
              <a:latin typeface="Arial"/>
              <a:cs typeface="Arial"/>
            </a:endParaRPr>
          </a:p>
          <a:p>
            <a:pPr marL="195478">
              <a:defRPr/>
            </a:pPr>
            <a:r>
              <a:rPr sz="1685" spc="9" dirty="0">
                <a:latin typeface="Arial"/>
                <a:cs typeface="Arial"/>
              </a:rPr>
              <a:t>server are set on</a:t>
            </a:r>
            <a:r>
              <a:rPr lang="en-US" sz="1685" spc="9" dirty="0">
                <a:latin typeface="Arial"/>
                <a:cs typeface="Arial"/>
              </a:rPr>
              <a:t> </a:t>
            </a:r>
            <a:r>
              <a:rPr sz="1710" spc="9" dirty="0">
                <a:latin typeface="Arial"/>
                <a:cs typeface="Arial"/>
              </a:rPr>
              <a:t>request basis.</a:t>
            </a:r>
            <a:endParaRPr sz="1710" dirty="0">
              <a:latin typeface="Arial"/>
              <a:cs typeface="Arial"/>
            </a:endParaRPr>
          </a:p>
        </p:txBody>
      </p:sp>
      <p:pic>
        <p:nvPicPr>
          <p:cNvPr id="24581" name="Image">
            <a:extLst>
              <a:ext uri="{FF2B5EF4-FFF2-40B4-BE49-F238E27FC236}">
                <a16:creationId xmlns:a16="http://schemas.microsoft.com/office/drawing/2014/main" id="{01571147-B6C9-6929-735E-7EFFA86D6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100" y="3529013"/>
            <a:ext cx="4738688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45C7CC9A-CCBF-0041-BFE9-CE20025E6E49}"/>
              </a:ext>
            </a:extLst>
          </p:cNvPr>
          <p:cNvSpPr txBox="1">
            <a:spLocks noChangeArrowheads="1"/>
          </p:cNvSpPr>
          <p:nvPr/>
        </p:nvSpPr>
        <p:spPr>
          <a:xfrm>
            <a:off x="320675" y="790575"/>
            <a:ext cx="8145463" cy="617538"/>
          </a:xfrm>
          <a:prstGeom prst="rect">
            <a:avLst/>
          </a:prstGeom>
        </p:spPr>
        <p:txBody>
          <a:bodyPr/>
          <a:lstStyle>
            <a:lvl1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+mj-lt"/>
                <a:ea typeface="+mj-ea"/>
                <a:cs typeface="+mj-cs"/>
              </a:defRPr>
            </a:lvl1pPr>
            <a:lvl2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2pPr>
            <a:lvl3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3pPr>
            <a:lvl4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4pPr>
            <a:lvl5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5pPr>
            <a:lvl6pPr marL="457200" algn="l" defTabSz="81438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6pPr>
            <a:lvl7pPr marL="914400" algn="l" defTabSz="81438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7pPr>
            <a:lvl8pPr marL="1371600" algn="l" defTabSz="81438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8pPr>
            <a:lvl9pPr marL="1828800" algn="l" defTabSz="81438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kern="0" dirty="0"/>
              <a:t>Peer to Peer Network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ext 1">
            <a:extLst>
              <a:ext uri="{FF2B5EF4-FFF2-40B4-BE49-F238E27FC236}">
                <a16:creationId xmlns:a16="http://schemas.microsoft.com/office/drawing/2014/main" id="{7C4DCE67-BB67-E6E9-4DE3-583C336DB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1175" y="6176963"/>
            <a:ext cx="74613" cy="7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500">
                <a:solidFill>
                  <a:srgbClr val="808080"/>
                </a:solidFill>
                <a:cs typeface="Arial" panose="020B0604020202020204" pitchFamily="34" charset="0"/>
              </a:rPr>
              <a:t>13</a:t>
            </a:r>
            <a:endParaRPr lang="en-US" altLang="en-US" sz="500">
              <a:cs typeface="Arial" panose="020B0604020202020204" pitchFamily="34" charset="0"/>
            </a:endParaRPr>
          </a:p>
        </p:txBody>
      </p:sp>
      <p:pic>
        <p:nvPicPr>
          <p:cNvPr id="25602" name="Image">
            <a:extLst>
              <a:ext uri="{FF2B5EF4-FFF2-40B4-BE49-F238E27FC236}">
                <a16:creationId xmlns:a16="http://schemas.microsoft.com/office/drawing/2014/main" id="{DD977CFA-D5DE-6F43-120B-178686FE81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988" y="3436938"/>
            <a:ext cx="4052887" cy="329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738F9483-21C9-3C41-8C88-0047173FD44C}"/>
              </a:ext>
            </a:extLst>
          </p:cNvPr>
          <p:cNvSpPr txBox="1"/>
          <p:nvPr/>
        </p:nvSpPr>
        <p:spPr>
          <a:xfrm>
            <a:off x="85725" y="1408113"/>
            <a:ext cx="8637588" cy="153987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342900" indent="-342900">
              <a:buFont typeface="Arial" charset="0"/>
              <a:buChar char="•"/>
              <a:defRPr/>
            </a:pPr>
            <a:r>
              <a:rPr sz="2000" spc="9" dirty="0">
                <a:latin typeface="Arial"/>
                <a:cs typeface="Arial"/>
              </a:rPr>
              <a:t>Common P2P networks</a:t>
            </a:r>
            <a:r>
              <a:rPr lang="en-US" sz="2000" spc="9" dirty="0">
                <a:latin typeface="Arial"/>
                <a:cs typeface="Arial"/>
              </a:rPr>
              <a:t> include: eDonkey, </a:t>
            </a:r>
            <a:r>
              <a:rPr lang="fi-FI" sz="2000" spc="9" dirty="0">
                <a:latin typeface="Arial"/>
                <a:cs typeface="Arial"/>
              </a:rPr>
              <a:t>G2, </a:t>
            </a:r>
            <a:r>
              <a:rPr lang="fi-FI" sz="2000" spc="9" dirty="0" err="1">
                <a:latin typeface="Arial"/>
                <a:cs typeface="Arial"/>
              </a:rPr>
              <a:t>BitTorrent</a:t>
            </a:r>
            <a:r>
              <a:rPr lang="fi-FI" sz="2000" spc="9" dirty="0">
                <a:latin typeface="Arial"/>
                <a:cs typeface="Arial"/>
              </a:rPr>
              <a:t>, </a:t>
            </a:r>
            <a:r>
              <a:rPr lang="fi-FI" sz="2000" spc="9" dirty="0" err="1">
                <a:latin typeface="Arial"/>
                <a:cs typeface="Arial"/>
              </a:rPr>
              <a:t>Bitcoin</a:t>
            </a:r>
            <a:r>
              <a:rPr lang="fi-FI" sz="2000" spc="9" dirty="0">
                <a:latin typeface="Arial"/>
                <a:cs typeface="Arial"/>
              </a:rPr>
              <a:t>, </a:t>
            </a:r>
          </a:p>
          <a:p>
            <a:pPr marL="342900" indent="-342900">
              <a:buFont typeface="Arial" charset="0"/>
              <a:buChar char="•"/>
              <a:defRPr/>
            </a:pPr>
            <a:r>
              <a:rPr lang="fi-FI" sz="2000" spc="9" dirty="0" err="1">
                <a:latin typeface="Arial"/>
                <a:cs typeface="Arial"/>
              </a:rPr>
              <a:t>Many</a:t>
            </a:r>
            <a:r>
              <a:rPr lang="fi-FI" sz="2000" spc="9" dirty="0">
                <a:latin typeface="Arial"/>
                <a:cs typeface="Arial"/>
              </a:rPr>
              <a:t> P2P Applications </a:t>
            </a:r>
            <a:r>
              <a:rPr lang="fi-FI" sz="2000" spc="9" dirty="0" err="1">
                <a:latin typeface="Arial"/>
                <a:cs typeface="Arial"/>
              </a:rPr>
              <a:t>allow</a:t>
            </a:r>
            <a:r>
              <a:rPr lang="fi-FI" sz="2000" spc="9" dirty="0">
                <a:latin typeface="Arial"/>
                <a:cs typeface="Arial"/>
              </a:rPr>
              <a:t> </a:t>
            </a:r>
            <a:r>
              <a:rPr lang="fi-FI" sz="2000" spc="9" dirty="0" err="1">
                <a:latin typeface="Arial"/>
                <a:cs typeface="Arial"/>
              </a:rPr>
              <a:t>users</a:t>
            </a:r>
            <a:r>
              <a:rPr lang="fi-FI" sz="2000" spc="9" dirty="0">
                <a:latin typeface="Arial"/>
                <a:cs typeface="Arial"/>
              </a:rPr>
              <a:t> to </a:t>
            </a:r>
            <a:r>
              <a:rPr lang="fi-FI" sz="2000" spc="9" dirty="0" err="1">
                <a:latin typeface="Arial"/>
                <a:cs typeface="Arial"/>
              </a:rPr>
              <a:t>share</a:t>
            </a:r>
            <a:r>
              <a:rPr lang="fi-FI" sz="2000" spc="9" dirty="0">
                <a:latin typeface="Arial"/>
                <a:cs typeface="Arial"/>
              </a:rPr>
              <a:t> </a:t>
            </a:r>
            <a:r>
              <a:rPr lang="fi-FI" sz="2000" spc="9" dirty="0" err="1">
                <a:latin typeface="Arial"/>
                <a:cs typeface="Arial"/>
              </a:rPr>
              <a:t>pieces</a:t>
            </a:r>
            <a:r>
              <a:rPr lang="fi-FI" sz="2000" spc="9" dirty="0">
                <a:latin typeface="Arial"/>
                <a:cs typeface="Arial"/>
              </a:rPr>
              <a:t> of </a:t>
            </a:r>
            <a:r>
              <a:rPr lang="fi-FI" sz="2000" spc="9" dirty="0" err="1">
                <a:latin typeface="Arial"/>
                <a:cs typeface="Arial"/>
              </a:rPr>
              <a:t>many</a:t>
            </a:r>
            <a:r>
              <a:rPr lang="fi-FI" sz="2000" spc="9" dirty="0">
                <a:latin typeface="Arial"/>
                <a:cs typeface="Arial"/>
              </a:rPr>
              <a:t> </a:t>
            </a:r>
            <a:r>
              <a:rPr lang="fi-FI" sz="2000" spc="9" dirty="0" err="1">
                <a:latin typeface="Arial"/>
                <a:cs typeface="Arial"/>
              </a:rPr>
              <a:t>files</a:t>
            </a:r>
            <a:r>
              <a:rPr lang="fi-FI" sz="2000" spc="9" dirty="0">
                <a:latin typeface="Arial"/>
                <a:cs typeface="Arial"/>
              </a:rPr>
              <a:t> </a:t>
            </a:r>
            <a:r>
              <a:rPr lang="fi-FI" sz="2000" spc="9" dirty="0" err="1">
                <a:latin typeface="Arial"/>
                <a:cs typeface="Arial"/>
              </a:rPr>
              <a:t>with</a:t>
            </a:r>
            <a:r>
              <a:rPr lang="fi-FI" sz="2000" spc="9" dirty="0">
                <a:latin typeface="Arial"/>
                <a:cs typeface="Arial"/>
              </a:rPr>
              <a:t> </a:t>
            </a:r>
            <a:r>
              <a:rPr lang="fi-FI" sz="2000" spc="9" dirty="0" err="1">
                <a:latin typeface="Arial"/>
                <a:cs typeface="Arial"/>
              </a:rPr>
              <a:t>each</a:t>
            </a:r>
            <a:r>
              <a:rPr lang="fi-FI" sz="2000" spc="9" dirty="0">
                <a:latin typeface="Arial"/>
                <a:cs typeface="Arial"/>
              </a:rPr>
              <a:t> </a:t>
            </a:r>
            <a:r>
              <a:rPr lang="fi-FI" sz="2000" spc="9" dirty="0" err="1">
                <a:latin typeface="Arial"/>
                <a:cs typeface="Arial"/>
              </a:rPr>
              <a:t>Other</a:t>
            </a:r>
            <a:endParaRPr lang="fi-FI" sz="2000" spc="9" dirty="0">
              <a:latin typeface="Arial"/>
              <a:cs typeface="Arial"/>
            </a:endParaRPr>
          </a:p>
          <a:p>
            <a:pPr marL="342900" indent="-342900">
              <a:buFont typeface="Arial" charset="0"/>
              <a:buChar char="•"/>
              <a:defRPr/>
            </a:pPr>
            <a:r>
              <a:rPr lang="fi-FI" sz="2000" spc="9" dirty="0">
                <a:latin typeface="Arial"/>
                <a:cs typeface="Arial"/>
              </a:rPr>
              <a:t>A </a:t>
            </a:r>
            <a:r>
              <a:rPr lang="fi-FI" sz="2000" spc="9" dirty="0" err="1">
                <a:latin typeface="Arial"/>
                <a:cs typeface="Arial"/>
              </a:rPr>
              <a:t>small</a:t>
            </a:r>
            <a:r>
              <a:rPr lang="fi-FI" sz="2000" spc="9" dirty="0">
                <a:latin typeface="Arial"/>
                <a:cs typeface="Arial"/>
              </a:rPr>
              <a:t> </a:t>
            </a:r>
            <a:r>
              <a:rPr lang="fi-FI" sz="2000" spc="9" dirty="0" err="1">
                <a:latin typeface="Arial"/>
                <a:cs typeface="Arial"/>
              </a:rPr>
              <a:t>torrent</a:t>
            </a:r>
            <a:r>
              <a:rPr lang="fi-FI" sz="2000" spc="9" dirty="0">
                <a:latin typeface="Arial"/>
                <a:cs typeface="Arial"/>
              </a:rPr>
              <a:t> </a:t>
            </a:r>
            <a:r>
              <a:rPr lang="fi-FI" sz="2000" spc="9" dirty="0" err="1">
                <a:latin typeface="Arial"/>
                <a:cs typeface="Arial"/>
              </a:rPr>
              <a:t>file</a:t>
            </a:r>
            <a:r>
              <a:rPr lang="fi-FI" sz="2000" spc="9" dirty="0">
                <a:latin typeface="Arial"/>
                <a:cs typeface="Arial"/>
              </a:rPr>
              <a:t> </a:t>
            </a:r>
            <a:r>
              <a:rPr lang="fi-FI" sz="2000" spc="9" dirty="0" err="1">
                <a:latin typeface="Arial"/>
                <a:cs typeface="Arial"/>
              </a:rPr>
              <a:t>contains</a:t>
            </a:r>
            <a:r>
              <a:rPr lang="fi-FI" sz="2000" spc="9" dirty="0">
                <a:latin typeface="Arial"/>
                <a:cs typeface="Arial"/>
              </a:rPr>
              <a:t> </a:t>
            </a:r>
            <a:r>
              <a:rPr lang="fi-FI" sz="2000" spc="9" dirty="0" err="1">
                <a:latin typeface="Arial"/>
                <a:cs typeface="Arial"/>
              </a:rPr>
              <a:t>information</a:t>
            </a:r>
            <a:r>
              <a:rPr lang="fi-FI" sz="2000" spc="9" dirty="0">
                <a:latin typeface="Arial"/>
                <a:cs typeface="Arial"/>
              </a:rPr>
              <a:t> </a:t>
            </a:r>
            <a:r>
              <a:rPr lang="fi-FI" sz="2000" spc="9" dirty="0" err="1">
                <a:latin typeface="Arial"/>
                <a:cs typeface="Arial"/>
              </a:rPr>
              <a:t>about</a:t>
            </a:r>
            <a:r>
              <a:rPr lang="fi-FI" sz="2000" spc="9" dirty="0">
                <a:latin typeface="Arial"/>
                <a:cs typeface="Arial"/>
              </a:rPr>
              <a:t> </a:t>
            </a:r>
            <a:r>
              <a:rPr lang="fi-FI" sz="2000" spc="9" dirty="0" err="1">
                <a:latin typeface="Arial"/>
                <a:cs typeface="Arial"/>
              </a:rPr>
              <a:t>the</a:t>
            </a:r>
            <a:r>
              <a:rPr lang="fi-FI" sz="2000" spc="9" dirty="0">
                <a:latin typeface="Arial"/>
                <a:cs typeface="Arial"/>
              </a:rPr>
              <a:t> </a:t>
            </a:r>
            <a:r>
              <a:rPr lang="fi-FI" sz="2000" spc="9" dirty="0" err="1">
                <a:latin typeface="Arial"/>
                <a:cs typeface="Arial"/>
              </a:rPr>
              <a:t>location</a:t>
            </a:r>
            <a:r>
              <a:rPr lang="fi-FI" sz="2000" spc="9" dirty="0">
                <a:latin typeface="Arial"/>
                <a:cs typeface="Arial"/>
              </a:rPr>
              <a:t> of </a:t>
            </a:r>
            <a:r>
              <a:rPr lang="fi-FI" sz="2000" spc="9" dirty="0" err="1">
                <a:latin typeface="Arial"/>
                <a:cs typeface="Arial"/>
              </a:rPr>
              <a:t>other</a:t>
            </a:r>
            <a:r>
              <a:rPr lang="fi-FI" sz="2000" spc="9" dirty="0">
                <a:latin typeface="Arial"/>
                <a:cs typeface="Arial"/>
              </a:rPr>
              <a:t> </a:t>
            </a:r>
            <a:r>
              <a:rPr lang="fi-FI" sz="2000" spc="9" dirty="0" err="1">
                <a:latin typeface="Arial"/>
                <a:cs typeface="Arial"/>
              </a:rPr>
              <a:t>users</a:t>
            </a:r>
            <a:r>
              <a:rPr lang="fi-FI" sz="2000" spc="9" dirty="0">
                <a:latin typeface="Arial"/>
                <a:cs typeface="Arial"/>
              </a:rPr>
              <a:t> and </a:t>
            </a:r>
            <a:r>
              <a:rPr lang="fi-FI" sz="2000" spc="9" dirty="0" err="1">
                <a:latin typeface="Arial"/>
                <a:cs typeface="Arial"/>
              </a:rPr>
              <a:t>tracker</a:t>
            </a:r>
            <a:r>
              <a:rPr lang="fi-FI" sz="2000" spc="9" dirty="0">
                <a:latin typeface="Arial"/>
                <a:cs typeface="Arial"/>
              </a:rPr>
              <a:t> </a:t>
            </a:r>
            <a:r>
              <a:rPr lang="fi-FI" sz="2000" spc="9" dirty="0" err="1">
                <a:latin typeface="Arial"/>
                <a:cs typeface="Arial"/>
              </a:rPr>
              <a:t>computers</a:t>
            </a:r>
            <a:r>
              <a:rPr lang="fi-FI" sz="2000" spc="9" dirty="0">
                <a:latin typeface="Arial"/>
                <a:cs typeface="Arial"/>
              </a:rPr>
              <a:t>.</a:t>
            </a:r>
          </a:p>
        </p:txBody>
      </p:sp>
      <p:sp>
        <p:nvSpPr>
          <p:cNvPr id="44" name="Rectangle 2">
            <a:extLst>
              <a:ext uri="{FF2B5EF4-FFF2-40B4-BE49-F238E27FC236}">
                <a16:creationId xmlns:a16="http://schemas.microsoft.com/office/drawing/2014/main" id="{FE42251E-E551-1841-B55B-4332F5534D29}"/>
              </a:ext>
            </a:extLst>
          </p:cNvPr>
          <p:cNvSpPr txBox="1">
            <a:spLocks noChangeArrowheads="1"/>
          </p:cNvSpPr>
          <p:nvPr/>
        </p:nvSpPr>
        <p:spPr>
          <a:xfrm>
            <a:off x="320675" y="790575"/>
            <a:ext cx="8145463" cy="617538"/>
          </a:xfrm>
          <a:prstGeom prst="rect">
            <a:avLst/>
          </a:prstGeom>
        </p:spPr>
        <p:txBody>
          <a:bodyPr/>
          <a:lstStyle>
            <a:lvl1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+mj-lt"/>
                <a:ea typeface="+mj-ea"/>
                <a:cs typeface="+mj-cs"/>
              </a:defRPr>
            </a:lvl1pPr>
            <a:lvl2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2pPr>
            <a:lvl3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3pPr>
            <a:lvl4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4pPr>
            <a:lvl5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5pPr>
            <a:lvl6pPr marL="457200" algn="l" defTabSz="81438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6pPr>
            <a:lvl7pPr marL="914400" algn="l" defTabSz="81438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7pPr>
            <a:lvl8pPr marL="1371600" algn="l" defTabSz="81438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8pPr>
            <a:lvl9pPr marL="1828800" algn="l" defTabSz="81438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kern="0" dirty="0"/>
              <a:t>Common Peer to Peer Application</a:t>
            </a:r>
          </a:p>
        </p:txBody>
      </p:sp>
      <p:sp>
        <p:nvSpPr>
          <p:cNvPr id="25605" name="text 1">
            <a:extLst>
              <a:ext uri="{FF2B5EF4-FFF2-40B4-BE49-F238E27FC236}">
                <a16:creationId xmlns:a16="http://schemas.microsoft.com/office/drawing/2014/main" id="{68560767-C72B-79A3-1CEF-BEB5D1683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" y="3071813"/>
            <a:ext cx="5053013" cy="338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i-FI" altLang="en-US" sz="2000">
                <a:cs typeface="Arial" panose="020B0604020202020204" pitchFamily="34" charset="0"/>
              </a:rPr>
              <a:t>Trackers are Computer Keeping track of the files hosted by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i-FI" altLang="en-US" sz="2000">
                <a:cs typeface="Arial" panose="020B0604020202020204" pitchFamily="34" charset="0"/>
              </a:rPr>
              <a:t>This technology is called Bit Torrent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i-FI" altLang="en-US" sz="2000">
                <a:cs typeface="Arial" panose="020B0604020202020204" pitchFamily="34" charset="0"/>
              </a:rPr>
              <a:t>There are many BitTorrent clients, including </a:t>
            </a:r>
          </a:p>
          <a:p>
            <a:r>
              <a:rPr lang="fi-FI" altLang="en-US" sz="2000">
                <a:cs typeface="Arial" panose="020B0604020202020204" pitchFamily="34" charset="0"/>
              </a:rPr>
              <a:t>     BitTorrent, uTorrent, Frostwire, and      qBittorrent.</a:t>
            </a:r>
          </a:p>
          <a:p>
            <a:endParaRPr lang="fi-FI" altLang="en-US" sz="1600">
              <a:cs typeface="Arial" panose="020B0604020202020204" pitchFamily="34" charset="0"/>
            </a:endParaRPr>
          </a:p>
          <a:p>
            <a:endParaRPr lang="fi-FI" altLang="en-US" sz="1600">
              <a:cs typeface="Arial" panose="020B0604020202020204" pitchFamily="34" charset="0"/>
            </a:endParaRPr>
          </a:p>
          <a:p>
            <a:endParaRPr lang="en-US" altLang="en-US" sz="1600">
              <a:cs typeface="Arial" panose="020B0604020202020204" pitchFamily="34" charset="0"/>
            </a:endParaRPr>
          </a:p>
          <a:p>
            <a:endParaRPr lang="en-US" altLang="en-US" sz="1600">
              <a:cs typeface="Arial" panose="020B0604020202020204" pitchFamily="34" charset="0"/>
            </a:endParaRPr>
          </a:p>
          <a:p>
            <a:endParaRPr lang="en-US" altLang="en-US" sz="16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FAF6507F-3FEF-FC11-CDC4-5ACE5DBE8D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468313"/>
            <a:ext cx="8331200" cy="838200"/>
          </a:xfrm>
        </p:spPr>
        <p:txBody>
          <a:bodyPr/>
          <a:lstStyle/>
          <a:p>
            <a:pPr eaLnBrk="1" hangingPunct="1"/>
            <a:r>
              <a:rPr lang="en-US" altLang="en-US"/>
              <a:t>Application Layer Services and Protocols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A65AF05B-2735-D984-4617-6C2A266B23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" y="1592263"/>
            <a:ext cx="4244975" cy="5089525"/>
          </a:xfrm>
        </p:spPr>
        <p:txBody>
          <a:bodyPr/>
          <a:lstStyle/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A server might receive multiple client requests at the same time. </a:t>
            </a:r>
          </a:p>
          <a:p>
            <a:pPr eaLnBrk="1" hangingPunct="1"/>
            <a:r>
              <a:rPr lang="en-US" altLang="en-US" sz="2000"/>
              <a:t>The Application layer processes and services rely on support from lower layer functions to successfully manage the multiple conversations</a:t>
            </a:r>
          </a:p>
          <a:p>
            <a:pPr eaLnBrk="1" hangingPunct="1"/>
            <a:endParaRPr lang="en-US" altLang="en-US" sz="2000"/>
          </a:p>
        </p:txBody>
      </p:sp>
      <p:pic>
        <p:nvPicPr>
          <p:cNvPr id="26627" name="Picture 4">
            <a:extLst>
              <a:ext uri="{FF2B5EF4-FFF2-40B4-BE49-F238E27FC236}">
                <a16:creationId xmlns:a16="http://schemas.microsoft.com/office/drawing/2014/main" id="{FF69C590-9F89-82DA-04B0-00F24EDD8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813" y="1870075"/>
            <a:ext cx="4675187" cy="374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C12D5AB4-5324-FB58-58C1-28D4A3054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547688"/>
            <a:ext cx="8675688" cy="838200"/>
          </a:xfrm>
        </p:spPr>
        <p:txBody>
          <a:bodyPr/>
          <a:lstStyle/>
          <a:p>
            <a:pPr eaLnBrk="1" hangingPunct="1"/>
            <a:r>
              <a:rPr lang="en-US" altLang="en-US"/>
              <a:t>Identifiers of Application Layer Services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4B8B716C-466A-04E2-5B73-E61A487B40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0675" y="1625600"/>
            <a:ext cx="8675688" cy="5076825"/>
          </a:xfrm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altLang="en-US"/>
              <a:t>The Transport layer uses an addressing scheme called a port number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/>
              <a:t>Port numbers identify applications and Application layer services that are the source and destination of data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/>
              <a:t>Some common port numbers are</a:t>
            </a:r>
          </a:p>
          <a:p>
            <a:pPr lvl="1" eaLnBrk="1" hangingPunct="1"/>
            <a:r>
              <a:rPr lang="en-US" altLang="en-US"/>
              <a:t>Domain Name System (DNS) - TCP/UDP Port 53</a:t>
            </a:r>
          </a:p>
          <a:p>
            <a:pPr lvl="1" eaLnBrk="1" hangingPunct="1"/>
            <a:r>
              <a:rPr lang="en-US" altLang="en-US"/>
              <a:t>Hypertext Transfer Protocol (HTTP) - TCP Port 80</a:t>
            </a:r>
          </a:p>
          <a:p>
            <a:pPr lvl="1" eaLnBrk="1" hangingPunct="1"/>
            <a:r>
              <a:rPr lang="en-US" altLang="en-US"/>
              <a:t>Simple Mail Transfer Protocol (SMTP) - TCP Port 25</a:t>
            </a:r>
          </a:p>
          <a:p>
            <a:pPr lvl="1" eaLnBrk="1" hangingPunct="1"/>
            <a:r>
              <a:rPr lang="en-US" altLang="en-US"/>
              <a:t>Post Office Protocol (POP) - UDP Port 110</a:t>
            </a:r>
          </a:p>
          <a:p>
            <a:pPr lvl="1" eaLnBrk="1" hangingPunct="1"/>
            <a:r>
              <a:rPr lang="en-US" altLang="en-US"/>
              <a:t>Telnet - TCP Port 23</a:t>
            </a:r>
          </a:p>
          <a:p>
            <a:pPr lvl="1" eaLnBrk="1" hangingPunct="1"/>
            <a:r>
              <a:rPr lang="en-US" altLang="en-US"/>
              <a:t>Dynamic Host Configuration Protocol - UDP Port 67</a:t>
            </a:r>
          </a:p>
          <a:p>
            <a:pPr lvl="1" eaLnBrk="1" hangingPunct="1"/>
            <a:r>
              <a:rPr lang="en-US" altLang="en-US"/>
              <a:t>File Transfer Protocol (FTP) - TCP Ports 20 and 21</a:t>
            </a:r>
          </a:p>
          <a:p>
            <a:pPr eaLnBrk="1" hangingPunct="1"/>
            <a:endParaRPr lang="en-US" altLang="en-US"/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B7A702E5-EA98-999A-B46B-A07BBE92BB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523875"/>
            <a:ext cx="8145462" cy="838200"/>
          </a:xfrm>
        </p:spPr>
        <p:txBody>
          <a:bodyPr/>
          <a:lstStyle/>
          <a:p>
            <a:pPr eaLnBrk="1" hangingPunct="1"/>
            <a:r>
              <a:rPr lang="en-US" altLang="en-US"/>
              <a:t>DNS Services and Protocol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E74F98C6-5D11-65FB-CC9A-7D7FC31A48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7650" y="1508125"/>
            <a:ext cx="8785225" cy="2487613"/>
          </a:xfrm>
        </p:spPr>
        <p:txBody>
          <a:bodyPr/>
          <a:lstStyle/>
          <a:p>
            <a:pPr eaLnBrk="1" hangingPunct="1">
              <a:lnSpc>
                <a:spcPct val="75000"/>
              </a:lnSpc>
            </a:pPr>
            <a:r>
              <a:rPr lang="en-US" altLang="en-US" sz="1900"/>
              <a:t>IP addresses are crucial for network communication, they are not easy to memorize. </a:t>
            </a:r>
          </a:p>
          <a:p>
            <a:pPr eaLnBrk="1" hangingPunct="1">
              <a:lnSpc>
                <a:spcPct val="75000"/>
              </a:lnSpc>
            </a:pPr>
            <a:r>
              <a:rPr lang="en-US" altLang="en-US" sz="1900"/>
              <a:t>So domain names are created to make server addresses more user- friendly. </a:t>
            </a:r>
          </a:p>
          <a:p>
            <a:r>
              <a:rPr lang="en-US" altLang="en-US" sz="1900"/>
              <a:t>Domain names such as http://www.cisco.com are user-friendly addresses associated with the IP address of a specific server. </a:t>
            </a:r>
          </a:p>
          <a:p>
            <a:r>
              <a:rPr lang="en-US" altLang="en-US" sz="1900"/>
              <a:t>However, computers still need the actual numeric address before they can communicate. </a:t>
            </a:r>
          </a:p>
        </p:txBody>
      </p:sp>
      <p:pic>
        <p:nvPicPr>
          <p:cNvPr id="30723" name="Picture 4">
            <a:extLst>
              <a:ext uri="{FF2B5EF4-FFF2-40B4-BE49-F238E27FC236}">
                <a16:creationId xmlns:a16="http://schemas.microsoft.com/office/drawing/2014/main" id="{4F7808FC-D002-23DE-F61E-B6E2632D4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20"/>
          <a:stretch>
            <a:fillRect/>
          </a:stretch>
        </p:blipFill>
        <p:spPr bwMode="auto">
          <a:xfrm>
            <a:off x="1262063" y="4030663"/>
            <a:ext cx="6818312" cy="266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D70F3DA9-435E-1F31-77E3-D7174E7239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782638"/>
            <a:ext cx="8145462" cy="838200"/>
          </a:xfrm>
        </p:spPr>
        <p:txBody>
          <a:bodyPr/>
          <a:lstStyle/>
          <a:p>
            <a:pPr eaLnBrk="1" hangingPunct="1"/>
            <a:r>
              <a:rPr lang="en-US" altLang="en-US"/>
              <a:t>DNS Services and Protocol 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D084DBB4-5227-9167-E7A4-0990D8B059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7650" y="1625600"/>
            <a:ext cx="4781550" cy="5232400"/>
          </a:xfrm>
        </p:spPr>
        <p:txBody>
          <a:bodyPr/>
          <a:lstStyle/>
          <a:p>
            <a:pPr eaLnBrk="1" hangingPunct="1"/>
            <a:r>
              <a:rPr lang="en-US" altLang="en-US" sz="2000"/>
              <a:t>The DNS protocol allows for the dynamic translation of a domain name into the correct IP address.  </a:t>
            </a:r>
          </a:p>
          <a:p>
            <a:pPr eaLnBrk="1" hangingPunct="1"/>
            <a:r>
              <a:rPr lang="en-US" altLang="en-US" sz="2000"/>
              <a:t>When a client makes a query, </a:t>
            </a:r>
          </a:p>
          <a:p>
            <a:pPr eaLnBrk="1" hangingPunct="1"/>
            <a:r>
              <a:rPr lang="en-US" altLang="en-US" sz="2000"/>
              <a:t>The server's first looks at its own records to see if it can resolve the name. </a:t>
            </a:r>
          </a:p>
          <a:p>
            <a:pPr eaLnBrk="1" hangingPunct="1"/>
            <a:r>
              <a:rPr lang="en-US" altLang="en-US" sz="2000"/>
              <a:t>If it is unable to resolve the name using its stored records, it contacts other servers in order to resolve the name.</a:t>
            </a:r>
          </a:p>
          <a:p>
            <a:pPr eaLnBrk="1" hangingPunct="1"/>
            <a:r>
              <a:rPr lang="en-US" altLang="en-US" sz="2000" b="1"/>
              <a:t>ipconfig /displaydns </a:t>
            </a:r>
            <a:r>
              <a:rPr lang="en-US" altLang="en-US" sz="2000"/>
              <a:t>displays all of the cached DNS entries on Windows. </a:t>
            </a:r>
          </a:p>
          <a:p>
            <a:pPr eaLnBrk="1" hangingPunct="1"/>
            <a:endParaRPr lang="en-US" altLang="en-US" sz="2000"/>
          </a:p>
        </p:txBody>
      </p:sp>
      <p:pic>
        <p:nvPicPr>
          <p:cNvPr id="32771" name="Image">
            <a:extLst>
              <a:ext uri="{FF2B5EF4-FFF2-40B4-BE49-F238E27FC236}">
                <a16:creationId xmlns:a16="http://schemas.microsoft.com/office/drawing/2014/main" id="{2857C814-37F7-FCE0-A87D-3A265E75D1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538" y="1620838"/>
            <a:ext cx="3890962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2" name="Image">
            <a:extLst>
              <a:ext uri="{FF2B5EF4-FFF2-40B4-BE49-F238E27FC236}">
                <a16:creationId xmlns:a16="http://schemas.microsoft.com/office/drawing/2014/main" id="{F605E91B-B220-61F2-8EE8-3235407FA4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0488" y="3656013"/>
            <a:ext cx="3995737" cy="140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3" name="Image">
            <a:extLst>
              <a:ext uri="{FF2B5EF4-FFF2-40B4-BE49-F238E27FC236}">
                <a16:creationId xmlns:a16="http://schemas.microsoft.com/office/drawing/2014/main" id="{8989D35A-AC5B-9759-B83A-16AF4FD33B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0488" y="5251450"/>
            <a:ext cx="4054475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26143667-C265-F297-8484-1005D12087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528638"/>
            <a:ext cx="8145462" cy="838200"/>
          </a:xfrm>
        </p:spPr>
        <p:txBody>
          <a:bodyPr/>
          <a:lstStyle/>
          <a:p>
            <a:pPr algn="ctr"/>
            <a:r>
              <a:rPr lang="en-US" altLang="en-US"/>
              <a:t>DNS Hierarchy</a:t>
            </a:r>
          </a:p>
        </p:txBody>
      </p:sp>
      <p:sp>
        <p:nvSpPr>
          <p:cNvPr id="34818" name="Content Placeholder 2">
            <a:extLst>
              <a:ext uri="{FF2B5EF4-FFF2-40B4-BE49-F238E27FC236}">
                <a16:creationId xmlns:a16="http://schemas.microsoft.com/office/drawing/2014/main" id="{8D4E958E-BF9F-38B1-8AAF-9EAE9DC4E6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96863" y="1416050"/>
            <a:ext cx="8204200" cy="1984375"/>
          </a:xfrm>
        </p:spPr>
        <p:txBody>
          <a:bodyPr/>
          <a:lstStyle/>
          <a:p>
            <a:r>
              <a:rPr lang="en-US" altLang="en-US" sz="2000"/>
              <a:t>DNS has hierarchical system, with the root at the top and branches below. </a:t>
            </a:r>
          </a:p>
          <a:p>
            <a:r>
              <a:rPr lang="en-US" altLang="en-US" sz="2000"/>
              <a:t>The naming structure is broken down into small, manageable zones. </a:t>
            </a:r>
          </a:p>
          <a:p>
            <a:r>
              <a:rPr lang="en-US" altLang="en-US" sz="2000"/>
              <a:t>Top-level domains represent either the type of domain or the country of origin. Examples of top-level domains are: </a:t>
            </a:r>
          </a:p>
          <a:p>
            <a:endParaRPr lang="en-US" altLang="en-US" sz="2000"/>
          </a:p>
        </p:txBody>
      </p:sp>
      <p:pic>
        <p:nvPicPr>
          <p:cNvPr id="34819" name="Image">
            <a:extLst>
              <a:ext uri="{FF2B5EF4-FFF2-40B4-BE49-F238E27FC236}">
                <a16:creationId xmlns:a16="http://schemas.microsoft.com/office/drawing/2014/main" id="{E2E99EFC-43CD-0F7F-FA13-768B622C2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600" y="3451225"/>
            <a:ext cx="4408488" cy="309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61D70BE-85A1-D140-864F-B4E0E33311DA}"/>
              </a:ext>
            </a:extLst>
          </p:cNvPr>
          <p:cNvSpPr/>
          <p:nvPr/>
        </p:nvSpPr>
        <p:spPr>
          <a:xfrm>
            <a:off x="420688" y="3905250"/>
            <a:ext cx="3570287" cy="17541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charset="0"/>
              <a:buChar char="•"/>
              <a:defRPr/>
            </a:pPr>
            <a:r>
              <a:rPr lang="en-US" sz="1800" b="1" dirty="0">
                <a:latin typeface="+mj-lt"/>
              </a:rPr>
              <a:t>.com </a:t>
            </a:r>
            <a:r>
              <a:rPr lang="en-US" sz="1800" dirty="0">
                <a:latin typeface="+mj-lt"/>
              </a:rPr>
              <a:t>- a business or industry</a:t>
            </a:r>
          </a:p>
          <a:p>
            <a:pPr marL="285750" indent="-285750">
              <a:buFont typeface="Arial" charset="0"/>
              <a:buChar char="•"/>
              <a:defRPr/>
            </a:pPr>
            <a:r>
              <a:rPr lang="en-US" sz="1800" b="1" dirty="0">
                <a:latin typeface="+mj-lt"/>
              </a:rPr>
              <a:t>.org </a:t>
            </a:r>
            <a:r>
              <a:rPr lang="en-US" sz="1800" dirty="0">
                <a:latin typeface="+mj-lt"/>
              </a:rPr>
              <a:t>- a non-profit organization</a:t>
            </a:r>
          </a:p>
          <a:p>
            <a:pPr marL="285750" indent="-285750">
              <a:buFont typeface="Arial" charset="0"/>
              <a:buChar char="•"/>
              <a:defRPr/>
            </a:pPr>
            <a:r>
              <a:rPr lang="en-US" sz="1800" b="1" dirty="0">
                <a:latin typeface="+mj-lt"/>
              </a:rPr>
              <a:t>.au </a:t>
            </a:r>
            <a:r>
              <a:rPr lang="en-US" sz="1800" dirty="0">
                <a:latin typeface="+mj-lt"/>
              </a:rPr>
              <a:t>– Australia</a:t>
            </a:r>
          </a:p>
          <a:p>
            <a:pPr marL="285750" indent="-285750">
              <a:buFont typeface="Arial" charset="0"/>
              <a:buChar char="•"/>
              <a:defRPr/>
            </a:pPr>
            <a:r>
              <a:rPr lang="en-US" sz="1800" b="1" dirty="0">
                <a:latin typeface="+mj-lt"/>
              </a:rPr>
              <a:t>.de </a:t>
            </a:r>
            <a:r>
              <a:rPr lang="en-US" sz="1800" dirty="0">
                <a:latin typeface="+mj-lt"/>
              </a:rPr>
              <a:t>- Germany </a:t>
            </a:r>
          </a:p>
          <a:p>
            <a:pPr marL="285750" indent="-285750">
              <a:buFont typeface="Arial" charset="0"/>
              <a:buChar char="•"/>
              <a:defRPr/>
            </a:pPr>
            <a:r>
              <a:rPr lang="en-US" sz="1800" b="1" dirty="0">
                <a:latin typeface="+mj-lt"/>
              </a:rPr>
              <a:t>.</a:t>
            </a:r>
            <a:r>
              <a:rPr lang="en-US" sz="1800" b="1" dirty="0" err="1">
                <a:latin typeface="+mj-lt"/>
              </a:rPr>
              <a:t>pk</a:t>
            </a:r>
            <a:r>
              <a:rPr lang="en-US" sz="1800" b="1" dirty="0">
                <a:latin typeface="+mj-lt"/>
              </a:rPr>
              <a:t> - </a:t>
            </a:r>
            <a:r>
              <a:rPr lang="en-US" sz="1800" dirty="0">
                <a:latin typeface="+mj-lt"/>
              </a:rPr>
              <a:t>Pakistan</a:t>
            </a:r>
          </a:p>
          <a:p>
            <a:pPr>
              <a:defRPr/>
            </a:pPr>
            <a:endParaRPr lang="en-US" sz="1800" dirty="0">
              <a:latin typeface="+mj-l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FFD0E3CE-2D1C-AD2F-360A-DCD2D16285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782638"/>
            <a:ext cx="8145462" cy="838200"/>
          </a:xfrm>
        </p:spPr>
        <p:txBody>
          <a:bodyPr/>
          <a:lstStyle/>
          <a:p>
            <a:pPr eaLnBrk="1" hangingPunct="1"/>
            <a:r>
              <a:rPr lang="en-US" altLang="en-US"/>
              <a:t>WWW Service and HTTP</a:t>
            </a: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B3F37644-1E97-5872-B58C-F017C0B136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911350"/>
            <a:ext cx="4657725" cy="3432175"/>
          </a:xfrm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altLang="en-US" sz="1800"/>
              <a:t>When a web address (or URL) is typed into a web browser, 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 sz="1800"/>
              <a:t>Name portion of the URL is  translated to the associated IP address Using DNS server .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 sz="1800"/>
              <a:t>Web browser establishes a connection to the web server using the HTTP protocol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 sz="1800"/>
              <a:t>To access the </a:t>
            </a:r>
            <a:r>
              <a:rPr lang="en-US" altLang="en-US" sz="1800" b="1"/>
              <a:t>content</a:t>
            </a:r>
            <a:r>
              <a:rPr lang="en-US" altLang="en-US" sz="1800"/>
              <a:t>, web clients request the desired resources from server.</a:t>
            </a:r>
          </a:p>
          <a:p>
            <a:pPr eaLnBrk="1" hangingPunct="1">
              <a:lnSpc>
                <a:spcPct val="85000"/>
              </a:lnSpc>
            </a:pPr>
            <a:endParaRPr lang="en-US" altLang="en-US" sz="1800"/>
          </a:p>
        </p:txBody>
      </p:sp>
      <p:pic>
        <p:nvPicPr>
          <p:cNvPr id="35843" name="Picture 4">
            <a:extLst>
              <a:ext uri="{FF2B5EF4-FFF2-40B4-BE49-F238E27FC236}">
                <a16:creationId xmlns:a16="http://schemas.microsoft.com/office/drawing/2014/main" id="{343F75F7-06DA-BA84-C6D4-DF1A015B8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1550" y="1720850"/>
            <a:ext cx="4275138" cy="274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Rectangle 5">
            <a:extLst>
              <a:ext uri="{FF2B5EF4-FFF2-40B4-BE49-F238E27FC236}">
                <a16:creationId xmlns:a16="http://schemas.microsoft.com/office/drawing/2014/main" id="{32DDF1D5-EF92-B694-1308-AF0E6E52F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88" y="5319713"/>
            <a:ext cx="8397875" cy="120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>
            <a:lvl1pPr marL="236538" indent="-236538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14388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14388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14388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14388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1800"/>
              <a:t>The URL </a:t>
            </a:r>
            <a:r>
              <a:rPr lang="en-US" altLang="en-US" sz="1800" b="1"/>
              <a:t>http://www.cisco.com/index.html</a:t>
            </a:r>
            <a:r>
              <a:rPr lang="en-US" altLang="en-US" sz="1800"/>
              <a:t> is an example 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 sz="1800"/>
              <a:t>A specific resource - a web page named </a:t>
            </a:r>
            <a:r>
              <a:rPr lang="en-US" altLang="en-US" sz="1800" b="1"/>
              <a:t>index.html </a:t>
            </a:r>
            <a:r>
              <a:rPr lang="en-US" altLang="en-US" sz="1800"/>
              <a:t>on a server identified as </a:t>
            </a:r>
            <a:r>
              <a:rPr lang="en-US" altLang="en-US" sz="1800" b="1"/>
              <a:t>cisco.com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5FE60F-3809-4844-BC4E-8442124BB562}"/>
              </a:ext>
            </a:extLst>
          </p:cNvPr>
          <p:cNvSpPr/>
          <p:nvPr/>
        </p:nvSpPr>
        <p:spPr>
          <a:xfrm>
            <a:off x="5603875" y="4662488"/>
            <a:ext cx="2951163" cy="4318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200" spc="10" dirty="0">
                <a:latin typeface="Arial"/>
                <a:cs typeface="Arial"/>
              </a:rPr>
              <a:t>HTTP Protocol Step 1</a:t>
            </a:r>
            <a:endParaRPr lang="en-US" sz="2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id="{761B6CD2-C220-E648-5B32-57C4AA18BA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2300" y="420688"/>
            <a:ext cx="8145463" cy="838200"/>
          </a:xfrm>
        </p:spPr>
        <p:txBody>
          <a:bodyPr/>
          <a:lstStyle/>
          <a:p>
            <a:r>
              <a:rPr lang="en-US" altLang="en-US"/>
              <a:t>HTTP</a:t>
            </a:r>
          </a:p>
        </p:txBody>
      </p:sp>
      <p:sp>
        <p:nvSpPr>
          <p:cNvPr id="37890" name="Content Placeholder 2">
            <a:extLst>
              <a:ext uri="{FF2B5EF4-FFF2-40B4-BE49-F238E27FC236}">
                <a16:creationId xmlns:a16="http://schemas.microsoft.com/office/drawing/2014/main" id="{DCB92CD9-38B5-9654-69D2-B8A866899E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33538"/>
            <a:ext cx="4695825" cy="4860925"/>
          </a:xfrm>
        </p:spPr>
        <p:txBody>
          <a:bodyPr/>
          <a:lstStyle/>
          <a:p>
            <a:r>
              <a:rPr lang="en-US" altLang="en-US" sz="2200"/>
              <a:t>The browser sends a GET request to the server’s IP address and asks for the </a:t>
            </a:r>
            <a:r>
              <a:rPr lang="en-US" altLang="en-US" sz="2200" b="1"/>
              <a:t>index.html </a:t>
            </a:r>
            <a:r>
              <a:rPr lang="en-US" altLang="en-US" sz="2200"/>
              <a:t>file. </a:t>
            </a:r>
          </a:p>
          <a:p>
            <a:r>
              <a:rPr lang="en-US" altLang="en-US" sz="2200"/>
              <a:t>The server sends the requested file to the client. </a:t>
            </a:r>
          </a:p>
          <a:p>
            <a:r>
              <a:rPr lang="en-US" altLang="en-US" sz="2200"/>
              <a:t>The </a:t>
            </a:r>
            <a:r>
              <a:rPr lang="en-US" altLang="en-US" sz="2200" b="1"/>
              <a:t>index.html </a:t>
            </a:r>
            <a:r>
              <a:rPr lang="en-US" altLang="en-US" sz="2200"/>
              <a:t>was specified in the URL and contains the HTML code for this web page. </a:t>
            </a:r>
          </a:p>
          <a:p>
            <a:r>
              <a:rPr lang="en-US" altLang="en-US" sz="2200"/>
              <a:t>The browser processes the HTML code and formats the page for the browser window based on the code in the file. </a:t>
            </a:r>
          </a:p>
          <a:p>
            <a:endParaRPr lang="en-US" altLang="en-US" sz="2200"/>
          </a:p>
        </p:txBody>
      </p:sp>
      <p:pic>
        <p:nvPicPr>
          <p:cNvPr id="37891" name="Image">
            <a:extLst>
              <a:ext uri="{FF2B5EF4-FFF2-40B4-BE49-F238E27FC236}">
                <a16:creationId xmlns:a16="http://schemas.microsoft.com/office/drawing/2014/main" id="{51388F0D-AC15-D49E-C9BB-FA04C46CE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075" y="1581150"/>
            <a:ext cx="4098925" cy="248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7C0E686-C720-974F-AF79-6C49879E69E2}"/>
              </a:ext>
            </a:extLst>
          </p:cNvPr>
          <p:cNvSpPr/>
          <p:nvPr/>
        </p:nvSpPr>
        <p:spPr>
          <a:xfrm>
            <a:off x="5618163" y="1035050"/>
            <a:ext cx="2951162" cy="4302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200" spc="10" dirty="0">
                <a:latin typeface="Arial"/>
                <a:cs typeface="Arial"/>
              </a:rPr>
              <a:t>HTTP Protocol Step 2</a:t>
            </a:r>
            <a:endParaRPr lang="en-US" sz="2200" dirty="0">
              <a:latin typeface="Arial"/>
              <a:cs typeface="Arial"/>
            </a:endParaRPr>
          </a:p>
        </p:txBody>
      </p:sp>
      <p:pic>
        <p:nvPicPr>
          <p:cNvPr id="37893" name="Image">
            <a:extLst>
              <a:ext uri="{FF2B5EF4-FFF2-40B4-BE49-F238E27FC236}">
                <a16:creationId xmlns:a16="http://schemas.microsoft.com/office/drawing/2014/main" id="{BCD8652C-4E41-9D5E-FF01-648848711E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0325" y="4811713"/>
            <a:ext cx="4003675" cy="204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6D048C-322F-8644-BDDA-0D7E56DDF319}"/>
              </a:ext>
            </a:extLst>
          </p:cNvPr>
          <p:cNvSpPr/>
          <p:nvPr/>
        </p:nvSpPr>
        <p:spPr>
          <a:xfrm>
            <a:off x="5849938" y="4222750"/>
            <a:ext cx="2951162" cy="4302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200" spc="10" dirty="0">
                <a:latin typeface="Arial"/>
                <a:cs typeface="Arial"/>
              </a:rPr>
              <a:t>HTTP Protocol Step 3</a:t>
            </a:r>
            <a:endParaRPr lang="en-US" sz="2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30E68B78-9280-975D-2288-F18DED2712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596900"/>
            <a:ext cx="8145462" cy="838200"/>
          </a:xfrm>
        </p:spPr>
        <p:txBody>
          <a:bodyPr/>
          <a:lstStyle/>
          <a:p>
            <a:pPr algn="ctr" eaLnBrk="1" hangingPunct="1"/>
            <a:r>
              <a:rPr lang="en-US" altLang="en-US"/>
              <a:t>Common Message Types</a:t>
            </a:r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E90CADFC-1519-74F5-9975-A33A830407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7988" y="1636713"/>
            <a:ext cx="8248650" cy="5040312"/>
          </a:xfrm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altLang="en-US"/>
              <a:t>The three common message types are GET, POST, and PUT</a:t>
            </a:r>
          </a:p>
          <a:p>
            <a:pPr lvl="1" eaLnBrk="1" hangingPunct="1">
              <a:lnSpc>
                <a:spcPct val="85000"/>
              </a:lnSpc>
            </a:pPr>
            <a:r>
              <a:rPr lang="en-US" altLang="en-US"/>
              <a:t>GET is a client request for data. </a:t>
            </a:r>
          </a:p>
          <a:p>
            <a:pPr lvl="1" eaLnBrk="1" hangingPunct="1">
              <a:lnSpc>
                <a:spcPct val="85000"/>
              </a:lnSpc>
            </a:pPr>
            <a:r>
              <a:rPr lang="en-US" altLang="en-US"/>
              <a:t>A web browser sends the GET message to request pages from a web server</a:t>
            </a:r>
          </a:p>
          <a:p>
            <a:pPr lvl="1" eaLnBrk="1" hangingPunct="1">
              <a:lnSpc>
                <a:spcPct val="85000"/>
              </a:lnSpc>
            </a:pPr>
            <a:r>
              <a:rPr lang="en-US" altLang="en-US"/>
              <a:t>POST and PUT are used to send messages that upload data to the web server</a:t>
            </a:r>
          </a:p>
          <a:p>
            <a:pPr lvl="1" eaLnBrk="1" hangingPunct="1">
              <a:lnSpc>
                <a:spcPct val="85000"/>
              </a:lnSpc>
            </a:pPr>
            <a:endParaRPr lang="en-US" altLang="en-US"/>
          </a:p>
          <a:p>
            <a:pPr eaLnBrk="1" hangingPunct="1">
              <a:lnSpc>
                <a:spcPct val="85000"/>
              </a:lnSpc>
            </a:pPr>
            <a:r>
              <a:rPr lang="en-US" altLang="en-US"/>
              <a:t>HTTP is not a secure protocol. For secure posting and accessing of web pages HTTPS protocol is used.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>
            <a:extLst>
              <a:ext uri="{FF2B5EF4-FFF2-40B4-BE49-F238E27FC236}">
                <a16:creationId xmlns:a16="http://schemas.microsoft.com/office/drawing/2014/main" id="{5642FC5B-6AEA-6B44-0892-AF16FAE16F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HTTP</a:t>
            </a:r>
          </a:p>
        </p:txBody>
      </p:sp>
      <p:pic>
        <p:nvPicPr>
          <p:cNvPr id="40962" name="Image">
            <a:extLst>
              <a:ext uri="{FF2B5EF4-FFF2-40B4-BE49-F238E27FC236}">
                <a16:creationId xmlns:a16="http://schemas.microsoft.com/office/drawing/2014/main" id="{C00AD532-5514-4342-BEC3-152937C0C5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50" y="1676400"/>
            <a:ext cx="6615113" cy="449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B83DF0A4-EFCE-CAB0-FFB2-816BF4D897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650" y="690563"/>
            <a:ext cx="3179763" cy="600075"/>
          </a:xfrm>
        </p:spPr>
        <p:txBody>
          <a:bodyPr/>
          <a:lstStyle/>
          <a:p>
            <a:r>
              <a:rPr lang="en-US" altLang="en-US"/>
              <a:t>Email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C8661-1688-0D40-BE0D-3BB1A69EC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19238"/>
            <a:ext cx="5659438" cy="4179887"/>
          </a:xfrm>
        </p:spPr>
        <p:txBody>
          <a:bodyPr/>
          <a:lstStyle/>
          <a:p>
            <a:pPr>
              <a:buFont typeface="Wingdings" charset="2"/>
              <a:buChar char="§"/>
              <a:defRPr/>
            </a:pPr>
            <a:r>
              <a:rPr lang="en-US" sz="2000" dirty="0"/>
              <a:t>Email is a store-and-forward method of sending, storing, and retrieving electronic </a:t>
            </a:r>
            <a:r>
              <a:rPr lang="en-US" sz="2000" dirty="0" err="1"/>
              <a:t>msgs</a:t>
            </a:r>
            <a:r>
              <a:rPr lang="en-US" sz="2000" dirty="0"/>
              <a:t>. </a:t>
            </a:r>
          </a:p>
          <a:p>
            <a:pPr>
              <a:buFont typeface="Wingdings" charset="2"/>
              <a:buChar char="§"/>
              <a:defRPr/>
            </a:pPr>
            <a:r>
              <a:rPr lang="en-US" sz="2000" dirty="0"/>
              <a:t>Email messages are stored in databases on mail servers. </a:t>
            </a:r>
          </a:p>
          <a:p>
            <a:pPr>
              <a:buFont typeface="Wingdings" charset="2"/>
              <a:buChar char="§"/>
              <a:defRPr/>
            </a:pPr>
            <a:r>
              <a:rPr lang="en-US" sz="2000" dirty="0"/>
              <a:t>Email clients communicate with mail servers </a:t>
            </a:r>
          </a:p>
          <a:p>
            <a:pPr marL="0" indent="0">
              <a:buFont typeface="Wingdings" charset="2"/>
              <a:buNone/>
              <a:defRPr/>
            </a:pPr>
            <a:r>
              <a:rPr lang="en-US" sz="2000" dirty="0"/>
              <a:t>   to send and receive email. </a:t>
            </a:r>
          </a:p>
          <a:p>
            <a:pPr>
              <a:buFont typeface="Wingdings" charset="2"/>
              <a:buChar char="§"/>
              <a:defRPr/>
            </a:pPr>
            <a:r>
              <a:rPr lang="en-US" sz="2000" dirty="0"/>
              <a:t>Mail servers communicate with other mail servers to transport messages from one domain to another. </a:t>
            </a:r>
          </a:p>
          <a:p>
            <a:pPr>
              <a:buFont typeface="Wingdings" charset="2"/>
              <a:buChar char="§"/>
              <a:defRPr/>
            </a:pPr>
            <a:r>
              <a:rPr lang="en-US" sz="2000" dirty="0"/>
              <a:t>Email clients do not communicate directly when sending email. </a:t>
            </a:r>
          </a:p>
          <a:p>
            <a:pPr>
              <a:buFont typeface="Wingdings" charset="2"/>
              <a:buChar char="§"/>
              <a:defRPr/>
            </a:pPr>
            <a:r>
              <a:rPr lang="en-US" sz="2000" dirty="0"/>
              <a:t>Email relies on three separate protocols</a:t>
            </a:r>
            <a:br>
              <a:rPr lang="en-US" sz="2000" dirty="0"/>
            </a:br>
            <a:r>
              <a:rPr lang="en-US" sz="2000" dirty="0"/>
              <a:t>for operation: SMTP (sending),POP (retrieving), IMAP (retrieving). </a:t>
            </a:r>
          </a:p>
          <a:p>
            <a:pPr>
              <a:buFont typeface="Wingdings" charset="2"/>
              <a:buChar char="§"/>
              <a:defRPr/>
            </a:pPr>
            <a:endParaRPr lang="en-US" sz="2000" dirty="0"/>
          </a:p>
        </p:txBody>
      </p:sp>
      <p:pic>
        <p:nvPicPr>
          <p:cNvPr id="41987" name="Image">
            <a:extLst>
              <a:ext uri="{FF2B5EF4-FFF2-40B4-BE49-F238E27FC236}">
                <a16:creationId xmlns:a16="http://schemas.microsoft.com/office/drawing/2014/main" id="{EAFCFC10-0C00-5376-4DA7-DDAC48AF14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25" y="2533650"/>
            <a:ext cx="3646488" cy="426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DFF7F1A9-9C83-6F9B-2338-1EA21DA98A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775" y="361950"/>
            <a:ext cx="8145463" cy="838200"/>
          </a:xfrm>
        </p:spPr>
        <p:txBody>
          <a:bodyPr/>
          <a:lstStyle/>
          <a:p>
            <a:r>
              <a:rPr lang="en-US" altLang="en-US"/>
              <a:t>SMTP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EBC39-4582-C844-B33D-BCF08F662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65263"/>
            <a:ext cx="6029325" cy="3571875"/>
          </a:xfrm>
        </p:spPr>
        <p:txBody>
          <a:bodyPr/>
          <a:lstStyle/>
          <a:p>
            <a:pPr>
              <a:buFont typeface="Wingdings" charset="2"/>
              <a:buChar char="§"/>
              <a:defRPr/>
            </a:pPr>
            <a:r>
              <a:rPr lang="en-US" sz="2000" dirty="0"/>
              <a:t>SMTP message formats  [header and body] </a:t>
            </a:r>
          </a:p>
          <a:p>
            <a:pPr>
              <a:buFont typeface="Wingdings" charset="2"/>
              <a:buChar char="§"/>
              <a:defRPr/>
            </a:pPr>
            <a:r>
              <a:rPr lang="en-US" sz="2000" dirty="0"/>
              <a:t>Body contain any amount of text. </a:t>
            </a:r>
          </a:p>
          <a:p>
            <a:pPr>
              <a:buFont typeface="Wingdings" charset="2"/>
              <a:buChar char="§"/>
              <a:defRPr/>
            </a:pPr>
            <a:r>
              <a:rPr lang="en-US" sz="2000" dirty="0"/>
              <a:t>Header have recipient &amp; sender Email.</a:t>
            </a:r>
          </a:p>
          <a:p>
            <a:pPr marL="0" indent="0">
              <a:buFont typeface="Wingdings" charset="2"/>
              <a:buNone/>
              <a:defRPr/>
            </a:pPr>
            <a:r>
              <a:rPr lang="en-US" sz="2000" dirty="0"/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charset="2"/>
              <a:buChar char="§"/>
              <a:defRPr/>
            </a:pPr>
            <a:r>
              <a:rPr lang="en-US" sz="2000" dirty="0"/>
              <a:t>SMTP client sends an email by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charset="2"/>
              <a:buNone/>
              <a:defRPr/>
            </a:pPr>
            <a:r>
              <a:rPr lang="en-US" sz="2000" dirty="0"/>
              <a:t>  connecting to a SMTP server on port 25.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Wingdings" charset="2"/>
              <a:buNone/>
              <a:defRPr/>
            </a:pPr>
            <a:endParaRPr lang="en-US" sz="2000" dirty="0"/>
          </a:p>
          <a:p>
            <a:pPr>
              <a:lnSpc>
                <a:spcPct val="100000"/>
              </a:lnSpc>
              <a:spcBef>
                <a:spcPts val="0"/>
              </a:spcBef>
              <a:buFont typeface="Wingdings" charset="2"/>
              <a:buChar char="§"/>
              <a:defRPr/>
            </a:pPr>
            <a:r>
              <a:rPr lang="en-US" sz="2000" dirty="0"/>
              <a:t>Server receives the message and stores</a:t>
            </a:r>
          </a:p>
          <a:p>
            <a:pPr marL="231775" indent="-231775">
              <a:lnSpc>
                <a:spcPct val="100000"/>
              </a:lnSpc>
              <a:spcBef>
                <a:spcPts val="0"/>
              </a:spcBef>
              <a:buFont typeface="Wingdings" charset="2"/>
              <a:buNone/>
              <a:defRPr/>
            </a:pPr>
            <a:r>
              <a:rPr lang="en-US" sz="2000" dirty="0"/>
              <a:t>   it in a local mailbox or relays it to another </a:t>
            </a:r>
          </a:p>
          <a:p>
            <a:pPr marL="231775" indent="-231775">
              <a:lnSpc>
                <a:spcPct val="100000"/>
              </a:lnSpc>
              <a:spcBef>
                <a:spcPts val="0"/>
              </a:spcBef>
              <a:buFont typeface="Wingdings" charset="2"/>
              <a:buNone/>
              <a:defRPr/>
            </a:pPr>
            <a:r>
              <a:rPr lang="en-US" sz="2000" dirty="0"/>
              <a:t>  mail server. </a:t>
            </a:r>
          </a:p>
          <a:p>
            <a:pPr>
              <a:buFont typeface="Wingdings" charset="2"/>
              <a:buChar char="§"/>
              <a:defRPr/>
            </a:pPr>
            <a:r>
              <a:rPr lang="en-US" sz="2000" dirty="0"/>
              <a:t>Users use email clients to retrieve messages stored on the server. </a:t>
            </a:r>
          </a:p>
          <a:p>
            <a:pPr>
              <a:buFont typeface="Wingdings" charset="2"/>
              <a:buChar char="§"/>
              <a:defRPr/>
            </a:pPr>
            <a:r>
              <a:rPr lang="en-US" sz="2000" dirty="0"/>
              <a:t>IMAP and POP are two protocols commonly used by email clients to retrieve messages. </a:t>
            </a:r>
          </a:p>
          <a:p>
            <a:pPr>
              <a:buFont typeface="Wingdings" charset="2"/>
              <a:buChar char="§"/>
              <a:defRPr/>
            </a:pPr>
            <a:endParaRPr lang="en-US" sz="2000" dirty="0"/>
          </a:p>
        </p:txBody>
      </p:sp>
      <p:pic>
        <p:nvPicPr>
          <p:cNvPr id="43011" name="Image">
            <a:extLst>
              <a:ext uri="{FF2B5EF4-FFF2-40B4-BE49-F238E27FC236}">
                <a16:creationId xmlns:a16="http://schemas.microsoft.com/office/drawing/2014/main" id="{084AAC99-70B4-F0BE-8FE2-E6201A785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125" y="1981200"/>
            <a:ext cx="4079875" cy="316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id="{BB73514C-DBE0-770C-C2E6-FF9015AD66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457200"/>
            <a:ext cx="8145462" cy="838200"/>
          </a:xfrm>
        </p:spPr>
        <p:txBody>
          <a:bodyPr/>
          <a:lstStyle/>
          <a:p>
            <a:r>
              <a:rPr lang="en-US" altLang="en-US"/>
              <a:t>POP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0E304-E05E-5547-8695-7E5575015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90650"/>
            <a:ext cx="5678488" cy="3571875"/>
          </a:xfrm>
        </p:spPr>
        <p:txBody>
          <a:bodyPr/>
          <a:lstStyle/>
          <a:p>
            <a:pPr>
              <a:buFont typeface="Wingdings" charset="2"/>
              <a:buChar char="§"/>
              <a:defRPr/>
            </a:pPr>
            <a:r>
              <a:rPr lang="en-US" sz="1900" dirty="0"/>
              <a:t>Messages are downloaded from server to client. </a:t>
            </a:r>
          </a:p>
          <a:p>
            <a:pPr>
              <a:buFont typeface="Wingdings" charset="2"/>
              <a:buChar char="§"/>
              <a:defRPr/>
            </a:pPr>
            <a:r>
              <a:rPr lang="en-US" sz="1900" dirty="0"/>
              <a:t>The server listens on port 110 for client requests. </a:t>
            </a:r>
          </a:p>
          <a:p>
            <a:pPr>
              <a:buFont typeface="Wingdings" charset="2"/>
              <a:buChar char="§"/>
              <a:defRPr/>
            </a:pPr>
            <a:endParaRPr lang="en-US" sz="1900" dirty="0"/>
          </a:p>
          <a:p>
            <a:pPr>
              <a:buFont typeface="Wingdings" charset="2"/>
              <a:buChar char="§"/>
              <a:defRPr/>
            </a:pPr>
            <a:r>
              <a:rPr lang="en-US" sz="1900" dirty="0"/>
              <a:t>Email clients direct their POP requests to mail servers on port 110. </a:t>
            </a:r>
          </a:p>
          <a:p>
            <a:pPr>
              <a:buFont typeface="Wingdings" charset="2"/>
              <a:buChar char="§"/>
              <a:defRPr/>
            </a:pPr>
            <a:endParaRPr lang="en-US" sz="1900" dirty="0"/>
          </a:p>
          <a:p>
            <a:pPr>
              <a:buFont typeface="Wingdings" charset="2"/>
              <a:buChar char="§"/>
              <a:defRPr/>
            </a:pPr>
            <a:r>
              <a:rPr lang="en-US" sz="1900" dirty="0"/>
              <a:t>POP allows for email messages to be </a:t>
            </a:r>
          </a:p>
          <a:p>
            <a:pPr marL="0" indent="0">
              <a:buFont typeface="Wingdings" charset="2"/>
              <a:buNone/>
              <a:defRPr/>
            </a:pPr>
            <a:r>
              <a:rPr lang="en-US" sz="1900" dirty="0"/>
              <a:t>  downloaded to the client’s device.</a:t>
            </a:r>
          </a:p>
          <a:p>
            <a:pPr>
              <a:buFont typeface="Wingdings" charset="2"/>
              <a:buChar char="§"/>
              <a:defRPr/>
            </a:pPr>
            <a:endParaRPr lang="en-US" sz="1900" dirty="0"/>
          </a:p>
          <a:p>
            <a:pPr>
              <a:buFont typeface="Wingdings" charset="2"/>
              <a:buChar char="§"/>
              <a:defRPr/>
            </a:pPr>
            <a:r>
              <a:rPr lang="en-US" sz="1900" dirty="0"/>
              <a:t>There is no centralized location where </a:t>
            </a:r>
          </a:p>
          <a:p>
            <a:pPr marL="0" indent="0">
              <a:buFont typeface="Wingdings" charset="2"/>
              <a:buNone/>
              <a:defRPr/>
            </a:pPr>
            <a:r>
              <a:rPr lang="en-US" sz="1900" dirty="0"/>
              <a:t>    email messages are kept. </a:t>
            </a:r>
          </a:p>
          <a:p>
            <a:pPr>
              <a:buFont typeface="Wingdings" charset="2"/>
              <a:buChar char="§"/>
              <a:defRPr/>
            </a:pPr>
            <a:endParaRPr lang="en-US" sz="1900" dirty="0"/>
          </a:p>
        </p:txBody>
      </p:sp>
      <p:pic>
        <p:nvPicPr>
          <p:cNvPr id="44035" name="Image">
            <a:extLst>
              <a:ext uri="{FF2B5EF4-FFF2-40B4-BE49-F238E27FC236}">
                <a16:creationId xmlns:a16="http://schemas.microsoft.com/office/drawing/2014/main" id="{D0FBFAB4-179C-37D3-7144-DA31EB1A7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500" y="3444875"/>
            <a:ext cx="4600575" cy="322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>
            <a:extLst>
              <a:ext uri="{FF2B5EF4-FFF2-40B4-BE49-F238E27FC236}">
                <a16:creationId xmlns:a16="http://schemas.microsoft.com/office/drawing/2014/main" id="{81E4C11F-8F82-B40D-7284-E8F45BEA59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IMAP </a:t>
            </a:r>
            <a:r>
              <a:rPr lang="en-US" altLang="en-US" sz="2400"/>
              <a:t>(Internet Message Access Protocol) Opertion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EC85C-2FD2-514A-804F-4BB569A50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75" y="1814513"/>
            <a:ext cx="5138738" cy="4735512"/>
          </a:xfrm>
        </p:spPr>
        <p:txBody>
          <a:bodyPr/>
          <a:lstStyle/>
          <a:p>
            <a:pPr>
              <a:buFont typeface="Wingdings" charset="2"/>
              <a:buChar char="§"/>
              <a:defRPr/>
            </a:pPr>
            <a:r>
              <a:rPr lang="en-US" sz="1900" dirty="0"/>
              <a:t>IMAP also used to retrieve email messages. </a:t>
            </a:r>
          </a:p>
          <a:p>
            <a:pPr>
              <a:buFont typeface="Wingdings" charset="2"/>
              <a:buChar char="§"/>
              <a:defRPr/>
            </a:pPr>
            <a:r>
              <a:rPr lang="en-US" sz="1900" dirty="0"/>
              <a:t>Allows for messages to be displayed to </a:t>
            </a:r>
          </a:p>
          <a:p>
            <a:pPr marL="0" indent="0">
              <a:buFont typeface="Wingdings" charset="2"/>
              <a:buNone/>
              <a:defRPr/>
            </a:pPr>
            <a:r>
              <a:rPr lang="en-US" sz="1900" dirty="0"/>
              <a:t>   the user rather than downloaded. </a:t>
            </a:r>
          </a:p>
          <a:p>
            <a:pPr>
              <a:buFont typeface="Wingdings" charset="2"/>
              <a:buChar char="§"/>
              <a:defRPr/>
            </a:pPr>
            <a:r>
              <a:rPr lang="en-US" sz="1900" dirty="0"/>
              <a:t>Original messages reside on the server until manually deleted by the user. </a:t>
            </a:r>
          </a:p>
          <a:p>
            <a:pPr>
              <a:buFont typeface="Wingdings" charset="2"/>
              <a:buChar char="§"/>
              <a:defRPr/>
            </a:pPr>
            <a:r>
              <a:rPr lang="en-US" sz="1900" dirty="0"/>
              <a:t>Users view copies of the messages in their email client software. </a:t>
            </a:r>
          </a:p>
          <a:p>
            <a:pPr>
              <a:buFont typeface="Wingdings" charset="2"/>
              <a:buChar char="§"/>
              <a:defRPr/>
            </a:pPr>
            <a:r>
              <a:rPr lang="en-US" sz="1900" dirty="0"/>
              <a:t>Users can create a folder hierarchy on the server to organize and store mail. </a:t>
            </a:r>
          </a:p>
          <a:p>
            <a:pPr>
              <a:buFont typeface="Wingdings" charset="2"/>
              <a:buChar char="§"/>
              <a:defRPr/>
            </a:pPr>
            <a:r>
              <a:rPr lang="en-US" sz="1900" dirty="0"/>
              <a:t>When a user decides to delete a message, the server synchronizes that action and deletes the message from the server. </a:t>
            </a:r>
          </a:p>
          <a:p>
            <a:pPr>
              <a:buFont typeface="Wingdings" charset="2"/>
              <a:buChar char="§"/>
              <a:defRPr/>
            </a:pPr>
            <a:endParaRPr lang="en-US" sz="1900" dirty="0"/>
          </a:p>
        </p:txBody>
      </p:sp>
      <p:pic>
        <p:nvPicPr>
          <p:cNvPr id="45059" name="Image">
            <a:extLst>
              <a:ext uri="{FF2B5EF4-FFF2-40B4-BE49-F238E27FC236}">
                <a16:creationId xmlns:a16="http://schemas.microsoft.com/office/drawing/2014/main" id="{F13CB383-F2A8-1E3C-5610-D0031A439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3325" y="3500438"/>
            <a:ext cx="4119563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FD38D399-9613-48D2-DC5E-420FD09B49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463550"/>
            <a:ext cx="8145462" cy="838200"/>
          </a:xfrm>
        </p:spPr>
        <p:txBody>
          <a:bodyPr/>
          <a:lstStyle/>
          <a:p>
            <a:pPr eaLnBrk="1" hangingPunct="1"/>
            <a:r>
              <a:rPr lang="en-US" altLang="en-US"/>
              <a:t>Email Services and SMTP/POP Protocols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462820D0-E206-3D8B-0107-855D617FFE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406525"/>
            <a:ext cx="4797425" cy="5334000"/>
          </a:xfrm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altLang="en-US" sz="2000"/>
              <a:t>When people compose e-mail msgs, they typically use an application called a Mail User Agent (MUA), which enables sending messages and getting messages into client’s mail box</a:t>
            </a:r>
          </a:p>
          <a:p>
            <a:pPr eaLnBrk="1" hangingPunct="1">
              <a:lnSpc>
                <a:spcPct val="85000"/>
              </a:lnSpc>
            </a:pPr>
            <a:endParaRPr lang="en-US" altLang="en-US" sz="2000"/>
          </a:p>
          <a:p>
            <a:pPr eaLnBrk="1" hangingPunct="1">
              <a:lnSpc>
                <a:spcPct val="85000"/>
              </a:lnSpc>
            </a:pPr>
            <a:r>
              <a:rPr lang="en-US" altLang="en-US" sz="2000"/>
              <a:t>Mail Transfer Agent (MTA) process is used to forward e-mail</a:t>
            </a:r>
          </a:p>
          <a:p>
            <a:pPr eaLnBrk="1" hangingPunct="1">
              <a:lnSpc>
                <a:spcPct val="85000"/>
              </a:lnSpc>
            </a:pPr>
            <a:endParaRPr lang="en-US" altLang="en-US" sz="2000"/>
          </a:p>
          <a:p>
            <a:pPr eaLnBrk="1" hangingPunct="1">
              <a:lnSpc>
                <a:spcPct val="85000"/>
              </a:lnSpc>
            </a:pPr>
            <a:r>
              <a:rPr lang="en-US" altLang="en-US" sz="2000"/>
              <a:t>Mail Delivery Agent (MDA) is used If the mail is addressed to a user whose mailbox is on the local server</a:t>
            </a:r>
          </a:p>
          <a:p>
            <a:pPr eaLnBrk="1" hangingPunct="1">
              <a:lnSpc>
                <a:spcPct val="85000"/>
              </a:lnSpc>
            </a:pPr>
            <a:endParaRPr lang="en-US" altLang="en-US" sz="2000"/>
          </a:p>
          <a:p>
            <a:pPr eaLnBrk="1" hangingPunct="1">
              <a:lnSpc>
                <a:spcPct val="85000"/>
              </a:lnSpc>
            </a:pPr>
            <a:r>
              <a:rPr lang="en-US" altLang="en-US" sz="2000"/>
              <a:t>The MDA can also resolve final delivery issues, such as virus scanning, spam filtering, and return-receipt handling</a:t>
            </a:r>
          </a:p>
        </p:txBody>
      </p:sp>
      <p:pic>
        <p:nvPicPr>
          <p:cNvPr id="46083" name="Picture 5">
            <a:extLst>
              <a:ext uri="{FF2B5EF4-FFF2-40B4-BE49-F238E27FC236}">
                <a16:creationId xmlns:a16="http://schemas.microsoft.com/office/drawing/2014/main" id="{EAD645A2-17A2-2568-C30A-BD321F037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87" t="16000" r="3229" b="20334"/>
          <a:stretch>
            <a:fillRect/>
          </a:stretch>
        </p:blipFill>
        <p:spPr bwMode="auto">
          <a:xfrm>
            <a:off x="4797425" y="2305050"/>
            <a:ext cx="4346575" cy="305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5F5DA320-C338-0431-0FE4-13132BF740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388938"/>
            <a:ext cx="8145462" cy="838200"/>
          </a:xfrm>
        </p:spPr>
        <p:txBody>
          <a:bodyPr/>
          <a:lstStyle/>
          <a:p>
            <a:pPr eaLnBrk="1" hangingPunct="1"/>
            <a:r>
              <a:rPr lang="en-US" altLang="en-US"/>
              <a:t>File Transfer Protocol (FTP)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7BF8C795-5BC4-6001-2DDA-4B394554AE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625600"/>
            <a:ext cx="4449763" cy="5126038"/>
          </a:xfrm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altLang="en-US" sz="2000"/>
              <a:t>FTP is an Application layer protocol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 sz="2000"/>
              <a:t>FTP client runs on a computer that is used to push and pull files. </a:t>
            </a:r>
          </a:p>
          <a:p>
            <a:pPr eaLnBrk="1" hangingPunct="1">
              <a:lnSpc>
                <a:spcPct val="85000"/>
              </a:lnSpc>
            </a:pPr>
            <a:endParaRPr lang="en-US" altLang="en-US" sz="2000"/>
          </a:p>
          <a:p>
            <a:pPr eaLnBrk="1" hangingPunct="1">
              <a:lnSpc>
                <a:spcPct val="85000"/>
              </a:lnSpc>
            </a:pPr>
            <a:r>
              <a:rPr lang="en-US" altLang="en-US" sz="2000"/>
              <a:t>Client initiates and establishes the first connection for control traffic on TCP port 21. 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 sz="2000"/>
              <a:t>Client then establishes the second connection to the server for the actual data transfer on TCP port 20. </a:t>
            </a:r>
          </a:p>
          <a:p>
            <a:pPr eaLnBrk="1" hangingPunct="1">
              <a:lnSpc>
                <a:spcPct val="85000"/>
              </a:lnSpc>
            </a:pPr>
            <a:endParaRPr lang="en-US" altLang="en-US" sz="2000"/>
          </a:p>
          <a:p>
            <a:pPr eaLnBrk="1" hangingPunct="1">
              <a:lnSpc>
                <a:spcPct val="85000"/>
              </a:lnSpc>
            </a:pPr>
            <a:r>
              <a:rPr lang="en-US" altLang="en-US" sz="2000"/>
              <a:t>The client can download (pull) a file from the server or, upload (push) a file to the server</a:t>
            </a:r>
          </a:p>
        </p:txBody>
      </p:sp>
      <p:pic>
        <p:nvPicPr>
          <p:cNvPr id="48131" name="Picture 5">
            <a:extLst>
              <a:ext uri="{FF2B5EF4-FFF2-40B4-BE49-F238E27FC236}">
                <a16:creationId xmlns:a16="http://schemas.microsoft.com/office/drawing/2014/main" id="{C120C56E-D576-87C5-A2DB-428561D10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88" t="15334" r="8125" b="20500"/>
          <a:stretch>
            <a:fillRect/>
          </a:stretch>
        </p:blipFill>
        <p:spPr bwMode="auto">
          <a:xfrm>
            <a:off x="4557713" y="1976438"/>
            <a:ext cx="4586287" cy="370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id="{5F7BA6C7-3162-3503-10B0-C6F02F8804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4025" y="619125"/>
            <a:ext cx="8343900" cy="838200"/>
          </a:xfrm>
        </p:spPr>
        <p:txBody>
          <a:bodyPr/>
          <a:lstStyle/>
          <a:p>
            <a:r>
              <a:rPr lang="en-US" altLang="en-US" sz="2800"/>
              <a:t>Dynamic Host Configuration Protocol (DHCP)</a:t>
            </a:r>
          </a:p>
        </p:txBody>
      </p:sp>
      <p:sp>
        <p:nvSpPr>
          <p:cNvPr id="50178" name="Content Placeholder 2">
            <a:extLst>
              <a:ext uri="{FF2B5EF4-FFF2-40B4-BE49-F238E27FC236}">
                <a16:creationId xmlns:a16="http://schemas.microsoft.com/office/drawing/2014/main" id="{D908371F-A79B-C542-4807-4EA6D450F4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2179638"/>
            <a:ext cx="4862513" cy="4037012"/>
          </a:xfrm>
        </p:spPr>
        <p:txBody>
          <a:bodyPr/>
          <a:lstStyle/>
          <a:p>
            <a:r>
              <a:rPr lang="en-US" altLang="en-US" sz="1900"/>
              <a:t>Computers need network addresses to communicate over a network. </a:t>
            </a:r>
          </a:p>
          <a:p>
            <a:r>
              <a:rPr lang="en-US" altLang="en-US" sz="1900"/>
              <a:t>Additional crucial information includes gateway address, subnet mask, and DNS </a:t>
            </a:r>
          </a:p>
          <a:p>
            <a:r>
              <a:rPr lang="en-US" altLang="en-US" sz="1900"/>
              <a:t>Manual config of end devices is not scalable/affordable. </a:t>
            </a:r>
          </a:p>
          <a:p>
            <a:r>
              <a:rPr lang="en-US" altLang="en-US" sz="1900"/>
              <a:t>DHCP allows for automated distribution of network information. </a:t>
            </a:r>
          </a:p>
          <a:p>
            <a:r>
              <a:rPr lang="en-US" altLang="en-US" sz="1900"/>
              <a:t>Addresses are returned to the pool for reuse when no longer in use. </a:t>
            </a:r>
          </a:p>
          <a:p>
            <a:r>
              <a:rPr lang="en-US" altLang="en-US" sz="1900"/>
              <a:t>DHCP supports IPv4 and DHCPv6 supports IPv6. </a:t>
            </a:r>
          </a:p>
          <a:p>
            <a:endParaRPr lang="en-US" altLang="en-US" sz="1900"/>
          </a:p>
        </p:txBody>
      </p:sp>
      <p:pic>
        <p:nvPicPr>
          <p:cNvPr id="50179" name="Picture 5">
            <a:extLst>
              <a:ext uri="{FF2B5EF4-FFF2-40B4-BE49-F238E27FC236}">
                <a16:creationId xmlns:a16="http://schemas.microsoft.com/office/drawing/2014/main" id="{4A1891F2-4F3F-107D-786C-1726B5060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67" t="16167" r="1772" b="19333"/>
          <a:stretch>
            <a:fillRect/>
          </a:stretch>
        </p:blipFill>
        <p:spPr bwMode="auto">
          <a:xfrm>
            <a:off x="4902200" y="2403475"/>
            <a:ext cx="4191000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5A0EF91E-31C5-46DB-C341-A5945F80CA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4313" y="315913"/>
            <a:ext cx="8547100" cy="838200"/>
          </a:xfrm>
        </p:spPr>
        <p:txBody>
          <a:bodyPr/>
          <a:lstStyle/>
          <a:p>
            <a:pPr eaLnBrk="1" hangingPunct="1"/>
            <a:r>
              <a:rPr lang="en-US" altLang="en-US" sz="2800"/>
              <a:t>Dynamic Host Configuration Protocol (DHCP)</a:t>
            </a:r>
          </a:p>
        </p:txBody>
      </p:sp>
      <p:sp>
        <p:nvSpPr>
          <p:cNvPr id="51202" name="Rectangle 3">
            <a:extLst>
              <a:ext uri="{FF2B5EF4-FFF2-40B4-BE49-F238E27FC236}">
                <a16:creationId xmlns:a16="http://schemas.microsoft.com/office/drawing/2014/main" id="{564F07A2-73AC-7D43-312C-8F65148668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113" y="1360488"/>
            <a:ext cx="4467225" cy="5322887"/>
          </a:xfrm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altLang="en-US" sz="1900"/>
              <a:t>DHCP server chooses an address from a configured range of addresses called a pool and assigns ("leases") it to the host for a set period</a:t>
            </a:r>
          </a:p>
          <a:p>
            <a:pPr eaLnBrk="1" hangingPunct="1">
              <a:lnSpc>
                <a:spcPct val="85000"/>
              </a:lnSpc>
            </a:pPr>
            <a:endParaRPr lang="en-US" altLang="en-US" sz="1900"/>
          </a:p>
          <a:p>
            <a:pPr eaLnBrk="1" hangingPunct="1">
              <a:lnSpc>
                <a:spcPct val="85000"/>
              </a:lnSpc>
            </a:pPr>
            <a:r>
              <a:rPr lang="en-US" altLang="en-US" sz="1900"/>
              <a:t>DHCP makes it possible for you to access the Internet using wireless hotspots at airports or coffee shops</a:t>
            </a:r>
          </a:p>
          <a:p>
            <a:pPr eaLnBrk="1" hangingPunct="1">
              <a:lnSpc>
                <a:spcPct val="85000"/>
              </a:lnSpc>
            </a:pPr>
            <a:endParaRPr lang="en-US" altLang="en-US" sz="1900"/>
          </a:p>
          <a:p>
            <a:pPr eaLnBrk="1" hangingPunct="1">
              <a:lnSpc>
                <a:spcPct val="85000"/>
              </a:lnSpc>
            </a:pPr>
            <a:r>
              <a:rPr lang="en-US" altLang="en-US" sz="1900"/>
              <a:t>Many networks use both DHCP and static addressing. </a:t>
            </a:r>
          </a:p>
          <a:p>
            <a:pPr eaLnBrk="1" hangingPunct="1">
              <a:lnSpc>
                <a:spcPct val="85000"/>
              </a:lnSpc>
            </a:pPr>
            <a:endParaRPr lang="en-US" altLang="en-US" sz="1900"/>
          </a:p>
          <a:p>
            <a:pPr eaLnBrk="1" hangingPunct="1">
              <a:lnSpc>
                <a:spcPct val="85000"/>
              </a:lnSpc>
            </a:pPr>
            <a:r>
              <a:rPr lang="en-US" altLang="en-US" sz="1900"/>
              <a:t>DHCP is used for general purpose hosts such as end user devices, and fixed addresses are used for network devices such as gateways, routers, servers and printers.</a:t>
            </a:r>
          </a:p>
        </p:txBody>
      </p:sp>
      <p:pic>
        <p:nvPicPr>
          <p:cNvPr id="51203" name="Picture 5">
            <a:extLst>
              <a:ext uri="{FF2B5EF4-FFF2-40B4-BE49-F238E27FC236}">
                <a16:creationId xmlns:a16="http://schemas.microsoft.com/office/drawing/2014/main" id="{628C89CC-D0A1-2D0A-6A16-1CCD8586B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67" t="16167" r="1772" b="19333"/>
          <a:stretch>
            <a:fillRect/>
          </a:stretch>
        </p:blipFill>
        <p:spPr bwMode="auto">
          <a:xfrm>
            <a:off x="4487863" y="2403475"/>
            <a:ext cx="4605337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>
            <a:extLst>
              <a:ext uri="{FF2B5EF4-FFF2-40B4-BE49-F238E27FC236}">
                <a16:creationId xmlns:a16="http://schemas.microsoft.com/office/drawing/2014/main" id="{B0147D5E-44FA-5259-2EBF-BDCEAD9FCB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6088" y="468313"/>
            <a:ext cx="8612187" cy="838200"/>
          </a:xfrm>
        </p:spPr>
        <p:txBody>
          <a:bodyPr/>
          <a:lstStyle/>
          <a:p>
            <a:r>
              <a:rPr lang="en-US" altLang="en-US" sz="2900"/>
              <a:t>Dynamic Host Configuration Protocol (DHCP)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353C5-E1F4-C74C-932D-4ACE1B628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00" y="1528763"/>
            <a:ext cx="8931275" cy="3571875"/>
          </a:xfrm>
        </p:spPr>
        <p:txBody>
          <a:bodyPr/>
          <a:lstStyle/>
          <a:p>
            <a:pPr>
              <a:buFont typeface="Wingdings" charset="2"/>
              <a:buChar char="§"/>
              <a:defRPr/>
            </a:pPr>
            <a:r>
              <a:rPr lang="en-US" sz="2100" dirty="0"/>
              <a:t>A DHCP client goes through the following basic steps to request an IP: </a:t>
            </a:r>
          </a:p>
          <a:p>
            <a:pPr marL="517525" indent="-222250">
              <a:buFont typeface="Wingdings" charset="2"/>
              <a:buNone/>
              <a:defRPr/>
            </a:pPr>
            <a:r>
              <a:rPr lang="en-US" sz="1800" dirty="0"/>
              <a:t>1. The client broadcasts a DHCPDISCOVER. </a:t>
            </a:r>
          </a:p>
          <a:p>
            <a:pPr marL="517525" indent="-222250">
              <a:buFont typeface="Wingdings" charset="2"/>
              <a:buNone/>
              <a:defRPr/>
            </a:pPr>
            <a:r>
              <a:rPr lang="en-US" sz="1800" dirty="0"/>
              <a:t>2. A DHCP server replies with a DHCPOFFER message </a:t>
            </a:r>
          </a:p>
          <a:p>
            <a:pPr marL="517525" indent="-222250">
              <a:buFont typeface="Wingdings" charset="2"/>
              <a:buNone/>
              <a:defRPr/>
            </a:pPr>
            <a:r>
              <a:rPr lang="en-US" sz="1800" dirty="0"/>
              <a:t>3. The client sends a DHCPREQUEST message to the server it wants to use (in case of multiple offers). </a:t>
            </a:r>
          </a:p>
          <a:p>
            <a:pPr>
              <a:buFont typeface="Wingdings" charset="2"/>
              <a:buChar char="§"/>
              <a:defRPr/>
            </a:pPr>
            <a:endParaRPr lang="en-US" sz="2100" dirty="0"/>
          </a:p>
          <a:p>
            <a:pPr>
              <a:buFont typeface="Wingdings" charset="2"/>
              <a:buChar char="§"/>
              <a:defRPr/>
            </a:pPr>
            <a:r>
              <a:rPr lang="en-US" sz="2100" dirty="0"/>
              <a:t>A client may also choose to request </a:t>
            </a:r>
          </a:p>
          <a:p>
            <a:pPr marL="0" indent="0">
              <a:buFont typeface="Wingdings" charset="2"/>
              <a:buNone/>
              <a:defRPr/>
            </a:pPr>
            <a:r>
              <a:rPr lang="en-US" sz="2100" dirty="0"/>
              <a:t>an address that it had previously been </a:t>
            </a:r>
          </a:p>
          <a:p>
            <a:pPr marL="0" indent="0">
              <a:buFont typeface="Wingdings" charset="2"/>
              <a:buNone/>
              <a:defRPr/>
            </a:pPr>
            <a:r>
              <a:rPr lang="en-US" sz="2100" dirty="0"/>
              <a:t>allocated by the server. </a:t>
            </a:r>
          </a:p>
          <a:p>
            <a:pPr>
              <a:buFont typeface="Wingdings" charset="2"/>
              <a:buChar char="§"/>
              <a:defRPr/>
            </a:pPr>
            <a:r>
              <a:rPr lang="en-US" sz="2100" dirty="0"/>
              <a:t>The server returns a DHCPACK </a:t>
            </a:r>
          </a:p>
          <a:p>
            <a:pPr marL="0" indent="0">
              <a:buFont typeface="Wingdings" charset="2"/>
              <a:buNone/>
              <a:defRPr/>
            </a:pPr>
            <a:r>
              <a:rPr lang="en-US" sz="2100" dirty="0"/>
              <a:t>message to confirm the lease has </a:t>
            </a:r>
          </a:p>
          <a:p>
            <a:pPr marL="0" indent="0">
              <a:buFont typeface="Wingdings" charset="2"/>
              <a:buNone/>
              <a:defRPr/>
            </a:pPr>
            <a:r>
              <a:rPr lang="en-US" sz="2100" dirty="0"/>
              <a:t>been finalized. </a:t>
            </a:r>
          </a:p>
          <a:p>
            <a:pPr>
              <a:buFont typeface="Wingdings" charset="2"/>
              <a:buChar char="§"/>
              <a:defRPr/>
            </a:pPr>
            <a:endParaRPr lang="en-US" sz="2100" dirty="0"/>
          </a:p>
        </p:txBody>
      </p:sp>
      <p:pic>
        <p:nvPicPr>
          <p:cNvPr id="53251" name="Image">
            <a:extLst>
              <a:ext uri="{FF2B5EF4-FFF2-40B4-BE49-F238E27FC236}">
                <a16:creationId xmlns:a16="http://schemas.microsoft.com/office/drawing/2014/main" id="{C935AEDA-F7CD-0C2F-624D-73962D24F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5838" y="3913188"/>
            <a:ext cx="4348162" cy="277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EE742635-6ED0-72F3-333E-768F24ADDF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498475"/>
            <a:ext cx="8145462" cy="838200"/>
          </a:xfrm>
        </p:spPr>
        <p:txBody>
          <a:bodyPr/>
          <a:lstStyle/>
          <a:p>
            <a:pPr eaLnBrk="1" hangingPunct="1"/>
            <a:r>
              <a:rPr lang="en-US" altLang="en-US"/>
              <a:t>Server Message Block (SMB) Protocol</a:t>
            </a:r>
          </a:p>
        </p:txBody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D39D68E9-7605-9EE7-9DEB-8A5B2BFAE2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9863" y="1747838"/>
            <a:ext cx="3729037" cy="2697162"/>
          </a:xfrm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altLang="en-US" sz="2000"/>
              <a:t>SMB is a client/server file sharing protocol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 sz="2000"/>
              <a:t>Developed by IBM in the late 1980s to describe the structure of shared network resources.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 sz="2000"/>
              <a:t>It is a request-response protocol</a:t>
            </a:r>
          </a:p>
        </p:txBody>
      </p:sp>
      <p:pic>
        <p:nvPicPr>
          <p:cNvPr id="54275" name="Picture 6">
            <a:extLst>
              <a:ext uri="{FF2B5EF4-FFF2-40B4-BE49-F238E27FC236}">
                <a16:creationId xmlns:a16="http://schemas.microsoft.com/office/drawing/2014/main" id="{F2F80A05-7122-67B5-2AC0-8A01927DC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63" t="22000" r="2292" b="27499"/>
          <a:stretch>
            <a:fillRect/>
          </a:stretch>
        </p:blipFill>
        <p:spPr bwMode="auto">
          <a:xfrm>
            <a:off x="3797300" y="1763713"/>
            <a:ext cx="5346700" cy="275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6" name="Rectangle 8">
            <a:extLst>
              <a:ext uri="{FF2B5EF4-FFF2-40B4-BE49-F238E27FC236}">
                <a16:creationId xmlns:a16="http://schemas.microsoft.com/office/drawing/2014/main" id="{AC7D52AB-2ABA-3FBA-7685-C050AB83A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3" y="4572000"/>
            <a:ext cx="8878887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>
            <a:lvl1pPr marL="236538" indent="-236538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14388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14388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14388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14388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1800"/>
              <a:t>Unlike the file sharing supported by FTP, clients establish a long term connection to servers. 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 sz="1800"/>
              <a:t>Once the connection is established, the user of the client can access the resources on the server as if the resource is local to the client host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 sz="1800"/>
              <a:t>SMB file-sharing and print services have become the main stay of Microsoft networking.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24892CC0-2014-B366-AB0F-CEB662FE45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5000" y="527050"/>
            <a:ext cx="8145463" cy="838200"/>
          </a:xfrm>
        </p:spPr>
        <p:txBody>
          <a:bodyPr/>
          <a:lstStyle/>
          <a:p>
            <a:pPr eaLnBrk="1" hangingPunct="1"/>
            <a:r>
              <a:rPr lang="en-US" altLang="en-US"/>
              <a:t>Gnutella Protocol and P2P Services </a:t>
            </a:r>
          </a:p>
        </p:txBody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E8CA8C17-E176-FB5F-74FD-CEED7DC750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363" y="1495425"/>
            <a:ext cx="4678362" cy="5053013"/>
          </a:xfrm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altLang="en-US" sz="1800"/>
              <a:t>Sharing files over the Internet has become extremely popular</a:t>
            </a:r>
          </a:p>
          <a:p>
            <a:pPr eaLnBrk="1" hangingPunct="1">
              <a:lnSpc>
                <a:spcPct val="85000"/>
              </a:lnSpc>
            </a:pPr>
            <a:endParaRPr lang="en-US" altLang="en-US" sz="1800"/>
          </a:p>
          <a:p>
            <a:pPr eaLnBrk="1" hangingPunct="1">
              <a:lnSpc>
                <a:spcPct val="85000"/>
              </a:lnSpc>
            </a:pPr>
            <a:r>
              <a:rPr lang="en-US" altLang="en-US" sz="1800"/>
              <a:t>With P2P applications based on the Gnutella protocol, people can make files on their hard disks available to others for downloading</a:t>
            </a:r>
          </a:p>
          <a:p>
            <a:pPr eaLnBrk="1" hangingPunct="1">
              <a:lnSpc>
                <a:spcPct val="85000"/>
              </a:lnSpc>
            </a:pPr>
            <a:endParaRPr lang="en-US" altLang="en-US" sz="1800"/>
          </a:p>
          <a:p>
            <a:pPr eaLnBrk="1" hangingPunct="1">
              <a:lnSpc>
                <a:spcPct val="85000"/>
              </a:lnSpc>
            </a:pPr>
            <a:r>
              <a:rPr lang="en-US" altLang="en-US" sz="1800"/>
              <a:t>Gnutella-compatible client software allows users to connect to Gnutella services over the Internet and to locate and access resources shared by other Gnutella peers</a:t>
            </a:r>
          </a:p>
          <a:p>
            <a:pPr eaLnBrk="1" hangingPunct="1">
              <a:lnSpc>
                <a:spcPct val="85000"/>
              </a:lnSpc>
            </a:pPr>
            <a:endParaRPr lang="en-US" altLang="en-US" sz="1800"/>
          </a:p>
          <a:p>
            <a:pPr eaLnBrk="1" hangingPunct="1">
              <a:lnSpc>
                <a:spcPct val="85000"/>
              </a:lnSpc>
            </a:pPr>
            <a:r>
              <a:rPr lang="en-US" altLang="en-US" sz="1800"/>
              <a:t>Many client applications are available for accessing the Gnutella network, including: BearShare, Gnucleus, LimeWire, Morpheus, WinMX and XoloX</a:t>
            </a:r>
          </a:p>
        </p:txBody>
      </p:sp>
      <p:pic>
        <p:nvPicPr>
          <p:cNvPr id="56323" name="Picture 5">
            <a:extLst>
              <a:ext uri="{FF2B5EF4-FFF2-40B4-BE49-F238E27FC236}">
                <a16:creationId xmlns:a16="http://schemas.microsoft.com/office/drawing/2014/main" id="{B507CDB8-EF92-A933-441C-AFC6F956D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33" t="24500" r="4897" b="22833"/>
          <a:stretch>
            <a:fillRect/>
          </a:stretch>
        </p:blipFill>
        <p:spPr bwMode="auto">
          <a:xfrm>
            <a:off x="4784725" y="2305050"/>
            <a:ext cx="4359275" cy="271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10CB25C1-0ADC-5F7B-89F2-23939E2D3D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4525" y="514350"/>
            <a:ext cx="8145463" cy="838200"/>
          </a:xfrm>
        </p:spPr>
        <p:txBody>
          <a:bodyPr/>
          <a:lstStyle/>
          <a:p>
            <a:pPr eaLnBrk="1" hangingPunct="1"/>
            <a:r>
              <a:rPr lang="en-US" altLang="en-US"/>
              <a:t>Gnutella Protocol &amp; P2P Services</a:t>
            </a:r>
          </a:p>
        </p:txBody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F17F189F-FB2B-CAC2-EC65-CDAB4F9677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1450" y="1614488"/>
            <a:ext cx="8886825" cy="2333625"/>
          </a:xfrm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altLang="en-US" sz="1800"/>
              <a:t>Many P2P applications do not use a central database to record all the files available on the peers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 sz="1800"/>
              <a:t>The devices on the network each tell the other what files are available when queried and use the Gnutella protocol.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 sz="1800"/>
              <a:t>When a user is connected to a Gnutella service, the client applications will search for other Gnutella nodes to connect to</a:t>
            </a:r>
          </a:p>
          <a:p>
            <a:pPr eaLnBrk="1" hangingPunct="1">
              <a:lnSpc>
                <a:spcPct val="85000"/>
              </a:lnSpc>
            </a:pPr>
            <a:endParaRPr lang="en-US" altLang="en-US" sz="1800"/>
          </a:p>
        </p:txBody>
      </p:sp>
      <p:pic>
        <p:nvPicPr>
          <p:cNvPr id="58371" name="Picture 5">
            <a:extLst>
              <a:ext uri="{FF2B5EF4-FFF2-40B4-BE49-F238E27FC236}">
                <a16:creationId xmlns:a16="http://schemas.microsoft.com/office/drawing/2014/main" id="{9629915B-1696-FE8E-1E00-C262E67CF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88" t="17000" r="4584" b="24500"/>
          <a:stretch>
            <a:fillRect/>
          </a:stretch>
        </p:blipFill>
        <p:spPr bwMode="auto">
          <a:xfrm>
            <a:off x="4518025" y="3813175"/>
            <a:ext cx="4427538" cy="290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2" name="Rectangle 6">
            <a:extLst>
              <a:ext uri="{FF2B5EF4-FFF2-40B4-BE49-F238E27FC236}">
                <a16:creationId xmlns:a16="http://schemas.microsoft.com/office/drawing/2014/main" id="{2A6CCDFA-8D1A-509E-8203-D01D16A02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13" y="3722688"/>
            <a:ext cx="4603750" cy="276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>
            <a:lvl1pPr marL="236538" indent="-236538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4863" indent="-230188" defTabSz="814388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14388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14388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14388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1600"/>
              <a:t>File transfers usually rely on HTTP services</a:t>
            </a:r>
          </a:p>
          <a:p>
            <a:pPr eaLnBrk="1" hangingPunct="1"/>
            <a:r>
              <a:rPr lang="en-US" altLang="en-US" sz="1600"/>
              <a:t>Gnutella protocol defines five different packet types:</a:t>
            </a:r>
          </a:p>
          <a:p>
            <a:pPr lvl="1" eaLnBrk="1" hangingPunct="1"/>
            <a:r>
              <a:rPr lang="en-US" altLang="en-US" sz="1400"/>
              <a:t>ping - for device discovery </a:t>
            </a:r>
          </a:p>
          <a:p>
            <a:pPr lvl="1" eaLnBrk="1" hangingPunct="1"/>
            <a:r>
              <a:rPr lang="en-US" altLang="en-US" sz="1400"/>
              <a:t>pong - as a reply to a ping</a:t>
            </a:r>
          </a:p>
          <a:p>
            <a:pPr lvl="1" eaLnBrk="1" hangingPunct="1"/>
            <a:r>
              <a:rPr lang="en-US" altLang="en-US" sz="1400"/>
              <a:t>query - for file location</a:t>
            </a:r>
          </a:p>
          <a:p>
            <a:pPr lvl="1" eaLnBrk="1" hangingPunct="1"/>
            <a:r>
              <a:rPr lang="en-US" altLang="en-US" sz="1400"/>
              <a:t>query hit - as a reply to a query </a:t>
            </a:r>
          </a:p>
          <a:p>
            <a:pPr lvl="1" eaLnBrk="1" hangingPunct="1"/>
            <a:r>
              <a:rPr lang="en-US" altLang="en-US" sz="1400"/>
              <a:t>push - as a download request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C54F94BE-F559-CA94-FD52-83A002AA94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6575" y="504825"/>
            <a:ext cx="8145463" cy="838200"/>
          </a:xfrm>
        </p:spPr>
        <p:txBody>
          <a:bodyPr/>
          <a:lstStyle/>
          <a:p>
            <a:pPr eaLnBrk="1" hangingPunct="1"/>
            <a:r>
              <a:rPr lang="en-US" altLang="en-US"/>
              <a:t>Telnet</a:t>
            </a:r>
          </a:p>
        </p:txBody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0F4EF456-8D5A-B5CA-33E8-F0F7296B5F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5900" y="1570038"/>
            <a:ext cx="4895850" cy="4967287"/>
          </a:xfrm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altLang="en-US" sz="1800"/>
              <a:t>Telnet is a protocol and a service that provides text-based terminal emulation to connect to remote devices over the network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 sz="1800"/>
              <a:t>A connection using Telnet is called a Virtual Terminal (VTY) session, or connection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 sz="1800"/>
              <a:t>A virtual terminal connection is established from an end device using a Telnet client application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 sz="1800"/>
              <a:t>Telnet does not support the transport of encrypted data. All data exchanged during a Telnet sessions is transported as plain text across the network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 sz="1800"/>
              <a:t>If security is a concern then the  Secured Shell (SSH) should be used</a:t>
            </a:r>
            <a:r>
              <a:rPr lang="en-US" altLang="en-US" sz="2000"/>
              <a:t> </a:t>
            </a:r>
          </a:p>
        </p:txBody>
      </p:sp>
      <p:pic>
        <p:nvPicPr>
          <p:cNvPr id="60419" name="Picture 4">
            <a:extLst>
              <a:ext uri="{FF2B5EF4-FFF2-40B4-BE49-F238E27FC236}">
                <a16:creationId xmlns:a16="http://schemas.microsoft.com/office/drawing/2014/main" id="{D12650C0-F446-6342-D0D2-A89B09CAF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238" y="2024063"/>
            <a:ext cx="4011612" cy="326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37C78A1A-575B-A65A-CF7C-26804B3F04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424F51"/>
                </a:solidFill>
                <a:latin typeface="Helvetica" panose="020B0604020202020204" pitchFamily="34" charset="0"/>
              </a:rPr>
              <a:t>Chapter Objectives: </a:t>
            </a:r>
            <a:endParaRPr lang="en-US" altLang="en-US"/>
          </a:p>
        </p:txBody>
      </p:sp>
      <p:sp>
        <p:nvSpPr>
          <p:cNvPr id="62466" name="Rectangle 1">
            <a:extLst>
              <a:ext uri="{FF2B5EF4-FFF2-40B4-BE49-F238E27FC236}">
                <a16:creationId xmlns:a16="http://schemas.microsoft.com/office/drawing/2014/main" id="{62999619-3701-335C-BC85-38428715B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38" y="1874838"/>
            <a:ext cx="8421687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000">
              <a:latin typeface="Helvetica" panose="020B0604020202020204" pitchFamily="34" charset="0"/>
            </a:endParaRPr>
          </a:p>
          <a:p>
            <a:endParaRPr lang="en-US" altLang="en-US" sz="2000">
              <a:latin typeface="Helvetica" panose="020B0604020202020204" pitchFamily="34" charset="0"/>
            </a:endParaRPr>
          </a:p>
          <a:p>
            <a:r>
              <a:rPr lang="en-US" altLang="en-US" sz="2000">
                <a:latin typeface="Helvetica" panose="020B0604020202020204" pitchFamily="34" charset="0"/>
              </a:rPr>
              <a:t>• </a:t>
            </a:r>
            <a:r>
              <a:rPr lang="en-US" altLang="en-US">
                <a:latin typeface="Helvetica" panose="020B0604020202020204" pitchFamily="34" charset="0"/>
              </a:rPr>
              <a:t>Explain the operation of the application layer in providing support to end-user applications. </a:t>
            </a:r>
          </a:p>
          <a:p>
            <a:endParaRPr lang="en-US" altLang="en-US"/>
          </a:p>
          <a:p>
            <a:r>
              <a:rPr lang="en-US" altLang="en-US" sz="2000">
                <a:latin typeface="Helvetica" panose="020B0604020202020204" pitchFamily="34" charset="0"/>
              </a:rPr>
              <a:t>• </a:t>
            </a:r>
            <a:r>
              <a:rPr lang="en-US" altLang="en-US">
                <a:latin typeface="Helvetica" panose="020B0604020202020204" pitchFamily="34" charset="0"/>
              </a:rPr>
              <a:t>Explain how well-known TCP/IP application layer protocols and services operate. </a:t>
            </a:r>
            <a:endParaRPr lang="en-US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13" name="Group 2">
            <a:extLst>
              <a:ext uri="{FF2B5EF4-FFF2-40B4-BE49-F238E27FC236}">
                <a16:creationId xmlns:a16="http://schemas.microsoft.com/office/drawing/2014/main" id="{13E55D83-3ED6-AD22-A252-4B752BEB186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4383088"/>
            <a:chOff x="0" y="0"/>
            <a:chExt cx="5760" cy="2761"/>
          </a:xfrm>
        </p:grpSpPr>
        <p:grpSp>
          <p:nvGrpSpPr>
            <p:cNvPr id="64514" name="Group 3">
              <a:extLst>
                <a:ext uri="{FF2B5EF4-FFF2-40B4-BE49-F238E27FC236}">
                  <a16:creationId xmlns:a16="http://schemas.microsoft.com/office/drawing/2014/main" id="{18FE4AE5-7D25-079A-472F-B553D943FF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7" y="1485"/>
              <a:ext cx="2400" cy="1276"/>
              <a:chOff x="3272" y="1316"/>
              <a:chExt cx="1889" cy="1002"/>
            </a:xfrm>
          </p:grpSpPr>
          <p:sp>
            <p:nvSpPr>
              <p:cNvPr id="64516" name="AutoShape 4">
                <a:extLst>
                  <a:ext uri="{FF2B5EF4-FFF2-40B4-BE49-F238E27FC236}">
                    <a16:creationId xmlns:a16="http://schemas.microsoft.com/office/drawing/2014/main" id="{485EB5A2-8EE1-749D-8F4A-27925D0593E7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3272" y="1316"/>
                <a:ext cx="1889" cy="10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17" name="Rectangle 5">
                <a:extLst>
                  <a:ext uri="{FF2B5EF4-FFF2-40B4-BE49-F238E27FC236}">
                    <a16:creationId xmlns:a16="http://schemas.microsoft.com/office/drawing/2014/main" id="{F4161A82-18EB-CFAA-9C0A-5A253D6C2A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3" y="1980"/>
                <a:ext cx="86" cy="325"/>
              </a:xfrm>
              <a:prstGeom prst="rect">
                <a:avLst/>
              </a:prstGeom>
              <a:solidFill>
                <a:srgbClr val="B2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90000"/>
                  </a:lnSpc>
                </a:pPr>
                <a:endParaRPr lang="en-US" altLang="en-US"/>
              </a:p>
            </p:txBody>
          </p:sp>
          <p:sp>
            <p:nvSpPr>
              <p:cNvPr id="64518" name="Freeform 6">
                <a:extLst>
                  <a:ext uri="{FF2B5EF4-FFF2-40B4-BE49-F238E27FC236}">
                    <a16:creationId xmlns:a16="http://schemas.microsoft.com/office/drawing/2014/main" id="{00A6CA93-1EA1-D3DD-BE06-54ABC5BE27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4" y="1971"/>
                <a:ext cx="249" cy="343"/>
              </a:xfrm>
              <a:custGeom>
                <a:avLst/>
                <a:gdLst>
                  <a:gd name="T0" fmla="*/ 6692236 w 58"/>
                  <a:gd name="T1" fmla="*/ 2745616 h 80"/>
                  <a:gd name="T2" fmla="*/ 4840242 w 58"/>
                  <a:gd name="T3" fmla="*/ 2292115 h 80"/>
                  <a:gd name="T4" fmla="*/ 2416566 w 58"/>
                  <a:gd name="T5" fmla="*/ 4578162 h 80"/>
                  <a:gd name="T6" fmla="*/ 4840242 w 58"/>
                  <a:gd name="T7" fmla="*/ 6845611 h 80"/>
                  <a:gd name="T8" fmla="*/ 6692236 w 58"/>
                  <a:gd name="T9" fmla="*/ 6392109 h 80"/>
                  <a:gd name="T10" fmla="*/ 6692236 w 58"/>
                  <a:gd name="T11" fmla="*/ 8789997 h 80"/>
                  <a:gd name="T12" fmla="*/ 4733584 w 58"/>
                  <a:gd name="T13" fmla="*/ 9137726 h 80"/>
                  <a:gd name="T14" fmla="*/ 0 w 58"/>
                  <a:gd name="T15" fmla="*/ 4578162 h 80"/>
                  <a:gd name="T16" fmla="*/ 4733584 w 58"/>
                  <a:gd name="T17" fmla="*/ 0 h 80"/>
                  <a:gd name="T18" fmla="*/ 6692236 w 58"/>
                  <a:gd name="T19" fmla="*/ 347725 h 80"/>
                  <a:gd name="T20" fmla="*/ 6692236 w 58"/>
                  <a:gd name="T21" fmla="*/ 2745616 h 8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8"/>
                  <a:gd name="T34" fmla="*/ 0 h 80"/>
                  <a:gd name="T35" fmla="*/ 58 w 58"/>
                  <a:gd name="T36" fmla="*/ 80 h 8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8" h="80">
                    <a:moveTo>
                      <a:pt x="58" y="24"/>
                    </a:moveTo>
                    <a:cubicBezTo>
                      <a:pt x="58" y="23"/>
                      <a:pt x="51" y="20"/>
                      <a:pt x="42" y="20"/>
                    </a:cubicBezTo>
                    <a:cubicBezTo>
                      <a:pt x="30" y="20"/>
                      <a:pt x="21" y="28"/>
                      <a:pt x="21" y="40"/>
                    </a:cubicBezTo>
                    <a:cubicBezTo>
                      <a:pt x="21" y="51"/>
                      <a:pt x="29" y="60"/>
                      <a:pt x="42" y="60"/>
                    </a:cubicBezTo>
                    <a:cubicBezTo>
                      <a:pt x="51" y="60"/>
                      <a:pt x="57" y="57"/>
                      <a:pt x="58" y="56"/>
                    </a:cubicBezTo>
                    <a:cubicBezTo>
                      <a:pt x="58" y="77"/>
                      <a:pt x="58" y="77"/>
                      <a:pt x="58" y="77"/>
                    </a:cubicBezTo>
                    <a:cubicBezTo>
                      <a:pt x="56" y="78"/>
                      <a:pt x="49" y="80"/>
                      <a:pt x="41" y="80"/>
                    </a:cubicBezTo>
                    <a:cubicBezTo>
                      <a:pt x="19" y="80"/>
                      <a:pt x="0" y="65"/>
                      <a:pt x="0" y="40"/>
                    </a:cubicBezTo>
                    <a:cubicBezTo>
                      <a:pt x="0" y="17"/>
                      <a:pt x="17" y="0"/>
                      <a:pt x="41" y="0"/>
                    </a:cubicBezTo>
                    <a:cubicBezTo>
                      <a:pt x="50" y="0"/>
                      <a:pt x="56" y="3"/>
                      <a:pt x="58" y="3"/>
                    </a:cubicBezTo>
                    <a:lnTo>
                      <a:pt x="58" y="24"/>
                    </a:lnTo>
                    <a:close/>
                  </a:path>
                </a:pathLst>
              </a:custGeom>
              <a:solidFill>
                <a:srgbClr val="B2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19" name="Freeform 7">
                <a:extLst>
                  <a:ext uri="{FF2B5EF4-FFF2-40B4-BE49-F238E27FC236}">
                    <a16:creationId xmlns:a16="http://schemas.microsoft.com/office/drawing/2014/main" id="{DDFD26F8-BB7A-29C2-C11C-3ADE72C110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1971"/>
                <a:ext cx="249" cy="343"/>
              </a:xfrm>
              <a:custGeom>
                <a:avLst/>
                <a:gdLst>
                  <a:gd name="T0" fmla="*/ 6692236 w 58"/>
                  <a:gd name="T1" fmla="*/ 2745616 h 80"/>
                  <a:gd name="T2" fmla="*/ 4840242 w 58"/>
                  <a:gd name="T3" fmla="*/ 2292115 h 80"/>
                  <a:gd name="T4" fmla="*/ 2416566 w 58"/>
                  <a:gd name="T5" fmla="*/ 4578162 h 80"/>
                  <a:gd name="T6" fmla="*/ 4840242 w 58"/>
                  <a:gd name="T7" fmla="*/ 6845611 h 80"/>
                  <a:gd name="T8" fmla="*/ 6692236 w 58"/>
                  <a:gd name="T9" fmla="*/ 6392109 h 80"/>
                  <a:gd name="T10" fmla="*/ 6692236 w 58"/>
                  <a:gd name="T11" fmla="*/ 8789997 h 80"/>
                  <a:gd name="T12" fmla="*/ 4620199 w 58"/>
                  <a:gd name="T13" fmla="*/ 9137726 h 80"/>
                  <a:gd name="T14" fmla="*/ 0 w 58"/>
                  <a:gd name="T15" fmla="*/ 4578162 h 80"/>
                  <a:gd name="T16" fmla="*/ 4620199 w 58"/>
                  <a:gd name="T17" fmla="*/ 0 h 80"/>
                  <a:gd name="T18" fmla="*/ 6692236 w 58"/>
                  <a:gd name="T19" fmla="*/ 347725 h 80"/>
                  <a:gd name="T20" fmla="*/ 6692236 w 58"/>
                  <a:gd name="T21" fmla="*/ 2745616 h 8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8"/>
                  <a:gd name="T34" fmla="*/ 0 h 80"/>
                  <a:gd name="T35" fmla="*/ 58 w 58"/>
                  <a:gd name="T36" fmla="*/ 80 h 8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8" h="80">
                    <a:moveTo>
                      <a:pt x="58" y="24"/>
                    </a:moveTo>
                    <a:cubicBezTo>
                      <a:pt x="57" y="23"/>
                      <a:pt x="51" y="20"/>
                      <a:pt x="42" y="20"/>
                    </a:cubicBezTo>
                    <a:cubicBezTo>
                      <a:pt x="29" y="20"/>
                      <a:pt x="21" y="28"/>
                      <a:pt x="21" y="40"/>
                    </a:cubicBezTo>
                    <a:cubicBezTo>
                      <a:pt x="21" y="51"/>
                      <a:pt x="29" y="60"/>
                      <a:pt x="42" y="60"/>
                    </a:cubicBezTo>
                    <a:cubicBezTo>
                      <a:pt x="51" y="60"/>
                      <a:pt x="57" y="57"/>
                      <a:pt x="58" y="56"/>
                    </a:cubicBezTo>
                    <a:cubicBezTo>
                      <a:pt x="58" y="77"/>
                      <a:pt x="58" y="77"/>
                      <a:pt x="58" y="77"/>
                    </a:cubicBezTo>
                    <a:cubicBezTo>
                      <a:pt x="56" y="78"/>
                      <a:pt x="49" y="80"/>
                      <a:pt x="40" y="80"/>
                    </a:cubicBezTo>
                    <a:cubicBezTo>
                      <a:pt x="19" y="80"/>
                      <a:pt x="0" y="65"/>
                      <a:pt x="0" y="40"/>
                    </a:cubicBezTo>
                    <a:cubicBezTo>
                      <a:pt x="0" y="17"/>
                      <a:pt x="17" y="0"/>
                      <a:pt x="40" y="0"/>
                    </a:cubicBezTo>
                    <a:cubicBezTo>
                      <a:pt x="49" y="0"/>
                      <a:pt x="56" y="3"/>
                      <a:pt x="58" y="3"/>
                    </a:cubicBezTo>
                    <a:lnTo>
                      <a:pt x="58" y="24"/>
                    </a:lnTo>
                    <a:close/>
                  </a:path>
                </a:pathLst>
              </a:custGeom>
              <a:solidFill>
                <a:srgbClr val="B2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20" name="Freeform 8">
                <a:extLst>
                  <a:ext uri="{FF2B5EF4-FFF2-40B4-BE49-F238E27FC236}">
                    <a16:creationId xmlns:a16="http://schemas.microsoft.com/office/drawing/2014/main" id="{EB185B4C-4431-FC1F-2C40-BE261F0298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43" y="1971"/>
                <a:ext cx="342" cy="343"/>
              </a:xfrm>
              <a:custGeom>
                <a:avLst/>
                <a:gdLst>
                  <a:gd name="T0" fmla="*/ 8924135 w 80"/>
                  <a:gd name="T1" fmla="*/ 4578162 h 80"/>
                  <a:gd name="T2" fmla="*/ 4461903 w 80"/>
                  <a:gd name="T3" fmla="*/ 9137726 h 80"/>
                  <a:gd name="T4" fmla="*/ 0 w 80"/>
                  <a:gd name="T5" fmla="*/ 4578162 h 80"/>
                  <a:gd name="T6" fmla="*/ 4461903 w 80"/>
                  <a:gd name="T7" fmla="*/ 0 h 80"/>
                  <a:gd name="T8" fmla="*/ 8924135 w 80"/>
                  <a:gd name="T9" fmla="*/ 4578162 h 80"/>
                  <a:gd name="T10" fmla="*/ 4461903 w 80"/>
                  <a:gd name="T11" fmla="*/ 2292115 h 80"/>
                  <a:gd name="T12" fmla="*/ 2246111 w 80"/>
                  <a:gd name="T13" fmla="*/ 4578162 h 80"/>
                  <a:gd name="T14" fmla="*/ 4461903 w 80"/>
                  <a:gd name="T15" fmla="*/ 6845611 h 80"/>
                  <a:gd name="T16" fmla="*/ 6677930 w 80"/>
                  <a:gd name="T17" fmla="*/ 4578162 h 80"/>
                  <a:gd name="T18" fmla="*/ 4461903 w 80"/>
                  <a:gd name="T19" fmla="*/ 2292115 h 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0"/>
                  <a:gd name="T31" fmla="*/ 0 h 80"/>
                  <a:gd name="T32" fmla="*/ 80 w 80"/>
                  <a:gd name="T33" fmla="*/ 80 h 8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0" h="80">
                    <a:moveTo>
                      <a:pt x="80" y="40"/>
                    </a:moveTo>
                    <a:cubicBezTo>
                      <a:pt x="80" y="62"/>
                      <a:pt x="64" y="80"/>
                      <a:pt x="40" y="80"/>
                    </a:cubicBezTo>
                    <a:cubicBezTo>
                      <a:pt x="16" y="80"/>
                      <a:pt x="0" y="62"/>
                      <a:pt x="0" y="40"/>
                    </a:cubicBezTo>
                    <a:cubicBezTo>
                      <a:pt x="0" y="18"/>
                      <a:pt x="16" y="0"/>
                      <a:pt x="40" y="0"/>
                    </a:cubicBezTo>
                    <a:cubicBezTo>
                      <a:pt x="64" y="0"/>
                      <a:pt x="80" y="18"/>
                      <a:pt x="80" y="40"/>
                    </a:cubicBezTo>
                    <a:moveTo>
                      <a:pt x="40" y="20"/>
                    </a:moveTo>
                    <a:cubicBezTo>
                      <a:pt x="29" y="20"/>
                      <a:pt x="20" y="29"/>
                      <a:pt x="20" y="40"/>
                    </a:cubicBezTo>
                    <a:cubicBezTo>
                      <a:pt x="20" y="51"/>
                      <a:pt x="29" y="60"/>
                      <a:pt x="40" y="60"/>
                    </a:cubicBezTo>
                    <a:cubicBezTo>
                      <a:pt x="51" y="60"/>
                      <a:pt x="60" y="51"/>
                      <a:pt x="60" y="40"/>
                    </a:cubicBezTo>
                    <a:cubicBezTo>
                      <a:pt x="60" y="29"/>
                      <a:pt x="51" y="20"/>
                      <a:pt x="40" y="20"/>
                    </a:cubicBezTo>
                  </a:path>
                </a:pathLst>
              </a:custGeom>
              <a:solidFill>
                <a:srgbClr val="B2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21" name="Freeform 9">
                <a:extLst>
                  <a:ext uri="{FF2B5EF4-FFF2-40B4-BE49-F238E27FC236}">
                    <a16:creationId xmlns:a16="http://schemas.microsoft.com/office/drawing/2014/main" id="{258F148B-31AE-8AB3-0DFD-9D960E6D05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0" y="1971"/>
                <a:ext cx="223" cy="343"/>
              </a:xfrm>
              <a:custGeom>
                <a:avLst/>
                <a:gdLst>
                  <a:gd name="T0" fmla="*/ 5386900 w 52"/>
                  <a:gd name="T1" fmla="*/ 2155918 h 80"/>
                  <a:gd name="T2" fmla="*/ 3658246 w 52"/>
                  <a:gd name="T3" fmla="*/ 1944390 h 80"/>
                  <a:gd name="T4" fmla="*/ 2294524 w 52"/>
                  <a:gd name="T5" fmla="*/ 2634107 h 80"/>
                  <a:gd name="T6" fmla="*/ 3308544 w 52"/>
                  <a:gd name="T7" fmla="*/ 3435334 h 80"/>
                  <a:gd name="T8" fmla="*/ 3894695 w 52"/>
                  <a:gd name="T9" fmla="*/ 3646879 h 80"/>
                  <a:gd name="T10" fmla="*/ 5947011 w 52"/>
                  <a:gd name="T11" fmla="*/ 6180560 h 80"/>
                  <a:gd name="T12" fmla="*/ 2400363 w 52"/>
                  <a:gd name="T13" fmla="*/ 9137726 h 80"/>
                  <a:gd name="T14" fmla="*/ 0 w 52"/>
                  <a:gd name="T15" fmla="*/ 8789997 h 80"/>
                  <a:gd name="T16" fmla="*/ 0 w 52"/>
                  <a:gd name="T17" fmla="*/ 6845611 h 80"/>
                  <a:gd name="T18" fmla="*/ 2052316 w 52"/>
                  <a:gd name="T19" fmla="*/ 7193353 h 80"/>
                  <a:gd name="T20" fmla="*/ 3658246 w 52"/>
                  <a:gd name="T21" fmla="*/ 6392109 h 80"/>
                  <a:gd name="T22" fmla="*/ 2644227 w 52"/>
                  <a:gd name="T23" fmla="*/ 5485183 h 80"/>
                  <a:gd name="T24" fmla="*/ 2158245 w 52"/>
                  <a:gd name="T25" fmla="*/ 5379410 h 80"/>
                  <a:gd name="T26" fmla="*/ 0 w 52"/>
                  <a:gd name="T27" fmla="*/ 2745616 h 80"/>
                  <a:gd name="T28" fmla="*/ 3204043 w 52"/>
                  <a:gd name="T29" fmla="*/ 0 h 80"/>
                  <a:gd name="T30" fmla="*/ 5386900 w 52"/>
                  <a:gd name="T31" fmla="*/ 347725 h 80"/>
                  <a:gd name="T32" fmla="*/ 5386900 w 52"/>
                  <a:gd name="T33" fmla="*/ 2155918 h 8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52"/>
                  <a:gd name="T52" fmla="*/ 0 h 80"/>
                  <a:gd name="T53" fmla="*/ 52 w 52"/>
                  <a:gd name="T54" fmla="*/ 80 h 80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52" h="80">
                    <a:moveTo>
                      <a:pt x="47" y="19"/>
                    </a:moveTo>
                    <a:cubicBezTo>
                      <a:pt x="47" y="19"/>
                      <a:pt x="38" y="17"/>
                      <a:pt x="32" y="17"/>
                    </a:cubicBezTo>
                    <a:cubicBezTo>
                      <a:pt x="24" y="17"/>
                      <a:pt x="20" y="19"/>
                      <a:pt x="20" y="23"/>
                    </a:cubicBezTo>
                    <a:cubicBezTo>
                      <a:pt x="20" y="28"/>
                      <a:pt x="26" y="29"/>
                      <a:pt x="29" y="30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47" y="36"/>
                      <a:pt x="52" y="45"/>
                      <a:pt x="52" y="54"/>
                    </a:cubicBezTo>
                    <a:cubicBezTo>
                      <a:pt x="52" y="73"/>
                      <a:pt x="35" y="80"/>
                      <a:pt x="21" y="80"/>
                    </a:cubicBezTo>
                    <a:cubicBezTo>
                      <a:pt x="10" y="80"/>
                      <a:pt x="1" y="78"/>
                      <a:pt x="0" y="77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2" y="60"/>
                      <a:pt x="10" y="63"/>
                      <a:pt x="18" y="63"/>
                    </a:cubicBezTo>
                    <a:cubicBezTo>
                      <a:pt x="28" y="63"/>
                      <a:pt x="32" y="60"/>
                      <a:pt x="32" y="56"/>
                    </a:cubicBezTo>
                    <a:cubicBezTo>
                      <a:pt x="32" y="52"/>
                      <a:pt x="28" y="49"/>
                      <a:pt x="23" y="48"/>
                    </a:cubicBezTo>
                    <a:cubicBezTo>
                      <a:pt x="22" y="48"/>
                      <a:pt x="21" y="47"/>
                      <a:pt x="19" y="47"/>
                    </a:cubicBezTo>
                    <a:cubicBezTo>
                      <a:pt x="9" y="43"/>
                      <a:pt x="0" y="37"/>
                      <a:pt x="0" y="24"/>
                    </a:cubicBezTo>
                    <a:cubicBezTo>
                      <a:pt x="0" y="10"/>
                      <a:pt x="10" y="0"/>
                      <a:pt x="28" y="0"/>
                    </a:cubicBezTo>
                    <a:cubicBezTo>
                      <a:pt x="37" y="0"/>
                      <a:pt x="46" y="3"/>
                      <a:pt x="47" y="3"/>
                    </a:cubicBezTo>
                    <a:lnTo>
                      <a:pt x="47" y="19"/>
                    </a:lnTo>
                    <a:close/>
                  </a:path>
                </a:pathLst>
              </a:custGeom>
              <a:solidFill>
                <a:srgbClr val="B2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22" name="Freeform 10">
                <a:extLst>
                  <a:ext uri="{FF2B5EF4-FFF2-40B4-BE49-F238E27FC236}">
                    <a16:creationId xmlns:a16="http://schemas.microsoft.com/office/drawing/2014/main" id="{C9B3DB90-01D7-A07F-52FF-FA11793F28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2" y="1586"/>
                <a:ext cx="81" cy="167"/>
              </a:xfrm>
              <a:custGeom>
                <a:avLst/>
                <a:gdLst>
                  <a:gd name="T0" fmla="*/ 2071366 w 19"/>
                  <a:gd name="T1" fmla="*/ 1134392 h 39"/>
                  <a:gd name="T2" fmla="*/ 1098288 w 19"/>
                  <a:gd name="T3" fmla="*/ 0 h 39"/>
                  <a:gd name="T4" fmla="*/ 0 w 19"/>
                  <a:gd name="T5" fmla="*/ 1134392 h 39"/>
                  <a:gd name="T6" fmla="*/ 0 w 19"/>
                  <a:gd name="T7" fmla="*/ 3378915 h 39"/>
                  <a:gd name="T8" fmla="*/ 1098288 w 19"/>
                  <a:gd name="T9" fmla="*/ 4408333 h 39"/>
                  <a:gd name="T10" fmla="*/ 2071366 w 19"/>
                  <a:gd name="T11" fmla="*/ 3378915 h 39"/>
                  <a:gd name="T12" fmla="*/ 2071366 w 19"/>
                  <a:gd name="T13" fmla="*/ 1134392 h 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39"/>
                  <a:gd name="T23" fmla="*/ 19 w 19"/>
                  <a:gd name="T24" fmla="*/ 39 h 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39">
                    <a:moveTo>
                      <a:pt x="19" y="10"/>
                    </a:moveTo>
                    <a:cubicBezTo>
                      <a:pt x="19" y="4"/>
                      <a:pt x="15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5"/>
                      <a:pt x="4" y="39"/>
                      <a:pt x="10" y="39"/>
                    </a:cubicBezTo>
                    <a:cubicBezTo>
                      <a:pt x="15" y="39"/>
                      <a:pt x="19" y="35"/>
                      <a:pt x="19" y="30"/>
                    </a:cubicBezTo>
                    <a:lnTo>
                      <a:pt x="19" y="10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23" name="Freeform 11">
                <a:extLst>
                  <a:ext uri="{FF2B5EF4-FFF2-40B4-BE49-F238E27FC236}">
                    <a16:creationId xmlns:a16="http://schemas.microsoft.com/office/drawing/2014/main" id="{FE7A5E9D-47DE-F3B8-FC9B-2E66A0EA3A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9" y="1474"/>
                <a:ext cx="81" cy="279"/>
              </a:xfrm>
              <a:custGeom>
                <a:avLst/>
                <a:gdLst>
                  <a:gd name="T0" fmla="*/ 2071366 w 19"/>
                  <a:gd name="T1" fmla="*/ 1044821 h 65"/>
                  <a:gd name="T2" fmla="*/ 973083 w 19"/>
                  <a:gd name="T3" fmla="*/ 0 h 65"/>
                  <a:gd name="T4" fmla="*/ 0 w 19"/>
                  <a:gd name="T5" fmla="*/ 1044821 h 65"/>
                  <a:gd name="T6" fmla="*/ 0 w 19"/>
                  <a:gd name="T7" fmla="*/ 6441239 h 65"/>
                  <a:gd name="T8" fmla="*/ 973083 w 19"/>
                  <a:gd name="T9" fmla="*/ 7491824 h 65"/>
                  <a:gd name="T10" fmla="*/ 2071366 w 19"/>
                  <a:gd name="T11" fmla="*/ 6441239 h 65"/>
                  <a:gd name="T12" fmla="*/ 2071366 w 19"/>
                  <a:gd name="T13" fmla="*/ 1044821 h 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65"/>
                  <a:gd name="T23" fmla="*/ 19 w 19"/>
                  <a:gd name="T24" fmla="*/ 65 h 6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65">
                    <a:moveTo>
                      <a:pt x="19" y="9"/>
                    </a:moveTo>
                    <a:cubicBezTo>
                      <a:pt x="19" y="4"/>
                      <a:pt x="14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1"/>
                      <a:pt x="4" y="65"/>
                      <a:pt x="9" y="65"/>
                    </a:cubicBezTo>
                    <a:cubicBezTo>
                      <a:pt x="14" y="65"/>
                      <a:pt x="19" y="61"/>
                      <a:pt x="19" y="56"/>
                    </a:cubicBezTo>
                    <a:lnTo>
                      <a:pt x="19" y="9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24" name="Freeform 12">
                <a:extLst>
                  <a:ext uri="{FF2B5EF4-FFF2-40B4-BE49-F238E27FC236}">
                    <a16:creationId xmlns:a16="http://schemas.microsoft.com/office/drawing/2014/main" id="{46130F64-4421-85A7-4D8E-A76447ED22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2" y="1320"/>
                <a:ext cx="81" cy="514"/>
              </a:xfrm>
              <a:custGeom>
                <a:avLst/>
                <a:gdLst>
                  <a:gd name="T0" fmla="*/ 2071366 w 19"/>
                  <a:gd name="T1" fmla="*/ 1031041 h 120"/>
                  <a:gd name="T2" fmla="*/ 1098288 w 19"/>
                  <a:gd name="T3" fmla="*/ 0 h 120"/>
                  <a:gd name="T4" fmla="*/ 0 w 19"/>
                  <a:gd name="T5" fmla="*/ 1031041 h 120"/>
                  <a:gd name="T6" fmla="*/ 0 w 19"/>
                  <a:gd name="T7" fmla="*/ 12568354 h 120"/>
                  <a:gd name="T8" fmla="*/ 1098288 w 19"/>
                  <a:gd name="T9" fmla="*/ 13599086 h 120"/>
                  <a:gd name="T10" fmla="*/ 2071366 w 19"/>
                  <a:gd name="T11" fmla="*/ 12568354 h 120"/>
                  <a:gd name="T12" fmla="*/ 2071366 w 19"/>
                  <a:gd name="T13" fmla="*/ 1031041 h 1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120"/>
                  <a:gd name="T23" fmla="*/ 19 w 19"/>
                  <a:gd name="T24" fmla="*/ 120 h 1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120">
                    <a:moveTo>
                      <a:pt x="19" y="9"/>
                    </a:moveTo>
                    <a:cubicBezTo>
                      <a:pt x="19" y="4"/>
                      <a:pt x="15" y="0"/>
                      <a:pt x="10" y="0"/>
                    </a:cubicBezTo>
                    <a:cubicBezTo>
                      <a:pt x="5" y="0"/>
                      <a:pt x="0" y="4"/>
                      <a:pt x="0" y="9"/>
                    </a:cubicBezTo>
                    <a:cubicBezTo>
                      <a:pt x="0" y="111"/>
                      <a:pt x="0" y="111"/>
                      <a:pt x="0" y="111"/>
                    </a:cubicBezTo>
                    <a:cubicBezTo>
                      <a:pt x="0" y="116"/>
                      <a:pt x="5" y="120"/>
                      <a:pt x="10" y="120"/>
                    </a:cubicBezTo>
                    <a:cubicBezTo>
                      <a:pt x="15" y="120"/>
                      <a:pt x="19" y="116"/>
                      <a:pt x="19" y="111"/>
                    </a:cubicBezTo>
                    <a:lnTo>
                      <a:pt x="19" y="9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25" name="Freeform 13">
                <a:extLst>
                  <a:ext uri="{FF2B5EF4-FFF2-40B4-BE49-F238E27FC236}">
                    <a16:creationId xmlns:a16="http://schemas.microsoft.com/office/drawing/2014/main" id="{0D12E226-6C9C-C955-9FF3-C498B529C9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9" y="1474"/>
                <a:ext cx="81" cy="279"/>
              </a:xfrm>
              <a:custGeom>
                <a:avLst/>
                <a:gdLst>
                  <a:gd name="T0" fmla="*/ 2071366 w 19"/>
                  <a:gd name="T1" fmla="*/ 1044821 h 65"/>
                  <a:gd name="T2" fmla="*/ 973083 w 19"/>
                  <a:gd name="T3" fmla="*/ 0 h 65"/>
                  <a:gd name="T4" fmla="*/ 0 w 19"/>
                  <a:gd name="T5" fmla="*/ 1044821 h 65"/>
                  <a:gd name="T6" fmla="*/ 0 w 19"/>
                  <a:gd name="T7" fmla="*/ 6441239 h 65"/>
                  <a:gd name="T8" fmla="*/ 973083 w 19"/>
                  <a:gd name="T9" fmla="*/ 7491824 h 65"/>
                  <a:gd name="T10" fmla="*/ 2071366 w 19"/>
                  <a:gd name="T11" fmla="*/ 6441239 h 65"/>
                  <a:gd name="T12" fmla="*/ 2071366 w 19"/>
                  <a:gd name="T13" fmla="*/ 1044821 h 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65"/>
                  <a:gd name="T23" fmla="*/ 19 w 19"/>
                  <a:gd name="T24" fmla="*/ 65 h 6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65">
                    <a:moveTo>
                      <a:pt x="19" y="9"/>
                    </a:moveTo>
                    <a:cubicBezTo>
                      <a:pt x="19" y="4"/>
                      <a:pt x="15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1"/>
                      <a:pt x="4" y="65"/>
                      <a:pt x="9" y="65"/>
                    </a:cubicBezTo>
                    <a:cubicBezTo>
                      <a:pt x="15" y="65"/>
                      <a:pt x="19" y="61"/>
                      <a:pt x="19" y="56"/>
                    </a:cubicBezTo>
                    <a:lnTo>
                      <a:pt x="19" y="9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26" name="Freeform 14">
                <a:extLst>
                  <a:ext uri="{FF2B5EF4-FFF2-40B4-BE49-F238E27FC236}">
                    <a16:creationId xmlns:a16="http://schemas.microsoft.com/office/drawing/2014/main" id="{785D97BF-A0C3-1146-616B-5AF7E3A746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1" y="1586"/>
                <a:ext cx="86" cy="167"/>
              </a:xfrm>
              <a:custGeom>
                <a:avLst/>
                <a:gdLst>
                  <a:gd name="T0" fmla="*/ 2338783 w 20"/>
                  <a:gd name="T1" fmla="*/ 1134392 h 39"/>
                  <a:gd name="T2" fmla="*/ 1168921 w 20"/>
                  <a:gd name="T3" fmla="*/ 0 h 39"/>
                  <a:gd name="T4" fmla="*/ 0 w 20"/>
                  <a:gd name="T5" fmla="*/ 1134392 h 39"/>
                  <a:gd name="T6" fmla="*/ 0 w 20"/>
                  <a:gd name="T7" fmla="*/ 3378915 h 39"/>
                  <a:gd name="T8" fmla="*/ 1168921 w 20"/>
                  <a:gd name="T9" fmla="*/ 4408333 h 39"/>
                  <a:gd name="T10" fmla="*/ 2338783 w 20"/>
                  <a:gd name="T11" fmla="*/ 3378915 h 39"/>
                  <a:gd name="T12" fmla="*/ 2338783 w 20"/>
                  <a:gd name="T13" fmla="*/ 1134392 h 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"/>
                  <a:gd name="T22" fmla="*/ 0 h 39"/>
                  <a:gd name="T23" fmla="*/ 20 w 20"/>
                  <a:gd name="T24" fmla="*/ 39 h 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" h="39">
                    <a:moveTo>
                      <a:pt x="20" y="10"/>
                    </a:moveTo>
                    <a:cubicBezTo>
                      <a:pt x="20" y="4"/>
                      <a:pt x="15" y="0"/>
                      <a:pt x="10" y="0"/>
                    </a:cubicBezTo>
                    <a:cubicBezTo>
                      <a:pt x="5" y="0"/>
                      <a:pt x="0" y="4"/>
                      <a:pt x="0" y="10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5"/>
                      <a:pt x="5" y="39"/>
                      <a:pt x="10" y="39"/>
                    </a:cubicBezTo>
                    <a:cubicBezTo>
                      <a:pt x="15" y="39"/>
                      <a:pt x="20" y="35"/>
                      <a:pt x="20" y="30"/>
                    </a:cubicBezTo>
                    <a:lnTo>
                      <a:pt x="20" y="10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27" name="Freeform 15">
                <a:extLst>
                  <a:ext uri="{FF2B5EF4-FFF2-40B4-BE49-F238E27FC236}">
                    <a16:creationId xmlns:a16="http://schemas.microsoft.com/office/drawing/2014/main" id="{185126A4-65CA-B321-A8E8-8FF31E6B49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8" y="1474"/>
                <a:ext cx="82" cy="279"/>
              </a:xfrm>
              <a:custGeom>
                <a:avLst/>
                <a:gdLst>
                  <a:gd name="T0" fmla="*/ 2288024 w 19"/>
                  <a:gd name="T1" fmla="*/ 1044821 h 65"/>
                  <a:gd name="T2" fmla="*/ 1202495 w 19"/>
                  <a:gd name="T3" fmla="*/ 0 h 65"/>
                  <a:gd name="T4" fmla="*/ 0 w 19"/>
                  <a:gd name="T5" fmla="*/ 1044821 h 65"/>
                  <a:gd name="T6" fmla="*/ 0 w 19"/>
                  <a:gd name="T7" fmla="*/ 6441239 h 65"/>
                  <a:gd name="T8" fmla="*/ 1202495 w 19"/>
                  <a:gd name="T9" fmla="*/ 7491824 h 65"/>
                  <a:gd name="T10" fmla="*/ 2288024 w 19"/>
                  <a:gd name="T11" fmla="*/ 6441239 h 65"/>
                  <a:gd name="T12" fmla="*/ 2288024 w 19"/>
                  <a:gd name="T13" fmla="*/ 1044821 h 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65"/>
                  <a:gd name="T23" fmla="*/ 19 w 19"/>
                  <a:gd name="T24" fmla="*/ 65 h 6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65">
                    <a:moveTo>
                      <a:pt x="19" y="9"/>
                    </a:moveTo>
                    <a:cubicBezTo>
                      <a:pt x="19" y="4"/>
                      <a:pt x="15" y="0"/>
                      <a:pt x="10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1"/>
                      <a:pt x="4" y="65"/>
                      <a:pt x="10" y="65"/>
                    </a:cubicBezTo>
                    <a:cubicBezTo>
                      <a:pt x="15" y="65"/>
                      <a:pt x="19" y="61"/>
                      <a:pt x="19" y="56"/>
                    </a:cubicBezTo>
                    <a:lnTo>
                      <a:pt x="19" y="9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28" name="Freeform 16">
                <a:extLst>
                  <a:ext uri="{FF2B5EF4-FFF2-40B4-BE49-F238E27FC236}">
                    <a16:creationId xmlns:a16="http://schemas.microsoft.com/office/drawing/2014/main" id="{FA852871-C9C2-9B58-F385-A9C8A834D7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5" y="1320"/>
                <a:ext cx="82" cy="514"/>
              </a:xfrm>
              <a:custGeom>
                <a:avLst/>
                <a:gdLst>
                  <a:gd name="T0" fmla="*/ 2288024 w 19"/>
                  <a:gd name="T1" fmla="*/ 1031041 h 120"/>
                  <a:gd name="T2" fmla="*/ 1085525 w 19"/>
                  <a:gd name="T3" fmla="*/ 0 h 120"/>
                  <a:gd name="T4" fmla="*/ 0 w 19"/>
                  <a:gd name="T5" fmla="*/ 1031041 h 120"/>
                  <a:gd name="T6" fmla="*/ 0 w 19"/>
                  <a:gd name="T7" fmla="*/ 12568354 h 120"/>
                  <a:gd name="T8" fmla="*/ 1085525 w 19"/>
                  <a:gd name="T9" fmla="*/ 13599086 h 120"/>
                  <a:gd name="T10" fmla="*/ 2288024 w 19"/>
                  <a:gd name="T11" fmla="*/ 12568354 h 120"/>
                  <a:gd name="T12" fmla="*/ 2288024 w 19"/>
                  <a:gd name="T13" fmla="*/ 1031041 h 1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120"/>
                  <a:gd name="T23" fmla="*/ 19 w 19"/>
                  <a:gd name="T24" fmla="*/ 120 h 1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120">
                    <a:moveTo>
                      <a:pt x="19" y="9"/>
                    </a:moveTo>
                    <a:cubicBezTo>
                      <a:pt x="19" y="4"/>
                      <a:pt x="15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111"/>
                      <a:pt x="0" y="111"/>
                      <a:pt x="0" y="111"/>
                    </a:cubicBezTo>
                    <a:cubicBezTo>
                      <a:pt x="0" y="116"/>
                      <a:pt x="4" y="120"/>
                      <a:pt x="9" y="120"/>
                    </a:cubicBezTo>
                    <a:cubicBezTo>
                      <a:pt x="15" y="120"/>
                      <a:pt x="19" y="116"/>
                      <a:pt x="19" y="111"/>
                    </a:cubicBezTo>
                    <a:lnTo>
                      <a:pt x="19" y="9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29" name="Freeform 17">
                <a:extLst>
                  <a:ext uri="{FF2B5EF4-FFF2-40B4-BE49-F238E27FC236}">
                    <a16:creationId xmlns:a16="http://schemas.microsoft.com/office/drawing/2014/main" id="{417C694C-B1DC-181D-1C43-AD9260A928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8" y="1474"/>
                <a:ext cx="82" cy="279"/>
              </a:xfrm>
              <a:custGeom>
                <a:avLst/>
                <a:gdLst>
                  <a:gd name="T0" fmla="*/ 2288024 w 19"/>
                  <a:gd name="T1" fmla="*/ 1044821 h 65"/>
                  <a:gd name="T2" fmla="*/ 1202495 w 19"/>
                  <a:gd name="T3" fmla="*/ 0 h 65"/>
                  <a:gd name="T4" fmla="*/ 0 w 19"/>
                  <a:gd name="T5" fmla="*/ 1044821 h 65"/>
                  <a:gd name="T6" fmla="*/ 0 w 19"/>
                  <a:gd name="T7" fmla="*/ 6441239 h 65"/>
                  <a:gd name="T8" fmla="*/ 1202495 w 19"/>
                  <a:gd name="T9" fmla="*/ 7491824 h 65"/>
                  <a:gd name="T10" fmla="*/ 2288024 w 19"/>
                  <a:gd name="T11" fmla="*/ 6441239 h 65"/>
                  <a:gd name="T12" fmla="*/ 2288024 w 19"/>
                  <a:gd name="T13" fmla="*/ 1044821 h 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65"/>
                  <a:gd name="T23" fmla="*/ 19 w 19"/>
                  <a:gd name="T24" fmla="*/ 65 h 6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65">
                    <a:moveTo>
                      <a:pt x="19" y="9"/>
                    </a:moveTo>
                    <a:cubicBezTo>
                      <a:pt x="19" y="4"/>
                      <a:pt x="15" y="0"/>
                      <a:pt x="10" y="0"/>
                    </a:cubicBezTo>
                    <a:cubicBezTo>
                      <a:pt x="5" y="0"/>
                      <a:pt x="0" y="4"/>
                      <a:pt x="0" y="9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1"/>
                      <a:pt x="5" y="65"/>
                      <a:pt x="10" y="65"/>
                    </a:cubicBezTo>
                    <a:cubicBezTo>
                      <a:pt x="15" y="65"/>
                      <a:pt x="19" y="61"/>
                      <a:pt x="19" y="56"/>
                    </a:cubicBezTo>
                    <a:lnTo>
                      <a:pt x="19" y="9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30" name="Freeform 18">
                <a:extLst>
                  <a:ext uri="{FF2B5EF4-FFF2-40B4-BE49-F238E27FC236}">
                    <a16:creationId xmlns:a16="http://schemas.microsoft.com/office/drawing/2014/main" id="{872BCF60-0D7B-484C-6325-68A986B0C6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5" y="1586"/>
                <a:ext cx="82" cy="167"/>
              </a:xfrm>
              <a:custGeom>
                <a:avLst/>
                <a:gdLst>
                  <a:gd name="T0" fmla="*/ 2288024 w 19"/>
                  <a:gd name="T1" fmla="*/ 1134392 h 39"/>
                  <a:gd name="T2" fmla="*/ 1085525 w 19"/>
                  <a:gd name="T3" fmla="*/ 0 h 39"/>
                  <a:gd name="T4" fmla="*/ 0 w 19"/>
                  <a:gd name="T5" fmla="*/ 1134392 h 39"/>
                  <a:gd name="T6" fmla="*/ 0 w 19"/>
                  <a:gd name="T7" fmla="*/ 3378915 h 39"/>
                  <a:gd name="T8" fmla="*/ 1085525 w 19"/>
                  <a:gd name="T9" fmla="*/ 4408333 h 39"/>
                  <a:gd name="T10" fmla="*/ 2288024 w 19"/>
                  <a:gd name="T11" fmla="*/ 3378915 h 39"/>
                  <a:gd name="T12" fmla="*/ 2288024 w 19"/>
                  <a:gd name="T13" fmla="*/ 1134392 h 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39"/>
                  <a:gd name="T23" fmla="*/ 19 w 19"/>
                  <a:gd name="T24" fmla="*/ 39 h 3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39">
                    <a:moveTo>
                      <a:pt x="19" y="10"/>
                    </a:moveTo>
                    <a:cubicBezTo>
                      <a:pt x="19" y="4"/>
                      <a:pt x="15" y="0"/>
                      <a:pt x="9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5"/>
                      <a:pt x="4" y="39"/>
                      <a:pt x="9" y="39"/>
                    </a:cubicBezTo>
                    <a:cubicBezTo>
                      <a:pt x="15" y="39"/>
                      <a:pt x="19" y="35"/>
                      <a:pt x="19" y="30"/>
                    </a:cubicBezTo>
                    <a:lnTo>
                      <a:pt x="19" y="10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4515" name="Rectangle 19">
              <a:extLst>
                <a:ext uri="{FF2B5EF4-FFF2-40B4-BE49-F238E27FC236}">
                  <a16:creationId xmlns:a16="http://schemas.microsoft.com/office/drawing/2014/main" id="{FE523C80-FBCE-F586-16D2-DCDEB5CEF6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60" cy="4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2124" tIns="41061" rIns="82124" bIns="41061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endParaRPr lang="en-US" altLang="en-US"/>
            </a:p>
          </p:txBody>
        </p:sp>
      </p:grp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Ciscopresentationwhite.10.3.06</Template>
  <TotalTime>1447</TotalTime>
  <Pages>28</Pages>
  <Words>2654</Words>
  <Application>Microsoft Office PowerPoint</Application>
  <PresentationFormat>On-screen Show (4:3)</PresentationFormat>
  <Paragraphs>298</Paragraphs>
  <Slides>38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Helvetica</vt:lpstr>
      <vt:lpstr>Wingdings</vt:lpstr>
      <vt:lpstr>PPT-TMPLT-WHT_C</vt:lpstr>
      <vt:lpstr>Application Layer Functionality and Protocols</vt:lpstr>
      <vt:lpstr>Objectives</vt:lpstr>
      <vt:lpstr>Applications –  The Interface Btw Human and Data Networks </vt:lpstr>
      <vt:lpstr>OSI and TCP/IP Model </vt:lpstr>
      <vt:lpstr>Application Layer</vt:lpstr>
      <vt:lpstr>Application Layer</vt:lpstr>
      <vt:lpstr>Presentation Layer</vt:lpstr>
      <vt:lpstr>Session Layer</vt:lpstr>
      <vt:lpstr>Application Layer Protocols</vt:lpstr>
      <vt:lpstr>Application Layer Software</vt:lpstr>
      <vt:lpstr>The Client/Server Model</vt:lpstr>
      <vt:lpstr>Servers</vt:lpstr>
      <vt:lpstr>PowerPoint Presentation</vt:lpstr>
      <vt:lpstr>PowerPoint Presentation</vt:lpstr>
      <vt:lpstr>Application Layer Services and Protocols</vt:lpstr>
      <vt:lpstr>Identifiers of Application Layer Services</vt:lpstr>
      <vt:lpstr>DNS Services and Protocol</vt:lpstr>
      <vt:lpstr>DNS Services and Protocol </vt:lpstr>
      <vt:lpstr>DNS Hierarchy</vt:lpstr>
      <vt:lpstr>WWW Service and HTTP</vt:lpstr>
      <vt:lpstr>HTTP</vt:lpstr>
      <vt:lpstr>Common Message Types</vt:lpstr>
      <vt:lpstr>HTTP</vt:lpstr>
      <vt:lpstr>Email Services</vt:lpstr>
      <vt:lpstr>SMTP Operation</vt:lpstr>
      <vt:lpstr>POP Operation</vt:lpstr>
      <vt:lpstr>IMAP (Internet Message Access Protocol) Opertion</vt:lpstr>
      <vt:lpstr>Email Services and SMTP/POP Protocols</vt:lpstr>
      <vt:lpstr>File Transfer Protocol (FTP)</vt:lpstr>
      <vt:lpstr>Dynamic Host Configuration Protocol (DHCP)</vt:lpstr>
      <vt:lpstr>Dynamic Host Configuration Protocol (DHCP)</vt:lpstr>
      <vt:lpstr>Dynamic Host Configuration Protocol (DHCP)</vt:lpstr>
      <vt:lpstr>Server Message Block (SMB) Protocol</vt:lpstr>
      <vt:lpstr>Gnutella Protocol and P2P Services </vt:lpstr>
      <vt:lpstr>Gnutella Protocol &amp; P2P Services</vt:lpstr>
      <vt:lpstr>Telnet</vt:lpstr>
      <vt:lpstr>Chapter Objectives: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Layer Functionality and Protocols</dc:title>
  <dc:creator>Microsoft Office User</dc:creator>
  <cp:lastModifiedBy>Saqib Bedar</cp:lastModifiedBy>
  <cp:revision>49</cp:revision>
  <cp:lastPrinted>1999-01-27T00:54:54Z</cp:lastPrinted>
  <dcterms:created xsi:type="dcterms:W3CDTF">2018-02-28T06:17:57Z</dcterms:created>
  <dcterms:modified xsi:type="dcterms:W3CDTF">2026-04-28T18:34:40Z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Jenita Bangloy">
    <vt:lpwstr>12.21.01 - Copyright date changed to 2002</vt:lpwstr>
  </property>
  <property fmtid="{D5CDD505-2E9C-101B-9397-08002B2CF9AE}" pid="3" name="Jenita ">
    <vt:lpwstr>12.21.01 - Line tool now defaults to 3 points size and black color. Previous version created white line which is not visible</vt:lpwstr>
  </property>
  <property fmtid="{D5CDD505-2E9C-101B-9397-08002B2CF9AE}" pid="4" name="JBangloy">
    <vt:lpwstr>12.21.01 - All remaining Helvetica changed to Arial</vt:lpwstr>
  </property>
</Properties>
</file>