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1"/>
  </p:sldMasterIdLst>
  <p:notesMasterIdLst>
    <p:notesMasterId r:id="rId29"/>
  </p:notesMasterIdLst>
  <p:handoutMasterIdLst>
    <p:handoutMasterId r:id="rId30"/>
  </p:handoutMasterIdLst>
  <p:sldIdLst>
    <p:sldId id="386" r:id="rId2"/>
    <p:sldId id="478" r:id="rId3"/>
    <p:sldId id="452" r:id="rId4"/>
    <p:sldId id="453" r:id="rId5"/>
    <p:sldId id="455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4" r:id="rId15"/>
    <p:sldId id="465" r:id="rId16"/>
    <p:sldId id="466" r:id="rId17"/>
    <p:sldId id="467" r:id="rId18"/>
    <p:sldId id="468" r:id="rId19"/>
    <p:sldId id="469" r:id="rId20"/>
    <p:sldId id="470" r:id="rId21"/>
    <p:sldId id="472" r:id="rId22"/>
    <p:sldId id="473" r:id="rId23"/>
    <p:sldId id="474" r:id="rId24"/>
    <p:sldId id="475" r:id="rId25"/>
    <p:sldId id="476" r:id="rId26"/>
    <p:sldId id="477" r:id="rId27"/>
    <p:sldId id="413" r:id="rId28"/>
  </p:sldIdLst>
  <p:sldSz cx="9144000" cy="6858000" type="screen4x3"/>
  <p:notesSz cx="6854825" cy="9083675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6">
          <p15:clr>
            <a:srgbClr val="A4A3A4"/>
          </p15:clr>
        </p15:guide>
        <p15:guide id="2" orient="horz" pos="864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1">
          <p15:clr>
            <a:srgbClr val="A4A3A4"/>
          </p15:clr>
        </p15:guide>
        <p15:guide id="2" pos="215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2B4"/>
    <a:srgbClr val="35297D"/>
    <a:srgbClr val="00252E"/>
    <a:srgbClr val="FFFF9B"/>
    <a:srgbClr val="FFCC68"/>
    <a:srgbClr val="FFE59B"/>
    <a:srgbClr val="F6BF6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9748" autoAdjust="0"/>
  </p:normalViewPr>
  <p:slideViewPr>
    <p:cSldViewPr snapToGrid="0">
      <p:cViewPr varScale="1">
        <p:scale>
          <a:sx n="124" d="100"/>
          <a:sy n="124" d="100"/>
        </p:scale>
        <p:origin x="1200" y="90"/>
      </p:cViewPr>
      <p:guideLst>
        <p:guide orient="horz" pos="2736"/>
        <p:guide orient="horz" pos="864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-2558" y="-77"/>
      </p:cViewPr>
      <p:guideLst>
        <p:guide orient="horz" pos="2861"/>
        <p:guide pos="215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2507BAF-71EF-16EE-93DF-0B2CA02AB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8764588"/>
            <a:ext cx="671036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4849" tIns="49756" rIns="94849" bIns="49756">
            <a:spAutoFit/>
          </a:bodyPr>
          <a:lstStyle/>
          <a:p>
            <a:pPr algn="l" defTabSz="606425">
              <a:lnSpc>
                <a:spcPct val="100000"/>
              </a:lnSpc>
              <a:tabLst>
                <a:tab pos="2366963" algn="l"/>
                <a:tab pos="4789488" algn="l"/>
              </a:tabLst>
              <a:defRPr/>
            </a:pPr>
            <a:r>
              <a:rPr lang="en-US" sz="800" b="1">
                <a:latin typeface="Arial" charset="0"/>
              </a:rPr>
              <a:t>Copyright © 2001, Cisco Systems, Inc. All rights reserved. Printed in USA.</a:t>
            </a:r>
            <a:br>
              <a:rPr lang="en-US" sz="800" b="1">
                <a:latin typeface="Arial" charset="0"/>
              </a:rPr>
            </a:br>
            <a:r>
              <a:rPr lang="en-US" sz="800" b="1">
                <a:latin typeface="Arial" charset="0"/>
              </a:rPr>
              <a:t>Presentation_ID.scr</a:t>
            </a:r>
          </a:p>
        </p:txBody>
      </p:sp>
      <p:sp>
        <p:nvSpPr>
          <p:cNvPr id="3077" name="Line 5">
            <a:extLst>
              <a:ext uri="{FF2B5EF4-FFF2-40B4-BE49-F238E27FC236}">
                <a16:creationId xmlns:a16="http://schemas.microsoft.com/office/drawing/2014/main" id="{FF4BDE8D-C34B-6532-63DC-5F210034D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813" y="8778875"/>
            <a:ext cx="65516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04" name="Rectangle 8">
            <a:extLst>
              <a:ext uri="{FF2B5EF4-FFF2-40B4-BE49-F238E27FC236}">
                <a16:creationId xmlns:a16="http://schemas.microsoft.com/office/drawing/2014/main" id="{71CCB559-CF43-9435-DD15-17716560F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5" y="8410575"/>
            <a:ext cx="439738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83305" name="Rectangle 9">
            <a:extLst>
              <a:ext uri="{FF2B5EF4-FFF2-40B4-BE49-F238E27FC236}">
                <a16:creationId xmlns:a16="http://schemas.microsoft.com/office/drawing/2014/main" id="{A28286DA-943E-6FC5-8493-DF9FC9F09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8585200"/>
            <a:ext cx="25622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3435" tIns="49014" rIns="93435" bIns="49014">
            <a:spAutoFit/>
          </a:bodyPr>
          <a:lstStyle/>
          <a:p>
            <a:pPr algn="l" defTabSz="596900">
              <a:lnSpc>
                <a:spcPct val="100000"/>
              </a:lnSpc>
              <a:tabLst>
                <a:tab pos="2332038" algn="l"/>
                <a:tab pos="4718050" algn="l"/>
              </a:tabLst>
              <a:defRPr/>
            </a:pPr>
            <a:r>
              <a:rPr lang="en-US" sz="800" b="1">
                <a:latin typeface="Arial" charset="0"/>
              </a:rPr>
              <a:t>© 2001, Cisco Systems, Inc. All rights reserved.</a:t>
            </a:r>
          </a:p>
          <a:p>
            <a:pPr algn="l" defTabSz="596900">
              <a:lnSpc>
                <a:spcPct val="100000"/>
              </a:lnSpc>
              <a:tabLst>
                <a:tab pos="2332038" algn="l"/>
                <a:tab pos="4718050" algn="l"/>
              </a:tabLst>
              <a:defRPr/>
            </a:pPr>
            <a:r>
              <a:rPr lang="en-US" sz="800" b="1">
                <a:latin typeface="Arial" charset="0"/>
              </a:rPr>
              <a:t>&lt;Title of Course (ACRO) vX.X&gt;</a:t>
            </a:r>
          </a:p>
        </p:txBody>
      </p:sp>
      <p:sp>
        <p:nvSpPr>
          <p:cNvPr id="183306" name="Line 10">
            <a:extLst>
              <a:ext uri="{FF2B5EF4-FFF2-40B4-BE49-F238E27FC236}">
                <a16:creationId xmlns:a16="http://schemas.microsoft.com/office/drawing/2014/main" id="{08286B7A-A163-A2EA-83A3-E05B81A58E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225" y="8599488"/>
            <a:ext cx="6503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83307" name="Rectangle 11">
            <a:extLst>
              <a:ext uri="{FF2B5EF4-FFF2-40B4-BE49-F238E27FC236}">
                <a16:creationId xmlns:a16="http://schemas.microsoft.com/office/drawing/2014/main" id="{6BD3C693-7610-6748-82A2-A3AE8C0C2D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8480425"/>
            <a:ext cx="795338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380" tIns="0" rIns="18380" bIns="0" numCol="1" anchor="b" anchorCtr="0" compatLnSpc="1">
            <a:prstTxWarp prst="textNoShape">
              <a:avLst/>
            </a:prstTxWarp>
          </a:bodyPr>
          <a:lstStyle>
            <a:lvl1pPr algn="r" defTabSz="881063">
              <a:lnSpc>
                <a:spcPct val="100000"/>
              </a:lnSpc>
              <a:defRPr sz="800"/>
            </a:lvl1pPr>
          </a:lstStyle>
          <a:p>
            <a:fld id="{66107880-A38D-4AE0-A202-4489BD1DCCD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0726" name="Rectangle 12">
            <a:extLst>
              <a:ext uri="{FF2B5EF4-FFF2-40B4-BE49-F238E27FC236}">
                <a16:creationId xmlns:a16="http://schemas.microsoft.com/office/drawing/2014/main" id="{1A3B01C7-B83E-C305-B646-43CC5BA9BBD0}"/>
              </a:ext>
            </a:extLst>
          </p:cNvPr>
          <p:cNvSpPr>
            <a:spLocks noChangeAspect="1" noChangeArrowheads="1" noTextEdit="1"/>
          </p:cNvSpPr>
          <p:nvPr>
            <p:ph type="sldImg" idx="2"/>
          </p:nvPr>
        </p:nvSpPr>
        <p:spPr bwMode="auto">
          <a:xfrm>
            <a:off x="855663" y="239713"/>
            <a:ext cx="5200650" cy="3900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309" name="Rectangle 13">
            <a:extLst>
              <a:ext uri="{FF2B5EF4-FFF2-40B4-BE49-F238E27FC236}">
                <a16:creationId xmlns:a16="http://schemas.microsoft.com/office/drawing/2014/main" id="{41769822-42EB-C2FE-25FA-F0A6E1909A4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95288" y="4278313"/>
            <a:ext cx="5986462" cy="415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35" tIns="49014" rIns="93435" bIns="490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>
            <a:extLst>
              <a:ext uri="{FF2B5EF4-FFF2-40B4-BE49-F238E27FC236}">
                <a16:creationId xmlns:a16="http://schemas.microsoft.com/office/drawing/2014/main" id="{ED4D18E0-FE6F-E660-B865-0170F472C0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0B2FFE-16CC-4B0F-AE54-B70AFB80A0CC}" type="slidenum">
              <a:rPr lang="en-US" altLang="en-US" sz="800"/>
              <a:pPr/>
              <a:t>1</a:t>
            </a:fld>
            <a:endParaRPr lang="en-US" altLang="en-US" sz="8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2B60A647-DFFA-348F-5EC4-75D780039D30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xfrm>
            <a:off x="858838" y="239713"/>
            <a:ext cx="5199062" cy="3898900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A268067-BE9A-6378-D87E-A1705CC743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75" y="4278313"/>
            <a:ext cx="598487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1">
            <a:extLst>
              <a:ext uri="{FF2B5EF4-FFF2-40B4-BE49-F238E27FC236}">
                <a16:creationId xmlns:a16="http://schemas.microsoft.com/office/drawing/2014/main" id="{71044A48-36D1-72B4-182C-B6B2C7C7C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04958F-CE1A-4B14-AD98-2E3C91F0F555}" type="slidenum">
              <a:rPr lang="en-US" altLang="en-US" sz="800"/>
              <a:pPr/>
              <a:t>2</a:t>
            </a:fld>
            <a:endParaRPr lang="en-US" altLang="en-US" sz="8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FFF75EEE-3997-514D-04C4-12E02E7DFAB5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30102C14-A524-B010-C1C6-E638836DE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1">
            <a:extLst>
              <a:ext uri="{FF2B5EF4-FFF2-40B4-BE49-F238E27FC236}">
                <a16:creationId xmlns:a16="http://schemas.microsoft.com/office/drawing/2014/main" id="{563A2281-A3FF-89F8-75A9-7B5B1E2CA1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36E915-0C39-45A6-8A0C-328E2D61BB87}" type="slidenum">
              <a:rPr lang="en-US" altLang="en-US" sz="800"/>
              <a:pPr/>
              <a:t>27</a:t>
            </a:fld>
            <a:endParaRPr lang="en-US" altLang="en-US" sz="8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855630E-05CC-5F6E-8AD4-5FEF1E1E64F3}"/>
              </a:ext>
            </a:extLst>
          </p:cNvPr>
          <p:cNvSpPr>
            <a:spLocks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710C33C-64AB-7F21-6F15-E55D7F3DA5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Pt_CoverArt1">
            <a:extLst>
              <a:ext uri="{FF2B5EF4-FFF2-40B4-BE49-F238E27FC236}">
                <a16:creationId xmlns:a16="http://schemas.microsoft.com/office/drawing/2014/main" id="{7A774DAD-515D-0920-5EA6-4943A0198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FC43A62-4C7E-99EC-7469-8DA502EDB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>
                <a:solidFill>
                  <a:srgbClr val="D3D3D3"/>
                </a:solidFill>
                <a:latin typeface="Arial" charset="0"/>
              </a:rPr>
              <a:t>© 2007 Cisco Systems, Inc. All rights reserved.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6E4D47-02A4-0615-F5D2-0FF33A31E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>
                <a:solidFill>
                  <a:srgbClr val="D3D3D3"/>
                </a:solidFill>
                <a:latin typeface="Arial" charset="0"/>
              </a:rPr>
              <a:t>Cisco Public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734A72-F1B6-D0A4-0170-6E727CED4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6565900"/>
            <a:ext cx="9620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>
                <a:solidFill>
                  <a:srgbClr val="D3D3D3"/>
                </a:solidFill>
                <a:latin typeface="Arial" charset="0"/>
              </a:rPr>
              <a:t>ITE PC v4.0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>
                <a:solidFill>
                  <a:srgbClr val="D3D3D3"/>
                </a:solidFill>
                <a:latin typeface="Arial" charset="0"/>
              </a:rPr>
              <a:t>Chapter 1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F5BD4F-D07D-0FB1-FF91-766C3D78C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>
            <a:lvl1pPr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C58523F0-D6BB-4513-AF3E-B051E6C6EF9E}" type="slidenum">
              <a:rPr lang="en-US" altLang="en-US" sz="1000">
                <a:solidFill>
                  <a:srgbClr val="D3D3D3"/>
                </a:solidFill>
              </a:rPr>
              <a:pPr algn="r">
                <a:lnSpc>
                  <a:spcPct val="100000"/>
                </a:lnSpc>
              </a:pPr>
              <a:t>‹#›</a:t>
            </a:fld>
            <a:endParaRPr lang="en-US" altLang="en-US" sz="1000">
              <a:solidFill>
                <a:srgbClr val="D3D3D3"/>
              </a:solidFill>
            </a:endParaRPr>
          </a:p>
        </p:txBody>
      </p:sp>
      <p:pic>
        <p:nvPicPr>
          <p:cNvPr id="7" name="Picture 9" descr="Cisco_NewLogo">
            <a:extLst>
              <a:ext uri="{FF2B5EF4-FFF2-40B4-BE49-F238E27FC236}">
                <a16:creationId xmlns:a16="http://schemas.microsoft.com/office/drawing/2014/main" id="{5354D0E9-38DB-43E6-949E-4CF79F16E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 descr="Cisco">
            <a:extLst>
              <a:ext uri="{FF2B5EF4-FFF2-40B4-BE49-F238E27FC236}">
                <a16:creationId xmlns:a16="http://schemas.microsoft.com/office/drawing/2014/main" id="{553758DA-B310-F196-B78F-540334DD4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72839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728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7079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047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865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19002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19002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734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6192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2662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832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1001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5876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181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627063"/>
            <a:ext cx="2035175" cy="4845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627063"/>
            <a:ext cx="5957887" cy="4845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3623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62706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1900238"/>
            <a:ext cx="7940675" cy="3571875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1448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95F14D4-9F9C-F6E4-BB0E-341B9743B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62706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271811" name="Rectangle 3">
            <a:extLst>
              <a:ext uri="{FF2B5EF4-FFF2-40B4-BE49-F238E27FC236}">
                <a16:creationId xmlns:a16="http://schemas.microsoft.com/office/drawing/2014/main" id="{A08C317C-7806-84C1-209A-791921BC2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6565900"/>
            <a:ext cx="9620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>
                <a:solidFill>
                  <a:srgbClr val="D3D3D3"/>
                </a:solidFill>
                <a:latin typeface="Arial" charset="0"/>
              </a:rPr>
              <a:t>ITE PC v4.0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>
                <a:solidFill>
                  <a:srgbClr val="D3D3D3"/>
                </a:solidFill>
                <a:latin typeface="Arial" charset="0"/>
              </a:rPr>
              <a:t>Chapter 1</a:t>
            </a:r>
          </a:p>
        </p:txBody>
      </p:sp>
      <p:sp>
        <p:nvSpPr>
          <p:cNvPr id="1271812" name="Rectangle 4">
            <a:extLst>
              <a:ext uri="{FF2B5EF4-FFF2-40B4-BE49-F238E27FC236}">
                <a16:creationId xmlns:a16="http://schemas.microsoft.com/office/drawing/2014/main" id="{5CEA6FC0-2BC3-5CA2-8389-EFA3907EC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>
            <a:lvl1pPr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</a:pPr>
            <a:fld id="{7FF5010D-2930-41DE-B17E-E110D1BA25CD}" type="slidenum">
              <a:rPr lang="en-US" altLang="en-US" sz="1000">
                <a:solidFill>
                  <a:srgbClr val="D3D3D3"/>
                </a:solidFill>
              </a:rPr>
              <a:pPr algn="r">
                <a:lnSpc>
                  <a:spcPct val="100000"/>
                </a:lnSpc>
              </a:pPr>
              <a:t>‹#›</a:t>
            </a:fld>
            <a:endParaRPr lang="en-US" altLang="en-US" sz="1000">
              <a:solidFill>
                <a:srgbClr val="D3D3D3"/>
              </a:solidFill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97C2CB0-2D9D-4F23-23F3-3D8F0B961D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1900238"/>
            <a:ext cx="794067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Body Text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30" name="Picture 6" descr="PPt_TopBand_Artwork">
            <a:extLst>
              <a:ext uri="{FF2B5EF4-FFF2-40B4-BE49-F238E27FC236}">
                <a16:creationId xmlns:a16="http://schemas.microsoft.com/office/drawing/2014/main" id="{63FC2E5D-60BB-5A5A-8A68-442DFB3FF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71815" name="Rectangle 7">
            <a:extLst>
              <a:ext uri="{FF2B5EF4-FFF2-40B4-BE49-F238E27FC236}">
                <a16:creationId xmlns:a16="http://schemas.microsoft.com/office/drawing/2014/main" id="{C4998B3D-B3A0-45D8-88CD-6BA13A8A2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>
                <a:solidFill>
                  <a:srgbClr val="D3D3D3"/>
                </a:solidFill>
                <a:latin typeface="Arial" charset="0"/>
              </a:rPr>
              <a:t>© 2007 Cisco Systems, Inc. All rights reserved.</a:t>
            </a:r>
          </a:p>
        </p:txBody>
      </p:sp>
      <p:sp>
        <p:nvSpPr>
          <p:cNvPr id="1271816" name="Rectangle 8">
            <a:extLst>
              <a:ext uri="{FF2B5EF4-FFF2-40B4-BE49-F238E27FC236}">
                <a16:creationId xmlns:a16="http://schemas.microsoft.com/office/drawing/2014/main" id="{D617E2FB-6927-A60A-D9A2-A5BF9FDD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>
                <a:solidFill>
                  <a:srgbClr val="D3D3D3"/>
                </a:solidFill>
                <a:latin typeface="Arial" charset="0"/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–"/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•"/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–"/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»"/>
        <a:defRPr sz="2000">
          <a:solidFill>
            <a:schemeClr val="tx1"/>
          </a:solidFill>
          <a:latin typeface="+mn-lt"/>
        </a:defRPr>
      </a:lvl5pPr>
      <a:lvl6pPr marL="2062163" algn="l" defTabSz="814388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D3D9B7C-215F-8BA7-76D9-88E6B6D9F471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2600"/>
              <a:t>Link-State Routing Protocols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E35FC1B-20C5-0832-AF58-B769DA3BC23B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Dr. Muazzam A. Khan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EC66A9D-D6E3-0D7F-8CFE-AABDC92730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D90DDAA-D45C-CA19-F3C6-A441703F1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392238"/>
            <a:ext cx="7940675" cy="5076825"/>
          </a:xfrm>
        </p:spPr>
        <p:txBody>
          <a:bodyPr/>
          <a:lstStyle/>
          <a:p>
            <a:pPr marL="457200" indent="-457200" eaLnBrk="1" hangingPunct="1"/>
            <a:r>
              <a:rPr lang="en-US" altLang="en-US"/>
              <a:t>Describe the basic features &amp; concepts of link-state routing protocols.</a:t>
            </a:r>
          </a:p>
          <a:p>
            <a:pPr marL="457200" indent="-457200" eaLnBrk="1" hangingPunct="1"/>
            <a:r>
              <a:rPr lang="en-US" altLang="en-US"/>
              <a:t>List the benefits and requirements of link-state routing protocols.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94C28CC-D112-56E3-3CCE-4CAD11BF3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pic>
        <p:nvPicPr>
          <p:cNvPr id="5123" name="Picture 4">
            <a:extLst>
              <a:ext uri="{FF2B5EF4-FFF2-40B4-BE49-F238E27FC236}">
                <a16:creationId xmlns:a16="http://schemas.microsoft.com/office/drawing/2014/main" id="{9D7E00F3-4C77-E76F-FB20-148623D55F0B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4250" y="2530475"/>
            <a:ext cx="6938963" cy="2309813"/>
          </a:xfr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1669CA8-BC9C-C850-A364-C9C48DE4B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6F8B8D-BC18-0B7F-139D-BD0CE386E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495425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/>
              <a:t>Link state routing protocols</a:t>
            </a:r>
          </a:p>
          <a:p>
            <a:pPr lvl="1" indent="0" eaLnBrk="1" hangingPunct="1">
              <a:buFontTx/>
              <a:buNone/>
            </a:pPr>
            <a:r>
              <a:rPr lang="en-US" altLang="en-US"/>
              <a:t>	-</a:t>
            </a:r>
            <a:r>
              <a:rPr lang="en-US" altLang="en-US" sz="2400"/>
              <a:t>Also known as shortest path first algorithms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-These protocols built around Dijkstra’s 			SPF 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51F7D6F0-A0C8-53EB-1316-6B0D5286C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38" y="3581400"/>
            <a:ext cx="6235700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4FF81D-FAC2-1D0E-33BE-B3C59849B9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EEE6A68-F922-150A-F57E-23E9C68B62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657350"/>
            <a:ext cx="7940675" cy="35718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Dikjstra’s algorithm also known as the shortest path first (SPF) algorithm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2557CA8D-51ED-0123-5D05-7EB6603E1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725" y="2876550"/>
            <a:ext cx="49149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5D11B2F-D0A9-35F0-A31E-8D06CE783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CE4878D-30CC-7D87-E090-9949BB7450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628775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/>
              <a:t>The shortest path to a destination is not necessarily the path with the least number of hops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3234F527-F908-D5BC-07EA-A5A5A9655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888" y="2659063"/>
            <a:ext cx="344487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BB8179D-9614-8F3D-A501-6DF23062E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12B5951-0D34-59D1-253B-198EA30ED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447800"/>
            <a:ext cx="7940675" cy="48752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Link-State Routing Process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How routers using Link State Routing Protocols reach </a:t>
            </a:r>
            <a:r>
              <a:rPr lang="en-US" altLang="en-US" sz="2000" b="1"/>
              <a:t>convergence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1900"/>
              <a:t>-Each routers learns about its own directly connected networks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1900">
                <a:solidFill>
                  <a:srgbClr val="0000FF"/>
                </a:solidFill>
              </a:rPr>
              <a:t>-Link state routers exchange hello packet to “meet” other directly 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1900">
                <a:solidFill>
                  <a:srgbClr val="0000FF"/>
                </a:solidFill>
              </a:rPr>
              <a:t>connected link state routers.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1900"/>
              <a:t>-Each router builds its own Link State Packet (LSP) which includes information about neighbors such as neighbor ID, link type, &amp; bandwidth.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1900">
                <a:solidFill>
                  <a:srgbClr val="0000FF"/>
                </a:solidFill>
              </a:rPr>
              <a:t>-After the LSP is created the router floods it to all neighbors who then store the information and then forward it until all routers have the same information.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r>
              <a:rPr lang="en-US" altLang="en-US" sz="1900"/>
              <a:t>-Once all the routers have received all the LSPs, the routers then construct a topological map of the network which is used to determine the best routes to a destination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30748DC-FB66-B1FC-B6C8-6AFFF92F54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7538" y="457200"/>
            <a:ext cx="8145462" cy="695325"/>
          </a:xfrm>
        </p:spPr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72B6EFD-B5A4-1D66-5522-55A9A54AE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0363" y="1720850"/>
            <a:ext cx="4341812" cy="3571875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/>
              <a:t>Directly Connected Networks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/>
              <a:t>Link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/>
              <a:t>		This is an interface on a 	router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/>
              <a:t>Link state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/>
              <a:t>		This is the information 	about the state of the 	links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85677729-533A-72AC-0090-FB6AB04C7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100" y="2016125"/>
            <a:ext cx="3886200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317A27A-46FC-5090-D59D-7CBEF8EBA9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203FD34-1071-AA8E-0211-7D41065371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552575"/>
            <a:ext cx="7940675" cy="35718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Sending Hello Packets to Neighbors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Link state routing protocols use a hello protocol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	Purpose of a hello protocol: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		-To discover neighbors (that use the same 		link state routing protocol) on its link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2D75CE8C-2C7A-5326-35FB-9420A0D2E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75" y="3762375"/>
            <a:ext cx="4718050" cy="277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F641841-4601-E0FD-A045-DD1CF160FF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3213" y="323850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CBDDB94-8464-59C9-42AC-65C65EA4C4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4650" y="1131888"/>
            <a:ext cx="5121275" cy="50673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Sending Hello Packets to Neighbors</a:t>
            </a:r>
          </a:p>
          <a:p>
            <a:pPr eaLnBrk="1" hangingPunct="1"/>
            <a:r>
              <a:rPr lang="en-US" altLang="en-US" sz="2200"/>
              <a:t>Connected interfaces that are using the same link state routing protocols will exchange hello packets.</a:t>
            </a:r>
          </a:p>
          <a:p>
            <a:pPr eaLnBrk="1" hangingPunct="1"/>
            <a:r>
              <a:rPr lang="en-US" altLang="en-US" sz="2200"/>
              <a:t>Once routers learn it has neighbors they form an adjacency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		-2 adjacent neighbors will 	exchange hello packets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		-These packets will serve as a 	keep alive function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19EBDE3C-66B0-D6C0-57E6-D8971D2BA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838" y="1166813"/>
            <a:ext cx="2503487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>
            <a:extLst>
              <a:ext uri="{FF2B5EF4-FFF2-40B4-BE49-F238E27FC236}">
                <a16:creationId xmlns:a16="http://schemas.microsoft.com/office/drawing/2014/main" id="{18598D65-3B0F-FD16-1937-026111BDE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5" y="4035425"/>
            <a:ext cx="2932113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05B7F6C-E3B4-6170-0EA8-C141427C5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pic>
        <p:nvPicPr>
          <p:cNvPr id="13315" name="Picture 4">
            <a:extLst>
              <a:ext uri="{FF2B5EF4-FFF2-40B4-BE49-F238E27FC236}">
                <a16:creationId xmlns:a16="http://schemas.microsoft.com/office/drawing/2014/main" id="{1613F65D-ACDB-6013-0B72-E08B048AF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913" y="3790950"/>
            <a:ext cx="4129087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5">
            <a:extLst>
              <a:ext uri="{FF2B5EF4-FFF2-40B4-BE49-F238E27FC236}">
                <a16:creationId xmlns:a16="http://schemas.microsoft.com/office/drawing/2014/main" id="{576AC9ED-BA7E-3287-B060-073D4FD4C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925" y="2668588"/>
            <a:ext cx="4359275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Rectangle 3">
            <a:extLst>
              <a:ext uri="{FF2B5EF4-FFF2-40B4-BE49-F238E27FC236}">
                <a16:creationId xmlns:a16="http://schemas.microsoft.com/office/drawing/2014/main" id="{A2F733F7-581A-F0FC-8EE9-BB3510FE56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2738" y="1543050"/>
            <a:ext cx="4530725" cy="46609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Building the Link State Packet</a:t>
            </a:r>
          </a:p>
          <a:p>
            <a:pPr eaLnBrk="1" hangingPunct="1"/>
            <a:r>
              <a:rPr lang="en-US" altLang="en-US"/>
              <a:t>Each router builds its own Link State Packet (LSP)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Contents of LSP: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-State of each directly 	connected link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-Includes information 	about neighbors such as 	neighbor ID, link type, &amp; 	bandwidth.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53B02EF-F024-77AA-9591-467F63EA4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08189C6-4413-D2A9-66DB-2EEC4BC64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495425"/>
            <a:ext cx="7940675" cy="35718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Flooding LSPs to Neighbors</a:t>
            </a:r>
          </a:p>
          <a:p>
            <a:pPr eaLnBrk="1" hangingPunct="1"/>
            <a:r>
              <a:rPr lang="en-US" altLang="en-US"/>
              <a:t>Once LSP are created they are forwarded out to neighbors.</a:t>
            </a:r>
          </a:p>
          <a:p>
            <a:pPr lvl="1" indent="0" eaLnBrk="1" hangingPunct="1">
              <a:buFontTx/>
              <a:buNone/>
            </a:pPr>
            <a:r>
              <a:rPr lang="en-US" altLang="en-US" sz="2400"/>
              <a:t>-After receiving the LSP the neighbor continues to forward it throughout routing area. 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6C64F075-2D8B-6324-EA25-3ECE0F0E4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3621088"/>
            <a:ext cx="4514850" cy="307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2C6DB10-8F16-3817-9A79-A9AF0433D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CADF611-582D-4D5B-B473-6DA7B69507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562100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/>
              <a:t>LSPs are sent out under the following conditions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	-Initial router start up or routing process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	-When there is a change in topology</a:t>
            </a: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CAF299DD-E141-70BB-5131-52E8E6139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3" y="3479800"/>
            <a:ext cx="5529262" cy="310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8388741-3806-0B36-A526-0D7296A1EB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A6AA08A-0316-28AF-EF6D-09AC8F12B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2288" y="1533525"/>
            <a:ext cx="7940675" cy="35718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Constructing a link state data base</a:t>
            </a:r>
          </a:p>
          <a:p>
            <a:pPr eaLnBrk="1" hangingPunct="1"/>
            <a:r>
              <a:rPr lang="en-US" altLang="en-US"/>
              <a:t>Routers use a database to construct a topology map of the network</a:t>
            </a: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A72E7A77-43BF-6311-A087-A1455F5EC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963" y="2762250"/>
            <a:ext cx="5305425" cy="379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9CBF72B-328A-E571-460D-BA9E1E6E1B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7513" y="361950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pic>
        <p:nvPicPr>
          <p:cNvPr id="17411" name="Picture 4">
            <a:extLst>
              <a:ext uri="{FF2B5EF4-FFF2-40B4-BE49-F238E27FC236}">
                <a16:creationId xmlns:a16="http://schemas.microsoft.com/office/drawing/2014/main" id="{9E50BB45-20FF-C469-EBD5-B027AF87150C}"/>
              </a:ext>
            </a:extLst>
          </p:cNvPr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1368425"/>
            <a:ext cx="3941763" cy="3833813"/>
          </a:xfrm>
          <a:noFill/>
        </p:spPr>
      </p:pic>
      <p:pic>
        <p:nvPicPr>
          <p:cNvPr id="17412" name="Picture 5">
            <a:extLst>
              <a:ext uri="{FF2B5EF4-FFF2-40B4-BE49-F238E27FC236}">
                <a16:creationId xmlns:a16="http://schemas.microsoft.com/office/drawing/2014/main" id="{D9FF352D-9A7F-4EB3-DD26-99E5707DD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688" y="5240338"/>
            <a:ext cx="3829050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6">
            <a:extLst>
              <a:ext uri="{FF2B5EF4-FFF2-40B4-BE49-F238E27FC236}">
                <a16:creationId xmlns:a16="http://schemas.microsoft.com/office/drawing/2014/main" id="{B916CB95-DD0D-4000-53E2-96E442E21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13" y="2508250"/>
            <a:ext cx="4071937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E36F564-7948-7CE8-01C7-D830EACEE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311150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5229EC9-DE46-0AA8-83D3-E483A8AA9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8288" y="1150938"/>
            <a:ext cx="8332787" cy="490696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Shortest Path First (SPF) Tree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Building a </a:t>
            </a:r>
            <a:r>
              <a:rPr lang="en-US" altLang="en-US" b="1"/>
              <a:t>portion</a:t>
            </a:r>
            <a:r>
              <a:rPr lang="en-US" altLang="en-US"/>
              <a:t> of the SPF tree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Process begins by examining R2’s LSP information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	-R1 </a:t>
            </a:r>
            <a:r>
              <a:rPr lang="en-US" altLang="en-US" i="1"/>
              <a:t>ignores</a:t>
            </a:r>
            <a:r>
              <a:rPr lang="en-US" altLang="en-US"/>
              <a:t> 1st LSP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		Reason:  R1 already knows it’s connected to R2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</a:t>
            </a:r>
          </a:p>
        </p:txBody>
      </p:sp>
      <p:pic>
        <p:nvPicPr>
          <p:cNvPr id="18436" name="Picture 6">
            <a:extLst>
              <a:ext uri="{FF2B5EF4-FFF2-40B4-BE49-F238E27FC236}">
                <a16:creationId xmlns:a16="http://schemas.microsoft.com/office/drawing/2014/main" id="{8E7CAB12-A659-1807-EF3E-8793BAFCE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888" y="3413125"/>
            <a:ext cx="6519862" cy="337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9D57587-4380-ACAA-FA78-00DDC77E06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0863" y="331788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C9C2D60A-A312-1421-369C-87E82E24F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8175" y="1287463"/>
            <a:ext cx="7940675" cy="2219325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/>
              <a:t>Building a </a:t>
            </a:r>
            <a:r>
              <a:rPr lang="en-US" altLang="en-US" b="1"/>
              <a:t>portion</a:t>
            </a:r>
            <a:r>
              <a:rPr lang="en-US" altLang="en-US"/>
              <a:t> of the SPF tree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/>
              <a:t>		-R1 uses 2nd LSP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/>
              <a:t>			</a:t>
            </a:r>
            <a:r>
              <a:rPr lang="en-US" altLang="en-US" sz="2200"/>
              <a:t>Reason:  R1 can create a link from R2 to R5.  		This information is added to R1’s SPF tree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/>
              <a:t>		</a:t>
            </a:r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0D5524E7-7BD9-9772-F9BD-069A0DE27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888" y="3148013"/>
            <a:ext cx="6354762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D5CEC2F-5FFA-8625-7B73-0661ACC242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3" y="371475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462309E-812B-35A0-8C20-2CCBE2232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343025"/>
            <a:ext cx="7940675" cy="23907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Building a </a:t>
            </a:r>
            <a:r>
              <a:rPr lang="en-US" altLang="en-US" b="1"/>
              <a:t>portion</a:t>
            </a:r>
            <a:r>
              <a:rPr lang="en-US" altLang="en-US"/>
              <a:t> of the SPF tree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	-R1 uses 3rd LSP</a:t>
            </a:r>
          </a:p>
          <a:p>
            <a:pPr lvl="3" indent="0" eaLnBrk="1" hangingPunct="1">
              <a:lnSpc>
                <a:spcPct val="8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200"/>
              <a:t>Reason: R1 learns that R2 is connected to 			10.5.0.0/16. </a:t>
            </a:r>
          </a:p>
          <a:p>
            <a:pPr lvl="3" indent="0" eaLnBrk="1" hangingPunct="1">
              <a:lnSpc>
                <a:spcPct val="8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en-US" sz="2200"/>
              <a:t>This link is added to R1’s SPF tree.</a:t>
            </a:r>
          </a:p>
          <a:p>
            <a:pPr eaLnBrk="1" hangingPunct="1"/>
            <a:endParaRPr lang="en-US" altLang="en-US" sz="2200"/>
          </a:p>
        </p:txBody>
      </p:sp>
      <p:pic>
        <p:nvPicPr>
          <p:cNvPr id="20484" name="Picture 5">
            <a:extLst>
              <a:ext uri="{FF2B5EF4-FFF2-40B4-BE49-F238E27FC236}">
                <a16:creationId xmlns:a16="http://schemas.microsoft.com/office/drawing/2014/main" id="{7367AB40-A2B4-C72C-5428-6F686300E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3424238"/>
            <a:ext cx="6354763" cy="313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F50766E-CB52-2B37-DC65-465ADF9B0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A0473FE-F8CB-F3B4-28D9-FD2F2BEAE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5138" y="1504950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/>
              <a:t>Determining the shortest path </a:t>
            </a:r>
          </a:p>
          <a:p>
            <a:pPr lvl="1" indent="0" eaLnBrk="1" hangingPunct="1">
              <a:buFontTx/>
              <a:buNone/>
            </a:pPr>
            <a:r>
              <a:rPr lang="en-US" altLang="en-US"/>
              <a:t>The shortest path to a destination determined by adding the costs &amp; finding the lowest cost</a:t>
            </a:r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7B15C946-E061-6611-6EEF-3A702C92D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138" y="2506663"/>
            <a:ext cx="3500437" cy="391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D21E6C3-B974-5C5F-5DFB-8B18721D5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Link-State Routing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9CD8FD3B-3705-4D28-929F-164A988D2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581150"/>
            <a:ext cx="7940675" cy="3571875"/>
          </a:xfrm>
        </p:spPr>
        <p:txBody>
          <a:bodyPr/>
          <a:lstStyle/>
          <a:p>
            <a:pPr eaLnBrk="1" hangingPunct="1"/>
            <a:r>
              <a:rPr lang="en-US" altLang="en-US"/>
              <a:t>Once the SPF algorithm has determined the shortest path routes, these routes are placed in the routing table.</a:t>
            </a:r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AAA0ACB4-8F74-5541-D2FD-65EBAC3C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2422525"/>
            <a:ext cx="6503987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>
            <a:extLst>
              <a:ext uri="{FF2B5EF4-FFF2-40B4-BE49-F238E27FC236}">
                <a16:creationId xmlns:a16="http://schemas.microsoft.com/office/drawing/2014/main" id="{3240EE96-17AD-B8B5-5AAE-52E44E685B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03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Link-State Routing Protocols</a:t>
            </a:r>
          </a:p>
        </p:txBody>
      </p:sp>
      <p:graphicFrame>
        <p:nvGraphicFramePr>
          <p:cNvPr id="1262715" name="Group 123">
            <a:extLst>
              <a:ext uri="{FF2B5EF4-FFF2-40B4-BE49-F238E27FC236}">
                <a16:creationId xmlns:a16="http://schemas.microsoft.com/office/drawing/2014/main" id="{A0305522-F6DE-181A-4F77-2F5A29339CCA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636588" y="2419350"/>
          <a:ext cx="7940675" cy="3792538"/>
        </p:xfrm>
        <a:graphic>
          <a:graphicData uri="http://schemas.openxmlformats.org/drawingml/2006/table">
            <a:tbl>
              <a:tblPr/>
              <a:tblGrid>
                <a:gridCol w="1255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6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Routing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protocol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Builds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Topological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map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Router can independently determine the shortest path to every network.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Convergence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 periodic/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event driven routing updates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Use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of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LSP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4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Distance vector 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Slow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Generally No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2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Link State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Yes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Yes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Fast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Generally Yes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Yes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82124" marR="82124" marT="41062" marB="4106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585" name="Rectangle 122">
            <a:extLst>
              <a:ext uri="{FF2B5EF4-FFF2-40B4-BE49-F238E27FC236}">
                <a16:creationId xmlns:a16="http://schemas.microsoft.com/office/drawing/2014/main" id="{E7A5E19A-E21F-B5E9-E9C3-28C9D0580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138" y="1552575"/>
            <a:ext cx="79406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>
            <a:lvl1pPr marL="236538" indent="-236538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anose="05000000000000000000" pitchFamily="2" charset="2"/>
              <a:buNone/>
            </a:pPr>
            <a:r>
              <a:rPr lang="en-US" altLang="en-US"/>
              <a:t>Advantages of a Link-State Routing Protocol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251E2BA-398F-384E-390C-5A09E2E5B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Link-State Routing Protocols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BEFF47F-EC29-CC1B-6C87-27D3B4196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590675"/>
            <a:ext cx="7940675" cy="47466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Requirements for using a link state routing protocol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Memory requirements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	Typically link state routing protocols use more 	memory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Processing Requirements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	More CPU processing is required of link state 	routing protocols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Bandwidth Requirements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	Initial startup of link state routing protocols can 	consume lots of bandwidth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EAA13C6-E082-317A-2460-5C050DF5B3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Link-State Routing Protocols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2C7BAF4-61FA-C785-434E-D05428F06C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6113" y="1600200"/>
            <a:ext cx="7940675" cy="35718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2 link state routing protocols used for routing IP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	-Open Shortest Path First (OSPF)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/>
              <a:t>		-Intermediate System-Intermediate System (IS-IS)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EAD65AF-10B8-14BB-E459-B40753C140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290FB0B-091A-3D1E-1D04-C44DEDCB35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/>
              <a:t>Link State Routing protocols are also known as Shortest Path First protocols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/>
              <a:t>Summarizing the link state process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		-Routers 1ST learn of directly connected networks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		-Routers then say “hello” to neighbors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		-Routers then build link state packets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		-Routers then flood LSPs to all neighbors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		-Routers use LSP database to build a network topology 	map &amp; calculate the best path to each destination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E25E804-81A5-8B7B-D729-4682E7CB6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583322A-89FF-A374-11F1-FE5C5F738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75000"/>
              </a:lnSpc>
            </a:pPr>
            <a:r>
              <a:rPr lang="en-US" altLang="en-US"/>
              <a:t>Link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/>
              <a:t>		An interface on the router</a:t>
            </a:r>
          </a:p>
          <a:p>
            <a:pPr eaLnBrk="1" hangingPunct="1">
              <a:lnSpc>
                <a:spcPct val="75000"/>
              </a:lnSpc>
            </a:pPr>
            <a:r>
              <a:rPr lang="en-US" altLang="en-US"/>
              <a:t>Link State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/>
              <a:t>		Information about an interface such as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/>
              <a:t>			-IP address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/>
              <a:t>			-Subnet mask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/>
              <a:t>			-Type of network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/>
              <a:t>			-Cost associated with link</a:t>
            </a:r>
          </a:p>
          <a:p>
            <a:pPr eaLnBrk="1" hangingPunct="1"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/>
              <a:t>			-Neighboring routers on the link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1FAC2D9-5124-3176-5A07-5D8E1134B5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24E68AC-6BAE-8E17-9021-8C88F9D7C9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 State Packets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After initial flooding, additional LSP are sent out 	when a change in topology occurs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</a:p>
          <a:p>
            <a:pPr eaLnBrk="1" hangingPunct="1"/>
            <a:r>
              <a:rPr lang="en-US" altLang="en-US"/>
              <a:t>Examples of link state routing protocols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-Open shortest path first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-IS-IS		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>
            <a:extLst>
              <a:ext uri="{FF2B5EF4-FFF2-40B4-BE49-F238E27FC236}">
                <a16:creationId xmlns:a16="http://schemas.microsoft.com/office/drawing/2014/main" id="{157D208D-5F9D-1E8B-0A76-DB111D07FC0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4383088"/>
            <a:chOff x="0" y="0"/>
            <a:chExt cx="5760" cy="2761"/>
          </a:xfrm>
        </p:grpSpPr>
        <p:grpSp>
          <p:nvGrpSpPr>
            <p:cNvPr id="29699" name="Group 3">
              <a:extLst>
                <a:ext uri="{FF2B5EF4-FFF2-40B4-BE49-F238E27FC236}">
                  <a16:creationId xmlns:a16="http://schemas.microsoft.com/office/drawing/2014/main" id="{33522271-16B3-C58B-F43A-1D4DB80273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" y="1485"/>
              <a:ext cx="2400" cy="1276"/>
              <a:chOff x="3272" y="1316"/>
              <a:chExt cx="1889" cy="1002"/>
            </a:xfrm>
          </p:grpSpPr>
          <p:sp>
            <p:nvSpPr>
              <p:cNvPr id="29701" name="AutoShape 4">
                <a:extLst>
                  <a:ext uri="{FF2B5EF4-FFF2-40B4-BE49-F238E27FC236}">
                    <a16:creationId xmlns:a16="http://schemas.microsoft.com/office/drawing/2014/main" id="{06D75BD3-9299-33DB-93F2-01520966EF11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3272" y="1316"/>
                <a:ext cx="1889" cy="10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02" name="Rectangle 5">
                <a:extLst>
                  <a:ext uri="{FF2B5EF4-FFF2-40B4-BE49-F238E27FC236}">
                    <a16:creationId xmlns:a16="http://schemas.microsoft.com/office/drawing/2014/main" id="{3EC2635B-D855-BE35-44F6-62BF7807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3" y="1980"/>
                <a:ext cx="86" cy="325"/>
              </a:xfrm>
              <a:prstGeom prst="rect">
                <a:avLst/>
              </a:pr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03" name="Freeform 6">
                <a:extLst>
                  <a:ext uri="{FF2B5EF4-FFF2-40B4-BE49-F238E27FC236}">
                    <a16:creationId xmlns:a16="http://schemas.microsoft.com/office/drawing/2014/main" id="{516A643B-53DE-E699-4729-14AC306E3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4" y="1971"/>
                <a:ext cx="249" cy="343"/>
              </a:xfrm>
              <a:custGeom>
                <a:avLst/>
                <a:gdLst>
                  <a:gd name="T0" fmla="*/ 58 w 58"/>
                  <a:gd name="T1" fmla="*/ 24 h 80"/>
                  <a:gd name="T2" fmla="*/ 42 w 58"/>
                  <a:gd name="T3" fmla="*/ 20 h 80"/>
                  <a:gd name="T4" fmla="*/ 21 w 58"/>
                  <a:gd name="T5" fmla="*/ 40 h 80"/>
                  <a:gd name="T6" fmla="*/ 42 w 58"/>
                  <a:gd name="T7" fmla="*/ 60 h 80"/>
                  <a:gd name="T8" fmla="*/ 58 w 58"/>
                  <a:gd name="T9" fmla="*/ 56 h 80"/>
                  <a:gd name="T10" fmla="*/ 58 w 58"/>
                  <a:gd name="T11" fmla="*/ 77 h 80"/>
                  <a:gd name="T12" fmla="*/ 41 w 58"/>
                  <a:gd name="T13" fmla="*/ 80 h 80"/>
                  <a:gd name="T14" fmla="*/ 0 w 58"/>
                  <a:gd name="T15" fmla="*/ 40 h 80"/>
                  <a:gd name="T16" fmla="*/ 41 w 58"/>
                  <a:gd name="T17" fmla="*/ 0 h 80"/>
                  <a:gd name="T18" fmla="*/ 58 w 58"/>
                  <a:gd name="T19" fmla="*/ 3 h 80"/>
                  <a:gd name="T20" fmla="*/ 58 w 58"/>
                  <a:gd name="T21" fmla="*/ 24 h 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"/>
                  <a:gd name="T34" fmla="*/ 0 h 80"/>
                  <a:gd name="T35" fmla="*/ 58 w 58"/>
                  <a:gd name="T36" fmla="*/ 80 h 8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" h="80">
                    <a:moveTo>
                      <a:pt x="58" y="24"/>
                    </a:moveTo>
                    <a:cubicBezTo>
                      <a:pt x="58" y="23"/>
                      <a:pt x="51" y="20"/>
                      <a:pt x="42" y="20"/>
                    </a:cubicBezTo>
                    <a:cubicBezTo>
                      <a:pt x="30" y="20"/>
                      <a:pt x="21" y="28"/>
                      <a:pt x="21" y="40"/>
                    </a:cubicBezTo>
                    <a:cubicBezTo>
                      <a:pt x="21" y="51"/>
                      <a:pt x="29" y="60"/>
                      <a:pt x="42" y="60"/>
                    </a:cubicBezTo>
                    <a:cubicBezTo>
                      <a:pt x="51" y="60"/>
                      <a:pt x="57" y="57"/>
                      <a:pt x="58" y="56"/>
                    </a:cubicBezTo>
                    <a:cubicBezTo>
                      <a:pt x="58" y="77"/>
                      <a:pt x="58" y="77"/>
                      <a:pt x="58" y="77"/>
                    </a:cubicBezTo>
                    <a:cubicBezTo>
                      <a:pt x="56" y="78"/>
                      <a:pt x="49" y="80"/>
                      <a:pt x="41" y="80"/>
                    </a:cubicBezTo>
                    <a:cubicBezTo>
                      <a:pt x="19" y="80"/>
                      <a:pt x="0" y="65"/>
                      <a:pt x="0" y="40"/>
                    </a:cubicBezTo>
                    <a:cubicBezTo>
                      <a:pt x="0" y="17"/>
                      <a:pt x="17" y="0"/>
                      <a:pt x="41" y="0"/>
                    </a:cubicBezTo>
                    <a:cubicBezTo>
                      <a:pt x="50" y="0"/>
                      <a:pt x="56" y="3"/>
                      <a:pt x="58" y="3"/>
                    </a:cubicBezTo>
                    <a:lnTo>
                      <a:pt x="58" y="24"/>
                    </a:lnTo>
                    <a:close/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04" name="Freeform 7">
                <a:extLst>
                  <a:ext uri="{FF2B5EF4-FFF2-40B4-BE49-F238E27FC236}">
                    <a16:creationId xmlns:a16="http://schemas.microsoft.com/office/drawing/2014/main" id="{216BD822-39EE-ACA2-8C54-EDBBA4D384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1971"/>
                <a:ext cx="249" cy="343"/>
              </a:xfrm>
              <a:custGeom>
                <a:avLst/>
                <a:gdLst>
                  <a:gd name="T0" fmla="*/ 58 w 58"/>
                  <a:gd name="T1" fmla="*/ 24 h 80"/>
                  <a:gd name="T2" fmla="*/ 42 w 58"/>
                  <a:gd name="T3" fmla="*/ 20 h 80"/>
                  <a:gd name="T4" fmla="*/ 21 w 58"/>
                  <a:gd name="T5" fmla="*/ 40 h 80"/>
                  <a:gd name="T6" fmla="*/ 42 w 58"/>
                  <a:gd name="T7" fmla="*/ 60 h 80"/>
                  <a:gd name="T8" fmla="*/ 58 w 58"/>
                  <a:gd name="T9" fmla="*/ 56 h 80"/>
                  <a:gd name="T10" fmla="*/ 58 w 58"/>
                  <a:gd name="T11" fmla="*/ 77 h 80"/>
                  <a:gd name="T12" fmla="*/ 40 w 58"/>
                  <a:gd name="T13" fmla="*/ 80 h 80"/>
                  <a:gd name="T14" fmla="*/ 0 w 58"/>
                  <a:gd name="T15" fmla="*/ 40 h 80"/>
                  <a:gd name="T16" fmla="*/ 40 w 58"/>
                  <a:gd name="T17" fmla="*/ 0 h 80"/>
                  <a:gd name="T18" fmla="*/ 58 w 58"/>
                  <a:gd name="T19" fmla="*/ 3 h 80"/>
                  <a:gd name="T20" fmla="*/ 58 w 58"/>
                  <a:gd name="T21" fmla="*/ 24 h 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"/>
                  <a:gd name="T34" fmla="*/ 0 h 80"/>
                  <a:gd name="T35" fmla="*/ 58 w 58"/>
                  <a:gd name="T36" fmla="*/ 80 h 8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" h="80">
                    <a:moveTo>
                      <a:pt x="58" y="24"/>
                    </a:moveTo>
                    <a:cubicBezTo>
                      <a:pt x="57" y="23"/>
                      <a:pt x="51" y="20"/>
                      <a:pt x="42" y="20"/>
                    </a:cubicBezTo>
                    <a:cubicBezTo>
                      <a:pt x="29" y="20"/>
                      <a:pt x="21" y="28"/>
                      <a:pt x="21" y="40"/>
                    </a:cubicBezTo>
                    <a:cubicBezTo>
                      <a:pt x="21" y="51"/>
                      <a:pt x="29" y="60"/>
                      <a:pt x="42" y="60"/>
                    </a:cubicBezTo>
                    <a:cubicBezTo>
                      <a:pt x="51" y="60"/>
                      <a:pt x="57" y="57"/>
                      <a:pt x="58" y="56"/>
                    </a:cubicBezTo>
                    <a:cubicBezTo>
                      <a:pt x="58" y="77"/>
                      <a:pt x="58" y="77"/>
                      <a:pt x="58" y="77"/>
                    </a:cubicBezTo>
                    <a:cubicBezTo>
                      <a:pt x="56" y="78"/>
                      <a:pt x="49" y="80"/>
                      <a:pt x="40" y="80"/>
                    </a:cubicBezTo>
                    <a:cubicBezTo>
                      <a:pt x="19" y="80"/>
                      <a:pt x="0" y="65"/>
                      <a:pt x="0" y="40"/>
                    </a:cubicBezTo>
                    <a:cubicBezTo>
                      <a:pt x="0" y="17"/>
                      <a:pt x="17" y="0"/>
                      <a:pt x="40" y="0"/>
                    </a:cubicBezTo>
                    <a:cubicBezTo>
                      <a:pt x="49" y="0"/>
                      <a:pt x="56" y="3"/>
                      <a:pt x="58" y="3"/>
                    </a:cubicBezTo>
                    <a:lnTo>
                      <a:pt x="58" y="24"/>
                    </a:lnTo>
                    <a:close/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05" name="Freeform 8">
                <a:extLst>
                  <a:ext uri="{FF2B5EF4-FFF2-40B4-BE49-F238E27FC236}">
                    <a16:creationId xmlns:a16="http://schemas.microsoft.com/office/drawing/2014/main" id="{5BDA5B22-22DD-AA5C-D463-1E3ADB7DC0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43" y="1971"/>
                <a:ext cx="342" cy="343"/>
              </a:xfrm>
              <a:custGeom>
                <a:avLst/>
                <a:gdLst>
                  <a:gd name="T0" fmla="*/ 80 w 80"/>
                  <a:gd name="T1" fmla="*/ 40 h 80"/>
                  <a:gd name="T2" fmla="*/ 40 w 80"/>
                  <a:gd name="T3" fmla="*/ 80 h 80"/>
                  <a:gd name="T4" fmla="*/ 0 w 80"/>
                  <a:gd name="T5" fmla="*/ 40 h 80"/>
                  <a:gd name="T6" fmla="*/ 40 w 80"/>
                  <a:gd name="T7" fmla="*/ 0 h 80"/>
                  <a:gd name="T8" fmla="*/ 80 w 80"/>
                  <a:gd name="T9" fmla="*/ 40 h 80"/>
                  <a:gd name="T10" fmla="*/ 40 w 80"/>
                  <a:gd name="T11" fmla="*/ 20 h 80"/>
                  <a:gd name="T12" fmla="*/ 20 w 80"/>
                  <a:gd name="T13" fmla="*/ 40 h 80"/>
                  <a:gd name="T14" fmla="*/ 40 w 80"/>
                  <a:gd name="T15" fmla="*/ 60 h 80"/>
                  <a:gd name="T16" fmla="*/ 60 w 80"/>
                  <a:gd name="T17" fmla="*/ 40 h 80"/>
                  <a:gd name="T18" fmla="*/ 40 w 80"/>
                  <a:gd name="T19" fmla="*/ 20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0"/>
                  <a:gd name="T31" fmla="*/ 0 h 80"/>
                  <a:gd name="T32" fmla="*/ 80 w 80"/>
                  <a:gd name="T33" fmla="*/ 80 h 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0" h="80">
                    <a:moveTo>
                      <a:pt x="80" y="40"/>
                    </a:moveTo>
                    <a:cubicBezTo>
                      <a:pt x="80" y="62"/>
                      <a:pt x="64" y="80"/>
                      <a:pt x="40" y="80"/>
                    </a:cubicBezTo>
                    <a:cubicBezTo>
                      <a:pt x="16" y="80"/>
                      <a:pt x="0" y="62"/>
                      <a:pt x="0" y="40"/>
                    </a:cubicBezTo>
                    <a:cubicBezTo>
                      <a:pt x="0" y="18"/>
                      <a:pt x="16" y="0"/>
                      <a:pt x="40" y="0"/>
                    </a:cubicBezTo>
                    <a:cubicBezTo>
                      <a:pt x="64" y="0"/>
                      <a:pt x="80" y="18"/>
                      <a:pt x="80" y="40"/>
                    </a:cubicBezTo>
                    <a:moveTo>
                      <a:pt x="40" y="20"/>
                    </a:moveTo>
                    <a:cubicBezTo>
                      <a:pt x="29" y="20"/>
                      <a:pt x="20" y="29"/>
                      <a:pt x="20" y="40"/>
                    </a:cubicBezTo>
                    <a:cubicBezTo>
                      <a:pt x="20" y="51"/>
                      <a:pt x="29" y="60"/>
                      <a:pt x="40" y="60"/>
                    </a:cubicBezTo>
                    <a:cubicBezTo>
                      <a:pt x="51" y="60"/>
                      <a:pt x="60" y="51"/>
                      <a:pt x="60" y="40"/>
                    </a:cubicBezTo>
                    <a:cubicBezTo>
                      <a:pt x="60" y="29"/>
                      <a:pt x="51" y="20"/>
                      <a:pt x="40" y="20"/>
                    </a:cubicBezTo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06" name="Freeform 9">
                <a:extLst>
                  <a:ext uri="{FF2B5EF4-FFF2-40B4-BE49-F238E27FC236}">
                    <a16:creationId xmlns:a16="http://schemas.microsoft.com/office/drawing/2014/main" id="{8BC48BCF-7720-2C34-BD9A-14463997C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0" y="1971"/>
                <a:ext cx="223" cy="343"/>
              </a:xfrm>
              <a:custGeom>
                <a:avLst/>
                <a:gdLst>
                  <a:gd name="T0" fmla="*/ 47 w 52"/>
                  <a:gd name="T1" fmla="*/ 19 h 80"/>
                  <a:gd name="T2" fmla="*/ 32 w 52"/>
                  <a:gd name="T3" fmla="*/ 17 h 80"/>
                  <a:gd name="T4" fmla="*/ 20 w 52"/>
                  <a:gd name="T5" fmla="*/ 23 h 80"/>
                  <a:gd name="T6" fmla="*/ 29 w 52"/>
                  <a:gd name="T7" fmla="*/ 30 h 80"/>
                  <a:gd name="T8" fmla="*/ 34 w 52"/>
                  <a:gd name="T9" fmla="*/ 32 h 80"/>
                  <a:gd name="T10" fmla="*/ 52 w 52"/>
                  <a:gd name="T11" fmla="*/ 54 h 80"/>
                  <a:gd name="T12" fmla="*/ 21 w 52"/>
                  <a:gd name="T13" fmla="*/ 80 h 80"/>
                  <a:gd name="T14" fmla="*/ 0 w 52"/>
                  <a:gd name="T15" fmla="*/ 77 h 80"/>
                  <a:gd name="T16" fmla="*/ 0 w 52"/>
                  <a:gd name="T17" fmla="*/ 60 h 80"/>
                  <a:gd name="T18" fmla="*/ 18 w 52"/>
                  <a:gd name="T19" fmla="*/ 63 h 80"/>
                  <a:gd name="T20" fmla="*/ 32 w 52"/>
                  <a:gd name="T21" fmla="*/ 56 h 80"/>
                  <a:gd name="T22" fmla="*/ 23 w 52"/>
                  <a:gd name="T23" fmla="*/ 48 h 80"/>
                  <a:gd name="T24" fmla="*/ 19 w 52"/>
                  <a:gd name="T25" fmla="*/ 47 h 80"/>
                  <a:gd name="T26" fmla="*/ 0 w 52"/>
                  <a:gd name="T27" fmla="*/ 24 h 80"/>
                  <a:gd name="T28" fmla="*/ 28 w 52"/>
                  <a:gd name="T29" fmla="*/ 0 h 80"/>
                  <a:gd name="T30" fmla="*/ 47 w 52"/>
                  <a:gd name="T31" fmla="*/ 3 h 80"/>
                  <a:gd name="T32" fmla="*/ 47 w 52"/>
                  <a:gd name="T33" fmla="*/ 19 h 8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2"/>
                  <a:gd name="T52" fmla="*/ 0 h 80"/>
                  <a:gd name="T53" fmla="*/ 52 w 52"/>
                  <a:gd name="T54" fmla="*/ 80 h 8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2" h="80">
                    <a:moveTo>
                      <a:pt x="47" y="19"/>
                    </a:moveTo>
                    <a:cubicBezTo>
                      <a:pt x="47" y="19"/>
                      <a:pt x="38" y="17"/>
                      <a:pt x="32" y="17"/>
                    </a:cubicBezTo>
                    <a:cubicBezTo>
                      <a:pt x="24" y="17"/>
                      <a:pt x="20" y="19"/>
                      <a:pt x="20" y="23"/>
                    </a:cubicBezTo>
                    <a:cubicBezTo>
                      <a:pt x="20" y="28"/>
                      <a:pt x="26" y="29"/>
                      <a:pt x="29" y="30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47" y="36"/>
                      <a:pt x="52" y="45"/>
                      <a:pt x="52" y="54"/>
                    </a:cubicBezTo>
                    <a:cubicBezTo>
                      <a:pt x="52" y="73"/>
                      <a:pt x="35" y="80"/>
                      <a:pt x="21" y="80"/>
                    </a:cubicBezTo>
                    <a:cubicBezTo>
                      <a:pt x="10" y="80"/>
                      <a:pt x="1" y="78"/>
                      <a:pt x="0" y="77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2" y="60"/>
                      <a:pt x="10" y="63"/>
                      <a:pt x="18" y="63"/>
                    </a:cubicBezTo>
                    <a:cubicBezTo>
                      <a:pt x="28" y="63"/>
                      <a:pt x="32" y="60"/>
                      <a:pt x="32" y="56"/>
                    </a:cubicBezTo>
                    <a:cubicBezTo>
                      <a:pt x="32" y="52"/>
                      <a:pt x="28" y="49"/>
                      <a:pt x="23" y="48"/>
                    </a:cubicBezTo>
                    <a:cubicBezTo>
                      <a:pt x="22" y="48"/>
                      <a:pt x="21" y="47"/>
                      <a:pt x="19" y="47"/>
                    </a:cubicBezTo>
                    <a:cubicBezTo>
                      <a:pt x="9" y="43"/>
                      <a:pt x="0" y="37"/>
                      <a:pt x="0" y="24"/>
                    </a:cubicBezTo>
                    <a:cubicBezTo>
                      <a:pt x="0" y="10"/>
                      <a:pt x="10" y="0"/>
                      <a:pt x="28" y="0"/>
                    </a:cubicBezTo>
                    <a:cubicBezTo>
                      <a:pt x="37" y="0"/>
                      <a:pt x="46" y="3"/>
                      <a:pt x="47" y="3"/>
                    </a:cubicBezTo>
                    <a:lnTo>
                      <a:pt x="47" y="19"/>
                    </a:lnTo>
                    <a:close/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07" name="Freeform 10">
                <a:extLst>
                  <a:ext uri="{FF2B5EF4-FFF2-40B4-BE49-F238E27FC236}">
                    <a16:creationId xmlns:a16="http://schemas.microsoft.com/office/drawing/2014/main" id="{0AFB6498-FFD1-CDC9-85E9-3CB80B7E0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1586"/>
                <a:ext cx="81" cy="167"/>
              </a:xfrm>
              <a:custGeom>
                <a:avLst/>
                <a:gdLst>
                  <a:gd name="T0" fmla="*/ 19 w 19"/>
                  <a:gd name="T1" fmla="*/ 10 h 39"/>
                  <a:gd name="T2" fmla="*/ 10 w 19"/>
                  <a:gd name="T3" fmla="*/ 0 h 39"/>
                  <a:gd name="T4" fmla="*/ 0 w 19"/>
                  <a:gd name="T5" fmla="*/ 10 h 39"/>
                  <a:gd name="T6" fmla="*/ 0 w 19"/>
                  <a:gd name="T7" fmla="*/ 30 h 39"/>
                  <a:gd name="T8" fmla="*/ 10 w 19"/>
                  <a:gd name="T9" fmla="*/ 39 h 39"/>
                  <a:gd name="T10" fmla="*/ 19 w 19"/>
                  <a:gd name="T11" fmla="*/ 30 h 39"/>
                  <a:gd name="T12" fmla="*/ 19 w 19"/>
                  <a:gd name="T13" fmla="*/ 10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9"/>
                  <a:gd name="T23" fmla="*/ 19 w 19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9">
                    <a:moveTo>
                      <a:pt x="19" y="10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5"/>
                      <a:pt x="4" y="39"/>
                      <a:pt x="10" y="39"/>
                    </a:cubicBezTo>
                    <a:cubicBezTo>
                      <a:pt x="15" y="39"/>
                      <a:pt x="19" y="35"/>
                      <a:pt x="19" y="30"/>
                    </a:cubicBez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08" name="Freeform 11">
                <a:extLst>
                  <a:ext uri="{FF2B5EF4-FFF2-40B4-BE49-F238E27FC236}">
                    <a16:creationId xmlns:a16="http://schemas.microsoft.com/office/drawing/2014/main" id="{3A43C9F2-4CA8-5CFD-7D71-BE1AA98E8F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9" y="1474"/>
                <a:ext cx="81" cy="279"/>
              </a:xfrm>
              <a:custGeom>
                <a:avLst/>
                <a:gdLst>
                  <a:gd name="T0" fmla="*/ 19 w 19"/>
                  <a:gd name="T1" fmla="*/ 9 h 65"/>
                  <a:gd name="T2" fmla="*/ 9 w 19"/>
                  <a:gd name="T3" fmla="*/ 0 h 65"/>
                  <a:gd name="T4" fmla="*/ 0 w 19"/>
                  <a:gd name="T5" fmla="*/ 9 h 65"/>
                  <a:gd name="T6" fmla="*/ 0 w 19"/>
                  <a:gd name="T7" fmla="*/ 56 h 65"/>
                  <a:gd name="T8" fmla="*/ 9 w 19"/>
                  <a:gd name="T9" fmla="*/ 65 h 65"/>
                  <a:gd name="T10" fmla="*/ 19 w 19"/>
                  <a:gd name="T11" fmla="*/ 56 h 65"/>
                  <a:gd name="T12" fmla="*/ 19 w 19"/>
                  <a:gd name="T13" fmla="*/ 9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65"/>
                  <a:gd name="T23" fmla="*/ 19 w 19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4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4" y="65"/>
                      <a:pt x="9" y="65"/>
                    </a:cubicBezTo>
                    <a:cubicBezTo>
                      <a:pt x="14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09" name="Freeform 12">
                <a:extLst>
                  <a:ext uri="{FF2B5EF4-FFF2-40B4-BE49-F238E27FC236}">
                    <a16:creationId xmlns:a16="http://schemas.microsoft.com/office/drawing/2014/main" id="{BB3DE6BD-E6C4-4173-59F3-FBE90A37B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2" y="1320"/>
                <a:ext cx="81" cy="514"/>
              </a:xfrm>
              <a:custGeom>
                <a:avLst/>
                <a:gdLst>
                  <a:gd name="T0" fmla="*/ 19 w 19"/>
                  <a:gd name="T1" fmla="*/ 9 h 120"/>
                  <a:gd name="T2" fmla="*/ 10 w 19"/>
                  <a:gd name="T3" fmla="*/ 0 h 120"/>
                  <a:gd name="T4" fmla="*/ 0 w 19"/>
                  <a:gd name="T5" fmla="*/ 9 h 120"/>
                  <a:gd name="T6" fmla="*/ 0 w 19"/>
                  <a:gd name="T7" fmla="*/ 111 h 120"/>
                  <a:gd name="T8" fmla="*/ 10 w 19"/>
                  <a:gd name="T9" fmla="*/ 120 h 120"/>
                  <a:gd name="T10" fmla="*/ 19 w 19"/>
                  <a:gd name="T11" fmla="*/ 111 h 120"/>
                  <a:gd name="T12" fmla="*/ 19 w 19"/>
                  <a:gd name="T13" fmla="*/ 9 h 1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120"/>
                  <a:gd name="T23" fmla="*/ 19 w 19"/>
                  <a:gd name="T24" fmla="*/ 120 h 1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120">
                    <a:moveTo>
                      <a:pt x="19" y="9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9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0" y="116"/>
                      <a:pt x="5" y="120"/>
                      <a:pt x="10" y="120"/>
                    </a:cubicBezTo>
                    <a:cubicBezTo>
                      <a:pt x="15" y="120"/>
                      <a:pt x="19" y="116"/>
                      <a:pt x="19" y="111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10" name="Freeform 13">
                <a:extLst>
                  <a:ext uri="{FF2B5EF4-FFF2-40B4-BE49-F238E27FC236}">
                    <a16:creationId xmlns:a16="http://schemas.microsoft.com/office/drawing/2014/main" id="{938B84C6-1DCB-0BC8-42BF-8FED88DF3B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9" y="1474"/>
                <a:ext cx="81" cy="279"/>
              </a:xfrm>
              <a:custGeom>
                <a:avLst/>
                <a:gdLst>
                  <a:gd name="T0" fmla="*/ 19 w 19"/>
                  <a:gd name="T1" fmla="*/ 9 h 65"/>
                  <a:gd name="T2" fmla="*/ 9 w 19"/>
                  <a:gd name="T3" fmla="*/ 0 h 65"/>
                  <a:gd name="T4" fmla="*/ 0 w 19"/>
                  <a:gd name="T5" fmla="*/ 9 h 65"/>
                  <a:gd name="T6" fmla="*/ 0 w 19"/>
                  <a:gd name="T7" fmla="*/ 56 h 65"/>
                  <a:gd name="T8" fmla="*/ 9 w 19"/>
                  <a:gd name="T9" fmla="*/ 65 h 65"/>
                  <a:gd name="T10" fmla="*/ 19 w 19"/>
                  <a:gd name="T11" fmla="*/ 56 h 65"/>
                  <a:gd name="T12" fmla="*/ 19 w 19"/>
                  <a:gd name="T13" fmla="*/ 9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65"/>
                  <a:gd name="T23" fmla="*/ 19 w 19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4" y="65"/>
                      <a:pt x="9" y="65"/>
                    </a:cubicBezTo>
                    <a:cubicBezTo>
                      <a:pt x="15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11" name="Freeform 14">
                <a:extLst>
                  <a:ext uri="{FF2B5EF4-FFF2-40B4-BE49-F238E27FC236}">
                    <a16:creationId xmlns:a16="http://schemas.microsoft.com/office/drawing/2014/main" id="{D31FF184-9145-171D-591D-54D162312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1586"/>
                <a:ext cx="86" cy="167"/>
              </a:xfrm>
              <a:custGeom>
                <a:avLst/>
                <a:gdLst>
                  <a:gd name="T0" fmla="*/ 20 w 20"/>
                  <a:gd name="T1" fmla="*/ 10 h 39"/>
                  <a:gd name="T2" fmla="*/ 10 w 20"/>
                  <a:gd name="T3" fmla="*/ 0 h 39"/>
                  <a:gd name="T4" fmla="*/ 0 w 20"/>
                  <a:gd name="T5" fmla="*/ 10 h 39"/>
                  <a:gd name="T6" fmla="*/ 0 w 20"/>
                  <a:gd name="T7" fmla="*/ 30 h 39"/>
                  <a:gd name="T8" fmla="*/ 10 w 20"/>
                  <a:gd name="T9" fmla="*/ 39 h 39"/>
                  <a:gd name="T10" fmla="*/ 20 w 20"/>
                  <a:gd name="T11" fmla="*/ 30 h 39"/>
                  <a:gd name="T12" fmla="*/ 20 w 20"/>
                  <a:gd name="T13" fmla="*/ 10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39"/>
                  <a:gd name="T23" fmla="*/ 20 w 20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39">
                    <a:moveTo>
                      <a:pt x="20" y="10"/>
                    </a:moveTo>
                    <a:cubicBezTo>
                      <a:pt x="20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5"/>
                      <a:pt x="5" y="39"/>
                      <a:pt x="10" y="39"/>
                    </a:cubicBezTo>
                    <a:cubicBezTo>
                      <a:pt x="15" y="39"/>
                      <a:pt x="20" y="35"/>
                      <a:pt x="20" y="30"/>
                    </a:cubicBezTo>
                    <a:lnTo>
                      <a:pt x="20" y="10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12" name="Freeform 15">
                <a:extLst>
                  <a:ext uri="{FF2B5EF4-FFF2-40B4-BE49-F238E27FC236}">
                    <a16:creationId xmlns:a16="http://schemas.microsoft.com/office/drawing/2014/main" id="{DB97E3AC-0F99-262B-AF91-4843FD986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1474"/>
                <a:ext cx="82" cy="279"/>
              </a:xfrm>
              <a:custGeom>
                <a:avLst/>
                <a:gdLst>
                  <a:gd name="T0" fmla="*/ 19 w 19"/>
                  <a:gd name="T1" fmla="*/ 9 h 65"/>
                  <a:gd name="T2" fmla="*/ 10 w 19"/>
                  <a:gd name="T3" fmla="*/ 0 h 65"/>
                  <a:gd name="T4" fmla="*/ 0 w 19"/>
                  <a:gd name="T5" fmla="*/ 9 h 65"/>
                  <a:gd name="T6" fmla="*/ 0 w 19"/>
                  <a:gd name="T7" fmla="*/ 56 h 65"/>
                  <a:gd name="T8" fmla="*/ 10 w 19"/>
                  <a:gd name="T9" fmla="*/ 65 h 65"/>
                  <a:gd name="T10" fmla="*/ 19 w 19"/>
                  <a:gd name="T11" fmla="*/ 56 h 65"/>
                  <a:gd name="T12" fmla="*/ 19 w 19"/>
                  <a:gd name="T13" fmla="*/ 9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65"/>
                  <a:gd name="T23" fmla="*/ 19 w 19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4" y="65"/>
                      <a:pt x="10" y="65"/>
                    </a:cubicBezTo>
                    <a:cubicBezTo>
                      <a:pt x="15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13" name="Freeform 16">
                <a:extLst>
                  <a:ext uri="{FF2B5EF4-FFF2-40B4-BE49-F238E27FC236}">
                    <a16:creationId xmlns:a16="http://schemas.microsoft.com/office/drawing/2014/main" id="{EA69D5BF-2985-3578-E923-95DB2DF7DF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5" y="1320"/>
                <a:ext cx="82" cy="514"/>
              </a:xfrm>
              <a:custGeom>
                <a:avLst/>
                <a:gdLst>
                  <a:gd name="T0" fmla="*/ 19 w 19"/>
                  <a:gd name="T1" fmla="*/ 9 h 120"/>
                  <a:gd name="T2" fmla="*/ 9 w 19"/>
                  <a:gd name="T3" fmla="*/ 0 h 120"/>
                  <a:gd name="T4" fmla="*/ 0 w 19"/>
                  <a:gd name="T5" fmla="*/ 9 h 120"/>
                  <a:gd name="T6" fmla="*/ 0 w 19"/>
                  <a:gd name="T7" fmla="*/ 111 h 120"/>
                  <a:gd name="T8" fmla="*/ 9 w 19"/>
                  <a:gd name="T9" fmla="*/ 120 h 120"/>
                  <a:gd name="T10" fmla="*/ 19 w 19"/>
                  <a:gd name="T11" fmla="*/ 111 h 120"/>
                  <a:gd name="T12" fmla="*/ 19 w 19"/>
                  <a:gd name="T13" fmla="*/ 9 h 1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120"/>
                  <a:gd name="T23" fmla="*/ 19 w 19"/>
                  <a:gd name="T24" fmla="*/ 120 h 1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120">
                    <a:moveTo>
                      <a:pt x="19" y="9"/>
                    </a:move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0" y="116"/>
                      <a:pt x="4" y="120"/>
                      <a:pt x="9" y="120"/>
                    </a:cubicBezTo>
                    <a:cubicBezTo>
                      <a:pt x="15" y="120"/>
                      <a:pt x="19" y="116"/>
                      <a:pt x="19" y="111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14" name="Freeform 17">
                <a:extLst>
                  <a:ext uri="{FF2B5EF4-FFF2-40B4-BE49-F238E27FC236}">
                    <a16:creationId xmlns:a16="http://schemas.microsoft.com/office/drawing/2014/main" id="{7B6D1F00-CA20-9D1E-A89D-06055A06C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8" y="1474"/>
                <a:ext cx="82" cy="279"/>
              </a:xfrm>
              <a:custGeom>
                <a:avLst/>
                <a:gdLst>
                  <a:gd name="T0" fmla="*/ 19 w 19"/>
                  <a:gd name="T1" fmla="*/ 9 h 65"/>
                  <a:gd name="T2" fmla="*/ 10 w 19"/>
                  <a:gd name="T3" fmla="*/ 0 h 65"/>
                  <a:gd name="T4" fmla="*/ 0 w 19"/>
                  <a:gd name="T5" fmla="*/ 9 h 65"/>
                  <a:gd name="T6" fmla="*/ 0 w 19"/>
                  <a:gd name="T7" fmla="*/ 56 h 65"/>
                  <a:gd name="T8" fmla="*/ 10 w 19"/>
                  <a:gd name="T9" fmla="*/ 65 h 65"/>
                  <a:gd name="T10" fmla="*/ 19 w 19"/>
                  <a:gd name="T11" fmla="*/ 56 h 65"/>
                  <a:gd name="T12" fmla="*/ 19 w 19"/>
                  <a:gd name="T13" fmla="*/ 9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65"/>
                  <a:gd name="T23" fmla="*/ 19 w 19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5" y="65"/>
                      <a:pt x="10" y="65"/>
                    </a:cubicBezTo>
                    <a:cubicBezTo>
                      <a:pt x="15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15" name="Freeform 18">
                <a:extLst>
                  <a:ext uri="{FF2B5EF4-FFF2-40B4-BE49-F238E27FC236}">
                    <a16:creationId xmlns:a16="http://schemas.microsoft.com/office/drawing/2014/main" id="{E4A2FE8C-CA78-6A10-90F5-38D1E16F2E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5" y="1586"/>
                <a:ext cx="82" cy="167"/>
              </a:xfrm>
              <a:custGeom>
                <a:avLst/>
                <a:gdLst>
                  <a:gd name="T0" fmla="*/ 19 w 19"/>
                  <a:gd name="T1" fmla="*/ 10 h 39"/>
                  <a:gd name="T2" fmla="*/ 9 w 19"/>
                  <a:gd name="T3" fmla="*/ 0 h 39"/>
                  <a:gd name="T4" fmla="*/ 0 w 19"/>
                  <a:gd name="T5" fmla="*/ 10 h 39"/>
                  <a:gd name="T6" fmla="*/ 0 w 19"/>
                  <a:gd name="T7" fmla="*/ 30 h 39"/>
                  <a:gd name="T8" fmla="*/ 9 w 19"/>
                  <a:gd name="T9" fmla="*/ 39 h 39"/>
                  <a:gd name="T10" fmla="*/ 19 w 19"/>
                  <a:gd name="T11" fmla="*/ 30 h 39"/>
                  <a:gd name="T12" fmla="*/ 19 w 19"/>
                  <a:gd name="T13" fmla="*/ 10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9"/>
                  <a:gd name="T23" fmla="*/ 19 w 19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9">
                    <a:moveTo>
                      <a:pt x="19" y="10"/>
                    </a:move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5"/>
                      <a:pt x="4" y="39"/>
                      <a:pt x="9" y="39"/>
                    </a:cubicBezTo>
                    <a:cubicBezTo>
                      <a:pt x="15" y="39"/>
                      <a:pt x="19" y="35"/>
                      <a:pt x="19" y="30"/>
                    </a:cubicBez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9700" name="Rectangle 19">
              <a:extLst>
                <a:ext uri="{FF2B5EF4-FFF2-40B4-BE49-F238E27FC236}">
                  <a16:creationId xmlns:a16="http://schemas.microsoft.com/office/drawing/2014/main" id="{17A3C95F-4ECB-8FEA-3EC8-87C9CF506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124" tIns="41061" rIns="82124" bIns="41061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Ciscopresentationwhite.10.3.06</Template>
  <TotalTime>5609</TotalTime>
  <Pages>28</Pages>
  <Words>988</Words>
  <Application>Microsoft Office PowerPoint</Application>
  <PresentationFormat>On-screen Show (4:3)</PresentationFormat>
  <Paragraphs>171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Wingdings</vt:lpstr>
      <vt:lpstr>Times New Roman</vt:lpstr>
      <vt:lpstr>PPT-TMPLT-WHT_C</vt:lpstr>
      <vt:lpstr>Link-State Routing Protocols</vt:lpstr>
      <vt:lpstr>Objectives</vt:lpstr>
      <vt:lpstr>Introduction</vt:lpstr>
      <vt:lpstr>Link-State Routing</vt:lpstr>
      <vt:lpstr>Link-State Routing</vt:lpstr>
      <vt:lpstr>Link-State Routing</vt:lpstr>
      <vt:lpstr>Link-State Routing</vt:lpstr>
      <vt:lpstr>Link-State Routing</vt:lpstr>
      <vt:lpstr>Link-State Routing</vt:lpstr>
      <vt:lpstr>Link-State Routing</vt:lpstr>
      <vt:lpstr>Link-State Routing</vt:lpstr>
      <vt:lpstr>Link-State Routing</vt:lpstr>
      <vt:lpstr>Link-State Routing</vt:lpstr>
      <vt:lpstr>Link-State Routing</vt:lpstr>
      <vt:lpstr>Link-State Routing</vt:lpstr>
      <vt:lpstr>Link-State Routing</vt:lpstr>
      <vt:lpstr>Link-State Routing</vt:lpstr>
      <vt:lpstr>Link-State Routing</vt:lpstr>
      <vt:lpstr>Link-State Routing</vt:lpstr>
      <vt:lpstr>Link-State Routing</vt:lpstr>
      <vt:lpstr>Link-State Routing Protocols</vt:lpstr>
      <vt:lpstr>Link-State Routing Protocols</vt:lpstr>
      <vt:lpstr>Link-State Routing Protocols</vt:lpstr>
      <vt:lpstr>Summary</vt:lpstr>
      <vt:lpstr>Summary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Link-State Routing Protocols</dc:title>
  <dc:subject/>
  <dc:creator>CLI</dc:creator>
  <cp:keywords/>
  <dc:description/>
  <cp:lastModifiedBy>Saqib Bedar</cp:lastModifiedBy>
  <cp:revision>338</cp:revision>
  <cp:lastPrinted>1999-01-27T00:54:54Z</cp:lastPrinted>
  <dcterms:created xsi:type="dcterms:W3CDTF">2002-08-27T12:04:17Z</dcterms:created>
  <dcterms:modified xsi:type="dcterms:W3CDTF">2026-04-28T06:07:27Z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Jenita Bangloy">
    <vt:lpwstr>12.21.01 - Copyright date changed to 2002</vt:lpwstr>
  </property>
  <property fmtid="{D5CDD505-2E9C-101B-9397-08002B2CF9AE}" pid="3" name="Jenita ">
    <vt:lpwstr>12.21.01 - Line tool now defaults to 3 points size and black color. Previous version created white line which is not visible</vt:lpwstr>
  </property>
  <property fmtid="{D5CDD505-2E9C-101B-9397-08002B2CF9AE}" pid="4" name="JBangloy">
    <vt:lpwstr>12.21.01 - All remaining Helvetica changed to Arial</vt:lpwstr>
  </property>
</Properties>
</file>