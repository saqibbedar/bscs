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302" r:id="rId2"/>
    <p:sldId id="303" r:id="rId3"/>
    <p:sldId id="305" r:id="rId4"/>
    <p:sldId id="304" r:id="rId5"/>
    <p:sldId id="325" r:id="rId6"/>
    <p:sldId id="306" r:id="rId7"/>
    <p:sldId id="307" r:id="rId8"/>
    <p:sldId id="308" r:id="rId9"/>
    <p:sldId id="316" r:id="rId10"/>
    <p:sldId id="317" r:id="rId11"/>
    <p:sldId id="318" r:id="rId12"/>
    <p:sldId id="319" r:id="rId13"/>
    <p:sldId id="320" r:id="rId14"/>
    <p:sldId id="310" r:id="rId15"/>
    <p:sldId id="311" r:id="rId16"/>
    <p:sldId id="324" r:id="rId17"/>
    <p:sldId id="312" r:id="rId18"/>
    <p:sldId id="313" r:id="rId19"/>
    <p:sldId id="326" r:id="rId20"/>
    <p:sldId id="327" r:id="rId21"/>
    <p:sldId id="329" r:id="rId22"/>
    <p:sldId id="328" r:id="rId23"/>
    <p:sldId id="259" r:id="rId24"/>
    <p:sldId id="289" r:id="rId25"/>
    <p:sldId id="280" r:id="rId26"/>
    <p:sldId id="282" r:id="rId27"/>
    <p:sldId id="290" r:id="rId28"/>
    <p:sldId id="274" r:id="rId29"/>
    <p:sldId id="291" r:id="rId30"/>
    <p:sldId id="275" r:id="rId31"/>
    <p:sldId id="330" r:id="rId32"/>
    <p:sldId id="292" r:id="rId33"/>
    <p:sldId id="293" r:id="rId34"/>
    <p:sldId id="276" r:id="rId35"/>
    <p:sldId id="331" r:id="rId36"/>
    <p:sldId id="294" r:id="rId37"/>
    <p:sldId id="295" r:id="rId38"/>
    <p:sldId id="301" r:id="rId39"/>
    <p:sldId id="277" r:id="rId40"/>
    <p:sldId id="296" r:id="rId41"/>
    <p:sldId id="297" r:id="rId42"/>
    <p:sldId id="298" r:id="rId43"/>
    <p:sldId id="299" r:id="rId44"/>
    <p:sldId id="300" r:id="rId45"/>
    <p:sldId id="287" r:id="rId46"/>
    <p:sldId id="273" r:id="rId47"/>
    <p:sldId id="315" r:id="rId48"/>
    <p:sldId id="332" r:id="rId49"/>
    <p:sldId id="314" r:id="rId5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8" autoAdjust="0"/>
    <p:restoredTop sz="94173"/>
  </p:normalViewPr>
  <p:slideViewPr>
    <p:cSldViewPr>
      <p:cViewPr varScale="1">
        <p:scale>
          <a:sx n="117" d="100"/>
          <a:sy n="117" d="100"/>
        </p:scale>
        <p:origin x="153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A512F2FC-BEFE-1648-9E08-D52DAEDF0A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9CCA80C-7C07-694A-9DBE-007ED45F71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1892128A-9C35-1343-8C7F-08FE8AF808C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/>
              <a:t>Developed by Mata ur Rahman</a:t>
            </a:r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347D82AD-698C-1E48-96B0-D7B49F88FFB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5B09617-5E69-4987-B725-453AD84338C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D0FCC712-1019-4046-887A-292B11420BB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6B8F1138-0FC4-9444-B236-180A8EB4825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F9F6506E-5E05-423C-E05D-1DC8211B6A89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56DE52CE-9E62-4A45-A037-8972FFE5ACE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7D9C27B9-BAF7-A94A-9942-21B6DF663A4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/>
              <a:t>Developed by Mata ur Rahman</a:t>
            </a:r>
          </a:p>
        </p:txBody>
      </p:sp>
      <p:sp>
        <p:nvSpPr>
          <p:cNvPr id="49159" name="Rectangle 7">
            <a:extLst>
              <a:ext uri="{FF2B5EF4-FFF2-40B4-BE49-F238E27FC236}">
                <a16:creationId xmlns:a16="http://schemas.microsoft.com/office/drawing/2014/main" id="{5BEC3516-EF98-7A4A-8557-BA580AD718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4B810B5-3A63-4C7F-822C-302EEE92F1E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CAF9BFF1-1733-0BF6-8A0D-D060C4EE32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61CE7DB-5F58-407B-8695-960A253A50A2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E40EEC0D-132F-A5AE-D637-5EE5C8F4AF3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27895965-EA64-1631-99D5-F077C43266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E2A9CF36-6B60-9A24-2888-A85528399D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8C898A2-0C2C-4340-A3FE-C24C44B1420C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C63AE5FD-EFD7-0A64-2D87-F88E8CB4F96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C70E55-414D-0303-F494-79061F2502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EBAABE0-1E50-7605-C123-9E6AF514910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</a:t>
            </a:r>
            <a:r>
              <a:rPr lang="en-US" err="1"/>
              <a:t>Muazzam</a:t>
            </a:r>
            <a:r>
              <a:rPr lang="en-US"/>
              <a:t> A. Khan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DA42079-3C44-DDEF-AE2C-94570D9BEA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D34937-DFA5-42D4-BDDC-837551FF0D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425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27D1501-7527-B123-1702-4D63AED4698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</a:t>
            </a:r>
            <a:r>
              <a:rPr lang="en-US" err="1"/>
              <a:t>Muazzam</a:t>
            </a:r>
            <a:r>
              <a:rPr lang="en-US"/>
              <a:t> A. Khan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637AD42-0089-C16E-D460-5BB9356E78D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AF1CEF-1023-4069-BDFC-7FB3302503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010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648DA5A-1337-773D-23F3-E2BC4E62869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</a:t>
            </a:r>
            <a:r>
              <a:rPr lang="en-US" err="1"/>
              <a:t>Muazzam</a:t>
            </a:r>
            <a:r>
              <a:rPr lang="en-US"/>
              <a:t> A. Khan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70ECEB-EB21-652D-49D1-706FDE21F1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593075-BED4-4193-8F91-8A47D478A5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789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1AA44A-0262-24DB-298E-1F319F9E7F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</a:t>
            </a:r>
            <a:r>
              <a:rPr lang="en-US" err="1"/>
              <a:t>Muazzam</a:t>
            </a:r>
            <a:r>
              <a:rPr lang="en-US"/>
              <a:t> A. Khan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B24BA3-FDA4-BD29-37EC-20BA186EC7D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E9D192-0F59-4234-AC65-A946FAF8FB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7925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6B5FE5D-4035-39FB-95A1-083ED5D65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</a:t>
            </a:r>
            <a:r>
              <a:rPr lang="en-US" err="1"/>
              <a:t>Muazzam</a:t>
            </a:r>
            <a:r>
              <a:rPr lang="en-US"/>
              <a:t> A. Khan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B776B65-6CCD-D96E-0460-D7D939CF1FA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CB3580-3498-42C2-82B4-2E6B2A507D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0257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8E5729D-652B-E525-D795-00BF6877464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</a:t>
            </a:r>
            <a:r>
              <a:rPr lang="en-US" err="1"/>
              <a:t>Muazzam</a:t>
            </a:r>
            <a:r>
              <a:rPr lang="en-US"/>
              <a:t> A. Khan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FBAAC73-85FE-F6A2-6C95-DA33162328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3E12B3-FF13-464F-98C6-B7F5199CEB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234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D3F33F3-1B91-F760-307B-17762A10150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</a:t>
            </a:r>
            <a:r>
              <a:rPr lang="en-US" err="1"/>
              <a:t>Muazzam</a:t>
            </a:r>
            <a:r>
              <a:rPr lang="en-US"/>
              <a:t> A. Khan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76F3C8F-F9C6-3D51-49E4-C5067C54C6C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3C8E2F-118A-4842-8693-983751B323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438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0863C7-46E8-FE1A-389E-243275EC7D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</a:t>
            </a:r>
            <a:r>
              <a:rPr lang="en-US" err="1"/>
              <a:t>Muazzam</a:t>
            </a:r>
            <a:r>
              <a:rPr lang="en-US"/>
              <a:t> A. Khan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EC2769-33DB-760E-0AE5-8ED0B613C0C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6A98FB-41A2-4DF1-871E-4BE350CACD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0023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636404-0D28-5E5B-633B-45A38263D45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</a:t>
            </a:r>
            <a:r>
              <a:rPr lang="en-US" err="1"/>
              <a:t>Muazzam</a:t>
            </a:r>
            <a:r>
              <a:rPr lang="en-US"/>
              <a:t> A. Khan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5F56B93-5122-6F64-C941-4CF3584746E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282C07-A1CB-4E5B-95B2-874349E4F9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3842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5F00278-C128-ECC2-4BE3-86BBA21587F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</a:t>
            </a:r>
            <a:r>
              <a:rPr lang="en-US" err="1"/>
              <a:t>Muazzam</a:t>
            </a:r>
            <a:r>
              <a:rPr lang="en-US"/>
              <a:t> A. Khan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14ADD46-B00C-5673-67AE-D38D10C1DA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DA753-C229-45B8-9705-1DE749CD60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6338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1DAD5FF-D3DA-7184-8236-5F1B22DED4D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</a:t>
            </a:r>
            <a:r>
              <a:rPr lang="en-US" err="1"/>
              <a:t>Muazzam</a:t>
            </a:r>
            <a:r>
              <a:rPr lang="en-US"/>
              <a:t> A. Khan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C107D6D-17E5-673A-9B4D-12973C176E4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35FA92-327F-466E-A4A4-E4E63B560D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3861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EA1B2D-AE85-A05F-321A-7A267499395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</a:t>
            </a:r>
            <a:r>
              <a:rPr lang="en-US" err="1"/>
              <a:t>Muazzam</a:t>
            </a:r>
            <a:r>
              <a:rPr lang="en-US"/>
              <a:t> A. Khan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DCF7FE-1082-A19A-C1C0-CCA3CDC79A2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2D7C2A-F291-4908-BCBE-C485E28823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5908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A0E8CB-527A-0896-7213-0315334F01B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</a:t>
            </a:r>
            <a:r>
              <a:rPr lang="en-US" err="1"/>
              <a:t>Muazzam</a:t>
            </a:r>
            <a:r>
              <a:rPr lang="en-US"/>
              <a:t> A. Khan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182A8E-7904-7307-A927-90EBCEB258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7B0E53-0325-464A-8129-54A504B236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552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FF2A9A1-75C4-F222-7F07-0FB949BE2F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A5E1-E9BB-F00B-90C0-42BED1BB80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1AA09EE-783A-154F-9AF3-27186B7164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324600" y="65532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 i="1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Dr. </a:t>
            </a:r>
            <a:r>
              <a:rPr lang="en-US" err="1"/>
              <a:t>Muazzam</a:t>
            </a:r>
            <a:r>
              <a:rPr lang="en-US"/>
              <a:t> A. Khan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E880C20-D5CD-DF48-AA2A-CB565FDEB97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971800" y="6553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3288BD7E-10B7-4A88-A53A-6CC04621C20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Footer Placeholder 4">
            <a:extLst>
              <a:ext uri="{FF2B5EF4-FFF2-40B4-BE49-F238E27FC236}">
                <a16:creationId xmlns:a16="http://schemas.microsoft.com/office/drawing/2014/main" id="{309F544D-233C-ABF3-83EB-AD039B0C18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62600" y="53340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CD2F8E61-DEC8-CA07-75DA-EB2366E30C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62484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4800" b="1"/>
              <a:t>Introduction To  </a:t>
            </a:r>
            <a:br>
              <a:rPr lang="en-US" altLang="en-US" sz="4800" b="1"/>
            </a:br>
            <a:r>
              <a:rPr lang="en-US" altLang="en-US" sz="4800" b="1"/>
              <a:t>OSI Model</a:t>
            </a:r>
            <a:r>
              <a:rPr lang="en-US" altLang="en-US" sz="2800" b="1">
                <a:solidFill>
                  <a:schemeClr val="accent2"/>
                </a:solidFill>
              </a:rPr>
              <a:t> </a:t>
            </a:r>
            <a:br>
              <a:rPr lang="en-US" altLang="en-US" sz="3700">
                <a:solidFill>
                  <a:srgbClr val="000000"/>
                </a:solidFill>
              </a:rPr>
            </a:br>
            <a:br>
              <a:rPr lang="en-US" altLang="en-US" sz="2800" b="1">
                <a:solidFill>
                  <a:srgbClr val="000000"/>
                </a:solidFill>
              </a:rPr>
            </a:br>
            <a:endParaRPr lang="en-US" altLang="en-US" sz="20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Footer Placeholder 3">
            <a:extLst>
              <a:ext uri="{FF2B5EF4-FFF2-40B4-BE49-F238E27FC236}">
                <a16:creationId xmlns:a16="http://schemas.microsoft.com/office/drawing/2014/main" id="{F7AC3445-B24E-9D5A-C974-0DE807FF45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656F8D80-7AEB-9F6B-674E-DEF6B32C8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56515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Data Communication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64B39F5-6ADA-1986-D8FE-5FF2D9C9B8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686800" cy="5867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endParaRPr lang="en-US" altLang="en-US" sz="2800"/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/>
              <a:t>The word data refers to information presented in whatever form is agreed upon by the parties creating and using the data.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/>
              <a:t>Data communications are the exchange of data between two devices via some form of transmission medium such as a wire cable.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/>
              <a:t>The main focus in Data Communication Course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/>
              <a:t>Detail study of Physical Layer i.e., Signals, topologies, Line Encoding, Modulation / Demodulation, Multiplexing, Circuit Switching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/>
              <a:t>Some topics in Data Link Layer like Flow Control, Error Detection and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Footer Placeholder 3">
            <a:extLst>
              <a:ext uri="{FF2B5EF4-FFF2-40B4-BE49-F238E27FC236}">
                <a16:creationId xmlns:a16="http://schemas.microsoft.com/office/drawing/2014/main" id="{773AB41C-2DE7-8F45-489F-2D9557BDBD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pic>
        <p:nvPicPr>
          <p:cNvPr id="20482" name="Picture 8">
            <a:extLst>
              <a:ext uri="{FF2B5EF4-FFF2-40B4-BE49-F238E27FC236}">
                <a16:creationId xmlns:a16="http://schemas.microsoft.com/office/drawing/2014/main" id="{DF835948-93E8-6C17-6B32-41C146B24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" y="1676400"/>
            <a:ext cx="648970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5">
            <a:extLst>
              <a:ext uri="{FF2B5EF4-FFF2-40B4-BE49-F238E27FC236}">
                <a16:creationId xmlns:a16="http://schemas.microsoft.com/office/drawing/2014/main" id="{630395BD-7B5B-267C-AA5C-AD951A53F3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Direction of Data Flow</a:t>
            </a:r>
          </a:p>
        </p:txBody>
      </p:sp>
      <p:sp>
        <p:nvSpPr>
          <p:cNvPr id="20484" name="Rectangle 6">
            <a:extLst>
              <a:ext uri="{FF2B5EF4-FFF2-40B4-BE49-F238E27FC236}">
                <a16:creationId xmlns:a16="http://schemas.microsoft.com/office/drawing/2014/main" id="{3DC3E365-42E8-2072-17EC-2BED799B4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609600"/>
            <a:ext cx="8991600" cy="121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b="1"/>
              <a:t>Simplex</a:t>
            </a:r>
            <a:r>
              <a:rPr lang="en-US" altLang="en-US" sz="2200"/>
              <a:t> – unidirectional; one transmits, other receives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b="1"/>
              <a:t>Half-duplex</a:t>
            </a:r>
            <a:r>
              <a:rPr lang="en-US" altLang="en-US" sz="2200"/>
              <a:t> – each can transmit/receive; communication must alternate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b="1"/>
              <a:t>Full-duplex</a:t>
            </a:r>
            <a:r>
              <a:rPr lang="en-US" altLang="en-US" sz="2200"/>
              <a:t> – both can transmit/receive simultaneously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Footer Placeholder 3">
            <a:extLst>
              <a:ext uri="{FF2B5EF4-FFF2-40B4-BE49-F238E27FC236}">
                <a16:creationId xmlns:a16="http://schemas.microsoft.com/office/drawing/2014/main" id="{C3A8D6AE-D706-DA72-935B-8C6FD84CDC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E758A5C7-3B7B-57AD-2D85-AE0FD3D2C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200" b="1" u="sng"/>
              <a:t> 5 Components of Data Communication</a:t>
            </a:r>
          </a:p>
        </p:txBody>
      </p:sp>
      <p:pic>
        <p:nvPicPr>
          <p:cNvPr id="21507" name="Picture 4">
            <a:extLst>
              <a:ext uri="{FF2B5EF4-FFF2-40B4-BE49-F238E27FC236}">
                <a16:creationId xmlns:a16="http://schemas.microsoft.com/office/drawing/2014/main" id="{1691ECCB-4323-CC5B-9B25-62626937E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8" y="2819400"/>
            <a:ext cx="7065962" cy="182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Rectangle 7">
            <a:extLst>
              <a:ext uri="{FF2B5EF4-FFF2-40B4-BE49-F238E27FC236}">
                <a16:creationId xmlns:a16="http://schemas.microsoft.com/office/drawing/2014/main" id="{49DDAB10-D4E2-01E3-02D7-DC4BAA2DC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838200"/>
            <a:ext cx="25908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800"/>
              <a:t>Sender</a:t>
            </a:r>
          </a:p>
          <a:p>
            <a:pPr eaLnBrk="1" hangingPunct="1"/>
            <a:r>
              <a:rPr lang="en-US" altLang="en-US" sz="2800"/>
              <a:t>Receiver</a:t>
            </a:r>
          </a:p>
          <a:p>
            <a:pPr eaLnBrk="1" hangingPunct="1"/>
            <a:r>
              <a:rPr lang="en-US" altLang="en-US" sz="2800"/>
              <a:t>Message</a:t>
            </a:r>
          </a:p>
        </p:txBody>
      </p:sp>
      <p:sp>
        <p:nvSpPr>
          <p:cNvPr id="21509" name="Rectangle 8">
            <a:extLst>
              <a:ext uri="{FF2B5EF4-FFF2-40B4-BE49-F238E27FC236}">
                <a16:creationId xmlns:a16="http://schemas.microsoft.com/office/drawing/2014/main" id="{B9BB3274-842C-5EFD-A468-0AB6E075E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838200"/>
            <a:ext cx="259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800"/>
              <a:t>Medium</a:t>
            </a:r>
          </a:p>
          <a:p>
            <a:pPr eaLnBrk="1" hangingPunct="1"/>
            <a:r>
              <a:rPr lang="en-US" altLang="en-US" sz="2800"/>
              <a:t>Protocols</a:t>
            </a:r>
          </a:p>
        </p:txBody>
      </p:sp>
      <p:sp>
        <p:nvSpPr>
          <p:cNvPr id="21510" name="Rectangle 9">
            <a:extLst>
              <a:ext uri="{FF2B5EF4-FFF2-40B4-BE49-F238E27FC236}">
                <a16:creationId xmlns:a16="http://schemas.microsoft.com/office/drawing/2014/main" id="{226D4E1C-C1C5-9C26-21DA-64A4981D4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181600"/>
            <a:ext cx="6324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Effectiveness depends on:</a:t>
            </a:r>
          </a:p>
          <a:p>
            <a:pPr lvl="1" eaLnBrk="1" hangingPunct="1"/>
            <a:r>
              <a:rPr lang="en-US" altLang="en-US"/>
              <a:t>Delivery, Accuracy,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3">
            <a:extLst>
              <a:ext uri="{FF2B5EF4-FFF2-40B4-BE49-F238E27FC236}">
                <a16:creationId xmlns:a16="http://schemas.microsoft.com/office/drawing/2014/main" id="{8E6E794B-9522-C078-4A2A-C868DC026A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6364DB28-1055-6A0D-32EC-607A1335D6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56515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Data Representation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B5B61EE-B503-C407-6D6C-46AD6C9096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86800" cy="4114800"/>
          </a:xfrm>
        </p:spPr>
        <p:txBody>
          <a:bodyPr/>
          <a:lstStyle/>
          <a:p>
            <a:pPr eaLnBrk="1" hangingPunct="1"/>
            <a:r>
              <a:rPr lang="en-US" altLang="en-US"/>
              <a:t>Text – represented as a bit pattern; codes often used:</a:t>
            </a:r>
          </a:p>
          <a:p>
            <a:pPr eaLnBrk="1" hangingPunct="1"/>
            <a:r>
              <a:rPr lang="en-US" altLang="en-US"/>
              <a:t>Numbers – represented by binary equivalent</a:t>
            </a:r>
          </a:p>
          <a:p>
            <a:pPr eaLnBrk="1" hangingPunct="1"/>
            <a:r>
              <a:rPr lang="en-US" altLang="en-US"/>
              <a:t>Images – bit patterns representing pixels</a:t>
            </a:r>
          </a:p>
          <a:p>
            <a:pPr eaLnBrk="1" hangingPunct="1"/>
            <a:r>
              <a:rPr lang="en-US" altLang="en-US"/>
              <a:t>Audio</a:t>
            </a:r>
          </a:p>
          <a:p>
            <a:pPr eaLnBrk="1" hangingPunct="1"/>
            <a:r>
              <a:rPr lang="en-US" altLang="en-US"/>
              <a:t>Video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oter Placeholder 3">
            <a:extLst>
              <a:ext uri="{FF2B5EF4-FFF2-40B4-BE49-F238E27FC236}">
                <a16:creationId xmlns:a16="http://schemas.microsoft.com/office/drawing/2014/main" id="{B2534995-0E47-1476-BBFE-9F2B582733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1961E0E3-1298-654C-AA27-6A31B0572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Networks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58DE262-7E8A-39F7-7734-D5D22D1BFD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181600"/>
          </a:xfrm>
        </p:spPr>
        <p:txBody>
          <a:bodyPr/>
          <a:lstStyle/>
          <a:p>
            <a:pPr marL="533400" indent="-533400" eaLnBrk="1" hangingPunct="1"/>
            <a:r>
              <a:rPr lang="en-US" altLang="en-US"/>
              <a:t>Set of devices (nodes) connected by media</a:t>
            </a:r>
          </a:p>
          <a:p>
            <a:pPr marL="533400" indent="-533400" eaLnBrk="1" hangingPunct="1"/>
            <a:r>
              <a:rPr lang="en-US" altLang="en-US"/>
              <a:t>Sharing of Resources</a:t>
            </a:r>
          </a:p>
          <a:p>
            <a:pPr marL="533400" indent="-533400" eaLnBrk="1" hangingPunct="1"/>
            <a:r>
              <a:rPr lang="en-US" altLang="en-US"/>
              <a:t>Distributed processing</a:t>
            </a:r>
          </a:p>
          <a:p>
            <a:pPr marL="533400" indent="-533400" eaLnBrk="1" hangingPunct="1"/>
            <a:r>
              <a:rPr lang="en-US" altLang="en-US" b="1"/>
              <a:t>Network Criteria</a:t>
            </a:r>
          </a:p>
          <a:p>
            <a:pPr marL="933450" lvl="1" indent="-476250" eaLnBrk="1" hangingPunct="1"/>
            <a:r>
              <a:rPr lang="en-US" altLang="en-US" b="1"/>
              <a:t>Performance</a:t>
            </a:r>
            <a:r>
              <a:rPr lang="en-US" altLang="en-US"/>
              <a:t> – affected by # users, type of medium, HW/SW</a:t>
            </a:r>
          </a:p>
          <a:p>
            <a:pPr marL="933450" lvl="1" indent="-476250" eaLnBrk="1" hangingPunct="1"/>
            <a:r>
              <a:rPr lang="en-US" altLang="en-US" b="1"/>
              <a:t>Reliability</a:t>
            </a:r>
            <a:r>
              <a:rPr lang="en-US" altLang="en-US"/>
              <a:t> – Measured by freq of failure, recovery time, Vulnerability</a:t>
            </a:r>
          </a:p>
          <a:p>
            <a:pPr marL="933450" lvl="1" indent="-476250" eaLnBrk="1" hangingPunct="1"/>
            <a:r>
              <a:rPr lang="en-US" altLang="en-US" b="1"/>
              <a:t>Security </a:t>
            </a:r>
            <a:r>
              <a:rPr lang="en-US" altLang="en-US"/>
              <a:t>– Protection from unauthorized access, viruses/worms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5">
            <a:extLst>
              <a:ext uri="{FF2B5EF4-FFF2-40B4-BE49-F238E27FC236}">
                <a16:creationId xmlns:a16="http://schemas.microsoft.com/office/drawing/2014/main" id="{A2FBDE60-9684-1AE6-C572-2AA2130C3E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0798D3F5-1077-3726-E8D8-E8D546B63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Types of Connections</a:t>
            </a:r>
          </a:p>
        </p:txBody>
      </p:sp>
      <p:pic>
        <p:nvPicPr>
          <p:cNvPr id="24579" name="Picture 7">
            <a:extLst>
              <a:ext uri="{FF2B5EF4-FFF2-40B4-BE49-F238E27FC236}">
                <a16:creationId xmlns:a16="http://schemas.microsoft.com/office/drawing/2014/main" id="{F0B38D13-CC6C-A820-EFA3-5EFCA5928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763" y="1717675"/>
            <a:ext cx="6827837" cy="399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3">
            <a:extLst>
              <a:ext uri="{FF2B5EF4-FFF2-40B4-BE49-F238E27FC236}">
                <a16:creationId xmlns:a16="http://schemas.microsoft.com/office/drawing/2014/main" id="{FD36572D-105D-0944-8022-5DA60F5342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D2E43295-7C19-7EF4-AC43-279C4EDBF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Topology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94600A3D-0E7D-DDBE-5E02-DFAD62A72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772400" cy="2133600"/>
          </a:xfrm>
        </p:spPr>
        <p:txBody>
          <a:bodyPr/>
          <a:lstStyle/>
          <a:p>
            <a:pPr eaLnBrk="1" hangingPunct="1"/>
            <a:r>
              <a:rPr lang="en-US" altLang="en-US"/>
              <a:t>Physical or logical arrangement</a:t>
            </a:r>
          </a:p>
          <a:p>
            <a:pPr eaLnBrk="1" hangingPunct="1"/>
            <a:r>
              <a:rPr lang="en-US" altLang="en-US"/>
              <a:t>4 basic types: mesh, star, bus, ring</a:t>
            </a:r>
          </a:p>
          <a:p>
            <a:pPr eaLnBrk="1" hangingPunct="1"/>
            <a:r>
              <a:rPr lang="en-US" altLang="en-US"/>
              <a:t>May often see hybrid</a:t>
            </a:r>
          </a:p>
        </p:txBody>
      </p:sp>
      <p:pic>
        <p:nvPicPr>
          <p:cNvPr id="25604" name="Picture 4">
            <a:extLst>
              <a:ext uri="{FF2B5EF4-FFF2-40B4-BE49-F238E27FC236}">
                <a16:creationId xmlns:a16="http://schemas.microsoft.com/office/drawing/2014/main" id="{66B83946-FCFE-A256-7BDA-CA598DBF2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308350"/>
            <a:ext cx="6389688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Footer Placeholder 3">
            <a:extLst>
              <a:ext uri="{FF2B5EF4-FFF2-40B4-BE49-F238E27FC236}">
                <a16:creationId xmlns:a16="http://schemas.microsoft.com/office/drawing/2014/main" id="{9894EAFE-764B-A803-28ED-A84A0DE364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A6F6621F-125F-387E-80B9-3DAE386F1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35052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Mesh Topology</a:t>
            </a:r>
          </a:p>
        </p:txBody>
      </p:sp>
      <p:pic>
        <p:nvPicPr>
          <p:cNvPr id="26627" name="Picture 6">
            <a:extLst>
              <a:ext uri="{FF2B5EF4-FFF2-40B4-BE49-F238E27FC236}">
                <a16:creationId xmlns:a16="http://schemas.microsoft.com/office/drawing/2014/main" id="{9F10D80C-7BB4-BC33-E3CA-255DF4CB8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225" y="585788"/>
            <a:ext cx="4854575" cy="36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7">
            <a:extLst>
              <a:ext uri="{FF2B5EF4-FFF2-40B4-BE49-F238E27FC236}">
                <a16:creationId xmlns:a16="http://schemas.microsoft.com/office/drawing/2014/main" id="{FF524F2E-02BE-3840-6962-B6272898C4E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838200"/>
            <a:ext cx="3352800" cy="3657600"/>
          </a:xfrm>
          <a:noFill/>
        </p:spPr>
        <p:txBody>
          <a:bodyPr/>
          <a:lstStyle/>
          <a:p>
            <a:pPr eaLnBrk="1" hangingPunct="1"/>
            <a:r>
              <a:rPr lang="en-US" altLang="en-US" sz="2400"/>
              <a:t>Dedicated point-to-point links to every other device</a:t>
            </a:r>
          </a:p>
          <a:p>
            <a:pPr eaLnBrk="1" hangingPunct="1"/>
            <a:r>
              <a:rPr lang="en-US" altLang="en-US" sz="2400"/>
              <a:t>n(n-1)/2 physical channels to link n devices</a:t>
            </a:r>
          </a:p>
          <a:p>
            <a:pPr eaLnBrk="1" hangingPunct="1"/>
            <a:r>
              <a:rPr lang="en-US" altLang="en-US" sz="2400"/>
              <a:t>Every device on network must have n-1 I/O ports</a:t>
            </a:r>
          </a:p>
        </p:txBody>
      </p:sp>
      <p:sp>
        <p:nvSpPr>
          <p:cNvPr id="26629" name="Rectangle 9">
            <a:extLst>
              <a:ext uri="{FF2B5EF4-FFF2-40B4-BE49-F238E27FC236}">
                <a16:creationId xmlns:a16="http://schemas.microsoft.com/office/drawing/2014/main" id="{909F87FF-79C3-A1DE-EF35-E05F2C8BF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572000"/>
            <a:ext cx="85344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800" b="1"/>
              <a:t>Advantages:</a:t>
            </a:r>
            <a:r>
              <a:rPr lang="en-US" altLang="en-US" sz="2800"/>
              <a:t> </a:t>
            </a:r>
            <a:r>
              <a:rPr lang="en-US" altLang="en-US" sz="2400"/>
              <a:t>Dedicated links, Robust, Security and privacy, Easy fault identification and isolation</a:t>
            </a:r>
          </a:p>
          <a:p>
            <a:pPr eaLnBrk="1" hangingPunct="1"/>
            <a:r>
              <a:rPr lang="en-US" altLang="en-US" sz="2800" b="1"/>
              <a:t>Disadvantages:</a:t>
            </a:r>
            <a:r>
              <a:rPr lang="en-US" altLang="en-US" sz="2800"/>
              <a:t> </a:t>
            </a:r>
            <a:r>
              <a:rPr lang="en-US" altLang="en-US" sz="2400"/>
              <a:t>Bulk of wiring, No of I/O ports, expensive, Difficult installation and reconnection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3">
            <a:extLst>
              <a:ext uri="{FF2B5EF4-FFF2-40B4-BE49-F238E27FC236}">
                <a16:creationId xmlns:a16="http://schemas.microsoft.com/office/drawing/2014/main" id="{AF7E8305-1218-C11D-ABB9-1DB430FE77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C8E40066-C549-83C5-A3E7-9FF4C9740A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2819400" cy="685800"/>
          </a:xfrm>
        </p:spPr>
        <p:txBody>
          <a:bodyPr/>
          <a:lstStyle/>
          <a:p>
            <a:pPr eaLnBrk="1" hangingPunct="1"/>
            <a:r>
              <a:rPr lang="en-US" altLang="en-US" sz="3200" b="1" u="sng"/>
              <a:t>Star Topology</a:t>
            </a:r>
          </a:p>
        </p:txBody>
      </p:sp>
      <p:pic>
        <p:nvPicPr>
          <p:cNvPr id="27651" name="Picture 4">
            <a:extLst>
              <a:ext uri="{FF2B5EF4-FFF2-40B4-BE49-F238E27FC236}">
                <a16:creationId xmlns:a16="http://schemas.microsoft.com/office/drawing/2014/main" id="{67877814-5C2E-FA7B-F1B5-DB01BB7FC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661988"/>
            <a:ext cx="5905500" cy="314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Rectangle 5">
            <a:extLst>
              <a:ext uri="{FF2B5EF4-FFF2-40B4-BE49-F238E27FC236}">
                <a16:creationId xmlns:a16="http://schemas.microsoft.com/office/drawing/2014/main" id="{6AA82138-B7C7-3E24-C421-30627166DB3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219200"/>
            <a:ext cx="4114800" cy="2438400"/>
          </a:xfrm>
          <a:noFill/>
        </p:spPr>
        <p:txBody>
          <a:bodyPr/>
          <a:lstStyle/>
          <a:p>
            <a:pPr eaLnBrk="1" hangingPunct="1"/>
            <a:r>
              <a:rPr lang="en-US" altLang="en-US" sz="2800"/>
              <a:t>Dedicated point-to-point links to central controller (hub)</a:t>
            </a:r>
          </a:p>
          <a:p>
            <a:pPr eaLnBrk="1" hangingPunct="1"/>
            <a:r>
              <a:rPr lang="en-US" altLang="en-US" sz="2800"/>
              <a:t>Controller acts </a:t>
            </a:r>
            <a:br>
              <a:rPr lang="en-US" altLang="en-US" sz="2800"/>
            </a:br>
            <a:r>
              <a:rPr lang="en-US" altLang="en-US" sz="2800"/>
              <a:t>as exchange</a:t>
            </a:r>
          </a:p>
        </p:txBody>
      </p:sp>
      <p:sp>
        <p:nvSpPr>
          <p:cNvPr id="27653" name="Rectangle 6">
            <a:extLst>
              <a:ext uri="{FF2B5EF4-FFF2-40B4-BE49-F238E27FC236}">
                <a16:creationId xmlns:a16="http://schemas.microsoft.com/office/drawing/2014/main" id="{32EC3945-3218-56AE-743A-90C657689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038600"/>
            <a:ext cx="87630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800" b="1"/>
              <a:t>Advantages: </a:t>
            </a:r>
            <a:r>
              <a:rPr lang="en-US" altLang="en-US" sz="2800"/>
              <a:t>Less expensive then mesh, Easy to install and configure, robustness, easy fault isolation and identification</a:t>
            </a:r>
            <a:endParaRPr lang="en-US" altLang="en-US" sz="2800" b="1"/>
          </a:p>
          <a:p>
            <a:pPr eaLnBrk="1" hangingPunct="1"/>
            <a:r>
              <a:rPr lang="en-US" altLang="en-US" sz="2800" b="1"/>
              <a:t>Disadvantages: </a:t>
            </a:r>
            <a:r>
              <a:rPr lang="en-US" altLang="en-US" sz="2800"/>
              <a:t>More cabling required then ring and bus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3">
            <a:extLst>
              <a:ext uri="{FF2B5EF4-FFF2-40B4-BE49-F238E27FC236}">
                <a16:creationId xmlns:a16="http://schemas.microsoft.com/office/drawing/2014/main" id="{3698EB6B-EA5D-8470-32E5-A957ABB9A2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A8EC6159-08E2-7BBF-C8C2-7D51749298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Bus Topology</a:t>
            </a:r>
          </a:p>
        </p:txBody>
      </p:sp>
      <p:pic>
        <p:nvPicPr>
          <p:cNvPr id="28675" name="Picture 4">
            <a:extLst>
              <a:ext uri="{FF2B5EF4-FFF2-40B4-BE49-F238E27FC236}">
                <a16:creationId xmlns:a16="http://schemas.microsoft.com/office/drawing/2014/main" id="{5A48DD86-5E45-F02E-E33B-4B11C63EF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1143000"/>
            <a:ext cx="7888287" cy="166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Rectangle 5">
            <a:extLst>
              <a:ext uri="{FF2B5EF4-FFF2-40B4-BE49-F238E27FC236}">
                <a16:creationId xmlns:a16="http://schemas.microsoft.com/office/drawing/2014/main" id="{E1B2B1E8-C594-061D-710F-5BA7FB8DFF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3200400"/>
            <a:ext cx="8610600" cy="2971800"/>
          </a:xfrm>
          <a:noFill/>
        </p:spPr>
        <p:txBody>
          <a:bodyPr/>
          <a:lstStyle/>
          <a:p>
            <a:pPr eaLnBrk="1" hangingPunct="1"/>
            <a:r>
              <a:rPr lang="en-US" altLang="en-US" sz="2800"/>
              <a:t>Multipoint configuration</a:t>
            </a:r>
          </a:p>
          <a:p>
            <a:pPr eaLnBrk="1" hangingPunct="1"/>
            <a:r>
              <a:rPr lang="en-US" altLang="en-US" sz="2800"/>
              <a:t>One cable acts as a backbone to link all devices</a:t>
            </a:r>
          </a:p>
          <a:p>
            <a:pPr eaLnBrk="1" hangingPunct="1"/>
            <a:r>
              <a:rPr lang="en-US" altLang="en-US" sz="2800" b="1"/>
              <a:t>Advantages: </a:t>
            </a:r>
            <a:r>
              <a:rPr lang="en-US" altLang="en-US" sz="2400"/>
              <a:t>Less cabling, Easy to install and reconfigure</a:t>
            </a:r>
            <a:endParaRPr lang="en-US" altLang="en-US" sz="2800" b="1"/>
          </a:p>
          <a:p>
            <a:pPr eaLnBrk="1" hangingPunct="1"/>
            <a:r>
              <a:rPr lang="en-US" altLang="en-US" sz="2800" b="1"/>
              <a:t>Disadvantages:</a:t>
            </a:r>
            <a:r>
              <a:rPr lang="en-US" altLang="en-US" sz="2800"/>
              <a:t> </a:t>
            </a:r>
            <a:r>
              <a:rPr lang="en-US" altLang="en-US" sz="2400"/>
              <a:t>Limited no of taps supported, Difficult reconnection and fault isolation, Break in bus cable stops all transmision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ooter Placeholder 3">
            <a:extLst>
              <a:ext uri="{FF2B5EF4-FFF2-40B4-BE49-F238E27FC236}">
                <a16:creationId xmlns:a16="http://schemas.microsoft.com/office/drawing/2014/main" id="{8ECAA412-7114-77E5-B6EF-1175585414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B5EC9660-B449-7BA9-8D5D-CDDA9FC74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Ring Topology</a:t>
            </a:r>
          </a:p>
        </p:txBody>
      </p:sp>
      <p:pic>
        <p:nvPicPr>
          <p:cNvPr id="29699" name="Picture 4">
            <a:extLst>
              <a:ext uri="{FF2B5EF4-FFF2-40B4-BE49-F238E27FC236}">
                <a16:creationId xmlns:a16="http://schemas.microsoft.com/office/drawing/2014/main" id="{799DEE88-8455-04F3-93AF-DA94232CB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941388"/>
            <a:ext cx="8593137" cy="309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Rectangle 5">
            <a:extLst>
              <a:ext uri="{FF2B5EF4-FFF2-40B4-BE49-F238E27FC236}">
                <a16:creationId xmlns:a16="http://schemas.microsoft.com/office/drawing/2014/main" id="{995661A4-558B-ABEE-A322-3A6BFD3F35C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4191000"/>
            <a:ext cx="8610600" cy="2286000"/>
          </a:xfrm>
          <a:noFill/>
        </p:spPr>
        <p:txBody>
          <a:bodyPr/>
          <a:lstStyle/>
          <a:p>
            <a:pPr eaLnBrk="1" hangingPunct="1"/>
            <a:r>
              <a:rPr lang="en-US" altLang="en-US" sz="2400"/>
              <a:t>Dedicated point-to-point configuration to neighbors</a:t>
            </a:r>
          </a:p>
          <a:p>
            <a:pPr eaLnBrk="1" hangingPunct="1"/>
            <a:r>
              <a:rPr lang="en-US" altLang="en-US" sz="2400"/>
              <a:t>Signal is passed from device to device until it reaches destination</a:t>
            </a:r>
          </a:p>
          <a:p>
            <a:pPr eaLnBrk="1" hangingPunct="1"/>
            <a:r>
              <a:rPr lang="en-US" altLang="en-US" sz="2400"/>
              <a:t>Each device functions as a repeater</a:t>
            </a:r>
          </a:p>
          <a:p>
            <a:pPr eaLnBrk="1" hangingPunct="1"/>
            <a:r>
              <a:rPr lang="en-US" altLang="en-US" sz="2400" b="1"/>
              <a:t>Advantages: </a:t>
            </a:r>
            <a:r>
              <a:rPr lang="en-US" altLang="en-US" sz="2400"/>
              <a:t>Less cabling, Easy to install and reconfigure</a:t>
            </a:r>
            <a:endParaRPr lang="en-US" altLang="en-US" sz="2400" b="1"/>
          </a:p>
          <a:p>
            <a:pPr eaLnBrk="1" hangingPunct="1"/>
            <a:r>
              <a:rPr lang="en-US" altLang="en-US" sz="2400" b="1"/>
              <a:t>Disadvantages:</a:t>
            </a:r>
            <a:r>
              <a:rPr lang="en-US" altLang="en-US" sz="2400"/>
              <a:t> Break in the ring and disable entire network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3">
            <a:extLst>
              <a:ext uri="{FF2B5EF4-FFF2-40B4-BE49-F238E27FC236}">
                <a16:creationId xmlns:a16="http://schemas.microsoft.com/office/drawing/2014/main" id="{2024F2B8-EBC9-7D12-24C5-FCA4CEEC0E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A9DA0D1E-8CD6-D2EC-A7E5-B26F772FD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Hybrid Topology</a:t>
            </a:r>
          </a:p>
        </p:txBody>
      </p:sp>
      <p:pic>
        <p:nvPicPr>
          <p:cNvPr id="30723" name="Picture 4">
            <a:extLst>
              <a:ext uri="{FF2B5EF4-FFF2-40B4-BE49-F238E27FC236}">
                <a16:creationId xmlns:a16="http://schemas.microsoft.com/office/drawing/2014/main" id="{01B32463-4931-DD70-999E-F3C81DC2E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1490663"/>
            <a:ext cx="6883400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oter Placeholder 4">
            <a:extLst>
              <a:ext uri="{FF2B5EF4-FFF2-40B4-BE49-F238E27FC236}">
                <a16:creationId xmlns:a16="http://schemas.microsoft.com/office/drawing/2014/main" id="{E821B5C6-9368-8E5F-0362-AB189CABA6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243AF66D-5B31-D030-9116-B4F0C8AFF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Internetworks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3AD2E520-FB70-999F-1FA0-42515D0A34C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143000"/>
            <a:ext cx="7772400" cy="1981200"/>
          </a:xfrm>
        </p:spPr>
        <p:txBody>
          <a:bodyPr/>
          <a:lstStyle/>
          <a:p>
            <a:pPr eaLnBrk="1" hangingPunct="1"/>
            <a:r>
              <a:rPr lang="en-US" altLang="en-US"/>
              <a:t>Connection of two or more networks</a:t>
            </a:r>
          </a:p>
          <a:p>
            <a:pPr eaLnBrk="1" hangingPunct="1"/>
            <a:r>
              <a:rPr lang="en-US" altLang="en-US"/>
              <a:t>Internet vs. intranet</a:t>
            </a:r>
          </a:p>
        </p:txBody>
      </p:sp>
      <p:pic>
        <p:nvPicPr>
          <p:cNvPr id="31748" name="Picture 4">
            <a:extLst>
              <a:ext uri="{FF2B5EF4-FFF2-40B4-BE49-F238E27FC236}">
                <a16:creationId xmlns:a16="http://schemas.microsoft.com/office/drawing/2014/main" id="{C29368C4-56C6-026D-D6E7-25DC948B995C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2906713"/>
            <a:ext cx="7467600" cy="3078162"/>
          </a:xfr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3">
            <a:extLst>
              <a:ext uri="{FF2B5EF4-FFF2-40B4-BE49-F238E27FC236}">
                <a16:creationId xmlns:a16="http://schemas.microsoft.com/office/drawing/2014/main" id="{0CBDC2D7-5CAC-4921-7DB0-34DBB24EA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50B93EFE-BE67-AF84-3698-A56AA6BDE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The Internet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1C033710-2CC2-CB06-F6D6-A13FB5578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3962400"/>
          </a:xfrm>
        </p:spPr>
        <p:txBody>
          <a:bodyPr/>
          <a:lstStyle/>
          <a:p>
            <a:pPr eaLnBrk="1" hangingPunct="1"/>
            <a:r>
              <a:rPr lang="en-US" altLang="en-US"/>
              <a:t>Collaboration of more than hundreds of thousands of interconnected networks</a:t>
            </a:r>
          </a:p>
          <a:p>
            <a:pPr eaLnBrk="1" hangingPunct="1"/>
            <a:r>
              <a:rPr lang="en-US" altLang="en-US"/>
              <a:t>1969 – started as ARPAnet, a small network of connected computers</a:t>
            </a:r>
          </a:p>
          <a:p>
            <a:pPr eaLnBrk="1" hangingPunct="1"/>
            <a:r>
              <a:rPr lang="en-US" altLang="en-US"/>
              <a:t>1972 - Cerf and Kahn – packet delivery and Transmission Control Protocol (TCP)</a:t>
            </a:r>
          </a:p>
          <a:p>
            <a:pPr eaLnBrk="1" hangingPunct="1"/>
            <a:r>
              <a:rPr lang="en-US" altLang="en-US"/>
              <a:t>Shortly thereafter – evolution of TCP/IP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3">
            <a:extLst>
              <a:ext uri="{FF2B5EF4-FFF2-40B4-BE49-F238E27FC236}">
                <a16:creationId xmlns:a16="http://schemas.microsoft.com/office/drawing/2014/main" id="{EE54F805-FD7A-FFBA-42AE-5B93E681D8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209B05EA-F0C3-782B-398D-E4E1BF57D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sz="2800" b="1" i="1" u="sng">
                <a:solidFill>
                  <a:schemeClr val="tx1"/>
                </a:solidFill>
              </a:rPr>
              <a:t>Hierarchical organization of the Internet</a:t>
            </a:r>
          </a:p>
        </p:txBody>
      </p:sp>
      <p:pic>
        <p:nvPicPr>
          <p:cNvPr id="33795" name="Picture 5">
            <a:extLst>
              <a:ext uri="{FF2B5EF4-FFF2-40B4-BE49-F238E27FC236}">
                <a16:creationId xmlns:a16="http://schemas.microsoft.com/office/drawing/2014/main" id="{8AA85C5B-6FEA-4AC8-02B8-286157B1E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742950"/>
            <a:ext cx="6324600" cy="584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3">
            <a:extLst>
              <a:ext uri="{FF2B5EF4-FFF2-40B4-BE49-F238E27FC236}">
                <a16:creationId xmlns:a16="http://schemas.microsoft.com/office/drawing/2014/main" id="{D6FF7D85-960F-AB9B-B992-8AE2869DFB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FC2265CD-F7C2-1CE5-18A5-DDDBCB8B2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Protocols and Standards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A1DF74F-1C0E-84CF-C135-B154A25DA7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001000" cy="5334000"/>
          </a:xfrm>
        </p:spPr>
        <p:txBody>
          <a:bodyPr/>
          <a:lstStyle/>
          <a:p>
            <a:pPr eaLnBrk="1" hangingPunct="1"/>
            <a:r>
              <a:rPr lang="en-US" altLang="en-US"/>
              <a:t>Why do we need them?</a:t>
            </a:r>
          </a:p>
          <a:p>
            <a:pPr eaLnBrk="1" hangingPunct="1"/>
            <a:r>
              <a:rPr lang="en-US" altLang="en-US"/>
              <a:t>Protocol – set of rules that govern data communication; defines what, how, and when</a:t>
            </a:r>
          </a:p>
          <a:p>
            <a:pPr lvl="1" eaLnBrk="1" hangingPunct="1"/>
            <a:r>
              <a:rPr lang="en-US" altLang="en-US"/>
              <a:t>Key elements – syntax, semantics, timing</a:t>
            </a:r>
          </a:p>
          <a:p>
            <a:pPr lvl="1" eaLnBrk="1" hangingPunct="1"/>
            <a:r>
              <a:rPr lang="en-US" altLang="en-US"/>
              <a:t>Syntax: structure / format of data</a:t>
            </a:r>
          </a:p>
          <a:p>
            <a:pPr lvl="1" eaLnBrk="1" hangingPunct="1"/>
            <a:r>
              <a:rPr lang="en-US" altLang="en-US"/>
              <a:t>Semantics: meaning of each section of bits</a:t>
            </a:r>
          </a:p>
          <a:p>
            <a:pPr lvl="1" eaLnBrk="1" hangingPunct="1"/>
            <a:r>
              <a:rPr lang="en-US" altLang="en-US"/>
              <a:t>Timing: when and how fast data should be sent</a:t>
            </a:r>
          </a:p>
          <a:p>
            <a:pPr eaLnBrk="1" hangingPunct="1"/>
            <a:r>
              <a:rPr lang="en-US" altLang="en-US"/>
              <a:t>Standard – provides a model for development; allows for interoperability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Footer Placeholder 3">
            <a:extLst>
              <a:ext uri="{FF2B5EF4-FFF2-40B4-BE49-F238E27FC236}">
                <a16:creationId xmlns:a16="http://schemas.microsoft.com/office/drawing/2014/main" id="{9CDB7FB9-C4A3-A8E8-03D4-D530ED94FD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FC591A88-8FA6-F3C4-7D04-1932FE9461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Standards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6B96D42-6A50-AFAE-BB7B-8AB968AE8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7772400" cy="594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Types –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De jure/Formal (by law/regulation) – legislated by an officially recognized body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De facto (by fact/convention) – by convention or widespread use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Standards Organizations – committees, forums, regulatory agencies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ISO, ITU-T, ANSI, IEEE, EIA are some of the organizations involved with standards creations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Internet Standards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Drafts (working document …. In progress …)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RFC Process (published draft)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3">
            <a:extLst>
              <a:ext uri="{FF2B5EF4-FFF2-40B4-BE49-F238E27FC236}">
                <a16:creationId xmlns:a16="http://schemas.microsoft.com/office/drawing/2014/main" id="{8C6ADA3B-3649-FCFE-5C13-2CE2C70397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58101335-2048-3025-8C12-CC7DA60C38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Layered Tasks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BD16003-BD6B-E75D-2FBF-C0A60A75EE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29718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2800"/>
              <a:t>We use the concept of layers in our daily life. </a:t>
            </a:r>
          </a:p>
          <a:p>
            <a:pPr>
              <a:spcBef>
                <a:spcPct val="0"/>
              </a:spcBef>
            </a:pPr>
            <a:r>
              <a:rPr lang="en-US" altLang="en-US" sz="2800"/>
              <a:t>As an example, let us consider two friends who communicate through postal mail. </a:t>
            </a:r>
          </a:p>
          <a:p>
            <a:pPr>
              <a:spcBef>
                <a:spcPct val="0"/>
              </a:spcBef>
            </a:pPr>
            <a:r>
              <a:rPr lang="en-US" altLang="en-US" sz="2800"/>
              <a:t>The process of sending a letter to a friend would be complex if there were no services available from the post office.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Footer Placeholder 3">
            <a:extLst>
              <a:ext uri="{FF2B5EF4-FFF2-40B4-BE49-F238E27FC236}">
                <a16:creationId xmlns:a16="http://schemas.microsoft.com/office/drawing/2014/main" id="{1DE46D4D-2676-B04D-4637-631991278B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46B741D9-2418-F105-96D0-33C4850AD2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200" b="1" u="sng">
                <a:solidFill>
                  <a:schemeClr val="tx1"/>
                </a:solidFill>
              </a:rPr>
              <a:t>Tasks involved in sending a letter</a:t>
            </a:r>
          </a:p>
        </p:txBody>
      </p:sp>
      <p:pic>
        <p:nvPicPr>
          <p:cNvPr id="37891" name="Picture 5">
            <a:extLst>
              <a:ext uri="{FF2B5EF4-FFF2-40B4-BE49-F238E27FC236}">
                <a16:creationId xmlns:a16="http://schemas.microsoft.com/office/drawing/2014/main" id="{F9FBEB7B-E6F3-7C92-137B-2E3B0DBD5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771525"/>
            <a:ext cx="6629400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3">
            <a:extLst>
              <a:ext uri="{FF2B5EF4-FFF2-40B4-BE49-F238E27FC236}">
                <a16:creationId xmlns:a16="http://schemas.microsoft.com/office/drawing/2014/main" id="{9C7870C5-CA0E-20BE-FC58-D825EB06A6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564F245D-48E3-1607-523A-06E894C077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The OSI Model 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B675B25-6616-B383-497D-95A782AFC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105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/>
              <a:t>International Standards Organization (ISO) is a multinational body dedicated to worldwide agreement on international standards. </a:t>
            </a:r>
          </a:p>
          <a:p>
            <a:pPr>
              <a:spcBef>
                <a:spcPct val="0"/>
              </a:spcBef>
            </a:pPr>
            <a:r>
              <a:rPr lang="en-US" altLang="en-US"/>
              <a:t>An ISO standard that covers all aspects of network communications is the Open Systems Interconnection (OSI) model. </a:t>
            </a:r>
          </a:p>
          <a:p>
            <a:pPr>
              <a:spcBef>
                <a:spcPct val="0"/>
              </a:spcBef>
            </a:pPr>
            <a:r>
              <a:rPr lang="en-US" altLang="en-US"/>
              <a:t>It was first introduced in the late 1970s</a:t>
            </a:r>
          </a:p>
          <a:p>
            <a:pPr>
              <a:spcBef>
                <a:spcPct val="0"/>
              </a:spcBef>
            </a:pPr>
            <a:r>
              <a:rPr lang="en-US" altLang="en-US"/>
              <a:t>ISO is the organization</a:t>
            </a:r>
          </a:p>
          <a:p>
            <a:pPr>
              <a:spcBef>
                <a:spcPct val="0"/>
              </a:spcBef>
            </a:pPr>
            <a:r>
              <a:rPr lang="en-US" altLang="en-US"/>
              <a:t>OSI is the Model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Footer Placeholder 3">
            <a:extLst>
              <a:ext uri="{FF2B5EF4-FFF2-40B4-BE49-F238E27FC236}">
                <a16:creationId xmlns:a16="http://schemas.microsoft.com/office/drawing/2014/main" id="{6B64D239-84D4-024F-1839-3EF6EAA66C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B10FE583-CA1A-CFCC-0BD0-E8F3BCF675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200" b="1" u="sng">
                <a:solidFill>
                  <a:schemeClr val="tx1"/>
                </a:solidFill>
              </a:rPr>
              <a:t>Seven layers of the OSI model</a:t>
            </a:r>
          </a:p>
        </p:txBody>
      </p:sp>
      <p:pic>
        <p:nvPicPr>
          <p:cNvPr id="39939" name="Picture 4">
            <a:extLst>
              <a:ext uri="{FF2B5EF4-FFF2-40B4-BE49-F238E27FC236}">
                <a16:creationId xmlns:a16="http://schemas.microsoft.com/office/drawing/2014/main" id="{6F9F11D4-41DB-0BC7-B936-6016043C5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990600"/>
            <a:ext cx="5345113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1">
            <a:extLst>
              <a:ext uri="{FF2B5EF4-FFF2-40B4-BE49-F238E27FC236}">
                <a16:creationId xmlns:a16="http://schemas.microsoft.com/office/drawing/2014/main" id="{D01ABB7F-5B7A-DB71-00B7-5FDEEA2EE3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pic>
        <p:nvPicPr>
          <p:cNvPr id="40962" name="Picture 40">
            <a:extLst>
              <a:ext uri="{FF2B5EF4-FFF2-40B4-BE49-F238E27FC236}">
                <a16:creationId xmlns:a16="http://schemas.microsoft.com/office/drawing/2014/main" id="{6CAB4103-FA91-0DA6-7709-C18802656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795338"/>
            <a:ext cx="7772400" cy="575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Rectangle 41">
            <a:extLst>
              <a:ext uri="{FF2B5EF4-FFF2-40B4-BE49-F238E27FC236}">
                <a16:creationId xmlns:a16="http://schemas.microsoft.com/office/drawing/2014/main" id="{4BBB6830-9947-AD0B-4409-A2C9A99A7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0"/>
            <a:ext cx="8915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u="sng"/>
              <a:t>The interaction between layers in the OSI model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Footer Placeholder 1">
            <a:extLst>
              <a:ext uri="{FF2B5EF4-FFF2-40B4-BE49-F238E27FC236}">
                <a16:creationId xmlns:a16="http://schemas.microsoft.com/office/drawing/2014/main" id="{B0837F8A-F7A9-DFED-19FE-247FA87626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pic>
        <p:nvPicPr>
          <p:cNvPr id="41986" name="Picture 1029">
            <a:extLst>
              <a:ext uri="{FF2B5EF4-FFF2-40B4-BE49-F238E27FC236}">
                <a16:creationId xmlns:a16="http://schemas.microsoft.com/office/drawing/2014/main" id="{562C3A48-8F0B-0F97-2204-D65D429D1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44600"/>
            <a:ext cx="8285163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1030">
            <a:extLst>
              <a:ext uri="{FF2B5EF4-FFF2-40B4-BE49-F238E27FC236}">
                <a16:creationId xmlns:a16="http://schemas.microsoft.com/office/drawing/2014/main" id="{47433E7B-AD47-178B-FF5A-74A72E43E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0"/>
            <a:ext cx="8915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u="sng"/>
              <a:t>An exchange using the OSI model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1">
            <a:extLst>
              <a:ext uri="{FF2B5EF4-FFF2-40B4-BE49-F238E27FC236}">
                <a16:creationId xmlns:a16="http://schemas.microsoft.com/office/drawing/2014/main" id="{091F2599-BAE4-1191-3A92-5D1C87D3DF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15A2882E-2AAC-F98F-5DD1-D8685E44F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07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8C46AF4-BC21-823F-CB1A-14E8FC5A0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0775"/>
            <a:ext cx="9144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lvl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3012" name="AutoShape 4" descr="G0Tui08">
            <a:extLst>
              <a:ext uri="{FF2B5EF4-FFF2-40B4-BE49-F238E27FC236}">
                <a16:creationId xmlns:a16="http://schemas.microsoft.com/office/drawing/2014/main" id="{B85DFDD8-B4AD-1E4D-CD91-982C362CC2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1120775"/>
            <a:ext cx="4618038" cy="461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22DEEED3-5CED-F45D-07B9-5E1ABCFD7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43100"/>
            <a:ext cx="9144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24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BD9516B4-943D-9AC3-6BEE-F98811339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65425"/>
            <a:ext cx="9144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aphicFrame>
        <p:nvGraphicFramePr>
          <p:cNvPr id="43015" name="Object 7">
            <a:extLst>
              <a:ext uri="{FF2B5EF4-FFF2-40B4-BE49-F238E27FC236}">
                <a16:creationId xmlns:a16="http://schemas.microsoft.com/office/drawing/2014/main" id="{70478F0A-87B0-3747-A16B-B17F00E161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723900"/>
          <a:ext cx="7772400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982006" imgH="2771429" progId="Paint.Picture">
                  <p:embed/>
                </p:oleObj>
              </mc:Choice>
              <mc:Fallback>
                <p:oleObj name="Bitmap Image" r:id="rId2" imgW="3982006" imgH="2771429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23900"/>
                        <a:ext cx="7772400" cy="541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Footer Placeholder 1">
            <a:extLst>
              <a:ext uri="{FF2B5EF4-FFF2-40B4-BE49-F238E27FC236}">
                <a16:creationId xmlns:a16="http://schemas.microsoft.com/office/drawing/2014/main" id="{3A8DE174-9861-692D-C8A2-08A47E2382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44034" name="Text Box 2">
            <a:extLst>
              <a:ext uri="{FF2B5EF4-FFF2-40B4-BE49-F238E27FC236}">
                <a16:creationId xmlns:a16="http://schemas.microsoft.com/office/drawing/2014/main" id="{8A8D4794-F5CD-0F23-85A6-B5F8DB4D0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308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Figure 21-2</a:t>
            </a:r>
          </a:p>
        </p:txBody>
      </p:sp>
      <p:pic>
        <p:nvPicPr>
          <p:cNvPr id="44035" name="Picture 3">
            <a:extLst>
              <a:ext uri="{FF2B5EF4-FFF2-40B4-BE49-F238E27FC236}">
                <a16:creationId xmlns:a16="http://schemas.microsoft.com/office/drawing/2014/main" id="{309F7515-9D68-797E-57A0-3F2A47CEB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1981200"/>
            <a:ext cx="8181975" cy="278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Text Box 4">
            <a:extLst>
              <a:ext uri="{FF2B5EF4-FFF2-40B4-BE49-F238E27FC236}">
                <a16:creationId xmlns:a16="http://schemas.microsoft.com/office/drawing/2014/main" id="{81F14611-D54A-6533-60A4-813DFF305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715963"/>
            <a:ext cx="6991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chemeClr val="accent2"/>
                </a:solidFill>
              </a:rPr>
              <a:t>Connecting Devices and the OSI Model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Footer Placeholder 1">
            <a:extLst>
              <a:ext uri="{FF2B5EF4-FFF2-40B4-BE49-F238E27FC236}">
                <a16:creationId xmlns:a16="http://schemas.microsoft.com/office/drawing/2014/main" id="{EF948523-DAC3-8A02-37F8-094907E225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45058" name="Text Box 4">
            <a:extLst>
              <a:ext uri="{FF2B5EF4-FFF2-40B4-BE49-F238E27FC236}">
                <a16:creationId xmlns:a16="http://schemas.microsoft.com/office/drawing/2014/main" id="{BB43B170-5FCA-1D04-490B-D4D76A8BD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029200"/>
            <a:ext cx="77374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The Physical layer is responsible for transmitting </a:t>
            </a:r>
            <a:br>
              <a:rPr lang="en-US" altLang="en-US" sz="2800" b="1"/>
            </a:br>
            <a:r>
              <a:rPr lang="en-US" altLang="en-US" sz="2800" b="1"/>
              <a:t>individual bits from one node to the next</a:t>
            </a:r>
          </a:p>
        </p:txBody>
      </p:sp>
      <p:sp>
        <p:nvSpPr>
          <p:cNvPr id="45059" name="Rectangle 5">
            <a:extLst>
              <a:ext uri="{FF2B5EF4-FFF2-40B4-BE49-F238E27FC236}">
                <a16:creationId xmlns:a16="http://schemas.microsoft.com/office/drawing/2014/main" id="{22DBED11-3E72-B0E6-BFD1-AE3DE4A20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2900" y="76200"/>
            <a:ext cx="276701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u="sng"/>
              <a:t>Physical Layer</a:t>
            </a:r>
          </a:p>
        </p:txBody>
      </p:sp>
      <p:pic>
        <p:nvPicPr>
          <p:cNvPr id="45060" name="Picture 6">
            <a:extLst>
              <a:ext uri="{FF2B5EF4-FFF2-40B4-BE49-F238E27FC236}">
                <a16:creationId xmlns:a16="http://schemas.microsoft.com/office/drawing/2014/main" id="{515AA322-F4C0-684E-5A87-2377A08D3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587500"/>
            <a:ext cx="862965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3">
            <a:extLst>
              <a:ext uri="{FF2B5EF4-FFF2-40B4-BE49-F238E27FC236}">
                <a16:creationId xmlns:a16="http://schemas.microsoft.com/office/drawing/2014/main" id="{06FA44AC-39DC-9325-11D2-9A02321571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12E7B65F-14ED-5D70-314B-5460AFB58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Duties of Physical Layer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2D83F346-54B3-5105-7325-B623DF74B6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Physical characteristics of interfaces and media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Representation of bits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Bits must be encoded/modulated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Data rate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Define duration of bit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Synchronization of bits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Sender/Receiver must be synchronized at bit level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Footer Placeholder 1">
            <a:extLst>
              <a:ext uri="{FF2B5EF4-FFF2-40B4-BE49-F238E27FC236}">
                <a16:creationId xmlns:a16="http://schemas.microsoft.com/office/drawing/2014/main" id="{406CFF7A-F4EC-0A4C-02CE-D30313DC87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48130" name="Text Box 4">
            <a:extLst>
              <a:ext uri="{FF2B5EF4-FFF2-40B4-BE49-F238E27FC236}">
                <a16:creationId xmlns:a16="http://schemas.microsoft.com/office/drawing/2014/main" id="{C5B3917C-F4F9-DD78-FAA0-411230AE7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648200"/>
            <a:ext cx="7315200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b="1" i="1"/>
              <a:t>Hop-to-hop or Node-to-node delivery</a:t>
            </a:r>
            <a:br>
              <a:rPr lang="en-US" altLang="en-US" sz="2800" b="1"/>
            </a:br>
            <a:r>
              <a:rPr lang="en-US" altLang="en-US" sz="2800" b="1"/>
              <a:t>The data link layer is responsible for transmitting frames from one node to the next</a:t>
            </a:r>
          </a:p>
        </p:txBody>
      </p:sp>
      <p:sp>
        <p:nvSpPr>
          <p:cNvPr id="48131" name="Rectangle 5">
            <a:extLst>
              <a:ext uri="{FF2B5EF4-FFF2-40B4-BE49-F238E27FC236}">
                <a16:creationId xmlns:a16="http://schemas.microsoft.com/office/drawing/2014/main" id="{BDC746B1-BEDD-778B-EC56-8F63BFCE4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76200"/>
            <a:ext cx="309403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u="sng"/>
              <a:t>Data Link Layer</a:t>
            </a:r>
          </a:p>
        </p:txBody>
      </p:sp>
      <p:pic>
        <p:nvPicPr>
          <p:cNvPr id="48132" name="Picture 6">
            <a:extLst>
              <a:ext uri="{FF2B5EF4-FFF2-40B4-BE49-F238E27FC236}">
                <a16:creationId xmlns:a16="http://schemas.microsoft.com/office/drawing/2014/main" id="{73114D41-DF78-63B0-B8E1-7B4A2DBC4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95400"/>
            <a:ext cx="8875713" cy="29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Footer Placeholder 3">
            <a:extLst>
              <a:ext uri="{FF2B5EF4-FFF2-40B4-BE49-F238E27FC236}">
                <a16:creationId xmlns:a16="http://schemas.microsoft.com/office/drawing/2014/main" id="{9CA3AA15-97BB-C8B4-0769-C4E8BA72A1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04DE6A34-1DC1-D8CA-6652-F64C77C51E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Duties of Data Link Layer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9B4B7C58-A029-A58A-E25D-28BD9E0ED1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495800"/>
          </a:xfrm>
        </p:spPr>
        <p:txBody>
          <a:bodyPr/>
          <a:lstStyle/>
          <a:p>
            <a:pPr eaLnBrk="1" hangingPunct="1"/>
            <a:r>
              <a:rPr lang="en-US" altLang="en-US"/>
              <a:t>Framing</a:t>
            </a:r>
          </a:p>
          <a:p>
            <a:pPr eaLnBrk="1" hangingPunct="1"/>
            <a:r>
              <a:rPr lang="en-US" altLang="en-US"/>
              <a:t>Physical addressing (MAC)</a:t>
            </a:r>
          </a:p>
          <a:p>
            <a:pPr eaLnBrk="1" hangingPunct="1"/>
            <a:r>
              <a:rPr lang="en-US" altLang="en-US"/>
              <a:t>Flow Control</a:t>
            </a:r>
          </a:p>
          <a:p>
            <a:pPr lvl="1" eaLnBrk="1" hangingPunct="1"/>
            <a:r>
              <a:rPr lang="en-US" altLang="en-US"/>
              <a:t>To prevent overwhelming the receiver</a:t>
            </a:r>
          </a:p>
          <a:p>
            <a:pPr eaLnBrk="1" hangingPunct="1"/>
            <a:r>
              <a:rPr lang="en-US" altLang="en-US"/>
              <a:t>Error Control</a:t>
            </a:r>
          </a:p>
          <a:p>
            <a:pPr eaLnBrk="1" hangingPunct="1"/>
            <a:r>
              <a:rPr lang="en-US" altLang="en-US"/>
              <a:t>Access Control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Footer Placeholder 1">
            <a:extLst>
              <a:ext uri="{FF2B5EF4-FFF2-40B4-BE49-F238E27FC236}">
                <a16:creationId xmlns:a16="http://schemas.microsoft.com/office/drawing/2014/main" id="{A03A45D6-83A8-7547-CF1A-9062F9E5F8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BD64D04B-9E39-F1CB-26A0-AEF209E3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300" y="76200"/>
            <a:ext cx="36893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u="sng"/>
              <a:t>Hop-to-hop delivery</a:t>
            </a:r>
          </a:p>
        </p:txBody>
      </p:sp>
      <p:pic>
        <p:nvPicPr>
          <p:cNvPr id="50179" name="Picture 4">
            <a:extLst>
              <a:ext uri="{FF2B5EF4-FFF2-40B4-BE49-F238E27FC236}">
                <a16:creationId xmlns:a16="http://schemas.microsoft.com/office/drawing/2014/main" id="{C1751018-BFC7-AD92-85B7-26B0D641E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838200"/>
            <a:ext cx="7239000" cy="533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Footer Placeholder 1">
            <a:extLst>
              <a:ext uri="{FF2B5EF4-FFF2-40B4-BE49-F238E27FC236}">
                <a16:creationId xmlns:a16="http://schemas.microsoft.com/office/drawing/2014/main" id="{C4FF172A-9966-F394-423F-77D39756BC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pic>
        <p:nvPicPr>
          <p:cNvPr id="51202" name="Picture 2">
            <a:extLst>
              <a:ext uri="{FF2B5EF4-FFF2-40B4-BE49-F238E27FC236}">
                <a16:creationId xmlns:a16="http://schemas.microsoft.com/office/drawing/2014/main" id="{66129EEB-D28A-5B8C-DD5A-9E40B8B33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2133600"/>
            <a:ext cx="8458200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Rectangle 4">
            <a:extLst>
              <a:ext uri="{FF2B5EF4-FFF2-40B4-BE49-F238E27FC236}">
                <a16:creationId xmlns:a16="http://schemas.microsoft.com/office/drawing/2014/main" id="{AF6395A7-98AC-75F2-1419-8BCBFEEE2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300" y="76200"/>
            <a:ext cx="47307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u="sng"/>
              <a:t>Data Link Layer Example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Footer Placeholder 1">
            <a:extLst>
              <a:ext uri="{FF2B5EF4-FFF2-40B4-BE49-F238E27FC236}">
                <a16:creationId xmlns:a16="http://schemas.microsoft.com/office/drawing/2014/main" id="{8D7BBA55-BFAB-5EAC-CFD4-A5D9085B20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52226" name="Text Box 4">
            <a:extLst>
              <a:ext uri="{FF2B5EF4-FFF2-40B4-BE49-F238E27FC236}">
                <a16:creationId xmlns:a16="http://schemas.microsoft.com/office/drawing/2014/main" id="{571D3287-2F74-053D-588C-0B6AF82AA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908550"/>
            <a:ext cx="8077200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The network layer is responsible for the </a:t>
            </a:r>
            <a:br>
              <a:rPr lang="en-US" altLang="en-US"/>
            </a:br>
            <a:r>
              <a:rPr lang="en-US" altLang="en-US"/>
              <a:t>delivery of individual packets from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the </a:t>
            </a:r>
            <a:r>
              <a:rPr lang="en-US" altLang="en-US" b="1"/>
              <a:t>Source host to the Destination host</a:t>
            </a:r>
          </a:p>
        </p:txBody>
      </p:sp>
      <p:sp>
        <p:nvSpPr>
          <p:cNvPr id="52227" name="Rectangle 5">
            <a:extLst>
              <a:ext uri="{FF2B5EF4-FFF2-40B4-BE49-F238E27FC236}">
                <a16:creationId xmlns:a16="http://schemas.microsoft.com/office/drawing/2014/main" id="{73B25BA8-708F-F11B-5AD6-F31BCA3EF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76200"/>
            <a:ext cx="28352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u="sng"/>
              <a:t>Network Layer</a:t>
            </a:r>
          </a:p>
        </p:txBody>
      </p:sp>
      <p:pic>
        <p:nvPicPr>
          <p:cNvPr id="52228" name="Picture 6">
            <a:extLst>
              <a:ext uri="{FF2B5EF4-FFF2-40B4-BE49-F238E27FC236}">
                <a16:creationId xmlns:a16="http://schemas.microsoft.com/office/drawing/2014/main" id="{DA7AC5BB-D47C-4777-8867-76A2420D3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3" y="1447800"/>
            <a:ext cx="8675687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Footer Placeholder 3">
            <a:extLst>
              <a:ext uri="{FF2B5EF4-FFF2-40B4-BE49-F238E27FC236}">
                <a16:creationId xmlns:a16="http://schemas.microsoft.com/office/drawing/2014/main" id="{E27E9338-1A05-8428-D5A4-195A58C128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3DB6368A-2627-0DA1-686D-D4D5AE98A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Duties of Network Layer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8C75774C-412E-12E0-E937-C965131D08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3429000"/>
          </a:xfrm>
        </p:spPr>
        <p:txBody>
          <a:bodyPr/>
          <a:lstStyle/>
          <a:p>
            <a:pPr eaLnBrk="1" hangingPunct="1"/>
            <a:r>
              <a:rPr lang="en-US" altLang="en-US"/>
              <a:t>Network Layer is responsible for the delivery of packets from the original source to the final destination</a:t>
            </a:r>
          </a:p>
          <a:p>
            <a:pPr eaLnBrk="1" hangingPunct="1"/>
            <a:r>
              <a:rPr lang="en-US" altLang="en-US"/>
              <a:t>Logical addressing (IP)</a:t>
            </a:r>
          </a:p>
          <a:p>
            <a:pPr eaLnBrk="1" hangingPunct="1"/>
            <a:r>
              <a:rPr lang="en-US" altLang="en-US"/>
              <a:t>Internetworking</a:t>
            </a:r>
          </a:p>
          <a:p>
            <a:pPr eaLnBrk="1" hangingPunct="1"/>
            <a:r>
              <a:rPr lang="en-US" altLang="en-US"/>
              <a:t>Routing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Footer Placeholder 1">
            <a:extLst>
              <a:ext uri="{FF2B5EF4-FFF2-40B4-BE49-F238E27FC236}">
                <a16:creationId xmlns:a16="http://schemas.microsoft.com/office/drawing/2014/main" id="{178AEE0D-F3CD-7A96-5338-8A7941612C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5E3C10E7-8131-9456-6D72-5C0E1EA63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76200"/>
            <a:ext cx="540543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u="sng"/>
              <a:t>Source-to-destination delivery</a:t>
            </a:r>
          </a:p>
        </p:txBody>
      </p:sp>
      <p:pic>
        <p:nvPicPr>
          <p:cNvPr id="54275" name="Picture 5">
            <a:extLst>
              <a:ext uri="{FF2B5EF4-FFF2-40B4-BE49-F238E27FC236}">
                <a16:creationId xmlns:a16="http://schemas.microsoft.com/office/drawing/2014/main" id="{8B1269EF-261C-0365-004F-B367F51E0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884238"/>
            <a:ext cx="5867400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1">
            <a:extLst>
              <a:ext uri="{FF2B5EF4-FFF2-40B4-BE49-F238E27FC236}">
                <a16:creationId xmlns:a16="http://schemas.microsoft.com/office/drawing/2014/main" id="{07835587-2042-6B93-C5D6-88D8DA6C29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55298" name="Rectangle 4">
            <a:extLst>
              <a:ext uri="{FF2B5EF4-FFF2-40B4-BE49-F238E27FC236}">
                <a16:creationId xmlns:a16="http://schemas.microsoft.com/office/drawing/2014/main" id="{CE2EE6EF-E37F-F812-1876-DAF69D2B5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-76200"/>
            <a:ext cx="447198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u="sng"/>
              <a:t>Network Layer Example</a:t>
            </a:r>
          </a:p>
        </p:txBody>
      </p:sp>
      <p:pic>
        <p:nvPicPr>
          <p:cNvPr id="55299" name="Picture 5">
            <a:extLst>
              <a:ext uri="{FF2B5EF4-FFF2-40B4-BE49-F238E27FC236}">
                <a16:creationId xmlns:a16="http://schemas.microsoft.com/office/drawing/2014/main" id="{06DFBA5A-FF76-E61A-8302-A865C2547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55625"/>
            <a:ext cx="7162800" cy="599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ext Box 1028">
            <a:extLst>
              <a:ext uri="{FF2B5EF4-FFF2-40B4-BE49-F238E27FC236}">
                <a16:creationId xmlns:a16="http://schemas.microsoft.com/office/drawing/2014/main" id="{666F604A-4910-0162-70DF-0B2A8B598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4876800"/>
            <a:ext cx="780415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Process-to-process or End-to-end Delivery</a:t>
            </a:r>
            <a:endParaRPr lang="en-US" altLang="en-US" sz="2400" b="1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/>
              <a:t>The transport layer is responsible for the delivery </a:t>
            </a:r>
            <a:br>
              <a:rPr lang="en-US" altLang="en-US" sz="2800" b="1"/>
            </a:br>
            <a:r>
              <a:rPr lang="en-US" altLang="en-US" sz="2800" b="1"/>
              <a:t>of a message from one process to another.</a:t>
            </a:r>
          </a:p>
        </p:txBody>
      </p:sp>
      <p:sp>
        <p:nvSpPr>
          <p:cNvPr id="56322" name="Rectangle 1029">
            <a:extLst>
              <a:ext uri="{FF2B5EF4-FFF2-40B4-BE49-F238E27FC236}">
                <a16:creationId xmlns:a16="http://schemas.microsoft.com/office/drawing/2014/main" id="{5342D852-E9F9-A739-4A35-53E383A2C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425" y="15875"/>
            <a:ext cx="310673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u="sng"/>
              <a:t>Transport Layer</a:t>
            </a:r>
          </a:p>
        </p:txBody>
      </p:sp>
      <p:pic>
        <p:nvPicPr>
          <p:cNvPr id="56323" name="Picture 1030">
            <a:extLst>
              <a:ext uri="{FF2B5EF4-FFF2-40B4-BE49-F238E27FC236}">
                <a16:creationId xmlns:a16="http://schemas.microsoft.com/office/drawing/2014/main" id="{E7CC60BF-8446-811E-38F1-1AF64E248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90600"/>
            <a:ext cx="8991600" cy="312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Footer Placeholder 1">
            <a:extLst>
              <a:ext uri="{FF2B5EF4-FFF2-40B4-BE49-F238E27FC236}">
                <a16:creationId xmlns:a16="http://schemas.microsoft.com/office/drawing/2014/main" id="{B0938D82-90CC-5129-90B2-0EBC45912F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57346" name="Text Box 3">
            <a:extLst>
              <a:ext uri="{FF2B5EF4-FFF2-40B4-BE49-F238E27FC236}">
                <a16:creationId xmlns:a16="http://schemas.microsoft.com/office/drawing/2014/main" id="{E1DCE4B7-5781-19AB-A873-1CE55E44F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254000"/>
            <a:ext cx="4314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Process to Process Delivery</a:t>
            </a:r>
          </a:p>
        </p:txBody>
      </p:sp>
      <p:graphicFrame>
        <p:nvGraphicFramePr>
          <p:cNvPr id="57347" name="Object 4">
            <a:extLst>
              <a:ext uri="{FF2B5EF4-FFF2-40B4-BE49-F238E27FC236}">
                <a16:creationId xmlns:a16="http://schemas.microsoft.com/office/drawing/2014/main" id="{38AA3C90-14FF-5BE1-516D-6BA052CD83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066800"/>
          <a:ext cx="9144000" cy="523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544324" imgH="3172268" progId="Paint.Picture">
                  <p:embed/>
                </p:oleObj>
              </mc:Choice>
              <mc:Fallback>
                <p:oleObj name="Bitmap Image" r:id="rId2" imgW="5544324" imgH="3172268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066800"/>
                        <a:ext cx="9144000" cy="523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8" name="Text Box 5">
            <a:extLst>
              <a:ext uri="{FF2B5EF4-FFF2-40B4-BE49-F238E27FC236}">
                <a16:creationId xmlns:a16="http://schemas.microsoft.com/office/drawing/2014/main" id="{0DBFEBF4-2EE3-B162-3151-2874C906A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38" y="914400"/>
            <a:ext cx="2870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Processes                </a:t>
            </a:r>
            <a:br>
              <a:rPr lang="en-US" altLang="en-US" sz="2000" b="1">
                <a:latin typeface="Arial" panose="020B0604020202020204" pitchFamily="34" charset="0"/>
              </a:rPr>
            </a:br>
            <a:r>
              <a:rPr lang="en-US" altLang="en-US" sz="1400" b="1">
                <a:latin typeface="Arial" panose="020B0604020202020204" pitchFamily="34" charset="0"/>
              </a:rPr>
              <a:t>(Running application programs)</a:t>
            </a:r>
          </a:p>
        </p:txBody>
      </p:sp>
      <p:sp>
        <p:nvSpPr>
          <p:cNvPr id="57349" name="Text Box 6">
            <a:extLst>
              <a:ext uri="{FF2B5EF4-FFF2-40B4-BE49-F238E27FC236}">
                <a16:creationId xmlns:a16="http://schemas.microsoft.com/office/drawing/2014/main" id="{0F3B336C-FFB5-4640-1BFB-35AB36EE9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7913" y="838200"/>
            <a:ext cx="2870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        Processes</a:t>
            </a:r>
            <a:br>
              <a:rPr lang="en-US" altLang="en-US" sz="2000" b="1">
                <a:latin typeface="Arial" panose="020B0604020202020204" pitchFamily="34" charset="0"/>
              </a:rPr>
            </a:br>
            <a:r>
              <a:rPr lang="en-US" altLang="en-US" sz="1400" b="1">
                <a:latin typeface="Arial" panose="020B0604020202020204" pitchFamily="34" charset="0"/>
              </a:rPr>
              <a:t>(Running application programs)</a:t>
            </a:r>
          </a:p>
        </p:txBody>
      </p:sp>
      <p:sp>
        <p:nvSpPr>
          <p:cNvPr id="57350" name="Text Box 7">
            <a:extLst>
              <a:ext uri="{FF2B5EF4-FFF2-40B4-BE49-F238E27FC236}">
                <a16:creationId xmlns:a16="http://schemas.microsoft.com/office/drawing/2014/main" id="{823ACF05-A142-3BEC-02D7-38174145A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2266950"/>
            <a:ext cx="37655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Node-to-node: Data Link Layer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Host-to-host: Network Layer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Process-to-process: Transport Layer</a:t>
            </a:r>
          </a:p>
        </p:txBody>
      </p:sp>
      <p:sp>
        <p:nvSpPr>
          <p:cNvPr id="57351" name="Text Box 8">
            <a:extLst>
              <a:ext uri="{FF2B5EF4-FFF2-40B4-BE49-F238E27FC236}">
                <a16:creationId xmlns:a16="http://schemas.microsoft.com/office/drawing/2014/main" id="{5DEEC9EF-24B1-2246-C499-8CC9ABA55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9213" y="3490913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Internet</a:t>
            </a:r>
          </a:p>
        </p:txBody>
      </p:sp>
      <p:sp>
        <p:nvSpPr>
          <p:cNvPr id="57352" name="Text Box 9">
            <a:extLst>
              <a:ext uri="{FF2B5EF4-FFF2-40B4-BE49-F238E27FC236}">
                <a16:creationId xmlns:a16="http://schemas.microsoft.com/office/drawing/2014/main" id="{ACA9E157-8876-E384-7274-3BA83C9DA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6838" y="4356100"/>
            <a:ext cx="873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Node-to</a:t>
            </a:r>
            <a:br>
              <a:rPr lang="en-US" altLang="en-US" sz="1600" b="1">
                <a:solidFill>
                  <a:srgbClr val="FF0000"/>
                </a:solidFill>
              </a:rPr>
            </a:br>
            <a:r>
              <a:rPr lang="en-US" altLang="en-US" sz="1600" b="1">
                <a:solidFill>
                  <a:srgbClr val="FF0000"/>
                </a:solidFill>
              </a:rPr>
              <a:t>-node</a:t>
            </a:r>
          </a:p>
        </p:txBody>
      </p:sp>
      <p:sp>
        <p:nvSpPr>
          <p:cNvPr id="57353" name="Text Box 10">
            <a:extLst>
              <a:ext uri="{FF2B5EF4-FFF2-40B4-BE49-F238E27FC236}">
                <a16:creationId xmlns:a16="http://schemas.microsoft.com/office/drawing/2014/main" id="{4DAC965E-96BF-6CDC-26B6-D07253C07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7675" y="4343400"/>
            <a:ext cx="873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Node-to</a:t>
            </a:r>
            <a:br>
              <a:rPr lang="en-US" altLang="en-US" sz="1600" b="1">
                <a:solidFill>
                  <a:srgbClr val="FF0000"/>
                </a:solidFill>
              </a:rPr>
            </a:br>
            <a:r>
              <a:rPr lang="en-US" altLang="en-US" sz="1600" b="1">
                <a:solidFill>
                  <a:srgbClr val="FF0000"/>
                </a:solidFill>
              </a:rPr>
              <a:t>-node</a:t>
            </a:r>
          </a:p>
        </p:txBody>
      </p:sp>
      <p:sp>
        <p:nvSpPr>
          <p:cNvPr id="57354" name="Text Box 11">
            <a:extLst>
              <a:ext uri="{FF2B5EF4-FFF2-40B4-BE49-F238E27FC236}">
                <a16:creationId xmlns:a16="http://schemas.microsoft.com/office/drawing/2014/main" id="{DFD2A09A-5006-0E54-B51E-C700131A8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4438" y="4557713"/>
            <a:ext cx="1358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Node-to-node</a:t>
            </a:r>
          </a:p>
        </p:txBody>
      </p:sp>
      <p:sp>
        <p:nvSpPr>
          <p:cNvPr id="57355" name="Text Box 12">
            <a:extLst>
              <a:ext uri="{FF2B5EF4-FFF2-40B4-BE49-F238E27FC236}">
                <a16:creationId xmlns:a16="http://schemas.microsoft.com/office/drawing/2014/main" id="{2ECB44B1-58C1-C8CB-DEAB-F680AE8F8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6825" y="5035550"/>
            <a:ext cx="1260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Host-to-host</a:t>
            </a:r>
          </a:p>
        </p:txBody>
      </p:sp>
      <p:sp>
        <p:nvSpPr>
          <p:cNvPr id="57356" name="Text Box 13">
            <a:extLst>
              <a:ext uri="{FF2B5EF4-FFF2-40B4-BE49-F238E27FC236}">
                <a16:creationId xmlns:a16="http://schemas.microsoft.com/office/drawing/2014/main" id="{786C7494-8451-8D92-CD39-10A6051C5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7113" y="5548313"/>
            <a:ext cx="17907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Process-to-process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Footer Placeholder 3">
            <a:extLst>
              <a:ext uri="{FF2B5EF4-FFF2-40B4-BE49-F238E27FC236}">
                <a16:creationId xmlns:a16="http://schemas.microsoft.com/office/drawing/2014/main" id="{113941F7-76C4-FB4F-A622-80AA907B64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8180E4DD-597F-17F9-69F3-9DBE548E8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Duties of Transport Layer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8A9E34FD-61BA-C756-EE34-39323BB3FF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 eaLnBrk="1" hangingPunct="1"/>
            <a:r>
              <a:rPr lang="en-US" altLang="en-US"/>
              <a:t>Process-to-process delivery of entire message</a:t>
            </a:r>
          </a:p>
          <a:p>
            <a:pPr eaLnBrk="1" hangingPunct="1"/>
            <a:r>
              <a:rPr lang="en-US" altLang="en-US"/>
              <a:t>Port addressing</a:t>
            </a:r>
          </a:p>
          <a:p>
            <a:pPr eaLnBrk="1" hangingPunct="1"/>
            <a:r>
              <a:rPr lang="en-US" altLang="en-US"/>
              <a:t>Segmentation and reassembly</a:t>
            </a:r>
          </a:p>
          <a:p>
            <a:pPr eaLnBrk="1" hangingPunct="1"/>
            <a:r>
              <a:rPr lang="en-US" altLang="en-US"/>
              <a:t>Connection Control</a:t>
            </a:r>
          </a:p>
          <a:p>
            <a:pPr eaLnBrk="1" hangingPunct="1"/>
            <a:r>
              <a:rPr lang="en-US" altLang="en-US"/>
              <a:t>Flow Control</a:t>
            </a:r>
          </a:p>
          <a:p>
            <a:pPr eaLnBrk="1" hangingPunct="1"/>
            <a:r>
              <a:rPr lang="en-US" altLang="en-US"/>
              <a:t>Error Control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Footer Placeholder 1">
            <a:extLst>
              <a:ext uri="{FF2B5EF4-FFF2-40B4-BE49-F238E27FC236}">
                <a16:creationId xmlns:a16="http://schemas.microsoft.com/office/drawing/2014/main" id="{4561809C-AE61-4393-DC92-D45B646B3B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59394" name="Rectangle 4">
            <a:extLst>
              <a:ext uri="{FF2B5EF4-FFF2-40B4-BE49-F238E27FC236}">
                <a16:creationId xmlns:a16="http://schemas.microsoft.com/office/drawing/2014/main" id="{E65C574D-9494-EBF3-6F97-614C23F54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0"/>
            <a:ext cx="47434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u="sng"/>
              <a:t>Transport Layer Example</a:t>
            </a:r>
          </a:p>
        </p:txBody>
      </p:sp>
      <p:pic>
        <p:nvPicPr>
          <p:cNvPr id="59395" name="Picture 5">
            <a:extLst>
              <a:ext uri="{FF2B5EF4-FFF2-40B4-BE49-F238E27FC236}">
                <a16:creationId xmlns:a16="http://schemas.microsoft.com/office/drawing/2014/main" id="{B47F5F2C-36E4-EB25-CA74-65EF895CF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27075"/>
            <a:ext cx="7696200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Footer Placeholder 1">
            <a:extLst>
              <a:ext uri="{FF2B5EF4-FFF2-40B4-BE49-F238E27FC236}">
                <a16:creationId xmlns:a16="http://schemas.microsoft.com/office/drawing/2014/main" id="{B8C9A9EF-ED3D-290D-C591-0B07C03DB8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60418" name="Rectangle 4">
            <a:extLst>
              <a:ext uri="{FF2B5EF4-FFF2-40B4-BE49-F238E27FC236}">
                <a16:creationId xmlns:a16="http://schemas.microsoft.com/office/drawing/2014/main" id="{C2DFFD6F-3B05-F06A-6572-ABCD8082A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33528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u="sng">
                <a:solidFill>
                  <a:srgbClr val="063DE8"/>
                </a:solidFill>
              </a:rPr>
              <a:t>Application Layer</a:t>
            </a:r>
          </a:p>
        </p:txBody>
      </p:sp>
      <p:sp>
        <p:nvSpPr>
          <p:cNvPr id="60419" name="Text Box 5">
            <a:extLst>
              <a:ext uri="{FF2B5EF4-FFF2-40B4-BE49-F238E27FC236}">
                <a16:creationId xmlns:a16="http://schemas.microsoft.com/office/drawing/2014/main" id="{9328BB7A-01FB-ABCB-8B24-36ECDF31E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638800"/>
            <a:ext cx="77581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The application layer is responsible for providing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services to user, whether human or software</a:t>
            </a:r>
          </a:p>
        </p:txBody>
      </p:sp>
      <p:pic>
        <p:nvPicPr>
          <p:cNvPr id="60420" name="Picture 6">
            <a:extLst>
              <a:ext uri="{FF2B5EF4-FFF2-40B4-BE49-F238E27FC236}">
                <a16:creationId xmlns:a16="http://schemas.microsoft.com/office/drawing/2014/main" id="{72389EC5-4817-1C76-9EAB-CF9C65648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914400"/>
            <a:ext cx="8455025" cy="427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Footer Placeholder 1">
            <a:extLst>
              <a:ext uri="{FF2B5EF4-FFF2-40B4-BE49-F238E27FC236}">
                <a16:creationId xmlns:a16="http://schemas.microsoft.com/office/drawing/2014/main" id="{1403D62F-0E5B-D27B-B156-9210D779FD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pic>
        <p:nvPicPr>
          <p:cNvPr id="61442" name="Picture 4">
            <a:extLst>
              <a:ext uri="{FF2B5EF4-FFF2-40B4-BE49-F238E27FC236}">
                <a16:creationId xmlns:a16="http://schemas.microsoft.com/office/drawing/2014/main" id="{88368EE5-1D59-4504-ED07-E6B6707DC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84250"/>
            <a:ext cx="8229600" cy="546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3" name="Rectangle 5">
            <a:extLst>
              <a:ext uri="{FF2B5EF4-FFF2-40B4-BE49-F238E27FC236}">
                <a16:creationId xmlns:a16="http://schemas.microsoft.com/office/drawing/2014/main" id="{CA87ED7A-A3FE-69C8-AEB3-E5F18E97D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0"/>
            <a:ext cx="42322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u="sng"/>
              <a:t>TCP/IP and OSI model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Footer Placeholder 1">
            <a:extLst>
              <a:ext uri="{FF2B5EF4-FFF2-40B4-BE49-F238E27FC236}">
                <a16:creationId xmlns:a16="http://schemas.microsoft.com/office/drawing/2014/main" id="{045D57DD-68FC-2753-5BEC-17375D3EA1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pic>
        <p:nvPicPr>
          <p:cNvPr id="62466" name="Picture 4">
            <a:extLst>
              <a:ext uri="{FF2B5EF4-FFF2-40B4-BE49-F238E27FC236}">
                <a16:creationId xmlns:a16="http://schemas.microsoft.com/office/drawing/2014/main" id="{12B4C113-072A-8D48-6F69-185D083D6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286000"/>
            <a:ext cx="7834312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Footer Placeholder 1">
            <a:extLst>
              <a:ext uri="{FF2B5EF4-FFF2-40B4-BE49-F238E27FC236}">
                <a16:creationId xmlns:a16="http://schemas.microsoft.com/office/drawing/2014/main" id="{EFDD4030-9A12-9688-9344-A16F9213AF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pic>
        <p:nvPicPr>
          <p:cNvPr id="63490" name="Picture 2">
            <a:extLst>
              <a:ext uri="{FF2B5EF4-FFF2-40B4-BE49-F238E27FC236}">
                <a16:creationId xmlns:a16="http://schemas.microsoft.com/office/drawing/2014/main" id="{D3313DAC-80BD-C5A8-FBD2-380A24510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225" y="300038"/>
            <a:ext cx="6403975" cy="625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Footer Placeholder 3">
            <a:extLst>
              <a:ext uri="{FF2B5EF4-FFF2-40B4-BE49-F238E27FC236}">
                <a16:creationId xmlns:a16="http://schemas.microsoft.com/office/drawing/2014/main" id="{3A9A5DDC-59E6-F186-9E7C-8CD24784ED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3A958CC8-7A0B-3464-0595-EF834F1116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Protocols in Simplified Architecture</a:t>
            </a:r>
          </a:p>
        </p:txBody>
      </p:sp>
      <p:pic>
        <p:nvPicPr>
          <p:cNvPr id="64515" name="Picture 3">
            <a:extLst>
              <a:ext uri="{FF2B5EF4-FFF2-40B4-BE49-F238E27FC236}">
                <a16:creationId xmlns:a16="http://schemas.microsoft.com/office/drawing/2014/main" id="{A46DD043-422D-42CD-85FD-F983FC1CC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235"/>
          <a:stretch>
            <a:fillRect/>
          </a:stretch>
        </p:blipFill>
        <p:spPr bwMode="auto">
          <a:xfrm>
            <a:off x="533400" y="2247900"/>
            <a:ext cx="80772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Footer Placeholder 1">
            <a:extLst>
              <a:ext uri="{FF2B5EF4-FFF2-40B4-BE49-F238E27FC236}">
                <a16:creationId xmlns:a16="http://schemas.microsoft.com/office/drawing/2014/main" id="{039359D3-48A4-DD91-8C97-4AE7908A01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65538" name="Rectangle 5">
            <a:extLst>
              <a:ext uri="{FF2B5EF4-FFF2-40B4-BE49-F238E27FC236}">
                <a16:creationId xmlns:a16="http://schemas.microsoft.com/office/drawing/2014/main" id="{BFB1DCBF-367C-C790-895B-5BB61F756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76200"/>
            <a:ext cx="52927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 u="sng">
                <a:solidFill>
                  <a:srgbClr val="063DE8"/>
                </a:solidFill>
              </a:rPr>
              <a:t>Summary of Layer Functions</a:t>
            </a:r>
          </a:p>
        </p:txBody>
      </p:sp>
      <p:pic>
        <p:nvPicPr>
          <p:cNvPr id="65539" name="Picture 7">
            <a:extLst>
              <a:ext uri="{FF2B5EF4-FFF2-40B4-BE49-F238E27FC236}">
                <a16:creationId xmlns:a16="http://schemas.microsoft.com/office/drawing/2014/main" id="{A497CBD3-B69B-D24C-92CC-935555A32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1363663"/>
            <a:ext cx="8799512" cy="404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Footer Placeholder 3">
            <a:extLst>
              <a:ext uri="{FF2B5EF4-FFF2-40B4-BE49-F238E27FC236}">
                <a16:creationId xmlns:a16="http://schemas.microsoft.com/office/drawing/2014/main" id="{5547F681-26C8-32DD-9BC4-CD43A60616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0BED19E7-3102-B134-7C58-EC6B19CFB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Review Questions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83B4DF37-EFFD-2385-042D-FDB3078CBD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533400"/>
            <a:ext cx="8686800" cy="5486400"/>
          </a:xfrm>
        </p:spPr>
        <p:txBody>
          <a:bodyPr/>
          <a:lstStyle/>
          <a:p>
            <a:pPr marL="609600" indent="-609600" eaLnBrk="1" hangingPunct="1"/>
            <a:r>
              <a:rPr lang="en-US" altLang="en-US" sz="2800"/>
              <a:t>What are the three criteria necessary for an effective and efficient network?</a:t>
            </a:r>
          </a:p>
          <a:p>
            <a:pPr marL="609600" indent="-609600" eaLnBrk="1" hangingPunct="1"/>
            <a:r>
              <a:rPr lang="en-US" altLang="en-US" sz="2800"/>
              <a:t>Identify the five components of data communication system?</a:t>
            </a:r>
          </a:p>
          <a:p>
            <a:pPr marL="609600" indent="-609600" eaLnBrk="1" hangingPunct="1"/>
            <a:r>
              <a:rPr lang="en-US" altLang="en-US" sz="2800"/>
              <a:t>What are the advantages of distributed processing?</a:t>
            </a:r>
          </a:p>
          <a:p>
            <a:pPr marL="609600" indent="-609600" eaLnBrk="1" hangingPunct="1"/>
            <a:r>
              <a:rPr lang="en-US" altLang="en-US" sz="2800"/>
              <a:t>What is the difference between simplex, half duplex and full duplex transmission modes?</a:t>
            </a:r>
          </a:p>
          <a:p>
            <a:pPr marL="609600" indent="-609600" eaLnBrk="1" hangingPunct="1"/>
            <a:r>
              <a:rPr lang="en-US" altLang="en-US" sz="2800"/>
              <a:t>Explain the different form of data representations.</a:t>
            </a:r>
          </a:p>
          <a:p>
            <a:pPr marL="609600" indent="-609600" eaLnBrk="1" hangingPunct="1"/>
            <a:r>
              <a:rPr lang="en-US" altLang="en-US" sz="2800"/>
              <a:t>Explain the three categories of Computer Networks.</a:t>
            </a:r>
          </a:p>
          <a:p>
            <a:pPr marL="609600" indent="-609600" eaLnBrk="1" hangingPunct="1"/>
            <a:r>
              <a:rPr lang="en-US" altLang="en-US" sz="2800"/>
              <a:t>What are the advantages of a multipoint connection over a point to point connection?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Footer Placeholder 3">
            <a:extLst>
              <a:ext uri="{FF2B5EF4-FFF2-40B4-BE49-F238E27FC236}">
                <a16:creationId xmlns:a16="http://schemas.microsoft.com/office/drawing/2014/main" id="{62370A38-5286-6AD8-C2B9-2BA8AA9565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D58D30CE-3568-08C6-68E4-C25D1443D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Review Questions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C72A78A3-9ACF-CD87-B2FA-03062BF0B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686800" cy="51816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/>
              <a:t>What are the two types of line configuration?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/>
              <a:t>Name the four basic network topologies, and give advantages and disadvantages for each type?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/>
              <a:t>What is an internet? What is the Internet?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/>
              <a:t>Explain the process of Internet Standard creations?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/>
              <a:t>Why are protocols needed?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/>
              <a:t>Why are standards needed? What are the two categories of Standards?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z="2800"/>
              <a:t>Explain the role of following Standards Organizations in creation of Network Standards</a:t>
            </a:r>
            <a:br>
              <a:rPr lang="en-US" altLang="en-US" sz="2800"/>
            </a:br>
            <a:r>
              <a:rPr lang="en-US" altLang="en-US" sz="2800"/>
              <a:t>ISO, ITU-T, ANSI, IEEE, EIA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Footer Placeholder 3">
            <a:extLst>
              <a:ext uri="{FF2B5EF4-FFF2-40B4-BE49-F238E27FC236}">
                <a16:creationId xmlns:a16="http://schemas.microsoft.com/office/drawing/2014/main" id="{24FB64C3-5098-AA1F-D101-1CA28CF7A1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Dr. Muazzam A. Khan</a:t>
            </a: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62BBCBFF-0CFE-4FE5-BE0C-3165800685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Review Questions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1325371-D08F-CF7E-A2AF-05F3FFFB4B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533400"/>
            <a:ext cx="8686800" cy="6019800"/>
          </a:xfrm>
        </p:spPr>
        <p:txBody>
          <a:bodyPr/>
          <a:lstStyle/>
          <a:p>
            <a:pPr marL="609600" indent="-609600" eaLnBrk="1" hangingPunct="1"/>
            <a:r>
              <a:rPr lang="en-US" altLang="en-US" sz="2800"/>
              <a:t>What are the duties of Physical Layer?</a:t>
            </a:r>
          </a:p>
          <a:p>
            <a:pPr marL="609600" indent="-609600" eaLnBrk="1" hangingPunct="1"/>
            <a:r>
              <a:rPr lang="en-US" altLang="en-US" sz="2800"/>
              <a:t>What are the duties of Data Link Layer?</a:t>
            </a:r>
          </a:p>
          <a:p>
            <a:pPr marL="609600" indent="-609600" eaLnBrk="1" hangingPunct="1"/>
            <a:r>
              <a:rPr lang="en-US" altLang="en-US" sz="2800"/>
              <a:t>What are the duties of Network Layer?</a:t>
            </a:r>
          </a:p>
          <a:p>
            <a:pPr marL="609600" indent="-609600" eaLnBrk="1" hangingPunct="1"/>
            <a:r>
              <a:rPr lang="en-US" altLang="en-US" sz="2800"/>
              <a:t>What are the duties of Transport Layer?</a:t>
            </a:r>
          </a:p>
          <a:p>
            <a:pPr marL="609600" indent="-609600" eaLnBrk="1" hangingPunct="1"/>
            <a:r>
              <a:rPr lang="en-US" altLang="en-US" sz="2800"/>
              <a:t>What is the difference between Network Layer delivery and Transport Layer delivery?</a:t>
            </a:r>
          </a:p>
          <a:p>
            <a:pPr marL="609600" indent="-609600" eaLnBrk="1" hangingPunct="1"/>
            <a:r>
              <a:rPr lang="en-US" altLang="en-US" sz="2800"/>
              <a:t>What are headers and trailers, and how do they get added and removed?</a:t>
            </a:r>
          </a:p>
          <a:p>
            <a:pPr marL="609600" indent="-609600" eaLnBrk="1" hangingPunct="1"/>
            <a:r>
              <a:rPr lang="en-US" altLang="en-US" sz="2800"/>
              <a:t>What is the difference between a port address, a logical address, and a physical address?</a:t>
            </a:r>
          </a:p>
          <a:p>
            <a:pPr marL="609600" indent="-609600" eaLnBrk="1" hangingPunct="1"/>
            <a:r>
              <a:rPr lang="en-US" altLang="en-US" sz="2800"/>
              <a:t>Name some services provided by the application layer.</a:t>
            </a:r>
          </a:p>
          <a:p>
            <a:pPr marL="609600" indent="-609600" eaLnBrk="1" hangingPunct="1"/>
            <a:r>
              <a:rPr lang="en-US" altLang="en-US" sz="2800"/>
              <a:t>Give one line explanation of each layer of OSI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1644</Words>
  <Application>Microsoft Office PowerPoint</Application>
  <PresentationFormat>On-screen Show (4:3)</PresentationFormat>
  <Paragraphs>240</Paragraphs>
  <Slides>49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Times New Roman</vt:lpstr>
      <vt:lpstr>Arial</vt:lpstr>
      <vt:lpstr>Default Design</vt:lpstr>
      <vt:lpstr>Bitmap Image</vt:lpstr>
      <vt:lpstr>Introduction To   OSI Model   </vt:lpstr>
      <vt:lpstr>Data Communication</vt:lpstr>
      <vt:lpstr>Direction of Data Flow</vt:lpstr>
      <vt:lpstr> 5 Components of Data Communication</vt:lpstr>
      <vt:lpstr>Data Representation</vt:lpstr>
      <vt:lpstr>Networks</vt:lpstr>
      <vt:lpstr>Types of Connections</vt:lpstr>
      <vt:lpstr>Topology</vt:lpstr>
      <vt:lpstr>Mesh Topology</vt:lpstr>
      <vt:lpstr>Star Topology</vt:lpstr>
      <vt:lpstr>Bus Topology</vt:lpstr>
      <vt:lpstr>Ring Topology</vt:lpstr>
      <vt:lpstr>Hybrid Topology</vt:lpstr>
      <vt:lpstr>Internetworks</vt:lpstr>
      <vt:lpstr>The Internet</vt:lpstr>
      <vt:lpstr>Hierarchical organization of the Internet</vt:lpstr>
      <vt:lpstr>Protocols and Standards</vt:lpstr>
      <vt:lpstr>Standards</vt:lpstr>
      <vt:lpstr>Layered Tasks</vt:lpstr>
      <vt:lpstr>Tasks involved in sending a letter</vt:lpstr>
      <vt:lpstr>The OSI Model </vt:lpstr>
      <vt:lpstr>Seven layers of the OSI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Duties of Physical Layer</vt:lpstr>
      <vt:lpstr>PowerPoint Presentation</vt:lpstr>
      <vt:lpstr>Duties of Data Link Layer</vt:lpstr>
      <vt:lpstr>PowerPoint Presentation</vt:lpstr>
      <vt:lpstr>PowerPoint Presentation</vt:lpstr>
      <vt:lpstr>PowerPoint Presentation</vt:lpstr>
      <vt:lpstr>Duties of Network Layer</vt:lpstr>
      <vt:lpstr>PowerPoint Presentation</vt:lpstr>
      <vt:lpstr>PowerPoint Presentation</vt:lpstr>
      <vt:lpstr>PowerPoint Presentation</vt:lpstr>
      <vt:lpstr>PowerPoint Presentation</vt:lpstr>
      <vt:lpstr>Duties of Transport Layer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Protocols in Simplified Architecture</vt:lpstr>
      <vt:lpstr>PowerPoint Presentation</vt:lpstr>
      <vt:lpstr>Review Questions</vt:lpstr>
      <vt:lpstr>Review Questions</vt:lpstr>
      <vt:lpstr>Review Questions</vt:lpstr>
    </vt:vector>
  </TitlesOfParts>
  <Company>IIUI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OSI  Model</dc:title>
  <dc:creator>Administrator</dc:creator>
  <cp:lastModifiedBy>Saqib Bedar</cp:lastModifiedBy>
  <cp:revision>56</cp:revision>
  <dcterms:created xsi:type="dcterms:W3CDTF">2006-02-07T18:52:54Z</dcterms:created>
  <dcterms:modified xsi:type="dcterms:W3CDTF">2026-04-28T06:05:27Z</dcterms:modified>
</cp:coreProperties>
</file>