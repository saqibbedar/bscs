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E6FB89-DCF3-8A1C-01B7-AB14B316DE8D}" name="Saqib Bedar" initials="SB" userId="11e746f44381f8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77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F9DA0">
              <a:alpha val="18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3FD6DA">
              <a:alpha val="12000"/>
            </a:srgbClr>
          </a:solidFill>
          <a:ln w="12700">
            <a:solidFill>
              <a:srgbClr val="3F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365760"/>
            <a:ext cx="1371600" cy="1371600"/>
          </a:xfrm>
          <a:prstGeom prst="ellipse">
            <a:avLst/>
          </a:prstGeom>
          <a:solidFill>
            <a:srgbClr val="0F9DA0">
              <a:alpha val="25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3657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COMMUNICATION &amp; NETWORKS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Got the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Wrong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NDN Is Trying to Fix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 Networking  |  A New Internet Architecture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Hamza Khan  |  Muhammad Saqib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F9DA0">
              <a:alpha val="15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4721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Internet's Original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8013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 and what it was built for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23591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Mismatch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68833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internet is broken by design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2644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246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NDN?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5753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 Networking — the core idea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15137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1330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NDN Works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462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Packets, FIB, PIT, CS — the mechanics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14904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4721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vs TCP/IP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18013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304288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377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235915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Applications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68833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efficiency, resilience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191256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32644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4688" y="3246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Current Status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04688" y="35753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unsolved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4078224"/>
            <a:ext cx="4114800" cy="77724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415137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4688" y="41330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04688" y="4462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prospects &amp; research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8046720" cy="3657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286000"/>
            <a:ext cx="384048" cy="384048"/>
          </a:xfrm>
          <a:prstGeom prst="ellipse">
            <a:avLst/>
          </a:prstGeom>
          <a:solidFill>
            <a:srgbClr val="0F9DA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— UCLA, Stanford, UCSB, Utah. First packet switched network.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286000"/>
            <a:ext cx="384048" cy="384048"/>
          </a:xfrm>
          <a:prstGeom prst="ellipse">
            <a:avLst/>
          </a:prstGeom>
          <a:solidFill>
            <a:srgbClr val="0F9DA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72491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 &amp; Kahn design the protocol. Connects separate networks together.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384048" cy="384048"/>
          </a:xfrm>
          <a:prstGeom prst="ellipse">
            <a:avLst/>
          </a:prstGeom>
          <a:solidFill>
            <a:srgbClr val="0F9DA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798064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 adopts TCP/IP. The modern internet is born.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“Flag Day: networks of networks”.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286000"/>
            <a:ext cx="384048" cy="384048"/>
          </a:xfrm>
          <a:prstGeom prst="ellipse">
            <a:avLst/>
          </a:prstGeom>
          <a:solidFill>
            <a:srgbClr val="0F9DA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72491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 at CERN. Content sharing over HTTP explodes.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2286000"/>
            <a:ext cx="384048" cy="384048"/>
          </a:xfrm>
          <a:prstGeom prst="ellipse">
            <a:avLst/>
          </a:prstGeom>
          <a:solidFill>
            <a:srgbClr val="0F9DA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72491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billion users. 500 hours of YouTube/min. Streaming dominates.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solidFill>
            <a:srgbClr val="0F9DA0">
              <a:alpha val="2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The internet was designed to connect machines (endpoints) — not to distribute content. That design assumption is now 50 years old.</a:t>
            </a:r>
            <a:endParaRPr lang="en-US" sz="1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066D453-68A5-7F68-BD64-04D986098EDF}"/>
              </a:ext>
            </a:extLst>
          </p:cNvPr>
          <p:cNvSpPr/>
          <p:nvPr/>
        </p:nvSpPr>
        <p:spPr>
          <a:xfrm>
            <a:off x="466344" y="32232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IMP: Internet Message Processors</a:t>
            </a:r>
          </a:p>
          <a:p>
            <a:pPr marL="0" indent="0" algn="ctr">
              <a:buNone/>
            </a:pPr>
            <a:r>
              <a:rPr lang="en-US" sz="6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NCP: Network Control Program (host machine). </a:t>
            </a:r>
          </a:p>
          <a:p>
            <a:pPr marL="0" indent="0" algn="ctr">
              <a:buNone/>
            </a:pPr>
            <a:r>
              <a:rPr lang="en-US" sz="6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 predecessor to TCP/IP.</a:t>
            </a:r>
            <a:endParaRPr lang="en-US" sz="6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E059602-0B7B-B850-B697-E4B41324F0AC}"/>
              </a:ext>
            </a:extLst>
          </p:cNvPr>
          <p:cNvSpPr/>
          <p:nvPr/>
        </p:nvSpPr>
        <p:spPr>
          <a:xfrm>
            <a:off x="2103120" y="32232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different networks (like radio, satellites, and ground networks)</a:t>
            </a:r>
          </a:p>
          <a:p>
            <a:pPr marL="0" indent="0" algn="ctr">
              <a:buNone/>
            </a:pPr>
            <a:r>
              <a:rPr lang="en-US" sz="6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1974: published paper “A protocol for Packet Network Intercommunication”</a:t>
            </a:r>
            <a:endParaRPr lang="en-US" sz="6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828C4CD-256E-12FB-B6E8-DB5A33377AA7}"/>
              </a:ext>
            </a:extLst>
          </p:cNvPr>
          <p:cNvSpPr/>
          <p:nvPr/>
        </p:nvSpPr>
        <p:spPr>
          <a:xfrm>
            <a:off x="5043948" y="-140552"/>
            <a:ext cx="4100052" cy="1863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1977: Three-Network Experiment. (Radio (Packet </a:t>
            </a:r>
            <a:r>
              <a:rPr lang="en-US" sz="750" dirty="0" err="1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RadioNet</a:t>
            </a: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satellite (Atlantic SATNET), destination (data traveled through space and reached to the destination)</a:t>
            </a:r>
          </a:p>
          <a:p>
            <a:pPr marL="0" indent="0">
              <a:buNone/>
            </a:pPr>
            <a:endParaRPr lang="en-US" sz="750" dirty="0">
              <a:solidFill>
                <a:srgbClr val="D9F0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1989: Tim Berners-Lee invented www in 1989.</a:t>
            </a:r>
          </a:p>
          <a:p>
            <a:pPr marL="0" indent="0">
              <a:buNone/>
            </a:pPr>
            <a:endParaRPr lang="en-US" sz="750" dirty="0">
              <a:solidFill>
                <a:srgbClr val="D9F0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vs web: Internet(Global network), Web(collection of multimedia page, links and documents). </a:t>
            </a:r>
            <a:b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Hypertext: clickable text that jumps to another document.</a:t>
            </a:r>
            <a:b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Berners-Lee invented three building blocks: HTML, HTTP, URL. </a:t>
            </a:r>
            <a:r>
              <a:rPr lang="en-US" sz="750" dirty="0" err="1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Inshort</a:t>
            </a: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 wrote the world’s very first Web Browser and setup the world’s first website hosted on his </a:t>
            </a:r>
            <a:r>
              <a:rPr lang="en-US" sz="750" dirty="0" err="1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en-US" sz="7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computer at CERN.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97E80">
              <a:alpha val="15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Mismatch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383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" cy="3383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comms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research networks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host-to-host delivery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small-scale topology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known endpoints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3383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64008" cy="3383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USED FOR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19659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video &amp; music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 delivery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simultaneous users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dynamic networks
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Untrusted, anonymous access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60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57200" y="48006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 patch a 1960s architecture with CDNs, NAT, VPNs, HTTPS — duct tape on a broken foundation.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FAILURES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in TCP/IP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361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Address-Centric Naming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" y="202996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WHERE content lives, not WHAT you want. If a server moves or goes down — connection broken.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361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Add-on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56432" y="202996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were bolted on decades later. Internet was not designed with security; it's a perennial afterthought.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137160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3619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5361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In-Network Caching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291072" y="202996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Netflix video fetched millions of times from the same origin server. Massive bandwidth waste.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22783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2278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is Painful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1792" y="372160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are location-bound. Moving between networks breaks TCP connections — NAT is a hack.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91840" y="306324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27832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2278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Limits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456432" y="372160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tables are exploding. The global BGP table has &gt;900,000 prefixes. IPv4 exhausted in 2011.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126480" y="3063240"/>
            <a:ext cx="2606040" cy="15087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22783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22783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Inefficiency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291072" y="3721608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uses one path. If it fails, the whole session restarts. Parallel paths are wasted.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0F9DA0">
              <a:alpha val="12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 Networking (NDN)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321040" cy="1005840"/>
          </a:xfrm>
          <a:prstGeom prst="rect">
            <a:avLst/>
          </a:prstGeom>
          <a:solidFill>
            <a:srgbClr val="0F9DA0">
              <a:alpha val="22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"Instead of asking: WHERE is the data?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asks: WHAT is the data?"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4008" cy="1097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8892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606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971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Van Jacobson (Google / PARC) in 2009. Evolved from CCN — Content-Centric Networking.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251460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2514600"/>
            <a:ext cx="64008" cy="1097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7889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606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32120" y="2971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named, not addressed by location. Routers understand and cache content natively.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233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8404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43000" y="42062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data is cryptographically signed at origin. Trust is in the data, not the channel.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374904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46320" y="3749040"/>
            <a:ext cx="64008" cy="10972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402336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38404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Project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532120" y="42062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National Science Foundation funds NDN as a Future Internet Architecture since 2010.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NDN Works — The Mechanics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34747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PACKET 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3566160" cy="1280160"/>
          </a:xfrm>
          <a:prstGeom prst="rect">
            <a:avLst/>
          </a:prstGeom>
          <a:solidFill>
            <a:srgbClr val="0F9DA0">
              <a:alpha val="18000"/>
            </a:srgbClr>
          </a:solidFill>
          <a:ln w="63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Packet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2257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broadcasts: "I want /ndn/edu/video/lecture1"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forward toward potential sources.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566160" cy="1325880"/>
          </a:xfrm>
          <a:prstGeom prst="rect">
            <a:avLst/>
          </a:prstGeom>
          <a:solidFill>
            <a:srgbClr val="097E80">
              <a:alpha val="25000"/>
            </a:srgbClr>
          </a:solidFill>
          <a:ln w="63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741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721608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replies with the named, signed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cache it. Anyone nearby benefits.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34747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64008" cy="34747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NDN ROUTER HAS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938528"/>
            <a:ext cx="548640" cy="8686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93852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19568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Information 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68112" y="232257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name prefixes to interfaces. Like a routing table but for names.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548640" cy="8686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30175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3035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Interest 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112" y="340156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outstanding Interests. Ensures Data travels back the same path.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4096512"/>
            <a:ext cx="548640" cy="86868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4096512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68112" y="4114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448056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In-router cache. If the data is already here — answer immediately. No origin needed.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Request-Response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554480" cy="914400"/>
          </a:xfrm>
          <a:prstGeom prst="ellipse">
            <a:avLst/>
          </a:prstGeom>
          <a:solidFill>
            <a:srgbClr val="0F9DA0"/>
          </a:solidFill>
          <a:ln w="190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103120"/>
            <a:ext cx="1554480" cy="914400"/>
          </a:xfrm>
          <a:prstGeom prst="ellipse">
            <a:avLst/>
          </a:prstGeom>
          <a:solidFill>
            <a:srgbClr val="4A6D7C"/>
          </a:solidFill>
          <a:ln w="190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 miss)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2103120"/>
            <a:ext cx="1554480" cy="914400"/>
          </a:xfrm>
          <a:prstGeom prst="ellipse">
            <a:avLst/>
          </a:prstGeom>
          <a:solidFill>
            <a:srgbClr val="4A6D7C"/>
          </a:solidFill>
          <a:ln w="190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 miss)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2103120"/>
            <a:ext cx="1554480" cy="914400"/>
          </a:xfrm>
          <a:prstGeom prst="ellipse">
            <a:avLst/>
          </a:prstGeom>
          <a:solidFill>
            <a:srgbClr val="097E80"/>
          </a:solidFill>
          <a:ln w="1905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487168"/>
            <a:ext cx="640080" cy="73152"/>
          </a:xfrm>
          <a:prstGeom prst="rect">
            <a:avLst/>
          </a:prstGeom>
          <a:solidFill>
            <a:srgbClr val="3FD6DA"/>
          </a:solidFill>
          <a:ln w="12700">
            <a:solidFill>
              <a:srgbClr val="3F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D6D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2487168"/>
            <a:ext cx="640080" cy="73152"/>
          </a:xfrm>
          <a:prstGeom prst="rect">
            <a:avLst/>
          </a:prstGeom>
          <a:solidFill>
            <a:srgbClr val="3FD6DA"/>
          </a:solidFill>
          <a:ln w="12700">
            <a:solidFill>
              <a:srgbClr val="3F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D6D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487168"/>
            <a:ext cx="640080" cy="73152"/>
          </a:xfrm>
          <a:prstGeom prst="rect">
            <a:avLst/>
          </a:prstGeom>
          <a:solidFill>
            <a:srgbClr val="3FD6DA"/>
          </a:solidFill>
          <a:ln w="12700">
            <a:solidFill>
              <a:srgbClr val="3F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2359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D6D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Interest: /ndn/edu/video/lecture1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639312"/>
            <a:ext cx="640080" cy="73152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511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9DA0"/>
                </a:solidFill>
              </a:rPr>
              <a:t>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06240" y="3639312"/>
            <a:ext cx="640080" cy="73152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3511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9DA0"/>
                </a:solidFill>
              </a:rPr>
              <a:t>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639312"/>
            <a:ext cx="640080" cy="73152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20240" y="3511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9DA0"/>
                </a:solidFill>
              </a:rPr>
              <a:t>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signed content packet travels back, cached at each router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8321040" cy="594360"/>
          </a:xfrm>
          <a:prstGeom prst="rect">
            <a:avLst/>
          </a:prstGeom>
          <a:solidFill>
            <a:srgbClr val="0F9DA0">
              <a:alpha val="18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2976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Next user who requests the same content gets it from Router A or B's cache — producer never contacted again.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Content Names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321040" cy="10515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http://server.edu/video/lecture1.mp4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7556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server location. Content is tied to an address.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321040" cy="105156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D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/edu/university/video/lecture1/v1/seg0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9443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WHAT the data is. Hierarchical, routable, location-independent.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54864" cy="475488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describe content semantically — no cryptic IP addresses.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54864" cy="475488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99592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can aggregate /edu/* into one routing entry — scales well.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334256"/>
            <a:ext cx="54864" cy="475488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Location-agnostic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811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can be served from any router holding a cached copy.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4334256"/>
            <a:ext cx="54864" cy="475488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4334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811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and segments embedded in name — enables multipath fetch.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vs TCP/IP — Head to 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321040" cy="438912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89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389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321040" cy="438912"/>
          </a:xfrm>
          <a:prstGeom prst="rect">
            <a:avLst/>
          </a:prstGeom>
          <a:solidFill>
            <a:srgbClr val="1A2E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8470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84708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 address + 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84708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2860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28600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channel (TLS)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228600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data itself (signatures)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321040" cy="438912"/>
          </a:xfrm>
          <a:prstGeom prst="rect">
            <a:avLst/>
          </a:prstGeom>
          <a:solidFill>
            <a:srgbClr val="1A2E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249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272491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CDN edge servers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272491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router caches content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16382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3163824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breaks on IP change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3163824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continues regardless of path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8321040" cy="438912"/>
          </a:xfrm>
          <a:prstGeom prst="rect">
            <a:avLst/>
          </a:prstGeom>
          <a:solidFill>
            <a:srgbClr val="1A2E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3602736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workaround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89320" y="3602736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— same Interest fetches from cache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041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basis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3240" y="404164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IP address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89320" y="404164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content prefix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462272"/>
            <a:ext cx="8321040" cy="438912"/>
          </a:xfrm>
          <a:prstGeom prst="rect">
            <a:avLst/>
          </a:prstGeom>
          <a:solidFill>
            <a:srgbClr val="1A2E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" y="44805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448056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server/channel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448056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signed data object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F9DA0">
              <a:alpha val="12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NDN Is Better — Key 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361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202996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signed by producer at creation. Authentication is in the data — no channel trust needed. Prevents man-in-the-middle attacks at the data level.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361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In-Network Caching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56432" y="202996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cache popular content. Reduces bandwidth consumption dramatically. ISPs save transit costs. Users get lower latency.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361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Scalability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91072" y="202996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aggregation keeps routing tables manageable. No IPv4/IPv6 exhaustion. Multicast is native — one copy serves many.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3192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Mobility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1792" y="381304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IP-address dependency means seamless handoff between WiFi, 4G, 5G. Interest packets follow content regardless of path changes.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9184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31927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456432" y="381304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paths simultaneously. No single point of failure. Works even under congestion — can pull from caches mid-route.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2648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31927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Edge Ready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91072" y="381304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devices can participate. Named data works perfectly for sensor streams, vehicle networks, smart grids.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NDN Shines —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201168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Netflix/YouTube-style: cached at ISP router — no CDN needed. Viewers get content from nearest cache.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087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Vehicular (V2X)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56432" y="201168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share traffic/road data by name. No IP setup overhead. Critical for autonomous driving networks.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087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84848" y="1508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&amp; IoT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201168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named by location/time. Aggregated in-network. No central server bottleneck.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29184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IoT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1792" y="379476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named &amp; signed. Privacy preserved. Works even when hospital network is disrupted.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9184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291840" y="315468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9184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56432" y="379476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routers work without central coordination. Data spreads through any available path — survivable.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26480" y="3154680"/>
            <a:ext cx="2606040" cy="16459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126480" y="3154680"/>
            <a:ext cx="64008" cy="16459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29184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84848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Replacement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91072" y="379476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 can natively cache popular content — no need for Akamai/Cloudflare. Simpler, cheaper, faster.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Unsolved Problems &amp; Obstacles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447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at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the namespace? No global naming authority exists yet. Risk of naming conflicts across organizations.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10912" y="162763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4447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Memory Cost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1051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 (cache) requires significant RAM/storage at every router. Hardware upgrades needed globally.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" y="286207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862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791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Flooding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4495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actors can flood the network with Interests — a new DDoS vector unique to NDN. Defenses still evolving.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10912" y="286207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2862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6791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04495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Internet's trillion-dollar infrastructure runs TCP/IP. Wholesale replacement is not feasible. Transition is complex.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" y="409651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4096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913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 means routers can see what content users request. More visibility than IP packets (which only show endpoints).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840480"/>
            <a:ext cx="4114800" cy="10972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10912" y="4096512"/>
            <a:ext cx="347472" cy="347472"/>
          </a:xfrm>
          <a:prstGeom prst="ellipse">
            <a:avLst/>
          </a:prstGeom>
          <a:solidFill>
            <a:srgbClr val="0F9DA0">
              <a:alpha val="70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4096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913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Incentives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2793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for the upgrade? ISPs need economic incentive to deploy NDN routers. No global governance mechanism yet.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NDN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34747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9385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27632" y="1938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Jacobson publishes CCN paper at Google Tech Talk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237744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awards Future Internet Architecture grant to NDN project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889504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281635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testbed deployed across U.S. university campuses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3255264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27632" y="3255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NDN-over-WiFi demonstrated for V2X automotive networks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3694176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36941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NFD (NDN Forwarding Daemon) v0.6 released — open source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413308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27632" y="4133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deployed in smart grid and healthcare IoT pilots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645152"/>
            <a:ext cx="201168" cy="201168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" y="457200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27632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 in 30+ institutions worldwide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371600"/>
            <a:ext cx="4023360" cy="347472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64008" cy="3474720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 AREAS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19385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Testbed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18541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experimental network connecting 30+ institutions globally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24414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ndn-cxx / NFD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268833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C++ library &amp; forwarder — anyone can run NDN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29443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NLSR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319125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Link State Routing Protocol — routing for NDN networks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8032" y="344728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 Link Layer Protocol (NDNLP)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369417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NDN to physical links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39502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ChronoSync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419709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dataset sync over NDN — shared state without servers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44531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Schema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470001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language for specifying NDN trust and key hierarchies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F9DA0">
              <a:alpha val="12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3FD6DA">
              <a:alpha val="12000"/>
            </a:srgbClr>
          </a:solidFill>
          <a:ln w="12700">
            <a:solidFill>
              <a:srgbClr val="3F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 for NDN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33472" cy="29260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822960" cy="822960"/>
          </a:xfrm>
          <a:prstGeom prst="ellipse">
            <a:avLst/>
          </a:prstGeom>
          <a:solidFill>
            <a:srgbClr val="8EAFBA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62763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Networks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3017520"/>
            <a:ext cx="2304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runs ON TOP of existing IP infrastructure — gradual coexistence. Most likely near-term path. Tunneled NDN over UDP/IP.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33472" cy="29260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06240" y="1508760"/>
            <a:ext cx="822960" cy="822960"/>
          </a:xfrm>
          <a:prstGeom prst="ellipse">
            <a:avLst/>
          </a:prstGeom>
          <a:solidFill>
            <a:srgbClr val="097E8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62763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Future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3017520"/>
            <a:ext cx="2304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sectors adopt NDN natively: automotive networks, smart cities, IoT. Parallel internet architectures for different use cases.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633472" cy="2926080"/>
          </a:xfrm>
          <a:prstGeom prst="rect">
            <a:avLst/>
          </a:prstGeom>
          <a:solidFill>
            <a:srgbClr val="132333"/>
          </a:solidFill>
          <a:ln w="6350">
            <a:solidFill>
              <a:srgbClr val="0F9D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627632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Slate Internet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3017520"/>
            <a:ext cx="2304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NDN replaces IP as the universal internet layer. Requires global policy coordination. Decades away — but theoretically superior.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44074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291840" y="44074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26480" y="44074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EA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won't replace the internet overnight — but it is the most rigorous rethink of internet architecture since TCP/IP.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F9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371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was designed to connect machines — not deliver content. That design is 50 years old.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89280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forces you to ask WHERE content is. NDN asks WHAT you want — a fundamental paradigm shift.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41401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routers cache content natively: FIB routes Interest packets, PIT tracks pending requests, CS stores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93522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in the data itself via cryptographic signatures — not bolted on the channel.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38144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4564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enables native multicast, mobility, resilience, and scalability without CDNs or NAT.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9776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remain: naming governance, router memory, privacy, and the trillion-dollar deployment barrier.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30352" cy="448056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5303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49884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NDN is actively funded, open-sourced, and deployed in testbeds — it's research, not just theory.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F9DA0">
              <a:alpha val="12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97E80">
              <a:alpha val="15000"/>
            </a:srgbClr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64008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834640" cy="54864"/>
          </a:xfrm>
          <a:prstGeom prst="rect">
            <a:avLst/>
          </a:prstGeom>
          <a:solidFill>
            <a:srgbClr val="0F9DA0"/>
          </a:solidFill>
          <a:ln w="12700">
            <a:solidFill>
              <a:srgbClr val="0F9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3649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39776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9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predict the future of the internet is to invent it."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named-data.net  |  Van Jacobson, 2009 — "Networking Named Content"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1973</Words>
  <Application>Microsoft Office PowerPoint</Application>
  <PresentationFormat>On-screen Show (16:9)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We Got the Internet Wrong — and What NDN Is Trying to Fix</dc:title>
  <dc:subject>PptxGenJS Presentation</dc:subject>
  <dc:creator>PptxGenJS</dc:creator>
  <cp:lastModifiedBy>Saqib Bedar</cp:lastModifiedBy>
  <cp:revision>4</cp:revision>
  <dcterms:created xsi:type="dcterms:W3CDTF">2026-05-27T17:56:11Z</dcterms:created>
  <dcterms:modified xsi:type="dcterms:W3CDTF">2026-06-07T19:00:39Z</dcterms:modified>
</cp:coreProperties>
</file>