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9" r:id="rId12"/>
    <p:sldId id="270" r:id="rId13"/>
    <p:sldId id="263" r:id="rId14"/>
    <p:sldId id="265" r:id="rId15"/>
    <p:sldId id="272" r:id="rId16"/>
    <p:sldId id="264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5FC60C0-4FC2-4911-AC01-66DE9FFD6A17}" type="datetimeFigureOut">
              <a:rPr lang="en-US" smtClean="0"/>
              <a:pPr/>
              <a:t>2/20/2013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5EB2912-18D6-419D-93A9-B2FE2176BB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Recursive Language </a:t>
            </a:r>
            <a:r>
              <a:rPr lang="en-US" b="1" smtClean="0"/>
              <a:t>Definition and RE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Definition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Recursion</a:t>
            </a:r>
          </a:p>
          <a:p>
            <a:pPr lvl="2"/>
            <a:r>
              <a:rPr lang="en-US" dirty="0" smtClean="0"/>
              <a:t> When an entity is referred within its definition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Recursive functions</a:t>
            </a:r>
          </a:p>
          <a:p>
            <a:pPr lvl="4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smtClean="0"/>
              <a:t> A function calls itself within its definition/body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Principles of recursion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Define a base case</a:t>
            </a:r>
          </a:p>
          <a:p>
            <a:pPr lvl="4" algn="just">
              <a:buNone/>
            </a:pPr>
            <a:r>
              <a:rPr lang="en-US" dirty="0" smtClean="0"/>
              <a:t> For termination (in case of top down)</a:t>
            </a:r>
          </a:p>
          <a:p>
            <a:pPr lvl="4" algn="just">
              <a:buNone/>
            </a:pPr>
            <a:r>
              <a:rPr lang="en-US" dirty="0" smtClean="0"/>
              <a:t> For starting point (in case of bottom up)</a:t>
            </a:r>
          </a:p>
          <a:p>
            <a:pPr lvl="2" algn="just">
              <a:buFont typeface="Arial" pitchFamily="34" charset="0"/>
              <a:buChar char="•"/>
            </a:pPr>
            <a:r>
              <a:rPr lang="en-US" dirty="0" smtClean="0"/>
              <a:t> Define the recursive part in terms of base case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Continu</a:t>
            </a:r>
            <a:r>
              <a:rPr lang="en-US" b="1" dirty="0" smtClean="0"/>
              <a:t>e…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recursive definition is characteristically a three steps process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First, we specify some basic objects in the set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Second, we give rules for constructing more objects in the set from the one we already know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Third, we declare that no objects except those constructed in this way are allowed in the set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 1</a:t>
            </a:r>
            <a:endParaRPr lang="en-US" b="1" u="sng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24000"/>
            <a:ext cx="695325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429000"/>
            <a:ext cx="28194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3962400"/>
            <a:ext cx="49434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4648200"/>
            <a:ext cx="7019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Continue…</a:t>
            </a:r>
            <a:endParaRPr lang="en-US" b="1" u="sng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4650" y="1600200"/>
            <a:ext cx="7499350" cy="33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Second definition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make another definition for </a:t>
            </a:r>
            <a:r>
              <a:rPr lang="en-US" dirty="0" smtClean="0"/>
              <a:t>Positive EVEN </a:t>
            </a:r>
            <a:r>
              <a:rPr lang="en-US" dirty="0" smtClean="0"/>
              <a:t>as follows: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1" y="2667000"/>
            <a:ext cx="78486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0"/>
            <a:ext cx="7696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4"/>
          <p:cNvSpPr txBox="1">
            <a:spLocks noGrp="1"/>
          </p:cNvSpPr>
          <p:nvPr>
            <p:ph type="title"/>
          </p:nvPr>
        </p:nvSpPr>
        <p:spPr>
          <a:xfrm>
            <a:off x="1435608" y="469111"/>
            <a:ext cx="6984476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Show that 12 is in P-EVEN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 2</a:t>
            </a:r>
            <a:endParaRPr lang="en-US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371600"/>
            <a:ext cx="73437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743200"/>
            <a:ext cx="31432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33550" y="3200400"/>
            <a:ext cx="74104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4114800"/>
            <a:ext cx="72199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 3</a:t>
            </a:r>
            <a:endParaRPr lang="en-US" b="1" u="sng" dirty="0"/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524000"/>
            <a:ext cx="72294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438400"/>
            <a:ext cx="2828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2971800"/>
            <a:ext cx="52006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6400" y="3581400"/>
            <a:ext cx="714375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 4</a:t>
            </a:r>
            <a:endParaRPr lang="en-US" b="1" u="sng" dirty="0"/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447800"/>
            <a:ext cx="73533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514600"/>
            <a:ext cx="231457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3124200"/>
            <a:ext cx="73152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6400" y="4114800"/>
            <a:ext cx="71913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Its YOUR Turn…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295400"/>
            <a:ext cx="739140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447800" y="2667000"/>
            <a:ext cx="5135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Write RECURSIVE  Definition for Palindrome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Defining the language factorial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??????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/>
          <a:lstStyle/>
          <a:p>
            <a:r>
              <a:rPr lang="en-US" b="1" u="sng" dirty="0" smtClean="0"/>
              <a:t>Regular Language</a:t>
            </a:r>
            <a:endParaRPr lang="en-US" b="1" u="sng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438400"/>
            <a:ext cx="69818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143000"/>
            <a:ext cx="67437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Continue….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447800"/>
            <a:ext cx="736282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/>
              <a:t>Method 3 (Regular Expressions)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Previously, we defined the languages: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057400"/>
            <a:ext cx="44100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066800" y="2971800"/>
            <a:ext cx="723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3333CC"/>
                </a:solidFill>
              </a:rPr>
              <a:t>But these are not very precise ways of defining languages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So </a:t>
            </a:r>
            <a:r>
              <a:rPr lang="en-US" dirty="0" smtClean="0"/>
              <a:t>we now want to be very precise about how we define languages, and</a:t>
            </a:r>
          </a:p>
          <a:p>
            <a:r>
              <a:rPr lang="en-US" dirty="0" smtClean="0"/>
              <a:t>we will do this using </a:t>
            </a:r>
            <a:r>
              <a:rPr lang="en-US" b="1" dirty="0" smtClean="0">
                <a:solidFill>
                  <a:srgbClr val="FF0000"/>
                </a:solidFill>
              </a:rPr>
              <a:t>regular expressions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43000" y="4191000"/>
            <a:ext cx="8001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Font typeface="Wingdings" pitchFamily="2" charset="2"/>
              <a:buChar char="§"/>
            </a:pPr>
            <a:r>
              <a:rPr lang="en-US" sz="1600" dirty="0" smtClean="0"/>
              <a:t>Languages that are associated with these </a:t>
            </a:r>
            <a:r>
              <a:rPr lang="en-US" sz="1600" dirty="0" smtClean="0">
                <a:solidFill>
                  <a:srgbClr val="FF0000"/>
                </a:solidFill>
              </a:rPr>
              <a:t>regular expressions</a:t>
            </a:r>
            <a:r>
              <a:rPr lang="en-US" sz="1600" dirty="0" smtClean="0"/>
              <a:t> are </a:t>
            </a:r>
            <a:r>
              <a:rPr lang="en-US" sz="1600" dirty="0" smtClean="0"/>
              <a:t>called </a:t>
            </a:r>
            <a:r>
              <a:rPr lang="en-US" sz="1600" dirty="0" smtClean="0">
                <a:solidFill>
                  <a:srgbClr val="FF0000"/>
                </a:solidFill>
              </a:rPr>
              <a:t>regular </a:t>
            </a:r>
            <a:r>
              <a:rPr lang="en-US" sz="1600" dirty="0" smtClean="0">
                <a:solidFill>
                  <a:srgbClr val="FF0000"/>
                </a:solidFill>
              </a:rPr>
              <a:t>language</a:t>
            </a:r>
            <a:r>
              <a:rPr lang="en-US" sz="1600" dirty="0" smtClean="0"/>
              <a:t>s </a:t>
            </a:r>
            <a:r>
              <a:rPr lang="en-US" dirty="0" smtClean="0"/>
              <a:t>and are also said to be defined by a finite representation</a:t>
            </a:r>
            <a:r>
              <a:rPr lang="en-US" dirty="0" smtClean="0"/>
              <a:t>.</a:t>
            </a:r>
          </a:p>
          <a:p>
            <a:pPr marL="800100" lvl="1" indent="-342900" algn="just"/>
            <a:endParaRPr lang="en-US" dirty="0" smtClean="0"/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 smtClean="0"/>
              <a:t>Regular expressions are written in bold face letters and are a way </a:t>
            </a:r>
            <a:r>
              <a:rPr lang="en-US" dirty="0" smtClean="0"/>
              <a:t>of specifying </a:t>
            </a:r>
            <a:r>
              <a:rPr lang="en-US" dirty="0" smtClean="0"/>
              <a:t>the language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Defining Languages By New Methods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192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b="1" u="sng" dirty="0" smtClean="0"/>
              <a:t>Regular Expressions</a:t>
            </a:r>
            <a:endParaRPr lang="en-US" dirty="0" smtClean="0"/>
          </a:p>
          <a:p>
            <a:pPr algn="just">
              <a:buNone/>
            </a:pPr>
            <a:r>
              <a:rPr lang="en-US" sz="2400" dirty="0" smtClean="0"/>
              <a:t>A </a:t>
            </a:r>
            <a:r>
              <a:rPr lang="en-US" sz="2400" dirty="0" smtClean="0"/>
              <a:t>regular Expression on the other hand, must take a very rigorous form as defined below recursively</a:t>
            </a:r>
            <a:r>
              <a:rPr lang="en-US" sz="2400" dirty="0" smtClean="0"/>
              <a:t>.</a:t>
            </a:r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427913" y="2819400"/>
            <a:ext cx="7716087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Symbols that appear in RE are the Letters of the alphabet </a:t>
            </a:r>
            <a:r>
              <a:rPr lang="en-US" dirty="0" smtClean="0">
                <a:latin typeface="Symbol" pitchFamily="18" charset="2"/>
              </a:rPr>
              <a:t>S, </a:t>
            </a:r>
            <a:r>
              <a:rPr lang="en-US" dirty="0" smtClean="0"/>
              <a:t>the symbol for </a:t>
            </a:r>
          </a:p>
          <a:p>
            <a:r>
              <a:rPr lang="en-US" dirty="0" smtClean="0"/>
              <a:t>the null string </a:t>
            </a:r>
            <a:r>
              <a:rPr lang="el-GR" dirty="0" smtClean="0">
                <a:latin typeface="Times New Roman" pitchFamily="18" charset="0"/>
                <a:cs typeface="Arial" charset="0"/>
              </a:rPr>
              <a:t>ε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, parenthesis, the star operator, and the plus sign.</a:t>
            </a:r>
          </a:p>
          <a:p>
            <a:endParaRPr lang="en-US" dirty="0" smtClean="0">
              <a:latin typeface="Times New Roman" pitchFamily="18" charset="0"/>
              <a:cs typeface="Arial" charset="0"/>
            </a:endParaRPr>
          </a:p>
          <a:p>
            <a:r>
              <a:rPr lang="en-US" dirty="0" smtClean="0"/>
              <a:t>Loosely speaking, a regular expression is a way of specifying a </a:t>
            </a:r>
            <a:r>
              <a:rPr lang="en-US" dirty="0" smtClean="0"/>
              <a:t>language in </a:t>
            </a:r>
            <a:r>
              <a:rPr lang="en-US" dirty="0" smtClean="0"/>
              <a:t>which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only operations allowed are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smtClean="0">
                <a:solidFill>
                  <a:srgbClr val="3333CC"/>
                </a:solidFill>
              </a:rPr>
              <a:t>union (+),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smtClean="0">
                <a:solidFill>
                  <a:srgbClr val="3333CC"/>
                </a:solidFill>
              </a:rPr>
              <a:t>concatenation (or product),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err="1" smtClean="0">
                <a:solidFill>
                  <a:srgbClr val="3333CC"/>
                </a:solidFill>
              </a:rPr>
              <a:t>Kleene</a:t>
            </a:r>
            <a:r>
              <a:rPr lang="en-US" dirty="0" smtClean="0">
                <a:solidFill>
                  <a:srgbClr val="3333CC"/>
                </a:solidFill>
              </a:rPr>
              <a:t>- closure,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smtClean="0">
                <a:solidFill>
                  <a:srgbClr val="3333CC"/>
                </a:solidFill>
              </a:rPr>
              <a:t>superscript-+.</a:t>
            </a:r>
            <a:endParaRPr lang="en-US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Recursive definition of Regular Expression(RE)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Step 1</a:t>
            </a:r>
            <a:r>
              <a:rPr lang="en-US" sz="1900" dirty="0" smtClean="0"/>
              <a:t>: Every letter of Σ including Λ is a regular expression.</a:t>
            </a:r>
          </a:p>
          <a:p>
            <a:pPr>
              <a:buNone/>
            </a:pPr>
            <a:r>
              <a:rPr lang="en-US" dirty="0" smtClean="0"/>
              <a:t>Step 2: </a:t>
            </a:r>
            <a:r>
              <a:rPr lang="en-US" sz="2000" dirty="0" smtClean="0"/>
              <a:t>If </a:t>
            </a:r>
            <a:r>
              <a:rPr lang="en-US" sz="2000" dirty="0" smtClean="0">
                <a:solidFill>
                  <a:srgbClr val="FF0000"/>
                </a:solidFill>
              </a:rPr>
              <a:t>r1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FF0000"/>
                </a:solidFill>
              </a:rPr>
              <a:t>r2 </a:t>
            </a:r>
            <a:r>
              <a:rPr lang="en-US" sz="2000" dirty="0" smtClean="0"/>
              <a:t>are regular expressions then</a:t>
            </a:r>
          </a:p>
          <a:p>
            <a:pPr lvl="8">
              <a:buNone/>
            </a:pPr>
            <a:r>
              <a:rPr lang="en-US" sz="2400" dirty="0" smtClean="0"/>
              <a:t>(r1)</a:t>
            </a:r>
          </a:p>
          <a:p>
            <a:pPr lvl="8">
              <a:buNone/>
            </a:pPr>
            <a:r>
              <a:rPr lang="en-US" sz="2400" dirty="0" smtClean="0"/>
              <a:t>r1 r2</a:t>
            </a:r>
          </a:p>
          <a:p>
            <a:pPr lvl="8">
              <a:buNone/>
            </a:pPr>
            <a:r>
              <a:rPr lang="en-US" sz="2400" dirty="0" smtClean="0"/>
              <a:t>r1 + r2 and</a:t>
            </a:r>
          </a:p>
          <a:p>
            <a:pPr lvl="8">
              <a:buNone/>
            </a:pPr>
            <a:r>
              <a:rPr lang="en-US" sz="2400" dirty="0" smtClean="0"/>
              <a:t>r1*</a:t>
            </a:r>
          </a:p>
          <a:p>
            <a:pPr>
              <a:buNone/>
            </a:pPr>
            <a:r>
              <a:rPr lang="en-US" sz="2000" dirty="0" smtClean="0"/>
              <a:t>are also regular expressions.</a:t>
            </a:r>
          </a:p>
          <a:p>
            <a:pPr>
              <a:buNone/>
            </a:pPr>
            <a:r>
              <a:rPr lang="en-US" dirty="0" smtClean="0"/>
              <a:t>Step 3: </a:t>
            </a:r>
            <a:r>
              <a:rPr lang="en-US" sz="2400" dirty="0" smtClean="0"/>
              <a:t>Nothing else is a regular expression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endParaRPr lang="en-US" b="1" u="sng" dirty="0"/>
          </a:p>
        </p:txBody>
      </p:sp>
      <p:sp>
        <p:nvSpPr>
          <p:cNvPr id="5" name="Rectangle 4"/>
          <p:cNvSpPr/>
          <p:nvPr/>
        </p:nvSpPr>
        <p:spPr>
          <a:xfrm>
            <a:off x="1524000" y="2057400"/>
            <a:ext cx="762000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As discussed earlier that L1= {Λ, a, </a:t>
            </a:r>
            <a:r>
              <a:rPr lang="en-US" sz="1600" dirty="0" err="1" smtClean="0"/>
              <a:t>aa</a:t>
            </a:r>
            <a:r>
              <a:rPr lang="en-US" sz="1600" dirty="0" smtClean="0"/>
              <a:t>, </a:t>
            </a:r>
            <a:r>
              <a:rPr lang="en-US" sz="1600" dirty="0" err="1" smtClean="0"/>
              <a:t>aaa</a:t>
            </a:r>
            <a:r>
              <a:rPr lang="en-US" sz="1600" dirty="0" smtClean="0"/>
              <a:t>, …} </a:t>
            </a:r>
            <a:r>
              <a:rPr lang="en-US" sz="1600" dirty="0" smtClean="0"/>
              <a:t>or a</a:t>
            </a:r>
            <a:r>
              <a:rPr lang="en-US" sz="1600" dirty="0" smtClean="0"/>
              <a:t>* </a:t>
            </a:r>
            <a:r>
              <a:rPr lang="en-US" sz="1600" dirty="0" smtClean="0"/>
              <a:t>which generates {Λ</a:t>
            </a:r>
            <a:r>
              <a:rPr lang="en-US" sz="1600" dirty="0" smtClean="0"/>
              <a:t>, a, </a:t>
            </a:r>
            <a:r>
              <a:rPr lang="en-US" sz="1600" dirty="0" err="1" smtClean="0"/>
              <a:t>aa</a:t>
            </a:r>
            <a:r>
              <a:rPr lang="en-US" sz="1600" dirty="0" smtClean="0"/>
              <a:t>, </a:t>
            </a:r>
            <a:r>
              <a:rPr lang="en-US" sz="1600" dirty="0" err="1" smtClean="0"/>
              <a:t>aaa</a:t>
            </a:r>
            <a:r>
              <a:rPr lang="en-US" sz="1600" dirty="0" smtClean="0"/>
              <a:t>, </a:t>
            </a:r>
            <a:r>
              <a:rPr lang="en-US" sz="1600" dirty="0" smtClean="0"/>
              <a:t>…}</a:t>
            </a:r>
          </a:p>
          <a:p>
            <a:pPr algn="ctr"/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and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L2 = {a, </a:t>
            </a:r>
            <a:r>
              <a:rPr lang="en-US" dirty="0" err="1" smtClean="0"/>
              <a:t>aa</a:t>
            </a:r>
            <a:r>
              <a:rPr lang="en-US" dirty="0" smtClean="0"/>
              <a:t>, </a:t>
            </a:r>
            <a:r>
              <a:rPr lang="en-US" dirty="0" err="1" smtClean="0"/>
              <a:t>aaa</a:t>
            </a:r>
            <a:r>
              <a:rPr lang="en-US" dirty="0" smtClean="0"/>
              <a:t>, </a:t>
            </a:r>
            <a:r>
              <a:rPr lang="en-US" dirty="0" err="1" smtClean="0"/>
              <a:t>aaaa</a:t>
            </a:r>
            <a:r>
              <a:rPr lang="en-US" dirty="0" smtClean="0"/>
              <a:t>, </a:t>
            </a:r>
            <a:r>
              <a:rPr lang="en-US" dirty="0" smtClean="0"/>
              <a:t>…} or  a+ which  </a:t>
            </a:r>
            <a:r>
              <a:rPr lang="en-US" dirty="0" smtClean="0"/>
              <a:t>generates </a:t>
            </a:r>
            <a:r>
              <a:rPr lang="en-US" dirty="0" smtClean="0"/>
              <a:t>{a</a:t>
            </a:r>
            <a:r>
              <a:rPr lang="en-US" dirty="0" smtClean="0"/>
              <a:t>, </a:t>
            </a:r>
            <a:r>
              <a:rPr lang="en-US" dirty="0" err="1" smtClean="0"/>
              <a:t>aa</a:t>
            </a:r>
            <a:r>
              <a:rPr lang="en-US" dirty="0" smtClean="0"/>
              <a:t>, </a:t>
            </a:r>
            <a:r>
              <a:rPr lang="en-US" dirty="0" err="1" smtClean="0"/>
              <a:t>aaa</a:t>
            </a:r>
            <a:r>
              <a:rPr lang="en-US" dirty="0" smtClean="0"/>
              <a:t>, </a:t>
            </a:r>
            <a:r>
              <a:rPr lang="en-US" dirty="0" err="1" smtClean="0"/>
              <a:t>aaaa</a:t>
            </a:r>
            <a:r>
              <a:rPr lang="en-US" dirty="0" smtClean="0"/>
              <a:t>, …, </a:t>
            </a:r>
            <a:r>
              <a:rPr lang="en-US" dirty="0" smtClean="0"/>
              <a:t>}so </a:t>
            </a:r>
            <a:r>
              <a:rPr lang="en-US" dirty="0" smtClean="0"/>
              <a:t>the language </a:t>
            </a:r>
            <a:r>
              <a:rPr lang="en-US" dirty="0" smtClean="0"/>
              <a:t>and can </a:t>
            </a:r>
            <a:r>
              <a:rPr lang="en-US" dirty="0" smtClean="0"/>
              <a:t>simply be expressed by </a:t>
            </a:r>
            <a:r>
              <a:rPr lang="en-US" dirty="0" smtClean="0"/>
              <a:t>: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r1</a:t>
            </a:r>
            <a:r>
              <a:rPr lang="en-US" dirty="0" smtClean="0"/>
              <a:t> </a:t>
            </a:r>
            <a:r>
              <a:rPr lang="en-US" dirty="0" smtClean="0"/>
              <a:t>: a</a:t>
            </a:r>
            <a:r>
              <a:rPr lang="en-US" dirty="0" smtClean="0"/>
              <a:t>* </a:t>
            </a:r>
            <a:r>
              <a:rPr lang="en-US" dirty="0" smtClean="0"/>
              <a:t>                                and</a:t>
            </a:r>
          </a:p>
          <a:p>
            <a:r>
              <a:rPr lang="en-US" dirty="0" smtClean="0"/>
              <a:t> </a:t>
            </a:r>
            <a:r>
              <a:rPr lang="en-US" dirty="0" smtClean="0"/>
              <a:t>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r2 :</a:t>
            </a:r>
            <a:r>
              <a:rPr lang="en-US" dirty="0" smtClean="0"/>
              <a:t> a+,                             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a+</a:t>
            </a:r>
            <a:r>
              <a:rPr lang="en-US" dirty="0" smtClean="0"/>
              <a:t> are called the regular expressions (</a:t>
            </a:r>
            <a:r>
              <a:rPr lang="en-US" dirty="0" smtClean="0">
                <a:solidFill>
                  <a:srgbClr val="FF0000"/>
                </a:solidFill>
              </a:rPr>
              <a:t>RE)</a:t>
            </a:r>
            <a:r>
              <a:rPr lang="en-US" dirty="0" smtClean="0"/>
              <a:t> for L1 and L2 respectively.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Language L1 </a:t>
            </a:r>
            <a:r>
              <a:rPr lang="en-US" dirty="0" smtClean="0"/>
              <a:t>= {x, xx, xxx, </a:t>
            </a:r>
            <a:r>
              <a:rPr lang="en-US" dirty="0" err="1" smtClean="0"/>
              <a:t>xxxx</a:t>
            </a:r>
            <a:r>
              <a:rPr lang="en-US" dirty="0" smtClean="0"/>
              <a:t>, . . </a:t>
            </a:r>
            <a:r>
              <a:rPr lang="en-US" dirty="0" smtClean="0"/>
              <a:t>.}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209800"/>
            <a:ext cx="48006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752600" y="4343400"/>
            <a:ext cx="723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Note that there are </a:t>
            </a:r>
            <a:r>
              <a:rPr lang="en-US" dirty="0" smtClean="0">
                <a:solidFill>
                  <a:srgbClr val="FF0000"/>
                </a:solidFill>
              </a:rPr>
              <a:t>several different </a:t>
            </a:r>
            <a:r>
              <a:rPr lang="en-US" dirty="0" smtClean="0"/>
              <a:t>regular expressions associated with L1.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consider another language L, of strings having </a:t>
            </a:r>
            <a:r>
              <a:rPr lang="en-US" sz="2400" dirty="0" smtClean="0">
                <a:solidFill>
                  <a:srgbClr val="FF0000"/>
                </a:solidFill>
              </a:rPr>
              <a:t>exactly </a:t>
            </a:r>
            <a:r>
              <a:rPr lang="en-US" sz="2400" dirty="0" smtClean="0"/>
              <a:t>one a, defined over Σ = {a, b</a:t>
            </a:r>
            <a:r>
              <a:rPr lang="en-US" sz="2400" dirty="0" smtClean="0"/>
              <a:t>} . Write a RE for it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then it’s R</a:t>
            </a:r>
            <a:r>
              <a:rPr lang="en-US" sz="2400" dirty="0" smtClean="0"/>
              <a:t>egular Expression may be:</a:t>
            </a:r>
          </a:p>
          <a:p>
            <a:pPr algn="ctr"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  </a:t>
            </a:r>
            <a:r>
              <a:rPr lang="en-US" sz="2400" dirty="0" smtClean="0">
                <a:solidFill>
                  <a:srgbClr val="FF0000"/>
                </a:solidFill>
              </a:rPr>
              <a:t>r = </a:t>
            </a:r>
            <a:r>
              <a:rPr lang="en-US" sz="2400" dirty="0" smtClean="0">
                <a:solidFill>
                  <a:srgbClr val="FF0000"/>
                </a:solidFill>
              </a:rPr>
              <a:t>b*</a:t>
            </a:r>
            <a:r>
              <a:rPr lang="en-US" sz="2400" dirty="0" err="1" smtClean="0">
                <a:solidFill>
                  <a:srgbClr val="FF0000"/>
                </a:solidFill>
              </a:rPr>
              <a:t>ab</a:t>
            </a:r>
            <a:r>
              <a:rPr lang="en-US" sz="2400" dirty="0" smtClean="0">
                <a:solidFill>
                  <a:srgbClr val="FF0000"/>
                </a:solidFill>
              </a:rPr>
              <a:t>*</a:t>
            </a:r>
          </a:p>
          <a:p>
            <a:pPr algn="ctr">
              <a:buNone/>
            </a:pPr>
            <a:endParaRPr lang="en-US" sz="2400" dirty="0" smtClean="0"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/>
              <a:t>consider another language L, </a:t>
            </a:r>
            <a:r>
              <a:rPr lang="en-US" sz="2400" dirty="0" smtClean="0"/>
              <a:t>having strings of </a:t>
            </a:r>
            <a:r>
              <a:rPr lang="en-US" sz="2400" dirty="0" smtClean="0"/>
              <a:t>even length, defined over Σ = {a, b</a:t>
            </a:r>
            <a:r>
              <a:rPr lang="en-US" sz="2400" dirty="0" smtClean="0"/>
              <a:t>}</a:t>
            </a:r>
          </a:p>
          <a:p>
            <a:pPr>
              <a:buNone/>
            </a:pPr>
            <a:r>
              <a:rPr lang="en-US" sz="2400" dirty="0" smtClean="0"/>
              <a:t>   then </a:t>
            </a:r>
            <a:r>
              <a:rPr lang="en-US" sz="2400" dirty="0" smtClean="0"/>
              <a:t>it’s regular expression may </a:t>
            </a:r>
            <a:r>
              <a:rPr lang="en-US" sz="2400" dirty="0" smtClean="0"/>
              <a:t>be: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  r = </a:t>
            </a:r>
            <a:r>
              <a:rPr lang="en-US" sz="2400" dirty="0" smtClean="0">
                <a:solidFill>
                  <a:srgbClr val="FF0000"/>
                </a:solidFill>
              </a:rPr>
              <a:t>((</a:t>
            </a:r>
            <a:r>
              <a:rPr lang="en-US" sz="2400" dirty="0" err="1" smtClean="0">
                <a:solidFill>
                  <a:srgbClr val="FF0000"/>
                </a:solidFill>
              </a:rPr>
              <a:t>a+b</a:t>
            </a:r>
            <a:r>
              <a:rPr lang="en-US" sz="2400" dirty="0" smtClean="0">
                <a:solidFill>
                  <a:srgbClr val="FF0000"/>
                </a:solidFill>
              </a:rPr>
              <a:t>)(</a:t>
            </a:r>
            <a:r>
              <a:rPr lang="en-US" sz="2400" dirty="0" err="1" smtClean="0">
                <a:solidFill>
                  <a:srgbClr val="FF0000"/>
                </a:solidFill>
              </a:rPr>
              <a:t>a+b</a:t>
            </a:r>
            <a:r>
              <a:rPr lang="en-US" sz="2400" dirty="0" smtClean="0">
                <a:solidFill>
                  <a:srgbClr val="FF0000"/>
                </a:solidFill>
              </a:rPr>
              <a:t>))*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r>
              <a:rPr lang="en-US" b="1" dirty="0" smtClean="0"/>
              <a:t>:</a:t>
            </a:r>
            <a:endParaRPr lang="en-US" b="1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295400"/>
            <a:ext cx="24955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676400" y="1371600"/>
            <a:ext cx="1751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alphabet  = {a, b}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2133600"/>
            <a:ext cx="3560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Describe A language from above RE: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667000"/>
            <a:ext cx="81534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752600"/>
            <a:ext cx="72390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447800"/>
            <a:ext cx="71056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371600"/>
            <a:ext cx="76200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886200"/>
            <a:ext cx="3228975" cy="3619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4572000"/>
            <a:ext cx="49815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00200"/>
            <a:ext cx="69818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962400"/>
            <a:ext cx="520065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28800"/>
            <a:ext cx="7499350" cy="1195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962400"/>
            <a:ext cx="3581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76400"/>
            <a:ext cx="56007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7988" y="3252788"/>
            <a:ext cx="32480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524000"/>
            <a:ext cx="7499350" cy="60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227</TotalTime>
  <Words>642</Words>
  <Application>Microsoft Office PowerPoint</Application>
  <PresentationFormat>On-screen Show (4:3)</PresentationFormat>
  <Paragraphs>93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Solstice</vt:lpstr>
      <vt:lpstr>Recursive Language Definition and RE</vt:lpstr>
      <vt:lpstr>Definition</vt:lpstr>
      <vt:lpstr>Continue…</vt:lpstr>
      <vt:lpstr>Example 1</vt:lpstr>
      <vt:lpstr>Continue…</vt:lpstr>
      <vt:lpstr>Second definition</vt:lpstr>
      <vt:lpstr>Show that 12 is in P-EVEN</vt:lpstr>
      <vt:lpstr>Example 2</vt:lpstr>
      <vt:lpstr>Example 3</vt:lpstr>
      <vt:lpstr>Example 4</vt:lpstr>
      <vt:lpstr>Its YOUR Turn…</vt:lpstr>
      <vt:lpstr>Defining the language factorial</vt:lpstr>
      <vt:lpstr>Regular Language</vt:lpstr>
      <vt:lpstr>Continue….</vt:lpstr>
      <vt:lpstr>Method 3 (Regular Expressions)</vt:lpstr>
      <vt:lpstr>Defining Languages By New Methods</vt:lpstr>
      <vt:lpstr>Recursive definition of Regular Expression(RE)</vt:lpstr>
      <vt:lpstr>Example</vt:lpstr>
      <vt:lpstr>Example1:</vt:lpstr>
      <vt:lpstr>Example2:</vt:lpstr>
      <vt:lpstr>Example:</vt:lpstr>
      <vt:lpstr>Example:</vt:lpstr>
      <vt:lpstr>Example:</vt:lpstr>
      <vt:lpstr>Example:</vt:lpstr>
      <vt:lpstr>Example:</vt:lpstr>
      <vt:lpstr>Slide 26</vt:lpstr>
      <vt:lpstr>Slide 27</vt:lpstr>
      <vt:lpstr>Theorem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Recursive Language Definition</dc:title>
  <dc:creator>Azam</dc:creator>
  <cp:lastModifiedBy>Azam</cp:lastModifiedBy>
  <cp:revision>41</cp:revision>
  <dcterms:created xsi:type="dcterms:W3CDTF">2013-02-18T11:32:00Z</dcterms:created>
  <dcterms:modified xsi:type="dcterms:W3CDTF">2013-02-20T08:34:06Z</dcterms:modified>
</cp:coreProperties>
</file>