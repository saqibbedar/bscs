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7" r:id="rId9"/>
    <p:sldId id="263" r:id="rId10"/>
    <p:sldId id="264" r:id="rId11"/>
    <p:sldId id="268" r:id="rId12"/>
    <p:sldId id="265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60" r:id="rId26"/>
    <p:sldId id="27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A6724FB4-AA7B-4587-BA69-542E7A610EBE}" type="datetimeFigureOut">
              <a:rPr lang="en-US" smtClean="0"/>
              <a:pPr/>
              <a:t>2/13/2013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18EAD14-4141-41C9-A38C-0084746BC4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tower.com/introduction-languages-theory-computation-john-c-martin-hardcover/wapi/100237807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://www.printernational.co.uk/clearance.ht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810000"/>
            <a:ext cx="7406640" cy="14721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BSCS- 501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Theory Of Computer Science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Credit Hour (2+1)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Department Of Computer Science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University Of Karachi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Textbook: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143000"/>
            <a:ext cx="7772400" cy="4800600"/>
          </a:xfrm>
        </p:spPr>
        <p:txBody>
          <a:bodyPr/>
          <a:lstStyle/>
          <a:p>
            <a:r>
              <a:rPr lang="en-US" sz="2800" dirty="0" smtClean="0"/>
              <a:t>Introduction To Computer Theory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sz="2400" dirty="0" smtClean="0"/>
              <a:t>Daniel I. A. Cohen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Introduction to Languages and the Theory of Computation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John C. Martin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://i43.tower.com/images/mm100237807/introduction-languages-theory-computation-john-c-martin-hardcover-cover-art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733800"/>
            <a:ext cx="2286000" cy="2124076"/>
          </a:xfrm>
          <a:prstGeom prst="rect">
            <a:avLst/>
          </a:prstGeom>
          <a:noFill/>
        </p:spPr>
      </p:pic>
      <p:pic>
        <p:nvPicPr>
          <p:cNvPr id="1028" name="Picture 4" descr="http://www.printernational.co.uk/images/clearance/ComputerTheory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1143000"/>
            <a:ext cx="2057400" cy="2057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914400" y="5105400"/>
            <a:ext cx="5715000" cy="86177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7663" indent="-347663">
              <a:spcBef>
                <a:spcPct val="40000"/>
              </a:spcBef>
              <a:buFont typeface="Wingdings" pitchFamily="2" charset="2"/>
              <a:buChar char="v"/>
              <a:defRPr/>
            </a:pPr>
            <a:r>
              <a:rPr lang="en-US" sz="2200" dirty="0">
                <a:solidFill>
                  <a:srgbClr val="FF0000"/>
                </a:solidFill>
              </a:rPr>
              <a:t>Read the textbook!</a:t>
            </a:r>
          </a:p>
          <a:p>
            <a:pPr marL="798513" lvl="1" indent="-336550">
              <a:spcBef>
                <a:spcPct val="40000"/>
              </a:spcBef>
              <a:buFont typeface="Wingdings" pitchFamily="2" charset="2"/>
              <a:buChar char="²"/>
              <a:defRPr/>
            </a:pPr>
            <a:r>
              <a:rPr lang="en-US" sz="2000" dirty="0"/>
              <a:t>Key for learning and obtaining a </a:t>
            </a:r>
            <a:r>
              <a:rPr lang="en-US" sz="2000" dirty="0" smtClean="0"/>
              <a:t>good grade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 smtClean="0">
                <a:latin typeface="Times New Roman" pitchFamily="18" charset="0"/>
              </a:rPr>
              <a:t>Reference Books</a:t>
            </a:r>
            <a:br>
              <a:rPr lang="en-US" sz="4400" b="1" dirty="0" smtClean="0"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0"/>
            <a:ext cx="7848600" cy="4800600"/>
          </a:xfrm>
        </p:spPr>
        <p:txBody>
          <a:bodyPr/>
          <a:lstStyle/>
          <a:p>
            <a:pPr>
              <a:buSzPct val="100000"/>
            </a:pPr>
            <a:r>
              <a:rPr lang="en-US" sz="2800" dirty="0" err="1" smtClean="0">
                <a:latin typeface="Times New Roman" pitchFamily="18" charset="0"/>
              </a:rPr>
              <a:t>John.E</a:t>
            </a:r>
            <a:r>
              <a:rPr lang="en-US" sz="2800" dirty="0" smtClean="0">
                <a:latin typeface="Times New Roman" pitchFamily="18" charset="0"/>
              </a:rPr>
              <a:t>. </a:t>
            </a:r>
            <a:r>
              <a:rPr lang="en-US" sz="2800" dirty="0" err="1" smtClean="0">
                <a:latin typeface="Times New Roman" pitchFamily="18" charset="0"/>
              </a:rPr>
              <a:t>Hopcroft</a:t>
            </a:r>
            <a:r>
              <a:rPr lang="en-US" sz="2800" dirty="0" smtClean="0">
                <a:latin typeface="Times New Roman" pitchFamily="18" charset="0"/>
              </a:rPr>
              <a:t>, R. </a:t>
            </a:r>
            <a:r>
              <a:rPr lang="en-US" sz="2800" dirty="0" err="1" smtClean="0">
                <a:latin typeface="Times New Roman" pitchFamily="18" charset="0"/>
              </a:rPr>
              <a:t>Motwani</a:t>
            </a:r>
            <a:r>
              <a:rPr lang="en-US" sz="2800" dirty="0" smtClean="0">
                <a:latin typeface="Times New Roman" pitchFamily="18" charset="0"/>
              </a:rPr>
              <a:t>, and J.D. </a:t>
            </a:r>
            <a:r>
              <a:rPr lang="en-US" sz="2800" dirty="0" err="1" smtClean="0">
                <a:latin typeface="Times New Roman" pitchFamily="18" charset="0"/>
              </a:rPr>
              <a:t>Ullman</a:t>
            </a:r>
            <a:endParaRPr lang="en-US" sz="2800" dirty="0" smtClean="0">
              <a:latin typeface="Times New Roman" pitchFamily="18" charset="0"/>
            </a:endParaRPr>
          </a:p>
          <a:p>
            <a:pPr>
              <a:buSzPct val="100000"/>
              <a:buNone/>
            </a:pPr>
            <a:r>
              <a:rPr lang="en-US" sz="2400" i="1" dirty="0" smtClean="0">
                <a:latin typeface="Times New Roman" pitchFamily="18" charset="0"/>
              </a:rPr>
              <a:t>Introduction to Automata Theory, Language and Computation</a:t>
            </a:r>
          </a:p>
          <a:p>
            <a:pPr>
              <a:buSzPct val="100000"/>
              <a:buNone/>
            </a:pPr>
            <a:r>
              <a:rPr lang="en-US" sz="2000" dirty="0" smtClean="0">
                <a:latin typeface="Times New Roman" pitchFamily="18" charset="0"/>
              </a:rPr>
              <a:t>Second </a:t>
            </a:r>
            <a:r>
              <a:rPr lang="en-US" sz="2000" dirty="0" err="1" smtClean="0">
                <a:latin typeface="Times New Roman" pitchFamily="18" charset="0"/>
              </a:rPr>
              <a:t>EditionPearson</a:t>
            </a:r>
            <a:r>
              <a:rPr lang="en-US" sz="2000" dirty="0" smtClean="0">
                <a:latin typeface="Times New Roman" pitchFamily="18" charset="0"/>
              </a:rPr>
              <a:t> Education Asia, 2001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667000"/>
            <a:ext cx="2705100" cy="279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Times New Roman" pitchFamily="18" charset="0"/>
              </a:rPr>
              <a:t>Reference Books</a:t>
            </a:r>
            <a:endParaRPr 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71600" y="1600200"/>
            <a:ext cx="3616184" cy="4621622"/>
          </a:xfrm>
          <a:noFill/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29200" y="1828800"/>
            <a:ext cx="4114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0" i="0" dirty="0">
                <a:latin typeface="Times New Roman" pitchFamily="18" charset="0"/>
              </a:rPr>
              <a:t>K.L.P. </a:t>
            </a:r>
            <a:r>
              <a:rPr lang="en-US" b="0" i="0" dirty="0" err="1">
                <a:latin typeface="Times New Roman" pitchFamily="18" charset="0"/>
              </a:rPr>
              <a:t>Mishra</a:t>
            </a:r>
            <a:r>
              <a:rPr lang="en-US" b="0" i="0" dirty="0">
                <a:latin typeface="Times New Roman" pitchFamily="18" charset="0"/>
              </a:rPr>
              <a:t>, N. </a:t>
            </a:r>
            <a:r>
              <a:rPr lang="en-US" b="0" i="0" dirty="0" err="1">
                <a:latin typeface="Times New Roman" pitchFamily="18" charset="0"/>
              </a:rPr>
              <a:t>Chandrasekaran</a:t>
            </a:r>
            <a:endParaRPr lang="en-US" b="0" dirty="0">
              <a:latin typeface="Times New Roman" pitchFamily="18" charset="0"/>
            </a:endParaRPr>
          </a:p>
          <a:p>
            <a:r>
              <a:rPr lang="en-US" b="0" dirty="0">
                <a:latin typeface="Times New Roman" pitchFamily="18" charset="0"/>
              </a:rPr>
              <a:t>Theory of Computer Science </a:t>
            </a:r>
            <a:r>
              <a:rPr lang="en-US" b="0" i="0" dirty="0">
                <a:latin typeface="Times New Roman" pitchFamily="18" charset="0"/>
              </a:rPr>
              <a:t>(Automata, Languages &amp; Computation)</a:t>
            </a:r>
          </a:p>
          <a:p>
            <a:r>
              <a:rPr lang="en-US" b="0" i="0" dirty="0">
                <a:latin typeface="Times New Roman" pitchFamily="18" charset="0"/>
              </a:rPr>
              <a:t>Second Edition</a:t>
            </a:r>
          </a:p>
          <a:p>
            <a:r>
              <a:rPr lang="en-US" b="0" i="0" dirty="0">
                <a:latin typeface="Times New Roman" pitchFamily="18" charset="0"/>
              </a:rPr>
              <a:t>Prentice Hall of India, 1999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u="sng" dirty="0" smtClean="0">
                <a:solidFill>
                  <a:srgbClr val="000000"/>
                </a:solidFill>
                <a:latin typeface="Times New Roman" pitchFamily="18" charset="0"/>
              </a:rPr>
              <a:t>Course Objectives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36550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major objective of this course is to introduce the student to the concepts of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theory of computation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computer science. The student should acquire insights into the relationship among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formal languages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formal grammars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automata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36550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Upon successful completion of this course, students will be able to:</a:t>
            </a:r>
          </a:p>
          <a:p>
            <a:pPr marL="793750" lvl="1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Apply a number of proof techniques to theorems in language design.</a:t>
            </a:r>
          </a:p>
          <a:p>
            <a:pPr marL="793750" lvl="1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 a clear understanding of un-decidability.</a:t>
            </a:r>
          </a:p>
          <a:p>
            <a:pPr marL="793750" lvl="1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Understand the equivalence between Nondeterministic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Finite State Automata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Deterministic Finite State Automata.</a:t>
            </a:r>
          </a:p>
          <a:p>
            <a:pPr marL="793750" lvl="1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Understand the equivalence between Context-Free Grammars and Nondeterministic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Pushdown Automata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93750" lvl="1" indent="-336550" algn="just">
              <a:spcBef>
                <a:spcPts val="1200"/>
              </a:spcBef>
              <a:buFont typeface="Wingdings" pitchFamily="2" charset="2"/>
              <a:buChar char="§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Appreciate the power of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Turing Machine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as an abstract automaton, that describes computation, effectively and efficiently</a:t>
            </a:r>
            <a:r>
              <a:rPr lang="en-US" dirty="0" smtClean="0">
                <a:latin typeface="NimbusRomNo9L-Regu"/>
              </a:rPr>
              <a:t>.</a:t>
            </a:r>
            <a:endParaRPr lang="en-GB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6"/>
          <p:cNvGraphicFramePr>
            <a:graphicFrameLocks noGrp="1"/>
          </p:cNvGraphicFramePr>
          <p:nvPr>
            <p:ph idx="1"/>
          </p:nvPr>
        </p:nvGraphicFramePr>
        <p:xfrm>
          <a:off x="990600" y="228600"/>
          <a:ext cx="8353425" cy="6324600"/>
        </p:xfrm>
        <a:graphic>
          <a:graphicData uri="http://schemas.openxmlformats.org/drawingml/2006/table">
            <a:tbl>
              <a:tblPr/>
              <a:tblGrid>
                <a:gridCol w="2592387"/>
                <a:gridCol w="5761038"/>
              </a:tblGrid>
              <a:tr h="12778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itchFamily="34" charset="0"/>
                        </a:rPr>
                        <a:t>finite automata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Devices with a finite amount of memory.</a:t>
                      </a:r>
                      <a:b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</a:b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Used to model “small” computers.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57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itchFamily="34" charset="0"/>
                        </a:rPr>
                        <a:t>push-down automata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Devices with infinite memory that can be accessed in a restricted way.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Used to model parsers, etc.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itchFamily="34" charset="0"/>
                        </a:rPr>
                        <a:t>Turing Machines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Devices with infinite memory.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Used to model any computer.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22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Gill Sans MT" pitchFamily="34" charset="0"/>
                        </a:rPr>
                        <a:t>time-bounded Turing Machines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Infinite memory, but bounded running time.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Used to model any computer program that runs in a “reasonable” amount of time.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Three Basic Concepts: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Language, </a:t>
            </a:r>
          </a:p>
          <a:p>
            <a:r>
              <a:rPr lang="en-US" dirty="0" smtClean="0"/>
              <a:t>Grammar and </a:t>
            </a:r>
          </a:p>
          <a:p>
            <a:r>
              <a:rPr lang="en-US" dirty="0" smtClean="0"/>
              <a:t>Automata </a:t>
            </a:r>
          </a:p>
          <a:p>
            <a:pPr algn="just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These three concepts provide the foundation core of the course “Automata Theory”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Languages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1676400"/>
            <a:ext cx="2590800" cy="381000"/>
          </a:xfrm>
          <a:prstGeom prst="rect">
            <a:avLst/>
          </a:prstGeom>
          <a:noFill/>
          <a:ln w="41275" cap="sq">
            <a:solidFill>
              <a:srgbClr val="FF0000"/>
            </a:solidFill>
            <a:beve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Language</a:t>
            </a:r>
            <a:endParaRPr lang="en-US" b="1" dirty="0"/>
          </a:p>
        </p:txBody>
      </p: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4343400" y="2057400"/>
            <a:ext cx="0" cy="60960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752600" y="2667000"/>
            <a:ext cx="5638800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752600" y="2667000"/>
            <a:ext cx="0" cy="381000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343400" y="2667000"/>
            <a:ext cx="0" cy="381000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391400" y="2667000"/>
            <a:ext cx="0" cy="381000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0600" y="3048000"/>
            <a:ext cx="1828800" cy="646331"/>
          </a:xfrm>
          <a:prstGeom prst="rect">
            <a:avLst/>
          </a:prstGeom>
          <a:noFill/>
          <a:ln w="41275" cap="sq">
            <a:solidFill>
              <a:srgbClr val="FF0000"/>
            </a:solidFill>
            <a:beve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Natural Languages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429000" y="3048000"/>
            <a:ext cx="1828800" cy="646331"/>
          </a:xfrm>
          <a:prstGeom prst="rect">
            <a:avLst/>
          </a:prstGeom>
          <a:noFill/>
          <a:ln w="41275" cap="sq">
            <a:solidFill>
              <a:srgbClr val="FF0000"/>
            </a:solidFill>
            <a:beve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Computer Languages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324600" y="3048000"/>
            <a:ext cx="1828800" cy="646331"/>
          </a:xfrm>
          <a:prstGeom prst="rect">
            <a:avLst/>
          </a:prstGeom>
          <a:noFill/>
          <a:ln w="41275" cap="sq">
            <a:solidFill>
              <a:srgbClr val="FF0000"/>
            </a:solidFill>
            <a:beve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Mathematical Languages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371600" y="4038600"/>
            <a:ext cx="7592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general definition of languages encompass all of these various types languages:</a:t>
            </a:r>
            <a:endParaRPr lang="en-US" dirty="0"/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1828800" y="4572000"/>
            <a:ext cx="7181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Gill Sans MT" pitchFamily="34" charset="0"/>
              </a:rPr>
              <a:t>A </a:t>
            </a:r>
            <a:r>
              <a:rPr lang="en-US" sz="2800" dirty="0">
                <a:solidFill>
                  <a:schemeClr val="accent2"/>
                </a:solidFill>
                <a:latin typeface="Gill Sans MT" pitchFamily="34" charset="0"/>
              </a:rPr>
              <a:t>language </a:t>
            </a:r>
            <a:r>
              <a:rPr lang="en-US" sz="2800" dirty="0">
                <a:latin typeface="Gill Sans MT" pitchFamily="34" charset="0"/>
              </a:rPr>
              <a:t>is a set of strings over an alphabet.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Alphabets</a:t>
            </a:r>
            <a:endParaRPr lang="en-US" b="1" u="sng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90575" y="1219200"/>
            <a:ext cx="8353425" cy="31686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lvl="0" indent="-283464" algn="just"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finite</a:t>
            </a:r>
            <a:r>
              <a:rPr kumimoji="0" lang="en-US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non empty set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 of symbols is called </a:t>
            </a:r>
            <a:r>
              <a:rPr lang="en-US" sz="26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alphabet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65760" lvl="0" indent="-283464" algn="just"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common way to talk about words, number, pairs of words, etc.    is by representing them as </a:t>
            </a: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strings</a:t>
            </a: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65760" marR="0" lvl="0" indent="-283464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 define strings, we start with an </a:t>
            </a: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alphabet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28800" y="4038600"/>
            <a:ext cx="6934200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dirty="0" smtClean="0">
                <a:latin typeface="Garamond" pitchFamily="18" charset="0"/>
              </a:rPr>
              <a:t> </a:t>
            </a:r>
            <a:r>
              <a:rPr lang="en-US" sz="2400" dirty="0">
                <a:latin typeface="Garamond" pitchFamily="18" charset="0"/>
              </a:rPr>
              <a:t>= {a, b, c, d, …, z}</a:t>
            </a:r>
            <a:r>
              <a:rPr lang="en-US" sz="2400" dirty="0">
                <a:latin typeface="Gill Sans MT" pitchFamily="34" charset="0"/>
              </a:rPr>
              <a:t>: the set of letters in English</a:t>
            </a:r>
          </a:p>
          <a:p>
            <a:pPr>
              <a:spcBef>
                <a:spcPct val="20000"/>
              </a:spcBef>
            </a:pP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1</a:t>
            </a:r>
            <a:r>
              <a:rPr lang="en-US" sz="2400" dirty="0" smtClean="0">
                <a:latin typeface="Garamond" pitchFamily="18" charset="0"/>
              </a:rPr>
              <a:t> </a:t>
            </a:r>
            <a:r>
              <a:rPr lang="en-US" sz="2400" dirty="0">
                <a:latin typeface="Garamond" pitchFamily="18" charset="0"/>
              </a:rPr>
              <a:t>= {0, </a:t>
            </a:r>
            <a:r>
              <a:rPr lang="en-US" sz="2400" dirty="0" smtClean="0">
                <a:latin typeface="Garamond" pitchFamily="18" charset="0"/>
              </a:rPr>
              <a:t>1</a:t>
            </a:r>
            <a:r>
              <a:rPr lang="en-US" sz="2400" dirty="0">
                <a:latin typeface="Garamond" pitchFamily="18" charset="0"/>
              </a:rPr>
              <a:t>, …, 9}</a:t>
            </a:r>
            <a:r>
              <a:rPr lang="en-US" sz="2400" dirty="0">
                <a:latin typeface="Gill Sans MT" pitchFamily="34" charset="0"/>
              </a:rPr>
              <a:t>: the set of (base 10) digits</a:t>
            </a:r>
          </a:p>
          <a:p>
            <a:pPr>
              <a:spcBef>
                <a:spcPct val="20000"/>
              </a:spcBef>
            </a:pP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2</a:t>
            </a:r>
            <a:r>
              <a:rPr lang="en-US" sz="2400" dirty="0" smtClean="0">
                <a:latin typeface="Gill Sans MT" pitchFamily="34" charset="0"/>
              </a:rPr>
              <a:t> </a:t>
            </a:r>
            <a:r>
              <a:rPr lang="en-US" sz="2400" dirty="0">
                <a:latin typeface="Garamond" pitchFamily="18" charset="0"/>
              </a:rPr>
              <a:t>= {a, b, …, z, #}</a:t>
            </a:r>
            <a:r>
              <a:rPr lang="en-US" sz="2400" dirty="0">
                <a:latin typeface="Gill Sans MT" pitchFamily="34" charset="0"/>
              </a:rPr>
              <a:t>: the set of letters plus the </a:t>
            </a:r>
            <a:r>
              <a:rPr lang="en-US" sz="2400" dirty="0" smtClean="0">
                <a:latin typeface="Gill Sans MT" pitchFamily="34" charset="0"/>
              </a:rPr>
              <a:t>special                </a:t>
            </a:r>
          </a:p>
          <a:p>
            <a:pPr>
              <a:spcBef>
                <a:spcPct val="20000"/>
              </a:spcBef>
            </a:pPr>
            <a:r>
              <a:rPr lang="en-US" sz="2400" dirty="0" smtClean="0">
                <a:latin typeface="Gill Sans MT" pitchFamily="34" charset="0"/>
              </a:rPr>
              <a:t>                                 symbol </a:t>
            </a:r>
            <a:r>
              <a:rPr lang="en-US" sz="2400" dirty="0">
                <a:latin typeface="Garamond" pitchFamily="18" charset="0"/>
              </a:rPr>
              <a:t>#</a:t>
            </a:r>
          </a:p>
          <a:p>
            <a:pPr>
              <a:spcBef>
                <a:spcPct val="20000"/>
              </a:spcBef>
            </a:pP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3</a:t>
            </a:r>
            <a:r>
              <a:rPr lang="en-US" sz="2400" dirty="0" smtClean="0">
                <a:latin typeface="Garamond" pitchFamily="18" charset="0"/>
              </a:rPr>
              <a:t> </a:t>
            </a:r>
            <a:r>
              <a:rPr lang="en-US" sz="2400" dirty="0">
                <a:latin typeface="Garamond" pitchFamily="18" charset="0"/>
              </a:rPr>
              <a:t>= {</a:t>
            </a:r>
            <a:r>
              <a:rPr lang="en-US" sz="2400" dirty="0">
                <a:latin typeface="Courier New" pitchFamily="49" charset="0"/>
              </a:rPr>
              <a:t>(</a:t>
            </a:r>
            <a:r>
              <a:rPr lang="en-US" sz="2400" dirty="0">
                <a:latin typeface="Garamond" pitchFamily="18" charset="0"/>
              </a:rPr>
              <a:t>, </a:t>
            </a:r>
            <a:r>
              <a:rPr lang="en-US" sz="2400" dirty="0">
                <a:latin typeface="Courier New" pitchFamily="49" charset="0"/>
              </a:rPr>
              <a:t>)</a:t>
            </a:r>
            <a:r>
              <a:rPr lang="en-US" sz="2400" dirty="0">
                <a:latin typeface="Garamond" pitchFamily="18" charset="0"/>
              </a:rPr>
              <a:t>}</a:t>
            </a:r>
            <a:r>
              <a:rPr lang="en-US" sz="2400" dirty="0">
                <a:latin typeface="Gill Sans MT" pitchFamily="34" charset="0"/>
              </a:rPr>
              <a:t>: the set of open and closed brackets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Strings</a:t>
            </a:r>
            <a:endParaRPr lang="en-US" b="1" u="sng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66800" y="2819400"/>
            <a:ext cx="8353425" cy="129698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 string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will be denoted by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e 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66800" y="1143000"/>
            <a:ext cx="8077200" cy="1431161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the individual symbols of an alphabet we construct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which are finite in nature. or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over alphabet S is a finite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sequence of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symbols in S.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579687" y="4144292"/>
            <a:ext cx="5808321" cy="179126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 err="1">
                <a:latin typeface="Garamond" pitchFamily="18" charset="0"/>
              </a:rPr>
              <a:t>abfbz</a:t>
            </a:r>
            <a:r>
              <a:rPr lang="en-US" sz="2400" b="1" dirty="0">
                <a:latin typeface="Garamond" pitchFamily="18" charset="0"/>
              </a:rPr>
              <a:t> </a:t>
            </a:r>
            <a:r>
              <a:rPr lang="en-US" sz="2400" b="1" dirty="0">
                <a:latin typeface="Gill Sans MT" pitchFamily="34" charset="0"/>
              </a:rPr>
              <a:t>is a string over </a:t>
            </a:r>
            <a:r>
              <a:rPr lang="en-US" sz="2400" b="1" dirty="0" smtClean="0">
                <a:latin typeface="Symbol" pitchFamily="18" charset="2"/>
              </a:rPr>
              <a:t>S</a:t>
            </a:r>
            <a:r>
              <a:rPr lang="en-US" sz="2400" b="1" dirty="0" smtClean="0">
                <a:latin typeface="Garamond" pitchFamily="18" charset="0"/>
              </a:rPr>
              <a:t> </a:t>
            </a:r>
            <a:r>
              <a:rPr lang="en-US" sz="2400" b="1" dirty="0">
                <a:latin typeface="Garamond" pitchFamily="18" charset="0"/>
              </a:rPr>
              <a:t>= {a, b, c, d, …, z}</a:t>
            </a:r>
            <a:endParaRPr lang="en-US" sz="2400" b="1" dirty="0">
              <a:latin typeface="Gill Sans MT" pitchFamily="34" charset="0"/>
            </a:endParaRPr>
          </a:p>
          <a:p>
            <a:pPr>
              <a:spcBef>
                <a:spcPct val="20000"/>
              </a:spcBef>
            </a:pPr>
            <a:r>
              <a:rPr lang="en-US" sz="2400" b="1" dirty="0">
                <a:latin typeface="Garamond" pitchFamily="18" charset="0"/>
              </a:rPr>
              <a:t>9021 </a:t>
            </a:r>
            <a:r>
              <a:rPr lang="en-US" sz="2400" b="1" dirty="0">
                <a:latin typeface="Gill Sans MT" pitchFamily="34" charset="0"/>
              </a:rPr>
              <a:t>is a string over </a:t>
            </a:r>
            <a:r>
              <a:rPr lang="en-US" sz="2400" b="1" dirty="0" smtClean="0">
                <a:latin typeface="Symbol" pitchFamily="18" charset="2"/>
              </a:rPr>
              <a:t>S</a:t>
            </a:r>
            <a:r>
              <a:rPr lang="en-US" sz="2400" b="1" baseline="-25000" dirty="0" smtClean="0">
                <a:latin typeface="Symbol" pitchFamily="18" charset="2"/>
              </a:rPr>
              <a:t>1</a:t>
            </a:r>
            <a:r>
              <a:rPr lang="en-US" sz="2400" b="1" dirty="0" smtClean="0">
                <a:latin typeface="Garamond" pitchFamily="18" charset="0"/>
              </a:rPr>
              <a:t> </a:t>
            </a:r>
            <a:r>
              <a:rPr lang="en-US" sz="2400" b="1" dirty="0">
                <a:latin typeface="Garamond" pitchFamily="18" charset="0"/>
              </a:rPr>
              <a:t>= {0, 1, …, 9}</a:t>
            </a:r>
            <a:endParaRPr lang="en-US" sz="2400" b="1" dirty="0">
              <a:latin typeface="Gill Sans MT" pitchFamily="34" charset="0"/>
            </a:endParaRPr>
          </a:p>
          <a:p>
            <a:pPr>
              <a:spcBef>
                <a:spcPct val="20000"/>
              </a:spcBef>
            </a:pPr>
            <a:r>
              <a:rPr lang="en-US" sz="2400" b="1" dirty="0" err="1">
                <a:latin typeface="Garamond" pitchFamily="18" charset="0"/>
              </a:rPr>
              <a:t>ab#bc</a:t>
            </a:r>
            <a:r>
              <a:rPr lang="en-US" sz="2400" b="1" dirty="0">
                <a:latin typeface="Garamond" pitchFamily="18" charset="0"/>
              </a:rPr>
              <a:t> </a:t>
            </a:r>
            <a:r>
              <a:rPr lang="en-US" sz="2400" b="1" dirty="0">
                <a:latin typeface="Gill Sans MT" pitchFamily="34" charset="0"/>
              </a:rPr>
              <a:t>is a string over </a:t>
            </a:r>
            <a:r>
              <a:rPr lang="en-US" sz="2400" b="1" dirty="0" smtClean="0">
                <a:latin typeface="Symbol" pitchFamily="18" charset="2"/>
              </a:rPr>
              <a:t>S</a:t>
            </a:r>
            <a:r>
              <a:rPr lang="en-US" sz="2400" b="1" baseline="-25000" dirty="0" smtClean="0">
                <a:latin typeface="Symbol" pitchFamily="18" charset="2"/>
              </a:rPr>
              <a:t>2</a:t>
            </a:r>
            <a:r>
              <a:rPr lang="en-US" sz="2400" b="1" dirty="0" smtClean="0">
                <a:latin typeface="Gill Sans MT" pitchFamily="34" charset="0"/>
              </a:rPr>
              <a:t> </a:t>
            </a:r>
            <a:r>
              <a:rPr lang="en-US" sz="2400" b="1" dirty="0">
                <a:latin typeface="Garamond" pitchFamily="18" charset="0"/>
              </a:rPr>
              <a:t>= {a, b, …, z, #}</a:t>
            </a:r>
          </a:p>
          <a:p>
            <a:pPr>
              <a:spcBef>
                <a:spcPct val="20000"/>
              </a:spcBef>
            </a:pPr>
            <a:r>
              <a:rPr lang="en-US" sz="2400" b="1" dirty="0">
                <a:latin typeface="Garamond" pitchFamily="18" charset="0"/>
              </a:rPr>
              <a:t>))()(() </a:t>
            </a:r>
            <a:r>
              <a:rPr lang="en-US" sz="2400" b="1" dirty="0">
                <a:latin typeface="Gill Sans MT" pitchFamily="34" charset="0"/>
              </a:rPr>
              <a:t>is a string over </a:t>
            </a:r>
            <a:r>
              <a:rPr lang="en-US" sz="2400" b="1" dirty="0" smtClean="0">
                <a:latin typeface="Symbol" pitchFamily="18" charset="2"/>
              </a:rPr>
              <a:t>S</a:t>
            </a:r>
            <a:r>
              <a:rPr lang="en-US" sz="2400" b="1" baseline="-25000" dirty="0" smtClean="0">
                <a:latin typeface="Symbol" pitchFamily="18" charset="2"/>
              </a:rPr>
              <a:t>3</a:t>
            </a:r>
            <a:r>
              <a:rPr lang="en-US" sz="2400" b="1" dirty="0" smtClean="0">
                <a:latin typeface="Garamond" pitchFamily="18" charset="0"/>
              </a:rPr>
              <a:t> </a:t>
            </a:r>
            <a:r>
              <a:rPr lang="en-US" sz="2400" b="1" dirty="0">
                <a:latin typeface="Garamond" pitchFamily="18" charset="0"/>
              </a:rPr>
              <a:t>= {</a:t>
            </a:r>
            <a:r>
              <a:rPr lang="en-US" sz="2400" b="1" dirty="0">
                <a:latin typeface="Courier New" pitchFamily="49" charset="0"/>
              </a:rPr>
              <a:t>(</a:t>
            </a:r>
            <a:r>
              <a:rPr lang="en-US" sz="2400" b="1" dirty="0">
                <a:latin typeface="Garamond" pitchFamily="18" charset="0"/>
              </a:rPr>
              <a:t>, </a:t>
            </a:r>
            <a:r>
              <a:rPr lang="en-US" sz="2400" b="1" dirty="0">
                <a:latin typeface="Courier New" pitchFamily="49" charset="0"/>
              </a:rPr>
              <a:t>)</a:t>
            </a:r>
            <a:r>
              <a:rPr lang="en-US" sz="2400" b="1" dirty="0">
                <a:latin typeface="Garamond" pitchFamily="18" charset="0"/>
              </a:rPr>
              <a:t>}</a:t>
            </a:r>
            <a:endParaRPr lang="en-US" sz="2400" b="1" dirty="0"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Strings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 Let </a:t>
            </a:r>
            <a:r>
              <a:rPr lang="en-US" b="1" dirty="0" smtClean="0">
                <a:solidFill>
                  <a:srgbClr val="0070C0"/>
                </a:solidFill>
                <a:latin typeface="Symbol" pitchFamily="18" charset="2"/>
              </a:rPr>
              <a:t>S</a:t>
            </a:r>
            <a:r>
              <a:rPr lang="en-US" dirty="0" smtClean="0"/>
              <a:t> ={ a, b, c} be the alphabet containing three symbols a , and c.</a:t>
            </a:r>
          </a:p>
          <a:p>
            <a:r>
              <a:rPr lang="en-US" dirty="0" smtClean="0"/>
              <a:t>Then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aaabba</a:t>
            </a:r>
            <a:r>
              <a:rPr lang="en-US" dirty="0" smtClean="0"/>
              <a:t> and </a:t>
            </a:r>
            <a:r>
              <a:rPr lang="en-US" dirty="0" err="1" smtClean="0"/>
              <a:t>ababac</a:t>
            </a:r>
            <a:r>
              <a:rPr lang="en-US" dirty="0" smtClean="0"/>
              <a:t> are two strings on </a:t>
            </a:r>
            <a:r>
              <a:rPr lang="en-US" b="1" dirty="0" smtClean="0">
                <a:solidFill>
                  <a:srgbClr val="0070C0"/>
                </a:solidFill>
                <a:latin typeface="Symbol" pitchFamily="18" charset="2"/>
              </a:rPr>
              <a:t>S</a:t>
            </a:r>
            <a:r>
              <a:rPr lang="en-US" dirty="0" smtClean="0">
                <a:latin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Languages</a:t>
            </a:r>
            <a:endParaRPr lang="en-US" b="1" u="sng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21391" y="1371600"/>
            <a:ext cx="8001000" cy="380411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1200"/>
              </a:spcAft>
            </a:pPr>
            <a:r>
              <a:rPr lang="en-US" sz="2400" i="1" dirty="0">
                <a:latin typeface="Garamond" pitchFamily="18" charset="0"/>
              </a:rPr>
              <a:t>L</a:t>
            </a:r>
            <a:r>
              <a:rPr lang="en-US" sz="2400" baseline="-25000" dirty="0">
                <a:latin typeface="Garamond" pitchFamily="18" charset="0"/>
              </a:rPr>
              <a:t>1</a:t>
            </a:r>
            <a:r>
              <a:rPr lang="en-US" sz="2400" dirty="0">
                <a:latin typeface="Garamond" pitchFamily="18" charset="0"/>
              </a:rPr>
              <a:t> = 	</a:t>
            </a:r>
            <a:r>
              <a:rPr lang="en-US" sz="2400" dirty="0">
                <a:latin typeface="Gill Sans MT" pitchFamily="34" charset="0"/>
              </a:rPr>
              <a:t>The set of all strings over </a:t>
            </a: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dirty="0" smtClean="0">
                <a:latin typeface="Gill Sans MT" pitchFamily="34" charset="0"/>
              </a:rPr>
              <a:t> </a:t>
            </a:r>
            <a:r>
              <a:rPr lang="en-US" sz="2400" dirty="0">
                <a:latin typeface="Gill Sans MT" pitchFamily="34" charset="0"/>
              </a:rPr>
              <a:t>that contain</a:t>
            </a:r>
            <a:br>
              <a:rPr lang="en-US" sz="2400" dirty="0">
                <a:latin typeface="Gill Sans MT" pitchFamily="34" charset="0"/>
              </a:rPr>
            </a:br>
            <a:r>
              <a:rPr lang="en-US" sz="2400" dirty="0">
                <a:latin typeface="Gill Sans MT" pitchFamily="34" charset="0"/>
              </a:rPr>
              <a:t>	the substring </a:t>
            </a:r>
            <a:r>
              <a:rPr lang="en-US" sz="2400" dirty="0">
                <a:latin typeface="Garamond" pitchFamily="18" charset="0"/>
              </a:rPr>
              <a:t>“fool”</a:t>
            </a:r>
          </a:p>
          <a:p>
            <a:pPr algn="just">
              <a:spcBef>
                <a:spcPct val="20000"/>
              </a:spcBef>
              <a:spcAft>
                <a:spcPts val="1200"/>
              </a:spcAft>
            </a:pPr>
            <a:r>
              <a:rPr lang="en-US" sz="2400" i="1" dirty="0">
                <a:latin typeface="Garamond" pitchFamily="18" charset="0"/>
              </a:rPr>
              <a:t>L</a:t>
            </a:r>
            <a:r>
              <a:rPr lang="en-US" sz="2400" baseline="-25000" dirty="0">
                <a:latin typeface="Garamond" pitchFamily="18" charset="0"/>
              </a:rPr>
              <a:t>2</a:t>
            </a:r>
            <a:r>
              <a:rPr lang="en-US" sz="2400" dirty="0">
                <a:latin typeface="Garamond" pitchFamily="18" charset="0"/>
              </a:rPr>
              <a:t> = 	</a:t>
            </a:r>
            <a:r>
              <a:rPr lang="en-US" sz="2400" dirty="0">
                <a:latin typeface="Gill Sans MT" pitchFamily="34" charset="0"/>
              </a:rPr>
              <a:t>The set of all strings over </a:t>
            </a: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1</a:t>
            </a:r>
            <a:r>
              <a:rPr lang="en-US" sz="2400" dirty="0" smtClean="0">
                <a:latin typeface="Gill Sans MT" pitchFamily="34" charset="0"/>
              </a:rPr>
              <a:t> </a:t>
            </a:r>
            <a:r>
              <a:rPr lang="en-US" sz="2400" dirty="0">
                <a:latin typeface="Gill Sans MT" pitchFamily="34" charset="0"/>
              </a:rPr>
              <a:t>that are divisible by 7</a:t>
            </a:r>
            <a:br>
              <a:rPr lang="en-US" sz="2400" dirty="0">
                <a:latin typeface="Gill Sans MT" pitchFamily="34" charset="0"/>
              </a:rPr>
            </a:br>
            <a:r>
              <a:rPr lang="en-US" sz="2400" dirty="0">
                <a:latin typeface="Gill Sans MT" pitchFamily="34" charset="0"/>
              </a:rPr>
              <a:t>    </a:t>
            </a:r>
            <a:r>
              <a:rPr lang="en-US" sz="2400" dirty="0">
                <a:latin typeface="Garamond" pitchFamily="18" charset="0"/>
              </a:rPr>
              <a:t> =	{7, 14, 21, …}</a:t>
            </a:r>
          </a:p>
          <a:p>
            <a:pPr algn="just">
              <a:spcBef>
                <a:spcPct val="20000"/>
              </a:spcBef>
            </a:pPr>
            <a:r>
              <a:rPr lang="en-US" sz="2400" i="1" dirty="0">
                <a:latin typeface="Garamond" pitchFamily="18" charset="0"/>
              </a:rPr>
              <a:t>L</a:t>
            </a:r>
            <a:r>
              <a:rPr lang="en-US" sz="2400" baseline="-25000" dirty="0">
                <a:latin typeface="Garamond" pitchFamily="18" charset="0"/>
              </a:rPr>
              <a:t>3</a:t>
            </a:r>
            <a:r>
              <a:rPr lang="en-US" sz="2400" dirty="0">
                <a:latin typeface="Garamond" pitchFamily="18" charset="0"/>
              </a:rPr>
              <a:t> = 	</a:t>
            </a:r>
            <a:r>
              <a:rPr lang="en-US" sz="2400" dirty="0">
                <a:latin typeface="Gill Sans MT" pitchFamily="34" charset="0"/>
              </a:rPr>
              <a:t>The set of all strings </a:t>
            </a:r>
            <a:r>
              <a:rPr lang="en-US" sz="2400" dirty="0" smtClean="0">
                <a:latin typeface="Gill Sans MT" pitchFamily="34" charset="0"/>
              </a:rPr>
              <a:t>over </a:t>
            </a: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2</a:t>
            </a:r>
            <a:r>
              <a:rPr lang="en-US" sz="2400" dirty="0" smtClean="0">
                <a:latin typeface="Garamond" pitchFamily="18" charset="0"/>
              </a:rPr>
              <a:t> </a:t>
            </a:r>
            <a:r>
              <a:rPr lang="en-US" sz="2400" dirty="0" smtClean="0">
                <a:latin typeface="Gill Sans MT" pitchFamily="34" charset="0"/>
              </a:rPr>
              <a:t>of </a:t>
            </a:r>
            <a:r>
              <a:rPr lang="en-US" sz="2400" dirty="0">
                <a:latin typeface="Gill Sans MT" pitchFamily="34" charset="0"/>
              </a:rPr>
              <a:t>the form </a:t>
            </a:r>
            <a:r>
              <a:rPr lang="en-US" sz="2400" dirty="0" err="1">
                <a:latin typeface="Garamond" pitchFamily="18" charset="0"/>
              </a:rPr>
              <a:t>s#s</a:t>
            </a:r>
            <a:r>
              <a:rPr lang="en-US" sz="2400" dirty="0">
                <a:latin typeface="Gill Sans MT" pitchFamily="34" charset="0"/>
              </a:rPr>
              <a:t> where s is </a:t>
            </a:r>
            <a:r>
              <a:rPr lang="en-US" sz="2400" dirty="0" smtClean="0">
                <a:latin typeface="Gill Sans MT" pitchFamily="34" charset="0"/>
              </a:rPr>
              <a:t>  </a:t>
            </a:r>
          </a:p>
          <a:p>
            <a:pPr algn="just">
              <a:spcBef>
                <a:spcPct val="20000"/>
              </a:spcBef>
              <a:spcAft>
                <a:spcPts val="1200"/>
              </a:spcAft>
            </a:pPr>
            <a:r>
              <a:rPr lang="en-US" sz="2400" dirty="0" smtClean="0">
                <a:latin typeface="Gill Sans MT" pitchFamily="34" charset="0"/>
              </a:rPr>
              <a:t>            any string </a:t>
            </a:r>
            <a:r>
              <a:rPr lang="en-US" sz="2400" dirty="0">
                <a:latin typeface="Gill Sans MT" pitchFamily="34" charset="0"/>
              </a:rPr>
              <a:t>over </a:t>
            </a:r>
            <a:r>
              <a:rPr lang="en-US" sz="2400" dirty="0">
                <a:latin typeface="Garamond" pitchFamily="18" charset="0"/>
              </a:rPr>
              <a:t>{a, b, …, z}</a:t>
            </a:r>
          </a:p>
          <a:p>
            <a:pPr algn="just">
              <a:spcBef>
                <a:spcPct val="20000"/>
              </a:spcBef>
            </a:pPr>
            <a:r>
              <a:rPr lang="en-US" sz="2400" i="1" dirty="0">
                <a:latin typeface="Garamond" pitchFamily="18" charset="0"/>
              </a:rPr>
              <a:t>L</a:t>
            </a:r>
            <a:r>
              <a:rPr lang="en-US" sz="2400" baseline="-25000" dirty="0">
                <a:latin typeface="Garamond" pitchFamily="18" charset="0"/>
              </a:rPr>
              <a:t>4</a:t>
            </a:r>
            <a:r>
              <a:rPr lang="en-US" sz="2400" dirty="0">
                <a:latin typeface="Garamond" pitchFamily="18" charset="0"/>
              </a:rPr>
              <a:t> = 	</a:t>
            </a:r>
            <a:r>
              <a:rPr lang="en-US" sz="2400" dirty="0">
                <a:latin typeface="Gill Sans MT" pitchFamily="34" charset="0"/>
              </a:rPr>
              <a:t>The set of all strings over </a:t>
            </a:r>
            <a:r>
              <a:rPr lang="en-US" sz="2400" dirty="0" smtClean="0">
                <a:latin typeface="Symbol" pitchFamily="18" charset="2"/>
              </a:rPr>
              <a:t>S</a:t>
            </a:r>
            <a:r>
              <a:rPr lang="en-US" sz="2400" baseline="-25000" dirty="0" smtClean="0">
                <a:latin typeface="Garamond" pitchFamily="18" charset="0"/>
              </a:rPr>
              <a:t>3</a:t>
            </a:r>
            <a:r>
              <a:rPr lang="en-US" sz="2400" dirty="0" smtClean="0">
                <a:latin typeface="Gill Sans MT" pitchFamily="34" charset="0"/>
              </a:rPr>
              <a:t>where </a:t>
            </a:r>
            <a:r>
              <a:rPr lang="en-US" sz="2400" dirty="0">
                <a:latin typeface="Gill Sans MT" pitchFamily="34" charset="0"/>
              </a:rPr>
              <a:t>every </a:t>
            </a:r>
            <a:r>
              <a:rPr lang="en-US" sz="2400" dirty="0">
                <a:latin typeface="Courier New" pitchFamily="49" charset="0"/>
              </a:rPr>
              <a:t>(</a:t>
            </a:r>
            <a:r>
              <a:rPr lang="en-US" sz="2400" dirty="0">
                <a:latin typeface="Gill Sans MT" pitchFamily="34" charset="0"/>
              </a:rPr>
              <a:t> can be</a:t>
            </a:r>
            <a:br>
              <a:rPr lang="en-US" sz="2400" dirty="0">
                <a:latin typeface="Gill Sans MT" pitchFamily="34" charset="0"/>
              </a:rPr>
            </a:br>
            <a:r>
              <a:rPr lang="en-US" sz="2400" dirty="0">
                <a:latin typeface="Gill Sans MT" pitchFamily="34" charset="0"/>
              </a:rPr>
              <a:t>	matched with a subsequent </a:t>
            </a:r>
            <a:r>
              <a:rPr lang="en-US" sz="2400" dirty="0">
                <a:latin typeface="Courier New" pitchFamily="49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Let us consider some simple examples of languages:</a:t>
            </a:r>
          </a:p>
          <a:p>
            <a:pPr algn="ctr">
              <a:buFont typeface="Symbol" pitchFamily="18" charset="2"/>
              <a:buChar char=" "/>
            </a:pPr>
            <a:r>
              <a:rPr lang="en-US" b="1" dirty="0" smtClean="0">
                <a:solidFill>
                  <a:srgbClr val="0070C0"/>
                </a:solidFill>
                <a:latin typeface="Symbol" pitchFamily="18" charset="2"/>
              </a:rPr>
              <a:t>S = </a:t>
            </a:r>
            <a:r>
              <a:rPr lang="en-US" b="1" dirty="0" smtClean="0">
                <a:latin typeface="Symbol" pitchFamily="18" charset="2"/>
              </a:rPr>
              <a:t>{</a:t>
            </a:r>
            <a:r>
              <a:rPr lang="en-US" b="1" dirty="0" smtClean="0">
                <a:solidFill>
                  <a:srgbClr val="0070C0"/>
                </a:solidFill>
                <a:latin typeface="Symbol" pitchFamily="18" charset="2"/>
              </a:rPr>
              <a:t> </a:t>
            </a:r>
            <a:r>
              <a:rPr lang="en-US" dirty="0" smtClean="0"/>
              <a:t>x }</a:t>
            </a:r>
          </a:p>
          <a:p>
            <a:r>
              <a:rPr lang="en-US" dirty="0" smtClean="0"/>
              <a:t>We can define a Language:</a:t>
            </a:r>
          </a:p>
          <a:p>
            <a:pPr>
              <a:spcAft>
                <a:spcPts val="1200"/>
              </a:spcAft>
              <a:buNone/>
            </a:pPr>
            <a:r>
              <a:rPr lang="en-US" dirty="0" smtClean="0"/>
              <a:t>    L</a:t>
            </a:r>
            <a:r>
              <a:rPr lang="en-US" baseline="-25000" dirty="0" smtClean="0"/>
              <a:t>1: </a:t>
            </a:r>
            <a:r>
              <a:rPr lang="en-US" sz="2400" dirty="0" smtClean="0">
                <a:solidFill>
                  <a:srgbClr val="0070C0"/>
                </a:solidFill>
              </a:rPr>
              <a:t>Any non empty string of alphabet character is a word.</a:t>
            </a:r>
          </a:p>
          <a:p>
            <a:pPr algn="ctr">
              <a:buNone/>
            </a:pPr>
            <a:r>
              <a:rPr lang="en-US" dirty="0" smtClean="0"/>
              <a:t>L</a:t>
            </a:r>
            <a:r>
              <a:rPr lang="en-US" baseline="-25000" dirty="0" smtClean="0"/>
              <a:t>1 </a:t>
            </a:r>
            <a:r>
              <a:rPr lang="en-US" dirty="0" smtClean="0"/>
              <a:t>: { x, xx, xxx, </a:t>
            </a:r>
            <a:r>
              <a:rPr lang="en-US" dirty="0" err="1" smtClean="0"/>
              <a:t>xxxx</a:t>
            </a:r>
            <a:r>
              <a:rPr lang="en-US" dirty="0" smtClean="0"/>
              <a:t>, ……….}</a:t>
            </a:r>
          </a:p>
          <a:p>
            <a:pPr>
              <a:buNone/>
            </a:pPr>
            <a:endParaRPr lang="en-US" dirty="0" smtClean="0"/>
          </a:p>
          <a:p>
            <a:pPr>
              <a:spcAft>
                <a:spcPts val="1800"/>
              </a:spcAft>
              <a:buNone/>
            </a:pPr>
            <a:r>
              <a:rPr lang="en-US" dirty="0" smtClean="0"/>
              <a:t>Alternate form:</a:t>
            </a:r>
          </a:p>
          <a:p>
            <a:pPr algn="ctr">
              <a:buNone/>
            </a:pPr>
            <a:r>
              <a:rPr lang="en-US" dirty="0" smtClean="0"/>
              <a:t>L</a:t>
            </a:r>
            <a:r>
              <a:rPr lang="en-US" baseline="-25000" dirty="0" smtClean="0"/>
              <a:t>1 </a:t>
            </a:r>
            <a:r>
              <a:rPr lang="en-US" dirty="0" smtClean="0"/>
              <a:t> : = { x</a:t>
            </a:r>
            <a:r>
              <a:rPr lang="en-US" b="1" baseline="30000" dirty="0" smtClean="0"/>
              <a:t>n </a:t>
            </a:r>
            <a:r>
              <a:rPr lang="en-US" b="1" dirty="0" smtClean="0"/>
              <a:t> for  n = 1, 2, 3, ………………}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String Operations: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spcAft>
                <a:spcPts val="1800"/>
              </a:spcAft>
              <a:buNone/>
            </a:pPr>
            <a:r>
              <a:rPr lang="en-US" b="1" u="sng" dirty="0" smtClean="0"/>
              <a:t>Concatenation: </a:t>
            </a:r>
            <a:r>
              <a:rPr lang="en-US" sz="2800" dirty="0" smtClean="0">
                <a:latin typeface="Times New Roman" pitchFamily="18" charset="0"/>
              </a:rPr>
              <a:t>The </a:t>
            </a:r>
            <a:r>
              <a:rPr lang="en-US" sz="2800" b="1" dirty="0" smtClean="0">
                <a:latin typeface="Times New Roman" pitchFamily="18" charset="0"/>
              </a:rPr>
              <a:t>concatenation</a:t>
            </a:r>
            <a:r>
              <a:rPr lang="en-US" sz="2800" dirty="0" smtClean="0">
                <a:latin typeface="Times New Roman" pitchFamily="18" charset="0"/>
              </a:rPr>
              <a:t> of two strings is the string resulting from                   putting them together from left to right.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800" dirty="0" smtClean="0">
                <a:latin typeface="Times New Roman" pitchFamily="18" charset="0"/>
              </a:rPr>
              <a:t>» If u=one and v=two 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</a:rPr>
              <a:t>then  </a:t>
            </a:r>
            <a:r>
              <a:rPr lang="en-US" sz="2800" dirty="0" smtClean="0">
                <a:latin typeface="Times New Roman" pitchFamily="18" charset="0"/>
              </a:rPr>
              <a:t>u · v=</a:t>
            </a:r>
            <a:r>
              <a:rPr lang="en-US" sz="2800" dirty="0" err="1" smtClean="0">
                <a:latin typeface="Times New Roman" pitchFamily="18" charset="0"/>
              </a:rPr>
              <a:t>onetwo</a:t>
            </a:r>
            <a:r>
              <a:rPr lang="en-US" sz="2800" dirty="0" smtClean="0">
                <a:latin typeface="Times New Roman" pitchFamily="18" charset="0"/>
              </a:rPr>
              <a:t>                    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r>
              <a:rPr lang="en-US" sz="2800" dirty="0" smtClean="0">
                <a:latin typeface="Times New Roman" pitchFamily="18" charset="0"/>
              </a:rPr>
              <a:t>                                       and v · u=</a:t>
            </a:r>
            <a:r>
              <a:rPr lang="en-US" sz="2800" dirty="0" err="1" smtClean="0">
                <a:latin typeface="Times New Roman" pitchFamily="18" charset="0"/>
              </a:rPr>
              <a:t>twoone</a:t>
            </a:r>
            <a:endParaRPr lang="en-US" sz="2800" dirty="0" smtClean="0">
              <a:latin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800" dirty="0" smtClean="0">
                <a:latin typeface="Times New Roman" pitchFamily="18" charset="0"/>
              </a:rPr>
              <a:t>» Dot is usually omitted; just write </a:t>
            </a:r>
            <a:r>
              <a:rPr lang="en-US" sz="2800" dirty="0" err="1" smtClean="0">
                <a:latin typeface="Times New Roman" pitchFamily="18" charset="0"/>
              </a:rPr>
              <a:t>uv</a:t>
            </a:r>
            <a:r>
              <a:rPr lang="en-US" sz="2800" dirty="0" smtClean="0">
                <a:latin typeface="Times New Roman" pitchFamily="18" charset="0"/>
              </a:rPr>
              <a:t> for u · v.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581400" y="4724400"/>
            <a:ext cx="3225563" cy="161582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nl-NL" b="1" u="sng" dirty="0" smtClean="0">
                <a:solidFill>
                  <a:srgbClr val="FF0000"/>
                </a:solidFill>
                <a:latin typeface="Times New Roman" pitchFamily="18" charset="0"/>
              </a:rPr>
              <a:t>Laws:</a:t>
            </a:r>
          </a:p>
          <a:p>
            <a:pPr>
              <a:lnSpc>
                <a:spcPct val="90000"/>
              </a:lnSpc>
            </a:pPr>
            <a:r>
              <a:rPr lang="nl-NL" dirty="0" smtClean="0">
                <a:latin typeface="Times New Roman" pitchFamily="18" charset="0"/>
              </a:rPr>
              <a:t>               u ·  (v · w) = (u · v) · w</a:t>
            </a:r>
          </a:p>
          <a:p>
            <a:pPr>
              <a:lnSpc>
                <a:spcPct val="90000"/>
              </a:lnSpc>
            </a:pPr>
            <a:r>
              <a:rPr lang="nl-NL" dirty="0" smtClean="0">
                <a:latin typeface="Times New Roman" pitchFamily="18" charset="0"/>
              </a:rPr>
              <a:t>               u ·  </a:t>
            </a:r>
            <a:r>
              <a:rPr lang="el-GR" dirty="0" smtClean="0">
                <a:latin typeface="Times New Roman" pitchFamily="18" charset="0"/>
                <a:cs typeface="Arial" charset="0"/>
              </a:rPr>
              <a:t>ε</a:t>
            </a:r>
            <a:r>
              <a:rPr lang="nl-NL" dirty="0" smtClean="0">
                <a:latin typeface="Times New Roman" pitchFamily="18" charset="0"/>
              </a:rPr>
              <a:t> = u</a:t>
            </a:r>
          </a:p>
          <a:p>
            <a:pPr>
              <a:lnSpc>
                <a:spcPct val="90000"/>
              </a:lnSpc>
            </a:pPr>
            <a:r>
              <a:rPr lang="nl-NL" dirty="0" smtClean="0">
                <a:latin typeface="Times New Roman" pitchFamily="18" charset="0"/>
              </a:rPr>
              <a:t>               </a:t>
            </a:r>
            <a:r>
              <a:rPr lang="el-GR" dirty="0" smtClean="0">
                <a:latin typeface="Times New Roman" pitchFamily="18" charset="0"/>
                <a:cs typeface="Arial" charset="0"/>
              </a:rPr>
              <a:t>ε</a:t>
            </a:r>
            <a:r>
              <a:rPr lang="en-US" dirty="0" smtClean="0">
                <a:latin typeface="Times New Roman" pitchFamily="18" charset="0"/>
              </a:rPr>
              <a:t> · u = u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</a:rPr>
              <a:t>               |u · v| = |u| + |v|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u="sng" dirty="0" smtClean="0">
                <a:latin typeface="Times New Roman" pitchFamily="18" charset="0"/>
              </a:rPr>
              <a:t>Length/Size of String</a:t>
            </a:r>
            <a:r>
              <a:rPr lang="en-US" sz="4000" b="1" u="sng" dirty="0" smtClean="0">
                <a:latin typeface="Times New Roman" pitchFamily="18" charset="0"/>
              </a:rPr>
              <a:t>:</a:t>
            </a:r>
            <a:r>
              <a:rPr lang="en-US" sz="4000" b="1" dirty="0" smtClean="0">
                <a:latin typeface="Times New Roman" pitchFamily="18" charset="0"/>
              </a:rPr>
              <a:t/>
            </a:r>
            <a:br>
              <a:rPr lang="en-US" sz="4000" b="1" dirty="0" smtClean="0"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dirty="0" smtClean="0">
                <a:latin typeface="Times New Roman" pitchFamily="18" charset="0"/>
              </a:rPr>
              <a:t> »  </a:t>
            </a:r>
            <a:r>
              <a:rPr lang="en-US" sz="2400" dirty="0" smtClean="0">
                <a:latin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</a:rPr>
              <a:t>length</a:t>
            </a:r>
            <a:r>
              <a:rPr lang="en-US" sz="2400" dirty="0" smtClean="0">
                <a:latin typeface="Times New Roman" pitchFamily="18" charset="0"/>
              </a:rPr>
              <a:t> of a string is the number of symbols that it contains (repetitions allowed).</a:t>
            </a:r>
          </a:p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sz="2400" dirty="0" smtClean="0">
                <a:latin typeface="Times New Roman" pitchFamily="18" charset="0"/>
              </a:rPr>
              <a:t>  »  Absolute values are used to denote length.</a:t>
            </a:r>
          </a:p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sz="2400" dirty="0" smtClean="0">
                <a:latin typeface="Times New Roman" pitchFamily="18" charset="0"/>
              </a:rPr>
              <a:t>   »  The </a:t>
            </a:r>
            <a:r>
              <a:rPr lang="en-US" sz="2400" i="1" dirty="0" smtClean="0">
                <a:latin typeface="Times New Roman" pitchFamily="18" charset="0"/>
              </a:rPr>
              <a:t>length</a:t>
            </a:r>
            <a:r>
              <a:rPr lang="en-US" sz="2400" dirty="0" smtClean="0">
                <a:latin typeface="Times New Roman" pitchFamily="18" charset="0"/>
              </a:rPr>
              <a:t> of a string w is denoted |w|.</a:t>
            </a:r>
          </a:p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sz="2400" dirty="0" smtClean="0">
                <a:latin typeface="Times New Roman" pitchFamily="18" charset="0"/>
              </a:rPr>
              <a:t>    »  For example	 |00100| = 5</a:t>
            </a:r>
          </a:p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sz="2400" dirty="0" smtClean="0">
                <a:latin typeface="Times New Roman" pitchFamily="18" charset="0"/>
              </a:rPr>
              <a:t>                                    |</a:t>
            </a:r>
            <a:r>
              <a:rPr lang="en-US" sz="2400" dirty="0" err="1" smtClean="0">
                <a:latin typeface="Times New Roman" pitchFamily="18" charset="0"/>
              </a:rPr>
              <a:t>aab</a:t>
            </a:r>
            <a:r>
              <a:rPr lang="en-US" sz="2400" dirty="0" smtClean="0">
                <a:latin typeface="Times New Roman" pitchFamily="18" charset="0"/>
              </a:rPr>
              <a:t>| = 3</a:t>
            </a:r>
          </a:p>
          <a:p>
            <a:pPr>
              <a:lnSpc>
                <a:spcPct val="80000"/>
              </a:lnSpc>
              <a:spcAft>
                <a:spcPts val="1800"/>
              </a:spcAft>
              <a:buNone/>
            </a:pPr>
            <a:r>
              <a:rPr lang="en-US" sz="2400" dirty="0" smtClean="0">
                <a:latin typeface="Times New Roman" pitchFamily="18" charset="0"/>
              </a:rPr>
              <a:t>		</a:t>
            </a:r>
            <a:r>
              <a:rPr lang="en-US" sz="2400" smtClean="0">
                <a:latin typeface="Times New Roman" pitchFamily="18" charset="0"/>
              </a:rPr>
              <a:t>	             </a:t>
            </a:r>
            <a:r>
              <a:rPr lang="en-US" sz="2400" dirty="0" smtClean="0">
                <a:latin typeface="Times New Roman" pitchFamily="18" charset="0"/>
              </a:rPr>
              <a:t>|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smtClean="0">
                <a:latin typeface="Times New Roman" pitchFamily="18" charset="0"/>
              </a:rPr>
              <a:t>epsilon) | = 0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If a is a word in some language L, then </a:t>
            </a:r>
            <a:r>
              <a:rPr lang="en-US" sz="2400" b="1" dirty="0"/>
              <a:t>reverse</a:t>
            </a:r>
            <a:r>
              <a:rPr lang="en-US" sz="2400" dirty="0"/>
              <a:t>(a) is the same string of letters spelled backward, even if this backward string is not a word in L.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/>
              <a:t>reverse(xxx) = xxx</a:t>
            </a:r>
          </a:p>
          <a:p>
            <a:pPr lvl="1"/>
            <a:r>
              <a:rPr lang="en-US" sz="2000" dirty="0"/>
              <a:t>reverse(145) = 541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Define the language</a:t>
            </a:r>
          </a:p>
          <a:p>
            <a:pPr algn="ctr">
              <a:buFontTx/>
              <a:buNone/>
            </a:pPr>
            <a:r>
              <a:rPr lang="en-US" dirty="0">
                <a:cs typeface="Arial" charset="0"/>
              </a:rPr>
              <a:t>	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6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 { any finite string of alphabet letters that does not start with the letter zero }</a:t>
            </a:r>
          </a:p>
          <a:p>
            <a:r>
              <a:rPr lang="en-US" sz="1600" dirty="0"/>
              <a:t>This language L</a:t>
            </a:r>
            <a:r>
              <a:rPr lang="en-US" sz="1600" baseline="-25000" dirty="0"/>
              <a:t>3</a:t>
            </a:r>
            <a:r>
              <a:rPr lang="en-US" sz="1600" dirty="0"/>
              <a:t> looks like the set of positive integers:</a:t>
            </a:r>
          </a:p>
          <a:p>
            <a:pPr algn="ctr">
              <a:buFontTx/>
              <a:buNone/>
            </a:pPr>
            <a:r>
              <a:rPr lang="en-US" sz="1600" dirty="0"/>
              <a:t>	L</a:t>
            </a:r>
            <a:r>
              <a:rPr lang="en-US" sz="1600" baseline="-25000" dirty="0"/>
              <a:t>3</a:t>
            </a:r>
            <a:r>
              <a:rPr lang="en-US" sz="1600" dirty="0"/>
              <a:t> = { 1, 2, 3, 4, 5, 6, 7, 8, 9, 10, 11, 12, … }</a:t>
            </a:r>
          </a:p>
          <a:p>
            <a:pPr marL="82296" lvl="1" indent="0">
              <a:spcBef>
                <a:spcPts val="600"/>
              </a:spcBef>
              <a:buSzPct val="80000"/>
              <a:buNone/>
            </a:pPr>
            <a:r>
              <a:rPr lang="en-US" sz="2000" dirty="0"/>
              <a:t>Note that 140 is a word in L</a:t>
            </a:r>
            <a:r>
              <a:rPr lang="en-US" sz="2000" baseline="-25000" dirty="0"/>
              <a:t>3</a:t>
            </a:r>
            <a:r>
              <a:rPr lang="en-US" sz="2000" dirty="0"/>
              <a:t>, but </a:t>
            </a:r>
            <a:r>
              <a:rPr lang="en-US" sz="2000" b="1" dirty="0">
                <a:solidFill>
                  <a:srgbClr val="FF0000"/>
                </a:solidFill>
              </a:rPr>
              <a:t>reverse</a:t>
            </a:r>
            <a:r>
              <a:rPr lang="en-US" sz="2000" dirty="0"/>
              <a:t>(140) = 041 is NOT a word in L</a:t>
            </a:r>
            <a:r>
              <a:rPr lang="en-US" sz="2000" baseline="-25000" dirty="0"/>
              <a:t>3</a:t>
            </a:r>
          </a:p>
          <a:p>
            <a:pPr marL="82296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0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b="1" u="sng" dirty="0"/>
              <a:t>Palindrome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66800" y="1371600"/>
            <a:ext cx="82296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 smtClean="0"/>
              <a:t>Let us define a new language called Palindrome over the alphabet</a:t>
            </a:r>
          </a:p>
          <a:p>
            <a:pPr algn="ctr">
              <a:buFontTx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cs typeface="Arial" charset="0"/>
              </a:rPr>
              <a:t>∑ = { a, b }</a:t>
            </a:r>
          </a:p>
          <a:p>
            <a:pPr algn="ctr">
              <a:spcAft>
                <a:spcPts val="1200"/>
              </a:spcAft>
              <a:buFontTx/>
              <a:buNone/>
            </a:pPr>
            <a:r>
              <a:rPr lang="en-US" sz="2400" dirty="0" smtClean="0">
                <a:cs typeface="Arial" charset="0"/>
              </a:rPr>
              <a:t>	PALINDROME = { </a:t>
            </a:r>
            <a:r>
              <a:rPr lang="el-GR" sz="2000" b="1" dirty="0" smtClean="0">
                <a:cs typeface="Arial" charset="0"/>
              </a:rPr>
              <a:t>Λ</a:t>
            </a:r>
            <a:r>
              <a:rPr lang="en-US" sz="2000" dirty="0" smtClean="0">
                <a:cs typeface="Arial" charset="0"/>
              </a:rPr>
              <a:t>, and all strings x such that </a:t>
            </a:r>
            <a:r>
              <a:rPr lang="en-US" sz="2000" dirty="0" smtClean="0">
                <a:solidFill>
                  <a:srgbClr val="FF0000"/>
                </a:solidFill>
                <a:cs typeface="Arial" charset="0"/>
              </a:rPr>
              <a:t>reverse</a:t>
            </a:r>
            <a:r>
              <a:rPr lang="en-US" sz="2000" dirty="0" smtClean="0">
                <a:cs typeface="Arial" charset="0"/>
              </a:rPr>
              <a:t>(x) = x </a:t>
            </a:r>
            <a:r>
              <a:rPr lang="en-US" sz="2400" dirty="0" smtClean="0">
                <a:cs typeface="Arial" charset="0"/>
              </a:rPr>
              <a:t>}</a:t>
            </a:r>
          </a:p>
          <a:p>
            <a:r>
              <a:rPr lang="en-US" sz="2400" dirty="0" smtClean="0">
                <a:cs typeface="Arial" charset="0"/>
              </a:rPr>
              <a:t>If we want to list the elements in PALINDROME, we find</a:t>
            </a:r>
          </a:p>
          <a:p>
            <a:pPr algn="ctr">
              <a:buFontTx/>
              <a:buNone/>
            </a:pPr>
            <a:r>
              <a:rPr lang="en-US" sz="2400" dirty="0" smtClean="0">
                <a:cs typeface="Arial" charset="0"/>
              </a:rPr>
              <a:t>	PALINDROME = { </a:t>
            </a:r>
            <a:r>
              <a:rPr lang="el-GR" sz="2000" b="1" dirty="0" smtClean="0">
                <a:cs typeface="Arial" charset="0"/>
              </a:rPr>
              <a:t>Λ</a:t>
            </a:r>
            <a:r>
              <a:rPr lang="en-US" sz="2000" dirty="0" smtClean="0">
                <a:cs typeface="Arial" charset="0"/>
              </a:rPr>
              <a:t>, a, b, </a:t>
            </a:r>
            <a:r>
              <a:rPr lang="en-US" sz="2000" dirty="0" err="1" smtClean="0">
                <a:cs typeface="Arial" charset="0"/>
              </a:rPr>
              <a:t>aa</a:t>
            </a:r>
            <a:r>
              <a:rPr lang="en-US" sz="2000" dirty="0" smtClean="0">
                <a:cs typeface="Arial" charset="0"/>
              </a:rPr>
              <a:t>, bb, </a:t>
            </a:r>
            <a:r>
              <a:rPr lang="en-US" sz="2000" dirty="0" err="1" smtClean="0">
                <a:cs typeface="Arial" charset="0"/>
              </a:rPr>
              <a:t>aaa</a:t>
            </a:r>
            <a:r>
              <a:rPr lang="en-US" sz="2000" dirty="0" smtClean="0">
                <a:cs typeface="Arial" charset="0"/>
              </a:rPr>
              <a:t>, aba, </a:t>
            </a:r>
            <a:r>
              <a:rPr lang="en-US" sz="2000" dirty="0" err="1" smtClean="0">
                <a:cs typeface="Arial" charset="0"/>
              </a:rPr>
              <a:t>bab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en-US" sz="2000" dirty="0" err="1" smtClean="0">
                <a:cs typeface="Arial" charset="0"/>
              </a:rPr>
              <a:t>bbb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en-US" sz="2000" dirty="0" err="1" smtClean="0">
                <a:cs typeface="Arial" charset="0"/>
              </a:rPr>
              <a:t>aaaa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en-US" sz="2000" dirty="0" err="1" smtClean="0">
                <a:cs typeface="Arial" charset="0"/>
              </a:rPr>
              <a:t>abba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en-US" sz="2400" dirty="0" smtClean="0">
                <a:cs typeface="Arial" charset="0"/>
              </a:rPr>
              <a:t>… }</a:t>
            </a:r>
            <a:endParaRPr lang="el-GR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1600200"/>
            <a:ext cx="8229600" cy="43434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smtClean="0"/>
              <a:t>Sometimes two words in PALINDROME when concatenated will produce a word in PALINDROME</a:t>
            </a:r>
          </a:p>
          <a:p>
            <a:pPr lvl="1"/>
            <a:r>
              <a:rPr lang="en-US" sz="2000" b="1" smtClean="0"/>
              <a:t>abba</a:t>
            </a:r>
            <a:r>
              <a:rPr lang="en-US" sz="2000" smtClean="0"/>
              <a:t> concatenated with </a:t>
            </a:r>
            <a:r>
              <a:rPr lang="en-US" sz="2000" b="1" smtClean="0"/>
              <a:t>abbaabba</a:t>
            </a:r>
            <a:r>
              <a:rPr lang="en-US" sz="2000" smtClean="0"/>
              <a:t> gives </a:t>
            </a:r>
            <a:r>
              <a:rPr lang="en-US" sz="2000" b="1" smtClean="0"/>
              <a:t>abbaabbaabba </a:t>
            </a:r>
            <a:r>
              <a:rPr lang="en-US" sz="2000" smtClean="0"/>
              <a:t>(in PALINDROME)</a:t>
            </a:r>
          </a:p>
          <a:p>
            <a:pPr lvl="1"/>
            <a:endParaRPr lang="en-US" sz="2000" b="1" smtClean="0"/>
          </a:p>
          <a:p>
            <a:r>
              <a:rPr lang="en-US" sz="2400" smtClean="0"/>
              <a:t>But more often, the concatenation is not a word in PALINDROME</a:t>
            </a:r>
          </a:p>
          <a:p>
            <a:pPr lvl="1"/>
            <a:endParaRPr lang="en-US" sz="2000" b="1" smtClean="0"/>
          </a:p>
          <a:p>
            <a:pPr lvl="1"/>
            <a:r>
              <a:rPr lang="en-US" sz="2000" b="1" smtClean="0"/>
              <a:t>aa</a:t>
            </a:r>
            <a:r>
              <a:rPr lang="en-US" sz="2000" smtClean="0"/>
              <a:t> concatenated with </a:t>
            </a:r>
            <a:r>
              <a:rPr lang="en-US" sz="2000" b="1" smtClean="0"/>
              <a:t>aba</a:t>
            </a:r>
            <a:r>
              <a:rPr lang="en-US" sz="2000" smtClean="0"/>
              <a:t> gives </a:t>
            </a:r>
            <a:r>
              <a:rPr lang="en-US" sz="2000" b="1" smtClean="0"/>
              <a:t>aaaba</a:t>
            </a:r>
            <a:r>
              <a:rPr lang="en-US" sz="2000" smtClean="0"/>
              <a:t> (NOT in PALINDROME)</a:t>
            </a:r>
          </a:p>
          <a:p>
            <a:endParaRPr lang="en-US" sz="2400" smtClean="0"/>
          </a:p>
          <a:p>
            <a:r>
              <a:rPr lang="en-US" sz="2400" smtClean="0"/>
              <a:t>The language PALINDROME has interesting properties that we shall examine later.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16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Kleene</a:t>
            </a:r>
            <a:r>
              <a:rPr lang="en-US" b="1" u="sng" dirty="0"/>
              <a:t> Closure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0" y="1219200"/>
            <a:ext cx="8229600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lnSpc>
                <a:spcPct val="90000"/>
              </a:lnSpc>
            </a:pPr>
            <a:r>
              <a:rPr lang="en-US" sz="2400" b="1" dirty="0" smtClean="0"/>
              <a:t>Definition:</a:t>
            </a:r>
            <a:r>
              <a:rPr lang="en-US" sz="2400" dirty="0" smtClean="0"/>
              <a:t> Given an alphabet </a:t>
            </a:r>
            <a:r>
              <a:rPr lang="en-US" sz="2400" dirty="0" smtClean="0">
                <a:cs typeface="Arial" charset="0"/>
              </a:rPr>
              <a:t>∑, we define a language in which any string of letters from ∑ is a word, even the null string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. We call this language the </a:t>
            </a:r>
            <a:r>
              <a:rPr lang="en-US" sz="2400" b="1" dirty="0" smtClean="0">
                <a:cs typeface="Arial" charset="0"/>
              </a:rPr>
              <a:t>closure</a:t>
            </a:r>
            <a:r>
              <a:rPr lang="en-US" sz="2400" dirty="0" smtClean="0">
                <a:cs typeface="Arial" charset="0"/>
              </a:rPr>
              <a:t> of the alphabet ∑, and denote this language by ∑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*</a:t>
            </a:r>
            <a:r>
              <a:rPr lang="en-US" sz="2400" dirty="0" smtClean="0">
                <a:cs typeface="Arial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400" dirty="0" smtClean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cs typeface="Arial" charset="0"/>
              </a:rPr>
              <a:t>Examples: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Tx/>
              <a:buNone/>
            </a:pPr>
            <a:r>
              <a:rPr lang="en-US" sz="2400" dirty="0" smtClean="0">
                <a:cs typeface="Arial" charset="0"/>
              </a:rPr>
              <a:t>	If ∑ = { x } then ∑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*</a:t>
            </a:r>
            <a:r>
              <a:rPr lang="en-US" sz="2400" dirty="0" smtClean="0">
                <a:cs typeface="Arial" charset="0"/>
              </a:rPr>
              <a:t> = {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, x, xx, xxx, … } 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Tx/>
              <a:buNone/>
            </a:pPr>
            <a:r>
              <a:rPr lang="en-US" sz="2400" dirty="0" smtClean="0">
                <a:cs typeface="Arial" charset="0"/>
              </a:rPr>
              <a:t>	If ∑ = { 0, 1 } then ∑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*</a:t>
            </a:r>
            <a:r>
              <a:rPr lang="en-US" sz="2400" dirty="0" smtClean="0">
                <a:cs typeface="Arial" charset="0"/>
              </a:rPr>
              <a:t> = {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, 0, 1, 00, 01, 10, 11, 000, 001, … } </a:t>
            </a:r>
          </a:p>
          <a:p>
            <a:pPr>
              <a:lnSpc>
                <a:spcPct val="90000"/>
              </a:lnSpc>
              <a:spcAft>
                <a:spcPts val="1200"/>
              </a:spcAft>
              <a:buFontTx/>
              <a:buNone/>
            </a:pPr>
            <a:r>
              <a:rPr lang="en-US" sz="2400" dirty="0" smtClean="0">
                <a:cs typeface="Arial" charset="0"/>
              </a:rPr>
              <a:t>	If ∑ = { </a:t>
            </a:r>
            <a:r>
              <a:rPr lang="en-US" sz="2000" dirty="0" smtClean="0">
                <a:cs typeface="Arial" charset="0"/>
              </a:rPr>
              <a:t>a, b, c </a:t>
            </a:r>
            <a:r>
              <a:rPr lang="en-US" sz="2400" dirty="0" smtClean="0">
                <a:cs typeface="Arial" charset="0"/>
              </a:rPr>
              <a:t>} </a:t>
            </a:r>
            <a:r>
              <a:rPr lang="en-US" sz="2000" dirty="0" smtClean="0">
                <a:cs typeface="Arial" charset="0"/>
              </a:rPr>
              <a:t>then</a:t>
            </a:r>
            <a:r>
              <a:rPr lang="en-US" sz="2400" dirty="0" smtClean="0">
                <a:cs typeface="Arial" charset="0"/>
              </a:rPr>
              <a:t> ∑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* </a:t>
            </a:r>
            <a:r>
              <a:rPr lang="en-US" sz="2400" dirty="0" smtClean="0">
                <a:cs typeface="Arial" charset="0"/>
              </a:rPr>
              <a:t>= { </a:t>
            </a:r>
            <a:r>
              <a:rPr lang="el-GR" sz="1800" b="1" dirty="0" smtClean="0">
                <a:cs typeface="Arial" charset="0"/>
              </a:rPr>
              <a:t>Λ</a:t>
            </a:r>
            <a:r>
              <a:rPr lang="en-US" sz="1800" dirty="0" smtClean="0">
                <a:cs typeface="Arial" charset="0"/>
              </a:rPr>
              <a:t>, a, b, c, </a:t>
            </a:r>
            <a:r>
              <a:rPr lang="en-US" sz="1800" dirty="0" err="1" smtClean="0">
                <a:cs typeface="Arial" charset="0"/>
              </a:rPr>
              <a:t>aa</a:t>
            </a:r>
            <a:r>
              <a:rPr lang="en-US" sz="1800" dirty="0" smtClean="0">
                <a:cs typeface="Arial" charset="0"/>
              </a:rPr>
              <a:t>, </a:t>
            </a:r>
            <a:r>
              <a:rPr lang="en-US" sz="1800" dirty="0" err="1" smtClean="0">
                <a:cs typeface="Arial" charset="0"/>
              </a:rPr>
              <a:t>ab</a:t>
            </a:r>
            <a:r>
              <a:rPr lang="en-US" sz="1800" dirty="0" smtClean="0">
                <a:cs typeface="Arial" charset="0"/>
              </a:rPr>
              <a:t>, ac, </a:t>
            </a:r>
            <a:r>
              <a:rPr lang="en-US" sz="1800" dirty="0" err="1" smtClean="0">
                <a:cs typeface="Arial" charset="0"/>
              </a:rPr>
              <a:t>ba</a:t>
            </a:r>
            <a:r>
              <a:rPr lang="en-US" sz="1800" dirty="0" smtClean="0">
                <a:cs typeface="Arial" charset="0"/>
              </a:rPr>
              <a:t>, bb, </a:t>
            </a:r>
            <a:r>
              <a:rPr lang="en-US" sz="1800" dirty="0" err="1" smtClean="0">
                <a:cs typeface="Arial" charset="0"/>
              </a:rPr>
              <a:t>bc</a:t>
            </a:r>
            <a:r>
              <a:rPr lang="en-US" sz="1800" dirty="0" smtClean="0">
                <a:cs typeface="Arial" charset="0"/>
              </a:rPr>
              <a:t>, </a:t>
            </a:r>
            <a:r>
              <a:rPr lang="en-US" sz="1800" dirty="0" err="1" smtClean="0">
                <a:cs typeface="Arial" charset="0"/>
              </a:rPr>
              <a:t>ca</a:t>
            </a:r>
            <a:r>
              <a:rPr lang="en-US" sz="1800" dirty="0" smtClean="0">
                <a:cs typeface="Arial" charset="0"/>
              </a:rPr>
              <a:t>, </a:t>
            </a:r>
            <a:r>
              <a:rPr lang="en-US" sz="1800" dirty="0" err="1" smtClean="0">
                <a:cs typeface="Arial" charset="0"/>
              </a:rPr>
              <a:t>cb</a:t>
            </a:r>
            <a:r>
              <a:rPr lang="en-US" sz="1800" dirty="0" smtClean="0">
                <a:cs typeface="Arial" charset="0"/>
              </a:rPr>
              <a:t>, cc, </a:t>
            </a:r>
            <a:r>
              <a:rPr lang="en-US" sz="1800" dirty="0" err="1" smtClean="0">
                <a:cs typeface="Arial" charset="0"/>
              </a:rPr>
              <a:t>aaa</a:t>
            </a:r>
            <a:r>
              <a:rPr lang="en-US" sz="2000" dirty="0" smtClean="0">
                <a:cs typeface="Arial" charset="0"/>
              </a:rPr>
              <a:t>, </a:t>
            </a:r>
            <a:r>
              <a:rPr lang="en-US" sz="2400" dirty="0" smtClean="0">
                <a:cs typeface="Arial" charset="0"/>
              </a:rPr>
              <a:t>… }</a:t>
            </a:r>
            <a:endParaRPr lang="el-GR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7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Lexicographic order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200"/>
              </a:spcAft>
            </a:pPr>
            <a:r>
              <a:rPr lang="en-US" sz="2400" dirty="0"/>
              <a:t>Notice that we listed the words in a language in size order (i.e., words of shortest length first), and then listed all the words of the same length alphabetically.</a:t>
            </a:r>
          </a:p>
          <a:p>
            <a:pPr algn="just">
              <a:spcAft>
                <a:spcPts val="1200"/>
              </a:spcAft>
            </a:pPr>
            <a:r>
              <a:rPr lang="en-US" sz="2400" dirty="0"/>
              <a:t>This ordering is called </a:t>
            </a:r>
            <a:r>
              <a:rPr lang="en-US" sz="2400" b="1" dirty="0"/>
              <a:t>lexicographic</a:t>
            </a:r>
            <a:r>
              <a:rPr lang="en-US" sz="2400" dirty="0"/>
              <a:t> order, which we will usually follow.</a:t>
            </a:r>
          </a:p>
          <a:p>
            <a:pPr algn="just">
              <a:spcAft>
                <a:spcPts val="1200"/>
              </a:spcAft>
            </a:pPr>
            <a:r>
              <a:rPr lang="en-US" sz="2400" dirty="0"/>
              <a:t>The </a:t>
            </a:r>
            <a:r>
              <a:rPr lang="en-US" sz="2400" dirty="0" smtClean="0"/>
              <a:t>star </a:t>
            </a:r>
            <a:r>
              <a:rPr lang="en-US" sz="2400" b="1" dirty="0" smtClean="0">
                <a:solidFill>
                  <a:srgbClr val="FF0000"/>
                </a:solidFill>
              </a:rPr>
              <a:t>*</a:t>
            </a:r>
            <a:r>
              <a:rPr lang="en-US" sz="2400" dirty="0" smtClean="0"/>
              <a:t> </a:t>
            </a:r>
            <a:r>
              <a:rPr lang="en-US" sz="2400" dirty="0"/>
              <a:t>in the closure notation is known as the </a:t>
            </a:r>
            <a:r>
              <a:rPr lang="en-US" sz="2400" b="1" dirty="0" err="1">
                <a:solidFill>
                  <a:srgbClr val="FF0000"/>
                </a:solidFill>
              </a:rPr>
              <a:t>Kleene</a:t>
            </a:r>
            <a:r>
              <a:rPr lang="en-US" sz="2400" b="1" dirty="0">
                <a:solidFill>
                  <a:srgbClr val="FF0000"/>
                </a:solidFill>
              </a:rPr>
              <a:t> star</a:t>
            </a:r>
            <a:r>
              <a:rPr lang="en-US" sz="2400" dirty="0"/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2400" dirty="0"/>
              <a:t>We can think of the </a:t>
            </a:r>
            <a:r>
              <a:rPr lang="en-US" sz="2400" dirty="0" err="1"/>
              <a:t>Kleene</a:t>
            </a:r>
            <a:r>
              <a:rPr lang="en-US" sz="2400" dirty="0"/>
              <a:t> star as an </a:t>
            </a:r>
            <a:r>
              <a:rPr lang="en-US" sz="2400" b="1" dirty="0"/>
              <a:t>operation</a:t>
            </a:r>
            <a:r>
              <a:rPr lang="en-US" sz="2400" dirty="0"/>
              <a:t> that makes, out of an alphabet, an </a:t>
            </a:r>
            <a:r>
              <a:rPr lang="en-US" sz="2400" i="1" dirty="0"/>
              <a:t>infinite</a:t>
            </a:r>
            <a:r>
              <a:rPr lang="en-US" sz="2400" dirty="0"/>
              <a:t> language (i.e., </a:t>
            </a:r>
            <a:r>
              <a:rPr lang="en-US" sz="2400" i="1" dirty="0"/>
              <a:t>infinitely many</a:t>
            </a:r>
            <a:r>
              <a:rPr lang="en-US" sz="2400" dirty="0"/>
              <a:t> words, each of </a:t>
            </a:r>
            <a:r>
              <a:rPr lang="en-US" sz="2400" i="1" dirty="0"/>
              <a:t>finite</a:t>
            </a:r>
            <a:r>
              <a:rPr lang="en-US" sz="2400" dirty="0"/>
              <a:t> length).</a:t>
            </a:r>
          </a:p>
        </p:txBody>
      </p:sp>
    </p:spTree>
    <p:extLst>
      <p:ext uri="{BB962C8B-B14F-4D97-AF65-F5344CB8AC3E}">
        <p14:creationId xmlns:p14="http://schemas.microsoft.com/office/powerpoint/2010/main" val="129686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Kleene</a:t>
            </a:r>
            <a:r>
              <a:rPr lang="en-US" dirty="0"/>
              <a:t> Closure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us now generalize the use of the </a:t>
            </a:r>
            <a:r>
              <a:rPr lang="en-US" sz="2400" dirty="0" err="1"/>
              <a:t>Kleene</a:t>
            </a:r>
            <a:r>
              <a:rPr lang="en-US" sz="2400" dirty="0"/>
              <a:t> star </a:t>
            </a:r>
            <a:r>
              <a:rPr lang="en-US" sz="2400" dirty="0" err="1"/>
              <a:t>oprator</a:t>
            </a:r>
            <a:r>
              <a:rPr lang="en-US" sz="2400" dirty="0"/>
              <a:t> to sets of words, not just sets of alphabet letters.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Definition:</a:t>
            </a:r>
            <a:r>
              <a:rPr lang="en-US" sz="2400" dirty="0"/>
              <a:t> If S is a set of words, then S* is the set of all finite strings formed by concatenating words from S, where any word may be used as often as we like, and where the null string </a:t>
            </a:r>
            <a:r>
              <a:rPr lang="el-GR" sz="2400" b="1" dirty="0">
                <a:cs typeface="Arial" charset="0"/>
              </a:rPr>
              <a:t>Λ</a:t>
            </a:r>
            <a:r>
              <a:rPr lang="en-US" sz="2400" dirty="0">
                <a:cs typeface="Arial" charset="0"/>
              </a:rPr>
              <a:t> is also included.</a:t>
            </a:r>
            <a:endParaRPr lang="el-GR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7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Kleene</a:t>
            </a:r>
            <a:r>
              <a:rPr lang="en-US" dirty="0"/>
              <a:t> Closure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2000" dirty="0"/>
              <a:t>Example: If S = { </a:t>
            </a:r>
            <a:r>
              <a:rPr lang="en-US" sz="2000" dirty="0" err="1"/>
              <a:t>aa</a:t>
            </a:r>
            <a:r>
              <a:rPr lang="en-US" sz="2000" dirty="0"/>
              <a:t>, b } then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2000" dirty="0"/>
              <a:t>	S* = { </a:t>
            </a:r>
            <a:r>
              <a:rPr lang="el-GR" sz="2000" b="1" dirty="0">
                <a:cs typeface="Arial" charset="0"/>
              </a:rPr>
              <a:t>Λ</a:t>
            </a:r>
            <a:r>
              <a:rPr lang="en-US" sz="2000" dirty="0">
                <a:cs typeface="Arial" charset="0"/>
              </a:rPr>
              <a:t> plus any word composed of factors of  </a:t>
            </a:r>
            <a:r>
              <a:rPr lang="en-US" sz="2000" dirty="0" smtClean="0">
                <a:cs typeface="Arial" charset="0"/>
              </a:rPr>
              <a:t> </a:t>
            </a:r>
            <a:r>
              <a:rPr lang="en-US" sz="2000" dirty="0" err="1">
                <a:cs typeface="Arial" charset="0"/>
              </a:rPr>
              <a:t>aa</a:t>
            </a:r>
            <a:r>
              <a:rPr lang="en-US" sz="2000" dirty="0">
                <a:cs typeface="Arial" charset="0"/>
              </a:rPr>
              <a:t> and b }, or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2000" dirty="0">
                <a:cs typeface="Arial" charset="0"/>
              </a:rPr>
              <a:t>	S* = { </a:t>
            </a:r>
            <a:r>
              <a:rPr lang="el-GR" sz="2000" dirty="0">
                <a:cs typeface="Arial" charset="0"/>
              </a:rPr>
              <a:t>Λ</a:t>
            </a:r>
            <a:r>
              <a:rPr lang="en-US" sz="2000" dirty="0">
                <a:cs typeface="Arial" charset="0"/>
              </a:rPr>
              <a:t> plus any strings of a’s and b’s in which the a’s occur in </a:t>
            </a:r>
            <a:r>
              <a:rPr lang="en-US" sz="2000" b="1" dirty="0">
                <a:cs typeface="Arial" charset="0"/>
              </a:rPr>
              <a:t>even</a:t>
            </a:r>
            <a:r>
              <a:rPr lang="en-US" sz="2000" dirty="0">
                <a:cs typeface="Arial" charset="0"/>
              </a:rPr>
              <a:t> clumps }, or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2000" dirty="0">
                <a:cs typeface="Arial" charset="0"/>
              </a:rPr>
              <a:t>	S* = { </a:t>
            </a:r>
            <a:r>
              <a:rPr lang="el-GR" sz="2000" dirty="0">
                <a:cs typeface="Arial" charset="0"/>
              </a:rPr>
              <a:t>Λ</a:t>
            </a:r>
            <a:r>
              <a:rPr lang="en-US" sz="2000" dirty="0">
                <a:cs typeface="Arial" charset="0"/>
              </a:rPr>
              <a:t>, b, </a:t>
            </a:r>
            <a:r>
              <a:rPr lang="en-US" sz="2000" dirty="0" err="1">
                <a:cs typeface="Arial" charset="0"/>
              </a:rPr>
              <a:t>aa</a:t>
            </a:r>
            <a:r>
              <a:rPr lang="en-US" sz="2000" dirty="0">
                <a:cs typeface="Arial" charset="0"/>
              </a:rPr>
              <a:t>, bb, </a:t>
            </a:r>
            <a:r>
              <a:rPr lang="en-US" sz="2000" dirty="0" err="1">
                <a:cs typeface="Arial" charset="0"/>
              </a:rPr>
              <a:t>aab</a:t>
            </a:r>
            <a:r>
              <a:rPr lang="en-US" sz="2000" dirty="0">
                <a:cs typeface="Arial" charset="0"/>
              </a:rPr>
              <a:t>, baa, </a:t>
            </a:r>
            <a:r>
              <a:rPr lang="en-US" sz="2000" dirty="0" err="1">
                <a:cs typeface="Arial" charset="0"/>
              </a:rPr>
              <a:t>bbb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aaaa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aabb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baab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bbaa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bbbb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aaaab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smtClean="0">
                <a:cs typeface="Arial" charset="0"/>
              </a:rPr>
              <a:t>         </a:t>
            </a:r>
            <a:r>
              <a:rPr lang="en-US" sz="2000" dirty="0" err="1" smtClean="0">
                <a:cs typeface="Arial" charset="0"/>
              </a:rPr>
              <a:t>aabaa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aabbb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baaaa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baabb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bbaab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bbbaa</a:t>
            </a:r>
            <a:r>
              <a:rPr lang="en-US" sz="2000" dirty="0">
                <a:cs typeface="Arial" charset="0"/>
              </a:rPr>
              <a:t>, </a:t>
            </a:r>
            <a:r>
              <a:rPr lang="en-US" sz="2000" dirty="0" err="1">
                <a:cs typeface="Arial" charset="0"/>
              </a:rPr>
              <a:t>bbbbb</a:t>
            </a:r>
            <a:r>
              <a:rPr lang="en-US" sz="2000" dirty="0">
                <a:cs typeface="Arial" charset="0"/>
              </a:rPr>
              <a:t>, … }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2000" dirty="0">
                <a:cs typeface="Arial" charset="0"/>
              </a:rPr>
              <a:t>	Note that the string </a:t>
            </a:r>
            <a:r>
              <a:rPr lang="en-US" sz="2000" b="1" dirty="0" err="1">
                <a:solidFill>
                  <a:srgbClr val="FF0000"/>
                </a:solidFill>
                <a:cs typeface="Arial" charset="0"/>
              </a:rPr>
              <a:t>aabaaab</a:t>
            </a:r>
            <a:r>
              <a:rPr lang="en-US" sz="2000" dirty="0">
                <a:cs typeface="Arial" charset="0"/>
              </a:rPr>
              <a:t> is not in S* because it has a clump of a’s of length 3. </a:t>
            </a:r>
            <a:endParaRPr lang="el-GR" sz="20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7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 Its Your Turn:  ?????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Let S = { a, </a:t>
            </a:r>
            <a:r>
              <a:rPr lang="en-US" dirty="0" err="1"/>
              <a:t>ab</a:t>
            </a:r>
            <a:r>
              <a:rPr lang="en-US" dirty="0"/>
              <a:t> }. Then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S* =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                                                                                   },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=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                                                                                   },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just">
              <a:spcAft>
                <a:spcPts val="1200"/>
              </a:spcAft>
              <a:buFontTx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= {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}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0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Positive Closure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400" y="1307910"/>
            <a:ext cx="8229600" cy="5029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33400" indent="-533400">
              <a:lnSpc>
                <a:spcPct val="80000"/>
              </a:lnSpc>
            </a:pPr>
            <a:r>
              <a:rPr lang="en-US" sz="2400" dirty="0" smtClean="0"/>
              <a:t>If we wish to modify the concept of closure to refer only the concatenation of </a:t>
            </a:r>
            <a:r>
              <a:rPr lang="en-US" sz="2400" b="1" dirty="0" smtClean="0"/>
              <a:t>some</a:t>
            </a:r>
            <a:r>
              <a:rPr lang="en-US" sz="2400" dirty="0" smtClean="0"/>
              <a:t> (</a:t>
            </a:r>
            <a:r>
              <a:rPr lang="en-US" sz="2400" b="1" dirty="0" smtClean="0"/>
              <a:t>not zero</a:t>
            </a:r>
            <a:r>
              <a:rPr lang="en-US" sz="2400" dirty="0" smtClean="0"/>
              <a:t>) strings from a set S, we use the notation + instead of *.</a:t>
            </a:r>
          </a:p>
          <a:p>
            <a:pPr marL="533400" indent="-533400">
              <a:lnSpc>
                <a:spcPct val="80000"/>
              </a:lnSpc>
            </a:pPr>
            <a:r>
              <a:rPr lang="en-US" sz="2400" dirty="0" smtClean="0"/>
              <a:t>This “plus operation” is called </a:t>
            </a:r>
            <a:r>
              <a:rPr lang="en-US" sz="2400" b="1" dirty="0" smtClean="0"/>
              <a:t>positive closure</a:t>
            </a:r>
            <a:r>
              <a:rPr lang="en-US" sz="2400" dirty="0" smtClean="0"/>
              <a:t>.</a:t>
            </a:r>
          </a:p>
          <a:p>
            <a:pPr marL="533400" indent="-533400">
              <a:lnSpc>
                <a:spcPct val="80000"/>
              </a:lnSpc>
            </a:pPr>
            <a:r>
              <a:rPr lang="en-US" sz="2400" dirty="0" smtClean="0"/>
              <a:t>Example: if </a:t>
            </a:r>
            <a:r>
              <a:rPr lang="en-US" sz="2400" dirty="0" smtClean="0">
                <a:cs typeface="Arial" charset="0"/>
              </a:rPr>
              <a:t>∑ = { x } then ∑</a:t>
            </a:r>
            <a:r>
              <a:rPr lang="en-US" sz="2400" baseline="30000" dirty="0" smtClean="0">
                <a:cs typeface="Arial" charset="0"/>
              </a:rPr>
              <a:t>+</a:t>
            </a:r>
            <a:r>
              <a:rPr lang="en-US" sz="2400" dirty="0" smtClean="0">
                <a:cs typeface="Arial" charset="0"/>
              </a:rPr>
              <a:t> = { x, xx, xxx, … }</a:t>
            </a:r>
            <a:r>
              <a:rPr lang="en-US" sz="2400" dirty="0" smtClean="0"/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 smtClean="0"/>
              <a:t>                          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∑</a:t>
            </a:r>
            <a:r>
              <a:rPr lang="en-US" sz="2400" b="1" baseline="30000" dirty="0" smtClean="0">
                <a:solidFill>
                  <a:srgbClr val="FF0000"/>
                </a:solidFill>
                <a:cs typeface="Arial" charset="0"/>
              </a:rPr>
              <a:t>+    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=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∑</a:t>
            </a:r>
            <a:r>
              <a:rPr lang="en-US" sz="2400" b="1" dirty="0" smtClean="0">
                <a:solidFill>
                  <a:srgbClr val="FF0000"/>
                </a:solidFill>
                <a:cs typeface="Arial" charset="0"/>
              </a:rPr>
              <a:t>* - </a:t>
            </a:r>
            <a:r>
              <a:rPr lang="el-GR" sz="2400" b="1" dirty="0">
                <a:solidFill>
                  <a:srgbClr val="FF0000"/>
                </a:solidFill>
                <a:cs typeface="Arial" charset="0"/>
              </a:rPr>
              <a:t>Λ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533400" indent="-533400">
              <a:lnSpc>
                <a:spcPct val="80000"/>
              </a:lnSpc>
            </a:pPr>
            <a:r>
              <a:rPr lang="en-US" sz="2400" dirty="0" smtClean="0"/>
              <a:t>Observe that:</a:t>
            </a:r>
          </a:p>
          <a:p>
            <a:pPr marL="533400" indent="-533400">
              <a:lnSpc>
                <a:spcPct val="80000"/>
              </a:lnSpc>
            </a:pPr>
            <a:endParaRPr lang="en-US" sz="2400" dirty="0" smtClean="0"/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If S is a language that </a:t>
            </a:r>
            <a:r>
              <a:rPr lang="en-US" sz="2400" b="1" dirty="0" smtClean="0"/>
              <a:t>does not</a:t>
            </a:r>
            <a:r>
              <a:rPr lang="en-US" sz="2400" dirty="0" smtClean="0"/>
              <a:t> contain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, then S</a:t>
            </a:r>
            <a:r>
              <a:rPr lang="en-US" sz="2400" baseline="30000" dirty="0" smtClean="0">
                <a:cs typeface="Arial" charset="0"/>
              </a:rPr>
              <a:t>+</a:t>
            </a:r>
            <a:r>
              <a:rPr lang="en-US" sz="2400" dirty="0" smtClean="0">
                <a:cs typeface="Arial" charset="0"/>
              </a:rPr>
              <a:t> is the language S* without the null word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.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2400" dirty="0" smtClean="0"/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If S is a language that </a:t>
            </a:r>
            <a:r>
              <a:rPr lang="en-US" sz="2400" b="1" dirty="0" smtClean="0"/>
              <a:t>does</a:t>
            </a:r>
            <a:r>
              <a:rPr lang="en-US" sz="2400" dirty="0" smtClean="0"/>
              <a:t> contain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, then S</a:t>
            </a:r>
            <a:r>
              <a:rPr lang="en-US" sz="2400" baseline="30000" dirty="0" smtClean="0">
                <a:cs typeface="Arial" charset="0"/>
              </a:rPr>
              <a:t>+</a:t>
            </a:r>
            <a:r>
              <a:rPr lang="en-US" sz="2400" dirty="0" smtClean="0">
                <a:cs typeface="Arial" charset="0"/>
              </a:rPr>
              <a:t> = S*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2400" dirty="0" smtClean="0"/>
          </a:p>
          <a:p>
            <a:pPr marL="533400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2400" dirty="0" smtClean="0"/>
              <a:t>Likewise, if </a:t>
            </a:r>
            <a:r>
              <a:rPr lang="en-US" sz="2400" dirty="0" smtClean="0">
                <a:cs typeface="Arial" charset="0"/>
              </a:rPr>
              <a:t>∑ is an alphabet, then ∑</a:t>
            </a:r>
            <a:r>
              <a:rPr lang="en-US" sz="2400" baseline="30000" dirty="0" smtClean="0">
                <a:cs typeface="Arial" charset="0"/>
              </a:rPr>
              <a:t>+</a:t>
            </a:r>
            <a:r>
              <a:rPr lang="en-US" sz="2400" dirty="0" smtClean="0">
                <a:cs typeface="Arial" charset="0"/>
              </a:rPr>
              <a:t> is ∑* without the word </a:t>
            </a:r>
            <a:r>
              <a:rPr lang="el-GR" sz="2400" b="1" dirty="0" smtClean="0">
                <a:cs typeface="Arial" charset="0"/>
              </a:rPr>
              <a:t>Λ</a:t>
            </a:r>
            <a:r>
              <a:rPr lang="en-US" sz="2400" dirty="0" smtClean="0">
                <a:cs typeface="Arial" charset="0"/>
              </a:rPr>
              <a:t>.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478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Automata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</a:rPr>
              <a:t>Automata is Greek letters .Automata is a word formulated from automation, which means machine designing or replacing human beings with machines. 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endParaRPr lang="en-US" sz="2200" dirty="0" smtClean="0">
              <a:latin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endParaRPr lang="en-US" sz="2200" dirty="0" smtClean="0">
              <a:latin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</a:rPr>
              <a:t>Every machine design requires some hardware part and some software part.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endParaRPr lang="en-US" sz="2200" dirty="0" smtClean="0">
              <a:latin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endParaRPr lang="en-US" sz="2200" dirty="0" smtClean="0">
              <a:latin typeface="Times New Roman" pitchFamily="18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Char char="v"/>
            </a:pPr>
            <a:r>
              <a:rPr lang="en-US" sz="2200" dirty="0" smtClean="0">
                <a:latin typeface="Times New Roman" pitchFamily="18" charset="0"/>
              </a:rPr>
              <a:t> A machine could be a finite state machine ,a Turing Machine, a pushdown automata, or any other restricted version of a Turing machine.</a:t>
            </a:r>
          </a:p>
          <a:p>
            <a:pPr>
              <a:lnSpc>
                <a:spcPct val="80000"/>
              </a:lnSpc>
            </a:pPr>
            <a:endParaRPr lang="en-US" dirty="0" smtClean="0">
              <a:latin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http://xml.cs.nccu.edu.tw/courses/Flang/FL2011/ppts/ch1.ppt</a:t>
            </a:r>
          </a:p>
        </p:txBody>
      </p:sp>
    </p:spTree>
    <p:extLst>
      <p:ext uri="{BB962C8B-B14F-4D97-AF65-F5344CB8AC3E}">
        <p14:creationId xmlns:p14="http://schemas.microsoft.com/office/powerpoint/2010/main" val="406969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495</TotalTime>
  <Words>1409</Words>
  <Application>Microsoft Office PowerPoint</Application>
  <PresentationFormat>On-screen Show (4:3)</PresentationFormat>
  <Paragraphs>181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Solstice</vt:lpstr>
      <vt:lpstr>BSCS- 501: Theory Of Computer Science Credit Hour (2+1) Department Of Computer Science University Of Karachi </vt:lpstr>
      <vt:lpstr>Textbook:</vt:lpstr>
      <vt:lpstr>Reference Books </vt:lpstr>
      <vt:lpstr>Reference Books</vt:lpstr>
      <vt:lpstr>Course Objectives</vt:lpstr>
      <vt:lpstr>PowerPoint Presentation</vt:lpstr>
      <vt:lpstr>Three Basic Concepts:</vt:lpstr>
      <vt:lpstr>Languages</vt:lpstr>
      <vt:lpstr>Alphabets</vt:lpstr>
      <vt:lpstr>Strings</vt:lpstr>
      <vt:lpstr>Strings </vt:lpstr>
      <vt:lpstr>Languages</vt:lpstr>
      <vt:lpstr>Example</vt:lpstr>
      <vt:lpstr>String Operations:</vt:lpstr>
      <vt:lpstr>Length/Size of String: </vt:lpstr>
      <vt:lpstr>Reverse</vt:lpstr>
      <vt:lpstr>Definition: Palindrome</vt:lpstr>
      <vt:lpstr>PowerPoint Presentation</vt:lpstr>
      <vt:lpstr>Kleene Closure</vt:lpstr>
      <vt:lpstr>Lexicographic order</vt:lpstr>
      <vt:lpstr>Kleene Closure</vt:lpstr>
      <vt:lpstr>Kleene Closure</vt:lpstr>
      <vt:lpstr> Its Your Turn:  ?????</vt:lpstr>
      <vt:lpstr>Positive Closure</vt:lpstr>
      <vt:lpstr>Automata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BSCS- 501: Theory Of Computer Science Credit Hour (2+1) Department Of Computer Science University Of Karachi</dc:title>
  <dc:creator>Azam</dc:creator>
  <cp:lastModifiedBy>ubit</cp:lastModifiedBy>
  <cp:revision>54</cp:revision>
  <dcterms:created xsi:type="dcterms:W3CDTF">2013-02-11T02:02:00Z</dcterms:created>
  <dcterms:modified xsi:type="dcterms:W3CDTF">2013-02-13T06:29:04Z</dcterms:modified>
</cp:coreProperties>
</file>