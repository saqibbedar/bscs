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notesMasterIdLst>
    <p:notesMasterId r:id="rId29"/>
  </p:notesMasterIdLst>
  <p:sldIdLst>
    <p:sldId id="349" r:id="rId5"/>
    <p:sldId id="346" r:id="rId6"/>
    <p:sldId id="290" r:id="rId7"/>
    <p:sldId id="317" r:id="rId8"/>
    <p:sldId id="330" r:id="rId9"/>
    <p:sldId id="316" r:id="rId10"/>
    <p:sldId id="331" r:id="rId11"/>
    <p:sldId id="332" r:id="rId12"/>
    <p:sldId id="333" r:id="rId13"/>
    <p:sldId id="347" r:id="rId14"/>
    <p:sldId id="348" r:id="rId15"/>
    <p:sldId id="256" r:id="rId16"/>
    <p:sldId id="257" r:id="rId17"/>
    <p:sldId id="334" r:id="rId18"/>
    <p:sldId id="336" r:id="rId19"/>
    <p:sldId id="337" r:id="rId20"/>
    <p:sldId id="338" r:id="rId21"/>
    <p:sldId id="340" r:id="rId22"/>
    <p:sldId id="339" r:id="rId23"/>
    <p:sldId id="341" r:id="rId24"/>
    <p:sldId id="342" r:id="rId25"/>
    <p:sldId id="343" r:id="rId26"/>
    <p:sldId id="344" r:id="rId27"/>
    <p:sldId id="345" r:id="rId28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i9iaSeCi0pGDfzrBU1B9sbSGO6i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1470" y="11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8" Type="http://customschemas.google.com/relationships/presentationmetadata" Target="meta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3304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5141404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99197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9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9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2100"/>
              <a:buFont typeface="Noto Sans Symbols"/>
              <a:buNone/>
              <a:defRPr sz="2100"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lvl="4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9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9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0" name="Google Shape;20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9"/>
          <p:cNvSpPr/>
          <p:nvPr/>
        </p:nvSpPr>
        <p:spPr>
          <a:xfrm>
            <a:off x="685800" y="2393950"/>
            <a:ext cx="7772400" cy="109538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0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0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3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4"/>
          <p:cNvSpPr txBox="1"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4"/>
          <p:cNvSpPr txBox="1"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5" name="Google Shape;35;p3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4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36"/>
          <p:cNvSpPr txBox="1">
            <a:spLocks noGrp="1"/>
          </p:cNvSpPr>
          <p:nvPr>
            <p:ph type="body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36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36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7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7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7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9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9"/>
          <p:cNvSpPr txBox="1">
            <a:spLocks noGrp="1"/>
          </p:cNvSpPr>
          <p:nvPr>
            <p:ph type="body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Char char="□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■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□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■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SzPts val="2000"/>
              <a:buChar char="▪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2" name="Google Shape;52;p39"/>
          <p:cNvSpPr txBox="1">
            <a:spLocks noGrp="1"/>
          </p:cNvSpPr>
          <p:nvPr>
            <p:ph type="body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3" name="Google Shape;53;p39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39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0"/>
          <p:cNvSpPr txBox="1"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0"/>
          <p:cNvSpPr>
            <a:spLocks noGrp="1"/>
          </p:cNvSpPr>
          <p:nvPr>
            <p:ph type="pic" idx="2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40"/>
          <p:cNvSpPr txBox="1">
            <a:spLocks noGrp="1"/>
          </p:cNvSpPr>
          <p:nvPr>
            <p:ph type="body" idx="1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1pPr>
            <a:lvl2pPr marL="914400" lvl="1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4pPr>
            <a:lvl5pPr marL="2286000" lvl="4" indent="-228600" algn="l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40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0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1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body" idx="1"/>
          </p:nvPr>
        </p:nvSpPr>
        <p:spPr>
          <a:xfrm rot="5400000">
            <a:off x="2433638" y="-114300"/>
            <a:ext cx="4267200" cy="800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1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2"/>
          <p:cNvSpPr txBox="1">
            <a:spLocks noGrp="1"/>
          </p:cNvSpPr>
          <p:nvPr>
            <p:ph type="title"/>
          </p:nvPr>
        </p:nvSpPr>
        <p:spPr>
          <a:xfrm rot="5400000">
            <a:off x="4717257" y="2161382"/>
            <a:ext cx="5715000" cy="2001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42"/>
          <p:cNvSpPr txBox="1">
            <a:spLocks noGrp="1"/>
          </p:cNvSpPr>
          <p:nvPr>
            <p:ph type="body" idx="1"/>
          </p:nvPr>
        </p:nvSpPr>
        <p:spPr>
          <a:xfrm rot="5400000">
            <a:off x="636588" y="234950"/>
            <a:ext cx="5715000" cy="58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  <a:defRPr/>
            </a:lvl4pPr>
            <a:lvl5pPr marL="2286000" lvl="4" indent="-34290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ftr" idx="11"/>
          </p:nvPr>
        </p:nvSpPr>
        <p:spPr>
          <a:xfrm>
            <a:off x="2590800" y="6172200"/>
            <a:ext cx="38862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8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1" name="Google Shape;11;p28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68300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Noto Sans Symbols"/>
              <a:buChar char="□"/>
              <a:defRPr sz="2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Noto Sans Symbols"/>
              <a:buChar char="■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49250" algn="l" rtl="0">
              <a:lnSpc>
                <a:spcPct val="100000"/>
              </a:lnSpc>
              <a:spcBef>
                <a:spcPts val="38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□"/>
              <a:defRPr sz="19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■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2" name="Google Shape;12;p28"/>
          <p:cNvSpPr/>
          <p:nvPr/>
        </p:nvSpPr>
        <p:spPr>
          <a:xfrm>
            <a:off x="609600" y="1566863"/>
            <a:ext cx="7958138" cy="109537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 extrusionOk="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" name="Google Shape;13;p28"/>
          <p:cNvCxnSpPr/>
          <p:nvPr/>
        </p:nvCxnSpPr>
        <p:spPr>
          <a:xfrm>
            <a:off x="609600" y="6172200"/>
            <a:ext cx="79248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8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Artificial Intelligence</a:t>
            </a:r>
            <a:endParaRPr dirty="0"/>
          </a:p>
        </p:txBody>
      </p:sp>
      <p:sp>
        <p:nvSpPr>
          <p:cNvPr id="81" name="Google Shape;81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Lecture # 24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Session#27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Learning objectives</a:t>
            </a:r>
            <a:endParaRPr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enable students to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basic terminology for adversarial games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policy evaluation for adversarial games</a:t>
            </a:r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endParaRPr lang="en-US"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E453BB-8192-CFE8-AE65-9C1479D2E3F1}"/>
              </a:ext>
            </a:extLst>
          </p:cNvPr>
          <p:cNvSpPr txBox="1"/>
          <p:nvPr/>
        </p:nvSpPr>
        <p:spPr>
          <a:xfrm>
            <a:off x="2286000" y="3278986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4"/>
          <p:cNvSpPr txBox="1">
            <a:spLocks noGrp="1"/>
          </p:cNvSpPr>
          <p:nvPr>
            <p:ph type="dt" idx="10"/>
          </p:nvPr>
        </p:nvSpPr>
        <p:spPr>
          <a:xfrm>
            <a:off x="609600" y="6245225"/>
            <a:ext cx="1981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20" name="Google Shape;220;p44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Model types</a:t>
            </a:r>
            <a:endParaRPr dirty="0"/>
          </a:p>
        </p:txBody>
      </p:sp>
      <p:sp>
        <p:nvSpPr>
          <p:cNvPr id="221" name="Google Shape;221;p44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sz="2000" dirty="0"/>
              <a:t>Four types in order of increasing generality: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Simple reflex models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State-based models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Variable-based models</a:t>
            </a:r>
            <a:endParaRPr dirty="0"/>
          </a:p>
          <a:p>
            <a:pPr marL="742950" lvl="1" indent="-2857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dirty="0"/>
              <a:t>Logic-based models</a:t>
            </a:r>
            <a:endParaRPr dirty="0"/>
          </a:p>
          <a:p>
            <a:pPr marL="742950" lvl="1" indent="-171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742950" lvl="1" indent="-171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lang="en-US" dirty="0"/>
          </a:p>
          <a:p>
            <a:pPr marL="742950" lvl="1" indent="-1714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Reflex 	State-based	  Variable		Logic</a:t>
            </a:r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		- </a:t>
            </a:r>
            <a:r>
              <a:rPr lang="en-US" sz="1600" dirty="0"/>
              <a:t>Search-based	   - Constraint satisfaction</a:t>
            </a:r>
            <a:endParaRPr sz="1600"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600" dirty="0"/>
              <a:t>		- Markov decision   	   - Bayesian networks	</a:t>
            </a:r>
            <a:endParaRPr sz="1600" dirty="0"/>
          </a:p>
          <a:p>
            <a:pPr marL="4572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r>
              <a:rPr lang="en-US" sz="1600" dirty="0"/>
              <a:t>		- Adversarial</a:t>
            </a:r>
            <a:endParaRPr sz="1600" dirty="0"/>
          </a:p>
          <a:p>
            <a:pPr marL="2571750" lvl="5" indent="-1714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22" name="Google Shape;222;p44"/>
          <p:cNvSpPr/>
          <p:nvPr/>
        </p:nvSpPr>
        <p:spPr>
          <a:xfrm>
            <a:off x="1106129" y="4262284"/>
            <a:ext cx="6990736" cy="412955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25400" cap="flat" cmpd="sng">
            <a:solidFill>
              <a:srgbClr val="444B5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44" descr="Image result for pattern recognition ca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06129" y="3548053"/>
            <a:ext cx="1120340" cy="766772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44" descr="Image result for chess"/>
          <p:cNvSpPr/>
          <p:nvPr/>
        </p:nvSpPr>
        <p:spPr>
          <a:xfrm>
            <a:off x="4419600" y="3276600"/>
            <a:ext cx="1671484" cy="16714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44" descr="Image result for chess"/>
          <p:cNvSpPr/>
          <p:nvPr/>
        </p:nvSpPr>
        <p:spPr>
          <a:xfrm>
            <a:off x="4419599" y="3276599"/>
            <a:ext cx="2210875" cy="2210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6" name="Google Shape;226;p4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43331" y="3565062"/>
            <a:ext cx="995518" cy="749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4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14004" y="3303032"/>
            <a:ext cx="939522" cy="93952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2066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B8D11C19-045A-C6AC-107C-161629FDB7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Games </a:t>
            </a:r>
            <a:endParaRPr lang="en-US" altLang="en-PK" sz="1600" dirty="0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A9B2DF3A-B14C-FEC3-C821-524A962BF5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PK" sz="2000" dirty="0"/>
              <a:t>Competitive environments, in which the agents' goals are in conflict, give rise to </a:t>
            </a:r>
            <a:r>
              <a:rPr lang="en-US" altLang="en-PK" sz="2000" dirty="0">
                <a:solidFill>
                  <a:srgbClr val="FF0000"/>
                </a:solidFill>
              </a:rPr>
              <a:t>adversarial search</a:t>
            </a:r>
            <a:r>
              <a:rPr lang="en-US" altLang="en-PK" sz="2000" b="1" dirty="0"/>
              <a:t> </a:t>
            </a:r>
            <a:r>
              <a:rPr lang="en-US" altLang="en-PK" sz="2000" dirty="0"/>
              <a:t>problems often known as </a:t>
            </a:r>
            <a:r>
              <a:rPr lang="en-US" altLang="en-PK" sz="2000" dirty="0">
                <a:solidFill>
                  <a:srgbClr val="FF0000"/>
                </a:solidFill>
              </a:rPr>
              <a:t>games</a:t>
            </a:r>
          </a:p>
          <a:p>
            <a:endParaRPr lang="en-US" altLang="en-PK" sz="800" dirty="0"/>
          </a:p>
          <a:p>
            <a:r>
              <a:rPr lang="en-US" altLang="en-PK" sz="2000" dirty="0"/>
              <a:t>Games are interesting </a:t>
            </a:r>
            <a:r>
              <a:rPr lang="en-US" altLang="en-PK" sz="2000" i="1" dirty="0"/>
              <a:t>because </a:t>
            </a:r>
            <a:r>
              <a:rPr lang="en-US" altLang="en-PK" sz="2000" dirty="0"/>
              <a:t>they are hard to solve. </a:t>
            </a:r>
          </a:p>
          <a:p>
            <a:endParaRPr lang="en-US" altLang="en-PK" sz="800" dirty="0"/>
          </a:p>
          <a:p>
            <a:r>
              <a:rPr lang="en-US" altLang="en-PK" sz="2000" dirty="0"/>
              <a:t>For example, chess has an average branching factor of about 35, and games often go to 50 moves by each player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PK" sz="800" dirty="0"/>
          </a:p>
          <a:p>
            <a:r>
              <a:rPr lang="en-US" altLang="en-PK" sz="2000" dirty="0"/>
              <a:t>Games, like the real world, therefore require the ability to make </a:t>
            </a:r>
            <a:r>
              <a:rPr lang="en-US" altLang="en-PK" sz="2000" i="1" dirty="0"/>
              <a:t>some </a:t>
            </a:r>
            <a:r>
              <a:rPr lang="en-US" altLang="en-PK" sz="2000" dirty="0"/>
              <a:t>decision even when calculating the </a:t>
            </a:r>
            <a:r>
              <a:rPr lang="en-US" altLang="en-PK" sz="2000" i="1" dirty="0"/>
              <a:t>optimal </a:t>
            </a:r>
            <a:r>
              <a:rPr lang="en-US" altLang="en-PK" sz="2000" dirty="0"/>
              <a:t>decision is infeasible</a:t>
            </a:r>
          </a:p>
          <a:p>
            <a:endParaRPr lang="en-US" altLang="en-PK" sz="800" dirty="0"/>
          </a:p>
          <a:p>
            <a:r>
              <a:rPr lang="en-US" altLang="en-PK" sz="2000" dirty="0"/>
              <a:t>Games also penalize inefficiency severely</a:t>
            </a:r>
          </a:p>
          <a:p>
            <a:endParaRPr lang="en-US" altLang="en-PK" sz="800" dirty="0"/>
          </a:p>
          <a:p>
            <a:r>
              <a:rPr lang="en-US" altLang="en-PK" sz="2000" dirty="0"/>
              <a:t>Game-playing research has therefore spawned a number of interesting ideas</a:t>
            </a:r>
          </a:p>
          <a:p>
            <a:endParaRPr lang="en-US" altLang="en-PK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AEC21-EA6E-C76B-B6F9-38EB102D1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Tree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DB0ECF-1A5E-B477-3CDF-613275E55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Represented as game trees- similar to a search tree</a:t>
            </a:r>
          </a:p>
          <a:p>
            <a:endParaRPr lang="en-US" dirty="0"/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572B1F-394A-E23A-15D1-15822CDB0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218" y="2298411"/>
            <a:ext cx="6152598" cy="14643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D11307-2F9B-03D3-3837-12EE9D29E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0135" y="3926147"/>
            <a:ext cx="5403730" cy="2093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039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6D21330F-D694-F479-F2A9-9CB70D3136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PK" dirty="0"/>
              <a:t>Games – Two-player zero-sum</a:t>
            </a:r>
          </a:p>
        </p:txBody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FD93976F-EF23-F537-0137-DA53C61F8D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342900" indent="-342900">
              <a:lnSpc>
                <a:spcPct val="90000"/>
              </a:lnSpc>
            </a:pPr>
            <a:endParaRPr lang="en-US" altLang="en-PK" sz="800" dirty="0"/>
          </a:p>
          <a:p>
            <a:pPr marL="342900" indent="-342900">
              <a:lnSpc>
                <a:spcPct val="90000"/>
              </a:lnSpc>
            </a:pPr>
            <a:r>
              <a:rPr lang="en-US" altLang="en-PK" sz="2400" dirty="0"/>
              <a:t>In AI, games are usually of a rather specialized kind</a:t>
            </a:r>
          </a:p>
          <a:p>
            <a:pPr marL="742950" lvl="1" indent="-285750">
              <a:lnSpc>
                <a:spcPct val="90000"/>
              </a:lnSpc>
            </a:pPr>
            <a:r>
              <a:rPr lang="en-US" altLang="en-PK" dirty="0"/>
              <a:t>turn-taking, two-player, zero-sum games </a:t>
            </a:r>
          </a:p>
          <a:p>
            <a:pPr marL="742950" lvl="1" indent="-285750">
              <a:lnSpc>
                <a:spcPct val="90000"/>
              </a:lnSpc>
            </a:pPr>
            <a:endParaRPr lang="en-US" altLang="en-PK" dirty="0"/>
          </a:p>
          <a:p>
            <a:pPr marL="285750" indent="-285750">
              <a:lnSpc>
                <a:spcPct val="90000"/>
              </a:lnSpc>
            </a:pPr>
            <a:r>
              <a:rPr lang="en-US" altLang="en-PK" dirty="0"/>
              <a:t>This means</a:t>
            </a:r>
          </a:p>
          <a:p>
            <a:pPr marL="1143000" lvl="2" indent="-228600">
              <a:lnSpc>
                <a:spcPct val="90000"/>
              </a:lnSpc>
            </a:pPr>
            <a:r>
              <a:rPr lang="en-US" altLang="en-PK" dirty="0"/>
              <a:t>two agents whose actions must alternate </a:t>
            </a:r>
          </a:p>
          <a:p>
            <a:pPr marL="1143000" lvl="2" indent="-228600">
              <a:lnSpc>
                <a:spcPct val="90000"/>
              </a:lnSpc>
            </a:pPr>
            <a:r>
              <a:rPr lang="en-US" altLang="en-PK" dirty="0"/>
              <a:t>The utility values at the end of the game are always equal and opposite. </a:t>
            </a:r>
          </a:p>
          <a:p>
            <a:pPr marL="1143000" lvl="2" indent="-228600">
              <a:lnSpc>
                <a:spcPct val="90000"/>
              </a:lnSpc>
            </a:pPr>
            <a:r>
              <a:rPr lang="en-US" altLang="en-PK" dirty="0"/>
              <a:t>For example, if one player wins a game of chess (+1), the other player necessarily loses (-1).</a:t>
            </a:r>
          </a:p>
          <a:p>
            <a:pPr marL="342900" indent="-342900">
              <a:lnSpc>
                <a:spcPct val="90000"/>
              </a:lnSpc>
            </a:pPr>
            <a:endParaRPr lang="en-US" altLang="en-PK" sz="2400" dirty="0"/>
          </a:p>
          <a:p>
            <a:pPr marL="342900" indent="-342900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en-PK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BD11B6-9AA0-351C-B1D9-3D3DEE8AC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CFE76-C41E-6A5B-42DB-3C16B0C3A5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Players={agent, opponent}</a:t>
            </a:r>
          </a:p>
          <a:p>
            <a:endParaRPr lang="en-US" dirty="0"/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F54DA9-0873-D078-4264-B16250102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4450" y="2528653"/>
            <a:ext cx="5970520" cy="282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385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CB199-AE4D-E8C5-56F0-3AC7C658E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Chess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ADEAF6-B3A3-2D30-7F02-9E38D6A18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427BAA-865D-F56C-3E56-4309848409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853"/>
          <a:stretch>
            <a:fillRect/>
          </a:stretch>
        </p:blipFill>
        <p:spPr>
          <a:xfrm>
            <a:off x="823959" y="3597639"/>
            <a:ext cx="6791045" cy="25534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B32CAE8-D757-277D-95EA-BEDDD7376C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336" y="1621317"/>
            <a:ext cx="2480339" cy="2530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444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A2574-5D24-EDE9-A45A-9D7BD6573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Characteristics of games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84DE4A-A2C5-2D05-8B7C-BB89F5473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the utility is at the end state</a:t>
            </a:r>
          </a:p>
          <a:p>
            <a:endParaRPr lang="en-US" dirty="0"/>
          </a:p>
          <a:p>
            <a:r>
              <a:rPr lang="en-US" dirty="0"/>
              <a:t>Different players in control at different states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8394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BE1B8-4579-AF9A-C8BC-8F6FCBDEA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49774-0B75-C919-3824-1EED1DAD3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having a single policy π, we have a policy π</a:t>
            </a:r>
            <a:r>
              <a:rPr lang="en-US" baseline="-25000" dirty="0"/>
              <a:t>p</a:t>
            </a:r>
            <a:r>
              <a:rPr lang="en-US" dirty="0"/>
              <a:t> for each player </a:t>
            </a:r>
            <a:r>
              <a:rPr lang="en-US" i="1" dirty="0"/>
              <a:t>p ∈ Players</a:t>
            </a:r>
          </a:p>
          <a:p>
            <a:endParaRPr lang="en-US" sz="800" dirty="0"/>
          </a:p>
          <a:p>
            <a:r>
              <a:rPr lang="en-US" dirty="0"/>
              <a:t>We require that π</a:t>
            </a:r>
            <a:r>
              <a:rPr lang="en-US" baseline="-25000" dirty="0"/>
              <a:t>p </a:t>
            </a:r>
            <a:r>
              <a:rPr lang="en-US" dirty="0"/>
              <a:t>only be defined when it’s </a:t>
            </a:r>
            <a:r>
              <a:rPr lang="en-US" i="1" dirty="0"/>
              <a:t>p’s</a:t>
            </a:r>
            <a:r>
              <a:rPr lang="en-US" dirty="0"/>
              <a:t> turn; that is, for states</a:t>
            </a:r>
            <a:r>
              <a:rPr lang="en-US" i="1" dirty="0"/>
              <a:t> s </a:t>
            </a:r>
            <a:r>
              <a:rPr lang="en-US" dirty="0"/>
              <a:t>such that Player(s) = </a:t>
            </a:r>
            <a:r>
              <a:rPr lang="en-US" i="1" dirty="0"/>
              <a:t>p </a:t>
            </a:r>
            <a:endParaRPr lang="en-PK" i="1" dirty="0"/>
          </a:p>
          <a:p>
            <a:endParaRPr lang="en-US" sz="800" dirty="0"/>
          </a:p>
          <a:p>
            <a:r>
              <a:rPr lang="en-US" dirty="0"/>
              <a:t>Deterministic policies</a:t>
            </a:r>
          </a:p>
          <a:p>
            <a:pPr lvl="1"/>
            <a:r>
              <a:rPr lang="en-US" dirty="0"/>
              <a:t> π</a:t>
            </a:r>
            <a:r>
              <a:rPr lang="en-US" baseline="-25000" dirty="0"/>
              <a:t>p</a:t>
            </a:r>
            <a:r>
              <a:rPr lang="en-US" dirty="0"/>
              <a:t>(s) ∈ Actions(s) </a:t>
            </a:r>
          </a:p>
          <a:p>
            <a:pPr lvl="1"/>
            <a:r>
              <a:rPr lang="en-US" dirty="0"/>
              <a:t>action that player p takes</a:t>
            </a:r>
          </a:p>
          <a:p>
            <a:pPr lvl="1"/>
            <a:endParaRPr lang="en-US" sz="800" dirty="0"/>
          </a:p>
          <a:p>
            <a:r>
              <a:rPr lang="en-US" dirty="0"/>
              <a:t>Stochastic policies </a:t>
            </a:r>
          </a:p>
          <a:p>
            <a:pPr lvl="1"/>
            <a:r>
              <a:rPr lang="en-US" dirty="0"/>
              <a:t>π</a:t>
            </a:r>
            <a:r>
              <a:rPr lang="en-US" baseline="-25000" dirty="0"/>
              <a:t>p</a:t>
            </a:r>
            <a:r>
              <a:rPr lang="en-US" dirty="0"/>
              <a:t>(s, a) ∈ [0, 1]</a:t>
            </a:r>
          </a:p>
          <a:p>
            <a:pPr lvl="1"/>
            <a:r>
              <a:rPr lang="en-US" dirty="0"/>
              <a:t>probability of player </a:t>
            </a:r>
            <a:r>
              <a:rPr lang="en-US" i="1" dirty="0"/>
              <a:t>p</a:t>
            </a:r>
            <a:r>
              <a:rPr lang="en-US" dirty="0"/>
              <a:t> taking action </a:t>
            </a:r>
            <a:r>
              <a:rPr lang="en-US" i="1" dirty="0"/>
              <a:t>a</a:t>
            </a:r>
            <a:r>
              <a:rPr lang="en-US" dirty="0"/>
              <a:t> in state </a:t>
            </a:r>
            <a:r>
              <a:rPr lang="en-US" i="1" dirty="0"/>
              <a:t>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4390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D9CC5-B4DF-833C-F222-5157D8055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Simple Game 1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4FB1ED-BEAD-09B8-D4FB-6CC1EBBFF3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 picks a bucket</a:t>
            </a:r>
          </a:p>
          <a:p>
            <a:r>
              <a:rPr lang="en-US" dirty="0"/>
              <a:t>Opponent picks a number from the bucket</a:t>
            </a:r>
          </a:p>
          <a:p>
            <a:r>
              <a:rPr lang="en-US" dirty="0"/>
              <a:t>Number denotes Agent’s reward</a:t>
            </a:r>
          </a:p>
          <a:p>
            <a:r>
              <a:rPr lang="en-US" dirty="0"/>
              <a:t>Opponent gets – Agent’s reward</a:t>
            </a:r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196F9D-E54E-F4DC-75B8-BD45800AA2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048" y="3909050"/>
            <a:ext cx="7660690" cy="234252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1193AB-7621-3CAF-054D-F44701DB926C}"/>
              </a:ext>
            </a:extLst>
          </p:cNvPr>
          <p:cNvSpPr txBox="1"/>
          <p:nvPr/>
        </p:nvSpPr>
        <p:spPr>
          <a:xfrm>
            <a:off x="1279427" y="5170849"/>
            <a:ext cx="14390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-100    100</a:t>
            </a:r>
            <a:endParaRPr lang="en-PK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55F2879-206E-A95B-E3D8-E67F514A6FEB}"/>
              </a:ext>
            </a:extLst>
          </p:cNvPr>
          <p:cNvSpPr txBox="1"/>
          <p:nvPr/>
        </p:nvSpPr>
        <p:spPr>
          <a:xfrm>
            <a:off x="4277460" y="5219567"/>
            <a:ext cx="839449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2     6</a:t>
            </a:r>
            <a:endParaRPr lang="en-PK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FD0826-00D6-6263-EC29-69C89EFA9A07}"/>
              </a:ext>
            </a:extLst>
          </p:cNvPr>
          <p:cNvSpPr txBox="1"/>
          <p:nvPr/>
        </p:nvSpPr>
        <p:spPr>
          <a:xfrm>
            <a:off x="6675886" y="5170849"/>
            <a:ext cx="124418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-10     30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29710543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>
            <a:spLocks noGrp="1"/>
          </p:cNvSpPr>
          <p:nvPr>
            <p:ph type="ctrTitle"/>
          </p:nvPr>
        </p:nvSpPr>
        <p:spPr>
          <a:xfrm>
            <a:off x="685800" y="990600"/>
            <a:ext cx="777240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Artificial Intelligence</a:t>
            </a:r>
            <a:endParaRPr dirty="0"/>
          </a:p>
        </p:txBody>
      </p:sp>
      <p:sp>
        <p:nvSpPr>
          <p:cNvPr id="81" name="Google Shape;81;p1"/>
          <p:cNvSpPr txBox="1">
            <a:spLocks noGrp="1"/>
          </p:cNvSpPr>
          <p:nvPr>
            <p:ph type="subTitle" idx="1"/>
          </p:nvPr>
        </p:nvSpPr>
        <p:spPr>
          <a:xfrm>
            <a:off x="1447800" y="3429000"/>
            <a:ext cx="70866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Lecture # 25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dirty="0"/>
              <a:t>Session#28</a:t>
            </a: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  <a:p>
            <a:pPr marL="0" lvl="0" indent="0" algn="ctr" rtl="0">
              <a:lnSpc>
                <a:spcPct val="80000"/>
              </a:lnSpc>
              <a:spcBef>
                <a:spcPts val="340"/>
              </a:spcBef>
              <a:spcAft>
                <a:spcPts val="0"/>
              </a:spcAft>
              <a:buSzPts val="1700"/>
              <a:buNone/>
            </a:pPr>
            <a:endParaRPr sz="1700" dirty="0"/>
          </a:p>
        </p:txBody>
      </p:sp>
    </p:spTree>
    <p:extLst>
      <p:ext uri="{BB962C8B-B14F-4D97-AF65-F5344CB8AC3E}">
        <p14:creationId xmlns:p14="http://schemas.microsoft.com/office/powerpoint/2010/main" val="42513394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Learning objectives</a:t>
            </a:r>
            <a:endParaRPr dirty="0"/>
          </a:p>
        </p:txBody>
      </p:sp>
      <p:sp>
        <p:nvSpPr>
          <p:cNvPr id="87" name="Google Shape;87;p2"/>
          <p:cNvSpPr txBox="1">
            <a:spLocks noGrp="1"/>
          </p:cNvSpPr>
          <p:nvPr>
            <p:ph type="body" idx="1"/>
          </p:nvPr>
        </p:nvSpPr>
        <p:spPr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□"/>
            </a:pPr>
            <a:r>
              <a:rPr lang="en-US" dirty="0"/>
              <a:t>To enable students to </a:t>
            </a:r>
            <a:endParaRPr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dirty="0"/>
              <a:t>Understand and apply </a:t>
            </a:r>
            <a:r>
              <a:rPr lang="en-US" dirty="0" err="1"/>
              <a:t>expectimax</a:t>
            </a:r>
            <a:r>
              <a:rPr lang="en-US" dirty="0"/>
              <a:t> and minimax for choosing best policy</a:t>
            </a:r>
          </a:p>
          <a:p>
            <a:pPr marL="571500" lvl="1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lang="en-US"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endParaRPr lang="en-US" dirty="0"/>
          </a:p>
          <a:p>
            <a: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endParaRPr lang="en-US" dirty="0"/>
          </a:p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87677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BE1B8-4579-AF9A-C8BC-8F6FCBDEA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Policies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49774-0B75-C919-3824-1EED1DAD3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having a single policy π, we have a policy π</a:t>
            </a:r>
            <a:r>
              <a:rPr lang="en-US" baseline="-25000" dirty="0"/>
              <a:t>p</a:t>
            </a:r>
            <a:r>
              <a:rPr lang="en-US" dirty="0"/>
              <a:t> for each player </a:t>
            </a:r>
            <a:r>
              <a:rPr lang="en-US" i="1" dirty="0"/>
              <a:t>p ∈ Players</a:t>
            </a:r>
          </a:p>
          <a:p>
            <a:endParaRPr lang="en-US" sz="800" dirty="0"/>
          </a:p>
          <a:p>
            <a:r>
              <a:rPr lang="en-US" dirty="0"/>
              <a:t>We require that π</a:t>
            </a:r>
            <a:r>
              <a:rPr lang="en-US" baseline="-25000" dirty="0"/>
              <a:t>p </a:t>
            </a:r>
            <a:r>
              <a:rPr lang="en-US" dirty="0"/>
              <a:t>only be defined when it’s </a:t>
            </a:r>
            <a:r>
              <a:rPr lang="en-US" i="1" dirty="0"/>
              <a:t>p’s</a:t>
            </a:r>
            <a:r>
              <a:rPr lang="en-US" dirty="0"/>
              <a:t> turn; that is, for states</a:t>
            </a:r>
            <a:r>
              <a:rPr lang="en-US" i="1" dirty="0"/>
              <a:t> s </a:t>
            </a:r>
            <a:r>
              <a:rPr lang="en-US" dirty="0"/>
              <a:t>such that Player(s) = </a:t>
            </a:r>
            <a:r>
              <a:rPr lang="en-US" i="1" dirty="0"/>
              <a:t>p </a:t>
            </a:r>
            <a:endParaRPr lang="en-PK" i="1" dirty="0"/>
          </a:p>
          <a:p>
            <a:endParaRPr lang="en-US" sz="800" dirty="0"/>
          </a:p>
          <a:p>
            <a:r>
              <a:rPr lang="en-US" dirty="0"/>
              <a:t>Deterministic policies</a:t>
            </a:r>
          </a:p>
          <a:p>
            <a:pPr lvl="1"/>
            <a:r>
              <a:rPr lang="en-US" dirty="0"/>
              <a:t> π</a:t>
            </a:r>
            <a:r>
              <a:rPr lang="en-US" baseline="-25000" dirty="0"/>
              <a:t>p</a:t>
            </a:r>
            <a:r>
              <a:rPr lang="en-US" dirty="0"/>
              <a:t>(s) ∈ Actions(s) </a:t>
            </a:r>
          </a:p>
          <a:p>
            <a:pPr lvl="1"/>
            <a:r>
              <a:rPr lang="en-US" dirty="0"/>
              <a:t>action that player p takes</a:t>
            </a:r>
          </a:p>
          <a:p>
            <a:pPr lvl="1"/>
            <a:endParaRPr lang="en-US" sz="800" dirty="0"/>
          </a:p>
          <a:p>
            <a:r>
              <a:rPr lang="en-US" dirty="0"/>
              <a:t>Stochastic policies </a:t>
            </a:r>
          </a:p>
          <a:p>
            <a:pPr lvl="1"/>
            <a:r>
              <a:rPr lang="en-US" dirty="0"/>
              <a:t>π</a:t>
            </a:r>
            <a:r>
              <a:rPr lang="en-US" baseline="-25000" dirty="0"/>
              <a:t>p</a:t>
            </a:r>
            <a:r>
              <a:rPr lang="en-US" dirty="0"/>
              <a:t>(s, a) ∈ [0, 1]</a:t>
            </a:r>
          </a:p>
          <a:p>
            <a:pPr lvl="1"/>
            <a:r>
              <a:rPr lang="en-US" dirty="0"/>
              <a:t>probability of player </a:t>
            </a:r>
            <a:r>
              <a:rPr lang="en-US" i="1" dirty="0"/>
              <a:t>p</a:t>
            </a:r>
            <a:r>
              <a:rPr lang="en-US" dirty="0"/>
              <a:t> taking action </a:t>
            </a:r>
            <a:r>
              <a:rPr lang="en-US" i="1" dirty="0"/>
              <a:t>a</a:t>
            </a:r>
            <a:r>
              <a:rPr lang="en-US" dirty="0"/>
              <a:t> in state </a:t>
            </a:r>
            <a:r>
              <a:rPr lang="en-US" i="1" dirty="0"/>
              <a:t>s</a:t>
            </a:r>
          </a:p>
          <a:p>
            <a:pPr lvl="1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C81E96-8253-F300-40AE-532B8C965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854" y="3347880"/>
            <a:ext cx="4636146" cy="538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916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32087-2F76-D10B-9657-C6F207525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policy evaluation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2DEF60-A606-1674-0E3F-049E6A8365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Given two policies π</a:t>
            </a:r>
            <a:r>
              <a:rPr lang="en-US" sz="2000" baseline="-25000" dirty="0"/>
              <a:t>agent</a:t>
            </a:r>
            <a:r>
              <a:rPr lang="en-US" sz="2000" dirty="0"/>
              <a:t> and π</a:t>
            </a:r>
            <a:r>
              <a:rPr lang="en-US" sz="2000" baseline="-25000" dirty="0" err="1"/>
              <a:t>opp</a:t>
            </a:r>
            <a:r>
              <a:rPr lang="en-US" sz="2000" dirty="0"/>
              <a:t>, what is the (agent’s) expected utility? </a:t>
            </a:r>
          </a:p>
          <a:p>
            <a:endParaRPr lang="en-US" sz="800" dirty="0"/>
          </a:p>
          <a:p>
            <a:r>
              <a:rPr lang="en-US" sz="2000" dirty="0"/>
              <a:t>If the agent and the opponent were to play their (possibly stochastic) policies a large number of times, what would be the average utility </a:t>
            </a:r>
          </a:p>
          <a:p>
            <a:endParaRPr lang="en-US" sz="800" dirty="0"/>
          </a:p>
          <a:p>
            <a:r>
              <a:rPr lang="en-US" sz="2000" dirty="0"/>
              <a:t>In zero-sum games, the opponent’s utility is the negative of the agent’s utility</a:t>
            </a:r>
          </a:p>
          <a:p>
            <a:endParaRPr lang="en-US" sz="800" dirty="0"/>
          </a:p>
          <a:p>
            <a:r>
              <a:rPr lang="en-US" sz="2000" dirty="0"/>
              <a:t>Given the game tree, we can recursively compute the value (expected utility) of each node in the tree</a:t>
            </a:r>
          </a:p>
          <a:p>
            <a:endParaRPr lang="en-US" sz="800" dirty="0"/>
          </a:p>
          <a:p>
            <a:r>
              <a:rPr lang="en-US" sz="2000" dirty="0"/>
              <a:t>The value of a node is the weighted average of the values of the children where the weights are given by the probabilities of taking various actions given by the policy at that node. 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6469832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91E3D-7A0A-E061-DFE5-5F0BE23BD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evaluation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F4C23-E245-4317-943E-43C63370D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BF10E5-A5F1-98FC-18A7-079FF7B27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47" y="2311709"/>
            <a:ext cx="8214055" cy="1980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557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80557-9D4A-CD83-0FFC-42B08AB74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Expectimax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77CB0-19AE-8707-CACE-5338DD778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We are trying to find the best policy - </a:t>
            </a:r>
            <a:r>
              <a:rPr lang="en-US" sz="2000" dirty="0" err="1"/>
              <a:t>Expectimax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In the game tree, use an upward-pointing triangle to denote states where the player is maximizing over actions (max nodes) </a:t>
            </a:r>
          </a:p>
          <a:p>
            <a:endParaRPr lang="en-US" sz="800" dirty="0"/>
          </a:p>
          <a:p>
            <a:r>
              <a:rPr lang="en-US" sz="2000" dirty="0"/>
              <a:t>At max nodes, instead of averaging with respect to a policy, we take the max of the values of the children</a:t>
            </a:r>
          </a:p>
          <a:p>
            <a:endParaRPr lang="en-US" sz="800" dirty="0"/>
          </a:p>
          <a:p>
            <a:r>
              <a:rPr lang="en-US" sz="2000" dirty="0"/>
              <a:t>This computation produces the </a:t>
            </a:r>
            <a:r>
              <a:rPr lang="en-US" sz="2000" dirty="0" err="1"/>
              <a:t>expectimax</a:t>
            </a:r>
            <a:r>
              <a:rPr lang="en-US" sz="2000" dirty="0"/>
              <a:t> value </a:t>
            </a:r>
            <a:r>
              <a:rPr lang="en-US" sz="2000" dirty="0" err="1"/>
              <a:t>V</a:t>
            </a:r>
            <a:r>
              <a:rPr lang="en-US" sz="2000" baseline="-25000" dirty="0" err="1"/>
              <a:t>exptmax</a:t>
            </a:r>
            <a:r>
              <a:rPr lang="en-US" sz="2000" dirty="0"/>
              <a:t>(s) for a state </a:t>
            </a:r>
            <a:r>
              <a:rPr lang="en-US" sz="2000" i="1" dirty="0"/>
              <a:t>s</a:t>
            </a:r>
            <a:r>
              <a:rPr lang="en-US" sz="2000" dirty="0"/>
              <a:t>, which is the maximum expected utility of any agent policy when playing with respect to a fixed and known opponent policy π</a:t>
            </a:r>
            <a:r>
              <a:rPr lang="en-US" sz="2000" baseline="-25000" dirty="0" err="1"/>
              <a:t>opp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30449262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58176-D7B6-9B37-0FAC-C28739FD4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777F7-5A35-4A51-B6F8-EAA9E6EAC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9D954C-B3BA-726F-67D3-DE4F683E2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178" y="1776907"/>
            <a:ext cx="5806064" cy="42428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99A77AF-269D-19D5-1C9E-38E36AE11883}"/>
              </a:ext>
            </a:extLst>
          </p:cNvPr>
          <p:cNvSpPr txBox="1"/>
          <p:nvPr/>
        </p:nvSpPr>
        <p:spPr>
          <a:xfrm>
            <a:off x="4467069" y="2743200"/>
            <a:ext cx="5246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10</a:t>
            </a:r>
            <a:endParaRPr lang="en-PK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056EEB-80BE-B745-DDF0-201D641D9155}"/>
              </a:ext>
            </a:extLst>
          </p:cNvPr>
          <p:cNvSpPr txBox="1"/>
          <p:nvPr/>
        </p:nvSpPr>
        <p:spPr>
          <a:xfrm>
            <a:off x="1701659" y="4901026"/>
            <a:ext cx="14390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-100    100</a:t>
            </a:r>
            <a:endParaRPr lang="en-PK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5FE930-D3C4-1D13-8C7C-EF66273F79B7}"/>
              </a:ext>
            </a:extLst>
          </p:cNvPr>
          <p:cNvSpPr txBox="1"/>
          <p:nvPr/>
        </p:nvSpPr>
        <p:spPr>
          <a:xfrm>
            <a:off x="3747541" y="4885278"/>
            <a:ext cx="124418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2          6</a:t>
            </a:r>
            <a:endParaRPr lang="en-PK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A724A0-A6F8-8B01-D375-7F07AE1CABF8}"/>
              </a:ext>
            </a:extLst>
          </p:cNvPr>
          <p:cNvSpPr txBox="1"/>
          <p:nvPr/>
        </p:nvSpPr>
        <p:spPr>
          <a:xfrm>
            <a:off x="5539141" y="4901026"/>
            <a:ext cx="124418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-10     30</a:t>
            </a:r>
            <a:endParaRPr lang="en-PK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359A85-B066-7F61-8C46-3C5A8A0A328D}"/>
              </a:ext>
            </a:extLst>
          </p:cNvPr>
          <p:cNvSpPr txBox="1"/>
          <p:nvPr/>
        </p:nvSpPr>
        <p:spPr>
          <a:xfrm>
            <a:off x="4467069" y="3750756"/>
            <a:ext cx="5246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4</a:t>
            </a:r>
            <a:endParaRPr lang="en-PK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FB14D3-D436-B460-D1B7-4D204B77FC4D}"/>
              </a:ext>
            </a:extLst>
          </p:cNvPr>
          <p:cNvSpPr txBox="1"/>
          <p:nvPr/>
        </p:nvSpPr>
        <p:spPr>
          <a:xfrm>
            <a:off x="6388308" y="3782252"/>
            <a:ext cx="5246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10</a:t>
            </a:r>
            <a:endParaRPr lang="en-PK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B71D2D-4047-C975-D0FC-7825BFA3024F}"/>
              </a:ext>
            </a:extLst>
          </p:cNvPr>
          <p:cNvSpPr txBox="1"/>
          <p:nvPr/>
        </p:nvSpPr>
        <p:spPr>
          <a:xfrm>
            <a:off x="4991724" y="5317108"/>
            <a:ext cx="5246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10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551308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764D5-D25C-368C-50F7-3607B3101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AE944F-BE8D-224B-28B6-C8BB274989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478445-9FE6-8778-5FCB-8D24C48AC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738" y="3571198"/>
            <a:ext cx="7837599" cy="15841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35E5A1-051F-E80A-8F79-B0BCFD3A8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834" y="2450103"/>
            <a:ext cx="6337013" cy="70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19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A14DC-3DC4-1928-3D93-002BBBA03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D0EF3F-1B31-91E6-8EDA-A124AA254B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don’t know opponent’s policy </a:t>
            </a:r>
          </a:p>
          <a:p>
            <a:endParaRPr lang="en-US" dirty="0"/>
          </a:p>
          <a:p>
            <a:r>
              <a:rPr lang="en-US" dirty="0"/>
              <a:t>Approach: assume the worst case</a:t>
            </a:r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1803475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91C89-AD70-8B6D-1C6A-F32F0BEC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C7D3DD-8A02-9C09-E69E-F0EEB55F77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practice, we don’t know the opponent’s policy</a:t>
            </a:r>
          </a:p>
          <a:p>
            <a:endParaRPr lang="en-US" dirty="0"/>
          </a:p>
          <a:p>
            <a:r>
              <a:rPr lang="en-US" dirty="0"/>
              <a:t>Our solution is to assume the worst case, that is, the opponent is doing everything to minimize the agent’s utility </a:t>
            </a:r>
          </a:p>
          <a:p>
            <a:endParaRPr lang="en-US" dirty="0"/>
          </a:p>
          <a:p>
            <a:r>
              <a:rPr lang="en-US" dirty="0"/>
              <a:t>In the game tree, we use an upside-down triangle to represent min nodes, in which the player minimizes the value over possible actions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86932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CDB81-CB8B-3E70-A4DF-851529966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05578D-B135-3CEA-AA2D-674B424BC2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The policy for the agent changes from choosing the rightmost action (</a:t>
            </a:r>
            <a:r>
              <a:rPr lang="en-US" dirty="0" err="1"/>
              <a:t>expectimax</a:t>
            </a:r>
            <a:r>
              <a:rPr lang="en-US" dirty="0"/>
              <a:t>) to the middle action.</a:t>
            </a:r>
            <a:endParaRPr lang="en-PK" dirty="0"/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3A507E-A7B0-3D3E-6802-61DAC8024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049" y="1541066"/>
            <a:ext cx="5720251" cy="37758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BE972FC-EF89-F0F5-2817-05AA54DBE07C}"/>
              </a:ext>
            </a:extLst>
          </p:cNvPr>
          <p:cNvSpPr txBox="1"/>
          <p:nvPr/>
        </p:nvSpPr>
        <p:spPr>
          <a:xfrm>
            <a:off x="1899264" y="4136528"/>
            <a:ext cx="14390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-100    100</a:t>
            </a:r>
            <a:endParaRPr lang="en-PK" sz="2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08E9E7-C21A-B2F9-8853-500283BD426A}"/>
              </a:ext>
            </a:extLst>
          </p:cNvPr>
          <p:cNvSpPr txBox="1"/>
          <p:nvPr/>
        </p:nvSpPr>
        <p:spPr>
          <a:xfrm>
            <a:off x="3945146" y="4120780"/>
            <a:ext cx="124418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2          6</a:t>
            </a:r>
            <a:endParaRPr lang="en-PK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B7AA5F-8635-A153-1D7B-DD53A16F7CF5}"/>
              </a:ext>
            </a:extLst>
          </p:cNvPr>
          <p:cNvSpPr txBox="1"/>
          <p:nvPr/>
        </p:nvSpPr>
        <p:spPr>
          <a:xfrm>
            <a:off x="5736746" y="4136528"/>
            <a:ext cx="124418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-10     30</a:t>
            </a:r>
            <a:endParaRPr lang="en-PK" sz="2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D405B54-1903-F8B2-0837-34FF31AC6CDB}"/>
              </a:ext>
            </a:extLst>
          </p:cNvPr>
          <p:cNvSpPr txBox="1"/>
          <p:nvPr/>
        </p:nvSpPr>
        <p:spPr>
          <a:xfrm>
            <a:off x="2813663" y="3228944"/>
            <a:ext cx="70902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-100</a:t>
            </a:r>
            <a:endParaRPr lang="en-PK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8FA30E-ED4E-4E6C-CA4C-3F13F1ED532D}"/>
              </a:ext>
            </a:extLst>
          </p:cNvPr>
          <p:cNvSpPr txBox="1"/>
          <p:nvPr/>
        </p:nvSpPr>
        <p:spPr>
          <a:xfrm>
            <a:off x="4692010" y="3217858"/>
            <a:ext cx="5246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  <a:endParaRPr lang="en-PK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931C14-3A43-908B-B86C-C83B2572ED0E}"/>
              </a:ext>
            </a:extLst>
          </p:cNvPr>
          <p:cNvSpPr txBox="1"/>
          <p:nvPr/>
        </p:nvSpPr>
        <p:spPr>
          <a:xfrm>
            <a:off x="6456273" y="3156178"/>
            <a:ext cx="70902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</a:t>
            </a:r>
            <a:endParaRPr lang="en-PK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A7203D-53EF-A924-BB35-0D27B22C375D}"/>
              </a:ext>
            </a:extLst>
          </p:cNvPr>
          <p:cNvSpPr txBox="1"/>
          <p:nvPr/>
        </p:nvSpPr>
        <p:spPr>
          <a:xfrm>
            <a:off x="4662119" y="2186084"/>
            <a:ext cx="5246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  <a:endParaRPr lang="en-PK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8FD176-42B3-EAC8-5C54-E90CA88DBB3A}"/>
              </a:ext>
            </a:extLst>
          </p:cNvPr>
          <p:cNvSpPr txBox="1"/>
          <p:nvPr/>
        </p:nvSpPr>
        <p:spPr>
          <a:xfrm>
            <a:off x="5186775" y="4554264"/>
            <a:ext cx="5246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2781362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9677A7-88F6-45DF-071C-F096D12FE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Minimax recurrence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CD5124-6B39-92CC-EFE2-B7BD688CF5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14F3C7-4233-277A-90FA-7E033122F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75" y="2323477"/>
            <a:ext cx="7544942" cy="306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1667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A19F-55B0-A692-C66F-0B139621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Extracting minimax policies</a:t>
            </a:r>
            <a:endParaRPr lang="en-P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D6D703-9A74-04C9-086C-344E001470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864E95-457E-4D35-0601-2FDF4EE99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289" y="1858780"/>
            <a:ext cx="5613283" cy="126838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D49B5FC-8203-6535-8273-0AAE993B5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9289" y="3058971"/>
            <a:ext cx="5720251" cy="377586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79A601-B6CE-50A9-1D88-A7F7DDD4927A}"/>
              </a:ext>
            </a:extLst>
          </p:cNvPr>
          <p:cNvSpPr txBox="1"/>
          <p:nvPr/>
        </p:nvSpPr>
        <p:spPr>
          <a:xfrm>
            <a:off x="2083504" y="5654433"/>
            <a:ext cx="14390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-100    100</a:t>
            </a:r>
            <a:endParaRPr lang="en-PK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FA009B-7607-187B-9927-BDFFBA601A1B}"/>
              </a:ext>
            </a:extLst>
          </p:cNvPr>
          <p:cNvSpPr txBox="1"/>
          <p:nvPr/>
        </p:nvSpPr>
        <p:spPr>
          <a:xfrm>
            <a:off x="4129386" y="5638685"/>
            <a:ext cx="124418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2          6</a:t>
            </a:r>
            <a:endParaRPr lang="en-PK" sz="2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4BEFE3-D234-BEAF-C587-E289CA623E68}"/>
              </a:ext>
            </a:extLst>
          </p:cNvPr>
          <p:cNvSpPr txBox="1"/>
          <p:nvPr/>
        </p:nvSpPr>
        <p:spPr>
          <a:xfrm>
            <a:off x="5920986" y="5654433"/>
            <a:ext cx="1244184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-10     30</a:t>
            </a:r>
            <a:endParaRPr lang="en-PK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62211C-6D87-F8B9-FAB2-0EF251304ABC}"/>
              </a:ext>
            </a:extLst>
          </p:cNvPr>
          <p:cNvSpPr txBox="1"/>
          <p:nvPr/>
        </p:nvSpPr>
        <p:spPr>
          <a:xfrm>
            <a:off x="2997903" y="4746849"/>
            <a:ext cx="70902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-100</a:t>
            </a:r>
            <a:endParaRPr lang="en-PK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B8621E-7688-CE17-3C61-F0FDDD057D1B}"/>
              </a:ext>
            </a:extLst>
          </p:cNvPr>
          <p:cNvSpPr txBox="1"/>
          <p:nvPr/>
        </p:nvSpPr>
        <p:spPr>
          <a:xfrm>
            <a:off x="4876250" y="4735763"/>
            <a:ext cx="5246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  <a:endParaRPr lang="en-PK" sz="2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F9FAF7-F1B4-D9EE-41B4-E32A441FB578}"/>
              </a:ext>
            </a:extLst>
          </p:cNvPr>
          <p:cNvSpPr txBox="1"/>
          <p:nvPr/>
        </p:nvSpPr>
        <p:spPr>
          <a:xfrm>
            <a:off x="6640513" y="4674083"/>
            <a:ext cx="709025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-10</a:t>
            </a:r>
            <a:endParaRPr lang="en-PK" sz="20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149261B-716C-C53C-58BA-4AD783216F40}"/>
              </a:ext>
            </a:extLst>
          </p:cNvPr>
          <p:cNvSpPr txBox="1"/>
          <p:nvPr/>
        </p:nvSpPr>
        <p:spPr>
          <a:xfrm>
            <a:off x="4846359" y="3703989"/>
            <a:ext cx="5246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  <a:endParaRPr lang="en-PK" sz="20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27E218-764E-8EFB-CBF4-D3F23E3B67EE}"/>
              </a:ext>
            </a:extLst>
          </p:cNvPr>
          <p:cNvSpPr txBox="1"/>
          <p:nvPr/>
        </p:nvSpPr>
        <p:spPr>
          <a:xfrm>
            <a:off x="5371015" y="6072169"/>
            <a:ext cx="52465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2</a:t>
            </a:r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846343900"/>
      </p:ext>
    </p:extLst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09F4C07DA96AA489B47C2DAEE3FF600" ma:contentTypeVersion="3" ma:contentTypeDescription="Create a new document." ma:contentTypeScope="" ma:versionID="a766b8e8cb0bee5b8b02a055ac5ef8f4">
  <xsd:schema xmlns:xsd="http://www.w3.org/2001/XMLSchema" xmlns:xs="http://www.w3.org/2001/XMLSchema" xmlns:p="http://schemas.microsoft.com/office/2006/metadata/properties" xmlns:ns2="2dd40012-8713-4aa0-b95f-644e1bb378dc" targetNamespace="http://schemas.microsoft.com/office/2006/metadata/properties" ma:root="true" ma:fieldsID="67657d66ae8cd6baefaa73259b3fc2c6" ns2:_="">
    <xsd:import namespace="2dd40012-8713-4aa0-b95f-644e1bb378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d40012-8713-4aa0-b95f-644e1bb378d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5025C79-E8E5-4B34-9989-01ADAA95644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7FBF454-6903-4FC2-A538-3B9992C6C8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d40012-8713-4aa0-b95f-644e1bb378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2F569DB-6C4C-48EA-B4EB-7058638A97BF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697</TotalTime>
  <Words>853</Words>
  <Application>Microsoft Office PowerPoint</Application>
  <PresentationFormat>On-screen Show (4:3)</PresentationFormat>
  <Paragraphs>166</Paragraphs>
  <Slides>24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Noto Sans Symbols</vt:lpstr>
      <vt:lpstr>Times New Roman</vt:lpstr>
      <vt:lpstr>Verdana</vt:lpstr>
      <vt:lpstr>Wingdings</vt:lpstr>
      <vt:lpstr>Profile</vt:lpstr>
      <vt:lpstr>Artificial Intelligence</vt:lpstr>
      <vt:lpstr>Learning objectives</vt:lpstr>
      <vt:lpstr>Model types</vt:lpstr>
      <vt:lpstr>Games </vt:lpstr>
      <vt:lpstr>Game Tree</vt:lpstr>
      <vt:lpstr>Games – Two-player zero-sum</vt:lpstr>
      <vt:lpstr>PowerPoint Presentation</vt:lpstr>
      <vt:lpstr>Chess</vt:lpstr>
      <vt:lpstr>Characteristics of games</vt:lpstr>
      <vt:lpstr>Policies</vt:lpstr>
      <vt:lpstr>Simple Game 1</vt:lpstr>
      <vt:lpstr>Artificial Intelligence</vt:lpstr>
      <vt:lpstr>Learning objectives</vt:lpstr>
      <vt:lpstr>Policies</vt:lpstr>
      <vt:lpstr>Game policy evaluation</vt:lpstr>
      <vt:lpstr>Game evaluation</vt:lpstr>
      <vt:lpstr>Expectimax</vt:lpstr>
      <vt:lpstr>PowerPoint Presentation</vt:lpstr>
      <vt:lpstr>PowerPoint Presentation</vt:lpstr>
      <vt:lpstr>PowerPoint Presentation</vt:lpstr>
      <vt:lpstr>Minimax</vt:lpstr>
      <vt:lpstr>PowerPoint Presentation</vt:lpstr>
      <vt:lpstr>Minimax recurrence</vt:lpstr>
      <vt:lpstr>Extracting minimax policies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Onaiza Maqbool</dc:creator>
  <cp:lastModifiedBy>Saqib Bedar</cp:lastModifiedBy>
  <cp:revision>25</cp:revision>
  <dcterms:created xsi:type="dcterms:W3CDTF">1601-01-01T00:00:00Z</dcterms:created>
  <dcterms:modified xsi:type="dcterms:W3CDTF">2026-01-25T19:17:47Z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0x010100309F4C07DA96AA489B47C2DAEE3FF600</vt:lpwstr>
  </property>
</Properties>
</file>