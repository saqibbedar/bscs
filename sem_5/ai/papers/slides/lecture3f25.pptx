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86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258" r:id="rId11"/>
    <p:sldId id="260" r:id="rId12"/>
    <p:sldId id="259" r:id="rId1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gAqJdAJatwsSYbopMJOMI8k14O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42" Type="http://schemas.openxmlformats.org/officeDocument/2006/relationships/viewProps" Target="viewProps.xml"/><Relationship Id="rId47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46" Type="http://schemas.openxmlformats.org/officeDocument/2006/relationships/customXml" Target="../customXml/item2.xml"/><Relationship Id="rId2" Type="http://schemas.openxmlformats.org/officeDocument/2006/relationships/slide" Target="slides/slide1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0" Type="http://customschemas.google.com/relationships/presentationmetadata" Target="metadata"/><Relationship Id="rId45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2100"/>
              <a:buFont typeface="Noto Sans Symbols"/>
              <a:buNone/>
              <a:defRPr sz="2100"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9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0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7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47"/>
          <p:cNvSpPr txBox="1">
            <a:spLocks noGrp="1"/>
          </p:cNvSpPr>
          <p:nvPr>
            <p:ph type="body" idx="2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4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7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4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4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5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5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35"/>
          <p:cNvSpPr txBox="1">
            <a:spLocks noGrp="1"/>
          </p:cNvSpPr>
          <p:nvPr>
            <p:ph type="body" idx="2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5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6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6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36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3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3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3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7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8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9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9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1" name="Google Shape;71;p39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3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9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0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0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40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" name="Google Shape;78;p4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0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1"/>
          <p:cNvSpPr txBox="1">
            <a:spLocks noGrp="1"/>
          </p:cNvSpPr>
          <p:nvPr>
            <p:ph type="body" idx="1"/>
          </p:nvPr>
        </p:nvSpPr>
        <p:spPr>
          <a:xfrm rot="5400000">
            <a:off x="2433638" y="-114300"/>
            <a:ext cx="4267200" cy="80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4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1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2"/>
          <p:cNvSpPr txBox="1">
            <a:spLocks noGrp="1"/>
          </p:cNvSpPr>
          <p:nvPr>
            <p:ph type="title"/>
          </p:nvPr>
        </p:nvSpPr>
        <p:spPr>
          <a:xfrm rot="5400000">
            <a:off x="4717257" y="2161382"/>
            <a:ext cx="5715000" cy="200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42"/>
          <p:cNvSpPr txBox="1">
            <a:spLocks noGrp="1"/>
          </p:cNvSpPr>
          <p:nvPr>
            <p:ph type="body" idx="1"/>
          </p:nvPr>
        </p:nvSpPr>
        <p:spPr>
          <a:xfrm rot="5400000">
            <a:off x="636588" y="234950"/>
            <a:ext cx="5715000" cy="5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4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2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Char char="□"/>
              <a:defRPr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4925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□"/>
              <a:defRPr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/>
          <p:nvPr/>
        </p:nvSpPr>
        <p:spPr>
          <a:xfrm>
            <a:off x="609600" y="1566863"/>
            <a:ext cx="7958138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" name="Google Shape;13;p28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4;p2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Artificial Intelligence</a:t>
            </a:r>
            <a:endParaRPr/>
          </a:p>
        </p:txBody>
      </p:sp>
      <p:sp>
        <p:nvSpPr>
          <p:cNvPr id="95" name="Google Shape;95;p1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866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Lecture # 3</a:t>
            </a:r>
            <a:endParaRPr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D6BE3-1F3B-C625-2CD5-C5F3A1CC0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B5477-426D-937B-E108-9E911EDED8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introduce students to</a:t>
            </a:r>
          </a:p>
          <a:p>
            <a:pPr lvl="1"/>
            <a:r>
              <a:rPr lang="en-US" dirty="0"/>
              <a:t>the Model-Inference-Learning paradigm</a:t>
            </a:r>
          </a:p>
          <a:p>
            <a:pPr lvl="1"/>
            <a:r>
              <a:rPr lang="en-US" dirty="0"/>
              <a:t>basic linear prediction tasks (e.g. classification, regression)</a:t>
            </a:r>
          </a:p>
          <a:p>
            <a:pPr lvl="1"/>
            <a:r>
              <a:rPr lang="en-US" dirty="0"/>
              <a:t>supervised learning, features and feature vector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456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Agents and Environments</a:t>
            </a:r>
            <a:endParaRPr/>
          </a:p>
        </p:txBody>
      </p:sp>
      <p:sp>
        <p:nvSpPr>
          <p:cNvPr id="188" name="Google Shape;188;p26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000" dirty="0"/>
              <a:t>Task environment: Problems to which rational agents are solutions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dirty="0"/>
              <a:t>Generally complex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189" name="Google Shape;189;p26" descr="Image result for real world city with traffic"/>
          <p:cNvSpPr/>
          <p:nvPr/>
        </p:nvSpPr>
        <p:spPr>
          <a:xfrm>
            <a:off x="4419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 descr="Image result for real world city with traffic"/>
          <p:cNvSpPr/>
          <p:nvPr/>
        </p:nvSpPr>
        <p:spPr>
          <a:xfrm>
            <a:off x="4572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2418735" y="3581399"/>
            <a:ext cx="2610465" cy="2610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2733675"/>
            <a:ext cx="3276600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 descr="Image result for computer program"/>
          <p:cNvSpPr/>
          <p:nvPr/>
        </p:nvSpPr>
        <p:spPr>
          <a:xfrm>
            <a:off x="4724400" y="35814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58697" y="2714625"/>
            <a:ext cx="2771775" cy="20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Modelling Inference Learning Paradigm</a:t>
            </a:r>
            <a:endParaRPr dirty="0"/>
          </a:p>
        </p:txBody>
      </p:sp>
      <p:sp>
        <p:nvSpPr>
          <p:cNvPr id="200" name="Google Shape;200;p27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			Modelling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Inference					Learning</a:t>
            </a:r>
            <a:endParaRPr/>
          </a:p>
        </p:txBody>
      </p:sp>
      <p:sp>
        <p:nvSpPr>
          <p:cNvPr id="201" name="Google Shape;201;p27"/>
          <p:cNvSpPr/>
          <p:nvPr/>
        </p:nvSpPr>
        <p:spPr>
          <a:xfrm>
            <a:off x="1002890" y="2359743"/>
            <a:ext cx="5884607" cy="284643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rgbClr val="444B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07" name="Google Shape;207;p43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Real world		Modelling	Model without parameters</a:t>
            </a:r>
            <a:endParaRPr dirty="0"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Modelling		Inference	  +data – Learning</a:t>
            </a:r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lang="en-US" dirty="0"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lang="en-US" dirty="0"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lang="en-US" dirty="0"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lang="en-US" dirty="0"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 dirty="0"/>
              <a:t>e.g. graph</a:t>
            </a:r>
            <a:r>
              <a:rPr lang="en-US" dirty="0"/>
              <a:t>		e.g. </a:t>
            </a:r>
            <a:r>
              <a:rPr lang="en-US" sz="1800" dirty="0"/>
              <a:t>Shortest path		e.g. learn edge weights</a:t>
            </a:r>
            <a:endParaRPr dirty="0"/>
          </a:p>
        </p:txBody>
      </p:sp>
      <p:pic>
        <p:nvPicPr>
          <p:cNvPr id="208" name="Google Shape;208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8854" y="2274325"/>
            <a:ext cx="1621392" cy="121447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43"/>
          <p:cNvSpPr/>
          <p:nvPr/>
        </p:nvSpPr>
        <p:spPr>
          <a:xfrm>
            <a:off x="2330245" y="3276599"/>
            <a:ext cx="2394155" cy="239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0" name="Picture 2" descr="Graphs and Networks — Mathing the Future">
            <a:extLst>
              <a:ext uri="{FF2B5EF4-FFF2-40B4-BE49-F238E27FC236}">
                <a16:creationId xmlns:a16="http://schemas.microsoft.com/office/drawing/2014/main" id="{E268BB59-C37A-BB20-DBCF-1826BA427F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114" r="74797" b="1"/>
          <a:stretch>
            <a:fillRect/>
          </a:stretch>
        </p:blipFill>
        <p:spPr bwMode="auto">
          <a:xfrm>
            <a:off x="3527323" y="2274325"/>
            <a:ext cx="1200818" cy="1492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Graphs and Networks — Mathing the Future">
            <a:extLst>
              <a:ext uri="{FF2B5EF4-FFF2-40B4-BE49-F238E27FC236}">
                <a16:creationId xmlns:a16="http://schemas.microsoft.com/office/drawing/2014/main" id="{9339348B-15E9-1DC4-D43D-106BF927AF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114" r="74797" b="1"/>
          <a:stretch>
            <a:fillRect/>
          </a:stretch>
        </p:blipFill>
        <p:spPr bwMode="auto">
          <a:xfrm>
            <a:off x="892808" y="4093490"/>
            <a:ext cx="1269034" cy="1577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Graphs and Networks — Mathing the Future">
            <a:extLst>
              <a:ext uri="{FF2B5EF4-FFF2-40B4-BE49-F238E27FC236}">
                <a16:creationId xmlns:a16="http://schemas.microsoft.com/office/drawing/2014/main" id="{0779843E-DEE2-8FE4-0415-7225D956B7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61"/>
          <a:stretch>
            <a:fillRect/>
          </a:stretch>
        </p:blipFill>
        <p:spPr bwMode="auto">
          <a:xfrm>
            <a:off x="3369208" y="4170620"/>
            <a:ext cx="1411272" cy="1544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Graphs and Networks — Mathing the Future">
            <a:extLst>
              <a:ext uri="{FF2B5EF4-FFF2-40B4-BE49-F238E27FC236}">
                <a16:creationId xmlns:a16="http://schemas.microsoft.com/office/drawing/2014/main" id="{D95040AB-85BF-E997-1763-A563D8FDEE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114" r="74797" b="1"/>
          <a:stretch>
            <a:fillRect/>
          </a:stretch>
        </p:blipFill>
        <p:spPr bwMode="auto">
          <a:xfrm>
            <a:off x="5987846" y="2115097"/>
            <a:ext cx="1328929" cy="165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Graphs and Networks — Mathing the Future">
            <a:extLst>
              <a:ext uri="{FF2B5EF4-FFF2-40B4-BE49-F238E27FC236}">
                <a16:creationId xmlns:a16="http://schemas.microsoft.com/office/drawing/2014/main" id="{884E49F0-C23F-7C4E-2BAC-F4684A6003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88" r="31479"/>
          <a:stretch>
            <a:fillRect/>
          </a:stretch>
        </p:blipFill>
        <p:spPr bwMode="auto">
          <a:xfrm>
            <a:off x="5987846" y="4170620"/>
            <a:ext cx="1642263" cy="1544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20" name="Google Shape;220;p44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Model types</a:t>
            </a:r>
            <a:endParaRPr dirty="0"/>
          </a:p>
        </p:txBody>
      </p:sp>
      <p:sp>
        <p:nvSpPr>
          <p:cNvPr id="221" name="Google Shape;221;p44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000" dirty="0"/>
              <a:t>Four types in order of increasing generality: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 dirty="0"/>
              <a:t>Simple reflex models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 dirty="0"/>
              <a:t>Model-based models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 dirty="0"/>
              <a:t>Variable-based models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 dirty="0"/>
              <a:t>Logic-based models</a:t>
            </a:r>
            <a:endParaRPr dirty="0"/>
          </a:p>
          <a:p>
            <a:pPr marL="742950" lvl="1" indent="-1714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742950" lvl="1" indent="-171450">
              <a:buNone/>
            </a:pPr>
            <a:r>
              <a:rPr lang="en-US" dirty="0">
                <a:solidFill>
                  <a:srgbClr val="FF000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</a:rPr>
              <a:t>				Machine learning</a:t>
            </a:r>
            <a:endParaRPr dirty="0"/>
          </a:p>
          <a:p>
            <a:pPr marL="742950" lvl="1" indent="-1714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1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Reflex 	State-based	  Variable		Logic</a:t>
            </a:r>
          </a:p>
          <a:p>
            <a:pPr marL="457200" lvl="1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		- </a:t>
            </a:r>
            <a:r>
              <a:rPr lang="en-US" sz="1600" dirty="0"/>
              <a:t>Search-based	   - Constraint satisfaction</a:t>
            </a:r>
            <a:endParaRPr sz="1600" dirty="0"/>
          </a:p>
          <a:p>
            <a:pPr marL="457200" lvl="1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600" dirty="0"/>
              <a:t>		- Markov decision   	   - Bayesian networks	</a:t>
            </a:r>
            <a:endParaRPr sz="1600" dirty="0"/>
          </a:p>
          <a:p>
            <a:pPr marL="457200" lvl="1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600" dirty="0"/>
              <a:t>		- Adversarial</a:t>
            </a:r>
            <a:endParaRPr sz="1600" dirty="0"/>
          </a:p>
          <a:p>
            <a:pPr marL="2571750" lvl="5" indent="-171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222" name="Google Shape;222;p44"/>
          <p:cNvSpPr/>
          <p:nvPr/>
        </p:nvSpPr>
        <p:spPr>
          <a:xfrm>
            <a:off x="1106129" y="4262284"/>
            <a:ext cx="6990736" cy="41295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444B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44" descr="Image result for pattern recognition ca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129" y="3548053"/>
            <a:ext cx="1120340" cy="76677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44" descr="Image result for chess"/>
          <p:cNvSpPr/>
          <p:nvPr/>
        </p:nvSpPr>
        <p:spPr>
          <a:xfrm>
            <a:off x="4419600" y="3276600"/>
            <a:ext cx="1671484" cy="1671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4" descr="Image result for chess"/>
          <p:cNvSpPr/>
          <p:nvPr/>
        </p:nvSpPr>
        <p:spPr>
          <a:xfrm>
            <a:off x="4419599" y="3276599"/>
            <a:ext cx="2210875" cy="221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53208" y="3567185"/>
            <a:ext cx="995518" cy="749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85581" y="3276598"/>
            <a:ext cx="939522" cy="93952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A052E6-6BBD-598C-BC18-81FC62620B23}"/>
              </a:ext>
            </a:extLst>
          </p:cNvPr>
          <p:cNvSpPr txBox="1"/>
          <p:nvPr/>
        </p:nvSpPr>
        <p:spPr>
          <a:xfrm>
            <a:off x="5795805" y="1633742"/>
            <a:ext cx="3233895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allows shifting of information complexity of the model from the code to the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taking data and tuning parameters of the model</a:t>
            </a:r>
          </a:p>
          <a:p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 allow to produce good predictions beyond the dataset -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5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Roots</a:t>
            </a:r>
            <a:endParaRPr/>
          </a:p>
        </p:txBody>
      </p:sp>
      <p:sp>
        <p:nvSpPr>
          <p:cNvPr id="233" name="Google Shape;233;p45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AI and Machine learning</a:t>
            </a:r>
            <a:endParaRPr/>
          </a:p>
          <a:p>
            <a:pPr marL="9144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Philosophy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Mathematics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Statistics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Economics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Neuroscience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Psychology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Control theory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Linguistics</a:t>
            </a:r>
            <a:endParaRPr/>
          </a:p>
          <a:p>
            <a:pPr marL="91440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49295-66ED-E2BD-B1A5-1E5C3822A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647A13-8F4C-9E0A-36C1-96ECB39CA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 algn="ctr">
              <a:buNone/>
            </a:pPr>
            <a:r>
              <a:rPr lang="en-US" sz="4000" dirty="0"/>
              <a:t>Reflex models</a:t>
            </a:r>
          </a:p>
        </p:txBody>
      </p:sp>
    </p:spTree>
    <p:extLst>
      <p:ext uri="{BB962C8B-B14F-4D97-AF65-F5344CB8AC3E}">
        <p14:creationId xmlns:p14="http://schemas.microsoft.com/office/powerpoint/2010/main" val="2389430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509D4-B010-7718-A654-66CE73F05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predictors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8850A-9251-7DDF-B017-908841934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 x: Email message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Output y: {Spam, not spam}</a:t>
            </a:r>
          </a:p>
          <a:p>
            <a:r>
              <a:rPr lang="en-US" dirty="0"/>
              <a:t>Objective: Obtain a predictor f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FE4833-66A4-71AE-0067-A42E26D61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171" y="2268793"/>
            <a:ext cx="6996134" cy="18320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3521FD8-D1CD-7FEA-0094-F652B70AC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2715" y="5043778"/>
            <a:ext cx="2209046" cy="769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716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C600F-044E-3D3D-B469-D46D8BC55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predictors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B30BD4-1D30-B41B-6662-AA514D84A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734" y="1752600"/>
            <a:ext cx="8001000" cy="4267200"/>
          </a:xfrm>
        </p:spPr>
        <p:txBody>
          <a:bodyPr/>
          <a:lstStyle/>
          <a:p>
            <a:r>
              <a:rPr lang="en-US" dirty="0"/>
              <a:t>Types of prediction tasks</a:t>
            </a:r>
          </a:p>
          <a:p>
            <a:pPr lvl="8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Classification </a:t>
            </a:r>
          </a:p>
          <a:p>
            <a:pPr lvl="2"/>
            <a:r>
              <a:rPr lang="en-US" dirty="0"/>
              <a:t>Binary 	</a:t>
            </a:r>
          </a:p>
          <a:p>
            <a:pPr lvl="2"/>
            <a:r>
              <a:rPr lang="en-US" dirty="0"/>
              <a:t>Multiclass</a:t>
            </a:r>
          </a:p>
          <a:p>
            <a:pPr lvl="2"/>
            <a:r>
              <a:rPr lang="en-US" dirty="0"/>
              <a:t>…..</a:t>
            </a:r>
          </a:p>
          <a:p>
            <a:pPr lvl="1"/>
            <a:r>
              <a:rPr lang="en-US" dirty="0"/>
              <a:t>Regression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Classification and Regression are examples of Supervised learning 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A44B75-7916-2766-BEA5-1C3BB4A43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171" y="2424295"/>
            <a:ext cx="2209046" cy="769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7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18CB5-C830-C4C2-C6FB-92CA5EECC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C2328-542D-600F-6CCF-D1A73A61D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has both inputs and outputs </a:t>
            </a:r>
          </a:p>
          <a:p>
            <a:endParaRPr lang="en-US" dirty="0"/>
          </a:p>
          <a:p>
            <a:r>
              <a:rPr lang="en-US" dirty="0"/>
              <a:t>An example (also called data point, instance, tuple </a:t>
            </a:r>
            <a:r>
              <a:rPr lang="en-US" dirty="0" err="1"/>
              <a:t>etc</a:t>
            </a:r>
            <a:r>
              <a:rPr lang="en-US" dirty="0"/>
              <a:t>) is in the form of (</a:t>
            </a:r>
            <a:r>
              <a:rPr lang="en-US" dirty="0" err="1"/>
              <a:t>x,y</a:t>
            </a:r>
            <a:r>
              <a:rPr lang="en-US" dirty="0"/>
              <a:t>) pairs</a:t>
            </a:r>
          </a:p>
          <a:p>
            <a:endParaRPr lang="en-US" dirty="0"/>
          </a:p>
          <a:p>
            <a:r>
              <a:rPr lang="en-US" dirty="0"/>
              <a:t>Training data is a set of examples, forming a partial specification</a:t>
            </a:r>
          </a:p>
          <a:p>
            <a:endParaRPr lang="en-US" dirty="0"/>
          </a:p>
          <a:p>
            <a:r>
              <a:rPr lang="en-US" dirty="0" err="1"/>
              <a:t>D</a:t>
            </a:r>
            <a:r>
              <a:rPr lang="en-US" baseline="-25000" dirty="0" err="1"/>
              <a:t>train</a:t>
            </a:r>
            <a:r>
              <a:rPr lang="en-US" dirty="0"/>
              <a:t>=[“Good day from ….”, +1,</a:t>
            </a:r>
          </a:p>
          <a:p>
            <a:pPr marL="114300" indent="0">
              <a:buNone/>
            </a:pPr>
            <a:r>
              <a:rPr lang="en-US" dirty="0"/>
              <a:t>	     “AI course notes…..”, -1</a:t>
            </a:r>
          </a:p>
          <a:p>
            <a:pPr marL="114300" indent="0">
              <a:buNone/>
            </a:pPr>
            <a:r>
              <a:rPr lang="en-US" dirty="0"/>
              <a:t>	      ………. ]</a:t>
            </a:r>
            <a:endParaRPr lang="en-US" baseline="-25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199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ED6D7-A296-6B01-BEA0-047BF5F4F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Modelling, learning and inference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0EB75-85AD-08B5-3472-B74E5B8CDB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-25000" dirty="0"/>
          </a:p>
          <a:p>
            <a:endParaRPr lang="en-US" baseline="-25000" dirty="0"/>
          </a:p>
          <a:p>
            <a:endParaRPr lang="en-US" baseline="-25000" dirty="0"/>
          </a:p>
          <a:p>
            <a:endParaRPr lang="en-US" baseline="-25000" dirty="0"/>
          </a:p>
          <a:p>
            <a:endParaRPr lang="en-US" baseline="-25000" dirty="0"/>
          </a:p>
          <a:p>
            <a:endParaRPr lang="en-US" baseline="-25000" dirty="0"/>
          </a:p>
          <a:p>
            <a:endParaRPr lang="en-US" baseline="-25000" dirty="0"/>
          </a:p>
          <a:p>
            <a:endParaRPr lang="en-US" baseline="-25000" dirty="0"/>
          </a:p>
          <a:p>
            <a:endParaRPr lang="en-US" baseline="-25000" dirty="0"/>
          </a:p>
          <a:p>
            <a:endParaRPr lang="en-US" dirty="0"/>
          </a:p>
          <a:p>
            <a:r>
              <a:rPr lang="en-US" dirty="0"/>
              <a:t>Learner has to learn beyond the training examples – Can’t be a rote learner</a:t>
            </a:r>
          </a:p>
          <a:p>
            <a:r>
              <a:rPr lang="en-US" dirty="0"/>
              <a:t>This is generalization</a:t>
            </a:r>
          </a:p>
          <a:p>
            <a:endParaRPr lang="en-US" baseline="-25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37F01F-E6C9-7E9F-FD87-4A5F2CE25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300" y="1830090"/>
            <a:ext cx="4331052" cy="260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015011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9F4C07DA96AA489B47C2DAEE3FF600" ma:contentTypeVersion="3" ma:contentTypeDescription="Create a new document." ma:contentTypeScope="" ma:versionID="141eb740bd562c224194a820cd93de89">
  <xsd:schema xmlns:xsd="http://www.w3.org/2001/XMLSchema" xmlns:xs="http://www.w3.org/2001/XMLSchema" xmlns:p="http://schemas.microsoft.com/office/2006/metadata/properties" xmlns:ns2="2dd40012-8713-4aa0-b95f-644e1bb378dc" targetNamespace="http://schemas.microsoft.com/office/2006/metadata/properties" ma:root="true" ma:fieldsID="9008c3073cad716f14d8acfe17a7b91b" ns2:_="">
    <xsd:import namespace="2dd40012-8713-4aa0-b95f-644e1bb378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d40012-8713-4aa0-b95f-644e1bb378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0D38D2D-3C6F-48BD-9C86-A4C6C3555BC9}"/>
</file>

<file path=customXml/itemProps2.xml><?xml version="1.0" encoding="utf-8"?>
<ds:datastoreItem xmlns:ds="http://schemas.openxmlformats.org/officeDocument/2006/customXml" ds:itemID="{523A3748-4C25-4334-9131-8E5E699E9BE6}"/>
</file>

<file path=customXml/itemProps3.xml><?xml version="1.0" encoding="utf-8"?>
<ds:datastoreItem xmlns:ds="http://schemas.openxmlformats.org/officeDocument/2006/customXml" ds:itemID="{36242220-8310-4927-A3D3-00D58CEDAA39}"/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347</Words>
  <Application>Microsoft Office PowerPoint</Application>
  <PresentationFormat>On-screen Show (4:3)</PresentationFormat>
  <Paragraphs>115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Noto Sans Symbols</vt:lpstr>
      <vt:lpstr>Times New Roman</vt:lpstr>
      <vt:lpstr>Verdana</vt:lpstr>
      <vt:lpstr>Profile</vt:lpstr>
      <vt:lpstr>Artificial Intelligence</vt:lpstr>
      <vt:lpstr>Learning objectives</vt:lpstr>
      <vt:lpstr>Agents and Environments</vt:lpstr>
      <vt:lpstr>Modelling Inference Learning Paradigm</vt:lpstr>
      <vt:lpstr>PowerPoint Presentation</vt:lpstr>
      <vt:lpstr>Model types</vt:lpstr>
      <vt:lpstr>Roots</vt:lpstr>
      <vt:lpstr>PowerPoint Presentation</vt:lpstr>
      <vt:lpstr>Linear predictors</vt:lpstr>
      <vt:lpstr>Linear predictors</vt:lpstr>
      <vt:lpstr>Supervised Learning </vt:lpstr>
      <vt:lpstr>Modelling, learning and inference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Onaiza Maqbool</cp:lastModifiedBy>
  <cp:revision>10</cp:revision>
  <dcterms:created xsi:type="dcterms:W3CDTF">1601-01-01T00:00:00Z</dcterms:created>
  <dcterms:modified xsi:type="dcterms:W3CDTF">2025-09-17T06:23:12Z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0x010100309F4C07DA96AA489B47C2DAEE3FF600</vt:lpwstr>
  </property>
</Properties>
</file>