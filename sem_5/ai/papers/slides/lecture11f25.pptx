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21" r:id="rId4"/>
    <p:sldId id="293" r:id="rId5"/>
    <p:sldId id="292" r:id="rId6"/>
    <p:sldId id="294" r:id="rId7"/>
    <p:sldId id="295" r:id="rId8"/>
    <p:sldId id="296" r:id="rId9"/>
    <p:sldId id="297" r:id="rId10"/>
    <p:sldId id="298" r:id="rId11"/>
    <p:sldId id="299" r:id="rId12"/>
    <p:sldId id="301" r:id="rId13"/>
    <p:sldId id="300" r:id="rId14"/>
    <p:sldId id="302" r:id="rId15"/>
    <p:sldId id="303" r:id="rId16"/>
    <p:sldId id="304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11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Apply backpropagation on examples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nearest neighbor classification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DE15-4AB0-FAE4-1CDA-31F6BA16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FC6EA-49B9-D216-9190-D73854114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915BE-CB43-46ED-8026-493C877D8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766008"/>
            <a:ext cx="6568409" cy="42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D465-22D1-839F-4794-7F4FFB60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3BE5F-B815-BDBB-B4FA-483610913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FED3D-E569-B80A-DF4E-22B15DBC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424112"/>
            <a:ext cx="73818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59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C1BB-8865-B488-6BB5-3A08E4E2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F5FF-AE7C-FF49-95E1-D6670A579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5FD1C-A528-1886-6742-507A6B47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557" y="1752600"/>
            <a:ext cx="4188111" cy="4158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1D4FBA-0A33-DFA0-69D9-6397B66BA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9" y="1752601"/>
            <a:ext cx="4060172" cy="97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6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4DC8-EBF8-4CD5-410F-9E680322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propagation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F3C4B-7C7B-D9B0-01EC-B5B2EDAA4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F8F1D-EF8A-11D1-54C1-8353639B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1752600"/>
            <a:ext cx="59626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79A2-BED8-B63D-B278-F97286AA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5CF53-7E50-86A1-E70E-398DE23D4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3F980-3BB1-F4AB-B189-EE4AF102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2447925"/>
            <a:ext cx="802957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7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4597-82E9-A64B-5A7B-27A20D1B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in Neural Networks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88E01-602A-4B32-C1EA-BF6E78F56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Optimization of neural networks is generally hard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D15E4-90F1-5FC4-D12D-389B34E7B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50" y="2195669"/>
            <a:ext cx="5616630" cy="31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39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61BB-AA05-BB1B-DBCF-1C893656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</a:t>
            </a:r>
            <a:r>
              <a:rPr lang="en-US" dirty="0" err="1"/>
              <a:t>Neighbours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B02C-E164-683F-A907-EB31A5C77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Simple</a:t>
            </a:r>
          </a:p>
          <a:p>
            <a:r>
              <a:rPr lang="en-US" dirty="0"/>
              <a:t>Choice of similarity/distance measure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20FF8-EC35-BA51-E738-8C6CBC5D2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29" y="1808813"/>
            <a:ext cx="6983772" cy="217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9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C9A0-E3CE-867F-CDD7-3C6BEA8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C3ED6-BACE-2CE0-B798-8743B402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318160-0A1D-C156-9AA5-C9EC686EB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462" y="1910699"/>
            <a:ext cx="30194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28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0B52-F3D3-F24F-8404-97A4A186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learners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FCA01-38F4-BB13-7ECD-113FBB0A2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predictors: combine raw features </a:t>
            </a:r>
          </a:p>
          <a:p>
            <a:pPr lvl="1"/>
            <a:r>
              <a:rPr lang="en-US" dirty="0"/>
              <a:t>prediction is fast</a:t>
            </a:r>
          </a:p>
          <a:p>
            <a:pPr lvl="1"/>
            <a:r>
              <a:rPr lang="en-US" dirty="0"/>
              <a:t>easy to learn</a:t>
            </a:r>
          </a:p>
          <a:p>
            <a:pPr lvl="1"/>
            <a:r>
              <a:rPr lang="en-US" dirty="0"/>
              <a:t>weak use of features </a:t>
            </a:r>
          </a:p>
          <a:p>
            <a:r>
              <a:rPr lang="en-US" dirty="0"/>
              <a:t>Neural networks: combine learned features </a:t>
            </a:r>
          </a:p>
          <a:p>
            <a:pPr lvl="1"/>
            <a:r>
              <a:rPr lang="en-US" dirty="0"/>
              <a:t>prediction is fast</a:t>
            </a:r>
          </a:p>
          <a:p>
            <a:pPr lvl="1"/>
            <a:r>
              <a:rPr lang="en-US" dirty="0"/>
              <a:t>hard to learn</a:t>
            </a:r>
          </a:p>
          <a:p>
            <a:pPr lvl="1"/>
            <a:r>
              <a:rPr lang="en-US" dirty="0"/>
              <a:t>powerful use of features </a:t>
            </a:r>
          </a:p>
          <a:p>
            <a:r>
              <a:rPr lang="en-US" dirty="0"/>
              <a:t>Nearest neighbors: predict according to similar examples</a:t>
            </a:r>
          </a:p>
          <a:p>
            <a:pPr lvl="1"/>
            <a:r>
              <a:rPr lang="en-US" dirty="0"/>
              <a:t>prediction is slow</a:t>
            </a:r>
          </a:p>
          <a:p>
            <a:pPr lvl="1"/>
            <a:r>
              <a:rPr lang="en-US" dirty="0"/>
              <a:t>easy to learn</a:t>
            </a:r>
          </a:p>
          <a:p>
            <a:pPr lvl="1"/>
            <a:r>
              <a:rPr lang="en-US" dirty="0"/>
              <a:t>powerful use of features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8983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7F57-DAAF-464A-19DA-5DE9F0B9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error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BE7D4-5A29-AAD5-9BC8-5FA3505F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3630508" cy="4267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this a good objective?</a:t>
            </a:r>
          </a:p>
          <a:p>
            <a:endParaRPr lang="en-US" dirty="0"/>
          </a:p>
          <a:p>
            <a:r>
              <a:rPr lang="en-US" dirty="0"/>
              <a:t>This algorithm minimizes the training error (zero)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E6046-70D2-D575-7B64-F11ABA3D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1853315"/>
            <a:ext cx="612457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31A78-8F6B-F5EA-9566-3DDC4686D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26" y="3328988"/>
            <a:ext cx="46672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5B41-C7A1-D6B7-4F87-51D8B3F1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E6D8E-8AF1-124A-7ED0-54A3658CF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Uptil now, the average training loss has been taken as the objective function </a:t>
            </a:r>
          </a:p>
          <a:p>
            <a:endParaRPr lang="en-US" dirty="0"/>
          </a:p>
          <a:p>
            <a:r>
              <a:rPr lang="en-US" dirty="0"/>
              <a:t>The true goal is to minimize error on unseen future examples</a:t>
            </a:r>
          </a:p>
          <a:p>
            <a:endParaRPr lang="en-US" dirty="0"/>
          </a:p>
          <a:p>
            <a:r>
              <a:rPr lang="en-US" dirty="0"/>
              <a:t>We need to avoid </a:t>
            </a:r>
            <a:r>
              <a:rPr lang="en-US" dirty="0">
                <a:solidFill>
                  <a:srgbClr val="FF0000"/>
                </a:solidFill>
              </a:rPr>
              <a:t>overfitting</a:t>
            </a:r>
            <a:r>
              <a:rPr lang="en-US" dirty="0"/>
              <a:t> and we need to </a:t>
            </a:r>
            <a:r>
              <a:rPr lang="en-US" dirty="0">
                <a:solidFill>
                  <a:srgbClr val="FF0000"/>
                </a:solidFill>
              </a:rPr>
              <a:t>generalize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Through overfitting, we may end up fitting noise in the data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054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BE9C-BC01-697E-CFD2-C4A6DC6C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194F2-675C-42B2-24F4-E05738762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71500" lvl="1" indent="0">
              <a:buNone/>
            </a:pPr>
            <a:r>
              <a:rPr lang="en-US" dirty="0"/>
              <a:t>	      Classification				Regression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05EEF-6F85-97EC-F161-2C6DCA9A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10" y="2194419"/>
            <a:ext cx="2743200" cy="2828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E6EF0-E1AF-A2C7-1975-9268EF9E9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71"/>
          <a:stretch>
            <a:fillRect/>
          </a:stretch>
        </p:blipFill>
        <p:spPr>
          <a:xfrm>
            <a:off x="4889682" y="2134575"/>
            <a:ext cx="3351580" cy="296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5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44A3-29C4-6F56-11D9-0823152FE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96AF4-0E08-D641-606B-3EF38755E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Since the unseen future examples are not available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C31BD-2A14-4685-6628-5E8D8BCC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41" y="1752600"/>
            <a:ext cx="7406268" cy="1410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78B8A6-C7B8-B4A5-CC71-A975F4412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3886199"/>
            <a:ext cx="7993063" cy="154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D313-95E1-1FDC-DC21-15D9E13E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B562C-89B5-8318-12E8-0C81AD71A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algorithm generalizes well when it is trained on the training data but evaluated on the test data to give acceptable results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1689D-0219-87D1-6731-00758FD3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914650"/>
            <a:ext cx="4114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8057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80D140-DAA5-42AC-82F8-D1BBA179BA15}"/>
</file>

<file path=customXml/itemProps2.xml><?xml version="1.0" encoding="utf-8"?>
<ds:datastoreItem xmlns:ds="http://schemas.openxmlformats.org/officeDocument/2006/customXml" ds:itemID="{7EBD4B1F-219C-4792-A1A8-96C24E980995}"/>
</file>

<file path=customXml/itemProps3.xml><?xml version="1.0" encoding="utf-8"?>
<ds:datastoreItem xmlns:ds="http://schemas.openxmlformats.org/officeDocument/2006/customXml" ds:itemID="{CD4D1A25-5CFB-4AF1-845F-658CA7745F54}"/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201</Words>
  <Application>Microsoft Office PowerPoint</Application>
  <PresentationFormat>On-screen Show (4:3)</PresentationFormat>
  <Paragraphs>80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PowerPoint Presentation</vt:lpstr>
      <vt:lpstr>PowerPoint Presentation</vt:lpstr>
      <vt:lpstr>Backpropagation</vt:lpstr>
      <vt:lpstr>Back propagation</vt:lpstr>
      <vt:lpstr>PowerPoint Presentation</vt:lpstr>
      <vt:lpstr>Optimization in Neural Networks</vt:lpstr>
      <vt:lpstr>Nearest Neighbours</vt:lpstr>
      <vt:lpstr>Decision boundary</vt:lpstr>
      <vt:lpstr>Summary of learners</vt:lpstr>
      <vt:lpstr>Training error</vt:lpstr>
      <vt:lpstr>Generalization</vt:lpstr>
      <vt:lpstr>Overfitting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24</cp:revision>
  <cp:lastPrinted>2025-10-02T08:35:56Z</cp:lastPrinted>
  <dcterms:created xsi:type="dcterms:W3CDTF">1601-01-01T00:00:00Z</dcterms:created>
  <dcterms:modified xsi:type="dcterms:W3CDTF">2025-10-15T06:28:27Z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