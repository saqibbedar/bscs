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314" r:id="rId4"/>
    <p:sldId id="315" r:id="rId5"/>
    <p:sldId id="317" r:id="rId6"/>
    <p:sldId id="1417" r:id="rId7"/>
    <p:sldId id="1025" r:id="rId8"/>
    <p:sldId id="1035" r:id="rId9"/>
    <p:sldId id="1037" r:id="rId10"/>
    <p:sldId id="272" r:id="rId11"/>
    <p:sldId id="274" r:id="rId12"/>
    <p:sldId id="275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i3todGFUTESKM1YNfdDKJfW0eg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50" Type="http://schemas.openxmlformats.org/officeDocument/2006/relationships/viewProps" Target="viewProps.xml"/><Relationship Id="rId55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customXml" Target="../customXml/item1.xml"/><Relationship Id="rId5" Type="http://schemas.openxmlformats.org/officeDocument/2006/relationships/slide" Target="slides/slide4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7B61BB6B-5384-4A2C-B4E7-99FB07BF94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26B2979-B1C0-4C58-8265-FB2486A22E4A}" type="slidenum">
              <a:rPr lang="en-US" altLang="en-US" sz="1200">
                <a:latin typeface="Times New Roman" panose="02020603050405020304" pitchFamily="18" charset="0"/>
              </a:rPr>
              <a:pPr/>
              <a:t>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9036520C-D04E-4755-BF3B-5CE59D5E8A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430E4B28-99A6-48C9-80EE-B13E13844B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75310AE6-3906-4A5C-B257-7F8DEA9244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1715BC9-34EC-48AC-B2EF-A373B1FB4334}" type="slidenum">
              <a:rPr lang="en-US" altLang="en-US" sz="1200">
                <a:latin typeface="Times New Roman" panose="02020603050405020304" pitchFamily="18" charset="0"/>
              </a:rPr>
              <a:pPr/>
              <a:t>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FE96E383-BD9E-41E3-9CCB-70720A68C2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16D7D349-900D-4184-878E-3D03473CF7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1A71DB52-E5D7-47C6-9A60-2556B892A6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86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28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FDD1E90-7246-4157-A7E5-0D87AA69B449}" type="slidenum">
              <a:rPr lang="en-US" altLang="en-US" sz="1200">
                <a:latin typeface="Times New Roman" panose="02020603050405020304" pitchFamily="18" charset="0"/>
              </a:rPr>
              <a:pPr/>
              <a:t>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65EA015C-E1D4-45CE-B45D-5D15FE1066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C4955431-67E9-4784-927E-A8EB1538DA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:notes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28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:notes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30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:notes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31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38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8" name="Google Shape;68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itle, Text, and 2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6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2" name="Google Shape;42;p46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body" idx="3"/>
          </p:nvPr>
        </p:nvSpPr>
        <p:spPr>
          <a:xfrm>
            <a:off x="4643438" y="3962400"/>
            <a:ext cx="39243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126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Artificial Intelligence</a:t>
            </a:r>
            <a:endParaRPr dirty="0"/>
          </a:p>
        </p:txBody>
      </p:sp>
      <p:sp>
        <p:nvSpPr>
          <p:cNvPr id="84" name="Google Shape;84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14</a:t>
            </a: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Carry out k-means clustering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basic idea of hierarchical clustering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binary similarity measures</a:t>
            </a:r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550B-7AB3-AC5B-1532-AC7BCCCE9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3AC4B-981F-F278-3BBC-2CE3E34AE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err="1"/>
              <a:t>D</a:t>
            </a:r>
            <a:r>
              <a:rPr lang="en-US" i="1" baseline="-25000" dirty="0" err="1"/>
              <a:t>train</a:t>
            </a:r>
            <a:r>
              <a:rPr lang="en-US" dirty="0"/>
              <a:t> only contains inputs </a:t>
            </a:r>
            <a:r>
              <a:rPr lang="en-US" i="1" dirty="0"/>
              <a:t>x</a:t>
            </a:r>
            <a:r>
              <a:rPr lang="en-US" dirty="0"/>
              <a:t> 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4C946F-8C84-9E74-38B1-AFB41B3C6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262" y="2646554"/>
            <a:ext cx="7195435" cy="156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987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23576-F2DA-4206-933C-B1AB4AE1F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F2568-14A3-EC89-8CB0-D9F04281B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95EB8-AB8A-DB7A-B7AA-29182DBB6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347" y="2230099"/>
            <a:ext cx="3592955" cy="307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14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88424-B9A2-8876-0C1A-2B440F79B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48871-F7F7-4FCA-0176-2A549A264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Objective function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CC7737-E95B-088C-BBD7-3756EE7CC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20" y="2014693"/>
            <a:ext cx="7135630" cy="9893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BAD2BE-CC1A-00F3-14F4-8D2DFCE0C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837" y="3853979"/>
            <a:ext cx="540067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14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70313-3F9C-448D-8121-11C6EDE10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F8D9C-2F97-4EA9-9C24-7BA6D7C5D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Minion-Regular"/>
              </a:rPr>
              <a:t>Suppose that the data mining task is to cluster points with </a:t>
            </a:r>
            <a:r>
              <a:rPr lang="en-US" sz="1800" dirty="0">
                <a:latin typeface="RMTMI"/>
              </a:rPr>
              <a:t>(</a:t>
            </a:r>
            <a:r>
              <a:rPr lang="en-US" sz="1800" b="0" i="1" u="none" strike="noStrike" baseline="0" dirty="0">
                <a:latin typeface="Minion-Italic"/>
              </a:rPr>
              <a:t>x</a:t>
            </a:r>
            <a:r>
              <a:rPr lang="en-US" sz="1800" b="0" i="0" u="none" strike="noStrike" baseline="0" dirty="0">
                <a:latin typeface="Minion-Regular"/>
              </a:rPr>
              <a:t>, </a:t>
            </a:r>
            <a:r>
              <a:rPr lang="en-US" sz="1800" b="0" i="1" u="none" strike="noStrike" baseline="0" dirty="0">
                <a:latin typeface="Minion-Italic"/>
              </a:rPr>
              <a:t>y</a:t>
            </a:r>
            <a:r>
              <a:rPr lang="en-US" sz="1800" dirty="0">
                <a:latin typeface="RMTMI"/>
              </a:rPr>
              <a:t>)</a:t>
            </a:r>
            <a:r>
              <a:rPr lang="en-US" sz="1800" b="0" i="0" u="none" strike="noStrike" baseline="0" dirty="0">
                <a:latin typeface="RMTMI"/>
              </a:rPr>
              <a:t> </a:t>
            </a:r>
            <a:r>
              <a:rPr lang="en-US" sz="1800" b="0" i="0" u="none" strike="noStrike" baseline="0" dirty="0">
                <a:latin typeface="Minion-Regular"/>
              </a:rPr>
              <a:t>representing location) into three clusters, where the points are:</a:t>
            </a:r>
          </a:p>
          <a:p>
            <a:pPr algn="l"/>
            <a:endParaRPr lang="en-US" sz="1800" b="0" i="0" u="none" strike="noStrike" baseline="0" dirty="0">
              <a:latin typeface="Minion-Regular"/>
            </a:endParaRPr>
          </a:p>
          <a:p>
            <a:pPr marL="0" indent="0" algn="l">
              <a:buNone/>
            </a:pPr>
            <a:r>
              <a:rPr lang="pt-BR" sz="1800" b="0" i="1" u="none" strike="noStrike" baseline="0" dirty="0">
                <a:latin typeface="Minion-Italic"/>
              </a:rPr>
              <a:t>	A</a:t>
            </a:r>
            <a:r>
              <a:rPr lang="pt-BR" sz="1800" b="0" i="0" u="none" strike="noStrike" baseline="0" dirty="0">
                <a:latin typeface="Minion-Regular"/>
              </a:rPr>
              <a:t>1</a:t>
            </a:r>
            <a:r>
              <a:rPr lang="pt-BR" sz="1800" dirty="0">
                <a:latin typeface="RMTMI"/>
              </a:rPr>
              <a:t> (</a:t>
            </a:r>
            <a:r>
              <a:rPr lang="pt-BR" sz="1800" b="0" i="0" u="none" strike="noStrike" baseline="0" dirty="0">
                <a:latin typeface="Minion-Regular"/>
              </a:rPr>
              <a:t>2,10</a:t>
            </a:r>
            <a:r>
              <a:rPr lang="pt-BR" sz="1800" dirty="0">
                <a:latin typeface="RMTMI"/>
              </a:rPr>
              <a:t>)</a:t>
            </a:r>
            <a:r>
              <a:rPr lang="pt-BR" sz="1800" b="0" i="0" u="none" strike="noStrike" baseline="0" dirty="0">
                <a:latin typeface="Minion-Regular"/>
              </a:rPr>
              <a:t>, </a:t>
            </a:r>
            <a:r>
              <a:rPr lang="pt-BR" sz="1800" b="0" i="1" u="none" strike="noStrike" baseline="0" dirty="0">
                <a:latin typeface="Minion-Italic"/>
              </a:rPr>
              <a:t>A</a:t>
            </a:r>
            <a:r>
              <a:rPr lang="pt-BR" sz="1800" b="0" i="0" u="none" strike="noStrike" baseline="0" dirty="0">
                <a:latin typeface="Minion-Regular"/>
              </a:rPr>
              <a:t>2</a:t>
            </a:r>
            <a:r>
              <a:rPr lang="pt-BR" sz="1800" dirty="0">
                <a:latin typeface="RMTMI"/>
              </a:rPr>
              <a:t> (</a:t>
            </a:r>
            <a:r>
              <a:rPr lang="pt-BR" sz="1800" b="0" i="0" u="none" strike="noStrike" baseline="0" dirty="0">
                <a:latin typeface="Minion-Regular"/>
              </a:rPr>
              <a:t>2,5</a:t>
            </a:r>
            <a:r>
              <a:rPr lang="pt-BR" sz="1800" dirty="0">
                <a:latin typeface="RMTMI"/>
              </a:rPr>
              <a:t>)</a:t>
            </a:r>
            <a:r>
              <a:rPr lang="pt-BR" sz="1800" b="0" i="0" u="none" strike="noStrike" baseline="0" dirty="0">
                <a:latin typeface="Minion-Regular"/>
              </a:rPr>
              <a:t>, </a:t>
            </a:r>
            <a:r>
              <a:rPr lang="pt-BR" sz="1800" b="0" i="1" u="none" strike="noStrike" baseline="0" dirty="0">
                <a:latin typeface="Minion-Italic"/>
              </a:rPr>
              <a:t>A</a:t>
            </a:r>
            <a:r>
              <a:rPr lang="pt-BR" sz="1800" b="0" i="0" u="none" strike="noStrike" baseline="0" dirty="0">
                <a:latin typeface="Minion-Regular"/>
              </a:rPr>
              <a:t>3(8,4</a:t>
            </a:r>
            <a:r>
              <a:rPr lang="pt-BR" sz="1800" dirty="0">
                <a:latin typeface="RMTMI"/>
              </a:rPr>
              <a:t>)</a:t>
            </a:r>
            <a:r>
              <a:rPr lang="pt-BR" sz="1800" b="0" i="0" u="none" strike="noStrike" baseline="0" dirty="0">
                <a:latin typeface="Minion-Regular"/>
              </a:rPr>
              <a:t>, </a:t>
            </a:r>
            <a:r>
              <a:rPr lang="pt-BR" sz="1800" b="0" i="1" u="none" strike="noStrike" baseline="0" dirty="0">
                <a:latin typeface="Minion-Italic"/>
              </a:rPr>
              <a:t>B</a:t>
            </a:r>
            <a:r>
              <a:rPr lang="pt-BR" sz="1800" b="0" i="0" u="none" strike="noStrike" baseline="0" dirty="0">
                <a:latin typeface="Minion-Regular"/>
              </a:rPr>
              <a:t>1(5,8</a:t>
            </a:r>
            <a:r>
              <a:rPr lang="pt-BR" sz="1800" dirty="0">
                <a:latin typeface="RMTMI"/>
              </a:rPr>
              <a:t>)</a:t>
            </a:r>
            <a:r>
              <a:rPr lang="pt-BR" sz="1800" b="0" i="0" u="none" strike="noStrike" baseline="0" dirty="0">
                <a:latin typeface="Minion-Regular"/>
              </a:rPr>
              <a:t>, </a:t>
            </a:r>
            <a:r>
              <a:rPr lang="pt-BR" sz="1800" b="0" i="1" u="none" strike="noStrike" baseline="0" dirty="0">
                <a:latin typeface="Minion-Italic"/>
              </a:rPr>
              <a:t>B</a:t>
            </a:r>
            <a:r>
              <a:rPr lang="pt-BR" sz="1800" b="0" i="0" u="none" strike="noStrike" baseline="0" dirty="0">
                <a:latin typeface="Minion-Regular"/>
              </a:rPr>
              <a:t>2 (7,5), </a:t>
            </a:r>
            <a:r>
              <a:rPr lang="pt-BR" sz="1800" b="0" i="1" u="none" strike="noStrike" baseline="0" dirty="0">
                <a:latin typeface="Minion-Italic"/>
              </a:rPr>
              <a:t>B</a:t>
            </a:r>
            <a:r>
              <a:rPr lang="pt-BR" sz="1800" b="0" i="0" u="none" strike="noStrike" baseline="0" dirty="0">
                <a:latin typeface="Minion-Regular"/>
              </a:rPr>
              <a:t>3</a:t>
            </a:r>
            <a:r>
              <a:rPr lang="pt-BR" sz="1800" dirty="0">
                <a:latin typeface="RMTMI"/>
              </a:rPr>
              <a:t> (</a:t>
            </a:r>
            <a:r>
              <a:rPr lang="pt-BR" sz="1800" b="0" i="0" u="none" strike="noStrike" baseline="0" dirty="0">
                <a:latin typeface="Minion-Regular"/>
              </a:rPr>
              <a:t>6,4), </a:t>
            </a:r>
            <a:r>
              <a:rPr lang="pt-BR" sz="1800" b="0" i="1" u="none" strike="noStrike" baseline="0" dirty="0">
                <a:latin typeface="Minion-Italic"/>
              </a:rPr>
              <a:t>C</a:t>
            </a:r>
            <a:r>
              <a:rPr lang="pt-BR" sz="1800" b="0" i="0" u="none" strike="noStrike" baseline="0" dirty="0">
                <a:latin typeface="Minion-Regular"/>
              </a:rPr>
              <a:t>1(1,2), </a:t>
            </a:r>
            <a:r>
              <a:rPr lang="pt-BR" sz="1800" b="0" i="1" u="none" strike="noStrike" baseline="0" dirty="0">
                <a:latin typeface="Minion-Italic"/>
              </a:rPr>
              <a:t>C</a:t>
            </a:r>
            <a:r>
              <a:rPr lang="pt-BR" sz="1800" b="0" i="0" u="none" strike="noStrike" baseline="0" dirty="0">
                <a:latin typeface="Minion-Regular"/>
              </a:rPr>
              <a:t>2</a:t>
            </a:r>
            <a:r>
              <a:rPr lang="pt-BR" sz="1800" dirty="0">
                <a:latin typeface="RMTMI"/>
              </a:rPr>
              <a:t>(</a:t>
            </a:r>
            <a:r>
              <a:rPr lang="pt-BR" sz="1800" b="0" i="0" u="none" strike="noStrike" baseline="0" dirty="0">
                <a:latin typeface="Minion-Regular"/>
              </a:rPr>
              <a:t>4,9</a:t>
            </a:r>
            <a:r>
              <a:rPr lang="pt-BR" sz="1800" dirty="0">
                <a:latin typeface="RMTMI"/>
              </a:rPr>
              <a:t>)</a:t>
            </a:r>
            <a:endParaRPr lang="pt-BR" sz="1800" b="0" i="0" u="none" strike="noStrike" baseline="0" dirty="0">
              <a:latin typeface="Minion-Regular"/>
            </a:endParaRPr>
          </a:p>
          <a:p>
            <a:pPr algn="l"/>
            <a:endParaRPr lang="en-US" sz="1800" b="0" i="0" u="none" strike="noStrike" baseline="0" dirty="0">
              <a:latin typeface="Minion-Regular"/>
            </a:endParaRPr>
          </a:p>
          <a:p>
            <a:pPr algn="l"/>
            <a:r>
              <a:rPr lang="en-US" sz="1800" b="0" i="0" u="none" strike="noStrike" baseline="0" dirty="0">
                <a:latin typeface="Minion-Regular"/>
              </a:rPr>
              <a:t>The distance function is Euclidean distance. Suppose initially we assign </a:t>
            </a:r>
            <a:r>
              <a:rPr lang="en-US" sz="1800" b="0" i="1" u="none" strike="noStrike" baseline="0" dirty="0">
                <a:latin typeface="Minion-Italic"/>
              </a:rPr>
              <a:t>A</a:t>
            </a:r>
            <a:r>
              <a:rPr lang="en-US" sz="1800" b="0" i="0" u="none" strike="noStrike" baseline="0" dirty="0">
                <a:latin typeface="Minion-Regular"/>
              </a:rPr>
              <a:t>1, </a:t>
            </a:r>
            <a:r>
              <a:rPr lang="en-US" sz="1800" b="0" i="1" u="none" strike="noStrike" baseline="0" dirty="0">
                <a:latin typeface="Minion-Italic"/>
              </a:rPr>
              <a:t>B</a:t>
            </a:r>
            <a:r>
              <a:rPr lang="en-US" sz="1800" b="0" i="0" u="none" strike="noStrike" baseline="0" dirty="0">
                <a:latin typeface="Minion-Regular"/>
              </a:rPr>
              <a:t>1, and </a:t>
            </a:r>
            <a:r>
              <a:rPr lang="en-US" sz="1800" b="0" i="1" u="none" strike="noStrike" baseline="0" dirty="0">
                <a:latin typeface="Minion-Italic"/>
              </a:rPr>
              <a:t>C</a:t>
            </a:r>
            <a:r>
              <a:rPr lang="en-US" sz="1800" b="0" i="0" u="none" strike="noStrike" baseline="0" dirty="0">
                <a:latin typeface="Minion-Regular"/>
              </a:rPr>
              <a:t>1 as the center of each cluster, respectively. Use the </a:t>
            </a:r>
            <a:r>
              <a:rPr lang="en-US" sz="1800" b="0" i="1" u="none" strike="noStrike" baseline="0" dirty="0">
                <a:latin typeface="Minion-Italic"/>
              </a:rPr>
              <a:t>k-means </a:t>
            </a:r>
            <a:r>
              <a:rPr lang="en-US" sz="1800" b="0" i="0" u="none" strike="noStrike" baseline="0" dirty="0">
                <a:latin typeface="Minion-Regular"/>
              </a:rPr>
              <a:t>algorithm to show the final three clusters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880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F4D54F8-A82C-45C5-8438-F6EF4138A6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0888" y="436563"/>
            <a:ext cx="7439025" cy="442912"/>
          </a:xfrm>
        </p:spPr>
        <p:txBody>
          <a:bodyPr/>
          <a:lstStyle/>
          <a:p>
            <a:pPr eaLnBrk="1" hangingPunct="1"/>
            <a:r>
              <a:rPr lang="en-US" altLang="en-US" sz="3200"/>
              <a:t>Comments on the </a:t>
            </a:r>
            <a:r>
              <a:rPr lang="en-US" altLang="en-US" sz="3200" i="1"/>
              <a:t>K-Means</a:t>
            </a:r>
            <a:r>
              <a:rPr lang="en-US" altLang="en-US" sz="3200"/>
              <a:t> Method</a:t>
            </a:r>
            <a:endParaRPr lang="en-US" altLang="en-US" sz="2400" b="1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BD6A41C-0DD9-4C58-9E5E-D8594F11D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828800"/>
            <a:ext cx="8458200" cy="4800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1800" u="sng" dirty="0"/>
              <a:t>Strength:</a:t>
            </a:r>
            <a:r>
              <a:rPr lang="en-US" altLang="en-US" sz="1800" dirty="0"/>
              <a:t> </a:t>
            </a:r>
            <a:r>
              <a:rPr lang="en-US" altLang="en-US" sz="1800" i="1" dirty="0"/>
              <a:t>Efficient</a:t>
            </a:r>
            <a:r>
              <a:rPr lang="en-US" altLang="en-US" sz="1800" dirty="0"/>
              <a:t>: </a:t>
            </a:r>
            <a:r>
              <a:rPr lang="en-US" altLang="en-US" sz="1800" i="1" dirty="0"/>
              <a:t>O</a:t>
            </a:r>
            <a:r>
              <a:rPr lang="en-US" altLang="en-US" sz="1800" dirty="0"/>
              <a:t>(</a:t>
            </a:r>
            <a:r>
              <a:rPr lang="en-US" altLang="en-US" sz="1800" i="1" dirty="0" err="1"/>
              <a:t>tkn</a:t>
            </a:r>
            <a:r>
              <a:rPr lang="en-US" altLang="en-US" sz="1800" dirty="0"/>
              <a:t>), where </a:t>
            </a:r>
            <a:r>
              <a:rPr lang="en-US" altLang="en-US" sz="1800" i="1" dirty="0"/>
              <a:t>n</a:t>
            </a:r>
            <a:r>
              <a:rPr lang="en-US" altLang="en-US" sz="1800" dirty="0"/>
              <a:t> is # objects, </a:t>
            </a:r>
            <a:r>
              <a:rPr lang="en-US" altLang="en-US" sz="1800" i="1" dirty="0"/>
              <a:t>k</a:t>
            </a:r>
            <a:r>
              <a:rPr lang="en-US" altLang="en-US" sz="1800" dirty="0"/>
              <a:t> is # clusters, and </a:t>
            </a:r>
            <a:r>
              <a:rPr lang="en-US" altLang="en-US" sz="1800" i="1" dirty="0"/>
              <a:t>t  </a:t>
            </a:r>
            <a:r>
              <a:rPr lang="en-US" altLang="en-US" sz="1800" dirty="0"/>
              <a:t>is # iterations. Normally, </a:t>
            </a:r>
            <a:r>
              <a:rPr lang="en-US" altLang="en-US" sz="1800" i="1" dirty="0"/>
              <a:t>k</a:t>
            </a:r>
            <a:r>
              <a:rPr lang="en-US" altLang="en-US" sz="1800" dirty="0"/>
              <a:t>, </a:t>
            </a:r>
            <a:r>
              <a:rPr lang="en-US" altLang="en-US" sz="1800" i="1" dirty="0"/>
              <a:t>t</a:t>
            </a:r>
            <a:r>
              <a:rPr lang="en-US" altLang="en-US" sz="1800" dirty="0"/>
              <a:t> &lt;&lt; </a:t>
            </a:r>
            <a:r>
              <a:rPr lang="en-US" altLang="en-US" sz="1800" i="1" dirty="0"/>
              <a:t>n</a:t>
            </a:r>
            <a:r>
              <a:rPr lang="en-US" altLang="en-US" sz="1800" dirty="0"/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en-US" sz="1800" u="sng" dirty="0"/>
          </a:p>
          <a:p>
            <a:pPr eaLnBrk="1" hangingPunct="1">
              <a:lnSpc>
                <a:spcPct val="120000"/>
              </a:lnSpc>
            </a:pPr>
            <a:r>
              <a:rPr lang="en-US" altLang="en-US" sz="1800" u="sng" dirty="0"/>
              <a:t>Comment:</a:t>
            </a:r>
            <a:r>
              <a:rPr lang="en-US" altLang="en-US" sz="1800" dirty="0"/>
              <a:t> Often terminates at a </a:t>
            </a:r>
            <a:r>
              <a:rPr lang="en-US" altLang="en-US" sz="1800" i="1" dirty="0"/>
              <a:t>local optimal</a:t>
            </a:r>
            <a:r>
              <a:rPr lang="en-US" altLang="en-US" sz="1800" dirty="0"/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 u="sng" dirty="0"/>
              <a:t>Weakness</a:t>
            </a:r>
            <a:endParaRPr lang="en-US" altLang="en-US" sz="1800" dirty="0"/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Applicable only to objects in a continuous n-dimensional space </a:t>
            </a:r>
            <a:endParaRPr lang="en-US" altLang="en-US" i="1" dirty="0"/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Need to specify </a:t>
            </a:r>
            <a:r>
              <a:rPr lang="en-US" altLang="en-US" i="1" dirty="0"/>
              <a:t>k, </a:t>
            </a:r>
            <a:r>
              <a:rPr lang="en-US" altLang="en-US" dirty="0"/>
              <a:t>the </a:t>
            </a:r>
            <a:r>
              <a:rPr lang="en-US" altLang="en-US" i="1" dirty="0"/>
              <a:t>number</a:t>
            </a:r>
            <a:r>
              <a:rPr lang="en-US" altLang="en-US" dirty="0"/>
              <a:t> of clusters, in advance (there are ways to automatically determine the best k (see Hastie et al., 2009)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Sensitive to noisy data and </a:t>
            </a:r>
            <a:r>
              <a:rPr lang="en-US" altLang="en-US" i="1" dirty="0"/>
              <a:t>outliers</a:t>
            </a:r>
            <a:endParaRPr lang="en-US" altLang="en-US" dirty="0"/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Not suitable to discover clusters with </a:t>
            </a:r>
            <a:r>
              <a:rPr lang="en-US" altLang="en-US" i="1" dirty="0"/>
              <a:t>non-convex shapes</a:t>
            </a:r>
          </a:p>
        </p:txBody>
      </p:sp>
      <p:sp>
        <p:nvSpPr>
          <p:cNvPr id="20484" name="Slide Number Placeholder 6">
            <a:extLst>
              <a:ext uri="{FF2B5EF4-FFF2-40B4-BE49-F238E27FC236}">
                <a16:creationId xmlns:a16="http://schemas.microsoft.com/office/drawing/2014/main" id="{48363040-EB50-4956-B62A-17BC5F176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0EBAF744-C38D-4123-863F-BEE6F878D9A7}" type="slidenum">
              <a:rPr lang="en-US" altLang="en-US" smtClean="0"/>
              <a:pPr eaLnBrk="1" hangingPunct="1"/>
              <a:t>7</a:t>
            </a:fld>
            <a:endParaRPr lang="en-US" alt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2A3B70F-3E66-4A3E-A67C-D3022E4DF5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0888" y="492125"/>
            <a:ext cx="7297737" cy="442913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>
                <a:ea typeface="SimSun" panose="02010600030101010101" pitchFamily="2" charset="-122"/>
              </a:rPr>
              <a:t>Hierarchical Clustering</a:t>
            </a:r>
            <a:endParaRPr lang="en-US" altLang="zh-CN" sz="4400">
              <a:ea typeface="SimSun" panose="02010600030101010101" pitchFamily="2" charset="-122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C068DB5-6674-42CD-AA8B-77024A47F9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305800" cy="9906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ea typeface="SimSun" panose="02010600030101010101" pitchFamily="2" charset="-122"/>
              </a:rPr>
              <a:t>Use distance matrix as clustering criteria.  This method does not require the number of clusters </a:t>
            </a:r>
            <a:r>
              <a:rPr lang="en-US" altLang="zh-CN" b="1" i="1" dirty="0">
                <a:ea typeface="SimSun" panose="02010600030101010101" pitchFamily="2" charset="-122"/>
              </a:rPr>
              <a:t>k</a:t>
            </a:r>
            <a:r>
              <a:rPr lang="en-US" altLang="zh-CN" dirty="0">
                <a:ea typeface="SimSun" panose="02010600030101010101" pitchFamily="2" charset="-122"/>
              </a:rPr>
              <a:t> as an input, but needs a termination condition </a:t>
            </a:r>
          </a:p>
        </p:txBody>
      </p:sp>
      <p:grpSp>
        <p:nvGrpSpPr>
          <p:cNvPr id="26628" name="Group 4">
            <a:extLst>
              <a:ext uri="{FF2B5EF4-FFF2-40B4-BE49-F238E27FC236}">
                <a16:creationId xmlns:a16="http://schemas.microsoft.com/office/drawing/2014/main" id="{B9F30233-38E9-43C8-A0B5-FDDC5457B58E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971800"/>
            <a:ext cx="7108825" cy="3413125"/>
            <a:chOff x="1200" y="1776"/>
            <a:chExt cx="4382" cy="2294"/>
          </a:xfrm>
        </p:grpSpPr>
        <p:sp>
          <p:nvSpPr>
            <p:cNvPr id="26630" name="Line 5">
              <a:extLst>
                <a:ext uri="{FF2B5EF4-FFF2-40B4-BE49-F238E27FC236}">
                  <a16:creationId xmlns:a16="http://schemas.microsoft.com/office/drawing/2014/main" id="{1CF6A0C2-2146-4D02-9482-F0687FB11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112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631" name="Group 6">
              <a:extLst>
                <a:ext uri="{FF2B5EF4-FFF2-40B4-BE49-F238E27FC236}">
                  <a16:creationId xmlns:a16="http://schemas.microsoft.com/office/drawing/2014/main" id="{FC48197D-5F03-4940-993F-62124FEDB0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785"/>
              <a:ext cx="480" cy="327"/>
              <a:chOff x="1104" y="1785"/>
              <a:chExt cx="480" cy="327"/>
            </a:xfrm>
          </p:grpSpPr>
          <p:sp>
            <p:nvSpPr>
              <p:cNvPr id="26683" name="Line 7">
                <a:extLst>
                  <a:ext uri="{FF2B5EF4-FFF2-40B4-BE49-F238E27FC236}">
                    <a16:creationId xmlns:a16="http://schemas.microsoft.com/office/drawing/2014/main" id="{88B5A48A-6E4A-44DD-9873-49415BD513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84" name="Text Box 8">
                <a:extLst>
                  <a:ext uri="{FF2B5EF4-FFF2-40B4-BE49-F238E27FC236}">
                    <a16:creationId xmlns:a16="http://schemas.microsoft.com/office/drawing/2014/main" id="{352BF2CB-BEDC-462C-888D-4D75915063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  <a:ea typeface="SimSun" panose="02010600030101010101" pitchFamily="2" charset="-122"/>
                  </a:rPr>
                  <a:t>Step 0</a:t>
                </a:r>
                <a:endParaRPr lang="en-US" altLang="zh-CN"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</p:txBody>
          </p:sp>
        </p:grpSp>
        <p:grpSp>
          <p:nvGrpSpPr>
            <p:cNvPr id="26632" name="Group 9">
              <a:extLst>
                <a:ext uri="{FF2B5EF4-FFF2-40B4-BE49-F238E27FC236}">
                  <a16:creationId xmlns:a16="http://schemas.microsoft.com/office/drawing/2014/main" id="{CE3368CE-FD58-4B7B-B92B-9C327CB4B5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776"/>
              <a:ext cx="480" cy="327"/>
              <a:chOff x="1104" y="1785"/>
              <a:chExt cx="480" cy="327"/>
            </a:xfrm>
          </p:grpSpPr>
          <p:sp>
            <p:nvSpPr>
              <p:cNvPr id="26681" name="Line 10">
                <a:extLst>
                  <a:ext uri="{FF2B5EF4-FFF2-40B4-BE49-F238E27FC236}">
                    <a16:creationId xmlns:a16="http://schemas.microsoft.com/office/drawing/2014/main" id="{3D83A7CA-B6FE-4FA7-AAEF-A04D191030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82" name="Text Box 11">
                <a:extLst>
                  <a:ext uri="{FF2B5EF4-FFF2-40B4-BE49-F238E27FC236}">
                    <a16:creationId xmlns:a16="http://schemas.microsoft.com/office/drawing/2014/main" id="{D3DC5940-D603-483D-994E-11BF8AC3DC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  <a:ea typeface="SimSun" panose="02010600030101010101" pitchFamily="2" charset="-122"/>
                  </a:rPr>
                  <a:t>Step 1</a:t>
                </a:r>
                <a:endParaRPr lang="en-US" altLang="zh-CN"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</p:txBody>
          </p:sp>
        </p:grpSp>
        <p:grpSp>
          <p:nvGrpSpPr>
            <p:cNvPr id="26633" name="Group 12">
              <a:extLst>
                <a:ext uri="{FF2B5EF4-FFF2-40B4-BE49-F238E27FC236}">
                  <a16:creationId xmlns:a16="http://schemas.microsoft.com/office/drawing/2014/main" id="{40ADE5CB-6D5E-4CBD-A70F-C4CFD52658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776"/>
              <a:ext cx="480" cy="327"/>
              <a:chOff x="1104" y="1785"/>
              <a:chExt cx="480" cy="327"/>
            </a:xfrm>
          </p:grpSpPr>
          <p:sp>
            <p:nvSpPr>
              <p:cNvPr id="26679" name="Line 13">
                <a:extLst>
                  <a:ext uri="{FF2B5EF4-FFF2-40B4-BE49-F238E27FC236}">
                    <a16:creationId xmlns:a16="http://schemas.microsoft.com/office/drawing/2014/main" id="{48542BB7-AE3F-40B1-9F85-757FF69650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80" name="Text Box 14">
                <a:extLst>
                  <a:ext uri="{FF2B5EF4-FFF2-40B4-BE49-F238E27FC236}">
                    <a16:creationId xmlns:a16="http://schemas.microsoft.com/office/drawing/2014/main" id="{2C69682C-C81C-4DD6-BD7F-535FFB5FE3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  <a:ea typeface="SimSun" panose="02010600030101010101" pitchFamily="2" charset="-122"/>
                  </a:rPr>
                  <a:t>Step 2</a:t>
                </a:r>
                <a:endParaRPr lang="en-US" altLang="zh-CN"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</p:txBody>
          </p:sp>
        </p:grpSp>
        <p:grpSp>
          <p:nvGrpSpPr>
            <p:cNvPr id="26634" name="Group 15">
              <a:extLst>
                <a:ext uri="{FF2B5EF4-FFF2-40B4-BE49-F238E27FC236}">
                  <a16:creationId xmlns:a16="http://schemas.microsoft.com/office/drawing/2014/main" id="{2B63B318-6408-40B3-A03A-58C745BE02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776"/>
              <a:ext cx="480" cy="327"/>
              <a:chOff x="1104" y="1785"/>
              <a:chExt cx="480" cy="327"/>
            </a:xfrm>
          </p:grpSpPr>
          <p:sp>
            <p:nvSpPr>
              <p:cNvPr id="26677" name="Line 16">
                <a:extLst>
                  <a:ext uri="{FF2B5EF4-FFF2-40B4-BE49-F238E27FC236}">
                    <a16:creationId xmlns:a16="http://schemas.microsoft.com/office/drawing/2014/main" id="{6DDE3D28-148B-4019-B1F6-39411CA10B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8" name="Text Box 17">
                <a:extLst>
                  <a:ext uri="{FF2B5EF4-FFF2-40B4-BE49-F238E27FC236}">
                    <a16:creationId xmlns:a16="http://schemas.microsoft.com/office/drawing/2014/main" id="{4F032292-22EC-4ADE-8D6D-36B6BAE39E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  <a:ea typeface="SimSun" panose="02010600030101010101" pitchFamily="2" charset="-122"/>
                  </a:rPr>
                  <a:t>Step 3</a:t>
                </a:r>
                <a:endParaRPr lang="en-US" altLang="zh-CN"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</p:txBody>
          </p:sp>
        </p:grpSp>
        <p:grpSp>
          <p:nvGrpSpPr>
            <p:cNvPr id="26635" name="Group 18">
              <a:extLst>
                <a:ext uri="{FF2B5EF4-FFF2-40B4-BE49-F238E27FC236}">
                  <a16:creationId xmlns:a16="http://schemas.microsoft.com/office/drawing/2014/main" id="{95D21449-C859-4354-A7D6-41A8BED59A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1776"/>
              <a:ext cx="480" cy="327"/>
              <a:chOff x="1104" y="1785"/>
              <a:chExt cx="480" cy="327"/>
            </a:xfrm>
          </p:grpSpPr>
          <p:sp>
            <p:nvSpPr>
              <p:cNvPr id="26675" name="Line 19">
                <a:extLst>
                  <a:ext uri="{FF2B5EF4-FFF2-40B4-BE49-F238E27FC236}">
                    <a16:creationId xmlns:a16="http://schemas.microsoft.com/office/drawing/2014/main" id="{E484D92F-4563-406D-81E2-100B51D749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6" name="Text Box 20">
                <a:extLst>
                  <a:ext uri="{FF2B5EF4-FFF2-40B4-BE49-F238E27FC236}">
                    <a16:creationId xmlns:a16="http://schemas.microsoft.com/office/drawing/2014/main" id="{A17060CE-16ED-4AD6-9C3B-B2308CD15D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  <a:ea typeface="SimSun" panose="02010600030101010101" pitchFamily="2" charset="-122"/>
                  </a:rPr>
                  <a:t>Step 4</a:t>
                </a:r>
                <a:endParaRPr lang="en-US" altLang="zh-CN"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</p:txBody>
          </p:sp>
        </p:grpSp>
        <p:sp>
          <p:nvSpPr>
            <p:cNvPr id="26636" name="Text Box 21">
              <a:extLst>
                <a:ext uri="{FF2B5EF4-FFF2-40B4-BE49-F238E27FC236}">
                  <a16:creationId xmlns:a16="http://schemas.microsoft.com/office/drawing/2014/main" id="{3B3E99ED-FDA7-4492-9CF0-5EB733FEC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5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b</a:t>
              </a:r>
            </a:p>
          </p:txBody>
        </p:sp>
        <p:sp>
          <p:nvSpPr>
            <p:cNvPr id="26637" name="Text Box 22">
              <a:extLst>
                <a:ext uri="{FF2B5EF4-FFF2-40B4-BE49-F238E27FC236}">
                  <a16:creationId xmlns:a16="http://schemas.microsoft.com/office/drawing/2014/main" id="{675436A2-8F04-425F-A1F1-009D9CEAA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1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d</a:t>
              </a:r>
            </a:p>
          </p:txBody>
        </p:sp>
        <p:sp>
          <p:nvSpPr>
            <p:cNvPr id="26638" name="Text Box 23">
              <a:extLst>
                <a:ext uri="{FF2B5EF4-FFF2-40B4-BE49-F238E27FC236}">
                  <a16:creationId xmlns:a16="http://schemas.microsoft.com/office/drawing/2014/main" id="{8A9F0408-8607-4167-8CDB-269E83DCC2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808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c</a:t>
              </a:r>
            </a:p>
          </p:txBody>
        </p:sp>
        <p:sp>
          <p:nvSpPr>
            <p:cNvPr id="26639" name="Text Box 24">
              <a:extLst>
                <a:ext uri="{FF2B5EF4-FFF2-40B4-BE49-F238E27FC236}">
                  <a16:creationId xmlns:a16="http://schemas.microsoft.com/office/drawing/2014/main" id="{3EC3A859-A224-40FE-B3B1-74350F90BA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408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e</a:t>
              </a:r>
            </a:p>
          </p:txBody>
        </p:sp>
        <p:sp>
          <p:nvSpPr>
            <p:cNvPr id="26640" name="Text Box 25">
              <a:extLst>
                <a:ext uri="{FF2B5EF4-FFF2-40B4-BE49-F238E27FC236}">
                  <a16:creationId xmlns:a16="http://schemas.microsoft.com/office/drawing/2014/main" id="{526BED22-C2F8-4FA3-872C-8416F26F2E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208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a</a:t>
              </a:r>
            </a:p>
          </p:txBody>
        </p:sp>
        <p:sp>
          <p:nvSpPr>
            <p:cNvPr id="26641" name="Oval 26">
              <a:extLst>
                <a:ext uri="{FF2B5EF4-FFF2-40B4-BE49-F238E27FC236}">
                  <a16:creationId xmlns:a16="http://schemas.microsoft.com/office/drawing/2014/main" id="{2A2DC0E3-CF8B-48DD-9A41-D963E559D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256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42" name="Oval 27">
              <a:extLst>
                <a:ext uri="{FF2B5EF4-FFF2-40B4-BE49-F238E27FC236}">
                  <a16:creationId xmlns:a16="http://schemas.microsoft.com/office/drawing/2014/main" id="{1EC564EC-36C3-4CCF-BD04-02FDACAF1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544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43" name="Oval 28">
              <a:extLst>
                <a:ext uri="{FF2B5EF4-FFF2-40B4-BE49-F238E27FC236}">
                  <a16:creationId xmlns:a16="http://schemas.microsoft.com/office/drawing/2014/main" id="{AAE5FFC7-9F2D-401F-B7CD-A0FBBB52F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832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44" name="Oval 29">
              <a:extLst>
                <a:ext uri="{FF2B5EF4-FFF2-40B4-BE49-F238E27FC236}">
                  <a16:creationId xmlns:a16="http://schemas.microsoft.com/office/drawing/2014/main" id="{8359D8D6-F3A2-46B7-8D3F-E4F8C89C6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120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45" name="Oval 30">
              <a:extLst>
                <a:ext uri="{FF2B5EF4-FFF2-40B4-BE49-F238E27FC236}">
                  <a16:creationId xmlns:a16="http://schemas.microsoft.com/office/drawing/2014/main" id="{85ABAD5A-6999-40C7-A55A-DF99F7319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408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46" name="Text Box 31">
              <a:extLst>
                <a:ext uri="{FF2B5EF4-FFF2-40B4-BE49-F238E27FC236}">
                  <a16:creationId xmlns:a16="http://schemas.microsoft.com/office/drawing/2014/main" id="{009E4024-2C90-4D00-B2F8-2969C0FE06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304"/>
              <a:ext cx="3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a b</a:t>
              </a:r>
            </a:p>
          </p:txBody>
        </p:sp>
        <p:sp>
          <p:nvSpPr>
            <p:cNvPr id="26647" name="Oval 32">
              <a:extLst>
                <a:ext uri="{FF2B5EF4-FFF2-40B4-BE49-F238E27FC236}">
                  <a16:creationId xmlns:a16="http://schemas.microsoft.com/office/drawing/2014/main" id="{39A1FA21-4589-4272-B2C5-4A01733EC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52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48" name="Text Box 33">
              <a:extLst>
                <a:ext uri="{FF2B5EF4-FFF2-40B4-BE49-F238E27FC236}">
                  <a16:creationId xmlns:a16="http://schemas.microsoft.com/office/drawing/2014/main" id="{5BCDEC6A-78FE-4D1D-B68B-3E534EB7A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216"/>
              <a:ext cx="3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 dirty="0">
                  <a:latin typeface="Times New Roman" panose="02020603050405020304" pitchFamily="18" charset="0"/>
                  <a:ea typeface="SimSun" panose="02010600030101010101" pitchFamily="2" charset="-122"/>
                </a:rPr>
                <a:t>d e</a:t>
              </a:r>
            </a:p>
          </p:txBody>
        </p:sp>
        <p:sp>
          <p:nvSpPr>
            <p:cNvPr id="26649" name="Oval 34">
              <a:extLst>
                <a:ext uri="{FF2B5EF4-FFF2-40B4-BE49-F238E27FC236}">
                  <a16:creationId xmlns:a16="http://schemas.microsoft.com/office/drawing/2014/main" id="{95B07DBE-32A2-4EF0-BE7E-17B144B01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264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50" name="Text Box 35">
              <a:extLst>
                <a:ext uri="{FF2B5EF4-FFF2-40B4-BE49-F238E27FC236}">
                  <a16:creationId xmlns:a16="http://schemas.microsoft.com/office/drawing/2014/main" id="{300A2322-BB73-4FB4-A0AC-4B5AEC5B3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928"/>
              <a:ext cx="4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c d e</a:t>
              </a:r>
            </a:p>
          </p:txBody>
        </p:sp>
        <p:sp>
          <p:nvSpPr>
            <p:cNvPr id="26651" name="Oval 36">
              <a:extLst>
                <a:ext uri="{FF2B5EF4-FFF2-40B4-BE49-F238E27FC236}">
                  <a16:creationId xmlns:a16="http://schemas.microsoft.com/office/drawing/2014/main" id="{6D6EF3FF-FB30-4837-9644-F73868033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928"/>
              <a:ext cx="624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52" name="Text Box 37">
              <a:extLst>
                <a:ext uri="{FF2B5EF4-FFF2-40B4-BE49-F238E27FC236}">
                  <a16:creationId xmlns:a16="http://schemas.microsoft.com/office/drawing/2014/main" id="{0474DA91-D94E-48F6-8DB8-F233E83C1A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592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anose="02020603050405020304" pitchFamily="18" charset="0"/>
                  <a:ea typeface="SimSun" panose="02010600030101010101" pitchFamily="2" charset="-122"/>
                </a:rPr>
                <a:t>a b c d e</a:t>
              </a:r>
            </a:p>
          </p:txBody>
        </p:sp>
        <p:sp>
          <p:nvSpPr>
            <p:cNvPr id="26653" name="Oval 38">
              <a:extLst>
                <a:ext uri="{FF2B5EF4-FFF2-40B4-BE49-F238E27FC236}">
                  <a16:creationId xmlns:a16="http://schemas.microsoft.com/office/drawing/2014/main" id="{EF126AAD-D82C-4901-ABBF-C4597C9C8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592"/>
              <a:ext cx="100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54" name="Line 39">
              <a:extLst>
                <a:ext uri="{FF2B5EF4-FFF2-40B4-BE49-F238E27FC236}">
                  <a16:creationId xmlns:a16="http://schemas.microsoft.com/office/drawing/2014/main" id="{2F127414-49A1-4F8B-B3F0-620417E58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753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5" name="Line 40">
              <a:extLst>
                <a:ext uri="{FF2B5EF4-FFF2-40B4-BE49-F238E27FC236}">
                  <a16:creationId xmlns:a16="http://schemas.microsoft.com/office/drawing/2014/main" id="{E0B2B59A-3968-4EC1-B0FA-8FECBC80BB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3753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6" name="Text Box 41">
              <a:extLst>
                <a:ext uri="{FF2B5EF4-FFF2-40B4-BE49-F238E27FC236}">
                  <a16:creationId xmlns:a16="http://schemas.microsoft.com/office/drawing/2014/main" id="{83D58ACC-C871-429D-A3C0-348C155D4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81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</a:rPr>
                <a:t>Step 4</a:t>
              </a:r>
              <a:endParaRPr lang="en-US" altLang="zh-CN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26657" name="Line 42">
              <a:extLst>
                <a:ext uri="{FF2B5EF4-FFF2-40B4-BE49-F238E27FC236}">
                  <a16:creationId xmlns:a16="http://schemas.microsoft.com/office/drawing/2014/main" id="{50F31C84-C83B-4195-A688-B65FA327BE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8" name="Text Box 43">
              <a:extLst>
                <a:ext uri="{FF2B5EF4-FFF2-40B4-BE49-F238E27FC236}">
                  <a16:creationId xmlns:a16="http://schemas.microsoft.com/office/drawing/2014/main" id="{E184A738-E471-416E-86B9-58CA1EE94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801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</a:rPr>
                <a:t>Step 3</a:t>
              </a:r>
              <a:endParaRPr lang="en-US" altLang="zh-CN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26659" name="Line 44">
              <a:extLst>
                <a:ext uri="{FF2B5EF4-FFF2-40B4-BE49-F238E27FC236}">
                  <a16:creationId xmlns:a16="http://schemas.microsoft.com/office/drawing/2014/main" id="{8FDA42B0-8371-458C-9E3C-9EE8DDD1ED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0" name="Text Box 45">
              <a:extLst>
                <a:ext uri="{FF2B5EF4-FFF2-40B4-BE49-F238E27FC236}">
                  <a16:creationId xmlns:a16="http://schemas.microsoft.com/office/drawing/2014/main" id="{BBCF7BFC-93D8-45B3-ADDF-7B2CCB495D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801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</a:rPr>
                <a:t>Step 2</a:t>
              </a:r>
              <a:endParaRPr lang="en-US" altLang="zh-CN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26661" name="Line 46">
              <a:extLst>
                <a:ext uri="{FF2B5EF4-FFF2-40B4-BE49-F238E27FC236}">
                  <a16:creationId xmlns:a16="http://schemas.microsoft.com/office/drawing/2014/main" id="{63A5697D-0479-428F-BA85-0765B49CE0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2" name="Text Box 47">
              <a:extLst>
                <a:ext uri="{FF2B5EF4-FFF2-40B4-BE49-F238E27FC236}">
                  <a16:creationId xmlns:a16="http://schemas.microsoft.com/office/drawing/2014/main" id="{B1CBCE60-5691-4883-B923-F994DE38CC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801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</a:rPr>
                <a:t>Step 1</a:t>
              </a:r>
              <a:endParaRPr lang="en-US" altLang="zh-CN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26663" name="Line 48">
              <a:extLst>
                <a:ext uri="{FF2B5EF4-FFF2-40B4-BE49-F238E27FC236}">
                  <a16:creationId xmlns:a16="http://schemas.microsoft.com/office/drawing/2014/main" id="{D9A0BDE9-8193-4197-B212-B98BABC928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4" name="Text Box 49">
              <a:extLst>
                <a:ext uri="{FF2B5EF4-FFF2-40B4-BE49-F238E27FC236}">
                  <a16:creationId xmlns:a16="http://schemas.microsoft.com/office/drawing/2014/main" id="{158CBB1B-7700-402B-A664-CE26B140C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3801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</a:rPr>
                <a:t>Step 0</a:t>
              </a:r>
              <a:endParaRPr lang="en-US" altLang="zh-CN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26665" name="Line 50">
              <a:extLst>
                <a:ext uri="{FF2B5EF4-FFF2-40B4-BE49-F238E27FC236}">
                  <a16:creationId xmlns:a16="http://schemas.microsoft.com/office/drawing/2014/main" id="{7C59B4D3-4CF3-4B47-8D80-4AF9EC75E3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352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6" name="Line 51">
              <a:extLst>
                <a:ext uri="{FF2B5EF4-FFF2-40B4-BE49-F238E27FC236}">
                  <a16:creationId xmlns:a16="http://schemas.microsoft.com/office/drawing/2014/main" id="{FFA0DA3A-FC70-4FF4-A2A5-FD159C1EFD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244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7" name="Line 52">
              <a:extLst>
                <a:ext uri="{FF2B5EF4-FFF2-40B4-BE49-F238E27FC236}">
                  <a16:creationId xmlns:a16="http://schemas.microsoft.com/office/drawing/2014/main" id="{3F8688F2-55D7-465E-B406-6A55020BF0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216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8" name="Line 53">
              <a:extLst>
                <a:ext uri="{FF2B5EF4-FFF2-40B4-BE49-F238E27FC236}">
                  <a16:creationId xmlns:a16="http://schemas.microsoft.com/office/drawing/2014/main" id="{5D6839D6-9E87-4781-B3D2-0DD837BAAB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360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9" name="Line 54">
              <a:extLst>
                <a:ext uri="{FF2B5EF4-FFF2-40B4-BE49-F238E27FC236}">
                  <a16:creationId xmlns:a16="http://schemas.microsoft.com/office/drawing/2014/main" id="{64D4E1BB-A984-40D2-8125-0CD482923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976"/>
              <a:ext cx="110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0" name="Line 55">
              <a:extLst>
                <a:ext uri="{FF2B5EF4-FFF2-40B4-BE49-F238E27FC236}">
                  <a16:creationId xmlns:a16="http://schemas.microsoft.com/office/drawing/2014/main" id="{DBF57851-147F-4036-AFD3-01389D1886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307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1" name="Line 56">
              <a:extLst>
                <a:ext uri="{FF2B5EF4-FFF2-40B4-BE49-F238E27FC236}">
                  <a16:creationId xmlns:a16="http://schemas.microsoft.com/office/drawing/2014/main" id="{7A075971-8A88-4409-88ED-CC2769C241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496"/>
              <a:ext cx="7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2" name="Line 57">
              <a:extLst>
                <a:ext uri="{FF2B5EF4-FFF2-40B4-BE49-F238E27FC236}">
                  <a16:creationId xmlns:a16="http://schemas.microsoft.com/office/drawing/2014/main" id="{FAA640A3-E52A-48C5-AAC4-F5CD463DB9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73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3" name="Text Box 58">
              <a:extLst>
                <a:ext uri="{FF2B5EF4-FFF2-40B4-BE49-F238E27FC236}">
                  <a16:creationId xmlns:a16="http://schemas.microsoft.com/office/drawing/2014/main" id="{EEFF9D77-A894-4576-B3BE-4FE048AD03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" y="1824"/>
              <a:ext cx="1277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zh-CN" b="1">
                  <a:latin typeface="Times New Roman" panose="02020603050405020304" pitchFamily="18" charset="0"/>
                  <a:ea typeface="SimSun" panose="02010600030101010101" pitchFamily="2" charset="-122"/>
                </a:rPr>
                <a:t>agglomerative</a:t>
              </a:r>
            </a:p>
            <a:p>
              <a:r>
                <a:rPr lang="en-US" altLang="zh-CN" b="1">
                  <a:latin typeface="Times New Roman" panose="02020603050405020304" pitchFamily="18" charset="0"/>
                  <a:ea typeface="SimSun" panose="02010600030101010101" pitchFamily="2" charset="-122"/>
                </a:rPr>
                <a:t>(AGNES)</a:t>
              </a:r>
            </a:p>
          </p:txBody>
        </p:sp>
        <p:sp>
          <p:nvSpPr>
            <p:cNvPr id="26674" name="Text Box 59">
              <a:extLst>
                <a:ext uri="{FF2B5EF4-FFF2-40B4-BE49-F238E27FC236}">
                  <a16:creationId xmlns:a16="http://schemas.microsoft.com/office/drawing/2014/main" id="{D788E11D-413A-438A-9074-CB80BD063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1" y="3552"/>
              <a:ext cx="87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zh-CN" b="1">
                  <a:latin typeface="Times New Roman" panose="02020603050405020304" pitchFamily="18" charset="0"/>
                  <a:ea typeface="SimSun" panose="02010600030101010101" pitchFamily="2" charset="-122"/>
                </a:rPr>
                <a:t>divisive</a:t>
              </a:r>
            </a:p>
            <a:p>
              <a:r>
                <a:rPr lang="en-US" altLang="zh-CN" b="1">
                  <a:latin typeface="Times New Roman" panose="02020603050405020304" pitchFamily="18" charset="0"/>
                  <a:ea typeface="SimSun" panose="02010600030101010101" pitchFamily="2" charset="-122"/>
                </a:rPr>
                <a:t>(DIANA)</a:t>
              </a:r>
              <a:endParaRPr lang="en-US" altLang="zh-CN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</p:grpSp>
      <p:sp>
        <p:nvSpPr>
          <p:cNvPr id="26629" name="Slide Number Placeholder 62">
            <a:extLst>
              <a:ext uri="{FF2B5EF4-FFF2-40B4-BE49-F238E27FC236}">
                <a16:creationId xmlns:a16="http://schemas.microsoft.com/office/drawing/2014/main" id="{3BC27C66-6595-440F-B378-101787B8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F4D84366-7520-4AC8-B13A-1AE6DABFBE69}" type="slidenum">
              <a:rPr lang="en-US" altLang="en-US" smtClean="0"/>
              <a:pPr eaLnBrk="1" hangingPunct="1"/>
              <a:t>8</a:t>
            </a:fld>
            <a:endParaRPr lang="en-US" alt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Oval 2">
            <a:extLst>
              <a:ext uri="{FF2B5EF4-FFF2-40B4-BE49-F238E27FC236}">
                <a16:creationId xmlns:a16="http://schemas.microsoft.com/office/drawing/2014/main" id="{DA099C92-7D7F-4923-90EC-B8FFCE097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5" name="Oval 3">
            <a:extLst>
              <a:ext uri="{FF2B5EF4-FFF2-40B4-BE49-F238E27FC236}">
                <a16:creationId xmlns:a16="http://schemas.microsoft.com/office/drawing/2014/main" id="{44FC31BC-F8E0-42C4-AEB1-2CEBF6770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6" name="Oval 4">
            <a:extLst>
              <a:ext uri="{FF2B5EF4-FFF2-40B4-BE49-F238E27FC236}">
                <a16:creationId xmlns:a16="http://schemas.microsoft.com/office/drawing/2014/main" id="{9FB34333-8C48-4997-B169-166A1B727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7" name="Oval 5">
            <a:extLst>
              <a:ext uri="{FF2B5EF4-FFF2-40B4-BE49-F238E27FC236}">
                <a16:creationId xmlns:a16="http://schemas.microsoft.com/office/drawing/2014/main" id="{56F362E6-968A-453E-B5A7-EA0991DCC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8" name="Oval 6">
            <a:extLst>
              <a:ext uri="{FF2B5EF4-FFF2-40B4-BE49-F238E27FC236}">
                <a16:creationId xmlns:a16="http://schemas.microsoft.com/office/drawing/2014/main" id="{36031482-137D-48E1-B920-3ACDF883E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9" name="Oval 7">
            <a:extLst>
              <a:ext uri="{FF2B5EF4-FFF2-40B4-BE49-F238E27FC236}">
                <a16:creationId xmlns:a16="http://schemas.microsoft.com/office/drawing/2014/main" id="{ECC04FE7-E6B6-44AE-8670-8CBEFF0C5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0" name="Oval 8">
            <a:extLst>
              <a:ext uri="{FF2B5EF4-FFF2-40B4-BE49-F238E27FC236}">
                <a16:creationId xmlns:a16="http://schemas.microsoft.com/office/drawing/2014/main" id="{F837E9FA-AF00-4AE2-B7F7-AEAAD23E1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1" name="Oval 9">
            <a:extLst>
              <a:ext uri="{FF2B5EF4-FFF2-40B4-BE49-F238E27FC236}">
                <a16:creationId xmlns:a16="http://schemas.microsoft.com/office/drawing/2014/main" id="{BE5D00CB-BBB4-4A92-AE1D-07C671244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2" name="Oval 10">
            <a:extLst>
              <a:ext uri="{FF2B5EF4-FFF2-40B4-BE49-F238E27FC236}">
                <a16:creationId xmlns:a16="http://schemas.microsoft.com/office/drawing/2014/main" id="{D35F65ED-BE5B-49DA-B7F7-868B4F860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3" name="Line 11">
            <a:extLst>
              <a:ext uri="{FF2B5EF4-FFF2-40B4-BE49-F238E27FC236}">
                <a16:creationId xmlns:a16="http://schemas.microsoft.com/office/drawing/2014/main" id="{A1FF96E8-FF57-4AEA-9528-4EE6C2C851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5029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Line 12">
            <a:extLst>
              <a:ext uri="{FF2B5EF4-FFF2-40B4-BE49-F238E27FC236}">
                <a16:creationId xmlns:a16="http://schemas.microsoft.com/office/drawing/2014/main" id="{AA0506C9-1406-438C-8552-F9F79AD1A8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50292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Line 13">
            <a:extLst>
              <a:ext uri="{FF2B5EF4-FFF2-40B4-BE49-F238E27FC236}">
                <a16:creationId xmlns:a16="http://schemas.microsoft.com/office/drawing/2014/main" id="{8FFBC778-75A9-43E1-854A-35AC59D95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0292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Line 14">
            <a:extLst>
              <a:ext uri="{FF2B5EF4-FFF2-40B4-BE49-F238E27FC236}">
                <a16:creationId xmlns:a16="http://schemas.microsoft.com/office/drawing/2014/main" id="{49AC5EB5-0D40-42E4-8029-05D110A2B7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029200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7" name="Line 15">
            <a:extLst>
              <a:ext uri="{FF2B5EF4-FFF2-40B4-BE49-F238E27FC236}">
                <a16:creationId xmlns:a16="http://schemas.microsoft.com/office/drawing/2014/main" id="{68FA3087-83AB-458A-89F0-95BFF39CA9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0292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8" name="Line 16">
            <a:extLst>
              <a:ext uri="{FF2B5EF4-FFF2-40B4-BE49-F238E27FC236}">
                <a16:creationId xmlns:a16="http://schemas.microsoft.com/office/drawing/2014/main" id="{769FF693-6F77-4324-ADF7-FC3AE227B52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51054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9" name="Line 17">
            <a:extLst>
              <a:ext uri="{FF2B5EF4-FFF2-40B4-BE49-F238E27FC236}">
                <a16:creationId xmlns:a16="http://schemas.microsoft.com/office/drawing/2014/main" id="{C8816A6D-14CB-4D58-8113-35BED9F5ADC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510540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0" name="Line 18">
            <a:extLst>
              <a:ext uri="{FF2B5EF4-FFF2-40B4-BE49-F238E27FC236}">
                <a16:creationId xmlns:a16="http://schemas.microsoft.com/office/drawing/2014/main" id="{58E08D52-E2B9-4AEC-B850-DD81C3D08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51054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1" name="Line 19">
            <a:extLst>
              <a:ext uri="{FF2B5EF4-FFF2-40B4-BE49-F238E27FC236}">
                <a16:creationId xmlns:a16="http://schemas.microsoft.com/office/drawing/2014/main" id="{33BFD1FA-172F-4A57-85E1-301B11ACD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267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2" name="Line 20">
            <a:extLst>
              <a:ext uri="{FF2B5EF4-FFF2-40B4-BE49-F238E27FC236}">
                <a16:creationId xmlns:a16="http://schemas.microsoft.com/office/drawing/2014/main" id="{7077FD62-02E3-4FDD-BCAA-9A5855941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267200"/>
            <a:ext cx="144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3" name="Line 21">
            <a:extLst>
              <a:ext uri="{FF2B5EF4-FFF2-40B4-BE49-F238E27FC236}">
                <a16:creationId xmlns:a16="http://schemas.microsoft.com/office/drawing/2014/main" id="{77570BB4-EA46-4F2D-9035-8F488C3A2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4267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4" name="Line 22">
            <a:extLst>
              <a:ext uri="{FF2B5EF4-FFF2-40B4-BE49-F238E27FC236}">
                <a16:creationId xmlns:a16="http://schemas.microsoft.com/office/drawing/2014/main" id="{5DFF4344-6E93-424F-B93A-43C3F05B68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267200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5" name="Line 23">
            <a:extLst>
              <a:ext uri="{FF2B5EF4-FFF2-40B4-BE49-F238E27FC236}">
                <a16:creationId xmlns:a16="http://schemas.microsoft.com/office/drawing/2014/main" id="{E4530F68-7D5F-4FA7-BC64-65BF9F6204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267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6" name="Line 24">
            <a:extLst>
              <a:ext uri="{FF2B5EF4-FFF2-40B4-BE49-F238E27FC236}">
                <a16:creationId xmlns:a16="http://schemas.microsoft.com/office/drawing/2014/main" id="{A2B82F3D-584E-49A9-8EAC-7590CB8FD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267200"/>
            <a:ext cx="144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7" name="Line 25">
            <a:extLst>
              <a:ext uri="{FF2B5EF4-FFF2-40B4-BE49-F238E27FC236}">
                <a16:creationId xmlns:a16="http://schemas.microsoft.com/office/drawing/2014/main" id="{E62D9B0C-D454-4AC0-A422-67BE42D4152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4267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8" name="Line 26">
            <a:extLst>
              <a:ext uri="{FF2B5EF4-FFF2-40B4-BE49-F238E27FC236}">
                <a16:creationId xmlns:a16="http://schemas.microsoft.com/office/drawing/2014/main" id="{41F9F8F5-0F93-4F58-8A21-111E09D14D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2672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9" name="Line 27">
            <a:extLst>
              <a:ext uri="{FF2B5EF4-FFF2-40B4-BE49-F238E27FC236}">
                <a16:creationId xmlns:a16="http://schemas.microsoft.com/office/drawing/2014/main" id="{5DCE2BEF-13E9-4E1E-9413-D527FB273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4290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00" name="Line 28">
            <a:extLst>
              <a:ext uri="{FF2B5EF4-FFF2-40B4-BE49-F238E27FC236}">
                <a16:creationId xmlns:a16="http://schemas.microsoft.com/office/drawing/2014/main" id="{D5605031-DB19-43DE-9062-B49AC8DE25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3429000"/>
            <a:ext cx="0" cy="2514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01" name="Line 29">
            <a:extLst>
              <a:ext uri="{FF2B5EF4-FFF2-40B4-BE49-F238E27FC236}">
                <a16:creationId xmlns:a16="http://schemas.microsoft.com/office/drawing/2014/main" id="{6137B11F-484D-4070-A702-F120E2BAE6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4290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02" name="Line 30">
            <a:extLst>
              <a:ext uri="{FF2B5EF4-FFF2-40B4-BE49-F238E27FC236}">
                <a16:creationId xmlns:a16="http://schemas.microsoft.com/office/drawing/2014/main" id="{71C9A38A-27B5-492D-BC23-467935850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5908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03" name="Line 31">
            <a:extLst>
              <a:ext uri="{FF2B5EF4-FFF2-40B4-BE49-F238E27FC236}">
                <a16:creationId xmlns:a16="http://schemas.microsoft.com/office/drawing/2014/main" id="{629D91C1-E02C-4D35-B214-D5346D6972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2400" y="25146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04" name="Line 32">
            <a:extLst>
              <a:ext uri="{FF2B5EF4-FFF2-40B4-BE49-F238E27FC236}">
                <a16:creationId xmlns:a16="http://schemas.microsoft.com/office/drawing/2014/main" id="{4E4C96A6-1F70-4D5F-B943-533C062CF7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25146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05" name="Line 33">
            <a:extLst>
              <a:ext uri="{FF2B5EF4-FFF2-40B4-BE49-F238E27FC236}">
                <a16:creationId xmlns:a16="http://schemas.microsoft.com/office/drawing/2014/main" id="{90755542-3CC0-43F2-B879-EF4BB48473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25146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06" name="Line 34">
            <a:extLst>
              <a:ext uri="{FF2B5EF4-FFF2-40B4-BE49-F238E27FC236}">
                <a16:creationId xmlns:a16="http://schemas.microsoft.com/office/drawing/2014/main" id="{260A836E-D544-414F-89C1-A034D31693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6002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07" name="Line 35">
            <a:extLst>
              <a:ext uri="{FF2B5EF4-FFF2-40B4-BE49-F238E27FC236}">
                <a16:creationId xmlns:a16="http://schemas.microsoft.com/office/drawing/2014/main" id="{E043585E-E80C-40C2-9064-97BBA871E5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1600200"/>
            <a:ext cx="472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08" name="Line 36">
            <a:extLst>
              <a:ext uri="{FF2B5EF4-FFF2-40B4-BE49-F238E27FC236}">
                <a16:creationId xmlns:a16="http://schemas.microsoft.com/office/drawing/2014/main" id="{C145951D-D60F-4867-8A2C-CA8118B987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1600200"/>
            <a:ext cx="0" cy="266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09" name="Line 37">
            <a:extLst>
              <a:ext uri="{FF2B5EF4-FFF2-40B4-BE49-F238E27FC236}">
                <a16:creationId xmlns:a16="http://schemas.microsoft.com/office/drawing/2014/main" id="{2A072E91-3EB9-4E77-BD48-2103CDC9D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1600200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10" name="Line 38">
            <a:extLst>
              <a:ext uri="{FF2B5EF4-FFF2-40B4-BE49-F238E27FC236}">
                <a16:creationId xmlns:a16="http://schemas.microsoft.com/office/drawing/2014/main" id="{8DD03934-8DBC-439B-9712-EFA670AD1B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76400" y="1600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11" name="Line 39">
            <a:extLst>
              <a:ext uri="{FF2B5EF4-FFF2-40B4-BE49-F238E27FC236}">
                <a16:creationId xmlns:a16="http://schemas.microsoft.com/office/drawing/2014/main" id="{82BEE2FA-F475-41A4-A0D3-52ECDAE99A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11430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12" name="Text Box 40">
            <a:extLst>
              <a:ext uri="{FF2B5EF4-FFF2-40B4-BE49-F238E27FC236}">
                <a16:creationId xmlns:a16="http://schemas.microsoft.com/office/drawing/2014/main" id="{5699EC5B-FB53-4B9C-BAAE-FF2BE785E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8200"/>
            <a:ext cx="929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 sz="3200" b="1" i="1" dirty="0">
                <a:solidFill>
                  <a:srgbClr val="170981"/>
                </a:solidFill>
                <a:latin typeface="+mj-lt"/>
                <a:ea typeface="SimSun" panose="02010600030101010101" pitchFamily="2" charset="-122"/>
              </a:rPr>
              <a:t>Dendrogram:</a:t>
            </a:r>
            <a:r>
              <a:rPr lang="en-US" altLang="zh-CN" sz="3200" b="1" dirty="0">
                <a:solidFill>
                  <a:srgbClr val="170981"/>
                </a:solidFill>
                <a:latin typeface="+mj-lt"/>
                <a:ea typeface="SimSun" panose="02010600030101010101" pitchFamily="2" charset="-122"/>
              </a:rPr>
              <a:t> Shows How Clusters are Merged</a:t>
            </a:r>
            <a:endParaRPr lang="en-US" altLang="zh-CN" sz="3200" b="1" dirty="0">
              <a:solidFill>
                <a:schemeClr val="tx2"/>
              </a:solidFill>
              <a:latin typeface="+mj-lt"/>
              <a:ea typeface="SimSun" panose="02010600030101010101" pitchFamily="2" charset="-122"/>
            </a:endParaRPr>
          </a:p>
        </p:txBody>
      </p:sp>
      <p:sp>
        <p:nvSpPr>
          <p:cNvPr id="28713" name="Line 41">
            <a:extLst>
              <a:ext uri="{FF2B5EF4-FFF2-40B4-BE49-F238E27FC236}">
                <a16:creationId xmlns:a16="http://schemas.microsoft.com/office/drawing/2014/main" id="{E5B0B01B-14BC-457B-BEFE-190261B7BA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50292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714" name="Rectangle 42">
            <a:extLst>
              <a:ext uri="{FF2B5EF4-FFF2-40B4-BE49-F238E27FC236}">
                <a16:creationId xmlns:a16="http://schemas.microsoft.com/office/drawing/2014/main" id="{167B3DD7-EC93-4C19-ACA0-89711F00F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76400"/>
            <a:ext cx="82296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algn="l"/>
            <a:r>
              <a:rPr lang="en-US" altLang="zh-CN" sz="2000" dirty="0">
                <a:latin typeface="+mj-lt"/>
                <a:ea typeface="SimSun" panose="02010600030101010101" pitchFamily="2" charset="-122"/>
              </a:rPr>
              <a:t>Decompose data objects into a several levels of nested partitioning (</a:t>
            </a:r>
            <a:r>
              <a:rPr lang="en-US" altLang="zh-CN" sz="2000" u="sng" dirty="0">
                <a:latin typeface="+mj-lt"/>
                <a:ea typeface="SimSun" panose="02010600030101010101" pitchFamily="2" charset="-122"/>
              </a:rPr>
              <a:t>tree</a:t>
            </a:r>
            <a:r>
              <a:rPr lang="en-US" altLang="zh-CN" sz="2000" dirty="0">
                <a:latin typeface="+mj-lt"/>
                <a:ea typeface="SimSun" panose="02010600030101010101" pitchFamily="2" charset="-122"/>
              </a:rPr>
              <a:t> of clusters), called a </a:t>
            </a:r>
            <a:r>
              <a:rPr lang="en-US" altLang="zh-CN" sz="2000" u="sng" dirty="0">
                <a:latin typeface="+mj-lt"/>
                <a:ea typeface="SimSun" panose="02010600030101010101" pitchFamily="2" charset="-122"/>
              </a:rPr>
              <a:t>dendrogram</a:t>
            </a:r>
            <a:endParaRPr lang="en-US" altLang="zh-CN" sz="2000" dirty="0">
              <a:latin typeface="+mj-lt"/>
              <a:ea typeface="SimSun" panose="02010600030101010101" pitchFamily="2" charset="-122"/>
            </a:endParaRPr>
          </a:p>
          <a:p>
            <a:pPr lvl="1" algn="l"/>
            <a:endParaRPr lang="en-US" altLang="zh-CN" sz="2000" dirty="0">
              <a:latin typeface="+mj-lt"/>
              <a:ea typeface="SimSun" panose="02010600030101010101" pitchFamily="2" charset="-122"/>
            </a:endParaRPr>
          </a:p>
          <a:p>
            <a:pPr lvl="1" algn="l"/>
            <a:r>
              <a:rPr lang="en-US" altLang="zh-CN" sz="2000" dirty="0">
                <a:latin typeface="+mj-lt"/>
                <a:ea typeface="SimSun" panose="02010600030101010101" pitchFamily="2" charset="-122"/>
              </a:rPr>
              <a:t>A </a:t>
            </a:r>
            <a:r>
              <a:rPr lang="en-US" altLang="zh-CN" sz="2000" u="sng" dirty="0">
                <a:latin typeface="+mj-lt"/>
                <a:ea typeface="SimSun" panose="02010600030101010101" pitchFamily="2" charset="-122"/>
              </a:rPr>
              <a:t>clustering</a:t>
            </a:r>
            <a:r>
              <a:rPr lang="en-US" altLang="zh-CN" sz="2000" dirty="0">
                <a:latin typeface="+mj-lt"/>
                <a:ea typeface="SimSun" panose="02010600030101010101" pitchFamily="2" charset="-122"/>
              </a:rPr>
              <a:t> of the data objects is obtained by </a:t>
            </a:r>
            <a:r>
              <a:rPr lang="en-US" altLang="zh-CN" sz="2000" u="sng" dirty="0">
                <a:latin typeface="+mj-lt"/>
                <a:ea typeface="SimSun" panose="02010600030101010101" pitchFamily="2" charset="-122"/>
              </a:rPr>
              <a:t>cutting</a:t>
            </a:r>
            <a:r>
              <a:rPr lang="en-US" altLang="zh-CN" sz="2000" dirty="0">
                <a:latin typeface="+mj-lt"/>
                <a:ea typeface="SimSun" panose="02010600030101010101" pitchFamily="2" charset="-122"/>
              </a:rPr>
              <a:t> the dendrogram at the desired level, then each </a:t>
            </a:r>
            <a:r>
              <a:rPr lang="en-US" altLang="zh-CN" sz="2000" u="sng" dirty="0">
                <a:latin typeface="+mj-lt"/>
                <a:ea typeface="SimSun" panose="02010600030101010101" pitchFamily="2" charset="-122"/>
              </a:rPr>
              <a:t>connected component</a:t>
            </a:r>
            <a:r>
              <a:rPr lang="en-US" altLang="zh-CN" sz="2000" dirty="0">
                <a:latin typeface="+mj-lt"/>
                <a:ea typeface="SimSun" panose="02010600030101010101" pitchFamily="2" charset="-122"/>
              </a:rPr>
              <a:t> forms a cluster</a:t>
            </a:r>
          </a:p>
        </p:txBody>
      </p:sp>
      <p:sp>
        <p:nvSpPr>
          <p:cNvPr id="28715" name="Slide Number Placeholder 45">
            <a:extLst>
              <a:ext uri="{FF2B5EF4-FFF2-40B4-BE49-F238E27FC236}">
                <a16:creationId xmlns:a16="http://schemas.microsoft.com/office/drawing/2014/main" id="{56076810-DB3E-4AB5-8A02-2D796F8971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15FAC14-DAB7-4665-944E-359CEB418882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"/>
          <p:cNvSpPr txBox="1">
            <a:spLocks noGrp="1"/>
          </p:cNvSpPr>
          <p:nvPr>
            <p:ph type="sldNum" idx="12"/>
          </p:nvPr>
        </p:nvSpPr>
        <p:spPr>
          <a:xfrm>
            <a:off x="1905000" y="6251575"/>
            <a:ext cx="5867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2" name="Google Shape;262;p28"/>
          <p:cNvSpPr txBox="1">
            <a:spLocks noGrp="1"/>
          </p:cNvSpPr>
          <p:nvPr>
            <p:ph type="title"/>
          </p:nvPr>
        </p:nvSpPr>
        <p:spPr>
          <a:xfrm>
            <a:off x="571500" y="850949"/>
            <a:ext cx="8001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Matrix and Dissimilarity Matrix</a:t>
            </a:r>
            <a:endParaRPr dirty="0"/>
          </a:p>
        </p:txBody>
      </p:sp>
      <p:sp>
        <p:nvSpPr>
          <p:cNvPr id="263" name="Google Shape;263;p28"/>
          <p:cNvSpPr txBox="1">
            <a:spLocks noGrp="1"/>
          </p:cNvSpPr>
          <p:nvPr>
            <p:ph type="body" idx="1"/>
          </p:nvPr>
        </p:nvSpPr>
        <p:spPr>
          <a:xfrm>
            <a:off x="457200" y="1676400"/>
            <a:ext cx="396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spcBef>
                <a:spcPts val="0"/>
              </a:spcBef>
              <a:spcAft>
                <a:spcPts val="0"/>
              </a:spcAft>
              <a:buSzPts val="2400"/>
              <a:buChar char="□"/>
            </a:pPr>
            <a:r>
              <a:rPr lang="en-US" sz="2400" dirty="0">
                <a:solidFill>
                  <a:schemeClr val="hlink"/>
                </a:solidFill>
              </a:rPr>
              <a:t>Data matrix</a:t>
            </a:r>
            <a:endParaRPr dirty="0"/>
          </a:p>
          <a:p>
            <a:pPr marL="908050" lvl="1" indent="-436563" algn="l" rtl="0">
              <a:spcBef>
                <a:spcPts val="48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/>
              <a:t>n data points with p dimensions</a:t>
            </a:r>
            <a:endParaRPr dirty="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 dirty="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 dirty="0"/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 dirty="0">
                <a:solidFill>
                  <a:schemeClr val="hlink"/>
                </a:solidFill>
              </a:rPr>
              <a:t>Dissimilarity matrix</a:t>
            </a:r>
            <a:endParaRPr dirty="0"/>
          </a:p>
          <a:p>
            <a:pPr marL="908050" lvl="1" indent="-436563" algn="l" rtl="0">
              <a:spcBef>
                <a:spcPts val="48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/>
              <a:t>n data points, but registers only the distance </a:t>
            </a:r>
            <a:endParaRPr dirty="0"/>
          </a:p>
          <a:p>
            <a:pPr marL="908050" lvl="1" indent="-436563" algn="l" rtl="0">
              <a:spcBef>
                <a:spcPts val="48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/>
              <a:t>A triangular matrix</a:t>
            </a:r>
            <a:endParaRPr dirty="0"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3710" y="1905000"/>
            <a:ext cx="3124200" cy="205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0885" y="4541886"/>
            <a:ext cx="3429000" cy="1970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>
            <a:spLocks noGrp="1"/>
          </p:cNvSpPr>
          <p:nvPr>
            <p:ph type="sldNum" idx="1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1" name="Google Shape;281;p30"/>
          <p:cNvSpPr txBox="1">
            <a:spLocks noGrp="1"/>
          </p:cNvSpPr>
          <p:nvPr>
            <p:ph type="title"/>
          </p:nvPr>
        </p:nvSpPr>
        <p:spPr>
          <a:xfrm>
            <a:off x="294821" y="797718"/>
            <a:ext cx="8610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tx1"/>
                </a:solidFill>
              </a:rPr>
              <a:t>Proximity Measure for Binary Attributes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82" name="Google Shape;282;p30"/>
          <p:cNvSpPr txBox="1">
            <a:spLocks noGrp="1"/>
          </p:cNvSpPr>
          <p:nvPr>
            <p:ph type="body" idx="1"/>
          </p:nvPr>
        </p:nvSpPr>
        <p:spPr>
          <a:xfrm>
            <a:off x="-30161" y="1929493"/>
            <a:ext cx="4000498" cy="431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469900" lvl="0" indent="-469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</a:pPr>
            <a:r>
              <a:rPr lang="en-US" sz="2000" dirty="0"/>
              <a:t>A contingency table for binary data</a:t>
            </a:r>
            <a:endParaRPr dirty="0"/>
          </a:p>
          <a:p>
            <a:pPr marL="469900" lvl="0" indent="-3429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 dirty="0"/>
          </a:p>
          <a:p>
            <a:pPr marL="469900" lvl="0" indent="-4699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□"/>
            </a:pPr>
            <a:r>
              <a:rPr lang="en-US" sz="2000" dirty="0"/>
              <a:t>Distance measure for symmetric binary variables: </a:t>
            </a:r>
            <a:endParaRPr dirty="0"/>
          </a:p>
          <a:p>
            <a:pPr marL="469900" lvl="0" indent="-4699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□"/>
            </a:pPr>
            <a:r>
              <a:rPr lang="en-US" sz="2000" dirty="0"/>
              <a:t>Distance measure for asymmetric binary variables: </a:t>
            </a:r>
            <a:endParaRPr dirty="0"/>
          </a:p>
          <a:p>
            <a:pPr marL="469900" lvl="0" indent="-4699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000"/>
              <a:buChar char="□"/>
            </a:pPr>
            <a:r>
              <a:rPr lang="en-US" sz="2000" dirty="0"/>
              <a:t>Jaccard coefficient (</a:t>
            </a:r>
            <a:r>
              <a:rPr lang="en-US" sz="2000" i="1" dirty="0">
                <a:solidFill>
                  <a:schemeClr val="hlink"/>
                </a:solidFill>
              </a:rPr>
              <a:t>similarity</a:t>
            </a:r>
            <a:r>
              <a:rPr lang="en-US" sz="2000" dirty="0"/>
              <a:t> measure for </a:t>
            </a:r>
            <a:r>
              <a:rPr lang="en-US" sz="2000" i="1" dirty="0"/>
              <a:t>asymmetric </a:t>
            </a:r>
            <a:r>
              <a:rPr lang="en-US" sz="2000" dirty="0"/>
              <a:t>binary variables): </a:t>
            </a:r>
            <a:endParaRPr dirty="0"/>
          </a:p>
        </p:txBody>
      </p:sp>
      <p:pic>
        <p:nvPicPr>
          <p:cNvPr id="284" name="Google Shape;284;p30" descr="eqjaccar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4229" y="5283199"/>
            <a:ext cx="4139292" cy="60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5" name="Google Shape;285;p30"/>
          <p:cNvGrpSpPr/>
          <p:nvPr/>
        </p:nvGrpSpPr>
        <p:grpSpPr>
          <a:xfrm>
            <a:off x="6400800" y="2693537"/>
            <a:ext cx="381000" cy="233362"/>
            <a:chOff x="0" y="0"/>
            <a:chExt cx="381000" cy="233362"/>
          </a:xfrm>
        </p:grpSpPr>
        <p:sp>
          <p:nvSpPr>
            <p:cNvPr id="286" name="Google Shape;286;p30"/>
            <p:cNvSpPr/>
            <p:nvPr/>
          </p:nvSpPr>
          <p:spPr>
            <a:xfrm>
              <a:off x="127000" y="0"/>
              <a:ext cx="127000" cy="77787"/>
            </a:xfrm>
            <a:prstGeom prst="trapezoid">
              <a:avLst>
                <a:gd name="adj" fmla="val 81632"/>
              </a:avLst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0"/>
            <p:cNvSpPr txBox="1"/>
            <p:nvPr/>
          </p:nvSpPr>
          <p:spPr>
            <a:xfrm>
              <a:off x="127000" y="0"/>
              <a:ext cx="127000" cy="777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350" tIns="6350" rIns="6350" bIns="63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Verdana"/>
                <a:buNone/>
              </a:pPr>
              <a:endParaRPr sz="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63500" y="77787"/>
              <a:ext cx="254000" cy="77787"/>
            </a:xfrm>
            <a:prstGeom prst="trapezoid">
              <a:avLst>
                <a:gd name="adj" fmla="val 81632"/>
              </a:avLst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0"/>
            <p:cNvSpPr txBox="1"/>
            <p:nvPr/>
          </p:nvSpPr>
          <p:spPr>
            <a:xfrm>
              <a:off x="107950" y="77787"/>
              <a:ext cx="165100" cy="777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350" tIns="6350" rIns="6350" bIns="63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Verdana"/>
                <a:buNone/>
              </a:pPr>
              <a:endParaRPr sz="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0" y="155575"/>
              <a:ext cx="381000" cy="77787"/>
            </a:xfrm>
            <a:prstGeom prst="trapezoid">
              <a:avLst>
                <a:gd name="adj" fmla="val 81632"/>
              </a:avLst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0"/>
            <p:cNvSpPr txBox="1"/>
            <p:nvPr/>
          </p:nvSpPr>
          <p:spPr>
            <a:xfrm>
              <a:off x="66674" y="155575"/>
              <a:ext cx="247650" cy="777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350" tIns="6350" rIns="6350" bIns="63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Verdana"/>
                <a:buNone/>
              </a:pPr>
              <a:endParaRPr sz="5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pic>
        <p:nvPicPr>
          <p:cNvPr id="292" name="Google Shape;292;p30" descr="eqbinarysy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0121" y="3463924"/>
            <a:ext cx="33528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0" descr="eqbinaryasym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53000" y="4310745"/>
            <a:ext cx="2833460" cy="629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0" descr="eqcontingency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53000" y="1929494"/>
            <a:ext cx="396240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0"/>
          <p:cNvSpPr txBox="1"/>
          <p:nvPr/>
        </p:nvSpPr>
        <p:spPr>
          <a:xfrm>
            <a:off x="3989387" y="2365263"/>
            <a:ext cx="963613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Object </a:t>
            </a:r>
            <a:r>
              <a:rPr lang="en-US" sz="1800" i="1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endParaRPr sz="18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7" name="Google Shape;297;p30"/>
          <p:cNvSpPr txBox="1"/>
          <p:nvPr/>
        </p:nvSpPr>
        <p:spPr>
          <a:xfrm>
            <a:off x="6591299" y="1614488"/>
            <a:ext cx="976313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Object </a:t>
            </a:r>
            <a:r>
              <a:rPr lang="en-US" sz="1800" i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</a:t>
            </a:r>
            <a:endParaRPr sz="18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>
            <a:spLocks noGrp="1"/>
          </p:cNvSpPr>
          <p:nvPr>
            <p:ph type="sldNum" idx="12"/>
          </p:nvPr>
        </p:nvSpPr>
        <p:spPr>
          <a:xfrm>
            <a:off x="1905000" y="6251575"/>
            <a:ext cx="5867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4" name="Google Shape;304;p31"/>
          <p:cNvSpPr txBox="1">
            <a:spLocks noGrp="1"/>
          </p:cNvSpPr>
          <p:nvPr>
            <p:ph type="title"/>
          </p:nvPr>
        </p:nvSpPr>
        <p:spPr>
          <a:xfrm>
            <a:off x="304800" y="603250"/>
            <a:ext cx="863123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Dissimilarity between Binary Variables</a:t>
            </a:r>
            <a:endParaRPr dirty="0"/>
          </a:p>
        </p:txBody>
      </p:sp>
      <p:sp>
        <p:nvSpPr>
          <p:cNvPr id="305" name="Google Shape;305;p31"/>
          <p:cNvSpPr txBox="1">
            <a:spLocks noGrp="1"/>
          </p:cNvSpPr>
          <p:nvPr>
            <p:ph type="body" idx="1"/>
          </p:nvPr>
        </p:nvSpPr>
        <p:spPr>
          <a:xfrm>
            <a:off x="304800" y="1679575"/>
            <a:ext cx="8382000" cy="494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spcBef>
                <a:spcPts val="0"/>
              </a:spcBef>
              <a:spcAft>
                <a:spcPts val="0"/>
              </a:spcAft>
              <a:buSzPts val="2400"/>
              <a:buChar char="□"/>
            </a:pPr>
            <a:r>
              <a:rPr lang="en-US" sz="2400" dirty="0"/>
              <a:t>Example</a:t>
            </a:r>
            <a:endParaRPr dirty="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 dirty="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 dirty="0"/>
          </a:p>
          <a:p>
            <a:pPr marL="908050" lvl="1" indent="-284163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 dirty="0"/>
          </a:p>
          <a:p>
            <a:pPr marL="908050" lvl="1" indent="-309563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 dirty="0"/>
          </a:p>
          <a:p>
            <a:pPr marL="908050" lvl="1" indent="-436563" algn="l" rtl="0"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 sz="2000" dirty="0"/>
              <a:t>Gender is a symmetric attribute</a:t>
            </a:r>
            <a:endParaRPr dirty="0"/>
          </a:p>
          <a:p>
            <a:pPr marL="908050" lvl="1" indent="-436563" algn="l" rtl="0"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 sz="2000" dirty="0"/>
              <a:t>The remaining attributes are asymmetric binary</a:t>
            </a:r>
            <a:endParaRPr dirty="0"/>
          </a:p>
          <a:p>
            <a:pPr marL="908050" lvl="1" indent="-436563" algn="l" rtl="0">
              <a:spcBef>
                <a:spcPts val="400"/>
              </a:spcBef>
              <a:spcAft>
                <a:spcPts val="0"/>
              </a:spcAft>
              <a:buSzPts val="2000"/>
              <a:buChar char="■"/>
            </a:pPr>
            <a:r>
              <a:rPr lang="en-US" sz="2000" dirty="0"/>
              <a:t>Let the values Y and P be 1, and the value N be 0</a:t>
            </a:r>
            <a:endParaRPr dirty="0"/>
          </a:p>
        </p:txBody>
      </p:sp>
      <p:graphicFrame>
        <p:nvGraphicFramePr>
          <p:cNvPr id="306" name="Google Shape;306;p31"/>
          <p:cNvGraphicFramePr/>
          <p:nvPr/>
        </p:nvGraphicFramePr>
        <p:xfrm>
          <a:off x="1154112" y="2213428"/>
          <a:ext cx="693261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932613" imgH="1600200" progId="Word.Document.8">
                  <p:embed/>
                </p:oleObj>
              </mc:Choice>
              <mc:Fallback>
                <p:oleObj r:id="rId3" imgW="6932613" imgH="1600200" progId="Word.Document.8">
                  <p:embed/>
                  <p:pic>
                    <p:nvPicPr>
                      <p:cNvPr id="306" name="Google Shape;306;p3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154112" y="2213428"/>
                        <a:ext cx="6932613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" name="Google Shape;30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57400" y="4937125"/>
            <a:ext cx="4191000" cy="1692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84E6AA7-2372-48D1-BF1C-23BE88C4A2E1}"/>
              </a:ext>
            </a:extLst>
          </p:cNvPr>
          <p:cNvSpPr/>
          <p:nvPr/>
        </p:nvSpPr>
        <p:spPr>
          <a:xfrm>
            <a:off x="4209143" y="4937125"/>
            <a:ext cx="2017486" cy="56832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068216-B68E-FB42-0E5D-CAE730EE8BEE}"/>
              </a:ext>
            </a:extLst>
          </p:cNvPr>
          <p:cNvSpPr/>
          <p:nvPr/>
        </p:nvSpPr>
        <p:spPr>
          <a:xfrm>
            <a:off x="3962400" y="5505450"/>
            <a:ext cx="2017486" cy="56832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D29AB2-5048-7D93-8760-3112F99D1275}"/>
              </a:ext>
            </a:extLst>
          </p:cNvPr>
          <p:cNvSpPr/>
          <p:nvPr/>
        </p:nvSpPr>
        <p:spPr>
          <a:xfrm>
            <a:off x="4152900" y="6110287"/>
            <a:ext cx="2017486" cy="568325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3ef6bfa53d7ad97891e6c05c179b4e5e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dbe76485fd55a43069722ab0be0dcc2c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416AC1-E9F4-454B-B8CC-27133D9CD650}"/>
</file>

<file path=customXml/itemProps2.xml><?xml version="1.0" encoding="utf-8"?>
<ds:datastoreItem xmlns:ds="http://schemas.openxmlformats.org/officeDocument/2006/customXml" ds:itemID="{4A020F05-7C07-4313-9261-58388692553F}"/>
</file>

<file path=customXml/itemProps3.xml><?xml version="1.0" encoding="utf-8"?>
<ds:datastoreItem xmlns:ds="http://schemas.openxmlformats.org/officeDocument/2006/customXml" ds:itemID="{0C53C54A-DDCF-4CB7-99F9-1FDEB2E466B6}"/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458</Words>
  <Application>Microsoft Office PowerPoint</Application>
  <PresentationFormat>On-screen Show (4:3)</PresentationFormat>
  <Paragraphs>99</Paragraphs>
  <Slides>12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SimSun</vt:lpstr>
      <vt:lpstr>Arial</vt:lpstr>
      <vt:lpstr>Minion-Italic</vt:lpstr>
      <vt:lpstr>Minion-Regular</vt:lpstr>
      <vt:lpstr>Noto Sans Symbols</vt:lpstr>
      <vt:lpstr>RMTMI</vt:lpstr>
      <vt:lpstr>Tahoma</vt:lpstr>
      <vt:lpstr>Times New Roman</vt:lpstr>
      <vt:lpstr>Verdana</vt:lpstr>
      <vt:lpstr>Profile</vt:lpstr>
      <vt:lpstr>Microsoft Word 97 - 2003 Document</vt:lpstr>
      <vt:lpstr>Artificial Intelligence</vt:lpstr>
      <vt:lpstr>Learning objectives</vt:lpstr>
      <vt:lpstr>Unsupervised learning</vt:lpstr>
      <vt:lpstr>Clustering</vt:lpstr>
      <vt:lpstr>K-Means clustering</vt:lpstr>
      <vt:lpstr>PowerPoint Presentation</vt:lpstr>
      <vt:lpstr>Comments on the K-Means Method</vt:lpstr>
      <vt:lpstr>Hierarchical Clustering</vt:lpstr>
      <vt:lpstr>PowerPoint Presentation</vt:lpstr>
      <vt:lpstr>Data Matrix and Dissimilarity Matrix</vt:lpstr>
      <vt:lpstr>Proximity Measure for Binary Attributes</vt:lpstr>
      <vt:lpstr>Dissimilarity between Binary Variables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Onaiza Maqbool</dc:creator>
  <cp:lastModifiedBy>Onaiza Maqbool</cp:lastModifiedBy>
  <cp:revision>33</cp:revision>
  <cp:lastPrinted>2025-10-02T08:35:56Z</cp:lastPrinted>
  <dcterms:created xsi:type="dcterms:W3CDTF">1601-01-01T00:00:00Z</dcterms:created>
  <dcterms:modified xsi:type="dcterms:W3CDTF">2025-10-29T06:04:18Z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