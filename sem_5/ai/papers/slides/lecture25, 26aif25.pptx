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9"/>
  </p:notesMasterIdLst>
  <p:sldIdLst>
    <p:sldId id="256" r:id="rId5"/>
    <p:sldId id="257" r:id="rId6"/>
    <p:sldId id="290" r:id="rId7"/>
    <p:sldId id="302" r:id="rId8"/>
    <p:sldId id="303" r:id="rId9"/>
    <p:sldId id="304" r:id="rId10"/>
    <p:sldId id="312" r:id="rId11"/>
    <p:sldId id="338" r:id="rId12"/>
    <p:sldId id="311" r:id="rId13"/>
    <p:sldId id="315" r:id="rId14"/>
    <p:sldId id="317" r:id="rId15"/>
    <p:sldId id="318" r:id="rId16"/>
    <p:sldId id="319" r:id="rId17"/>
    <p:sldId id="321" r:id="rId18"/>
    <p:sldId id="320" r:id="rId19"/>
    <p:sldId id="323" r:id="rId20"/>
    <p:sldId id="324" r:id="rId21"/>
    <p:sldId id="326" r:id="rId22"/>
    <p:sldId id="327" r:id="rId23"/>
    <p:sldId id="330" r:id="rId24"/>
    <p:sldId id="328" r:id="rId25"/>
    <p:sldId id="329" r:id="rId26"/>
    <p:sldId id="348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9" r:id="rId35"/>
    <p:sldId id="341" r:id="rId36"/>
    <p:sldId id="340" r:id="rId37"/>
    <p:sldId id="342" r:id="rId3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9iaSeCi0pGDfzrBU1B9sbSGO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22, 23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Session#25, 26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basic terminology related to Markov decision processes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basic terminology related to reinforcement learning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453BB-8192-CFE8-AE65-9C1479D2E3F1}"/>
              </a:ext>
            </a:extLst>
          </p:cNvPr>
          <p:cNvSpPr txBox="1"/>
          <p:nvPr/>
        </p:nvSpPr>
        <p:spPr>
          <a:xfrm>
            <a:off x="2286000" y="32789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20" name="Google Shape;220;p4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Model types</a:t>
            </a:r>
            <a:endParaRPr dirty="0"/>
          </a:p>
        </p:txBody>
      </p:sp>
      <p:sp>
        <p:nvSpPr>
          <p:cNvPr id="221" name="Google Shape;221;p4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dirty="0"/>
              <a:t>Four types in order of increasing generality: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Simple reflex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State-based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Variable-based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Logic-based models</a:t>
            </a: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Reflex 	State-based	  Variable		Logic</a:t>
            </a:r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	- </a:t>
            </a:r>
            <a:r>
              <a:rPr lang="en-US" sz="1600" dirty="0"/>
              <a:t>Search-based	   - Constraint satisfaction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Markov decision   	   - Bayesian networks	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Adversarial</a:t>
            </a:r>
            <a:endParaRPr sz="1600" dirty="0"/>
          </a:p>
          <a:p>
            <a:pPr marL="2571750" lvl="5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22" name="Google Shape;222;p44"/>
          <p:cNvSpPr/>
          <p:nvPr/>
        </p:nvSpPr>
        <p:spPr>
          <a:xfrm>
            <a:off x="1106129" y="4262284"/>
            <a:ext cx="6990736" cy="41295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44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44" descr="Image result for pattern recognition c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129" y="3548053"/>
            <a:ext cx="1120340" cy="76677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4" descr="Image result for chess"/>
          <p:cNvSpPr/>
          <p:nvPr/>
        </p:nvSpPr>
        <p:spPr>
          <a:xfrm>
            <a:off x="4419600" y="3276600"/>
            <a:ext cx="1671484" cy="167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4" descr="Image result for chess"/>
          <p:cNvSpPr/>
          <p:nvPr/>
        </p:nvSpPr>
        <p:spPr>
          <a:xfrm>
            <a:off x="4419599" y="3276599"/>
            <a:ext cx="2210875" cy="221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3331" y="3565062"/>
            <a:ext cx="995518" cy="74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4004" y="3303032"/>
            <a:ext cx="939522" cy="93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1194-5638-12C1-6644-2B5892E4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94E3-81C1-5B1B-2E50-F28EC0288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get home from the University in the least amount of time?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University bus</a:t>
            </a:r>
          </a:p>
          <a:p>
            <a:pPr lvl="1"/>
            <a:r>
              <a:rPr lang="en-US" dirty="0" err="1"/>
              <a:t>Indrive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Indrive+Metro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0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50A0-3C39-451F-544E-57825A70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far: search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1D746-EDB2-E1F8-1D47-03CCC2E9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7569361" cy="388878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successor state was unique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BD791-1AB6-8107-79EB-93668BFAD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901" y="1752601"/>
            <a:ext cx="6183313" cy="37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0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949C-A420-E9A8-A211-621D1FFF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real world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2CDE8-1E94-E59C-EDF0-DDF0C91FC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deterministic successor assumption is often unrealistic</a:t>
            </a:r>
          </a:p>
          <a:p>
            <a:pPr lvl="1"/>
            <a:r>
              <a:rPr lang="en-US" dirty="0"/>
              <a:t>there is randomness</a:t>
            </a:r>
          </a:p>
          <a:p>
            <a:pPr lvl="1"/>
            <a:r>
              <a:rPr lang="en-US" dirty="0"/>
              <a:t>taking an action might lead to any one of many possible states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Can we hope to act optimally in the face of randomness? </a:t>
            </a:r>
          </a:p>
          <a:p>
            <a:pPr marL="5715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DB2D8-7D02-91C4-719E-221573DEC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595" y="3937135"/>
            <a:ext cx="6388810" cy="196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5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7B71-407A-6D53-B70C-25EAB47C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FCBCD-1CB9-340C-0017-25F7803A3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transition distribution T, which specifies for each state </a:t>
            </a:r>
            <a:r>
              <a:rPr lang="en-US" i="1" dirty="0"/>
              <a:t>s</a:t>
            </a:r>
            <a:r>
              <a:rPr lang="en-US" dirty="0"/>
              <a:t> and action </a:t>
            </a:r>
            <a:r>
              <a:rPr lang="en-US" i="1" dirty="0"/>
              <a:t>a</a:t>
            </a:r>
            <a:r>
              <a:rPr lang="en-US" dirty="0"/>
              <a:t>, a distribution over possible successor states </a:t>
            </a:r>
            <a:r>
              <a:rPr lang="en-US" i="1" dirty="0"/>
              <a:t>s’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F08BC-6236-B788-6F2A-6E299DA48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93" y="1752600"/>
            <a:ext cx="6620951" cy="309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34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81F6-760E-EB13-917F-7E1477C5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5B172-69F6-847E-70FC-70F18647F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2F0A5-E226-47E6-A25A-A80429D4C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62" y="2140398"/>
            <a:ext cx="6524152" cy="257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9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20CD-68AB-1E2E-127F-70C756498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39982-8060-DEEC-25D3-3D0609353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r>
              <a:rPr lang="en-US" sz="2000" dirty="0"/>
              <a:t>Edges coming out of states are the possible actions from that state, which lead to chance nodes</a:t>
            </a:r>
          </a:p>
          <a:p>
            <a:r>
              <a:rPr lang="en-US" sz="2000" dirty="0"/>
              <a:t>Edges coming out of a chance nodes are the possible random outcomes of that action, which end up back in states</a:t>
            </a:r>
          </a:p>
          <a:p>
            <a:r>
              <a:rPr lang="en-US" sz="2000" dirty="0"/>
              <a:t>Convention is to label the chance-to-state edges with the probability of a particular transition and the associated reward for traversing that edge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DCAED-1F71-628E-FF47-D6237459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97" y="1752600"/>
            <a:ext cx="39814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56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4F45-0177-660F-C517-AFFE5A6A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D7E93-965C-C592-AA71-A084E9563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83A6F-319D-CF33-EB21-14055A298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034" y="1718430"/>
            <a:ext cx="6502408" cy="3584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98C7E6-E344-B951-034C-E95623924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754" y="82046"/>
            <a:ext cx="2727702" cy="16705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26186F-47E7-F497-6C99-09A3EC6C6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107" y="5337176"/>
            <a:ext cx="3774135" cy="118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4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E544-25BF-0A8F-B7FC-B60C830D0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1DE0F-53D1-0289-4F06-F42D04DAF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Generally, the number of successors of a given (s, a) is much smaller than the total number of states. For instance, in a search problem, each (s, a) has exactly one successor</a:t>
            </a:r>
          </a:p>
        </p:txBody>
      </p:sp>
    </p:spTree>
    <p:extLst>
      <p:ext uri="{BB962C8B-B14F-4D97-AF65-F5344CB8AC3E}">
        <p14:creationId xmlns:p14="http://schemas.microsoft.com/office/powerpoint/2010/main" val="3293080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6BA9-34FD-CAB3-9CA7-F91569CD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A18EB-26ED-7ED1-B84C-C58B0BDD2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search problems, we were trying to find the minimum cost path</a:t>
            </a:r>
          </a:p>
          <a:p>
            <a:endParaRPr lang="en-US" dirty="0"/>
          </a:p>
          <a:p>
            <a:r>
              <a:rPr lang="en-US" dirty="0"/>
              <a:t>For MDPs, we define a policy, which specifies an action for every single state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A7FE7-65BA-66C8-AC4D-9847BBB27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0" y="4060556"/>
            <a:ext cx="8682280" cy="171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5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4ECF-F6F7-7A2C-7DE3-189D219E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AB4AD-3F79-79F8-666C-E6AFE1B74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Utility is a random variable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A7771-90A9-DEEF-8498-193D8A81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32" y="1740330"/>
            <a:ext cx="7516086" cy="337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01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6918-892F-ECBF-E626-31089BE0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6A1ED-841D-13EB-3AAB-2BBFCB9D6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27DA5-F929-7C58-4C78-8FDA5290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357"/>
          <a:stretch>
            <a:fillRect/>
          </a:stretch>
        </p:blipFill>
        <p:spPr>
          <a:xfrm>
            <a:off x="1013605" y="1981200"/>
            <a:ext cx="7107266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A2A5-FA22-922F-0EC5-9E4EC121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C3D6D-34C3-831A-3807-E3E866855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r>
              <a:rPr lang="en-US" dirty="0"/>
              <a:t>We want to maximize the total rewards (utility) - but can we maximize a random quantity?</a:t>
            </a:r>
          </a:p>
          <a:p>
            <a:endParaRPr lang="en-US" sz="800" dirty="0"/>
          </a:p>
          <a:p>
            <a:r>
              <a:rPr lang="en-US" dirty="0"/>
              <a:t>Instead, maximize the expected utility, which is referred to as value (of a policy) </a:t>
            </a:r>
          </a:p>
          <a:p>
            <a:endParaRPr lang="en-US" sz="800" dirty="0"/>
          </a:p>
          <a:p>
            <a:r>
              <a:rPr lang="en-US" dirty="0"/>
              <a:t>Value=E[U]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2D703-DA2B-7E49-72C3-5CD7CD3F4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8" y="1752600"/>
            <a:ext cx="67818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78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3297-E13A-5BF7-7B36-A637413C7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B3832-74DA-1008-48D7-0A59509F7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AD668-B72D-14DF-D59C-9A5B3631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5" y="1978025"/>
            <a:ext cx="8432801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80F80-CF6D-A373-1ED7-5D97C8A4E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97" y="4096127"/>
            <a:ext cx="8594739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5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AFB3-86D0-3CEC-1457-146AB00D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5F931-E648-5076-BE58-5D5E3A026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0213B-0B3A-DEFD-A70F-4945AE5F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60" y="1837404"/>
            <a:ext cx="7793629" cy="1591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EC3CE-4DB8-422A-7736-2DF440C3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9" y="3639315"/>
            <a:ext cx="7464598" cy="238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00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6C44-62CC-8561-F5B4-A22E86C1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 for Dice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87A46-5AF7-48EA-D108-7FDF6F37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6881" y="1723054"/>
            <a:ext cx="3332135" cy="4296746"/>
          </a:xfrm>
        </p:spPr>
        <p:txBody>
          <a:bodyPr/>
          <a:lstStyle/>
          <a:p>
            <a:r>
              <a:rPr lang="en-US" dirty="0"/>
              <a:t>Do policy evaluation for all states</a:t>
            </a:r>
          </a:p>
          <a:p>
            <a:endParaRPr lang="en-US" dirty="0"/>
          </a:p>
          <a:p>
            <a:r>
              <a:rPr lang="en-US" dirty="0"/>
              <a:t>Simple in this case because of only two states</a:t>
            </a:r>
          </a:p>
          <a:p>
            <a:endParaRPr lang="en-US" dirty="0"/>
          </a:p>
          <a:p>
            <a:r>
              <a:rPr lang="en-US" dirty="0"/>
              <a:t>The value of end state is known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3A207-B17A-1F5F-8673-9A8FC5C6D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33" y="4516785"/>
            <a:ext cx="5406529" cy="1503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5A0B1-EE6E-DADD-3684-D1FF449BE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1723054"/>
            <a:ext cx="3750590" cy="273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59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800E-878C-1F20-AA34-8E08A7F4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7E07B-A581-7530-752D-D8C76124F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48783-D52A-D276-BFF8-2C1F47157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41" y="1719236"/>
            <a:ext cx="6874022" cy="134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51602D-035D-0705-03EC-51894FDFA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745" y="3101125"/>
            <a:ext cx="6559165" cy="295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00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EE25-3178-E076-E94B-51F5FD5E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 on dice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F99AD-9A7C-4270-B9D6-FE9D9C01A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AC0E3-E48E-7025-1BD1-1AF98084E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21" y="1728115"/>
            <a:ext cx="6472157" cy="421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A3699-AE35-FA87-5418-03590016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DAE59-8DF7-A4AD-D81A-FE289866F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35943-0EF7-5C1D-8BEF-BD41C769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65" y="1875295"/>
            <a:ext cx="7360920" cy="360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20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DF64-D75E-2BC3-E672-705BE2EC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9E880-4B4D-B410-79C0-1965F6396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E5457-3F57-C23F-B50B-3D6780871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292" y="1654709"/>
            <a:ext cx="5188870" cy="449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32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B019-F5B2-B7E8-0326-666E93FB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9BE70-FEAC-96A0-D98E-0CE20DBA9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 algn="ctr">
              <a:buNone/>
            </a:pPr>
            <a:r>
              <a:rPr lang="en-US" sz="2800" dirty="0"/>
              <a:t>Session # 26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253967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F803-54B9-590E-97B2-D42F2096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Value and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9BB25-1BD3-BDA8-3FA7-4AA9599B9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99A53-6222-8601-D13E-0AE506A48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26" y="1752600"/>
            <a:ext cx="7619224" cy="15500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68830F-9E0A-D004-80EB-D04A4454E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3886200"/>
            <a:ext cx="516255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71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0591-D72B-2692-B6D1-E8BD5BB3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237B0-C872-75DB-DAF1-C3AB9CE5E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A8267-5204-A1D5-40C5-054600054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88" y="1752600"/>
            <a:ext cx="736552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26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A5EB-AA88-9BD9-1885-1ACF57AF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9AA4-48C9-CBDA-7B1A-811A8394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7CC47-33CC-E051-7676-0BB4F2479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C3FDE-1E06-D0F3-F5F9-9263DBE47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1709737"/>
            <a:ext cx="7705725" cy="343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90ADB-EBA6-11A6-EB2B-760073D46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985" y="5380037"/>
            <a:ext cx="26955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91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A7D2-2D26-83C0-F0A1-1B77A1BF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0EE3-7BDD-7E27-0CC0-AA878A96D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E148B-1071-F306-1248-77BC13898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69" y="1921790"/>
            <a:ext cx="7927406" cy="246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31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10CC-5D02-D39D-88BD-42D319D0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18C50-0B1C-6205-2D23-95962CADB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3CEDD9-4AA8-B4C7-91BD-F2806A757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93" y="1752600"/>
            <a:ext cx="6620951" cy="309022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059D77-2E4D-8C31-EEC5-BE59321F4C3B}"/>
              </a:ext>
            </a:extLst>
          </p:cNvPr>
          <p:cNvCxnSpPr/>
          <p:nvPr/>
        </p:nvCxnSpPr>
        <p:spPr>
          <a:xfrm>
            <a:off x="976393" y="3448373"/>
            <a:ext cx="503694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809B1F-53BB-59B3-2264-8A6B80342FC2}"/>
              </a:ext>
            </a:extLst>
          </p:cNvPr>
          <p:cNvCxnSpPr/>
          <p:nvPr/>
        </p:nvCxnSpPr>
        <p:spPr>
          <a:xfrm>
            <a:off x="976393" y="3895241"/>
            <a:ext cx="503694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768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1B20-E8B2-CB13-06F4-8C4DBB5B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E86B6-01DE-4287-5D3C-1CB1CCD62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080C2-3C2A-CBD4-55FF-CB9A5FAD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75" y="2371240"/>
            <a:ext cx="7828200" cy="248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50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B2F0-C8EE-D56B-C736-3B104E88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895D6-3780-E2A8-9B8A-FA7BF47B0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E80FC-DFAD-FD67-AA74-AFF51D023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785" y="1860320"/>
            <a:ext cx="5215363" cy="402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43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0ED4-0242-E9F2-3DC6-F484E8FB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Monte Carlo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08E53-C568-3661-E7EE-BEC245FD1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0DE42-A046-B7E4-A6C7-135DB109A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37" y="1752600"/>
            <a:ext cx="7230076" cy="417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1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AE0AA-3870-48DA-3DA7-99FE0E06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46AD0-55F1-4CD4-DD5E-88C1CD93F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[in; stay,4, in; stay,4, in; stay,4, in; stay,4, end] Prob. ¾, ¼ &amp; r=4</a:t>
            </a:r>
          </a:p>
          <a:p>
            <a:r>
              <a:rPr lang="en-US" dirty="0"/>
              <a:t>[in; stay,4, in; stay,4, end] Prob 4/6, 2/6 </a:t>
            </a:r>
          </a:p>
          <a:p>
            <a:r>
              <a:rPr lang="en-US" dirty="0"/>
              <a:t>[in; stay,4, end] Prob 4/7, 3/7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69E50-FDEC-52EE-5C5D-159F30C562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2" t="28219" r="57288" b="50000"/>
          <a:stretch>
            <a:fillRect/>
          </a:stretch>
        </p:blipFill>
        <p:spPr>
          <a:xfrm>
            <a:off x="1921790" y="1752600"/>
            <a:ext cx="4990454" cy="302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98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50ED-A716-1EC4-42E4-CB972682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125EC-9675-0F09-1506-BC7ECE20B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Estimates converge to true values</a:t>
            </a:r>
          </a:p>
          <a:p>
            <a:r>
              <a:rPr lang="en-US" dirty="0"/>
              <a:t>Once we have the estimated MDP, use it to find </a:t>
            </a:r>
            <a:r>
              <a:rPr lang="en-US" dirty="0" err="1"/>
              <a:t>Q</a:t>
            </a:r>
            <a:r>
              <a:rPr lang="en-US" baseline="-25000" dirty="0" err="1"/>
              <a:t>opt</a:t>
            </a:r>
            <a:endParaRPr lang="en-US" baseline="-250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121468-05E3-7EC5-1242-09768FF7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84" y="1744205"/>
            <a:ext cx="4686168" cy="284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28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E112-4C5B-9388-2DC0-4E7B062E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BAD62-B174-49F9-338E-CC6E4DC63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EBA05-CE1D-0AB6-29D6-4BAB2DBF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16" y="1921790"/>
            <a:ext cx="7336718" cy="180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41403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644e923799dc1d003a52287e229954a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b691a16675d0382ca78dca2ac2d18c61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4D70B4-F686-4916-BE62-D2ACE79CAA4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846CCBA-07AF-4C1B-B011-18180C04D9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0CF6E7-C375-4996-BF70-F33026A84A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d40012-8713-4aa0-b95f-644e1bb378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508</Words>
  <Application>Microsoft Office PowerPoint</Application>
  <PresentationFormat>On-screen Show (4:3)</PresentationFormat>
  <Paragraphs>152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Model types</vt:lpstr>
      <vt:lpstr>PowerPoint Presentation</vt:lpstr>
      <vt:lpstr>So far: search problems</vt:lpstr>
      <vt:lpstr>In the real world</vt:lpstr>
      <vt:lpstr>PowerPoint Presentation</vt:lpstr>
      <vt:lpstr>PowerPoint Presentation</vt:lpstr>
      <vt:lpstr>PowerPoint Presentation</vt:lpstr>
      <vt:lpstr>Transitions</vt:lpstr>
      <vt:lpstr>PowerPoint Presentation</vt:lpstr>
      <vt:lpstr>Solution?</vt:lpstr>
      <vt:lpstr>Evaluating a Policy</vt:lpstr>
      <vt:lpstr>Discounting</vt:lpstr>
      <vt:lpstr>PowerPoint Presentation</vt:lpstr>
      <vt:lpstr>Policy evaluation</vt:lpstr>
      <vt:lpstr>PowerPoint Presentation</vt:lpstr>
      <vt:lpstr>Policy Evaluation for Dice Game</vt:lpstr>
      <vt:lpstr>Policy evaluation</vt:lpstr>
      <vt:lpstr>Policy evaluation on dice game</vt:lpstr>
      <vt:lpstr>Policy evaluation implementation</vt:lpstr>
      <vt:lpstr>PowerPoint Presentation</vt:lpstr>
      <vt:lpstr>PowerPoint Presentation</vt:lpstr>
      <vt:lpstr>Optimal Value and Policy</vt:lpstr>
      <vt:lpstr>PowerPoint Presentation</vt:lpstr>
      <vt:lpstr>Value iteration</vt:lpstr>
      <vt:lpstr>Convergence</vt:lpstr>
      <vt:lpstr>Reinforcement learning</vt:lpstr>
      <vt:lpstr>PowerPoint Presentation</vt:lpstr>
      <vt:lpstr>Reinforcement learning framework</vt:lpstr>
      <vt:lpstr>Model-based Monte Carlo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Saqib Bedar</cp:lastModifiedBy>
  <cp:revision>30</cp:revision>
  <dcterms:created xsi:type="dcterms:W3CDTF">1601-01-01T00:00:00Z</dcterms:created>
  <dcterms:modified xsi:type="dcterms:W3CDTF">2026-01-24T22:55:19Z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