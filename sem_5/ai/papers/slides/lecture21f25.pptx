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3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gtdPCm+BOaPrNuSNu2z3IFLrkt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customschemas.google.com/relationships/presentationmetadata" Target="metadata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0f4589c5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0f4589c5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90f4589c57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/>
            </a:lvl2pPr>
            <a:lvl3pPr marL="1371600" lvl="2" indent="-34925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□"/>
              <a:defRPr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5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74;p58"/>
          <p:cNvSpPr txBox="1"/>
          <p:nvPr/>
        </p:nvSpPr>
        <p:spPr>
          <a:xfrm>
            <a:off x="6400800" y="6308725"/>
            <a:ext cx="23622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Monday, March 28</a:t>
            </a:r>
            <a:r>
              <a:rPr lang="en-US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5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18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Session#21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To enable students to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Understand Informed Search-based strategies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problem (state-based models)</a:t>
            </a:r>
            <a:endParaRPr/>
          </a:p>
        </p:txBody>
      </p:sp>
      <p:sp>
        <p:nvSpPr>
          <p:cNvPr id="93" name="Google Shape;93;p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Model: defined by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>
                <a:solidFill>
                  <a:srgbClr val="FF0000"/>
                </a:solidFill>
              </a:rPr>
              <a:t>states (Initial (Start) state, Goal (Final) state)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>
                <a:solidFill>
                  <a:srgbClr val="FF0000"/>
                </a:solidFill>
              </a:rPr>
              <a:t>actions or successor function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>
                <a:solidFill>
                  <a:srgbClr val="FF0000"/>
                </a:solidFill>
              </a:rPr>
              <a:t>costs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A </a:t>
            </a:r>
            <a:r>
              <a:rPr lang="en-US" sz="2000">
                <a:solidFill>
                  <a:srgbClr val="FF0000"/>
                </a:solidFill>
              </a:rPr>
              <a:t>solution</a:t>
            </a:r>
            <a:r>
              <a:rPr lang="en-US" sz="2000"/>
              <a:t> is a sequence of actions leading from the initial state to a goal state, </a:t>
            </a:r>
            <a:r>
              <a:rPr lang="en-US" sz="2000">
                <a:solidFill>
                  <a:srgbClr val="FF0000"/>
                </a:solidFill>
              </a:rPr>
              <a:t>optimal solution </a:t>
            </a:r>
            <a:r>
              <a:rPr lang="en-US" sz="2000"/>
              <a:t>has the lowest path cost among all solutions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Inference: </a:t>
            </a:r>
            <a:r>
              <a:rPr lang="en-US" sz="2000">
                <a:solidFill>
                  <a:srgbClr val="FF0000"/>
                </a:solidFill>
              </a:rPr>
              <a:t>Algorithms for search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588" y="1778442"/>
            <a:ext cx="76771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7269" y="3000817"/>
            <a:ext cx="2013197" cy="12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 example</a:t>
            </a:r>
            <a:endParaRPr/>
          </a:p>
        </p:txBody>
      </p:sp>
      <p:pic>
        <p:nvPicPr>
          <p:cNvPr id="102" name="Google Shape;102;p4" descr="search-map1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057400"/>
            <a:ext cx="76962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We start from a search node, and check whether it is goal state</a:t>
            </a: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It is not, so more states need to be considered by applying successor function to the current state, thereby generating new states</a:t>
            </a:r>
            <a:endParaRPr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5" descr="search-map2c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2625" y="1889125"/>
            <a:ext cx="7623175" cy="188436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 example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6" descr="search-map3c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2625" y="1889125"/>
            <a:ext cx="8004175" cy="197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 example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81000" y="3581400"/>
            <a:ext cx="81534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continue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Till no more states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Choice of which state to expand is determined by the </a:t>
            </a:r>
            <a:r>
              <a:rPr lang="en-US" sz="2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strategy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 Strategies</a:t>
            </a:r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>
                <a:solidFill>
                  <a:srgbClr val="FF0000"/>
                </a:solidFill>
              </a:rPr>
              <a:t>Informed</a:t>
            </a:r>
            <a:r>
              <a:rPr lang="en-US" sz="2400"/>
              <a:t> search strategies use </a:t>
            </a:r>
            <a:r>
              <a:rPr lang="en-US" sz="2400">
                <a:solidFill>
                  <a:srgbClr val="FF0000"/>
                </a:solidFill>
              </a:rPr>
              <a:t>problem-specific knowledge </a:t>
            </a:r>
            <a:r>
              <a:rPr lang="en-US" sz="2400"/>
              <a:t>and can find solutions more efficiently than uninformed search strategies. </a:t>
            </a:r>
            <a:endParaRPr/>
          </a:p>
          <a:p>
            <a:pPr marL="3429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General Approach</a:t>
            </a:r>
            <a:endParaRPr/>
          </a:p>
          <a:p>
            <a:pPr marL="78105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A node is selected for expansion based on an </a:t>
            </a:r>
            <a:r>
              <a:rPr lang="en-US" sz="2400">
                <a:solidFill>
                  <a:srgbClr val="FF0000"/>
                </a:solidFill>
              </a:rPr>
              <a:t>evaluation function, </a:t>
            </a:r>
            <a:r>
              <a:rPr lang="en-US" sz="2400" i="1">
                <a:solidFill>
                  <a:srgbClr val="FF0000"/>
                </a:solidFill>
              </a:rPr>
              <a:t>f(n)</a:t>
            </a:r>
            <a:endParaRPr/>
          </a:p>
          <a:p>
            <a:pPr marL="78105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000"/>
          </a:p>
          <a:p>
            <a:pPr marL="78105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Traditionally, the node with the </a:t>
            </a:r>
            <a:r>
              <a:rPr lang="en-US" sz="2400">
                <a:solidFill>
                  <a:srgbClr val="FF0000"/>
                </a:solidFill>
              </a:rPr>
              <a:t>lowest evaluation</a:t>
            </a:r>
            <a:r>
              <a:rPr lang="en-US" sz="2400"/>
              <a:t> is selected for expansion, because the evaluation measures distance to the goal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 Strategies</a:t>
            </a: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All we can do is choose the node that </a:t>
            </a:r>
            <a:r>
              <a:rPr lang="en-US" sz="2400">
                <a:solidFill>
                  <a:srgbClr val="FF0000"/>
                </a:solidFill>
              </a:rPr>
              <a:t>appears</a:t>
            </a:r>
            <a:r>
              <a:rPr lang="en-US" sz="2400"/>
              <a:t> to be best according to the evaluation function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Key component is a heuristic function denoted by </a:t>
            </a:r>
            <a:r>
              <a:rPr lang="en-US" sz="2400" i="1"/>
              <a:t>h(n)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400" i="1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i="1"/>
              <a:t>h(n)</a:t>
            </a:r>
            <a:r>
              <a:rPr lang="en-US" sz="2400"/>
              <a:t> = estimated cost of the cheapest path from node </a:t>
            </a:r>
            <a:r>
              <a:rPr lang="en-US" sz="2400" i="1"/>
              <a:t>n</a:t>
            </a:r>
            <a:r>
              <a:rPr lang="en-US" sz="2400"/>
              <a:t> to a goal node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If </a:t>
            </a:r>
            <a:r>
              <a:rPr lang="en-US" sz="2400" i="1"/>
              <a:t>n</a:t>
            </a:r>
            <a:r>
              <a:rPr lang="en-US" sz="2400"/>
              <a:t> is the goal node, </a:t>
            </a:r>
            <a:r>
              <a:rPr lang="en-US" sz="2400" i="1"/>
              <a:t>h(n)=0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8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Best-first Search</a:t>
            </a: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/>
              <a:t>Tries to expand the node that is closest to the goal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/>
              <a:t>Evaluation function </a:t>
            </a:r>
            <a:r>
              <a:rPr lang="en-US" sz="2600" i="1"/>
              <a:t>f(n) </a:t>
            </a:r>
            <a:endParaRPr sz="2600" i="1"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 i="1"/>
              <a:t>= h(n) </a:t>
            </a:r>
            <a:r>
              <a:rPr lang="en-US" sz="2600"/>
              <a:t>(heuristic)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600"/>
              <a:t>		= estimate of cost from </a:t>
            </a:r>
            <a:r>
              <a:rPr lang="en-US" sz="2600" i="1"/>
              <a:t>n</a:t>
            </a:r>
            <a:r>
              <a:rPr lang="en-US" sz="2600"/>
              <a:t> to </a:t>
            </a:r>
            <a:r>
              <a:rPr lang="en-US" sz="2600" i="1"/>
              <a:t>goal</a:t>
            </a:r>
            <a:br>
              <a:rPr lang="en-US" sz="2600"/>
            </a:b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/>
              <a:t>e.g., </a:t>
            </a:r>
            <a:r>
              <a:rPr lang="en-US" sz="2600" i="1"/>
              <a:t>h</a:t>
            </a:r>
            <a:r>
              <a:rPr lang="en-US" sz="2600" i="1" baseline="-25000"/>
              <a:t>SLD</a:t>
            </a:r>
            <a:r>
              <a:rPr lang="en-US" sz="2600" i="1"/>
              <a:t>(n)</a:t>
            </a:r>
            <a:r>
              <a:rPr lang="en-US" sz="2600"/>
              <a:t> = straight-line distance from </a:t>
            </a:r>
            <a:r>
              <a:rPr lang="en-US" sz="2600" i="1"/>
              <a:t>n</a:t>
            </a:r>
            <a:r>
              <a:rPr lang="en-US" sz="2600"/>
              <a:t> to Bucharest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Reaching from Arad to Bucharest</a:t>
            </a:r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45" name="Google Shape;145;p10" descr="romania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52600"/>
            <a:ext cx="8915400" cy="437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best-first search example</a:t>
            </a:r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52" name="Google Shape;152;p11" descr="greedy-progress01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828800"/>
            <a:ext cx="7162800" cy="260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 descr="romania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925" y="4315400"/>
            <a:ext cx="4861400" cy="23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2" descr="greedy-progress02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828800"/>
            <a:ext cx="7391400" cy="2690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best-first search example</a:t>
            </a: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" name="Google Shape;153;p11" descr="romania2">
            <a:extLst>
              <a:ext uri="{FF2B5EF4-FFF2-40B4-BE49-F238E27FC236}">
                <a16:creationId xmlns:a16="http://schemas.microsoft.com/office/drawing/2014/main" id="{D9D33094-B3FE-94DF-4773-EAD9438E64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1607" y="4386794"/>
            <a:ext cx="4861400" cy="23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3" descr="greedy-progress03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828800"/>
            <a:ext cx="7848600" cy="2859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best-first search example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" name="Google Shape;153;p11" descr="romania2">
            <a:extLst>
              <a:ext uri="{FF2B5EF4-FFF2-40B4-BE49-F238E27FC236}">
                <a16:creationId xmlns:a16="http://schemas.microsoft.com/office/drawing/2014/main" id="{4DDBBF7E-E318-09AC-546C-21B0D7A131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925" y="4315400"/>
            <a:ext cx="4861400" cy="23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4" descr="greedy-progress04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828800"/>
            <a:ext cx="7543800" cy="27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best-first search example</a:t>
            </a:r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" name="Google Shape;153;p11" descr="romania2">
            <a:extLst>
              <a:ext uri="{FF2B5EF4-FFF2-40B4-BE49-F238E27FC236}">
                <a16:creationId xmlns:a16="http://schemas.microsoft.com/office/drawing/2014/main" id="{F11B1973-ADD1-F81D-7D4F-8B46280109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925" y="4315400"/>
            <a:ext cx="4861400" cy="23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Optimal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No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path via Sibiu and </a:t>
            </a:r>
            <a:r>
              <a:rPr lang="en-US" sz="2400" dirty="0" err="1"/>
              <a:t>Fagaras</a:t>
            </a:r>
            <a:r>
              <a:rPr lang="en-US" sz="2400" dirty="0"/>
              <a:t> to Bucharest is 32 kms longer than the path through </a:t>
            </a:r>
            <a:r>
              <a:rPr lang="en-US" sz="2400" dirty="0" err="1"/>
              <a:t>Rimnicu</a:t>
            </a:r>
            <a:r>
              <a:rPr lang="en-US" sz="2400" dirty="0"/>
              <a:t> </a:t>
            </a:r>
            <a:r>
              <a:rPr lang="en-US" sz="2400" dirty="0" err="1"/>
              <a:t>Vilcea</a:t>
            </a:r>
            <a:r>
              <a:rPr lang="en-US" sz="2400" dirty="0"/>
              <a:t> and Pitesti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Can get stuck in loops, e.g., Iasi -&gt; </a:t>
            </a:r>
            <a:r>
              <a:rPr lang="en-US" sz="2600" dirty="0" err="1"/>
              <a:t>Neamt</a:t>
            </a:r>
            <a:r>
              <a:rPr lang="en-US" sz="2600" dirty="0"/>
              <a:t> -&gt; Iasi -&gt; </a:t>
            </a:r>
            <a:r>
              <a:rPr lang="en-US" sz="2600" dirty="0" err="1"/>
              <a:t>Neamt</a:t>
            </a:r>
            <a:endParaRPr sz="2600" dirty="0"/>
          </a:p>
        </p:txBody>
      </p:sp>
      <p:sp>
        <p:nvSpPr>
          <p:cNvPr id="181" name="Google Shape;181;p1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greedy best-first search</a:t>
            </a:r>
            <a:endParaRPr/>
          </a:p>
        </p:txBody>
      </p:sp>
      <p:sp>
        <p:nvSpPr>
          <p:cNvPr id="187" name="Google Shape;187;p1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/>
              <a:t>Resembles depth-first search, but will back up if it hits a dead end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30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Complete?</a:t>
            </a:r>
            <a:r>
              <a:rPr lang="en-US" sz="2600"/>
              <a:t> Yes, in finite spaces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Time?</a:t>
            </a:r>
            <a:r>
              <a:rPr lang="en-US" sz="2600"/>
              <a:t> </a:t>
            </a:r>
            <a:r>
              <a:rPr lang="en-US" sz="2600" i="1"/>
              <a:t>O(b</a:t>
            </a:r>
            <a:r>
              <a:rPr lang="en-US" sz="2600" i="1" baseline="30000"/>
              <a:t>m</a:t>
            </a:r>
            <a:r>
              <a:rPr lang="en-US" sz="2600" i="1"/>
              <a:t>)</a:t>
            </a:r>
            <a:endParaRPr sz="26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Space?</a:t>
            </a:r>
            <a:r>
              <a:rPr lang="en-US" sz="2600"/>
              <a:t> </a:t>
            </a:r>
            <a:r>
              <a:rPr lang="en-US" sz="2600" i="1"/>
              <a:t>O(b</a:t>
            </a:r>
            <a:r>
              <a:rPr lang="en-US" sz="2600" i="1" baseline="30000"/>
              <a:t>m</a:t>
            </a:r>
            <a:r>
              <a:rPr lang="en-US" sz="2600" i="1"/>
              <a:t>) </a:t>
            </a:r>
            <a:r>
              <a:rPr lang="en-US" sz="2600"/>
              <a:t>-- keeps all nodes in memory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Optimal?</a:t>
            </a:r>
            <a:r>
              <a:rPr lang="en-US" sz="2600"/>
              <a:t> No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</a:t>
            </a: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/>
              <a:t>Evaluation function </a:t>
            </a:r>
            <a:r>
              <a:rPr lang="en-US" sz="2600" i="1"/>
              <a:t>f(n) = g(n) + h(n)</a:t>
            </a:r>
            <a:endParaRPr sz="260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i="1"/>
              <a:t>g(n) </a:t>
            </a:r>
            <a:r>
              <a:rPr lang="en-US" sz="2400"/>
              <a:t>= cost so far to reach </a:t>
            </a:r>
            <a:r>
              <a:rPr lang="en-US" sz="2400" i="1"/>
              <a:t>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i="1"/>
              <a:t>h(n)</a:t>
            </a:r>
            <a:r>
              <a:rPr lang="en-US" sz="2400"/>
              <a:t> = estimated cost from </a:t>
            </a:r>
            <a:r>
              <a:rPr lang="en-US" sz="2400" i="1"/>
              <a:t>n</a:t>
            </a:r>
            <a:r>
              <a:rPr lang="en-US" sz="2400"/>
              <a:t> to goal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2400" i="1"/>
              <a:t>f(n) </a:t>
            </a:r>
            <a:r>
              <a:rPr lang="en-US" sz="2400"/>
              <a:t>= estimated total cost of path through </a:t>
            </a:r>
            <a:r>
              <a:rPr lang="en-US" sz="2400" i="1"/>
              <a:t>n</a:t>
            </a:r>
            <a:r>
              <a:rPr lang="en-US" sz="2400"/>
              <a:t> to goal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A* search is complete. Provided that the heuristic function </a:t>
            </a:r>
            <a:r>
              <a:rPr lang="en-US" sz="2400" i="1"/>
              <a:t>h(n)</a:t>
            </a:r>
            <a:r>
              <a:rPr lang="en-US" sz="2400"/>
              <a:t> satisfies certain conditions, it is optimal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If </a:t>
            </a:r>
            <a:r>
              <a:rPr lang="en-US" sz="2400" i="1"/>
              <a:t>h(n)</a:t>
            </a:r>
            <a:r>
              <a:rPr lang="en-US" sz="2400"/>
              <a:t> is an admissible heuristic - that is, provided that </a:t>
            </a:r>
            <a:r>
              <a:rPr lang="en-US" sz="2400" i="1"/>
              <a:t>h(n)</a:t>
            </a:r>
            <a:r>
              <a:rPr lang="en-US" sz="2400"/>
              <a:t> never overestimates the cost to reach the goal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0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 simple example is the straight-line distance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 example</a:t>
            </a:r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01" name="Google Shape;201;p21" descr="astar-progress01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828800"/>
            <a:ext cx="6629400" cy="2719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romania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1553" y="4169044"/>
            <a:ext cx="4543648" cy="252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6" descr="astar-progress02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828800"/>
            <a:ext cx="6553200" cy="26876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 example</a:t>
            </a:r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" name="Google Shape;202;p21" descr="romania2">
            <a:extLst>
              <a:ext uri="{FF2B5EF4-FFF2-40B4-BE49-F238E27FC236}">
                <a16:creationId xmlns:a16="http://schemas.microsoft.com/office/drawing/2014/main" id="{485DA544-6B6A-2BE2-8079-66A2CB1BEB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1553" y="4169044"/>
            <a:ext cx="4543648" cy="252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 example</a:t>
            </a:r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16" name="Google Shape;216;p27" descr="astar-progress03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752600"/>
            <a:ext cx="6934200" cy="2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02;p21" descr="romania2">
            <a:extLst>
              <a:ext uri="{FF2B5EF4-FFF2-40B4-BE49-F238E27FC236}">
                <a16:creationId xmlns:a16="http://schemas.microsoft.com/office/drawing/2014/main" id="{8652CE27-39DC-6AC3-495A-D2588683DB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1553" y="4169044"/>
            <a:ext cx="4543648" cy="252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 example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23" name="Google Shape;223;p31" descr="astar-progress04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981200"/>
            <a:ext cx="73152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02;p21" descr="romania2">
            <a:extLst>
              <a:ext uri="{FF2B5EF4-FFF2-40B4-BE49-F238E27FC236}">
                <a16:creationId xmlns:a16="http://schemas.microsoft.com/office/drawing/2014/main" id="{4E8F556C-51EB-8013-FEF4-6F6F599B12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0041" y="4308529"/>
            <a:ext cx="4435160" cy="238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</a:t>
            </a:r>
            <a:r>
              <a:rPr lang="en-US" baseline="30000"/>
              <a:t>*</a:t>
            </a:r>
            <a:r>
              <a:rPr lang="en-US"/>
              <a:t> search example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30" name="Google Shape;230;p32" descr="astar-progress05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676400"/>
            <a:ext cx="6934200" cy="2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02;p21" descr="romania2">
            <a:extLst>
              <a:ext uri="{FF2B5EF4-FFF2-40B4-BE49-F238E27FC236}">
                <a16:creationId xmlns:a16="http://schemas.microsoft.com/office/drawing/2014/main" id="{147DA2AF-C02C-B330-73A2-A341F5819B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1553" y="4169044"/>
            <a:ext cx="4543648" cy="252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0f4589c57_0_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90f4589c57_0_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A* search is complete. Provided that the heuristic function </a:t>
            </a:r>
            <a:r>
              <a:rPr lang="en-US" sz="2400" i="1"/>
              <a:t>h(n)</a:t>
            </a:r>
            <a:r>
              <a:rPr lang="en-US" sz="2400"/>
              <a:t> satisfies certain conditions, it is optimal</a:t>
            </a:r>
            <a:endParaRPr/>
          </a:p>
          <a:p>
            <a:pPr marL="4572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000"/>
          </a:p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If </a:t>
            </a:r>
            <a:r>
              <a:rPr lang="en-US" sz="2400" i="1"/>
              <a:t>h(n)</a:t>
            </a:r>
            <a:r>
              <a:rPr lang="en-US" sz="2400"/>
              <a:t> is an admissible heuristic - that is, provided that </a:t>
            </a:r>
            <a:r>
              <a:rPr lang="en-US" sz="2400" i="1"/>
              <a:t>h(n)</a:t>
            </a:r>
            <a:r>
              <a:rPr lang="en-US" sz="2400"/>
              <a:t> never overestimates the cost to reach the goal</a:t>
            </a:r>
            <a:endParaRPr/>
          </a:p>
          <a:p>
            <a:pPr marL="4572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000"/>
          </a:p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 simple example is the straight-line distance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243" name="Google Shape;243;p3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500"/>
              <a:t>A heuristic </a:t>
            </a:r>
            <a:r>
              <a:rPr lang="en-US" sz="2500" i="1"/>
              <a:t>h(n)</a:t>
            </a:r>
            <a:r>
              <a:rPr lang="en-US" sz="2500"/>
              <a:t> is </a:t>
            </a:r>
            <a:r>
              <a:rPr lang="en-US" sz="2500">
                <a:solidFill>
                  <a:srgbClr val="FF0000"/>
                </a:solidFill>
              </a:rPr>
              <a:t>admissible</a:t>
            </a:r>
            <a:r>
              <a:rPr lang="en-US" sz="2500"/>
              <a:t> if for every node </a:t>
            </a:r>
            <a:r>
              <a:rPr lang="en-US" sz="2500" i="1"/>
              <a:t>n</a:t>
            </a:r>
            <a:r>
              <a:rPr lang="en-US" sz="2500"/>
              <a:t>,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500" i="1"/>
              <a:t>	h(n) ≤ h</a:t>
            </a:r>
            <a:r>
              <a:rPr lang="en-US" sz="2500" i="1" baseline="30000"/>
              <a:t>*</a:t>
            </a:r>
            <a:r>
              <a:rPr lang="en-US" sz="2500" i="1"/>
              <a:t>(n), </a:t>
            </a:r>
            <a:r>
              <a:rPr lang="en-US" sz="2500"/>
              <a:t>where </a:t>
            </a:r>
            <a:r>
              <a:rPr lang="en-US" sz="2500" i="1"/>
              <a:t>h</a:t>
            </a:r>
            <a:r>
              <a:rPr lang="en-US" sz="2500" i="1" baseline="30000"/>
              <a:t>*</a:t>
            </a:r>
            <a:r>
              <a:rPr lang="en-US" sz="2500" i="1"/>
              <a:t>(n)</a:t>
            </a:r>
            <a:r>
              <a:rPr lang="en-US" sz="2500"/>
              <a:t> is the </a:t>
            </a:r>
            <a:r>
              <a:rPr lang="en-US" sz="2500">
                <a:solidFill>
                  <a:srgbClr val="FF0000"/>
                </a:solidFill>
              </a:rPr>
              <a:t>true </a:t>
            </a:r>
            <a:r>
              <a:rPr lang="en-US" sz="2500"/>
              <a:t>cost to reach the goal state from </a:t>
            </a:r>
            <a:r>
              <a:rPr lang="en-US" sz="2500" i="1"/>
              <a:t>n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0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 sz="2500"/>
              <a:t>An admissible heuristic </a:t>
            </a:r>
            <a:r>
              <a:rPr lang="en-US" sz="2500">
                <a:solidFill>
                  <a:srgbClr val="FF0000"/>
                </a:solidFill>
              </a:rPr>
              <a:t>never overestimates</a:t>
            </a:r>
            <a:r>
              <a:rPr lang="en-US" sz="2500"/>
              <a:t> the cost to reach the goal, i.e., it is </a:t>
            </a:r>
            <a:r>
              <a:rPr lang="en-US" sz="2500">
                <a:solidFill>
                  <a:srgbClr val="FF0000"/>
                </a:solidFill>
              </a:rPr>
              <a:t>optimistic</a:t>
            </a:r>
            <a:endParaRPr sz="2500"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0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 sz="2500"/>
              <a:t>Example: </a:t>
            </a:r>
            <a:r>
              <a:rPr lang="en-US" sz="2500" i="1"/>
              <a:t>h</a:t>
            </a:r>
            <a:r>
              <a:rPr lang="en-US" sz="2500" i="1" baseline="-25000"/>
              <a:t>SLD</a:t>
            </a:r>
            <a:r>
              <a:rPr lang="en-US" sz="2500" i="1"/>
              <a:t>(n) </a:t>
            </a:r>
            <a:r>
              <a:rPr lang="en-US" sz="2500"/>
              <a:t>(never overestimates the actual road distance)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00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500">
                <a:solidFill>
                  <a:schemeClr val="accent2"/>
                </a:solidFill>
              </a:rPr>
              <a:t>Theorem</a:t>
            </a:r>
            <a:r>
              <a:rPr lang="en-US" sz="2500"/>
              <a:t>: If </a:t>
            </a:r>
            <a:r>
              <a:rPr lang="en-US" sz="2500" i="1"/>
              <a:t>h(n) </a:t>
            </a:r>
            <a:r>
              <a:rPr lang="en-US" sz="2500"/>
              <a:t>is admissible, A</a:t>
            </a:r>
            <a:r>
              <a:rPr lang="en-US" sz="2500" baseline="30000"/>
              <a:t>*</a:t>
            </a:r>
            <a:r>
              <a:rPr lang="en-US" sz="2500"/>
              <a:t> using 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TREE-SEARCH</a:t>
            </a:r>
            <a:r>
              <a:rPr lang="en-US" sz="2500"/>
              <a:t> is optimal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Consistent heuristics</a:t>
            </a:r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400"/>
              <a:t>A heuristic is </a:t>
            </a:r>
            <a:r>
              <a:rPr lang="en-US" sz="2400">
                <a:solidFill>
                  <a:srgbClr val="FF0000"/>
                </a:solidFill>
              </a:rPr>
              <a:t>consistent</a:t>
            </a:r>
            <a:r>
              <a:rPr lang="en-US" sz="2400"/>
              <a:t> if for every node </a:t>
            </a:r>
            <a:r>
              <a:rPr lang="en-US" sz="2400" i="1"/>
              <a:t>n</a:t>
            </a:r>
            <a:r>
              <a:rPr lang="en-US" sz="2400"/>
              <a:t>, every successor </a:t>
            </a:r>
            <a:r>
              <a:rPr lang="en-US" sz="2400" i="1"/>
              <a:t>n'</a:t>
            </a:r>
            <a:r>
              <a:rPr lang="en-US" sz="2400"/>
              <a:t> of </a:t>
            </a:r>
            <a:r>
              <a:rPr lang="en-US" sz="2400" i="1"/>
              <a:t>n</a:t>
            </a:r>
            <a:r>
              <a:rPr lang="en-US" sz="2400"/>
              <a:t> generated by any action </a:t>
            </a:r>
            <a:r>
              <a:rPr lang="en-US" sz="2400" i="1"/>
              <a:t>a</a:t>
            </a:r>
            <a:r>
              <a:rPr lang="en-US" sz="2400"/>
              <a:t>, 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/>
              <a:t>	</a:t>
            </a:r>
            <a:r>
              <a:rPr lang="en-US" sz="2400" i="1"/>
              <a:t>h(n) ≤ c(n,a,n') + h(n')</a:t>
            </a:r>
            <a:endParaRPr sz="2400"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/>
              <a:t>Every consistent heuristic is admissible</a:t>
            </a:r>
            <a:endParaRPr sz="240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400">
                <a:solidFill>
                  <a:schemeClr val="accent2"/>
                </a:solidFill>
              </a:rPr>
              <a:t>Theorem</a:t>
            </a:r>
            <a:r>
              <a:rPr lang="en-US" sz="2400"/>
              <a:t>: If </a:t>
            </a:r>
            <a:r>
              <a:rPr lang="en-US" sz="2400" i="1"/>
              <a:t>h(n)</a:t>
            </a:r>
            <a:r>
              <a:rPr lang="en-US" sz="2400"/>
              <a:t> is consistent, A* using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GRAPH-SEARCH</a:t>
            </a:r>
            <a:r>
              <a:rPr lang="en-US" sz="2400"/>
              <a:t> is      optimal</a:t>
            </a:r>
            <a:endParaRPr/>
          </a:p>
        </p:txBody>
      </p:sp>
      <p:pic>
        <p:nvPicPr>
          <p:cNvPr id="250" name="Google Shape;250;p43" descr="consistenc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600" y="2514600"/>
            <a:ext cx="2176463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 of A</a:t>
            </a:r>
            <a:r>
              <a:rPr lang="en-US" baseline="30000"/>
              <a:t>*</a:t>
            </a:r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A</a:t>
            </a:r>
            <a:r>
              <a:rPr lang="en-US" sz="2000" baseline="30000"/>
              <a:t>*</a:t>
            </a:r>
            <a:r>
              <a:rPr lang="en-US" sz="2000"/>
              <a:t> expands nodes in order of increasing </a:t>
            </a:r>
            <a:r>
              <a:rPr lang="en-US" sz="2000" i="1"/>
              <a:t>f</a:t>
            </a:r>
            <a:r>
              <a:rPr lang="en-US" sz="2000"/>
              <a:t> value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Gradually adds "</a:t>
            </a:r>
            <a:r>
              <a:rPr lang="en-US" sz="2000" i="1"/>
              <a:t>f</a:t>
            </a:r>
            <a:r>
              <a:rPr lang="en-US" sz="2000"/>
              <a:t>-contours" of nodes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Contour </a:t>
            </a:r>
            <a:r>
              <a:rPr lang="en-US" sz="2000" i="1"/>
              <a:t>i</a:t>
            </a:r>
            <a:r>
              <a:rPr lang="en-US" sz="2000"/>
              <a:t> has all nodes with </a:t>
            </a:r>
            <a:r>
              <a:rPr lang="en-US" sz="2000" i="1"/>
              <a:t>f=f</a:t>
            </a:r>
            <a:r>
              <a:rPr lang="en-US" sz="2000" i="1" baseline="-25000"/>
              <a:t>i</a:t>
            </a:r>
            <a:r>
              <a:rPr lang="en-US" sz="2000"/>
              <a:t>, where </a:t>
            </a:r>
            <a:r>
              <a:rPr lang="en-US" sz="2000" i="1"/>
              <a:t>f</a:t>
            </a:r>
            <a:r>
              <a:rPr lang="en-US" sz="2000" i="1" baseline="-25000"/>
              <a:t>i</a:t>
            </a:r>
            <a:r>
              <a:rPr lang="en-US" sz="2000" i="1"/>
              <a:t> &lt; f</a:t>
            </a:r>
            <a:r>
              <a:rPr lang="en-US" sz="2000" i="1" baseline="-25000"/>
              <a:t>i+1</a:t>
            </a:r>
            <a:endParaRPr sz="2000"/>
          </a:p>
        </p:txBody>
      </p:sp>
      <p:pic>
        <p:nvPicPr>
          <p:cNvPr id="257" name="Google Shape;257;p44" descr="f-circl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3276600"/>
            <a:ext cx="4267200" cy="270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p4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A* expands no nodes with f(n)&gt; C*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i.e. a subtree is pruned below a certain point, without compromising optimality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Important in AI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64" name="Google Shape;264;p4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Properties of A*</a:t>
            </a:r>
            <a:endParaRPr/>
          </a:p>
        </p:txBody>
      </p:sp>
      <p:sp>
        <p:nvSpPr>
          <p:cNvPr id="270" name="Google Shape;270;p4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Complete?</a:t>
            </a:r>
            <a:r>
              <a:rPr lang="en-US" sz="2600"/>
              <a:t> Yes (unless there are infinitely many nodes)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 u="sng">
              <a:solidFill>
                <a:srgbClr val="CC0099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Time?</a:t>
            </a:r>
            <a:r>
              <a:rPr lang="en-US" sz="2600"/>
              <a:t> Exponential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 u="sng">
              <a:solidFill>
                <a:srgbClr val="CC0099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Space?</a:t>
            </a:r>
            <a:r>
              <a:rPr lang="en-US" sz="2600"/>
              <a:t> Keeps all nodes in memory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600" u="sng">
              <a:solidFill>
                <a:srgbClr val="CC0099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>
                <a:solidFill>
                  <a:srgbClr val="CC0099"/>
                </a:solidFill>
              </a:rPr>
              <a:t>Optimal?</a:t>
            </a:r>
            <a:r>
              <a:rPr lang="en-US" sz="2600"/>
              <a:t> Yes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276" name="Google Shape;276;p4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000" dirty="0"/>
              <a:t>E.g., for the 8-puzzle:</a:t>
            </a:r>
            <a:br>
              <a:rPr lang="en-US" sz="2000" dirty="0"/>
            </a:br>
            <a:endParaRPr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i="1" dirty="0"/>
              <a:t>h</a:t>
            </a:r>
            <a:r>
              <a:rPr lang="en-US" sz="2000" i="1" baseline="-25000" dirty="0"/>
              <a:t>1</a:t>
            </a:r>
            <a:r>
              <a:rPr lang="en-US" sz="2000" i="1" dirty="0"/>
              <a:t>(n) </a:t>
            </a:r>
            <a:r>
              <a:rPr lang="en-US" sz="2000" dirty="0"/>
              <a:t>= number of misplaced tiles</a:t>
            </a:r>
            <a:endParaRPr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i="1" dirty="0"/>
              <a:t>h</a:t>
            </a:r>
            <a:r>
              <a:rPr lang="en-US" sz="2000" i="1" baseline="-25000" dirty="0"/>
              <a:t>2</a:t>
            </a:r>
            <a:r>
              <a:rPr lang="en-US" sz="2000" i="1" dirty="0"/>
              <a:t>(n) </a:t>
            </a:r>
            <a:r>
              <a:rPr lang="en-US" sz="2000" dirty="0"/>
              <a:t>= total Manhattan distance</a:t>
            </a:r>
            <a:endParaRPr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 sz="2000" dirty="0"/>
              <a:t>(i.e., no. of squares from desired location of each tile)</a:t>
            </a:r>
            <a:br>
              <a:rPr lang="en-US" sz="2000" dirty="0"/>
            </a:br>
            <a:endParaRPr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000"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2400" dirty="0"/>
          </a:p>
          <a:p>
            <a:pPr marL="45720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sz="2600" u="sng" dirty="0">
              <a:solidFill>
                <a:srgbClr val="CC0099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 dirty="0">
                <a:solidFill>
                  <a:srgbClr val="CC0099"/>
                </a:solidFill>
              </a:rPr>
              <a:t>h</a:t>
            </a:r>
            <a:r>
              <a:rPr lang="en-US" sz="2600" u="sng" baseline="-25000" dirty="0">
                <a:solidFill>
                  <a:srgbClr val="CC0099"/>
                </a:solidFill>
              </a:rPr>
              <a:t>1</a:t>
            </a:r>
            <a:r>
              <a:rPr lang="en-US" sz="2600" u="sng" dirty="0">
                <a:solidFill>
                  <a:srgbClr val="CC0099"/>
                </a:solidFill>
              </a:rPr>
              <a:t>(S) = ?</a:t>
            </a:r>
            <a:r>
              <a:rPr lang="en-US" sz="2600" dirty="0"/>
              <a:t> </a:t>
            </a:r>
            <a:endParaRPr sz="2600" u="sng" dirty="0">
              <a:solidFill>
                <a:srgbClr val="CC0099"/>
              </a:solidFill>
            </a:endParaRPr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u="sng" dirty="0">
                <a:solidFill>
                  <a:srgbClr val="CC0099"/>
                </a:solidFill>
              </a:rPr>
              <a:t>h</a:t>
            </a:r>
            <a:r>
              <a:rPr lang="en-US" sz="2600" u="sng" baseline="-25000" dirty="0">
                <a:solidFill>
                  <a:srgbClr val="CC0099"/>
                </a:solidFill>
              </a:rPr>
              <a:t>2</a:t>
            </a:r>
            <a:r>
              <a:rPr lang="en-US" sz="2600" u="sng" dirty="0">
                <a:solidFill>
                  <a:srgbClr val="CC0099"/>
                </a:solidFill>
              </a:rPr>
              <a:t>(S) = ?</a:t>
            </a:r>
            <a:r>
              <a:rPr lang="en-US" sz="2600" dirty="0"/>
              <a:t> </a:t>
            </a:r>
            <a:endParaRPr dirty="0"/>
          </a:p>
          <a:p>
            <a:pPr marL="4572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Neither of these overestimates the true solution cost</a:t>
            </a:r>
            <a:endParaRPr dirty="0"/>
          </a:p>
        </p:txBody>
      </p:sp>
      <p:pic>
        <p:nvPicPr>
          <p:cNvPr id="277" name="Google Shape;277;p48" descr="8puzz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0400" y="3429000"/>
            <a:ext cx="4105275" cy="20843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F923A0-8D73-0B5D-6501-08BD2AE1572D}"/>
              </a:ext>
            </a:extLst>
          </p:cNvPr>
          <p:cNvSpPr txBox="1"/>
          <p:nvPr/>
        </p:nvSpPr>
        <p:spPr>
          <a:xfrm>
            <a:off x="2340243" y="5174067"/>
            <a:ext cx="79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BCA38-CAB6-1F60-ECB4-5555DD6B5D1B}"/>
              </a:ext>
            </a:extLst>
          </p:cNvPr>
          <p:cNvSpPr txBox="1"/>
          <p:nvPr/>
        </p:nvSpPr>
        <p:spPr>
          <a:xfrm>
            <a:off x="2322165" y="5513388"/>
            <a:ext cx="3691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3+1+2+2+2+3+3+2 =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From the definitions of the two heuristics, for any node </a:t>
            </a:r>
            <a:r>
              <a:rPr lang="en-US" sz="2600" i="1" dirty="0"/>
              <a:t>n, h2(n) &gt;= h1(n)</a:t>
            </a:r>
            <a:r>
              <a:rPr lang="en-US" sz="2600" dirty="0"/>
              <a:t>.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We thus say that </a:t>
            </a:r>
            <a:r>
              <a:rPr lang="en-US" sz="2600" i="1" dirty="0"/>
              <a:t>h2</a:t>
            </a:r>
            <a:r>
              <a:rPr lang="en-US" sz="2600" dirty="0"/>
              <a:t> dominates </a:t>
            </a:r>
            <a:r>
              <a:rPr lang="en-US" sz="2600" i="1" dirty="0"/>
              <a:t>h1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Domination translates directly into efficiency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A* using </a:t>
            </a:r>
            <a:r>
              <a:rPr lang="en-US" sz="2600" i="1" dirty="0"/>
              <a:t>h2</a:t>
            </a:r>
            <a:r>
              <a:rPr lang="en-US" sz="2600" dirty="0"/>
              <a:t> will never expand more nodes than A* using </a:t>
            </a:r>
            <a:r>
              <a:rPr lang="en-US" sz="2600" i="1" dirty="0"/>
              <a:t>h1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600" dirty="0"/>
              <a:t>Better to use a heuristic function with higher values, provided it does not overestimate</a:t>
            </a:r>
            <a:endParaRPr dirty="0"/>
          </a:p>
        </p:txBody>
      </p:sp>
      <p:sp>
        <p:nvSpPr>
          <p:cNvPr id="284" name="Google Shape;284;p4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43F7-DB88-B540-8943-07BC8411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4567-9EDE-2F9D-B96E-484A4523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059DB1-2722-507E-120C-071118F4E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666750"/>
            <a:ext cx="66675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39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290" name="Google Shape;290;p5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Not an algorithm, but a technique like divide and conquer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Dynamic Programming is a technique typically applied for solving </a:t>
            </a:r>
            <a:r>
              <a:rPr lang="en-US" i="1"/>
              <a:t>optimization</a:t>
            </a:r>
            <a:r>
              <a:rPr lang="en-US"/>
              <a:t> problems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dynamic programming method determines an </a:t>
            </a:r>
            <a:r>
              <a:rPr lang="en-US" i="1"/>
              <a:t>optimal</a:t>
            </a:r>
            <a:r>
              <a:rPr lang="en-US"/>
              <a:t> solution, that is, one which has the </a:t>
            </a:r>
            <a:r>
              <a:rPr lang="en-US" i="1"/>
              <a:t>maximum</a:t>
            </a:r>
            <a:r>
              <a:rPr lang="en-US"/>
              <a:t> or </a:t>
            </a:r>
            <a:r>
              <a:rPr lang="en-US" i="1"/>
              <a:t>minimum</a:t>
            </a:r>
            <a:r>
              <a:rPr lang="en-US"/>
              <a:t> cost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296" name="Google Shape;296;p5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algorithm works by splitting a problem into a sequence of optimization sub problems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sub problems are solved and then combined to obtain solution to the main problem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dynamic programming approach seems to be similar to divide-and-conquer approach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However, unlike the divide-and-conquer method, the dynamic programming approach is applicable when the sub-problems are not independent i.e. dynamic programming splits the problem into </a:t>
            </a:r>
            <a:r>
              <a:rPr lang="en-US" sz="1800" b="1" i="1"/>
              <a:t>overlapping </a:t>
            </a:r>
            <a:r>
              <a:rPr lang="en-US" sz="1800"/>
              <a:t>sub problems.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Further, the optimal solutions to sub problems are stored into a table, which is used to build the final or </a:t>
            </a:r>
            <a:r>
              <a:rPr lang="en-US" sz="1800" b="1" i="1"/>
              <a:t>global optimal </a:t>
            </a:r>
            <a:r>
              <a:rPr lang="en-US" sz="1800"/>
              <a:t>solution.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302" name="Google Shape;302;p5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Development of a dynamic programming algorithm can be broken into a sequence of following steps: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Characterize the structure of an optimal solution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Recursively define the value of an optimal solution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AutoNum type="arabicPeriod"/>
            </a:pPr>
            <a:r>
              <a:rPr lang="en-US"/>
              <a:t>Compute the value of an optimal solution in a bottom-up fashion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Elements of Dynamic Programming</a:t>
            </a:r>
            <a:endParaRPr/>
          </a:p>
        </p:txBody>
      </p:sp>
      <p:sp>
        <p:nvSpPr>
          <p:cNvPr id="308" name="Google Shape;308;p5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Optimal sub-structure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An optimal solution to a problem contains optimal solutions to sub-problems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Dynamic programming uses optimal sub-structure in a bottom-up manner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Overlapping sub-problems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Space of sub-problems must be small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Recursive algorithm visits same problem again and again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Each sub-problem is solved once, solution is stored in table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 sub-structure</a:t>
            </a:r>
            <a:endParaRPr/>
          </a:p>
        </p:txBody>
      </p:sp>
      <p:sp>
        <p:nvSpPr>
          <p:cNvPr id="314" name="Google Shape;314;p5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27246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The principle of optimality holds in the case of problem of finding a </a:t>
            </a:r>
            <a:r>
              <a:rPr lang="en-US" sz="1800" b="1" i="1"/>
              <a:t>shortest distance </a:t>
            </a:r>
            <a:r>
              <a:rPr lang="en-US" sz="1800"/>
              <a:t>in a network, but it does not hold good for problem of finding the </a:t>
            </a:r>
            <a:r>
              <a:rPr lang="en-US" sz="1800" b="1" i="1"/>
              <a:t>longest distance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800" b="1" i="1"/>
          </a:p>
          <a:p>
            <a:pPr marL="45720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Consider, for example, the network shown in the figure. The shortest distance A to D is A-&gt;B-&gt;C-&gt;D 35. Further, the shortest distance from A to C is A-&gt;B-&gt;C=25, and shortest distance from A to B is A-&gt;B=20. Thus, principle of </a:t>
            </a:r>
            <a:r>
              <a:rPr lang="en-US" sz="1800" b="1" i="1"/>
              <a:t>optimality holds true for each of the sub paths of the shortest distance between A to D.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800" b="1" i="1"/>
          </a:p>
          <a:p>
            <a:pPr marL="45720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1800"/>
              <a:t>Now consider the longest distance from C to A. It is C-&gt;D-&gt;A=60. However, the sub path C-&gt;D=10 is not the longest distance, because the longest distance from C to D is C-&gt;B-&gt;A-&gt;D=75. Hence, the principle of </a:t>
            </a:r>
            <a:r>
              <a:rPr lang="en-US" sz="1800" b="1" i="1"/>
              <a:t>optimality does not hold true</a:t>
            </a:r>
            <a:r>
              <a:rPr lang="en-US" sz="1800"/>
              <a:t>.</a:t>
            </a:r>
            <a:endParaRPr/>
          </a:p>
        </p:txBody>
      </p:sp>
      <p:pic>
        <p:nvPicPr>
          <p:cNvPr id="315" name="Google Shape;315;p5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81400" y="5029200"/>
            <a:ext cx="136207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 - Advantages</a:t>
            </a:r>
            <a:endParaRPr/>
          </a:p>
        </p:txBody>
      </p:sp>
      <p:pic>
        <p:nvPicPr>
          <p:cNvPr id="321" name="Google Shape;321;p5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057400"/>
            <a:ext cx="8415338" cy="298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 – Disadvantages</a:t>
            </a:r>
            <a:endParaRPr/>
          </a:p>
        </p:txBody>
      </p:sp>
      <p:pic>
        <p:nvPicPr>
          <p:cNvPr id="327" name="Google Shape;327;p5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981200"/>
            <a:ext cx="7974013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644e923799dc1d003a52287e229954a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b691a16675d0382ca78dca2ac2d18c61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5CE8FF-0603-40CF-AC95-C256D2AC5F46}"/>
</file>

<file path=customXml/itemProps2.xml><?xml version="1.0" encoding="utf-8"?>
<ds:datastoreItem xmlns:ds="http://schemas.openxmlformats.org/officeDocument/2006/customXml" ds:itemID="{12D3E91A-97DB-4CCE-964A-5AF0D4F1BA38}"/>
</file>

<file path=customXml/itemProps3.xml><?xml version="1.0" encoding="utf-8"?>
<ds:datastoreItem xmlns:ds="http://schemas.openxmlformats.org/officeDocument/2006/customXml" ds:itemID="{95B2B645-DB73-403A-BF43-578DEAD39447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1444</Words>
  <Application>Microsoft Office PowerPoint</Application>
  <PresentationFormat>On-screen Show (4:3)</PresentationFormat>
  <Paragraphs>214</Paragraphs>
  <Slides>38</Slides>
  <Notes>37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Courier New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Search problem (state-based models)</vt:lpstr>
      <vt:lpstr>Tree search example</vt:lpstr>
      <vt:lpstr>Tree search example</vt:lpstr>
      <vt:lpstr>Tree search example</vt:lpstr>
      <vt:lpstr>Informed Search Strategies</vt:lpstr>
      <vt:lpstr>Informed Search Strategies</vt:lpstr>
      <vt:lpstr>Greedy Best-first Search</vt:lpstr>
      <vt:lpstr>Reaching from Arad to Bucharest</vt:lpstr>
      <vt:lpstr>Greedy best-first search example</vt:lpstr>
      <vt:lpstr>Greedy best-first search example</vt:lpstr>
      <vt:lpstr>Greedy best-first search example</vt:lpstr>
      <vt:lpstr>Greedy best-first search example</vt:lpstr>
      <vt:lpstr>PowerPoint Presentation</vt:lpstr>
      <vt:lpstr>Properties of greedy best-first search</vt:lpstr>
      <vt:lpstr>A* search</vt:lpstr>
      <vt:lpstr>A* search example</vt:lpstr>
      <vt:lpstr>A* search example</vt:lpstr>
      <vt:lpstr>A* search example</vt:lpstr>
      <vt:lpstr>A* search example</vt:lpstr>
      <vt:lpstr>A* search example</vt:lpstr>
      <vt:lpstr>PowerPoint Presentation</vt:lpstr>
      <vt:lpstr>Admissible heuristics</vt:lpstr>
      <vt:lpstr>Consistent heuristics</vt:lpstr>
      <vt:lpstr>Optimality of A*</vt:lpstr>
      <vt:lpstr>PowerPoint Presentation</vt:lpstr>
      <vt:lpstr>Properties of A*</vt:lpstr>
      <vt:lpstr>Admissible heuristics</vt:lpstr>
      <vt:lpstr>Admissible heuristics</vt:lpstr>
      <vt:lpstr>PowerPoint Presentation</vt:lpstr>
      <vt:lpstr>Dynamic Programming</vt:lpstr>
      <vt:lpstr>Dynamic Programming</vt:lpstr>
      <vt:lpstr>Dynamic Programming</vt:lpstr>
      <vt:lpstr>Elements of Dynamic Programming</vt:lpstr>
      <vt:lpstr>Optimal sub-structure</vt:lpstr>
      <vt:lpstr>Dynamic Programming - Advantages</vt:lpstr>
      <vt:lpstr>Dynamic Programming – Disadvantages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3</cp:revision>
  <dcterms:created xsi:type="dcterms:W3CDTF">1601-01-01T00:00:00Z</dcterms:created>
  <dcterms:modified xsi:type="dcterms:W3CDTF">2025-11-19T03:56:47Z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