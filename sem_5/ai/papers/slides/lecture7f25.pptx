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0" r:id="rId9"/>
    <p:sldId id="264" r:id="rId10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i3todGFUTESKM1YNfdDKJfW0eg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23" Type="http://schemas.openxmlformats.org/officeDocument/2006/relationships/presProps" Target="presProps.xml"/><Relationship Id="rId28" Type="http://schemas.openxmlformats.org/officeDocument/2006/relationships/customXml" Target="../customXml/item2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customschemas.google.com/relationships/presentationmetadata" Target="metadata"/><Relationship Id="rId27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1" name="Google Shape;8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" name="Google Shape;8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" name="Google Shape;9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1" name="Google Shape;10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5" name="Google Shape;11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3" name="Google Shape;12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9" name="Google Shape;13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>
            <a:spLocks noGrp="1"/>
          </p:cNvSpPr>
          <p:nvPr>
            <p:ph type="ctrTitle"/>
          </p:nvPr>
        </p:nvSpPr>
        <p:spPr>
          <a:xfrm>
            <a:off x="685800" y="9906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9"/>
          <p:cNvSpPr txBox="1">
            <a:spLocks noGrp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2100"/>
              <a:buFont typeface="Noto Sans Symbols"/>
              <a:buNone/>
              <a:defRPr sz="2100"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lvl="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9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9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20" name="Google Shape;20;p29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29"/>
          <p:cNvSpPr/>
          <p:nvPr/>
        </p:nvSpPr>
        <p:spPr>
          <a:xfrm>
            <a:off x="685800" y="2393950"/>
            <a:ext cx="7772400" cy="109538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0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0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30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EXT_AND_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7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7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47"/>
          <p:cNvSpPr txBox="1">
            <a:spLocks noGrp="1"/>
          </p:cNvSpPr>
          <p:nvPr>
            <p:ph type="body" idx="2"/>
          </p:nvPr>
        </p:nvSpPr>
        <p:spPr>
          <a:xfrm>
            <a:off x="46434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47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7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4"/>
          <p:cNvSpPr txBox="1"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4"/>
          <p:cNvSpPr txBox="1"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5" name="Google Shape;35;p34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4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6"/>
          <p:cNvSpPr txBox="1"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6"/>
          <p:cNvSpPr txBox="1"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36"/>
          <p:cNvSpPr txBox="1">
            <a:spLocks noGrp="1"/>
          </p:cNvSpPr>
          <p:nvPr>
            <p:ph type="body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36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36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36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6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7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7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7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8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8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9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9"/>
          <p:cNvSpPr txBox="1">
            <a:spLocks noGrp="1"/>
          </p:cNvSpPr>
          <p:nvPr>
            <p:ph type="body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□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■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39"/>
          <p:cNvSpPr txBox="1">
            <a:spLocks noGrp="1"/>
          </p:cNvSpPr>
          <p:nvPr>
            <p:ph type="body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1" name="Google Shape;61;p39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39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0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40"/>
          <p:cNvSpPr>
            <a:spLocks noGrp="1"/>
          </p:cNvSpPr>
          <p:nvPr>
            <p:ph type="pic" idx="2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40"/>
          <p:cNvSpPr txBox="1">
            <a:spLocks noGrp="1"/>
          </p:cNvSpPr>
          <p:nvPr>
            <p:ph type="body" idx="1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7" name="Google Shape;67;p40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40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1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1"/>
          <p:cNvSpPr txBox="1">
            <a:spLocks noGrp="1"/>
          </p:cNvSpPr>
          <p:nvPr>
            <p:ph type="body" idx="1"/>
          </p:nvPr>
        </p:nvSpPr>
        <p:spPr>
          <a:xfrm rot="5400000">
            <a:off x="2433638" y="-114300"/>
            <a:ext cx="4267200" cy="80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41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41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2"/>
          <p:cNvSpPr txBox="1">
            <a:spLocks noGrp="1"/>
          </p:cNvSpPr>
          <p:nvPr>
            <p:ph type="title"/>
          </p:nvPr>
        </p:nvSpPr>
        <p:spPr>
          <a:xfrm rot="5400000">
            <a:off x="4717257" y="2161382"/>
            <a:ext cx="5715000" cy="2001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2"/>
          <p:cNvSpPr txBox="1">
            <a:spLocks noGrp="1"/>
          </p:cNvSpPr>
          <p:nvPr>
            <p:ph type="body" idx="1"/>
          </p:nvPr>
        </p:nvSpPr>
        <p:spPr>
          <a:xfrm rot="5400000">
            <a:off x="636588" y="234950"/>
            <a:ext cx="5715000" cy="58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42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2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" name="Google Shape;11;p28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Noto Sans Symbols"/>
              <a:buChar char="□"/>
              <a:defRPr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49250" algn="l" rtl="0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□"/>
              <a:defRPr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■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" name="Google Shape;12;p28"/>
          <p:cNvSpPr/>
          <p:nvPr/>
        </p:nvSpPr>
        <p:spPr>
          <a:xfrm>
            <a:off x="609600" y="1566863"/>
            <a:ext cx="7958138" cy="109537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" name="Google Shape;13;p28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" name="Google Shape;14;p28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"/>
          <p:cNvSpPr txBox="1">
            <a:spLocks noGrp="1"/>
          </p:cNvSpPr>
          <p:nvPr>
            <p:ph type="ctrTitle"/>
          </p:nvPr>
        </p:nvSpPr>
        <p:spPr>
          <a:xfrm>
            <a:off x="685800" y="9906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Artificial Intelligence</a:t>
            </a:r>
            <a:endParaRPr/>
          </a:p>
        </p:txBody>
      </p:sp>
      <p:sp>
        <p:nvSpPr>
          <p:cNvPr id="84" name="Google Shape;84;p1"/>
          <p:cNvSpPr txBox="1">
            <a:spLocks noGrp="1"/>
          </p:cNvSpPr>
          <p:nvPr>
            <p:ph type="subTitle" idx="1"/>
          </p:nvPr>
        </p:nvSpPr>
        <p:spPr>
          <a:xfrm>
            <a:off x="1447800" y="3429000"/>
            <a:ext cx="7086600" cy="22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/>
              <a:t>Lecture # 7</a:t>
            </a:r>
            <a:endParaRPr sz="170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70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70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/>
          </a:p>
          <a:p>
            <a:pPr marL="0" lvl="0" indent="0" algn="ctr" rtl="0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SzPts val="1700"/>
              <a:buNone/>
            </a:pPr>
            <a:endParaRPr sz="1700"/>
          </a:p>
          <a:p>
            <a:pPr marL="0" lvl="0" indent="0" algn="ctr" rtl="0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SzPts val="1700"/>
              <a:buNone/>
            </a:pPr>
            <a:endParaRPr sz="1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Learning objectives</a:t>
            </a:r>
            <a:endParaRPr/>
          </a:p>
        </p:txBody>
      </p:sp>
      <p:sp>
        <p:nvSpPr>
          <p:cNvPr id="90" name="Google Shape;90;p2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dirty="0"/>
              <a:t>To enable students to </a:t>
            </a:r>
            <a:endParaRPr dirty="0"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dirty="0"/>
              <a:t>Understand stochastic gradient descent, logistic regression</a:t>
            </a:r>
            <a:endParaRPr dirty="0"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How to optimize?</a:t>
            </a:r>
            <a:endParaRPr/>
          </a:p>
        </p:txBody>
      </p:sp>
      <p:sp>
        <p:nvSpPr>
          <p:cNvPr id="96" name="Google Shape;96;p17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Use gradient descent </a:t>
            </a:r>
            <a:endParaRPr/>
          </a:p>
        </p:txBody>
      </p:sp>
      <p:pic>
        <p:nvPicPr>
          <p:cNvPr id="97" name="Google Shape;97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49151" y="2210427"/>
            <a:ext cx="7491694" cy="1675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48301" y="3818395"/>
            <a:ext cx="4693391" cy="22692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Least squares regression – Gradient descent </a:t>
            </a:r>
            <a:endParaRPr/>
          </a:p>
        </p:txBody>
      </p:sp>
      <p:sp>
        <p:nvSpPr>
          <p:cNvPr id="104" name="Google Shape;104;p18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105" name="Google Shape;105;p18"/>
          <p:cNvPicPr preferRelativeResize="0"/>
          <p:nvPr/>
        </p:nvPicPr>
        <p:blipFill rotWithShape="1">
          <a:blip r:embed="rId3">
            <a:alphaModFix/>
          </a:blip>
          <a:srcRect l="-50" t="-6343" r="49" b="27733"/>
          <a:stretch/>
        </p:blipFill>
        <p:spPr>
          <a:xfrm>
            <a:off x="1098385" y="1977010"/>
            <a:ext cx="7217538" cy="36953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Hinge Loss</a:t>
            </a:r>
            <a:endParaRPr/>
          </a:p>
        </p:txBody>
      </p:sp>
      <p:sp>
        <p:nvSpPr>
          <p:cNvPr id="118" name="Google Shape;118;p22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119" name="Google Shape;119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78529" y="1897412"/>
            <a:ext cx="6276975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71240" y="2594674"/>
            <a:ext cx="4631168" cy="2319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Gradient of Hinge Loss</a:t>
            </a:r>
            <a:endParaRPr/>
          </a:p>
        </p:txBody>
      </p:sp>
      <p:sp>
        <p:nvSpPr>
          <p:cNvPr id="126" name="Google Shape;126;p23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127" name="Google Shape;127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50987" y="1752601"/>
            <a:ext cx="4632837" cy="2268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7802" y="3971925"/>
            <a:ext cx="6829425" cy="204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Logistic Regression</a:t>
            </a:r>
            <a:endParaRPr/>
          </a:p>
        </p:txBody>
      </p:sp>
      <p:sp>
        <p:nvSpPr>
          <p:cNvPr id="134" name="Google Shape;134;p24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135" name="Google Shape;135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79765" y="1752600"/>
            <a:ext cx="5905500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7769" y="2371725"/>
            <a:ext cx="4209807" cy="3085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Stochastic gradient descent</a:t>
            </a:r>
            <a:endParaRPr/>
          </a:p>
        </p:txBody>
      </p:sp>
      <p:sp>
        <p:nvSpPr>
          <p:cNvPr id="111" name="Google Shape;111;p19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112" name="Google Shape;112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53453" y="1752600"/>
            <a:ext cx="6437093" cy="4074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p25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143" name="Google Shape;143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0412" y="1957387"/>
            <a:ext cx="7629525" cy="385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09F4C07DA96AA489B47C2DAEE3FF600" ma:contentTypeVersion="3" ma:contentTypeDescription="Create a new document." ma:contentTypeScope="" ma:versionID="141eb740bd562c224194a820cd93de89">
  <xsd:schema xmlns:xsd="http://www.w3.org/2001/XMLSchema" xmlns:xs="http://www.w3.org/2001/XMLSchema" xmlns:p="http://schemas.microsoft.com/office/2006/metadata/properties" xmlns:ns2="2dd40012-8713-4aa0-b95f-644e1bb378dc" targetNamespace="http://schemas.microsoft.com/office/2006/metadata/properties" ma:root="true" ma:fieldsID="9008c3073cad716f14d8acfe17a7b91b" ns2:_="">
    <xsd:import namespace="2dd40012-8713-4aa0-b95f-644e1bb378d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d40012-8713-4aa0-b95f-644e1bb378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F32D33A-C3C0-4B62-A71A-B7F80FBA1568}"/>
</file>

<file path=customXml/itemProps2.xml><?xml version="1.0" encoding="utf-8"?>
<ds:datastoreItem xmlns:ds="http://schemas.openxmlformats.org/officeDocument/2006/customXml" ds:itemID="{121D5785-F076-4A0F-9936-954D16482E82}"/>
</file>

<file path=customXml/itemProps3.xml><?xml version="1.0" encoding="utf-8"?>
<ds:datastoreItem xmlns:ds="http://schemas.openxmlformats.org/officeDocument/2006/customXml" ds:itemID="{E5E68A5B-EB5B-4244-816E-0F2376373C9F}"/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42</Words>
  <Application>Microsoft Office PowerPoint</Application>
  <PresentationFormat>On-screen Show (4:3)</PresentationFormat>
  <Paragraphs>16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Noto Sans Symbols</vt:lpstr>
      <vt:lpstr>Times New Roman</vt:lpstr>
      <vt:lpstr>Verdana</vt:lpstr>
      <vt:lpstr>Profile</vt:lpstr>
      <vt:lpstr>Artificial Intelligence</vt:lpstr>
      <vt:lpstr>Learning objectives</vt:lpstr>
      <vt:lpstr>How to optimize?</vt:lpstr>
      <vt:lpstr>Least squares regression – Gradient descent </vt:lpstr>
      <vt:lpstr>Hinge Loss</vt:lpstr>
      <vt:lpstr>Gradient of Hinge Loss</vt:lpstr>
      <vt:lpstr>Logistic Regression</vt:lpstr>
      <vt:lpstr>Stochastic gradient descent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Onaiza Maqbool</cp:lastModifiedBy>
  <cp:revision>4</cp:revision>
  <dcterms:created xsi:type="dcterms:W3CDTF">1601-01-01T00:00:00Z</dcterms:created>
  <dcterms:modified xsi:type="dcterms:W3CDTF">2025-10-01T05:56:48Z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0x010100309F4C07DA96AA489B47C2DAEE3FF600</vt:lpwstr>
  </property>
</Properties>
</file>