
<file path=[Content_Types].xml><?xml version="1.0" encoding="utf-8"?>
<Types xmlns="http://schemas.openxmlformats.org/package/2006/content-types">
  <Default Extension="jpg" ContentType="image/jpeg"/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custom-properties" Target="docProps/custom.xml"/><Relationship Id="rId2" Type="http://schemas.openxmlformats.org/officeDocument/2006/relationships/officeDocument" Target="ppt/presentation.xml"/><Relationship Id="rId1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29" roundtripDataSignature="AMtx7mi9iaSeCi0pGDfzrBU1B9sbSGO6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1" Type="http://schemas.openxmlformats.org/officeDocument/2006/relationships/slide" Target="slides/slide16.xml"/><Relationship Id="rId3" Type="http://schemas.openxmlformats.org/officeDocument/2006/relationships/presProps" Target="presProps.xml"/><Relationship Id="rId25" Type="http://schemas.openxmlformats.org/officeDocument/2006/relationships/slide" Target="slides/slide20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0" Type="http://schemas.openxmlformats.org/officeDocument/2006/relationships/slide" Target="slides/slide15.xml"/><Relationship Id="rId2" Type="http://schemas.openxmlformats.org/officeDocument/2006/relationships/viewProps" Target="viewProps.xml"/><Relationship Id="rId29" Type="http://customschemas.google.com/relationships/presentationmetadata" Target="metadata"/><Relationship Id="rId16" Type="http://schemas.openxmlformats.org/officeDocument/2006/relationships/slide" Target="slides/slide11.xml"/><Relationship Id="rId24" Type="http://schemas.openxmlformats.org/officeDocument/2006/relationships/slide" Target="slides/slide19.xml"/><Relationship Id="rId1" Type="http://schemas.openxmlformats.org/officeDocument/2006/relationships/theme" Target="theme/theme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32" Type="http://schemas.openxmlformats.org/officeDocument/2006/relationships/customXml" Target="../customXml/item3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5" Type="http://schemas.openxmlformats.org/officeDocument/2006/relationships/notesMaster" Target="notesMasters/notesMaster1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customXml" Target="../customXml/item2.xml"/><Relationship Id="rId22" Type="http://schemas.openxmlformats.org/officeDocument/2006/relationships/slide" Target="slides/slide1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7" Type="http://schemas.openxmlformats.org/officeDocument/2006/relationships/slide" Target="slides/slide22.xml"/><Relationship Id="rId14" Type="http://schemas.openxmlformats.org/officeDocument/2006/relationships/slide" Target="slides/slide9.xml"/><Relationship Id="rId30" Type="http://schemas.openxmlformats.org/officeDocument/2006/relationships/customXml" Target="../customXml/item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/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9"/>
          <p:cNvSpPr txBox="1"/>
          <p:nvPr>
            <p:ph idx="1" type="subTitle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2100"/>
              <a:buFont typeface="Noto Sans Symbols"/>
              <a:buNone/>
              <a:defRPr sz="2100"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9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0" name="Google Shape;20;p2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9"/>
          <p:cNvSpPr/>
          <p:nvPr/>
        </p:nvSpPr>
        <p:spPr>
          <a:xfrm>
            <a:off x="685800" y="2393950"/>
            <a:ext cx="7772400" cy="109538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0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0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7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7"/>
          <p:cNvSpPr txBox="1"/>
          <p:nvPr>
            <p:ph idx="1" type="body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83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□"/>
              <a:defRPr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/>
            </a:lvl2pPr>
            <a:lvl3pPr indent="-34925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□"/>
              <a:defRPr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■"/>
              <a:defRPr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7"/>
          <p:cNvSpPr txBox="1"/>
          <p:nvPr>
            <p:ph idx="2" type="body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83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□"/>
              <a:defRPr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/>
            </a:lvl2pPr>
            <a:lvl3pPr indent="-34925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□"/>
              <a:defRPr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■"/>
              <a:defRPr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57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7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4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34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4"/>
          <p:cNvSpPr txBox="1"/>
          <p:nvPr>
            <p:ph idx="11" type="ftr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6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36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6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36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36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6"/>
          <p:cNvSpPr txBox="1"/>
          <p:nvPr>
            <p:ph idx="11" type="ftr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7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1" type="ftr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9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9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2" name="Google Shape;52;p39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3" name="Google Shape;53;p39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9"/>
          <p:cNvSpPr txBox="1"/>
          <p:nvPr>
            <p:ph idx="11" type="ftr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0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0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40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40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0"/>
          <p:cNvSpPr txBox="1"/>
          <p:nvPr>
            <p:ph idx="11" type="ftr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1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1"/>
          <p:cNvSpPr txBox="1"/>
          <p:nvPr>
            <p:ph idx="1" type="body"/>
          </p:nvPr>
        </p:nvSpPr>
        <p:spPr>
          <a:xfrm rot="5400000">
            <a:off x="2433638" y="-114300"/>
            <a:ext cx="4267200" cy="8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41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1"/>
          <p:cNvSpPr txBox="1"/>
          <p:nvPr>
            <p:ph idx="11" type="ftr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2"/>
          <p:cNvSpPr txBox="1"/>
          <p:nvPr>
            <p:ph type="title"/>
          </p:nvPr>
        </p:nvSpPr>
        <p:spPr>
          <a:xfrm rot="5400000">
            <a:off x="4717257" y="2161382"/>
            <a:ext cx="5715000" cy="2001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2"/>
          <p:cNvSpPr txBox="1"/>
          <p:nvPr>
            <p:ph idx="1" type="body"/>
          </p:nvPr>
        </p:nvSpPr>
        <p:spPr>
          <a:xfrm rot="5400000">
            <a:off x="636588" y="234950"/>
            <a:ext cx="5715000" cy="58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42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2"/>
          <p:cNvSpPr txBox="1"/>
          <p:nvPr>
            <p:ph idx="11" type="ftr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8"/>
          <p:cNvSpPr/>
          <p:nvPr/>
        </p:nvSpPr>
        <p:spPr>
          <a:xfrm>
            <a:off x="609600" y="1566863"/>
            <a:ext cx="7958138" cy="109537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p58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58"/>
          <p:cNvSpPr txBox="1"/>
          <p:nvPr/>
        </p:nvSpPr>
        <p:spPr>
          <a:xfrm>
            <a:off x="6400800" y="6308725"/>
            <a:ext cx="2362200" cy="54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Monday, March 28</a:t>
            </a:r>
            <a:r>
              <a:rPr b="0" baseline="3000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58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28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8300" lvl="0" marL="4572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Char char="□"/>
              <a:defRPr b="0" i="0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49250" lvl="2" marL="13716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□"/>
              <a:defRPr b="0" i="0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28"/>
          <p:cNvSpPr/>
          <p:nvPr/>
        </p:nvSpPr>
        <p:spPr>
          <a:xfrm>
            <a:off x="609600" y="1566863"/>
            <a:ext cx="7958138" cy="109537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" name="Google Shape;13;p28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" name="Google Shape;14;p28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"/>
          <p:cNvSpPr txBox="1"/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Artificial Intelligence</a:t>
            </a:r>
            <a:endParaRPr/>
          </a:p>
        </p:txBody>
      </p:sp>
      <p:sp>
        <p:nvSpPr>
          <p:cNvPr id="81" name="Google Shape;81;p1"/>
          <p:cNvSpPr txBox="1"/>
          <p:nvPr>
            <p:ph idx="1" type="subTitle"/>
          </p:nvPr>
        </p:nvSpPr>
        <p:spPr>
          <a:xfrm>
            <a:off x="1447800" y="3429000"/>
            <a:ext cx="70866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Lecture # 19</a:t>
            </a:r>
            <a:endParaRPr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17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Session#22</a:t>
            </a:r>
            <a:endParaRPr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17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17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17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17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1700"/>
          </a:p>
          <a:p>
            <a:pPr indent="0" lvl="0" marL="0" rtl="0" algn="ctr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Learning objectives</a:t>
            </a:r>
            <a:endParaRPr/>
          </a:p>
        </p:txBody>
      </p:sp>
      <p:sp>
        <p:nvSpPr>
          <p:cNvPr id="87" name="Google Shape;87;p2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To enable students to 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Understand consistent heuristics in Search-based strategies 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3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Admissible heuristics</a:t>
            </a:r>
            <a:endParaRPr/>
          </a:p>
        </p:txBody>
      </p:sp>
      <p:sp>
        <p:nvSpPr>
          <p:cNvPr id="93" name="Google Shape;93;p33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500"/>
              <a:t>A heuristic </a:t>
            </a:r>
            <a:r>
              <a:rPr i="1" lang="en-US" sz="2500"/>
              <a:t>h(n)</a:t>
            </a:r>
            <a:r>
              <a:rPr lang="en-US" sz="2500"/>
              <a:t> is </a:t>
            </a:r>
            <a:r>
              <a:rPr lang="en-US" sz="2500">
                <a:solidFill>
                  <a:srgbClr val="FF0000"/>
                </a:solidFill>
              </a:rPr>
              <a:t>admissible</a:t>
            </a:r>
            <a:r>
              <a:rPr lang="en-US" sz="2500"/>
              <a:t> if for every node </a:t>
            </a:r>
            <a:r>
              <a:rPr i="1" lang="en-US" sz="2500"/>
              <a:t>n</a:t>
            </a:r>
            <a:r>
              <a:rPr lang="en-US" sz="2500"/>
              <a:t>,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i="1" lang="en-US" sz="2500"/>
              <a:t>	h(n) ≤ h</a:t>
            </a:r>
            <a:r>
              <a:rPr baseline="30000" i="1" lang="en-US" sz="2500"/>
              <a:t>*</a:t>
            </a:r>
            <a:r>
              <a:rPr i="1" lang="en-US" sz="2500"/>
              <a:t>(n), </a:t>
            </a:r>
            <a:r>
              <a:rPr lang="en-US" sz="2500"/>
              <a:t>where </a:t>
            </a:r>
            <a:r>
              <a:rPr i="1" lang="en-US" sz="2500"/>
              <a:t>h</a:t>
            </a:r>
            <a:r>
              <a:rPr baseline="30000" i="1" lang="en-US" sz="2500"/>
              <a:t>*</a:t>
            </a:r>
            <a:r>
              <a:rPr i="1" lang="en-US" sz="2500"/>
              <a:t>(n)</a:t>
            </a:r>
            <a:r>
              <a:rPr lang="en-US" sz="2500"/>
              <a:t> is the </a:t>
            </a:r>
            <a:r>
              <a:rPr lang="en-US" sz="2500">
                <a:solidFill>
                  <a:srgbClr val="FF0000"/>
                </a:solidFill>
              </a:rPr>
              <a:t>true </a:t>
            </a:r>
            <a:r>
              <a:rPr lang="en-US" sz="2500"/>
              <a:t>cost to reach the goal state from </a:t>
            </a:r>
            <a:r>
              <a:rPr i="1" lang="en-US" sz="2500"/>
              <a:t>n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000"/>
          </a:p>
          <a:p>
            <a:pPr indent="-342900" lvl="0" marL="457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❑"/>
            </a:pPr>
            <a:r>
              <a:rPr lang="en-US" sz="2500"/>
              <a:t>An admissible heuristic </a:t>
            </a:r>
            <a:r>
              <a:rPr lang="en-US" sz="2500">
                <a:solidFill>
                  <a:srgbClr val="FF0000"/>
                </a:solidFill>
              </a:rPr>
              <a:t>never overestimates</a:t>
            </a:r>
            <a:r>
              <a:rPr lang="en-US" sz="2500"/>
              <a:t> the cost to reach the goal, i.e., it is </a:t>
            </a:r>
            <a:r>
              <a:rPr lang="en-US" sz="2500">
                <a:solidFill>
                  <a:srgbClr val="FF0000"/>
                </a:solidFill>
              </a:rPr>
              <a:t>optimistic</a:t>
            </a:r>
            <a:endParaRPr sz="2500"/>
          </a:p>
          <a:p>
            <a:pPr indent="-228600" lvl="0" marL="457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000"/>
          </a:p>
          <a:p>
            <a:pPr indent="-342900" lvl="0" marL="457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❑"/>
            </a:pPr>
            <a:r>
              <a:rPr lang="en-US" sz="2500"/>
              <a:t>Example: </a:t>
            </a:r>
            <a:r>
              <a:rPr i="1" lang="en-US" sz="2500"/>
              <a:t>h</a:t>
            </a:r>
            <a:r>
              <a:rPr baseline="-25000" i="1" lang="en-US" sz="2500"/>
              <a:t>SLD</a:t>
            </a:r>
            <a:r>
              <a:rPr i="1" lang="en-US" sz="2500"/>
              <a:t>(n) </a:t>
            </a:r>
            <a:r>
              <a:rPr lang="en-US" sz="2500"/>
              <a:t>(never overestimates the actual road distance)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000">
              <a:solidFill>
                <a:schemeClr val="accent2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2500">
                <a:solidFill>
                  <a:schemeClr val="accent2"/>
                </a:solidFill>
              </a:rPr>
              <a:t>Theorem</a:t>
            </a:r>
            <a:r>
              <a:rPr lang="en-US" sz="2500"/>
              <a:t>: If </a:t>
            </a:r>
            <a:r>
              <a:rPr i="1" lang="en-US" sz="2500"/>
              <a:t>h(n) </a:t>
            </a:r>
            <a:r>
              <a:rPr lang="en-US" sz="2500"/>
              <a:t>is admissible, A</a:t>
            </a:r>
            <a:r>
              <a:rPr baseline="30000" lang="en-US" sz="2500"/>
              <a:t>*</a:t>
            </a:r>
            <a:r>
              <a:rPr lang="en-US" sz="2500"/>
              <a:t> using </a:t>
            </a:r>
            <a:r>
              <a:rPr lang="en-US" sz="2500">
                <a:latin typeface="Courier New"/>
                <a:ea typeface="Courier New"/>
                <a:cs typeface="Courier New"/>
                <a:sym typeface="Courier New"/>
              </a:rPr>
              <a:t>TREE-SEARCH</a:t>
            </a:r>
            <a:r>
              <a:rPr lang="en-US" sz="2500"/>
              <a:t> is optimal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3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Consistent heuristics</a:t>
            </a:r>
            <a:endParaRPr/>
          </a:p>
        </p:txBody>
      </p:sp>
      <p:sp>
        <p:nvSpPr>
          <p:cNvPr id="99" name="Google Shape;99;p43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400"/>
              <a:t>A heuristic is </a:t>
            </a:r>
            <a:r>
              <a:rPr lang="en-US" sz="2400">
                <a:solidFill>
                  <a:srgbClr val="FF0000"/>
                </a:solidFill>
              </a:rPr>
              <a:t>consistent</a:t>
            </a:r>
            <a:r>
              <a:rPr lang="en-US" sz="2400"/>
              <a:t> if for every node </a:t>
            </a:r>
            <a:r>
              <a:rPr i="1" lang="en-US" sz="2400"/>
              <a:t>n</a:t>
            </a:r>
            <a:r>
              <a:rPr lang="en-US" sz="2400"/>
              <a:t>, every successor </a:t>
            </a:r>
            <a:r>
              <a:rPr i="1" lang="en-US" sz="2400"/>
              <a:t>n'</a:t>
            </a:r>
            <a:r>
              <a:rPr lang="en-US" sz="2400"/>
              <a:t> of </a:t>
            </a:r>
            <a:r>
              <a:rPr i="1" lang="en-US" sz="2400"/>
              <a:t>n</a:t>
            </a:r>
            <a:r>
              <a:rPr lang="en-US" sz="2400"/>
              <a:t> generated by any action </a:t>
            </a:r>
            <a:r>
              <a:rPr i="1" lang="en-US" sz="2400"/>
              <a:t>a</a:t>
            </a:r>
            <a:r>
              <a:rPr lang="en-US" sz="2400"/>
              <a:t>, </a:t>
            </a:r>
            <a:endParaRPr/>
          </a:p>
          <a:p>
            <a:pPr indent="-342900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lang="en-US" sz="2400"/>
              <a:t>	</a:t>
            </a:r>
            <a:r>
              <a:rPr i="1" lang="en-US" sz="2400"/>
              <a:t>h(n) ≤ c(n,a,n') + h(n')</a:t>
            </a:r>
            <a:endParaRPr sz="2400"/>
          </a:p>
          <a:p>
            <a:pPr indent="-228600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-342900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t/>
            </a:r>
            <a:endParaRPr sz="2400"/>
          </a:p>
          <a:p>
            <a:pPr indent="-342900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t/>
            </a:r>
            <a:endParaRPr sz="2400">
              <a:solidFill>
                <a:schemeClr val="accent2"/>
              </a:solidFill>
            </a:endParaRPr>
          </a:p>
          <a:p>
            <a:pPr indent="-342900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t/>
            </a:r>
            <a:endParaRPr sz="2400">
              <a:solidFill>
                <a:schemeClr val="accent2"/>
              </a:solidFill>
            </a:endParaRPr>
          </a:p>
          <a:p>
            <a:pPr indent="-342900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t/>
            </a:r>
            <a:endParaRPr sz="2400">
              <a:solidFill>
                <a:schemeClr val="accent2"/>
              </a:solidFill>
            </a:endParaRPr>
          </a:p>
          <a:p>
            <a:pPr indent="-342900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t/>
            </a:r>
            <a:endParaRPr sz="2400">
              <a:solidFill>
                <a:schemeClr val="accent2"/>
              </a:solidFill>
            </a:endParaRPr>
          </a:p>
          <a:p>
            <a:pPr indent="-342900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lang="en-US" sz="2400"/>
              <a:t>Every consistent heuristic is admissible</a:t>
            </a:r>
            <a:endParaRPr sz="2400"/>
          </a:p>
          <a:p>
            <a:pPr indent="-342900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t/>
            </a:r>
            <a:endParaRPr sz="2400"/>
          </a:p>
          <a:p>
            <a:pPr indent="-342900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lang="en-US" sz="2400">
                <a:solidFill>
                  <a:schemeClr val="accent2"/>
                </a:solidFill>
              </a:rPr>
              <a:t>Theorem</a:t>
            </a:r>
            <a:r>
              <a:rPr lang="en-US" sz="2400"/>
              <a:t>: If </a:t>
            </a:r>
            <a:r>
              <a:rPr i="1" lang="en-US" sz="2400"/>
              <a:t>h(n)</a:t>
            </a:r>
            <a:r>
              <a:rPr lang="en-US" sz="2400"/>
              <a:t> is consistent, A* using 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GRAPH-SEARCH</a:t>
            </a:r>
            <a:r>
              <a:rPr lang="en-US" sz="2400"/>
              <a:t> is      optimal</a:t>
            </a:r>
            <a:endParaRPr/>
          </a:p>
        </p:txBody>
      </p:sp>
      <p:pic>
        <p:nvPicPr>
          <p:cNvPr descr="consistency" id="100" name="Google Shape;10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2600" y="2514600"/>
            <a:ext cx="2176463" cy="231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8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Admissible heuristics</a:t>
            </a:r>
            <a:endParaRPr/>
          </a:p>
        </p:txBody>
      </p:sp>
      <p:sp>
        <p:nvSpPr>
          <p:cNvPr id="106" name="Google Shape;106;p48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lang="en-US" sz="2000"/>
              <a:t>E.g., for the 8-puzzle:</a:t>
            </a:r>
            <a:br>
              <a:rPr lang="en-US" sz="2000"/>
            </a:br>
            <a:endParaRPr/>
          </a:p>
          <a:p>
            <a:pPr indent="-342900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i="1" lang="en-US" sz="2000"/>
              <a:t>h</a:t>
            </a:r>
            <a:r>
              <a:rPr baseline="-25000" i="1" lang="en-US" sz="2000"/>
              <a:t>1</a:t>
            </a:r>
            <a:r>
              <a:rPr i="1" lang="en-US" sz="2000"/>
              <a:t>(n) </a:t>
            </a:r>
            <a:r>
              <a:rPr lang="en-US" sz="2000"/>
              <a:t>= number of misplaced tiles</a:t>
            </a:r>
            <a:endParaRPr/>
          </a:p>
          <a:p>
            <a:pPr indent="-342900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i="1" lang="en-US" sz="2000"/>
              <a:t>h</a:t>
            </a:r>
            <a:r>
              <a:rPr baseline="-25000" i="1" lang="en-US" sz="2000"/>
              <a:t>2</a:t>
            </a:r>
            <a:r>
              <a:rPr i="1" lang="en-US" sz="2000"/>
              <a:t>(n) </a:t>
            </a:r>
            <a:r>
              <a:rPr lang="en-US" sz="2000"/>
              <a:t>= total Manhattan distance</a:t>
            </a:r>
            <a:endParaRPr/>
          </a:p>
          <a:p>
            <a:pPr indent="-342900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lang="en-US" sz="2000"/>
              <a:t>(i.e., no. of squares from desired location of each tile)</a:t>
            </a:r>
            <a:br>
              <a:rPr lang="en-US" sz="2000"/>
            </a:br>
            <a:endParaRPr/>
          </a:p>
          <a:p>
            <a:pPr indent="-342900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t/>
            </a:r>
            <a:endParaRPr sz="2000"/>
          </a:p>
          <a:p>
            <a:pPr indent="-342900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t/>
            </a:r>
            <a:endParaRPr sz="2400"/>
          </a:p>
          <a:p>
            <a:pPr indent="-342900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t/>
            </a:r>
            <a:endParaRPr sz="2400"/>
          </a:p>
          <a:p>
            <a:pPr indent="-342900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t/>
            </a:r>
            <a:endParaRPr sz="2400"/>
          </a:p>
          <a:p>
            <a:pPr indent="-228600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600" u="sng">
              <a:solidFill>
                <a:srgbClr val="CC0099"/>
              </a:solidFill>
            </a:endParaRPr>
          </a:p>
          <a:p>
            <a:pPr indent="-342900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600" u="sng">
                <a:solidFill>
                  <a:srgbClr val="CC0099"/>
                </a:solidFill>
              </a:rPr>
              <a:t>h</a:t>
            </a:r>
            <a:r>
              <a:rPr baseline="-25000" lang="en-US" sz="2600" u="sng">
                <a:solidFill>
                  <a:srgbClr val="CC0099"/>
                </a:solidFill>
              </a:rPr>
              <a:t>1</a:t>
            </a:r>
            <a:r>
              <a:rPr lang="en-US" sz="2600" u="sng">
                <a:solidFill>
                  <a:srgbClr val="CC0099"/>
                </a:solidFill>
              </a:rPr>
              <a:t>(S) = ?</a:t>
            </a:r>
            <a:r>
              <a:rPr lang="en-US" sz="2600"/>
              <a:t> </a:t>
            </a:r>
            <a:endParaRPr sz="2600" u="sng">
              <a:solidFill>
                <a:srgbClr val="CC0099"/>
              </a:solidFill>
            </a:endParaRPr>
          </a:p>
          <a:p>
            <a:pPr indent="-342900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600" u="sng">
                <a:solidFill>
                  <a:srgbClr val="CC0099"/>
                </a:solidFill>
              </a:rPr>
              <a:t>h</a:t>
            </a:r>
            <a:r>
              <a:rPr baseline="-25000" lang="en-US" sz="2600" u="sng">
                <a:solidFill>
                  <a:srgbClr val="CC0099"/>
                </a:solidFill>
              </a:rPr>
              <a:t>2</a:t>
            </a:r>
            <a:r>
              <a:rPr lang="en-US" sz="2600" u="sng">
                <a:solidFill>
                  <a:srgbClr val="CC0099"/>
                </a:solidFill>
              </a:rPr>
              <a:t>(S) = ?</a:t>
            </a:r>
            <a:r>
              <a:rPr lang="en-US" sz="2600"/>
              <a:t> </a:t>
            </a:r>
            <a:endParaRPr/>
          </a:p>
          <a:p>
            <a:pPr indent="-342900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000"/>
              <a:t>Neither of these overestimates the true solution cost</a:t>
            </a:r>
            <a:endParaRPr/>
          </a:p>
        </p:txBody>
      </p:sp>
      <p:pic>
        <p:nvPicPr>
          <p:cNvPr descr="8puzzle" id="107" name="Google Shape;10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0400" y="3429000"/>
            <a:ext cx="4105275" cy="208438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8"/>
          <p:cNvSpPr txBox="1"/>
          <p:nvPr/>
        </p:nvSpPr>
        <p:spPr>
          <a:xfrm>
            <a:off x="2340243" y="5174067"/>
            <a:ext cx="7904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109" name="Google Shape;109;p48"/>
          <p:cNvSpPr txBox="1"/>
          <p:nvPr/>
        </p:nvSpPr>
        <p:spPr>
          <a:xfrm>
            <a:off x="2322165" y="5513388"/>
            <a:ext cx="369118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3+1+2+2+2+3+3+2 = 18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Relaxation</a:t>
            </a:r>
            <a:endParaRPr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16" name="Google Shape;11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3353" y="1752600"/>
            <a:ext cx="7247770" cy="4033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Relaxation</a:t>
            </a:r>
            <a:endParaRPr/>
          </a:p>
        </p:txBody>
      </p:sp>
      <p:sp>
        <p:nvSpPr>
          <p:cNvPr id="122" name="Google Shape;122;p18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Instead of computing FutureCost(s) on the original problem, compute FutureCost(s) on an easier problem </a:t>
            </a:r>
            <a:endParaRPr/>
          </a:p>
          <a:p>
            <a:pPr indent="0" lvl="1" marL="5715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Coming up with good heuristics is about modeling, not algorithms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We have to think carefully about our problem domain and see what kind of structure we can exploit in it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Closed form solution</a:t>
            </a:r>
            <a:endParaRPr/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29" name="Google Shape;12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5267" y="1825327"/>
            <a:ext cx="5313466" cy="4149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Independent sub-problems</a:t>
            </a:r>
            <a:endParaRPr/>
          </a:p>
        </p:txBody>
      </p:sp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36" name="Google Shape;1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2153" y="1791646"/>
            <a:ext cx="6140581" cy="4228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General Framework</a:t>
            </a:r>
            <a:endParaRPr/>
          </a:p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43" name="Google Shape;1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332" y="1705928"/>
            <a:ext cx="6162674" cy="431387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3"/>
          <p:cNvSpPr txBox="1"/>
          <p:nvPr/>
        </p:nvSpPr>
        <p:spPr>
          <a:xfrm>
            <a:off x="3912433" y="2143593"/>
            <a:ext cx="1633927" cy="34477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24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51" name="Google Shape;15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012" y="1843727"/>
            <a:ext cx="7855663" cy="4084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25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We define a relaxed search problem as one where the relaxed edge costs are no larger than the original edge costs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The relaxed heuristic is simply the future cost of the relaxed search problem, which by design should be efficiently computable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All of these relaxed problems are simply used to get the value of the heuristic h(s) to guide the full search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The actual solutions to these relaxed problems are not used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900"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5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35"/>
          <p:cNvSpPr txBox="1"/>
          <p:nvPr>
            <p:ph idx="1" type="body"/>
          </p:nvPr>
        </p:nvSpPr>
        <p:spPr>
          <a:xfrm>
            <a:off x="566738" y="1752600"/>
            <a:ext cx="4889682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000"/>
              <a:t>Removing constraints can be thought of as adding edges (you can go between pairs of states that you weren’t able to before)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800"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000"/>
              <a:t>Adding edges is equivalent to reducing the edge cost from infinity to something finite (the resulting edge cost)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800"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000"/>
              <a:t>The state-space graph of the relaxed problem is a super-graph of the original state relaxed problem space because the removal of restrictions creates added edges in the graph </a:t>
            </a:r>
            <a:endParaRPr sz="2000"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</p:txBody>
      </p:sp>
      <p:pic>
        <p:nvPicPr>
          <p:cNvPr descr="Induced Subgraphs | Baeldung on Computer Science" id="164" name="Google Shape;16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6420" y="3103237"/>
            <a:ext cx="3655168" cy="1232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8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38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The relaxed problem adds edges to the state-space graph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any optimal solution in the original problem is, by definition, also a solution in the relaxed problem </a:t>
            </a:r>
            <a:endParaRPr/>
          </a:p>
          <a:p>
            <a:pPr indent="-2286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The relaxed problem may have better solutions if the added edges provide shortcuts.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The cost of an optimal solution to a relaxed problem is an admissible heuristic for the original problem.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7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Consistency of Relaxed Heuristics</a:t>
            </a:r>
            <a:endParaRPr/>
          </a:p>
        </p:txBody>
      </p:sp>
      <p:sp>
        <p:nvSpPr>
          <p:cNvPr id="176" name="Google Shape;176;p47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77" name="Google Shape;17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294" y="1752600"/>
            <a:ext cx="7799198" cy="41811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9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Tradeoff</a:t>
            </a:r>
            <a:endParaRPr/>
          </a:p>
        </p:txBody>
      </p:sp>
      <p:sp>
        <p:nvSpPr>
          <p:cNvPr id="183" name="Google Shape;183;p59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84" name="Google Shape;184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4262" y="1752600"/>
            <a:ext cx="7166704" cy="4146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9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Admissible heuristics</a:t>
            </a:r>
            <a:endParaRPr/>
          </a:p>
        </p:txBody>
      </p:sp>
      <p:sp>
        <p:nvSpPr>
          <p:cNvPr id="190" name="Google Shape;190;p49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000"/>
              <a:t>From the definitions of the two heuristics, for any node </a:t>
            </a:r>
            <a:r>
              <a:rPr i="1" lang="en-US" sz="2000"/>
              <a:t>n, h2(n) &gt;= h1(n)</a:t>
            </a:r>
            <a:r>
              <a:rPr lang="en-US" sz="2000"/>
              <a:t>. </a:t>
            </a:r>
            <a:endParaRPr sz="1800"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000"/>
              <a:t>We thus say that </a:t>
            </a:r>
            <a:r>
              <a:rPr i="1" lang="en-US" sz="2000"/>
              <a:t>h2</a:t>
            </a:r>
            <a:r>
              <a:rPr lang="en-US" sz="2000"/>
              <a:t> dominates </a:t>
            </a:r>
            <a:r>
              <a:rPr i="1" lang="en-US" sz="2000"/>
              <a:t>h1</a:t>
            </a:r>
            <a:endParaRPr sz="1800"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000"/>
              <a:t>Domination translates directly into efficiency</a:t>
            </a:r>
            <a:endParaRPr sz="1800"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000"/>
              <a:t>A* using </a:t>
            </a:r>
            <a:r>
              <a:rPr i="1" lang="en-US" sz="2000"/>
              <a:t>h2</a:t>
            </a:r>
            <a:r>
              <a:rPr lang="en-US" sz="2000"/>
              <a:t> will never expand more nodes than A* using </a:t>
            </a:r>
            <a:r>
              <a:rPr i="1" lang="en-US" sz="2000"/>
              <a:t>h1</a:t>
            </a:r>
            <a:endParaRPr sz="1800"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000"/>
              <a:t>Better to use a heuristic function with higher values, provided it does not overestimate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</p:txBody>
      </p:sp>
      <p:sp>
        <p:nvSpPr>
          <p:cNvPr id="191" name="Google Shape;191;p49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2" name="Google Shape;19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5359582"/>
            <a:ext cx="4680524" cy="515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0"/>
          <p:cNvSpPr txBox="1"/>
          <p:nvPr>
            <p:ph type="title"/>
          </p:nvPr>
        </p:nvSpPr>
        <p:spPr>
          <a:xfrm>
            <a:off x="574675" y="304800"/>
            <a:ext cx="80010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60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99" name="Google Shape;199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8250" y="666750"/>
            <a:ext cx="6667500" cy="552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0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Dynamic Programming</a:t>
            </a:r>
            <a:endParaRPr/>
          </a:p>
        </p:txBody>
      </p:sp>
      <p:sp>
        <p:nvSpPr>
          <p:cNvPr id="205" name="Google Shape;205;p50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Not an algorithm, but a technique like divide and conquer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Dynamic Programming is a technique typically applied for solving </a:t>
            </a:r>
            <a:r>
              <a:rPr i="1" lang="en-US"/>
              <a:t>optimization</a:t>
            </a:r>
            <a:r>
              <a:rPr lang="en-US"/>
              <a:t> problems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The dynamic programming method determines an </a:t>
            </a:r>
            <a:r>
              <a:rPr i="1" lang="en-US"/>
              <a:t>optimal</a:t>
            </a:r>
            <a:r>
              <a:rPr lang="en-US"/>
              <a:t> solution, that is, one which has the </a:t>
            </a:r>
            <a:r>
              <a:rPr i="1" lang="en-US"/>
              <a:t>maximum</a:t>
            </a:r>
            <a:r>
              <a:rPr lang="en-US"/>
              <a:t> or </a:t>
            </a:r>
            <a:r>
              <a:rPr i="1" lang="en-US"/>
              <a:t>minimum</a:t>
            </a:r>
            <a:r>
              <a:rPr lang="en-US"/>
              <a:t> cost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1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Dynamic Programming</a:t>
            </a:r>
            <a:endParaRPr/>
          </a:p>
        </p:txBody>
      </p:sp>
      <p:sp>
        <p:nvSpPr>
          <p:cNvPr id="211" name="Google Shape;211;p51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1800"/>
              <a:t>The algorithm works by splitting a problem into a sequence of optimization sub problems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1800"/>
              <a:t>The sub problems are solved and then combined to obtain solution to the main problem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1800"/>
              <a:t>The dynamic programming approach seems to be similar to divide-and-conquer approach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1800"/>
              <a:t>However, unlike the divide-and-conquer method, the dynamic programming approach is applicable when the sub-problems are not independent i.e. dynamic programming splits the problem into </a:t>
            </a:r>
            <a:r>
              <a:rPr b="1" i="1" lang="en-US" sz="1800"/>
              <a:t>overlapping </a:t>
            </a:r>
            <a:r>
              <a:rPr lang="en-US" sz="1800"/>
              <a:t>sub problems. 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1800"/>
              <a:t>Further, the optimal solutions to sub problems are stored into a table, which is used to build the final or </a:t>
            </a:r>
            <a:r>
              <a:rPr b="1" i="1" lang="en-US" sz="1800"/>
              <a:t>global optimal </a:t>
            </a:r>
            <a:r>
              <a:rPr lang="en-US" sz="1800"/>
              <a:t>solution.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2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Dynamic Programming</a:t>
            </a:r>
            <a:endParaRPr/>
          </a:p>
        </p:txBody>
      </p:sp>
      <p:sp>
        <p:nvSpPr>
          <p:cNvPr id="217" name="Google Shape;217;p52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Development of a dynamic programming algorithm can be broken into a sequence of following steps: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AutoNum type="arabicPeriod"/>
            </a:pPr>
            <a:r>
              <a:rPr lang="en-US"/>
              <a:t>Characterize the structure of an optimal solution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AutoNum type="arabicPeriod"/>
            </a:pPr>
            <a:r>
              <a:rPr lang="en-US"/>
              <a:t>Recursively define the value of an optimal solution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AutoNum type="arabicPeriod"/>
            </a:pPr>
            <a:r>
              <a:rPr lang="en-US"/>
              <a:t>Compute the value of an optimal solution in a bottom-up fashion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2286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3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Elements of Dynamic Programming</a:t>
            </a:r>
            <a:endParaRPr/>
          </a:p>
        </p:txBody>
      </p:sp>
      <p:sp>
        <p:nvSpPr>
          <p:cNvPr id="223" name="Google Shape;223;p53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Optimal sub-structure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An optimal solution to a problem contains optimal solutions to sub-problems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Dynamic programming uses optimal sub-structure in a bottom-up manner</a:t>
            </a:r>
            <a:endParaRPr/>
          </a:p>
          <a:p>
            <a:pPr indent="-2286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Overlapping sub-problems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Space of sub-problems must be small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Recursive algorithm visits same problem again and again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Each sub-problem is solved once, solution is stored in table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4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Optimal sub-structure</a:t>
            </a:r>
            <a:endParaRPr/>
          </a:p>
        </p:txBody>
      </p:sp>
      <p:sp>
        <p:nvSpPr>
          <p:cNvPr id="229" name="Google Shape;229;p54"/>
          <p:cNvSpPr txBox="1"/>
          <p:nvPr>
            <p:ph idx="1" type="body"/>
          </p:nvPr>
        </p:nvSpPr>
        <p:spPr>
          <a:xfrm>
            <a:off x="566738" y="1752600"/>
            <a:ext cx="8272462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□"/>
            </a:pPr>
            <a:r>
              <a:rPr lang="en-US" sz="1800"/>
              <a:t>The principle of optimality holds in the case of problem of finding a </a:t>
            </a:r>
            <a:r>
              <a:rPr b="1" i="1" lang="en-US" sz="1800"/>
              <a:t>shortest distance </a:t>
            </a:r>
            <a:r>
              <a:rPr lang="en-US" sz="1800"/>
              <a:t>in a network, but it does not hold good for problem of finding the </a:t>
            </a:r>
            <a:r>
              <a:rPr b="1" i="1" lang="en-US" sz="1800"/>
              <a:t>longest distance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b="1" i="1" sz="800"/>
          </a:p>
          <a:p>
            <a:pPr indent="-3683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□"/>
            </a:pPr>
            <a:r>
              <a:rPr lang="en-US" sz="1800"/>
              <a:t>Consider, for example, the network shown in the figure. The shortest distance A to D is A-&gt;B-&gt;C-&gt;D 35. Further, the shortest distance from A to C is A-&gt;B-&gt;C=25, and shortest distance from A to B is A-&gt;B=20. Thus, principle of </a:t>
            </a:r>
            <a:r>
              <a:rPr b="1" i="1" lang="en-US" sz="1800"/>
              <a:t>optimality holds true for each of the sub paths of the shortest distance between A to D.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b="1" i="1" sz="800"/>
          </a:p>
          <a:p>
            <a:pPr indent="-3683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□"/>
            </a:pPr>
            <a:r>
              <a:rPr lang="en-US" sz="1800"/>
              <a:t>Now consider the longest distance from C to A. It is C-&gt;D-&gt;A=60. However, the sub path C-&gt;D=10 is not the longest distance, because the longest distance from C to D is C-&gt;B-&gt;A-&gt;D=75. Hence, the principle of </a:t>
            </a:r>
            <a:r>
              <a:rPr b="1" i="1" lang="en-US" sz="1800"/>
              <a:t>optimality does not hold true</a:t>
            </a:r>
            <a:r>
              <a:rPr lang="en-US" sz="1800"/>
              <a:t>.</a:t>
            </a:r>
            <a:endParaRPr/>
          </a:p>
        </p:txBody>
      </p:sp>
      <p:pic>
        <p:nvPicPr>
          <p:cNvPr id="230" name="Google Shape;230;p54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1400" y="5029200"/>
            <a:ext cx="1362075" cy="10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9F4C07DA96AA489B47C2DAEE3FF600" ma:contentTypeVersion="3" ma:contentTypeDescription="Create a new document." ma:contentTypeScope="" ma:versionID="644e923799dc1d003a52287e229954ae">
  <xsd:schema xmlns:xsd="http://www.w3.org/2001/XMLSchema" xmlns:xs="http://www.w3.org/2001/XMLSchema" xmlns:p="http://schemas.microsoft.com/office/2006/metadata/properties" xmlns:ns2="2dd40012-8713-4aa0-b95f-644e1bb378dc" targetNamespace="http://schemas.microsoft.com/office/2006/metadata/properties" ma:root="true" ma:fieldsID="b691a16675d0382ca78dca2ac2d18c61" ns2:_="">
    <xsd:import namespace="2dd40012-8713-4aa0-b95f-644e1bb378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d40012-8713-4aa0-b95f-644e1bb378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730D3FF-5C5A-4B1C-9A6D-BDC5F4CB5691}"/>
</file>

<file path=customXml/itemProps2.xml><?xml version="1.0" encoding="utf-8"?>
<ds:datastoreItem xmlns:ds="http://schemas.openxmlformats.org/officeDocument/2006/customXml" ds:itemID="{27F07529-3E23-47BF-9BED-71268D791DEA}"/>
</file>

<file path=customXml/itemProps3.xml><?xml version="1.0" encoding="utf-8"?>
<ds:datastoreItem xmlns:ds="http://schemas.openxmlformats.org/officeDocument/2006/customXml" ds:itemID="{3BC80BF8-48BE-4901-9EDC-C97BDB3060ED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Onaiza Maqbool</dc:creator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0x010100309F4C07DA96AA489B47C2DAEE3FF600</vt:lpwstr>
  </property>
</Properties>
</file>