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19"/>
  </p:notesMasterIdLst>
  <p:sldIdLst>
    <p:sldId id="256" r:id="rId5"/>
    <p:sldId id="257" r:id="rId6"/>
    <p:sldId id="346" r:id="rId7"/>
    <p:sldId id="347" r:id="rId8"/>
    <p:sldId id="348" r:id="rId9"/>
    <p:sldId id="349" r:id="rId10"/>
    <p:sldId id="350" r:id="rId11"/>
    <p:sldId id="351" r:id="rId12"/>
    <p:sldId id="353" r:id="rId13"/>
    <p:sldId id="354" r:id="rId14"/>
    <p:sldId id="355" r:id="rId15"/>
    <p:sldId id="356" r:id="rId16"/>
    <p:sldId id="321" r:id="rId17"/>
    <p:sldId id="335" r:id="rId18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0" roundtripDataSignature="AMtx7mi9iaSeCi0pGDfzrBU1B9sbSGO6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1590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40" Type="http://customschemas.google.com/relationships/presentationmetadata" Target="meta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8" name="Google Shape;7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" name="Google Shape;8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2100"/>
              <a:buFont typeface="Noto Sans Symbols"/>
              <a:buNone/>
              <a:defRPr sz="2100"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9"/>
          <p:cNvSpPr/>
          <p:nvPr/>
        </p:nvSpPr>
        <p:spPr>
          <a:xfrm>
            <a:off x="685800" y="2393950"/>
            <a:ext cx="7772400" cy="109538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0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7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□"/>
              <a:defRPr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  <a:defRPr/>
            </a:lvl2pPr>
            <a:lvl3pPr marL="1371600" lvl="2" indent="-34925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□"/>
              <a:defRPr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■"/>
              <a:defRPr/>
            </a:lvl4pPr>
            <a:lvl5pPr marL="228600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57"/>
          <p:cNvSpPr txBox="1">
            <a:spLocks noGrp="1"/>
          </p:cNvSpPr>
          <p:nvPr>
            <p:ph type="body" idx="2"/>
          </p:nvPr>
        </p:nvSpPr>
        <p:spPr>
          <a:xfrm>
            <a:off x="46434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□"/>
              <a:defRPr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  <a:defRPr/>
            </a:lvl2pPr>
            <a:lvl3pPr marL="1371600" lvl="2" indent="-34925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□"/>
              <a:defRPr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■"/>
              <a:defRPr/>
            </a:lvl4pPr>
            <a:lvl5pPr marL="228600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5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7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4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4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3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4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6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6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0" name="Google Shape;40;p36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6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36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3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6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7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9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9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□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■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2" name="Google Shape;52;p39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3" name="Google Shape;53;p3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9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0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0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40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4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0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1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1"/>
          <p:cNvSpPr txBox="1">
            <a:spLocks noGrp="1"/>
          </p:cNvSpPr>
          <p:nvPr>
            <p:ph type="body" idx="1"/>
          </p:nvPr>
        </p:nvSpPr>
        <p:spPr>
          <a:xfrm rot="5400000">
            <a:off x="2433638" y="-114300"/>
            <a:ext cx="4267200" cy="80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4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1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2"/>
          <p:cNvSpPr txBox="1">
            <a:spLocks noGrp="1"/>
          </p:cNvSpPr>
          <p:nvPr>
            <p:ph type="title"/>
          </p:nvPr>
        </p:nvSpPr>
        <p:spPr>
          <a:xfrm rot="5400000">
            <a:off x="4717257" y="2161382"/>
            <a:ext cx="5715000" cy="2001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2"/>
          <p:cNvSpPr txBox="1">
            <a:spLocks noGrp="1"/>
          </p:cNvSpPr>
          <p:nvPr>
            <p:ph type="body" idx="1"/>
          </p:nvPr>
        </p:nvSpPr>
        <p:spPr>
          <a:xfrm rot="5400000">
            <a:off x="636588" y="234950"/>
            <a:ext cx="5715000" cy="58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4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2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Noto Sans Symbols"/>
              <a:buChar char="□"/>
              <a:defRPr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49250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□"/>
              <a:defRPr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28"/>
          <p:cNvSpPr/>
          <p:nvPr/>
        </p:nvSpPr>
        <p:spPr>
          <a:xfrm>
            <a:off x="609600" y="1566863"/>
            <a:ext cx="7958138" cy="109537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" name="Google Shape;13;p28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4;p2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Artificial Intelligence</a:t>
            </a:r>
            <a:endParaRPr dirty="0"/>
          </a:p>
        </p:txBody>
      </p:sp>
      <p:sp>
        <p:nvSpPr>
          <p:cNvPr id="81" name="Google Shape;81;p1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866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 dirty="0"/>
              <a:t>Lecture # 26</a:t>
            </a: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 dirty="0"/>
              <a:t>Session#29</a:t>
            </a: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Learning objectives</a:t>
            </a:r>
            <a:endParaRPr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dirty="0"/>
              <a:t>To enable students to </a:t>
            </a:r>
            <a:endParaRPr dirty="0"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dirty="0"/>
              <a:t>Understand minimax properties</a:t>
            </a:r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endParaRPr lang="en-US" dirty="0"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dirty="0"/>
              <a:t>Understand and apply alpha-beta pruning</a:t>
            </a:r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endParaRPr lang="en-US" dirty="0"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endParaRPr lang="en-US" dirty="0"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endParaRPr lang="en-US" dirty="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FBAE9-6B8D-9BDC-7E29-2972D48F9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Minimax properties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A727F-2454-AFBE-D549-FCC4F4C490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 descr="A group of arrows pointing to the same direction&#10;&#10;AI-generated content may be incorrect.">
            <a:extLst>
              <a:ext uri="{FF2B5EF4-FFF2-40B4-BE49-F238E27FC236}">
                <a16:creationId xmlns:a16="http://schemas.microsoft.com/office/drawing/2014/main" id="{26B15BB7-F7B7-D95A-3B22-3BD4C97CF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712" y="1918743"/>
            <a:ext cx="4587090" cy="1269490"/>
          </a:xfrm>
          <a:prstGeom prst="rect">
            <a:avLst/>
          </a:prstGeom>
        </p:spPr>
      </p:pic>
      <p:pic>
        <p:nvPicPr>
          <p:cNvPr id="7" name="Picture 6" descr="A white background with text and numbers&#10;&#10;AI-generated content may be incorrect.">
            <a:extLst>
              <a:ext uri="{FF2B5EF4-FFF2-40B4-BE49-F238E27FC236}">
                <a16:creationId xmlns:a16="http://schemas.microsoft.com/office/drawing/2014/main" id="{125E918A-72F0-1408-0CAF-201FD14FF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755" y="3354376"/>
            <a:ext cx="7178983" cy="2282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600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B1BA2-2DF2-3A15-62DA-72F4086F4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Minimax property 1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C773EB-CE14-FB94-0BFA-5B2C76287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5" name="Picture 4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E9770D26-3B4C-BDE2-9DDE-82AA1375A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908" y="1767046"/>
            <a:ext cx="6396533" cy="1234058"/>
          </a:xfrm>
          <a:prstGeom prst="rect">
            <a:avLst/>
          </a:prstGeom>
        </p:spPr>
      </p:pic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26B65383-B53B-92F5-C3A1-8A2C96613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855" y="3015550"/>
            <a:ext cx="5357796" cy="26966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F5C8B1-51AD-1FC2-22CA-677FF752615C}"/>
              </a:ext>
            </a:extLst>
          </p:cNvPr>
          <p:cNvSpPr txBox="1"/>
          <p:nvPr/>
        </p:nvSpPr>
        <p:spPr>
          <a:xfrm>
            <a:off x="1366855" y="5085564"/>
            <a:ext cx="143905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-100    100</a:t>
            </a:r>
            <a:endParaRPr lang="en-PK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CFF734-D6CA-98F8-A858-39199DE8787C}"/>
              </a:ext>
            </a:extLst>
          </p:cNvPr>
          <p:cNvSpPr txBox="1"/>
          <p:nvPr/>
        </p:nvSpPr>
        <p:spPr>
          <a:xfrm>
            <a:off x="3412737" y="5069816"/>
            <a:ext cx="124418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2          6</a:t>
            </a:r>
            <a:endParaRPr lang="en-PK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405016-AC16-3623-F4A1-74F878AB69D7}"/>
              </a:ext>
            </a:extLst>
          </p:cNvPr>
          <p:cNvSpPr txBox="1"/>
          <p:nvPr/>
        </p:nvSpPr>
        <p:spPr>
          <a:xfrm>
            <a:off x="5204337" y="5085564"/>
            <a:ext cx="124418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-10     30</a:t>
            </a:r>
            <a:endParaRPr lang="en-PK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C2AA38-81D1-B40F-B424-565AA501DC18}"/>
              </a:ext>
            </a:extLst>
          </p:cNvPr>
          <p:cNvSpPr txBox="1"/>
          <p:nvPr/>
        </p:nvSpPr>
        <p:spPr>
          <a:xfrm>
            <a:off x="2281254" y="4177980"/>
            <a:ext cx="709025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-100</a:t>
            </a:r>
            <a:endParaRPr lang="en-PK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7FE248-0C3E-2EDA-169B-D4784EA4DB9E}"/>
              </a:ext>
            </a:extLst>
          </p:cNvPr>
          <p:cNvSpPr txBox="1"/>
          <p:nvPr/>
        </p:nvSpPr>
        <p:spPr>
          <a:xfrm>
            <a:off x="4159601" y="4166894"/>
            <a:ext cx="52465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2</a:t>
            </a:r>
            <a:endParaRPr lang="en-PK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F6C9B5-8EF0-D84A-8C60-869C294E3062}"/>
              </a:ext>
            </a:extLst>
          </p:cNvPr>
          <p:cNvSpPr txBox="1"/>
          <p:nvPr/>
        </p:nvSpPr>
        <p:spPr>
          <a:xfrm>
            <a:off x="6015626" y="4110342"/>
            <a:ext cx="709025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-10</a:t>
            </a:r>
            <a:endParaRPr lang="en-PK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D6AE8A-9DD8-AB0E-CE1C-F7BE5C7E6EAF}"/>
              </a:ext>
            </a:extLst>
          </p:cNvPr>
          <p:cNvSpPr txBox="1"/>
          <p:nvPr/>
        </p:nvSpPr>
        <p:spPr>
          <a:xfrm>
            <a:off x="4129710" y="3135120"/>
            <a:ext cx="52465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2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588683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8C709-BE55-E3E8-8DCC-D01D375F0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Minimax property 2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A2712-AAF8-66D3-E55D-6BF0AF35D7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5" name="Picture 4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32C17116-831D-64CE-B903-90CD9E430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438" y="1886496"/>
            <a:ext cx="5943600" cy="1076325"/>
          </a:xfrm>
          <a:prstGeom prst="rect">
            <a:avLst/>
          </a:prstGeom>
        </p:spPr>
      </p:pic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BFB2629E-80CC-9444-5658-C2F00B529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2578" y="3184375"/>
            <a:ext cx="4765884" cy="24535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0526E5-8A9F-3B3F-DB4A-759259E2B1F5}"/>
              </a:ext>
            </a:extLst>
          </p:cNvPr>
          <p:cNvSpPr txBox="1"/>
          <p:nvPr/>
        </p:nvSpPr>
        <p:spPr>
          <a:xfrm>
            <a:off x="1366855" y="5085564"/>
            <a:ext cx="143905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-100    100</a:t>
            </a:r>
            <a:endParaRPr lang="en-PK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0EA918-AB39-D08B-68BA-9EC03F10EB04}"/>
              </a:ext>
            </a:extLst>
          </p:cNvPr>
          <p:cNvSpPr txBox="1"/>
          <p:nvPr/>
        </p:nvSpPr>
        <p:spPr>
          <a:xfrm>
            <a:off x="3412737" y="5069816"/>
            <a:ext cx="124418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2          6</a:t>
            </a:r>
            <a:endParaRPr lang="en-PK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C71E49-F138-CF43-1244-B4FA18DB52C6}"/>
              </a:ext>
            </a:extLst>
          </p:cNvPr>
          <p:cNvSpPr txBox="1"/>
          <p:nvPr/>
        </p:nvSpPr>
        <p:spPr>
          <a:xfrm>
            <a:off x="5004278" y="5069816"/>
            <a:ext cx="124418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-10     30</a:t>
            </a:r>
            <a:endParaRPr lang="en-PK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5523B3-3A9C-BC0D-2136-5E51236E4646}"/>
              </a:ext>
            </a:extLst>
          </p:cNvPr>
          <p:cNvSpPr txBox="1"/>
          <p:nvPr/>
        </p:nvSpPr>
        <p:spPr>
          <a:xfrm>
            <a:off x="2281254" y="4177980"/>
            <a:ext cx="709025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-100</a:t>
            </a:r>
            <a:endParaRPr lang="en-PK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C3D702-7BFE-9F84-56D5-38FEEA9CD3B3}"/>
              </a:ext>
            </a:extLst>
          </p:cNvPr>
          <p:cNvSpPr txBox="1"/>
          <p:nvPr/>
        </p:nvSpPr>
        <p:spPr>
          <a:xfrm>
            <a:off x="4053694" y="4153874"/>
            <a:ext cx="52465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2</a:t>
            </a:r>
            <a:endParaRPr lang="en-PK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439871-2BF4-DE98-6C36-C08F43CA4AC2}"/>
              </a:ext>
            </a:extLst>
          </p:cNvPr>
          <p:cNvSpPr txBox="1"/>
          <p:nvPr/>
        </p:nvSpPr>
        <p:spPr>
          <a:xfrm>
            <a:off x="5826429" y="4194541"/>
            <a:ext cx="709025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-10</a:t>
            </a:r>
            <a:endParaRPr lang="en-PK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4FCB52-D36C-B536-991B-36F29FE01E71}"/>
              </a:ext>
            </a:extLst>
          </p:cNvPr>
          <p:cNvSpPr txBox="1"/>
          <p:nvPr/>
        </p:nvSpPr>
        <p:spPr>
          <a:xfrm>
            <a:off x="4034829" y="3150371"/>
            <a:ext cx="52465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2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3102575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60CD-2F93-C069-DA29-505E4C1CD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Minimax property 3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8A04E-4F93-B3F5-DB35-AE46E8DAEA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5" name="Picture 4" descr="A close-up of a math problem&#10;&#10;AI-generated content may be incorrect.">
            <a:extLst>
              <a:ext uri="{FF2B5EF4-FFF2-40B4-BE49-F238E27FC236}">
                <a16:creationId xmlns:a16="http://schemas.microsoft.com/office/drawing/2014/main" id="{3C7A7F15-189E-AB22-96F5-4B2D48F63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930764"/>
            <a:ext cx="6086475" cy="1047750"/>
          </a:xfrm>
          <a:prstGeom prst="rect">
            <a:avLst/>
          </a:prstGeom>
        </p:spPr>
      </p:pic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029A7D5D-0D21-D4B9-B011-A8EED809C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99" y="3210289"/>
            <a:ext cx="5476407" cy="26251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CC40BD-BA82-A23E-EF08-B9C4B64E00E8}"/>
              </a:ext>
            </a:extLst>
          </p:cNvPr>
          <p:cNvSpPr txBox="1"/>
          <p:nvPr/>
        </p:nvSpPr>
        <p:spPr>
          <a:xfrm>
            <a:off x="4524531" y="3156678"/>
            <a:ext cx="52465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10</a:t>
            </a:r>
            <a:endParaRPr lang="en-PK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BC8567-117E-FF85-8E6D-CDE0A6F227BF}"/>
              </a:ext>
            </a:extLst>
          </p:cNvPr>
          <p:cNvSpPr txBox="1"/>
          <p:nvPr/>
        </p:nvSpPr>
        <p:spPr>
          <a:xfrm>
            <a:off x="1523999" y="5327459"/>
            <a:ext cx="143905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-100    100</a:t>
            </a:r>
            <a:endParaRPr lang="en-PK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667E76-823E-6F3F-8C28-795D2C2F8B75}"/>
              </a:ext>
            </a:extLst>
          </p:cNvPr>
          <p:cNvSpPr txBox="1"/>
          <p:nvPr/>
        </p:nvSpPr>
        <p:spPr>
          <a:xfrm>
            <a:off x="3805003" y="5298756"/>
            <a:ext cx="124418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2          6</a:t>
            </a:r>
            <a:endParaRPr lang="en-PK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CDBC62-C669-8206-4C9B-4F30459D7929}"/>
              </a:ext>
            </a:extLst>
          </p:cNvPr>
          <p:cNvSpPr txBox="1"/>
          <p:nvPr/>
        </p:nvSpPr>
        <p:spPr>
          <a:xfrm>
            <a:off x="5726242" y="5442565"/>
            <a:ext cx="124418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-10     30</a:t>
            </a:r>
            <a:endParaRPr lang="en-PK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F7EA1C-90B8-EBF8-4C64-8DCB01DF45DC}"/>
              </a:ext>
            </a:extLst>
          </p:cNvPr>
          <p:cNvSpPr txBox="1"/>
          <p:nvPr/>
        </p:nvSpPr>
        <p:spPr>
          <a:xfrm>
            <a:off x="4524531" y="4164234"/>
            <a:ext cx="52465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4</a:t>
            </a:r>
            <a:endParaRPr lang="en-PK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78A727-8016-4723-31A6-90F5FD89B9F6}"/>
              </a:ext>
            </a:extLst>
          </p:cNvPr>
          <p:cNvSpPr txBox="1"/>
          <p:nvPr/>
        </p:nvSpPr>
        <p:spPr>
          <a:xfrm>
            <a:off x="6445770" y="4195730"/>
            <a:ext cx="52465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10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2210578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D0EA2-CF74-6DBD-2A88-032B3841D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Computation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9AE422-C026-7C45-FACE-B8991B5E14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Complexity</a:t>
            </a:r>
          </a:p>
          <a:p>
            <a:pPr lvl="1"/>
            <a:r>
              <a:rPr lang="en-US" dirty="0"/>
              <a:t>branching factor </a:t>
            </a:r>
            <a:r>
              <a:rPr lang="en-US" i="1" dirty="0"/>
              <a:t>b</a:t>
            </a:r>
            <a:r>
              <a:rPr lang="en-US" dirty="0"/>
              <a:t>, depth </a:t>
            </a:r>
            <a:r>
              <a:rPr lang="en-US" i="1" dirty="0"/>
              <a:t>d</a:t>
            </a:r>
            <a:r>
              <a:rPr lang="en-US" dirty="0"/>
              <a:t> (</a:t>
            </a:r>
            <a:r>
              <a:rPr lang="en-US" i="1" dirty="0"/>
              <a:t>2d</a:t>
            </a:r>
            <a:r>
              <a:rPr lang="en-US" dirty="0"/>
              <a:t> plies) </a:t>
            </a:r>
          </a:p>
          <a:p>
            <a:pPr lvl="1"/>
            <a:r>
              <a:rPr lang="en-US" dirty="0"/>
              <a:t>O(</a:t>
            </a:r>
            <a:r>
              <a:rPr lang="en-US" i="1" dirty="0"/>
              <a:t>d</a:t>
            </a:r>
            <a:r>
              <a:rPr lang="en-US" dirty="0"/>
              <a:t>) space, O(</a:t>
            </a:r>
            <a:r>
              <a:rPr lang="en-US" i="1" dirty="0"/>
              <a:t>b</a:t>
            </a:r>
            <a:r>
              <a:rPr lang="en-US" i="1" baseline="30000" dirty="0"/>
              <a:t>2d</a:t>
            </a:r>
            <a:r>
              <a:rPr lang="en-US" baseline="30000" dirty="0"/>
              <a:t> </a:t>
            </a:r>
            <a:r>
              <a:rPr lang="en-US" dirty="0"/>
              <a:t>) time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Chess: </a:t>
            </a:r>
            <a:r>
              <a:rPr lang="en-US" i="1" dirty="0"/>
              <a:t>b </a:t>
            </a:r>
            <a:r>
              <a:rPr lang="en-US" dirty="0"/>
              <a:t>approx. 35, </a:t>
            </a:r>
            <a:r>
              <a:rPr lang="en-US" i="1" dirty="0"/>
              <a:t>d</a:t>
            </a:r>
            <a:r>
              <a:rPr lang="en-US" dirty="0"/>
              <a:t> </a:t>
            </a:r>
            <a:r>
              <a:rPr lang="en-US" dirty="0" err="1"/>
              <a:t>approx</a:t>
            </a:r>
            <a:r>
              <a:rPr lang="en-US" dirty="0"/>
              <a:t> 50 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71439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9D988-303D-9345-80E2-9B0F3DE86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Improving speed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225E2-40D3-D58A-A520-804AD5C49D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Evaluation functions</a:t>
            </a:r>
          </a:p>
          <a:p>
            <a:r>
              <a:rPr lang="en-US" dirty="0"/>
              <a:t>Alpha-beta pruning</a:t>
            </a:r>
            <a:endParaRPr lang="en-PK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 descr="A black and green text&#10;&#10;AI-generated content may be incorrect.">
            <a:extLst>
              <a:ext uri="{FF2B5EF4-FFF2-40B4-BE49-F238E27FC236}">
                <a16:creationId xmlns:a16="http://schemas.microsoft.com/office/drawing/2014/main" id="{44D59FF3-EA0E-C889-E6EE-88CC01E42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26" y="3102964"/>
            <a:ext cx="8493897" cy="2034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461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A9729-E378-4F86-E562-54EEE2139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Alpha-Beta pruning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882B53-B00E-3DB4-140C-37A9E1173E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Suppose you have to pick a maximum value from Buckets A and B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 overlap</a:t>
            </a:r>
          </a:p>
          <a:p>
            <a:endParaRPr lang="en-US" dirty="0"/>
          </a:p>
          <a:p>
            <a:r>
              <a:rPr lang="en-US" dirty="0"/>
              <a:t>Maintain upper bound and lower bound on values</a:t>
            </a:r>
          </a:p>
          <a:p>
            <a:r>
              <a:rPr lang="en-US" dirty="0"/>
              <a:t>If intervals don’t overlap, optimal choice is possible without going further (expanding a sub-tree)</a:t>
            </a:r>
          </a:p>
          <a:p>
            <a:endParaRPr lang="en-US" dirty="0"/>
          </a:p>
          <a:p>
            <a:endParaRPr lang="en-US" dirty="0"/>
          </a:p>
          <a:p>
            <a:endParaRPr lang="en-PK" dirty="0"/>
          </a:p>
        </p:txBody>
      </p:sp>
      <p:pic>
        <p:nvPicPr>
          <p:cNvPr id="5" name="Picture 4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53E338C7-3F20-5C6E-8D44-FA294596B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247" y="2893102"/>
            <a:ext cx="5634945" cy="85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152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E484A-A76E-C4AF-4D6A-62B40ACE4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CE86A9-40DC-2422-8FF5-91FE33E81B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5" name="Picture 4" descr="A diagram of a triangle with arrows and lines&#10;&#10;AI-generated content may be incorrect.">
            <a:extLst>
              <a:ext uri="{FF2B5EF4-FFF2-40B4-BE49-F238E27FC236}">
                <a16:creationId xmlns:a16="http://schemas.microsoft.com/office/drawing/2014/main" id="{A7FECBA4-AF00-2DD3-8035-E4B67006EB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8143"/>
          <a:stretch>
            <a:fillRect/>
          </a:stretch>
        </p:blipFill>
        <p:spPr>
          <a:xfrm>
            <a:off x="897235" y="2215578"/>
            <a:ext cx="6429416" cy="268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342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7A261-EC25-DF1A-74DD-EDDBD26BC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F89E9F-D1C4-A31F-4AA2-41FCBD6BD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 descr="A diagram of a tree&#10;&#10;AI-generated content may be incorrect.">
            <a:extLst>
              <a:ext uri="{FF2B5EF4-FFF2-40B4-BE49-F238E27FC236}">
                <a16:creationId xmlns:a16="http://schemas.microsoft.com/office/drawing/2014/main" id="{3ACD32B5-A4D9-5B07-B8CC-035D5544C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364" y="1975735"/>
            <a:ext cx="6707622" cy="382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285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8D0CC-CC82-77FD-2170-89A60269F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B7D25-F5A0-3D8B-5EE9-FCD565468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Pruning depends on order of actions. </a:t>
            </a:r>
            <a:endParaRPr lang="en-PK" dirty="0"/>
          </a:p>
        </p:txBody>
      </p:sp>
      <p:pic>
        <p:nvPicPr>
          <p:cNvPr id="5" name="Picture 4" descr="A diagram of a triangle with arrows and numbers&#10;&#10;AI-generated content may be incorrect.">
            <a:extLst>
              <a:ext uri="{FF2B5EF4-FFF2-40B4-BE49-F238E27FC236}">
                <a16:creationId xmlns:a16="http://schemas.microsoft.com/office/drawing/2014/main" id="{D45C872A-821F-B388-B087-44EC831E0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961" y="2668249"/>
            <a:ext cx="3273525" cy="279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832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D614E356-3D10-6EEB-45F9-8735A6BCF4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Games </a:t>
            </a:r>
            <a:r>
              <a:rPr lang="en-US" altLang="en-PK" sz="1600"/>
              <a:t>(contd…)</a:t>
            </a:r>
          </a:p>
        </p:txBody>
      </p:sp>
      <p:pic>
        <p:nvPicPr>
          <p:cNvPr id="79876" name="Picture 4">
            <a:extLst>
              <a:ext uri="{FF2B5EF4-FFF2-40B4-BE49-F238E27FC236}">
                <a16:creationId xmlns:a16="http://schemas.microsoft.com/office/drawing/2014/main" id="{01445B50-60BB-5185-8DC9-B8FAC41A854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1"/>
          <a:stretch>
            <a:fillRect/>
          </a:stretch>
        </p:blipFill>
        <p:spPr>
          <a:xfrm>
            <a:off x="1143000" y="1704975"/>
            <a:ext cx="7010400" cy="44354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E918E-9D0A-A13D-8221-C49BD5EE1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Game 2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CA7C4E-647C-98DC-9EEC-F3BC3338DC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a number N</a:t>
            </a:r>
          </a:p>
          <a:p>
            <a:r>
              <a:rPr lang="en-US" dirty="0"/>
              <a:t>Players take turns either decrementing N or replacing it with N/2</a:t>
            </a:r>
          </a:p>
          <a:p>
            <a:r>
              <a:rPr lang="en-US" dirty="0"/>
              <a:t>The player that is left with 0 wins</a:t>
            </a:r>
            <a:endParaRPr lang="en-P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479D0B-1E5D-8B50-A0C3-50A0915C5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91" y="4592455"/>
            <a:ext cx="7333094" cy="85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320572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9F4C07DA96AA489B47C2DAEE3FF600" ma:contentTypeVersion="3" ma:contentTypeDescription="Create a new document." ma:contentTypeScope="" ma:versionID="a766b8e8cb0bee5b8b02a055ac5ef8f4">
  <xsd:schema xmlns:xsd="http://www.w3.org/2001/XMLSchema" xmlns:xs="http://www.w3.org/2001/XMLSchema" xmlns:p="http://schemas.microsoft.com/office/2006/metadata/properties" xmlns:ns2="2dd40012-8713-4aa0-b95f-644e1bb378dc" targetNamespace="http://schemas.microsoft.com/office/2006/metadata/properties" ma:root="true" ma:fieldsID="67657d66ae8cd6baefaa73259b3fc2c6" ns2:_="">
    <xsd:import namespace="2dd40012-8713-4aa0-b95f-644e1bb378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d40012-8713-4aa0-b95f-644e1bb378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2F569DB-6C4C-48EA-B4EB-7058638A97B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5025C79-E8E5-4B34-9989-01ADAA95644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C218518-B000-46D3-AD15-B8A7C39EE818}"/>
</file>

<file path=docProps/app.xml><?xml version="1.0" encoding="utf-8"?>
<Properties xmlns="http://schemas.openxmlformats.org/officeDocument/2006/extended-properties" xmlns:vt="http://schemas.openxmlformats.org/officeDocument/2006/docPropsVTypes">
  <TotalTime>809</TotalTime>
  <Words>193</Words>
  <Application>Microsoft Office PowerPoint</Application>
  <PresentationFormat>On-screen Show (4:3)</PresentationFormat>
  <Paragraphs>70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Noto Sans Symbols</vt:lpstr>
      <vt:lpstr>Times New Roman</vt:lpstr>
      <vt:lpstr>Verdana</vt:lpstr>
      <vt:lpstr>Profile</vt:lpstr>
      <vt:lpstr>Artificial Intelligence</vt:lpstr>
      <vt:lpstr>Learning objectives</vt:lpstr>
      <vt:lpstr>Minimax properties</vt:lpstr>
      <vt:lpstr>Minimax property 1</vt:lpstr>
      <vt:lpstr>Minimax property 2</vt:lpstr>
      <vt:lpstr>Minimax property 3</vt:lpstr>
      <vt:lpstr>Computation</vt:lpstr>
      <vt:lpstr>Improving speed</vt:lpstr>
      <vt:lpstr>Alpha-Beta pruning</vt:lpstr>
      <vt:lpstr>PowerPoint Presentation</vt:lpstr>
      <vt:lpstr>PowerPoint Presentation</vt:lpstr>
      <vt:lpstr>PowerPoint Presentation</vt:lpstr>
      <vt:lpstr>Games (contd…)</vt:lpstr>
      <vt:lpstr>Simple Game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Onaiza Maqbool</dc:creator>
  <cp:lastModifiedBy>Onaiza Maqbool</cp:lastModifiedBy>
  <cp:revision>26</cp:revision>
  <dcterms:created xsi:type="dcterms:W3CDTF">1601-01-01T00:00:00Z</dcterms:created>
  <dcterms:modified xsi:type="dcterms:W3CDTF">2025-12-18T04:48:43Z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0x010100309F4C07DA96AA489B47C2DAEE3FF600</vt:lpwstr>
  </property>
</Properties>
</file>