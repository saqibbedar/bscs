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16"/>
  </p:notesMasterIdLst>
  <p:sldIdLst>
    <p:sldId id="256" r:id="rId5"/>
    <p:sldId id="257" r:id="rId6"/>
    <p:sldId id="290" r:id="rId7"/>
    <p:sldId id="317" r:id="rId8"/>
    <p:sldId id="330" r:id="rId9"/>
    <p:sldId id="316" r:id="rId10"/>
    <p:sldId id="331" r:id="rId11"/>
    <p:sldId id="332" r:id="rId12"/>
    <p:sldId id="333" r:id="rId13"/>
    <p:sldId id="334" r:id="rId14"/>
    <p:sldId id="346" r:id="rId15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8" roundtripDataSignature="AMtx7mi9iaSeCi0pGDfzrBU1B9sbSGO6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1590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9" Type="http://schemas.openxmlformats.org/officeDocument/2006/relationships/presProps" Target="presProps.xml"/><Relationship Id="rId3" Type="http://schemas.openxmlformats.org/officeDocument/2006/relationships/customXml" Target="../customXml/item3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38" Type="http://customschemas.google.com/relationships/presentationmetadata" Target="metadata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78" name="Google Shape;7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" name="Google Shape;8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93304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>
            <a:spLocks noGrp="1"/>
          </p:cNvSpPr>
          <p:nvPr>
            <p:ph type="ctrTitle"/>
          </p:nvPr>
        </p:nvSpPr>
        <p:spPr>
          <a:xfrm>
            <a:off x="685800" y="990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9"/>
          <p:cNvSpPr txBox="1">
            <a:spLocks noGrp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2100"/>
              <a:buFont typeface="Noto Sans Symbols"/>
              <a:buNone/>
              <a:defRPr sz="2100"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lvl="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9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9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20" name="Google Shape;20;p29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29"/>
          <p:cNvSpPr/>
          <p:nvPr/>
        </p:nvSpPr>
        <p:spPr>
          <a:xfrm>
            <a:off x="685800" y="2393950"/>
            <a:ext cx="7772400" cy="109538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0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0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30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4"/>
          <p:cNvSpPr txBox="1"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4"/>
          <p:cNvSpPr txBox="1"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5" name="Google Shape;35;p34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4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6"/>
          <p:cNvSpPr txBox="1"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6"/>
          <p:cNvSpPr txBox="1"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0" name="Google Shape;40;p36"/>
          <p:cNvSpPr txBox="1">
            <a:spLocks noGrp="1"/>
          </p:cNvSpPr>
          <p:nvPr>
            <p:ph type="body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36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2" name="Google Shape;42;p36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36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6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7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7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7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9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9"/>
          <p:cNvSpPr txBox="1">
            <a:spLocks noGrp="1"/>
          </p:cNvSpPr>
          <p:nvPr>
            <p:ph type="body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□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■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2" name="Google Shape;52;p39"/>
          <p:cNvSpPr txBox="1">
            <a:spLocks noGrp="1"/>
          </p:cNvSpPr>
          <p:nvPr>
            <p:ph type="body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3" name="Google Shape;53;p39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9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0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40"/>
          <p:cNvSpPr>
            <a:spLocks noGrp="1"/>
          </p:cNvSpPr>
          <p:nvPr>
            <p:ph type="pic" idx="2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40"/>
          <p:cNvSpPr txBox="1">
            <a:spLocks noGrp="1"/>
          </p:cNvSpPr>
          <p:nvPr>
            <p:ph type="body" idx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9" name="Google Shape;59;p40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0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1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1"/>
          <p:cNvSpPr txBox="1">
            <a:spLocks noGrp="1"/>
          </p:cNvSpPr>
          <p:nvPr>
            <p:ph type="body" idx="1"/>
          </p:nvPr>
        </p:nvSpPr>
        <p:spPr>
          <a:xfrm rot="5400000">
            <a:off x="2433638" y="-114300"/>
            <a:ext cx="4267200" cy="80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41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41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2"/>
          <p:cNvSpPr txBox="1">
            <a:spLocks noGrp="1"/>
          </p:cNvSpPr>
          <p:nvPr>
            <p:ph type="title"/>
          </p:nvPr>
        </p:nvSpPr>
        <p:spPr>
          <a:xfrm rot="5400000">
            <a:off x="4717257" y="2161382"/>
            <a:ext cx="5715000" cy="2001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42"/>
          <p:cNvSpPr txBox="1">
            <a:spLocks noGrp="1"/>
          </p:cNvSpPr>
          <p:nvPr>
            <p:ph type="body" idx="1"/>
          </p:nvPr>
        </p:nvSpPr>
        <p:spPr>
          <a:xfrm rot="5400000">
            <a:off x="636588" y="234950"/>
            <a:ext cx="5715000" cy="58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42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2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" name="Google Shape;11;p28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Noto Sans Symbols"/>
              <a:buChar char="□"/>
              <a:defRPr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49250" algn="l" rtl="0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□"/>
              <a:defRPr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■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" name="Google Shape;12;p28"/>
          <p:cNvSpPr/>
          <p:nvPr/>
        </p:nvSpPr>
        <p:spPr>
          <a:xfrm>
            <a:off x="609600" y="1566863"/>
            <a:ext cx="7958138" cy="109537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" name="Google Shape;13;p28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" name="Google Shape;14;p28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"/>
          <p:cNvSpPr txBox="1">
            <a:spLocks noGrp="1"/>
          </p:cNvSpPr>
          <p:nvPr>
            <p:ph type="ctrTitle"/>
          </p:nvPr>
        </p:nvSpPr>
        <p:spPr>
          <a:xfrm>
            <a:off x="685800" y="990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Artificial Intelligence</a:t>
            </a:r>
            <a:endParaRPr dirty="0"/>
          </a:p>
        </p:txBody>
      </p:sp>
      <p:sp>
        <p:nvSpPr>
          <p:cNvPr id="81" name="Google Shape;81;p1"/>
          <p:cNvSpPr txBox="1">
            <a:spLocks noGrp="1"/>
          </p:cNvSpPr>
          <p:nvPr>
            <p:ph type="subTitle" idx="1"/>
          </p:nvPr>
        </p:nvSpPr>
        <p:spPr>
          <a:xfrm>
            <a:off x="1447800" y="3429000"/>
            <a:ext cx="7086600" cy="22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 dirty="0"/>
              <a:t>Lecture # 24</a:t>
            </a:r>
            <a:endParaRPr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 dirty="0"/>
              <a:t>Session#27</a:t>
            </a:r>
            <a:endParaRPr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0" lvl="0" indent="0" algn="ctr" rtl="0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SzPts val="1700"/>
              <a:buNone/>
            </a:pPr>
            <a:endParaRPr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Learning objectives</a:t>
            </a:r>
            <a:endParaRPr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dirty="0"/>
              <a:t>To enable students to </a:t>
            </a:r>
            <a:endParaRPr dirty="0"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dirty="0"/>
              <a:t>Understand basic terminology for adversarial games</a:t>
            </a:r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dirty="0"/>
              <a:t>Understand policy evaluation for adversarial games</a:t>
            </a:r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endParaRPr lang="en-US" dirty="0"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E453BB-8192-CFE8-AE65-9C1479D2E3F1}"/>
              </a:ext>
            </a:extLst>
          </p:cNvPr>
          <p:cNvSpPr txBox="1"/>
          <p:nvPr/>
        </p:nvSpPr>
        <p:spPr>
          <a:xfrm>
            <a:off x="2286000" y="3278986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effectLst/>
              </a:rPr>
              <a:t> 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4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220" name="Google Shape;220;p44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Model types</a:t>
            </a:r>
            <a:endParaRPr dirty="0"/>
          </a:p>
        </p:txBody>
      </p:sp>
      <p:sp>
        <p:nvSpPr>
          <p:cNvPr id="221" name="Google Shape;221;p44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2000" dirty="0"/>
              <a:t>Four types in order of increasing generality:</a:t>
            </a:r>
            <a:endParaRPr dirty="0"/>
          </a:p>
          <a:p>
            <a:pPr marL="74295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sz="1800" dirty="0"/>
              <a:t>Simple reflex models</a:t>
            </a:r>
            <a:endParaRPr dirty="0"/>
          </a:p>
          <a:p>
            <a:pPr marL="74295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sz="1800" dirty="0"/>
              <a:t>State-based models</a:t>
            </a:r>
            <a:endParaRPr dirty="0"/>
          </a:p>
          <a:p>
            <a:pPr marL="74295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sz="1800" dirty="0"/>
              <a:t>Variable-based models</a:t>
            </a:r>
            <a:endParaRPr dirty="0"/>
          </a:p>
          <a:p>
            <a:pPr marL="74295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sz="1800" dirty="0"/>
              <a:t>Logic-based models</a:t>
            </a:r>
            <a:endParaRPr dirty="0"/>
          </a:p>
          <a:p>
            <a:pPr marL="742950" lvl="1" indent="-1714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742950" lvl="1" indent="-1714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lang="en-US" dirty="0"/>
          </a:p>
          <a:p>
            <a:pPr marL="742950" lvl="1" indent="-1714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457200" lvl="1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Reflex 	State-based	  Variable		Logic</a:t>
            </a:r>
          </a:p>
          <a:p>
            <a:pPr marL="457200" lvl="1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		- </a:t>
            </a:r>
            <a:r>
              <a:rPr lang="en-US" sz="1600" dirty="0"/>
              <a:t>Search-based	   - Constraint satisfaction</a:t>
            </a:r>
            <a:endParaRPr sz="1600" dirty="0"/>
          </a:p>
          <a:p>
            <a:pPr marL="457200" lvl="1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600" dirty="0"/>
              <a:t>		- Markov decision   	   - Bayesian networks	</a:t>
            </a:r>
            <a:endParaRPr sz="1600" dirty="0"/>
          </a:p>
          <a:p>
            <a:pPr marL="457200" lvl="1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600" dirty="0"/>
              <a:t>		- Adversarial</a:t>
            </a:r>
            <a:endParaRPr sz="1600" dirty="0"/>
          </a:p>
          <a:p>
            <a:pPr marL="2571750" lvl="5" indent="-171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sp>
        <p:nvSpPr>
          <p:cNvPr id="222" name="Google Shape;222;p44"/>
          <p:cNvSpPr/>
          <p:nvPr/>
        </p:nvSpPr>
        <p:spPr>
          <a:xfrm>
            <a:off x="1106129" y="4262284"/>
            <a:ext cx="6990736" cy="41295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444B5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3" name="Google Shape;223;p44" descr="Image result for pattern recognition ca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6129" y="3548053"/>
            <a:ext cx="1120340" cy="766772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44" descr="Image result for chess"/>
          <p:cNvSpPr/>
          <p:nvPr/>
        </p:nvSpPr>
        <p:spPr>
          <a:xfrm>
            <a:off x="4419600" y="3276600"/>
            <a:ext cx="1671484" cy="1671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44" descr="Image result for chess"/>
          <p:cNvSpPr/>
          <p:nvPr/>
        </p:nvSpPr>
        <p:spPr>
          <a:xfrm>
            <a:off x="4419599" y="3276599"/>
            <a:ext cx="2210875" cy="2210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6" name="Google Shape;226;p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43331" y="3565062"/>
            <a:ext cx="995518" cy="749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4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14004" y="3303032"/>
            <a:ext cx="939522" cy="9395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32066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B8D11C19-045A-C6AC-107C-161629FDB7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 dirty="0"/>
              <a:t>Games </a:t>
            </a:r>
            <a:endParaRPr lang="en-US" altLang="en-PK" sz="1600" dirty="0"/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A9B2DF3A-B14C-FEC3-C821-524A962BF5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PK" sz="2000" dirty="0"/>
              <a:t>Competitive environments, in which the agents' goals are in conflict, give rise to </a:t>
            </a:r>
            <a:r>
              <a:rPr lang="en-US" altLang="en-PK" sz="2000" dirty="0">
                <a:solidFill>
                  <a:srgbClr val="FF0000"/>
                </a:solidFill>
              </a:rPr>
              <a:t>adversarial search</a:t>
            </a:r>
            <a:r>
              <a:rPr lang="en-US" altLang="en-PK" sz="2000" b="1" dirty="0"/>
              <a:t> </a:t>
            </a:r>
            <a:r>
              <a:rPr lang="en-US" altLang="en-PK" sz="2000" dirty="0"/>
              <a:t>problems often known as </a:t>
            </a:r>
            <a:r>
              <a:rPr lang="en-US" altLang="en-PK" sz="2000" dirty="0">
                <a:solidFill>
                  <a:srgbClr val="FF0000"/>
                </a:solidFill>
              </a:rPr>
              <a:t>games</a:t>
            </a:r>
          </a:p>
          <a:p>
            <a:endParaRPr lang="en-US" altLang="en-PK" sz="800" dirty="0"/>
          </a:p>
          <a:p>
            <a:r>
              <a:rPr lang="en-US" altLang="en-PK" sz="2000" dirty="0"/>
              <a:t>Games are interesting </a:t>
            </a:r>
            <a:r>
              <a:rPr lang="en-US" altLang="en-PK" sz="2000" i="1" dirty="0"/>
              <a:t>because </a:t>
            </a:r>
            <a:r>
              <a:rPr lang="en-US" altLang="en-PK" sz="2000" dirty="0"/>
              <a:t>they are hard to solve. </a:t>
            </a:r>
          </a:p>
          <a:p>
            <a:endParaRPr lang="en-US" altLang="en-PK" sz="800" dirty="0"/>
          </a:p>
          <a:p>
            <a:r>
              <a:rPr lang="en-US" altLang="en-PK" sz="2000" dirty="0"/>
              <a:t>For example, chess has an average branching factor of about 35, and games often go to 50 moves by each player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PK" sz="800" dirty="0"/>
          </a:p>
          <a:p>
            <a:r>
              <a:rPr lang="en-US" altLang="en-PK" sz="2000" dirty="0"/>
              <a:t>Games, like the real world, therefore require the ability to make </a:t>
            </a:r>
            <a:r>
              <a:rPr lang="en-US" altLang="en-PK" sz="2000" i="1" dirty="0"/>
              <a:t>some </a:t>
            </a:r>
            <a:r>
              <a:rPr lang="en-US" altLang="en-PK" sz="2000" dirty="0"/>
              <a:t>decision even when calculating the </a:t>
            </a:r>
            <a:r>
              <a:rPr lang="en-US" altLang="en-PK" sz="2000" i="1" dirty="0"/>
              <a:t>optimal </a:t>
            </a:r>
            <a:r>
              <a:rPr lang="en-US" altLang="en-PK" sz="2000" dirty="0"/>
              <a:t>decision is infeasible</a:t>
            </a:r>
          </a:p>
          <a:p>
            <a:endParaRPr lang="en-US" altLang="en-PK" sz="800" dirty="0"/>
          </a:p>
          <a:p>
            <a:r>
              <a:rPr lang="en-US" altLang="en-PK" sz="2000" dirty="0"/>
              <a:t>Games also penalize inefficiency severely</a:t>
            </a:r>
          </a:p>
          <a:p>
            <a:endParaRPr lang="en-US" altLang="en-PK" sz="800" dirty="0"/>
          </a:p>
          <a:p>
            <a:r>
              <a:rPr lang="en-US" altLang="en-PK" sz="2000" dirty="0"/>
              <a:t>Game-playing research has therefore spawned a number of interesting ideas</a:t>
            </a:r>
          </a:p>
          <a:p>
            <a:endParaRPr lang="en-US" altLang="en-PK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AEC21-EA6E-C76B-B6F9-38EB102D1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Game Tree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B0ECF-1A5E-B477-3CDF-613275E557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dirty="0"/>
              <a:t>Represented as game trees- similar to a search tree</a:t>
            </a:r>
          </a:p>
          <a:p>
            <a:endParaRPr lang="en-US" dirty="0"/>
          </a:p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572B1F-394A-E23A-15D1-15822CDB0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218" y="2298411"/>
            <a:ext cx="6152598" cy="14643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D11307-2F9B-03D3-3837-12EE9D29E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0135" y="3926147"/>
            <a:ext cx="5403730" cy="2093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039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6D21330F-D694-F479-F2A9-9CB70D3136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 dirty="0"/>
              <a:t>Games – Two-player zero-sum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FD93976F-EF23-F537-0137-DA53C61F8D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lnSpc>
                <a:spcPct val="90000"/>
              </a:lnSpc>
            </a:pPr>
            <a:endParaRPr lang="en-US" altLang="en-PK" sz="800" dirty="0"/>
          </a:p>
          <a:p>
            <a:pPr marL="342900" indent="-342900">
              <a:lnSpc>
                <a:spcPct val="90000"/>
              </a:lnSpc>
            </a:pPr>
            <a:r>
              <a:rPr lang="en-US" altLang="en-PK" sz="2400" dirty="0"/>
              <a:t>In AI, games are usually of a rather specialized kind</a:t>
            </a:r>
          </a:p>
          <a:p>
            <a:pPr marL="742950" lvl="1" indent="-285750">
              <a:lnSpc>
                <a:spcPct val="90000"/>
              </a:lnSpc>
            </a:pPr>
            <a:r>
              <a:rPr lang="en-US" altLang="en-PK" dirty="0"/>
              <a:t>turn-taking, two-player, zero-sum games </a:t>
            </a:r>
          </a:p>
          <a:p>
            <a:pPr marL="742950" lvl="1" indent="-285750">
              <a:lnSpc>
                <a:spcPct val="90000"/>
              </a:lnSpc>
            </a:pPr>
            <a:endParaRPr lang="en-US" altLang="en-PK" dirty="0"/>
          </a:p>
          <a:p>
            <a:pPr marL="285750" indent="-285750">
              <a:lnSpc>
                <a:spcPct val="90000"/>
              </a:lnSpc>
            </a:pPr>
            <a:r>
              <a:rPr lang="en-US" altLang="en-PK" dirty="0"/>
              <a:t>This means</a:t>
            </a:r>
          </a:p>
          <a:p>
            <a:pPr marL="1143000" lvl="2" indent="-228600">
              <a:lnSpc>
                <a:spcPct val="90000"/>
              </a:lnSpc>
            </a:pPr>
            <a:r>
              <a:rPr lang="en-US" altLang="en-PK" dirty="0"/>
              <a:t>two agents whose actions must alternate </a:t>
            </a:r>
          </a:p>
          <a:p>
            <a:pPr marL="1143000" lvl="2" indent="-228600">
              <a:lnSpc>
                <a:spcPct val="90000"/>
              </a:lnSpc>
            </a:pPr>
            <a:r>
              <a:rPr lang="en-US" altLang="en-PK" dirty="0"/>
              <a:t>The utility values at the end of the game are always equal and opposite. </a:t>
            </a:r>
          </a:p>
          <a:p>
            <a:pPr marL="1143000" lvl="2" indent="-228600">
              <a:lnSpc>
                <a:spcPct val="90000"/>
              </a:lnSpc>
            </a:pPr>
            <a:r>
              <a:rPr lang="en-US" altLang="en-PK" dirty="0"/>
              <a:t>For example, if one player wins a game of chess (+1), the other player necessarily loses (-1).</a:t>
            </a:r>
          </a:p>
          <a:p>
            <a:pPr marL="342900" indent="-342900">
              <a:lnSpc>
                <a:spcPct val="90000"/>
              </a:lnSpc>
            </a:pPr>
            <a:endParaRPr lang="en-US" altLang="en-PK" sz="2400" dirty="0"/>
          </a:p>
          <a:p>
            <a:pPr marL="342900" indent="-342900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PK" sz="2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D11B6-9AA0-351C-B1D9-3D3DEE8AC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ACFE76-C41E-6A5B-42DB-3C16B0C3A5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Players={agent, opponent}</a:t>
            </a:r>
          </a:p>
          <a:p>
            <a:endParaRPr lang="en-US" dirty="0"/>
          </a:p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F54DA9-0873-D078-4264-B16250102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450" y="2528653"/>
            <a:ext cx="5970520" cy="282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385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CB199-AE4D-E8C5-56F0-3AC7C658E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Chess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ADEAF6-B3A3-2D30-7F02-9E38D6A18D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427BAA-865D-F56C-3E56-4309848409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4853"/>
          <a:stretch>
            <a:fillRect/>
          </a:stretch>
        </p:blipFill>
        <p:spPr>
          <a:xfrm>
            <a:off x="823959" y="3597639"/>
            <a:ext cx="6791045" cy="25534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32CAE8-D757-277D-95EA-BEDDD7376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336" y="1621317"/>
            <a:ext cx="2480339" cy="2530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444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A2574-5D24-EDE9-A45A-9D7BD6573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of games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84DE4A-A2C5-2D05-8B7C-BB89F54730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the utility is at the end state</a:t>
            </a:r>
          </a:p>
          <a:p>
            <a:endParaRPr lang="en-US" dirty="0"/>
          </a:p>
          <a:p>
            <a:r>
              <a:rPr lang="en-US" dirty="0"/>
              <a:t>Different players in control at different states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1839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BE1B8-4579-AF9A-C8BC-8F6FCBDEA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Policies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549774-0B75-C919-3824-1EED1DAD3F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Instead of having a single policy π, we have a policy π</a:t>
            </a:r>
            <a:r>
              <a:rPr lang="en-US" baseline="-25000" dirty="0"/>
              <a:t>p</a:t>
            </a:r>
            <a:r>
              <a:rPr lang="en-US" dirty="0"/>
              <a:t> for each player </a:t>
            </a:r>
            <a:r>
              <a:rPr lang="en-US" i="1" dirty="0"/>
              <a:t>p ∈ Players</a:t>
            </a:r>
          </a:p>
          <a:p>
            <a:endParaRPr lang="en-US" sz="800" dirty="0"/>
          </a:p>
          <a:p>
            <a:r>
              <a:rPr lang="en-US" dirty="0"/>
              <a:t>We require that π</a:t>
            </a:r>
            <a:r>
              <a:rPr lang="en-US" baseline="-25000" dirty="0"/>
              <a:t>p </a:t>
            </a:r>
            <a:r>
              <a:rPr lang="en-US" dirty="0"/>
              <a:t>only be defined when it’s </a:t>
            </a:r>
            <a:r>
              <a:rPr lang="en-US" i="1" dirty="0"/>
              <a:t>p’s</a:t>
            </a:r>
            <a:r>
              <a:rPr lang="en-US" dirty="0"/>
              <a:t> turn; that is, for states</a:t>
            </a:r>
            <a:r>
              <a:rPr lang="en-US" i="1" dirty="0"/>
              <a:t> s </a:t>
            </a:r>
            <a:r>
              <a:rPr lang="en-US" dirty="0"/>
              <a:t>such that Player(s) = </a:t>
            </a:r>
            <a:r>
              <a:rPr lang="en-US" i="1" dirty="0"/>
              <a:t>p </a:t>
            </a:r>
            <a:endParaRPr lang="en-PK" i="1" dirty="0"/>
          </a:p>
          <a:p>
            <a:endParaRPr lang="en-US" sz="800" dirty="0"/>
          </a:p>
          <a:p>
            <a:r>
              <a:rPr lang="en-US" dirty="0"/>
              <a:t>Deterministic policies</a:t>
            </a:r>
          </a:p>
          <a:p>
            <a:pPr lvl="1"/>
            <a:r>
              <a:rPr lang="en-US" dirty="0"/>
              <a:t> π</a:t>
            </a:r>
            <a:r>
              <a:rPr lang="en-US" baseline="-25000" dirty="0"/>
              <a:t>p</a:t>
            </a:r>
            <a:r>
              <a:rPr lang="en-US" dirty="0"/>
              <a:t>(s) ∈ Actions(s) </a:t>
            </a:r>
          </a:p>
          <a:p>
            <a:pPr lvl="1"/>
            <a:r>
              <a:rPr lang="en-US" dirty="0"/>
              <a:t>action that player p takes</a:t>
            </a:r>
          </a:p>
          <a:p>
            <a:pPr lvl="1"/>
            <a:endParaRPr lang="en-US" sz="800" dirty="0"/>
          </a:p>
          <a:p>
            <a:r>
              <a:rPr lang="en-US" dirty="0"/>
              <a:t>Stochastic policies </a:t>
            </a:r>
          </a:p>
          <a:p>
            <a:pPr lvl="1"/>
            <a:r>
              <a:rPr lang="en-US" dirty="0"/>
              <a:t>π</a:t>
            </a:r>
            <a:r>
              <a:rPr lang="en-US" baseline="-25000" dirty="0"/>
              <a:t>p</a:t>
            </a:r>
            <a:r>
              <a:rPr lang="en-US" dirty="0"/>
              <a:t>(s, a) ∈ [0, 1]</a:t>
            </a:r>
          </a:p>
          <a:p>
            <a:pPr lvl="1"/>
            <a:r>
              <a:rPr lang="en-US" dirty="0"/>
              <a:t>probability of player </a:t>
            </a:r>
            <a:r>
              <a:rPr lang="en-US" i="1" dirty="0"/>
              <a:t>p</a:t>
            </a:r>
            <a:r>
              <a:rPr lang="en-US" dirty="0"/>
              <a:t> taking action </a:t>
            </a:r>
            <a:r>
              <a:rPr lang="en-US" i="1" dirty="0"/>
              <a:t>a</a:t>
            </a:r>
            <a:r>
              <a:rPr lang="en-US" dirty="0"/>
              <a:t> in state </a:t>
            </a:r>
            <a:r>
              <a:rPr lang="en-US" i="1" dirty="0"/>
              <a:t>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9916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D9CC5-B4DF-833C-F222-5157D8055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Game 1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4FB1ED-BEAD-09B8-D4FB-6CC1EBBFF3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picks a bucket</a:t>
            </a:r>
          </a:p>
          <a:p>
            <a:r>
              <a:rPr lang="en-US" dirty="0"/>
              <a:t>Opponent picks a number from the bucket</a:t>
            </a:r>
          </a:p>
          <a:p>
            <a:r>
              <a:rPr lang="en-US" dirty="0"/>
              <a:t>Number denotes Agent’s reward</a:t>
            </a:r>
          </a:p>
          <a:p>
            <a:r>
              <a:rPr lang="en-US" dirty="0"/>
              <a:t>Opponent gets – Agent’s reward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196F9D-E54E-F4DC-75B8-BD45800AA2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048" y="3909050"/>
            <a:ext cx="7660690" cy="23425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A1193AB-7621-3CAF-054D-F44701DB926C}"/>
              </a:ext>
            </a:extLst>
          </p:cNvPr>
          <p:cNvSpPr txBox="1"/>
          <p:nvPr/>
        </p:nvSpPr>
        <p:spPr>
          <a:xfrm>
            <a:off x="1279427" y="5170849"/>
            <a:ext cx="143905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-100    100</a:t>
            </a:r>
            <a:endParaRPr lang="en-PK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5F2879-206E-A95B-E3D8-E67F514A6FEB}"/>
              </a:ext>
            </a:extLst>
          </p:cNvPr>
          <p:cNvSpPr txBox="1"/>
          <p:nvPr/>
        </p:nvSpPr>
        <p:spPr>
          <a:xfrm>
            <a:off x="4277460" y="5219567"/>
            <a:ext cx="839449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2     6</a:t>
            </a:r>
            <a:endParaRPr lang="en-PK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FD0826-00D6-6263-EC29-69C89EFA9A07}"/>
              </a:ext>
            </a:extLst>
          </p:cNvPr>
          <p:cNvSpPr txBox="1"/>
          <p:nvPr/>
        </p:nvSpPr>
        <p:spPr>
          <a:xfrm>
            <a:off x="6675886" y="5170849"/>
            <a:ext cx="1244184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-10     30</a:t>
            </a:r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2971054314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09F4C07DA96AA489B47C2DAEE3FF600" ma:contentTypeVersion="3" ma:contentTypeDescription="Create a new document." ma:contentTypeScope="" ma:versionID="644e923799dc1d003a52287e229954ae">
  <xsd:schema xmlns:xsd="http://www.w3.org/2001/XMLSchema" xmlns:xs="http://www.w3.org/2001/XMLSchema" xmlns:p="http://schemas.microsoft.com/office/2006/metadata/properties" xmlns:ns2="2dd40012-8713-4aa0-b95f-644e1bb378dc" targetNamespace="http://schemas.microsoft.com/office/2006/metadata/properties" ma:root="true" ma:fieldsID="b691a16675d0382ca78dca2ac2d18c61" ns2:_="">
    <xsd:import namespace="2dd40012-8713-4aa0-b95f-644e1bb378d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d40012-8713-4aa0-b95f-644e1bb378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2F569DB-6C4C-48EA-B4EB-7058638A97BF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5025C79-E8E5-4B34-9989-01ADAA95644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E3B1BAA-DAAE-4933-A4C8-2269C8DA58C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dd40012-8713-4aa0-b95f-644e1bb378d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572</TotalTime>
  <Words>395</Words>
  <Application>Microsoft Office PowerPoint</Application>
  <PresentationFormat>On-screen Show (4:3)</PresentationFormat>
  <Paragraphs>77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Noto Sans Symbols</vt:lpstr>
      <vt:lpstr>Times New Roman</vt:lpstr>
      <vt:lpstr>Verdana</vt:lpstr>
      <vt:lpstr>Wingdings</vt:lpstr>
      <vt:lpstr>Profile</vt:lpstr>
      <vt:lpstr>Artificial Intelligence</vt:lpstr>
      <vt:lpstr>Learning objectives</vt:lpstr>
      <vt:lpstr>Model types</vt:lpstr>
      <vt:lpstr>Games </vt:lpstr>
      <vt:lpstr>Game Tree</vt:lpstr>
      <vt:lpstr>Games – Two-player zero-sum</vt:lpstr>
      <vt:lpstr>PowerPoint Presentation</vt:lpstr>
      <vt:lpstr>Chess</vt:lpstr>
      <vt:lpstr>Characteristics of games</vt:lpstr>
      <vt:lpstr>Policies</vt:lpstr>
      <vt:lpstr>Simple Game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Onaiza Maqbool</dc:creator>
  <cp:lastModifiedBy>Onaiza Maqbool</cp:lastModifiedBy>
  <cp:revision>21</cp:revision>
  <dcterms:created xsi:type="dcterms:W3CDTF">1601-01-01T00:00:00Z</dcterms:created>
  <dcterms:modified xsi:type="dcterms:W3CDTF">2025-12-11T04:59:39Z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0x010100309F4C07DA96AA489B47C2DAEE3FF600</vt:lpwstr>
  </property>
</Properties>
</file>