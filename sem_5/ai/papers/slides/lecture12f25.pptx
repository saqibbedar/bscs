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i3todGFUTESKM1YNfdDKJfW0eg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50" Type="http://schemas.openxmlformats.org/officeDocument/2006/relationships/viewProps" Target="viewProps.xml"/><Relationship Id="rId55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54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7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7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4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38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8" name="Google Shape;68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Artificial Intelligence</a:t>
            </a:r>
            <a:endParaRPr dirty="0"/>
          </a:p>
        </p:txBody>
      </p:sp>
      <p:sp>
        <p:nvSpPr>
          <p:cNvPr id="84" name="Google Shape;84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Lecture # 12</a:t>
            </a: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generalization and types of errors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strategies to reduce error 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044A3-29C4-6F56-11D9-0823152FE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96AF4-0E08-D641-606B-3EF38755E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Since the unseen future examples are not available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C31BD-2A14-4685-6628-5E8D8BCC4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41" y="1752600"/>
            <a:ext cx="7406268" cy="1410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78B8A6-C7B8-B4A5-CC71-A975F4412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75" y="3886199"/>
            <a:ext cx="7993063" cy="154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8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7D313-95E1-1FDC-DC21-15D9E13E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B562C-89B5-8318-12E8-0C81AD71A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algorithm generalizes well when it is trained on the training data but evaluated on the test data to give acceptable results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C1689D-0219-87D1-6731-00758FD39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914650"/>
            <a:ext cx="41148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080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F74A6-5843-1B82-4B73-93FFA1626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Approximation and estimation error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38ABC-11D0-00B2-E63C-9674A2DC9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far are we from </a:t>
            </a:r>
            <a:r>
              <a:rPr lang="en-US" i="1" dirty="0"/>
              <a:t>f*</a:t>
            </a:r>
            <a:r>
              <a:rPr lang="en-US" dirty="0"/>
              <a:t>, a predictor that predicts everything perfectly</a:t>
            </a:r>
            <a:endParaRPr lang="en-PK" dirty="0"/>
          </a:p>
          <a:p>
            <a:r>
              <a:rPr lang="en-US" dirty="0"/>
              <a:t>Approximation error: how good is the hypothesis class?</a:t>
            </a:r>
          </a:p>
          <a:p>
            <a:r>
              <a:rPr lang="en-US" dirty="0"/>
              <a:t>Estimation error: how good is the learned predictor relative to the potential of the hypothesis class?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BFD9EC-6479-F6A2-F007-F9AD02866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524" y="1842306"/>
            <a:ext cx="6893428" cy="204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933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290A9-1BDD-95D3-D225-393B4C43D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CD30D-445B-E377-9864-3B169DF03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The learning framework consists of </a:t>
            </a:r>
          </a:p>
          <a:p>
            <a:pPr lvl="1"/>
            <a:r>
              <a:rPr lang="en-US" sz="1800" dirty="0"/>
              <a:t>choosing a hypothesis class F (by defining the feature extractor) </a:t>
            </a:r>
          </a:p>
          <a:p>
            <a:pPr lvl="1"/>
            <a:r>
              <a:rPr lang="en-US" sz="1800" dirty="0"/>
              <a:t>choosing a particular predictor f from F</a:t>
            </a:r>
          </a:p>
          <a:p>
            <a:endParaRPr lang="en-US" sz="800" dirty="0"/>
          </a:p>
          <a:p>
            <a:r>
              <a:rPr lang="en-US" sz="2000" dirty="0"/>
              <a:t>Larger hypothesis classes have lower approximation error</a:t>
            </a:r>
          </a:p>
          <a:p>
            <a:endParaRPr lang="en-US" sz="800" dirty="0"/>
          </a:p>
          <a:p>
            <a:r>
              <a:rPr lang="en-US" sz="2000" dirty="0"/>
              <a:t>Let </a:t>
            </a:r>
            <a:r>
              <a:rPr lang="en-US" sz="2000" i="1" dirty="0"/>
              <a:t>g ∈ F </a:t>
            </a:r>
            <a:r>
              <a:rPr lang="en-US" sz="2000" dirty="0"/>
              <a:t>be the best predictor in the hypothesis class in the sense of minimizing test error </a:t>
            </a:r>
          </a:p>
          <a:p>
            <a:endParaRPr lang="en-US" sz="800" dirty="0"/>
          </a:p>
          <a:p>
            <a:r>
              <a:rPr lang="en-US" sz="2000" dirty="0"/>
              <a:t>How good the predictor </a:t>
            </a:r>
            <a:r>
              <a:rPr lang="en-US" sz="2000" i="1" dirty="0"/>
              <a:t>f </a:t>
            </a:r>
            <a:r>
              <a:rPr lang="en-US" sz="2000" dirty="0"/>
              <a:t>returned by the learning algorithm </a:t>
            </a:r>
            <a:r>
              <a:rPr lang="en-US" sz="2000" dirty="0" err="1"/>
              <a:t>wrt</a:t>
            </a:r>
            <a:r>
              <a:rPr lang="en-US" sz="2000" dirty="0"/>
              <a:t> best in the hypothesis class </a:t>
            </a:r>
          </a:p>
          <a:p>
            <a:endParaRPr lang="en-US" sz="800" dirty="0"/>
          </a:p>
          <a:p>
            <a:r>
              <a:rPr lang="en-US" sz="2000" dirty="0"/>
              <a:t>Larger hypothesis classes have higher estimation error</a:t>
            </a:r>
            <a:endParaRPr lang="en-PK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0C17A6-7D51-ADE8-9A71-A62BDACD6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740" y="5620882"/>
            <a:ext cx="3643131" cy="7727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D65D34-A156-FE97-D2FA-C7D4B1519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697" y="3820574"/>
            <a:ext cx="2713219" cy="4499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C58CDA-6AF3-3C83-B69B-B5B6C915B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348" y="4662500"/>
            <a:ext cx="2129720" cy="4443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55179B-E4DD-F911-5C0D-A7D6C7B38C41}"/>
              </a:ext>
            </a:extLst>
          </p:cNvPr>
          <p:cNvSpPr txBox="1"/>
          <p:nvPr/>
        </p:nvSpPr>
        <p:spPr>
          <a:xfrm>
            <a:off x="4257208" y="3011341"/>
            <a:ext cx="629585" cy="3610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324073-7AEA-33C6-4D13-819D845DA408}"/>
              </a:ext>
            </a:extLst>
          </p:cNvPr>
          <p:cNvSpPr txBox="1"/>
          <p:nvPr/>
        </p:nvSpPr>
        <p:spPr>
          <a:xfrm>
            <a:off x="4257208" y="5247013"/>
            <a:ext cx="693440" cy="2518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4499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5746B-7056-2DF7-EEE8-577BEA55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class size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620C7-F868-0382-2E2A-6F2855622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the hypothesis class size increases:</a:t>
            </a:r>
          </a:p>
          <a:p>
            <a:endParaRPr lang="en-US" dirty="0"/>
          </a:p>
          <a:p>
            <a:pPr lvl="1"/>
            <a:r>
              <a:rPr lang="en-US" dirty="0"/>
              <a:t>Approximation error decreases </a:t>
            </a:r>
          </a:p>
          <a:p>
            <a:pPr lvl="2"/>
            <a:r>
              <a:rPr lang="en-US" dirty="0"/>
              <a:t>taking min over larger set 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Estimation error increases </a:t>
            </a:r>
          </a:p>
          <a:p>
            <a:pPr lvl="2"/>
            <a:r>
              <a:rPr lang="en-US" dirty="0"/>
              <a:t>harder to estimate something more complex</a:t>
            </a:r>
          </a:p>
          <a:p>
            <a:pPr lvl="2"/>
            <a:endParaRPr lang="en-US" dirty="0"/>
          </a:p>
          <a:p>
            <a:r>
              <a:rPr lang="en-US" dirty="0"/>
              <a:t>Recall </a:t>
            </a:r>
          </a:p>
          <a:p>
            <a:endParaRPr lang="en-US" sz="800" dirty="0"/>
          </a:p>
          <a:p>
            <a:r>
              <a:rPr lang="en-US" dirty="0"/>
              <a:t>To control the size of the hypothesis class, control the number of possible values of </a:t>
            </a:r>
            <a:r>
              <a:rPr lang="en-US" i="1" dirty="0"/>
              <a:t>w </a:t>
            </a:r>
            <a:r>
              <a:rPr lang="en-US" dirty="0"/>
              <a:t>that the learning algorithm can choose from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B996D-FDF6-803D-E5AF-90EA4EC3D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682" y="4706513"/>
            <a:ext cx="1392055" cy="45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05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38B6-D067-A2CF-52E3-9385B2AD0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1: dimensionality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A6BD1-4D85-B2ED-9B9F-1FFDD3085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Reduce </a:t>
            </a:r>
            <a:r>
              <a:rPr lang="en-US" i="1" dirty="0"/>
              <a:t>d</a:t>
            </a:r>
            <a:r>
              <a:rPr lang="en-US" dirty="0"/>
              <a:t>, the dimensionality</a:t>
            </a:r>
          </a:p>
          <a:p>
            <a:endParaRPr lang="en-US" dirty="0"/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B71D7B-17B3-502C-82DD-5D0F4B833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97" y="1895006"/>
            <a:ext cx="1419225" cy="609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BB6B1E-409F-4CE1-7548-5BDBDCADF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788" y="3886200"/>
            <a:ext cx="4914900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80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F2671-34E1-8E48-74E3-C69E3CDE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2: norm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61367-4EF2-AE89-1E21-843AE7958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Reduce the norm ||w||</a:t>
            </a:r>
          </a:p>
          <a:p>
            <a:endParaRPr lang="en-US" dirty="0"/>
          </a:p>
          <a:p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0A5809-35BA-2FDE-96D0-DE8FDAB72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97" y="1895006"/>
            <a:ext cx="1419225" cy="609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BDE2A0-A041-517F-EA41-D33190487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154" y="3972393"/>
            <a:ext cx="4540944" cy="140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38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64DEB-06ED-0D66-C5F3-1EA7B15F4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Controlling the norm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52B77-61EC-56F5-5ED0-73E26F532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(regularized)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form of regularization is known as L</a:t>
            </a:r>
            <a:r>
              <a:rPr lang="en-US" baseline="-25000" dirty="0"/>
              <a:t>2</a:t>
            </a:r>
            <a:r>
              <a:rPr lang="en-US" dirty="0"/>
              <a:t> regularization</a:t>
            </a:r>
          </a:p>
          <a:p>
            <a:endParaRPr lang="en-US" dirty="0"/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FCDDC4-DC3E-3450-5FE5-2A22CBB3B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129" y="2180678"/>
            <a:ext cx="3771900" cy="847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6D7BE3-52D9-1CB6-86D7-2273277ED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82" y="3222312"/>
            <a:ext cx="601980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94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0494C-8930-B52B-02D9-8336A4355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Controlling the norm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97DBE-0EB9-F6D6-C263-F61C3D0BA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stopping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B34EDC-2C20-BB3D-4EDC-EB93F282A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962" y="2286000"/>
            <a:ext cx="517207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92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65422-5A07-C238-715E-787FAEC1B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81626-6B17-C14E-E347-931946928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49084F-2E43-B743-19DA-7EBC19F56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25" y="2005111"/>
            <a:ext cx="6791950" cy="142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742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66E60-5ADA-BCEF-1436-7FD4D9CE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Hyperparameters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05772-5BE8-95DD-333A-0AFB8A821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800" dirty="0"/>
          </a:p>
          <a:p>
            <a:r>
              <a:rPr lang="en-US" dirty="0"/>
              <a:t>How to choose hyperparameters?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dirty="0"/>
              <a:t>Usually10-50% of the test set</a:t>
            </a:r>
          </a:p>
          <a:p>
            <a:endParaRPr lang="en-US" sz="800" dirty="0"/>
          </a:p>
          <a:p>
            <a:r>
              <a:rPr lang="en-US" dirty="0"/>
              <a:t>K-Fold validation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01EE1-0819-EBB9-B826-17637EA5C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110" y="1752600"/>
            <a:ext cx="6682255" cy="1465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36DD88-6E05-810E-D624-51257106F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545" y="3639933"/>
            <a:ext cx="6370820" cy="138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351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141eb740bd562c224194a820cd93de89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9008c3073cad716f14d8acfe17a7b91b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FD5A94C-53DF-41B7-AC0D-EB45FFDEE8A7}"/>
</file>

<file path=customXml/itemProps2.xml><?xml version="1.0" encoding="utf-8"?>
<ds:datastoreItem xmlns:ds="http://schemas.openxmlformats.org/officeDocument/2006/customXml" ds:itemID="{1126B684-04A0-419E-BE3B-33CD331487A4}"/>
</file>

<file path=customXml/itemProps3.xml><?xml version="1.0" encoding="utf-8"?>
<ds:datastoreItem xmlns:ds="http://schemas.openxmlformats.org/officeDocument/2006/customXml" ds:itemID="{94B0F21D-6E23-46E5-BF48-21AB68CE086A}"/>
</file>

<file path=docProps/app.xml><?xml version="1.0" encoding="utf-8"?>
<Properties xmlns="http://schemas.openxmlformats.org/officeDocument/2006/extended-properties" xmlns:vt="http://schemas.openxmlformats.org/officeDocument/2006/docPropsVTypes">
  <TotalTime>882</TotalTime>
  <Words>276</Words>
  <Application>Microsoft Office PowerPoint</Application>
  <PresentationFormat>On-screen Show (4:3)</PresentationFormat>
  <Paragraphs>94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Noto Sans Symbols</vt:lpstr>
      <vt:lpstr>Times New Roman</vt:lpstr>
      <vt:lpstr>Verdana</vt:lpstr>
      <vt:lpstr>Profile</vt:lpstr>
      <vt:lpstr>Artificial Intelligence</vt:lpstr>
      <vt:lpstr>Learning objectives</vt:lpstr>
      <vt:lpstr>PowerPoint Presentation</vt:lpstr>
      <vt:lpstr>PowerPoint Presentation</vt:lpstr>
      <vt:lpstr>Approximation and estimation error</vt:lpstr>
      <vt:lpstr>PowerPoint Presentation</vt:lpstr>
      <vt:lpstr>Hypothesis class size</vt:lpstr>
      <vt:lpstr>Strategy 1: dimensionality</vt:lpstr>
      <vt:lpstr>Strategy 2: norm</vt:lpstr>
      <vt:lpstr>Controlling the norm</vt:lpstr>
      <vt:lpstr>Controlling the norm</vt:lpstr>
      <vt:lpstr>PowerPoint Presentation</vt:lpstr>
      <vt:lpstr>Hyperparameters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Onaiza Maqbool</dc:creator>
  <cp:lastModifiedBy>Onaiza Maqbool</cp:lastModifiedBy>
  <cp:revision>27</cp:revision>
  <cp:lastPrinted>2025-10-02T08:35:56Z</cp:lastPrinted>
  <dcterms:created xsi:type="dcterms:W3CDTF">1601-01-01T00:00:00Z</dcterms:created>
  <dcterms:modified xsi:type="dcterms:W3CDTF">2025-10-22T06:05:30Z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