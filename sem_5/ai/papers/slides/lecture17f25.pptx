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322" r:id="rId4"/>
    <p:sldId id="372" r:id="rId5"/>
    <p:sldId id="373" r:id="rId6"/>
    <p:sldId id="374" r:id="rId7"/>
    <p:sldId id="376" r:id="rId8"/>
    <p:sldId id="378" r:id="rId9"/>
    <p:sldId id="401" r:id="rId10"/>
    <p:sldId id="402" r:id="rId11"/>
    <p:sldId id="403" r:id="rId12"/>
    <p:sldId id="404" r:id="rId13"/>
    <p:sldId id="553" r:id="rId14"/>
    <p:sldId id="554" r:id="rId15"/>
    <p:sldId id="555" r:id="rId16"/>
    <p:sldId id="556" r:id="rId17"/>
    <p:sldId id="405" r:id="rId18"/>
    <p:sldId id="557" r:id="rId19"/>
    <p:sldId id="409" r:id="rId20"/>
    <p:sldId id="410" r:id="rId21"/>
    <p:sldId id="411" r:id="rId22"/>
    <p:sldId id="412" r:id="rId23"/>
    <p:sldId id="413" r:id="rId24"/>
    <p:sldId id="414" r:id="rId25"/>
    <p:sldId id="415" r:id="rId26"/>
    <p:sldId id="416" r:id="rId27"/>
    <p:sldId id="417" r:id="rId28"/>
    <p:sldId id="560" r:id="rId29"/>
    <p:sldId id="561" r:id="rId30"/>
    <p:sldId id="418" r:id="rId31"/>
    <p:sldId id="421" r:id="rId32"/>
    <p:sldId id="422" r:id="rId33"/>
    <p:sldId id="444" r:id="rId34"/>
    <p:sldId id="577" r:id="rId35"/>
    <p:sldId id="575" r:id="rId36"/>
    <p:sldId id="576" r:id="rId37"/>
    <p:sldId id="578" r:id="rId38"/>
    <p:sldId id="448" r:id="rId39"/>
    <p:sldId id="423" r:id="rId40"/>
    <p:sldId id="425" r:id="rId41"/>
    <p:sldId id="426" r:id="rId42"/>
    <p:sldId id="427" r:id="rId43"/>
    <p:sldId id="428" r:id="rId44"/>
    <p:sldId id="429" r:id="rId45"/>
    <p:sldId id="431" r:id="rId46"/>
    <p:sldId id="579" r:id="rId4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i3todGFUTESKM1YNfdDKJfW0e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60" Type="http://schemas.openxmlformats.org/officeDocument/2006/relationships/viewProps" Target="viewProps.xml"/><Relationship Id="rId65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64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DEE9C-6AF6-4FD4-A642-B26088B8712C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5756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239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417DD6-FAC5-F52B-95A6-C1BF4B8F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3025E2-458D-48DB-A82C-33BCD0449BF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B4958A-E2BD-4D35-69B0-859B1148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Lecture #8</a:t>
            </a:r>
          </a:p>
          <a:p>
            <a:pPr>
              <a:defRPr/>
            </a:pPr>
            <a:r>
              <a:rPr lang="en-US" altLang="en-US"/>
              <a:t>Adapted from slides by Dr A. Sattar</a:t>
            </a:r>
          </a:p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0388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C5BEC-5768-877F-A839-8EDFA31A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4AD638-362D-4EE7-B87F-3DFEA8A48F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71BEB-EE6B-6EFC-6FCE-904BA5AC0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Lecture #14</a:t>
            </a:r>
          </a:p>
          <a:p>
            <a:pPr>
              <a:defRPr/>
            </a:pPr>
            <a:r>
              <a:rPr lang="en-US" altLang="en-US"/>
              <a:t>Adapted from slides by Dr A. Sattar</a:t>
            </a:r>
          </a:p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530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17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lang="en-US"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Session#20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lang="en-US"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Session 19 was sessional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lang="en-US"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Session 18 was assignments checking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lang="en-US"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Search-based strategies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C9C8-93F6-3351-A43E-04175C69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problem (state-based models)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254DA-9085-294B-22F7-02A70C210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Model: d</a:t>
            </a:r>
            <a:r>
              <a:rPr lang="en-US" altLang="en-PK" dirty="0"/>
              <a:t>efined by</a:t>
            </a:r>
          </a:p>
          <a:p>
            <a:pPr lvl="1">
              <a:buFontTx/>
              <a:buAutoNum type="arabicPeriod"/>
            </a:pPr>
            <a:r>
              <a:rPr lang="en-US" altLang="en-PK" dirty="0">
                <a:solidFill>
                  <a:srgbClr val="FF0000"/>
                </a:solidFill>
              </a:rPr>
              <a:t>states (Initial (Start) state, Goal (Final) state)</a:t>
            </a:r>
          </a:p>
          <a:p>
            <a:pPr lvl="1">
              <a:buFontTx/>
              <a:buAutoNum type="arabicPeriod"/>
            </a:pPr>
            <a:r>
              <a:rPr lang="en-US" altLang="en-PK" dirty="0">
                <a:solidFill>
                  <a:srgbClr val="FF0000"/>
                </a:solidFill>
              </a:rPr>
              <a:t>actions or successor function</a:t>
            </a:r>
          </a:p>
          <a:p>
            <a:pPr lvl="1">
              <a:buFontTx/>
              <a:buAutoNum type="arabicPeriod"/>
            </a:pPr>
            <a:r>
              <a:rPr lang="en-US" altLang="en-PK" dirty="0">
                <a:solidFill>
                  <a:srgbClr val="FF0000"/>
                </a:solidFill>
              </a:rPr>
              <a:t>costs</a:t>
            </a:r>
          </a:p>
          <a:p>
            <a:pPr eaLnBrk="1" hangingPunct="1"/>
            <a:endParaRPr lang="en-US" altLang="en-PK" sz="2000" dirty="0"/>
          </a:p>
          <a:p>
            <a:pPr eaLnBrk="1" hangingPunct="1"/>
            <a:r>
              <a:rPr lang="en-US" altLang="en-PK" sz="2000" dirty="0"/>
              <a:t>A </a:t>
            </a:r>
            <a:r>
              <a:rPr lang="en-US" altLang="en-PK" sz="2000" dirty="0">
                <a:solidFill>
                  <a:srgbClr val="FF0000"/>
                </a:solidFill>
              </a:rPr>
              <a:t>solution</a:t>
            </a:r>
            <a:r>
              <a:rPr lang="en-US" altLang="en-PK" sz="2000" dirty="0"/>
              <a:t> is a sequence of actions leading from the initial state to a goal state, </a:t>
            </a:r>
            <a:r>
              <a:rPr lang="en-US" altLang="en-PK" sz="2000" dirty="0">
                <a:solidFill>
                  <a:srgbClr val="FF0000"/>
                </a:solidFill>
              </a:rPr>
              <a:t>optimal solution </a:t>
            </a:r>
            <a:r>
              <a:rPr lang="en-US" altLang="en-PK" sz="2000" dirty="0"/>
              <a:t>has the lowest path cost among all solutions</a:t>
            </a:r>
          </a:p>
          <a:p>
            <a:endParaRPr lang="en-US" sz="800" dirty="0"/>
          </a:p>
          <a:p>
            <a:r>
              <a:rPr lang="en-US" sz="2000" dirty="0"/>
              <a:t>Inference: </a:t>
            </a:r>
            <a:r>
              <a:rPr lang="en-US" sz="2000" dirty="0">
                <a:solidFill>
                  <a:srgbClr val="FF0000"/>
                </a:solidFill>
              </a:rPr>
              <a:t>Algorithms for search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8381B-0056-2496-BAAF-AFF3B22DA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88" y="1778442"/>
            <a:ext cx="7677150" cy="990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61EDE8-9351-26D5-3875-A88FD457A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269" y="3000817"/>
            <a:ext cx="2013197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B0B705C-7BF5-B186-5C41-EE6C83A378A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4266C8B-5526-4778-AF97-0EE41CFB533F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9BCF456A-9E07-FDA6-3545-E80A86979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Tree search example</a:t>
            </a:r>
          </a:p>
        </p:txBody>
      </p:sp>
      <p:pic>
        <p:nvPicPr>
          <p:cNvPr id="20485" name="Picture 3" descr="search-map1c">
            <a:extLst>
              <a:ext uri="{FF2B5EF4-FFF2-40B4-BE49-F238E27FC236}">
                <a16:creationId xmlns:a16="http://schemas.microsoft.com/office/drawing/2014/main" id="{B071D5EF-D1AD-D325-F9A1-9E836677D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76962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Rectangle 4">
            <a:extLst>
              <a:ext uri="{FF2B5EF4-FFF2-40B4-BE49-F238E27FC236}">
                <a16:creationId xmlns:a16="http://schemas.microsoft.com/office/drawing/2014/main" id="{192FEBC1-3FFE-343B-2AFD-F557E8405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/>
              <a:t>We start from a search node, and check whether it is goal state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/>
              <a:t>It is not, so more states need to be considered by applying successor function to the current state, thereby generating new states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CA915-5190-E62A-825C-724D1E0026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66AA50-F0B1-4988-AB0C-B21D286795F7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5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8" name="Picture 2" descr="search-map2c">
            <a:extLst>
              <a:ext uri="{FF2B5EF4-FFF2-40B4-BE49-F238E27FC236}">
                <a16:creationId xmlns:a16="http://schemas.microsoft.com/office/drawing/2014/main" id="{DB271A34-0A4A-BE90-3E00-C7A4176B93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2625" y="1889125"/>
            <a:ext cx="7623175" cy="1884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509" name="Rectangle 3">
            <a:extLst>
              <a:ext uri="{FF2B5EF4-FFF2-40B4-BE49-F238E27FC236}">
                <a16:creationId xmlns:a16="http://schemas.microsoft.com/office/drawing/2014/main" id="{B69181FB-9F22-BFD9-8752-D4E73CF0E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Tree search example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67F2FFF-3A0E-AFA0-D516-6BC40CE7D2C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9C74A1E-1712-4AE5-9CD9-3F2D1B7BFF9F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6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32" name="Picture 2" descr="search-map3c">
            <a:extLst>
              <a:ext uri="{FF2B5EF4-FFF2-40B4-BE49-F238E27FC236}">
                <a16:creationId xmlns:a16="http://schemas.microsoft.com/office/drawing/2014/main" id="{A3D22DC1-5D57-C37E-C38B-F11A7732F5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2625" y="1889125"/>
            <a:ext cx="8004175" cy="1978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533" name="Rectangle 3">
            <a:extLst>
              <a:ext uri="{FF2B5EF4-FFF2-40B4-BE49-F238E27FC236}">
                <a16:creationId xmlns:a16="http://schemas.microsoft.com/office/drawing/2014/main" id="{74F1FCEC-3FFE-DECD-4C52-2D0079C19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Tree search example</a:t>
            </a:r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B10DE638-5ACC-2753-DB4C-AE12B5272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581400"/>
            <a:ext cx="81534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200">
                <a:latin typeface="Times New Roman" panose="02020603050405020304" pitchFamily="18" charset="0"/>
                <a:cs typeface="Times New Roman" panose="02020603050405020304" pitchFamily="18" charset="0"/>
              </a:rPr>
              <a:t>We continue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en-US" altLang="en-PK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en-US" altLang="en-PK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en-US" altLang="en-PK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Expand 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PK" sz="2000">
                <a:latin typeface="Times New Roman" panose="02020603050405020304" pitchFamily="18" charset="0"/>
                <a:cs typeface="Times New Roman" panose="02020603050405020304" pitchFamily="18" charset="0"/>
              </a:rPr>
              <a:t>Till no more states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200">
                <a:latin typeface="Times New Roman" panose="02020603050405020304" pitchFamily="18" charset="0"/>
                <a:cs typeface="Times New Roman" panose="02020603050405020304" pitchFamily="18" charset="0"/>
              </a:rPr>
              <a:t>Choice of which state to expand is determined by the </a:t>
            </a:r>
            <a:r>
              <a:rPr lang="en-US" altLang="en-PK" sz="22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E70722C0-ECA7-2BE2-5125-E117952395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86662E1-B5E8-4FC0-B989-CB588CCC1127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7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A1B09-254A-6CB1-992F-0598C1E64054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1719569-4CEF-4F63-ACE0-4460C7FA19D5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7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ADC151FA-74C7-F436-2FF5-40D901B8DE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Measuring Search Strategy Performance</a:t>
            </a:r>
          </a:p>
        </p:txBody>
      </p:sp>
      <p:sp>
        <p:nvSpPr>
          <p:cNvPr id="24583" name="Rectangle 3">
            <a:extLst>
              <a:ext uri="{FF2B5EF4-FFF2-40B4-BE49-F238E27FC236}">
                <a16:creationId xmlns:a16="http://schemas.microsoft.com/office/drawing/2014/main" id="{0C2F201B-35F6-4ACD-80F1-E2E115DFCD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>
              <a:lnSpc>
                <a:spcPct val="90000"/>
              </a:lnSpc>
            </a:pPr>
            <a:r>
              <a:rPr lang="en-US" altLang="en-PK" sz="2000" dirty="0"/>
              <a:t>A search strategy is defined by picking the </a:t>
            </a:r>
            <a:r>
              <a:rPr lang="en-US" altLang="en-PK" sz="2000" dirty="0">
                <a:solidFill>
                  <a:srgbClr val="FF0000"/>
                </a:solidFill>
              </a:rPr>
              <a:t>order of node expansion</a:t>
            </a:r>
            <a:endParaRPr lang="en-US" altLang="en-PK" sz="2000" dirty="0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 sz="2000" dirty="0"/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 sz="2000" dirty="0"/>
              <a:t>Strategies are evaluated along the following dimensions:</a:t>
            </a:r>
          </a:p>
          <a:p>
            <a:pPr marL="742950" lvl="1" indent="-285750" eaLnBrk="1" hangingPunct="1">
              <a:lnSpc>
                <a:spcPct val="90000"/>
              </a:lnSpc>
            </a:pPr>
            <a:endParaRPr lang="en-US" altLang="en-PK" sz="1800" dirty="0">
              <a:solidFill>
                <a:schemeClr val="accent2"/>
              </a:solidFill>
            </a:endParaRP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dirty="0">
                <a:solidFill>
                  <a:schemeClr val="accent2"/>
                </a:solidFill>
              </a:rPr>
              <a:t>completeness</a:t>
            </a:r>
            <a:r>
              <a:rPr lang="en-US" altLang="en-PK" dirty="0"/>
              <a:t>: does it always find a solution if one exists?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dirty="0">
                <a:solidFill>
                  <a:schemeClr val="accent2"/>
                </a:solidFill>
              </a:rPr>
              <a:t>time complexity</a:t>
            </a:r>
            <a:r>
              <a:rPr lang="en-US" altLang="en-PK" dirty="0"/>
              <a:t>: number of nodes generated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dirty="0">
                <a:solidFill>
                  <a:schemeClr val="accent2"/>
                </a:solidFill>
              </a:rPr>
              <a:t>space complexity</a:t>
            </a:r>
            <a:r>
              <a:rPr lang="en-US" altLang="en-PK" dirty="0"/>
              <a:t>: maximum number of nodes in memory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dirty="0">
                <a:solidFill>
                  <a:schemeClr val="accent2"/>
                </a:solidFill>
              </a:rPr>
              <a:t>optimality</a:t>
            </a:r>
            <a:r>
              <a:rPr lang="en-US" altLang="en-PK" dirty="0"/>
              <a:t>: does it always find a least-cost solution?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173CC0B-9616-4494-5928-03C8D9A556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61432F3-93AD-4A7E-96C8-2E0469B32561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8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838FF-855A-1526-0A4D-D9857C6E012F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E39F66A-581E-4599-89A2-F1F996158FBF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8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9562D0BF-F537-EE24-7D96-98BE44D876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Uninformed search strategies</a:t>
            </a:r>
          </a:p>
        </p:txBody>
      </p:sp>
      <p:sp>
        <p:nvSpPr>
          <p:cNvPr id="26631" name="Rectangle 3">
            <a:extLst>
              <a:ext uri="{FF2B5EF4-FFF2-40B4-BE49-F238E27FC236}">
                <a16:creationId xmlns:a16="http://schemas.microsoft.com/office/drawing/2014/main" id="{C12DD218-9157-924F-C733-ACC760DD80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dirty="0">
                <a:solidFill>
                  <a:srgbClr val="FF0000"/>
                </a:solidFill>
              </a:rPr>
              <a:t>Uninformed</a:t>
            </a:r>
            <a:r>
              <a:rPr lang="en-US" altLang="en-PK" dirty="0"/>
              <a:t> search strategies use only the information available in the problem definition. Do not know that one non-goal state is more promising than another</a:t>
            </a:r>
          </a:p>
          <a:p>
            <a:pPr marL="342900" indent="-342900" eaLnBrk="1" hangingPunct="1"/>
            <a:endParaRPr lang="en-US" altLang="en-PK" dirty="0"/>
          </a:p>
          <a:p>
            <a:pPr marL="342900" indent="-342900" eaLnBrk="1" hangingPunct="1"/>
            <a:r>
              <a:rPr lang="en-US" altLang="en-PK" dirty="0"/>
              <a:t>Breadth-first search</a:t>
            </a:r>
          </a:p>
          <a:p>
            <a:pPr marL="342900" indent="-342900" eaLnBrk="1" hangingPunct="1"/>
            <a:r>
              <a:rPr lang="en-US" altLang="en-PK" dirty="0"/>
              <a:t>Depth-first search</a:t>
            </a:r>
          </a:p>
          <a:p>
            <a:pPr marL="342900" indent="-342900" eaLnBrk="1" hangingPunct="1"/>
            <a:r>
              <a:rPr lang="en-US" altLang="en-PK" dirty="0"/>
              <a:t>Depth-limited search</a:t>
            </a:r>
          </a:p>
          <a:p>
            <a:pPr marL="342900" indent="-342900"/>
            <a:r>
              <a:rPr lang="en-US" altLang="en-PK" dirty="0"/>
              <a:t>Uniform-cost search</a:t>
            </a:r>
          </a:p>
          <a:p>
            <a:pPr marL="342900" indent="-342900" eaLnBrk="1" hangingPunct="1"/>
            <a:r>
              <a:rPr lang="en-US" altLang="en-PK" dirty="0"/>
              <a:t>Iterative deepening 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C23A9454-D047-6959-EFE9-D8030A17BA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752820-9069-4DB7-9BFA-BC82675E8260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9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3B1068-E84B-13FD-1D58-D84ADB77C426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B40E5E-3CB8-43F6-92B9-05A261AD0508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9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DCF5D21E-50C2-A747-BCE0-392F5CCDE0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Breadth-first search</a:t>
            </a:r>
          </a:p>
        </p:txBody>
      </p:sp>
      <p:sp>
        <p:nvSpPr>
          <p:cNvPr id="27655" name="Rectangle 3">
            <a:extLst>
              <a:ext uri="{FF2B5EF4-FFF2-40B4-BE49-F238E27FC236}">
                <a16:creationId xmlns:a16="http://schemas.microsoft.com/office/drawing/2014/main" id="{DA767C01-2F76-CF3F-44AE-34FCBF2941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/>
              <a:t>Expand shallowest unexpanded node</a:t>
            </a:r>
          </a:p>
          <a:p>
            <a:pPr marL="342900" indent="-342900" eaLnBrk="1" hangingPunct="1"/>
            <a:r>
              <a:rPr lang="en-US" altLang="en-PK">
                <a:solidFill>
                  <a:schemeClr val="accent2"/>
                </a:solidFill>
              </a:rPr>
              <a:t>Implementation</a:t>
            </a:r>
            <a:r>
              <a:rPr lang="en-US" altLang="en-PK"/>
              <a:t>:</a:t>
            </a:r>
          </a:p>
          <a:p>
            <a:pPr marL="742950" lvl="1" indent="-285750" eaLnBrk="1" hangingPunct="1"/>
            <a:r>
              <a:rPr lang="en-US" altLang="en-PK" i="1"/>
              <a:t>fringe</a:t>
            </a:r>
            <a:r>
              <a:rPr lang="en-US" altLang="en-PK"/>
              <a:t> is a FIFO queue, i.e., new successors go at end</a:t>
            </a:r>
          </a:p>
        </p:txBody>
      </p:sp>
      <p:pic>
        <p:nvPicPr>
          <p:cNvPr id="27656" name="Picture 4" descr="bfs-progress1c">
            <a:extLst>
              <a:ext uri="{FF2B5EF4-FFF2-40B4-BE49-F238E27FC236}">
                <a16:creationId xmlns:a16="http://schemas.microsoft.com/office/drawing/2014/main" id="{E09BE20B-65CC-7BA5-0CED-98B2289E9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200400"/>
            <a:ext cx="4267200" cy="281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F925429D-9815-7ACC-B082-F436EE888F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5EDF1DC-334C-4C61-8D5E-1AE45DEA6709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10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A4A22-ABFA-33A7-BDA6-457A0B107C35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499E10A-DEFF-4B52-AE46-1D6568DF9636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10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678" name="Picture 2" descr="bfs-progress2c">
            <a:extLst>
              <a:ext uri="{FF2B5EF4-FFF2-40B4-BE49-F238E27FC236}">
                <a16:creationId xmlns:a16="http://schemas.microsoft.com/office/drawing/2014/main" id="{E8023BF7-663A-AD74-23FC-5E5911661919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3124200"/>
            <a:ext cx="4343400" cy="2800350"/>
          </a:xfrm>
          <a:noFill/>
        </p:spPr>
      </p:pic>
      <p:sp>
        <p:nvSpPr>
          <p:cNvPr id="28679" name="Rectangle 3">
            <a:extLst>
              <a:ext uri="{FF2B5EF4-FFF2-40B4-BE49-F238E27FC236}">
                <a16:creationId xmlns:a16="http://schemas.microsoft.com/office/drawing/2014/main" id="{B6C026FA-DEE5-7F84-55B2-B264C8B0F3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Breadth-first search</a:t>
            </a:r>
          </a:p>
        </p:txBody>
      </p:sp>
      <p:sp>
        <p:nvSpPr>
          <p:cNvPr id="28680" name="Rectangle 4">
            <a:extLst>
              <a:ext uri="{FF2B5EF4-FFF2-40B4-BE49-F238E27FC236}">
                <a16:creationId xmlns:a16="http://schemas.microsoft.com/office/drawing/2014/main" id="{C188D6E3-2843-B7E3-22FD-541D06110F3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66738" y="1752600"/>
            <a:ext cx="7702550" cy="4267200"/>
          </a:xfrm>
        </p:spPr>
        <p:txBody>
          <a:bodyPr/>
          <a:lstStyle/>
          <a:p>
            <a:pPr marL="342900" indent="-342900" eaLnBrk="1" hangingPunct="1"/>
            <a:r>
              <a:rPr lang="en-US" altLang="en-PK" sz="2400"/>
              <a:t>Expand shallowest unexpanded node</a:t>
            </a:r>
          </a:p>
          <a:p>
            <a:pPr marL="342900" indent="-342900" eaLnBrk="1" hangingPunct="1"/>
            <a:r>
              <a:rPr lang="en-US" altLang="en-PK" sz="2400">
                <a:solidFill>
                  <a:schemeClr val="accent2"/>
                </a:solidFill>
              </a:rPr>
              <a:t>Implementation</a:t>
            </a:r>
            <a:r>
              <a:rPr lang="en-US" altLang="en-PK" sz="2400"/>
              <a:t>:</a:t>
            </a:r>
          </a:p>
          <a:p>
            <a:pPr marL="742950" lvl="1" indent="-285750" eaLnBrk="1" hangingPunct="1"/>
            <a:r>
              <a:rPr lang="en-US" altLang="en-PK" i="1"/>
              <a:t>fringe</a:t>
            </a:r>
            <a:r>
              <a:rPr lang="en-US" altLang="en-PK"/>
              <a:t> is a FIFO queue, i.e., new successors go at 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65698BCE-F53B-E20F-ACA3-148E380993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2C2B078-22F0-4A26-AA29-E77A8BFF1EE6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11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A278DE-FBA1-B501-A5F8-5A9B4DE15BD9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F726732-A781-45BF-8F46-1CFFC2E524FB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11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702" name="Picture 2" descr="bfs-progress3c">
            <a:extLst>
              <a:ext uri="{FF2B5EF4-FFF2-40B4-BE49-F238E27FC236}">
                <a16:creationId xmlns:a16="http://schemas.microsoft.com/office/drawing/2014/main" id="{BECE30DE-628C-70FE-BB58-0F1C9B175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971800"/>
            <a:ext cx="4343400" cy="285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3" name="Rectangle 3">
            <a:extLst>
              <a:ext uri="{FF2B5EF4-FFF2-40B4-BE49-F238E27FC236}">
                <a16:creationId xmlns:a16="http://schemas.microsoft.com/office/drawing/2014/main" id="{D3AF02E4-BC08-14AD-163F-0376968EA3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Breadth-first search</a:t>
            </a:r>
          </a:p>
        </p:txBody>
      </p:sp>
      <p:sp>
        <p:nvSpPr>
          <p:cNvPr id="29704" name="Rectangle 4">
            <a:extLst>
              <a:ext uri="{FF2B5EF4-FFF2-40B4-BE49-F238E27FC236}">
                <a16:creationId xmlns:a16="http://schemas.microsoft.com/office/drawing/2014/main" id="{55E7C497-ECDA-59EA-2077-6E994D137D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/>
              <a:t>Expand shallowest unexpanded node</a:t>
            </a:r>
          </a:p>
          <a:p>
            <a:pPr marL="342900" indent="-342900" eaLnBrk="1" hangingPunct="1"/>
            <a:r>
              <a:rPr lang="en-US" altLang="en-PK">
                <a:solidFill>
                  <a:schemeClr val="accent2"/>
                </a:solidFill>
              </a:rPr>
              <a:t>Implementation</a:t>
            </a:r>
            <a:r>
              <a:rPr lang="en-US" altLang="en-PK"/>
              <a:t>:</a:t>
            </a:r>
          </a:p>
          <a:p>
            <a:pPr marL="742950" lvl="1" indent="-285750" eaLnBrk="1" hangingPunct="1"/>
            <a:r>
              <a:rPr lang="en-US" altLang="en-PK" i="1"/>
              <a:t>fringe</a:t>
            </a:r>
            <a:r>
              <a:rPr lang="en-US" altLang="en-PK"/>
              <a:t> is a FIFO queue, i.e., new successors go at 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CAF9B500-B91D-7F12-0642-67B972338C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4D1C97-16B0-4C6D-A38F-3AE02628A17A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12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A6AE34-97C3-8A59-27BB-46B75741857F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51AB47-4FF5-41FA-9D4B-1748EC5F5C76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12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6" name="Picture 2" descr="bfs-progress4c">
            <a:extLst>
              <a:ext uri="{FF2B5EF4-FFF2-40B4-BE49-F238E27FC236}">
                <a16:creationId xmlns:a16="http://schemas.microsoft.com/office/drawing/2014/main" id="{99996390-F00E-5FAC-0EE2-36E858F4F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048000"/>
            <a:ext cx="4648200" cy="278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Rectangle 3">
            <a:extLst>
              <a:ext uri="{FF2B5EF4-FFF2-40B4-BE49-F238E27FC236}">
                <a16:creationId xmlns:a16="http://schemas.microsoft.com/office/drawing/2014/main" id="{895C35AE-0ADF-41AC-EA92-A03D05C9F3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Breadth-first search</a:t>
            </a:r>
          </a:p>
        </p:txBody>
      </p:sp>
      <p:sp>
        <p:nvSpPr>
          <p:cNvPr id="30728" name="Rectangle 4">
            <a:extLst>
              <a:ext uri="{FF2B5EF4-FFF2-40B4-BE49-F238E27FC236}">
                <a16:creationId xmlns:a16="http://schemas.microsoft.com/office/drawing/2014/main" id="{C9112339-6C5F-E205-A409-365B67A93B6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/>
              <a:t>Expand shallowest unexpanded node</a:t>
            </a:r>
          </a:p>
          <a:p>
            <a:pPr marL="342900" indent="-342900" eaLnBrk="1" hangingPunct="1"/>
            <a:r>
              <a:rPr lang="en-US" altLang="en-PK">
                <a:solidFill>
                  <a:schemeClr val="accent2"/>
                </a:solidFill>
              </a:rPr>
              <a:t>Implementation</a:t>
            </a:r>
            <a:r>
              <a:rPr lang="en-US" altLang="en-PK"/>
              <a:t>:</a:t>
            </a:r>
          </a:p>
          <a:p>
            <a:pPr marL="742950" lvl="1" indent="-285750" eaLnBrk="1" hangingPunct="1"/>
            <a:r>
              <a:rPr lang="en-US" altLang="en-PK" i="1"/>
              <a:t>fringe</a:t>
            </a:r>
            <a:r>
              <a:rPr lang="en-US" altLang="en-PK"/>
              <a:t> is a FIFO queue, i.e., new successors go at 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2AD53B0-8F73-105E-4896-CE98ED1B2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Breadth-first search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DFD9916-54C3-8893-BF1E-F29EEA4D8B1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4038600" cy="4455826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dirty="0"/>
              <a:t>BFS(G, s)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b="1" i="1" dirty="0"/>
              <a:t>for each </a:t>
            </a:r>
            <a:r>
              <a:rPr lang="en-US" altLang="en-US" sz="1600" i="1" dirty="0"/>
              <a:t>vertex u      V[G] –{s}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do color[u] ← white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     d[u] ← ∞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     </a:t>
            </a:r>
            <a:r>
              <a:rPr lang="el-GR" altLang="en-US" sz="1600" i="1" dirty="0"/>
              <a:t>π</a:t>
            </a:r>
            <a:r>
              <a:rPr lang="en-US" altLang="en-US" sz="1600" i="1" dirty="0"/>
              <a:t>[u] ← NIL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color[s] ← gray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d[s] ← 0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l-GR" altLang="en-US" sz="1600" i="1" dirty="0"/>
              <a:t>π</a:t>
            </a:r>
            <a:r>
              <a:rPr lang="en-US" altLang="en-US" sz="1600" i="1" dirty="0"/>
              <a:t>[s] ← NIL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Q ← Ø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ENQUEUE(Q,s)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While Q ≠ Ø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    do u ← DEQUEUE(Q)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         for each v       Adj[u]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               do if color[v] = white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                    then color[v] ← gray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                            d[v] ← d[u] + 1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                            </a:t>
            </a:r>
            <a:r>
              <a:rPr lang="el-GR" altLang="en-US" sz="1600" i="1" dirty="0"/>
              <a:t>π</a:t>
            </a:r>
            <a:r>
              <a:rPr lang="en-US" altLang="en-US" sz="1600" i="1" dirty="0"/>
              <a:t>[v] ← u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                            ENQUEUE(</a:t>
            </a:r>
            <a:r>
              <a:rPr lang="en-US" altLang="en-US" sz="1600" i="1" dirty="0" err="1"/>
              <a:t>Q,v</a:t>
            </a:r>
            <a:r>
              <a:rPr lang="en-US" altLang="en-US" sz="1600" i="1" dirty="0"/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600" i="1" dirty="0"/>
              <a:t>               color[u] ← BLACK </a:t>
            </a:r>
            <a:endParaRPr lang="el-GR" altLang="en-US" sz="1600" i="1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E8C693AD-4617-926E-8169-263274CD26AD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24150" y="4590895"/>
            <a:ext cx="209550" cy="257175"/>
          </a:xfrm>
          <a:noFill/>
        </p:spPr>
      </p:pic>
      <p:pic>
        <p:nvPicPr>
          <p:cNvPr id="8197" name="Picture 5">
            <a:extLst>
              <a:ext uri="{FF2B5EF4-FFF2-40B4-BE49-F238E27FC236}">
                <a16:creationId xmlns:a16="http://schemas.microsoft.com/office/drawing/2014/main" id="{68B788A1-8084-ED76-F8EA-98328DD151B8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4600" y="1828800"/>
            <a:ext cx="209550" cy="257175"/>
          </a:xfr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1EEFC58-C27F-BBC1-AC56-2E1796B810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Breadth First Search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2159D0D-165D-1E21-D357-C731CF271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results of BFS may depend on order in which the </a:t>
            </a:r>
            <a:r>
              <a:rPr lang="en-US" altLang="en-US" dirty="0" err="1"/>
              <a:t>neighbours</a:t>
            </a:r>
            <a:r>
              <a:rPr lang="en-US" altLang="en-US" dirty="0"/>
              <a:t> of a given tree are visited</a:t>
            </a:r>
          </a:p>
          <a:p>
            <a:endParaRPr lang="en-US" altLang="en-US" dirty="0"/>
          </a:p>
          <a:p>
            <a:r>
              <a:rPr lang="en-US" altLang="en-US" dirty="0"/>
              <a:t>The BFS tree may vary, but the distances </a:t>
            </a:r>
            <a:r>
              <a:rPr lang="en-US" altLang="en-US" i="1" dirty="0"/>
              <a:t>d</a:t>
            </a:r>
            <a:r>
              <a:rPr lang="en-US" altLang="en-US" dirty="0"/>
              <a:t> computed by the algorithm will not</a:t>
            </a:r>
          </a:p>
          <a:p>
            <a:endParaRPr lang="en-US" altLang="en-US" dirty="0"/>
          </a:p>
          <a:p>
            <a:r>
              <a:rPr lang="en-US" altLang="en-US" dirty="0"/>
              <a:t>Optimal for problems where all actions have the same cost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511F19B-BA3C-DDC6-E447-C3A5390254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Breadth First Search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CFD0705-D56F-F573-8517-9C80C9E67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The running time for BFS consists of following major components</a:t>
            </a:r>
          </a:p>
          <a:p>
            <a:pPr lvl="1">
              <a:lnSpc>
                <a:spcPct val="90000"/>
              </a:lnSpc>
            </a:pPr>
            <a:r>
              <a:rPr lang="en-US" altLang="en-US" i="1"/>
              <a:t>Ti =Initializing vertices T</a:t>
            </a:r>
          </a:p>
          <a:p>
            <a:pPr lvl="1">
              <a:lnSpc>
                <a:spcPct val="90000"/>
              </a:lnSpc>
            </a:pPr>
            <a:r>
              <a:rPr lang="en-US" altLang="en-US" i="1"/>
              <a:t>Tq =Queuing and Dequeuing</a:t>
            </a:r>
          </a:p>
          <a:p>
            <a:pPr lvl="1">
              <a:lnSpc>
                <a:spcPct val="90000"/>
              </a:lnSpc>
            </a:pPr>
            <a:r>
              <a:rPr lang="en-US" altLang="en-US" i="1"/>
              <a:t>Ts = Scanning Adjacency list</a:t>
            </a:r>
            <a:r>
              <a:rPr lang="en-US" altLang="en-US"/>
              <a:t>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The Graph G(V,E) has |V| vertices and |E| edges. Each vertex is initialized once. Therefore</a:t>
            </a:r>
            <a:r>
              <a:rPr lang="en-US" altLang="en-US" i="1"/>
              <a:t>, Ti = O(V)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The </a:t>
            </a:r>
            <a:r>
              <a:rPr lang="en-US" altLang="en-US" i="1"/>
              <a:t>queuing </a:t>
            </a:r>
            <a:r>
              <a:rPr lang="en-US" altLang="en-US"/>
              <a:t>and </a:t>
            </a:r>
            <a:r>
              <a:rPr lang="en-US" altLang="en-US" b="1" i="1"/>
              <a:t>dequeuing </a:t>
            </a:r>
            <a:r>
              <a:rPr lang="en-US" altLang="en-US"/>
              <a:t>operations take </a:t>
            </a:r>
            <a:r>
              <a:rPr lang="en-US" altLang="en-US" i="1"/>
              <a:t>O(1) </a:t>
            </a:r>
            <a:r>
              <a:rPr lang="en-US" altLang="en-US"/>
              <a:t>time, and each vertex is queued and dequeued once</a:t>
            </a:r>
            <a:r>
              <a:rPr lang="en-US" altLang="en-US" i="1"/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i="1"/>
              <a:t>Tq =O(V)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A9E548D-3003-7729-5CC9-EA775A3F2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Analysis of Breadth First Search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7E4CEB8-012A-39E0-D0CD-61C7A84B0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dirty="0"/>
              <a:t>The scanning of Adjacency list takes place for each vertex. In </a:t>
            </a:r>
            <a:r>
              <a:rPr lang="en-US" altLang="en-US" sz="2000" b="1" i="1" dirty="0"/>
              <a:t>worst case </a:t>
            </a:r>
            <a:r>
              <a:rPr lang="en-US" altLang="en-US" sz="2000" dirty="0"/>
              <a:t>all links are examined. </a:t>
            </a:r>
          </a:p>
          <a:p>
            <a:endParaRPr lang="en-US" altLang="en-US" sz="800" dirty="0"/>
          </a:p>
          <a:p>
            <a:r>
              <a:rPr lang="en-US" altLang="en-US" sz="2000" dirty="0"/>
              <a:t>The total time is proportional to the number of edges scanned. Since </a:t>
            </a:r>
            <a:r>
              <a:rPr lang="en-US" altLang="en-US" sz="2000" i="1" dirty="0"/>
              <a:t>|E| </a:t>
            </a:r>
            <a:r>
              <a:rPr lang="en-US" altLang="en-US" sz="2000" dirty="0"/>
              <a:t>is the number of edges in G, </a:t>
            </a:r>
          </a:p>
          <a:p>
            <a:pPr lvl="1"/>
            <a:r>
              <a:rPr lang="en-US" altLang="en-US" sz="1800" i="1" dirty="0"/>
              <a:t>Ts =O(E)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800" dirty="0"/>
          </a:p>
          <a:p>
            <a:r>
              <a:rPr lang="en-US" altLang="en-US" sz="2000" dirty="0"/>
              <a:t>Thus running time is given by </a:t>
            </a:r>
            <a:r>
              <a:rPr lang="en-US" altLang="en-US" sz="2000" b="1" i="1" dirty="0"/>
              <a:t>O(|V|+|E|)</a:t>
            </a:r>
          </a:p>
          <a:p>
            <a:endParaRPr lang="en-US" altLang="en-US" sz="800" b="1" i="1" dirty="0"/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dirty="0">
                <a:solidFill>
                  <a:schemeClr val="accent2"/>
                </a:solidFill>
              </a:rPr>
              <a:t>completeness</a:t>
            </a:r>
            <a:r>
              <a:rPr lang="en-US" altLang="en-PK" dirty="0"/>
              <a:t>: does it always find a solution if one exists? 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dirty="0">
                <a:solidFill>
                  <a:schemeClr val="accent2"/>
                </a:solidFill>
              </a:rPr>
              <a:t>time complexity</a:t>
            </a:r>
            <a:r>
              <a:rPr lang="en-US" altLang="en-PK" dirty="0"/>
              <a:t>: number of nodes generated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dirty="0">
                <a:solidFill>
                  <a:schemeClr val="accent2"/>
                </a:solidFill>
              </a:rPr>
              <a:t>space complexity</a:t>
            </a:r>
            <a:r>
              <a:rPr lang="en-US" altLang="en-PK" dirty="0"/>
              <a:t>: maximum number of nodes in memory 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dirty="0">
                <a:solidFill>
                  <a:schemeClr val="accent2"/>
                </a:solidFill>
              </a:rPr>
              <a:t>optimality</a:t>
            </a:r>
            <a:r>
              <a:rPr lang="en-US" altLang="en-PK" dirty="0"/>
              <a:t>: does it always find a least-cost solution? </a:t>
            </a:r>
            <a:endParaRPr lang="en-PK" sz="2400" dirty="0"/>
          </a:p>
          <a:p>
            <a:endParaRPr lang="en-US" altLang="en-US" sz="2000" b="1" i="1" dirty="0"/>
          </a:p>
          <a:p>
            <a:endParaRPr lang="en-US" altLang="en-US" sz="2000" dirty="0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CBEA355B-0BAC-BAE8-75FE-E66D5AB0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269" name="Object 5">
            <a:extLst>
              <a:ext uri="{FF2B5EF4-FFF2-40B4-BE49-F238E27FC236}">
                <a16:creationId xmlns:a16="http://schemas.microsoft.com/office/drawing/2014/main" id="{817935BE-D734-D25E-7ECF-A9EAD632EB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9888" y="2163580"/>
          <a:ext cx="16002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588" imgH="342751" progId="Equation.3">
                  <p:embed/>
                </p:oleObj>
              </mc:Choice>
              <mc:Fallback>
                <p:oleObj name="Equation" r:id="rId2" imgW="1180588" imgH="342751" progId="Equation.3">
                  <p:embed/>
                  <p:pic>
                    <p:nvPicPr>
                      <p:cNvPr id="11269" name="Object 5">
                        <a:extLst>
                          <a:ext uri="{FF2B5EF4-FFF2-40B4-BE49-F238E27FC236}">
                            <a16:creationId xmlns:a16="http://schemas.microsoft.com/office/drawing/2014/main" id="{817935BE-D734-D25E-7ECF-A9EAD632EB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9888" y="2163580"/>
                        <a:ext cx="16002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29AD4C44-A5FE-7215-D780-24E577D0691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51E16F6-9BBB-42E1-ACB8-3017D8BB592E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17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193E0-95A9-C20B-1A2C-692119D16B29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E936059-28A8-4F71-A8BB-9AAEEB84E18D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17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289667E1-E1B5-2DAE-71F9-F1E873E82D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 sz="3200"/>
              <a:t>Properties of breadth-first search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9B7C3FB5-9CBC-6E71-05D4-5317D8E9B55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>
              <a:lnSpc>
                <a:spcPct val="90000"/>
              </a:lnSpc>
            </a:pPr>
            <a:r>
              <a:rPr lang="en-US" altLang="en-PK" sz="1800" dirty="0"/>
              <a:t>Consider 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PK" sz="1600" i="1" dirty="0"/>
              <a:t>b</a:t>
            </a:r>
            <a:r>
              <a:rPr lang="en-US" altLang="en-PK" sz="1600" dirty="0"/>
              <a:t> to be the branching factor 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PK" sz="1600" i="1" dirty="0"/>
              <a:t>d</a:t>
            </a:r>
            <a:r>
              <a:rPr lang="en-US" altLang="en-PK" sz="1600" dirty="0"/>
              <a:t> to be the solution depth</a:t>
            </a:r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 sz="2000" u="sng" dirty="0">
                <a:solidFill>
                  <a:srgbClr val="CC0099"/>
                </a:solidFill>
              </a:rPr>
              <a:t>Complete?</a:t>
            </a:r>
            <a:r>
              <a:rPr lang="en-US" altLang="en-PK" sz="2000" dirty="0">
                <a:solidFill>
                  <a:srgbClr val="CC0099"/>
                </a:solidFill>
              </a:rPr>
              <a:t> 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sz="1800" dirty="0"/>
              <a:t>Yes (if </a:t>
            </a:r>
            <a:r>
              <a:rPr lang="en-US" altLang="en-PK" sz="1800" i="1" dirty="0"/>
              <a:t>b</a:t>
            </a:r>
            <a:r>
              <a:rPr lang="en-US" altLang="en-PK" sz="1800" dirty="0"/>
              <a:t> is finite)</a:t>
            </a:r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 sz="2000" u="sng" dirty="0">
                <a:solidFill>
                  <a:srgbClr val="CC0099"/>
                </a:solidFill>
              </a:rPr>
              <a:t>Time?</a:t>
            </a:r>
            <a:r>
              <a:rPr lang="en-US" altLang="en-PK" sz="2000" dirty="0"/>
              <a:t> 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sz="1800" i="1" dirty="0"/>
              <a:t>Number of nodes generated is 1+b+b</a:t>
            </a:r>
            <a:r>
              <a:rPr lang="en-US" altLang="en-PK" sz="1800" i="1" baseline="30000" dirty="0"/>
              <a:t>2</a:t>
            </a:r>
            <a:r>
              <a:rPr lang="en-US" altLang="en-PK" sz="1800" i="1" dirty="0"/>
              <a:t>+b</a:t>
            </a:r>
            <a:r>
              <a:rPr lang="en-US" altLang="en-PK" sz="1800" i="1" baseline="30000" dirty="0"/>
              <a:t>3</a:t>
            </a:r>
            <a:r>
              <a:rPr lang="en-US" altLang="en-PK" sz="1800" dirty="0"/>
              <a:t>+… +</a:t>
            </a:r>
            <a:r>
              <a:rPr lang="en-US" altLang="en-PK" sz="1800" i="1" dirty="0"/>
              <a:t>b</a:t>
            </a:r>
            <a:r>
              <a:rPr lang="en-US" altLang="en-PK" sz="1800" i="1" baseline="30000" dirty="0"/>
              <a:t>d</a:t>
            </a:r>
            <a:r>
              <a:rPr lang="en-US" altLang="en-PK" sz="1800" dirty="0"/>
              <a:t> = </a:t>
            </a:r>
            <a:r>
              <a:rPr lang="en-US" altLang="en-PK" sz="1800" i="1" dirty="0"/>
              <a:t>O(b</a:t>
            </a:r>
            <a:r>
              <a:rPr lang="en-US" altLang="en-PK" sz="1800" i="1" baseline="30000" dirty="0"/>
              <a:t>d+1</a:t>
            </a:r>
            <a:r>
              <a:rPr lang="en-US" altLang="en-PK" sz="1800" i="1" dirty="0"/>
              <a:t>)</a:t>
            </a:r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 sz="2000" u="sng" dirty="0">
                <a:solidFill>
                  <a:srgbClr val="CC0099"/>
                </a:solidFill>
              </a:rPr>
              <a:t>Space?</a:t>
            </a:r>
            <a:r>
              <a:rPr lang="en-US" altLang="en-PK" sz="2000" dirty="0"/>
              <a:t> 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sz="1800" i="1" dirty="0"/>
              <a:t>O(b</a:t>
            </a:r>
            <a:r>
              <a:rPr lang="en-US" altLang="en-PK" sz="1800" i="1" baseline="30000" dirty="0"/>
              <a:t>d</a:t>
            </a:r>
            <a:r>
              <a:rPr lang="en-US" altLang="en-PK" sz="1800" i="1" dirty="0"/>
              <a:t>)</a:t>
            </a:r>
            <a:r>
              <a:rPr lang="en-US" altLang="en-PK" sz="1800" dirty="0"/>
              <a:t> (keeps every node in memory)</a:t>
            </a:r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 sz="2000" u="sng" dirty="0">
                <a:solidFill>
                  <a:srgbClr val="CC0099"/>
                </a:solidFill>
              </a:rPr>
              <a:t>Optimal?</a:t>
            </a:r>
            <a:r>
              <a:rPr lang="en-US" altLang="en-PK" sz="2000" dirty="0"/>
              <a:t> 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sz="1800" dirty="0"/>
              <a:t>Not necessarily since shallowest is not necessarily optimal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sz="1800" dirty="0"/>
              <a:t>Yes (if cost = 1 or uniform per step)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altLang="en-PK" sz="2000" dirty="0">
              <a:solidFill>
                <a:srgbClr val="FF0000"/>
              </a:solidFill>
            </a:endParaRPr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 sz="2000" dirty="0">
                <a:solidFill>
                  <a:srgbClr val="FF0000"/>
                </a:solidFill>
              </a:rPr>
              <a:t>Space</a:t>
            </a:r>
            <a:r>
              <a:rPr lang="en-US" altLang="en-PK" sz="2000" dirty="0"/>
              <a:t> is the bigger problem (more than time)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2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2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B833459-CFB0-337D-3A66-4544748B6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Depth First Search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0EBD2DD-D1BD-5F65-0205-266585646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The </a:t>
            </a:r>
            <a:r>
              <a:rPr lang="en-US" altLang="en-US" sz="2000" b="1" i="1"/>
              <a:t>Depth First Search (DFS) </a:t>
            </a:r>
            <a:r>
              <a:rPr lang="en-US" altLang="en-US" sz="2000"/>
              <a:t>is one of the standard graph traversal methods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Each node is visited once only 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The method proceeds by searching deeper in the graph wherever possible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Edges are discovered out of the most recently discovered vertex </a:t>
            </a:r>
            <a:r>
              <a:rPr lang="en-US" altLang="en-US" sz="2000" i="1"/>
              <a:t>v</a:t>
            </a:r>
            <a:r>
              <a:rPr lang="en-US" altLang="en-US" sz="2000"/>
              <a:t> that still has unexplored edges leaving it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When all of </a:t>
            </a:r>
            <a:r>
              <a:rPr lang="en-US" altLang="en-US" sz="2000" i="1"/>
              <a:t>v’s</a:t>
            </a:r>
            <a:r>
              <a:rPr lang="en-US" altLang="en-US" sz="2000"/>
              <a:t> edges have been explored, the search back tracks to explore edges leaving the vertex from which </a:t>
            </a:r>
            <a:r>
              <a:rPr lang="en-US" altLang="en-US" sz="2000" i="1"/>
              <a:t>v</a:t>
            </a:r>
            <a:r>
              <a:rPr lang="en-US" altLang="en-US" sz="2000"/>
              <a:t> was discovered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04275F04-7D35-78A0-2E03-60DEE8329E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274BB2-EF4E-4539-B98C-3B269DFDD169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19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8069ED4-20FC-D04A-FE6F-020C7519194F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8D8446-BE46-4E4A-A8F9-9F5B30309EC1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19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70" name="Picture 2" descr="dfs-progress04c">
            <a:extLst>
              <a:ext uri="{FF2B5EF4-FFF2-40B4-BE49-F238E27FC236}">
                <a16:creationId xmlns:a16="http://schemas.microsoft.com/office/drawing/2014/main" id="{621598E1-7026-25AF-DA13-8693C1AC5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5181600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Rectangle 3">
            <a:extLst>
              <a:ext uri="{FF2B5EF4-FFF2-40B4-BE49-F238E27FC236}">
                <a16:creationId xmlns:a16="http://schemas.microsoft.com/office/drawing/2014/main" id="{A792D19D-5BA0-850E-B26B-E2881ED7526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Depth-first search</a:t>
            </a:r>
          </a:p>
        </p:txBody>
      </p:sp>
      <p:sp>
        <p:nvSpPr>
          <p:cNvPr id="11272" name="Rectangle 4">
            <a:extLst>
              <a:ext uri="{FF2B5EF4-FFF2-40B4-BE49-F238E27FC236}">
                <a16:creationId xmlns:a16="http://schemas.microsoft.com/office/drawing/2014/main" id="{7923F4AA-1482-93DC-01DB-406BCB0BBB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sz="2000" dirty="0"/>
              <a:t>Expand deepest unexpanded node</a:t>
            </a:r>
          </a:p>
          <a:p>
            <a:pPr marL="342900" indent="-342900" eaLnBrk="1" hangingPunct="1"/>
            <a:r>
              <a:rPr lang="en-US" altLang="en-PK" sz="2000" dirty="0">
                <a:solidFill>
                  <a:schemeClr val="accent2"/>
                </a:solidFill>
              </a:rPr>
              <a:t>Implementation</a:t>
            </a:r>
            <a:r>
              <a:rPr lang="en-US" altLang="en-PK" sz="2000" dirty="0"/>
              <a:t>:</a:t>
            </a:r>
          </a:p>
          <a:p>
            <a:pPr marL="742950" lvl="1" indent="-285750" eaLnBrk="1" hangingPunct="1"/>
            <a:r>
              <a:rPr lang="en-US" altLang="en-PK" sz="1800" i="1" dirty="0"/>
              <a:t>fringe </a:t>
            </a:r>
            <a:r>
              <a:rPr lang="en-US" altLang="en-PK" sz="1800" dirty="0"/>
              <a:t>= LIFO queue, i.e., put successors at front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BA4064BF-7556-9572-AC12-8EC74A1427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C732755-68AF-4EF9-BCC6-4D76EAF0E6A7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20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FBE841-610C-B42C-6FF2-B659DBFF7A8C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56C5B8-DB35-4518-9B34-FF4B8E0EE096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20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4" name="Picture 2" descr="dfs-progress05c">
            <a:extLst>
              <a:ext uri="{FF2B5EF4-FFF2-40B4-BE49-F238E27FC236}">
                <a16:creationId xmlns:a16="http://schemas.microsoft.com/office/drawing/2014/main" id="{B93599C5-93AA-D134-AE6E-B9F45C1F0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5181600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Rectangle 3">
            <a:extLst>
              <a:ext uri="{FF2B5EF4-FFF2-40B4-BE49-F238E27FC236}">
                <a16:creationId xmlns:a16="http://schemas.microsoft.com/office/drawing/2014/main" id="{596CEAEA-CE2F-6B1E-5DF3-92C0BFCDE8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Depth-first search</a:t>
            </a:r>
          </a:p>
        </p:txBody>
      </p:sp>
      <p:sp>
        <p:nvSpPr>
          <p:cNvPr id="12296" name="Rectangle 4">
            <a:extLst>
              <a:ext uri="{FF2B5EF4-FFF2-40B4-BE49-F238E27FC236}">
                <a16:creationId xmlns:a16="http://schemas.microsoft.com/office/drawing/2014/main" id="{76E55012-126C-C910-ADE1-C600F90F311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sz="2400"/>
              <a:t>Expand deepest unexpanded node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F2B3C8B8-6305-A3F1-2B32-8C54B285954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7A5846-BEAE-4E7F-A460-36990B5A8C4F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21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C6E2402-D880-67A1-43C9-687A85A81CF8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AA21935-1824-47D9-87F1-4A79E32D71E8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21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8" name="Rectangle 2">
            <a:extLst>
              <a:ext uri="{FF2B5EF4-FFF2-40B4-BE49-F238E27FC236}">
                <a16:creationId xmlns:a16="http://schemas.microsoft.com/office/drawing/2014/main" id="{FBB67B6A-B74D-0474-3AA2-3A19169B970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Depth-first search</a:t>
            </a:r>
          </a:p>
        </p:txBody>
      </p:sp>
      <p:sp>
        <p:nvSpPr>
          <p:cNvPr id="13319" name="Rectangle 3">
            <a:extLst>
              <a:ext uri="{FF2B5EF4-FFF2-40B4-BE49-F238E27FC236}">
                <a16:creationId xmlns:a16="http://schemas.microsoft.com/office/drawing/2014/main" id="{357B41A3-5098-134B-20D5-68DF43119E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sz="2000" dirty="0"/>
              <a:t>Expand deepest unexpanded node
</a:t>
            </a:r>
            <a:r>
              <a:rPr lang="en-US" altLang="en-PK" sz="2000" dirty="0">
                <a:solidFill>
                  <a:schemeClr val="accent2"/>
                </a:solidFill>
              </a:rPr>
              <a:t>Implementation</a:t>
            </a:r>
            <a:r>
              <a:rPr lang="en-US" altLang="en-PK" sz="2000" dirty="0"/>
              <a:t>:</a:t>
            </a:r>
          </a:p>
          <a:p>
            <a:pPr marL="742950" lvl="1" indent="-285750" eaLnBrk="1" hangingPunct="1"/>
            <a:r>
              <a:rPr lang="en-US" altLang="en-PK" sz="1800" i="1" dirty="0"/>
              <a:t>fringe </a:t>
            </a:r>
            <a:r>
              <a:rPr lang="en-US" altLang="en-PK" sz="1800" dirty="0"/>
              <a:t>= LIFO queue, i.e., put successors at front</a:t>
            </a:r>
          </a:p>
        </p:txBody>
      </p:sp>
      <p:pic>
        <p:nvPicPr>
          <p:cNvPr id="13320" name="Picture 4" descr="dfs-progress06c">
            <a:extLst>
              <a:ext uri="{FF2B5EF4-FFF2-40B4-BE49-F238E27FC236}">
                <a16:creationId xmlns:a16="http://schemas.microsoft.com/office/drawing/2014/main" id="{65B2637C-03A2-253A-CD28-31D59FBCF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26DD5DB9-E3AF-14CD-666B-1A143EEB2D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629EBCE-FAFA-4992-986B-2C8A5D41E4F7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22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770B5E3-AF5C-6E61-932F-D6D582CAC03A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C2D8837-4E39-4A89-9DAD-CB1EE4E87D9E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22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ED2930C7-82F2-D174-C18B-812BE1E7AE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Depth-first search</a:t>
            </a:r>
          </a:p>
        </p:txBody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4C5DE3C6-B7F8-ACA5-E0CE-5A4C224862F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sz="2000" dirty="0"/>
              <a:t>Expand deepest unexpanded node
</a:t>
            </a:r>
            <a:r>
              <a:rPr lang="en-US" altLang="en-PK" sz="2000" dirty="0">
                <a:solidFill>
                  <a:schemeClr val="accent2"/>
                </a:solidFill>
              </a:rPr>
              <a:t>Implementation</a:t>
            </a:r>
            <a:r>
              <a:rPr lang="en-US" altLang="en-PK" sz="2000" dirty="0"/>
              <a:t>:</a:t>
            </a:r>
          </a:p>
          <a:p>
            <a:pPr marL="742950" lvl="1" indent="-285750" eaLnBrk="1" hangingPunct="1"/>
            <a:r>
              <a:rPr lang="en-US" altLang="en-PK" sz="1800" i="1" dirty="0"/>
              <a:t>fringe </a:t>
            </a:r>
            <a:r>
              <a:rPr lang="en-US" altLang="en-PK" sz="1800" dirty="0"/>
              <a:t>= LIFO queue, i.e., put successors at front</a:t>
            </a:r>
          </a:p>
        </p:txBody>
      </p:sp>
      <p:pic>
        <p:nvPicPr>
          <p:cNvPr id="14344" name="Picture 4" descr="dfs-progress01c">
            <a:extLst>
              <a:ext uri="{FF2B5EF4-FFF2-40B4-BE49-F238E27FC236}">
                <a16:creationId xmlns:a16="http://schemas.microsoft.com/office/drawing/2014/main" id="{0F6742C9-992A-7062-D298-6187842CD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24200"/>
            <a:ext cx="441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Picture 5" descr="dfs-progress07c">
            <a:extLst>
              <a:ext uri="{FF2B5EF4-FFF2-40B4-BE49-F238E27FC236}">
                <a16:creationId xmlns:a16="http://schemas.microsoft.com/office/drawing/2014/main" id="{6E755C86-F641-85AD-14ED-9B589CC28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B27C6EF3-C4D7-F9C8-BD9A-8C52ED812F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F35BFD4-A3A9-412A-AA50-485E0C649175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23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747791D-D2D5-F5B5-F9A5-B00EBF5D2C44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E6A53D7-1B3B-4AFE-887D-5EECC1ADB9EE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23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6" name="Rectangle 2">
            <a:extLst>
              <a:ext uri="{FF2B5EF4-FFF2-40B4-BE49-F238E27FC236}">
                <a16:creationId xmlns:a16="http://schemas.microsoft.com/office/drawing/2014/main" id="{1AD6F764-355C-8BFA-8865-91CA07F23A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Depth-first search</a:t>
            </a:r>
          </a:p>
        </p:txBody>
      </p:sp>
      <p:sp>
        <p:nvSpPr>
          <p:cNvPr id="15367" name="Rectangle 3">
            <a:extLst>
              <a:ext uri="{FF2B5EF4-FFF2-40B4-BE49-F238E27FC236}">
                <a16:creationId xmlns:a16="http://schemas.microsoft.com/office/drawing/2014/main" id="{499E8F2E-E70E-0B78-6126-22A7E78C62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sz="2000" dirty="0"/>
              <a:t>Expand deepest unexpanded node
</a:t>
            </a:r>
            <a:r>
              <a:rPr lang="en-US" altLang="en-PK" sz="2000" dirty="0">
                <a:solidFill>
                  <a:schemeClr val="accent2"/>
                </a:solidFill>
              </a:rPr>
              <a:t>Implementation</a:t>
            </a:r>
            <a:r>
              <a:rPr lang="en-US" altLang="en-PK" sz="2000" dirty="0"/>
              <a:t>:</a:t>
            </a:r>
          </a:p>
          <a:p>
            <a:pPr marL="742950" lvl="1" indent="-285750" eaLnBrk="1" hangingPunct="1"/>
            <a:r>
              <a:rPr lang="en-US" altLang="en-PK" sz="1800" i="1" dirty="0"/>
              <a:t>fringe </a:t>
            </a:r>
            <a:r>
              <a:rPr lang="en-US" altLang="en-PK" sz="1800" dirty="0"/>
              <a:t>= LIFO queue, i.e., put successors at front</a:t>
            </a:r>
          </a:p>
        </p:txBody>
      </p:sp>
      <p:pic>
        <p:nvPicPr>
          <p:cNvPr id="15368" name="Picture 4" descr="dfs-progress01c">
            <a:extLst>
              <a:ext uri="{FF2B5EF4-FFF2-40B4-BE49-F238E27FC236}">
                <a16:creationId xmlns:a16="http://schemas.microsoft.com/office/drawing/2014/main" id="{3FE4845A-27EC-E34E-F2E3-BD0AB2F49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24200"/>
            <a:ext cx="441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Picture 5" descr="dfs-progress08c">
            <a:extLst>
              <a:ext uri="{FF2B5EF4-FFF2-40B4-BE49-F238E27FC236}">
                <a16:creationId xmlns:a16="http://schemas.microsoft.com/office/drawing/2014/main" id="{E20E9EBA-2EFD-1495-2F29-E14CAEA5D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7434ED7D-72D7-6BA0-58CB-0F6E78EA386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F066654-A68D-4140-A16A-07AAAE3961FB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24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F8C92E2-0C1C-3234-A0BB-B781EDC60AE1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50F18FC-5F5E-43E5-BA1B-7676D25441B3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24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0" name="Rectangle 2">
            <a:extLst>
              <a:ext uri="{FF2B5EF4-FFF2-40B4-BE49-F238E27FC236}">
                <a16:creationId xmlns:a16="http://schemas.microsoft.com/office/drawing/2014/main" id="{ABEEA8C8-4EE3-D390-5890-0E936FD4D10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Depth-first search</a:t>
            </a:r>
          </a:p>
        </p:txBody>
      </p:sp>
      <p:sp>
        <p:nvSpPr>
          <p:cNvPr id="16391" name="Rectangle 3">
            <a:extLst>
              <a:ext uri="{FF2B5EF4-FFF2-40B4-BE49-F238E27FC236}">
                <a16:creationId xmlns:a16="http://schemas.microsoft.com/office/drawing/2014/main" id="{78CD17BE-4F81-B744-FE20-7A11E9E988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sz="2000" dirty="0"/>
              <a:t>Expand deepest unexpanded node
</a:t>
            </a:r>
            <a:r>
              <a:rPr lang="en-US" altLang="en-PK" sz="2000" dirty="0">
                <a:solidFill>
                  <a:schemeClr val="accent2"/>
                </a:solidFill>
              </a:rPr>
              <a:t>Implementation</a:t>
            </a:r>
            <a:r>
              <a:rPr lang="en-US" altLang="en-PK" sz="2000" dirty="0"/>
              <a:t>:</a:t>
            </a:r>
          </a:p>
          <a:p>
            <a:pPr marL="742950" lvl="1" indent="-285750" eaLnBrk="1" hangingPunct="1"/>
            <a:r>
              <a:rPr lang="en-US" altLang="en-PK" sz="1800" i="1" dirty="0"/>
              <a:t>fringe </a:t>
            </a:r>
            <a:r>
              <a:rPr lang="en-US" altLang="en-PK" sz="1800" dirty="0"/>
              <a:t>= LIFO queue, i.e., put successors at front</a:t>
            </a:r>
          </a:p>
        </p:txBody>
      </p:sp>
      <p:pic>
        <p:nvPicPr>
          <p:cNvPr id="16392" name="Picture 4" descr="dfs-progress01c">
            <a:extLst>
              <a:ext uri="{FF2B5EF4-FFF2-40B4-BE49-F238E27FC236}">
                <a16:creationId xmlns:a16="http://schemas.microsoft.com/office/drawing/2014/main" id="{FEECA12F-3EBB-18B1-1B2C-D5455F5B8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24200"/>
            <a:ext cx="441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5" descr="dfs-progress09c">
            <a:extLst>
              <a:ext uri="{FF2B5EF4-FFF2-40B4-BE49-F238E27FC236}">
                <a16:creationId xmlns:a16="http://schemas.microsoft.com/office/drawing/2014/main" id="{826B8603-058D-69CF-D9ED-1F730D632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DA524665-B1E1-0FDD-344F-77BBD8F611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84F6A6B-76B9-46DE-B064-EFB9F014CAB8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25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849C59-8CD2-3E78-64C8-630B5B98C982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42DDE34-F327-4EAC-B847-934822D5673D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25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4" name="Rectangle 2">
            <a:extLst>
              <a:ext uri="{FF2B5EF4-FFF2-40B4-BE49-F238E27FC236}">
                <a16:creationId xmlns:a16="http://schemas.microsoft.com/office/drawing/2014/main" id="{40C98B0E-E08F-8E65-96F4-E5485C02C0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Depth-first search</a:t>
            </a:r>
          </a:p>
        </p:txBody>
      </p:sp>
      <p:sp>
        <p:nvSpPr>
          <p:cNvPr id="17415" name="Rectangle 3">
            <a:extLst>
              <a:ext uri="{FF2B5EF4-FFF2-40B4-BE49-F238E27FC236}">
                <a16:creationId xmlns:a16="http://schemas.microsoft.com/office/drawing/2014/main" id="{43A49FE0-53DA-FEB5-8F90-5335E95A6B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sz="2000" dirty="0"/>
              <a:t>Expand deepest unexpanded node
</a:t>
            </a:r>
            <a:r>
              <a:rPr lang="en-US" altLang="en-PK" sz="2000" dirty="0">
                <a:solidFill>
                  <a:schemeClr val="accent2"/>
                </a:solidFill>
              </a:rPr>
              <a:t>Implementation</a:t>
            </a:r>
            <a:r>
              <a:rPr lang="en-US" altLang="en-PK" sz="2000" dirty="0"/>
              <a:t>:</a:t>
            </a:r>
          </a:p>
          <a:p>
            <a:pPr marL="742950" lvl="1" indent="-285750" eaLnBrk="1" hangingPunct="1"/>
            <a:r>
              <a:rPr lang="en-US" altLang="en-PK" sz="1800" i="1" dirty="0"/>
              <a:t>fringe </a:t>
            </a:r>
            <a:r>
              <a:rPr lang="en-US" altLang="en-PK" sz="1800" dirty="0"/>
              <a:t>= LIFO queue, i.e., put successors at front</a:t>
            </a:r>
          </a:p>
        </p:txBody>
      </p:sp>
      <p:pic>
        <p:nvPicPr>
          <p:cNvPr id="17416" name="Picture 4" descr="dfs-progress01c">
            <a:extLst>
              <a:ext uri="{FF2B5EF4-FFF2-40B4-BE49-F238E27FC236}">
                <a16:creationId xmlns:a16="http://schemas.microsoft.com/office/drawing/2014/main" id="{7CBD8AA3-939E-ECB2-148A-546F40735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24200"/>
            <a:ext cx="441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7" name="Picture 5" descr="dfs-progress10c">
            <a:extLst>
              <a:ext uri="{FF2B5EF4-FFF2-40B4-BE49-F238E27FC236}">
                <a16:creationId xmlns:a16="http://schemas.microsoft.com/office/drawing/2014/main" id="{43F8742B-8998-6172-9C64-7F39A56C4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DB32EB04-4123-B10C-C9E1-D5F1BF70F8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A49DD18-D492-4AD8-A345-EDDB5892C50C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26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539D50E-5840-06F2-1D34-166D57384948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38E256D-3D8F-4A43-8C0B-627F9ADB0433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26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9C832D85-8D49-55A8-9C8F-A985020349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Depth-first search</a:t>
            </a:r>
          </a:p>
        </p:txBody>
      </p:sp>
      <p:sp>
        <p:nvSpPr>
          <p:cNvPr id="18439" name="Rectangle 3">
            <a:extLst>
              <a:ext uri="{FF2B5EF4-FFF2-40B4-BE49-F238E27FC236}">
                <a16:creationId xmlns:a16="http://schemas.microsoft.com/office/drawing/2014/main" id="{0BD60C9E-9765-B389-B31B-C0164ED9AFD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sz="2400"/>
              <a:t>Expand deepest unexpanded node</a:t>
            </a:r>
            <a:endParaRPr lang="en-US" altLang="en-PK" sz="2000"/>
          </a:p>
        </p:txBody>
      </p:sp>
      <p:pic>
        <p:nvPicPr>
          <p:cNvPr id="18440" name="Picture 4" descr="dfs-progress01c">
            <a:extLst>
              <a:ext uri="{FF2B5EF4-FFF2-40B4-BE49-F238E27FC236}">
                <a16:creationId xmlns:a16="http://schemas.microsoft.com/office/drawing/2014/main" id="{CD08827A-D4BD-02CC-976F-CAA1513A9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24200"/>
            <a:ext cx="441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Picture 5" descr="dfs-progress11c">
            <a:extLst>
              <a:ext uri="{FF2B5EF4-FFF2-40B4-BE49-F238E27FC236}">
                <a16:creationId xmlns:a16="http://schemas.microsoft.com/office/drawing/2014/main" id="{F78DEFC1-7169-7367-E25E-CEE97C399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53119540-307D-99B7-9F75-77F85C87766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22A6F2B-A722-4485-933D-9DE2E4F49E45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27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E548B68-3A2F-A7D1-0B00-9E9B82F4503F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D8DC428-9A97-4227-BDD3-066FAF442DF1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27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AAC10214-EFB1-CA8C-2241-B94E378FB15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Depth-first search</a:t>
            </a:r>
          </a:p>
        </p:txBody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7C7607F0-9C74-3F05-8116-2B79C2D5AC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sz="2400"/>
              <a:t>Expand deepest unexpanded node</a:t>
            </a:r>
            <a:endParaRPr lang="en-US" altLang="en-PK" sz="2000"/>
          </a:p>
        </p:txBody>
      </p:sp>
      <p:pic>
        <p:nvPicPr>
          <p:cNvPr id="19464" name="Picture 4" descr="dfs-progress01c">
            <a:extLst>
              <a:ext uri="{FF2B5EF4-FFF2-40B4-BE49-F238E27FC236}">
                <a16:creationId xmlns:a16="http://schemas.microsoft.com/office/drawing/2014/main" id="{52A5B426-11EF-FCFF-E88D-05192FE94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24200"/>
            <a:ext cx="441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Picture 5" descr="dfs-progress12c">
            <a:extLst>
              <a:ext uri="{FF2B5EF4-FFF2-40B4-BE49-F238E27FC236}">
                <a16:creationId xmlns:a16="http://schemas.microsoft.com/office/drawing/2014/main" id="{5BF3B269-BB47-0E4C-FF41-249F4C982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A658BDF-5BAB-C1F5-5364-D26338F1E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Depth First Search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38D6B13-2400-3C54-83E8-A98ED2BAC10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3929062" cy="4648200"/>
          </a:xfrm>
          <a:noFill/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b="1" dirty="0"/>
              <a:t>DFS(G)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b="1" i="1" dirty="0"/>
              <a:t>for each </a:t>
            </a:r>
            <a:r>
              <a:rPr lang="en-US" altLang="en-US" sz="1400" i="1" dirty="0"/>
              <a:t>vertex u      V[G]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       do color[u] ← white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	  </a:t>
            </a:r>
            <a:r>
              <a:rPr lang="el-GR" altLang="en-US" sz="1400" i="1" dirty="0"/>
              <a:t>π</a:t>
            </a:r>
            <a:r>
              <a:rPr lang="en-US" altLang="en-US" sz="1400" i="1" dirty="0"/>
              <a:t>[u] ← NIL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Time ←  0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endParaRPr lang="en-US" altLang="en-US" sz="800" i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b="1" i="1" dirty="0"/>
              <a:t>for each </a:t>
            </a:r>
            <a:r>
              <a:rPr lang="en-US" altLang="en-US" sz="1400" i="1" dirty="0"/>
              <a:t>vertex u      V[G]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      do if color[u] = white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           then DFS-VISIT(u)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800" i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 i="1" dirty="0"/>
              <a:t>DFS-VISIT(u)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color[u] ← GRAY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time ← time + 1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D[u] ← time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for each v       Adj[u]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     do if color[v] = white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          then </a:t>
            </a:r>
            <a:r>
              <a:rPr lang="el-GR" altLang="en-US" sz="1400" i="1" dirty="0"/>
              <a:t>π</a:t>
            </a:r>
            <a:r>
              <a:rPr lang="en-US" altLang="en-US" sz="1400" i="1" dirty="0"/>
              <a:t>[v] ← u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                  DFS-VISIT(v)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i="1" dirty="0"/>
              <a:t>color[u] ← BLACK</a:t>
            </a:r>
            <a:r>
              <a:rPr lang="en-US" altLang="en-US" sz="1400" dirty="0"/>
              <a:t>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1400" dirty="0"/>
              <a:t>F[u] </a:t>
            </a:r>
            <a:r>
              <a:rPr lang="en-US" altLang="en-US" sz="1400" i="1" dirty="0"/>
              <a:t>←</a:t>
            </a:r>
            <a:r>
              <a:rPr lang="en-US" altLang="en-US" sz="1400" dirty="0"/>
              <a:t>  </a:t>
            </a:r>
            <a:r>
              <a:rPr lang="en-US" altLang="en-US" sz="1400" i="1" dirty="0"/>
              <a:t>time ← time + 1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endParaRPr lang="el-GR" altLang="en-US" sz="1400" dirty="0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1B56DC97-ABC6-F52C-4E01-C2A04CE74A18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4581" y="2048266"/>
            <a:ext cx="147638" cy="180975"/>
          </a:xfrm>
          <a:noFill/>
        </p:spPr>
      </p:pic>
      <p:pic>
        <p:nvPicPr>
          <p:cNvPr id="15365" name="Picture 5">
            <a:extLst>
              <a:ext uri="{FF2B5EF4-FFF2-40B4-BE49-F238E27FC236}">
                <a16:creationId xmlns:a16="http://schemas.microsoft.com/office/drawing/2014/main" id="{D563A41C-CD5A-F29D-81E8-DFC10E35A208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4796853"/>
            <a:ext cx="147638" cy="180975"/>
          </a:xfrm>
          <a:noFill/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0626FED1-C53D-2A11-F2F4-8AB622DC8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644" y="3106710"/>
            <a:ext cx="147638" cy="18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AB777C2-6669-EFE5-6462-970A1178F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Depth First Search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5CF8FA2-E861-8981-269D-5E4A86D12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7967662" cy="4419600"/>
          </a:xfrm>
        </p:spPr>
        <p:txBody>
          <a:bodyPr/>
          <a:lstStyle/>
          <a:p>
            <a:r>
              <a:rPr lang="en-US" altLang="en-US" sz="1800"/>
              <a:t>The results of DFS may depend on order in which vertices are examined, and upon order in which the neighbours of a given vertex are visited</a:t>
            </a:r>
          </a:p>
          <a:p>
            <a:endParaRPr lang="en-US" altLang="en-US" sz="1800"/>
          </a:p>
          <a:p>
            <a:r>
              <a:rPr lang="en-US" altLang="en-US" sz="1800"/>
              <a:t>The Graph </a:t>
            </a:r>
            <a:r>
              <a:rPr lang="en-US" altLang="en-US" sz="1800" i="1"/>
              <a:t>G(V,E) </a:t>
            </a:r>
            <a:r>
              <a:rPr lang="en-US" altLang="en-US" sz="1800"/>
              <a:t>has |V| vertices and </a:t>
            </a:r>
            <a:r>
              <a:rPr lang="en-US" altLang="en-US" sz="1800" i="1"/>
              <a:t>|E| </a:t>
            </a:r>
            <a:r>
              <a:rPr lang="en-US" altLang="en-US" sz="1800"/>
              <a:t>edges. Each vertex is initialized once. Therefore</a:t>
            </a:r>
            <a:r>
              <a:rPr lang="en-US" altLang="en-US" sz="1800" i="1"/>
              <a:t>, Ti =|V|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/>
          </a:p>
          <a:p>
            <a:r>
              <a:rPr lang="en-US" altLang="en-US" sz="1800"/>
              <a:t>There is one call to DFS-VISIT for each vertex v, and loop in DFS Visit is executed |Adj[v]| times</a:t>
            </a:r>
            <a:endParaRPr lang="en-US" altLang="en-US" sz="1800" i="1"/>
          </a:p>
          <a:p>
            <a:pPr>
              <a:buFont typeface="Wingdings" panose="05000000000000000000" pitchFamily="2" charset="2"/>
              <a:buNone/>
            </a:pPr>
            <a:endParaRPr lang="en-US" altLang="en-US" sz="1800"/>
          </a:p>
          <a:p>
            <a:r>
              <a:rPr lang="en-US" altLang="en-US" sz="1800"/>
              <a:t>The scanning of Adjacency list takes place for each vertex. The total time is proportional to the number of edges scanned. Since </a:t>
            </a:r>
            <a:r>
              <a:rPr lang="en-US" altLang="en-US" sz="1800" i="1"/>
              <a:t>|E| </a:t>
            </a:r>
            <a:r>
              <a:rPr lang="en-US" altLang="en-US" sz="1800"/>
              <a:t>is the number of edges in </a:t>
            </a:r>
            <a:r>
              <a:rPr lang="en-US" altLang="en-US" sz="1800" i="1"/>
              <a:t>G, Ts = |E| </a:t>
            </a:r>
            <a:r>
              <a:rPr lang="en-US" altLang="en-US" sz="1800"/>
              <a:t>because</a:t>
            </a:r>
            <a:r>
              <a:rPr lang="en-US" altLang="en-US" sz="1800" i="1"/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/>
          </a:p>
          <a:p>
            <a:r>
              <a:rPr lang="en-US" altLang="en-US" sz="1800"/>
              <a:t>Thus total running time is given by time </a:t>
            </a:r>
            <a:r>
              <a:rPr lang="en-US" altLang="en-US" sz="1800" b="1" i="1"/>
              <a:t>O(|V|+|E|)</a:t>
            </a:r>
            <a:endParaRPr lang="en-US" altLang="en-US" sz="1800"/>
          </a:p>
          <a:p>
            <a:endParaRPr lang="en-US" altLang="en-US" sz="1800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7C2B2B61-4F2F-B8D0-4FBB-0D13E53CA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C469C911-FA35-7475-B1CA-45712205D0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5105400"/>
          <a:ext cx="15240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588" imgH="342751" progId="Equation.3">
                  <p:embed/>
                </p:oleObj>
              </mc:Choice>
              <mc:Fallback>
                <p:oleObj name="Equation" r:id="rId2" imgW="1180588" imgH="342751" progId="Equation.3">
                  <p:embed/>
                  <p:pic>
                    <p:nvPicPr>
                      <p:cNvPr id="16389" name="Object 5">
                        <a:extLst>
                          <a:ext uri="{FF2B5EF4-FFF2-40B4-BE49-F238E27FC236}">
                            <a16:creationId xmlns:a16="http://schemas.microsoft.com/office/drawing/2014/main" id="{C469C911-FA35-7475-B1CA-45712205D0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105400"/>
                        <a:ext cx="15240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FD0B8462-59F6-F3E8-FF96-D3FD21C8667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4FB180F-B21C-4856-9C64-A17BC3BAEB3D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30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4BFA2-861F-1E6A-11FA-984554052DDE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0170FE-209C-449C-A646-EE0C84EC1325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30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752025E1-5EAD-268B-714E-0B531585AC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 sz="3200"/>
              <a:t>Properties of depth-first search</a:t>
            </a: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EC642DCD-E793-1DC6-7F02-D2829BA23A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>
              <a:lnSpc>
                <a:spcPct val="90000"/>
              </a:lnSpc>
              <a:defRPr/>
            </a:pPr>
            <a:r>
              <a:rPr lang="en-US" sz="2400" u="sng" dirty="0">
                <a:solidFill>
                  <a:srgbClr val="CC0099"/>
                </a:solidFill>
              </a:rPr>
              <a:t>Complete?</a:t>
            </a:r>
            <a:r>
              <a:rPr lang="en-US" sz="2400" dirty="0"/>
              <a:t> </a:t>
            </a:r>
          </a:p>
          <a:p>
            <a:pPr marL="742950" lvl="1" indent="-285750" eaLnBrk="1" hangingPunct="1">
              <a:lnSpc>
                <a:spcPct val="90000"/>
              </a:lnSpc>
              <a:defRPr/>
            </a:pPr>
            <a:r>
              <a:rPr lang="en-US" dirty="0"/>
              <a:t>Yes, in finite spaces </a:t>
            </a:r>
          </a:p>
          <a:p>
            <a:pPr marL="342900" indent="-342900" eaLnBrk="1" hangingPunct="1">
              <a:lnSpc>
                <a:spcPct val="90000"/>
              </a:lnSpc>
              <a:defRPr/>
            </a:pPr>
            <a:r>
              <a:rPr lang="en-US" sz="2400" u="sng" dirty="0">
                <a:solidFill>
                  <a:srgbClr val="CC0099"/>
                </a:solidFill>
              </a:rPr>
              <a:t>Time?</a:t>
            </a:r>
            <a:r>
              <a:rPr lang="en-US" sz="2400" dirty="0"/>
              <a:t> </a:t>
            </a:r>
          </a:p>
          <a:p>
            <a:pPr marL="742950" lvl="1" indent="-285750" eaLnBrk="1" hangingPunct="1">
              <a:lnSpc>
                <a:spcPct val="90000"/>
              </a:lnSpc>
              <a:defRPr/>
            </a:pPr>
            <a:r>
              <a:rPr lang="en-US" i="1" dirty="0"/>
              <a:t>O(</a:t>
            </a:r>
            <a:r>
              <a:rPr lang="en-US" i="1" dirty="0" err="1"/>
              <a:t>b</a:t>
            </a:r>
            <a:r>
              <a:rPr lang="en-US" i="1" baseline="30000" dirty="0" err="1"/>
              <a:t>m</a:t>
            </a:r>
            <a:r>
              <a:rPr lang="en-US" i="1" dirty="0"/>
              <a:t>)</a:t>
            </a:r>
            <a:r>
              <a:rPr lang="en-US" dirty="0"/>
              <a:t>: terrible if </a:t>
            </a:r>
            <a:r>
              <a:rPr lang="en-US" i="1" dirty="0"/>
              <a:t>m </a:t>
            </a:r>
            <a:r>
              <a:rPr lang="en-US" dirty="0"/>
              <a:t>(max depth) is much larger than </a:t>
            </a:r>
            <a:r>
              <a:rPr lang="en-US" i="1" dirty="0"/>
              <a:t>d</a:t>
            </a:r>
          </a:p>
          <a:p>
            <a:pPr marL="342900" indent="-342900" eaLnBrk="1" hangingPunct="1">
              <a:lnSpc>
                <a:spcPct val="90000"/>
              </a:lnSpc>
              <a:defRPr/>
            </a:pPr>
            <a:r>
              <a:rPr lang="en-US" sz="2400" u="sng" dirty="0">
                <a:solidFill>
                  <a:srgbClr val="CC0099"/>
                </a:solidFill>
              </a:rPr>
              <a:t>Space?</a:t>
            </a:r>
            <a:r>
              <a:rPr lang="en-US" sz="2400" dirty="0"/>
              <a:t> </a:t>
            </a:r>
          </a:p>
          <a:p>
            <a:pPr marL="742950" lvl="1" indent="-285750" eaLnBrk="1" hangingPunct="1">
              <a:lnSpc>
                <a:spcPct val="90000"/>
              </a:lnSpc>
              <a:defRPr/>
            </a:pPr>
            <a:r>
              <a:rPr lang="en-US" i="1" dirty="0"/>
              <a:t>O(</a:t>
            </a:r>
            <a:r>
              <a:rPr lang="en-US" i="1" dirty="0" err="1"/>
              <a:t>bm</a:t>
            </a:r>
            <a:r>
              <a:rPr lang="en-US" i="1" dirty="0"/>
              <a:t>), </a:t>
            </a:r>
            <a:r>
              <a:rPr lang="en-US" dirty="0"/>
              <a:t>i.e., linear space!</a:t>
            </a:r>
          </a:p>
          <a:p>
            <a:pPr marL="342900" indent="-342900" eaLnBrk="1" hangingPunct="1">
              <a:lnSpc>
                <a:spcPct val="90000"/>
              </a:lnSpc>
              <a:defRPr/>
            </a:pPr>
            <a:r>
              <a:rPr lang="en-US" sz="2400" u="sng" dirty="0">
                <a:solidFill>
                  <a:srgbClr val="CC0099"/>
                </a:solidFill>
              </a:rPr>
              <a:t>Optimal?</a:t>
            </a:r>
            <a:r>
              <a:rPr lang="en-US" sz="2400" dirty="0"/>
              <a:t> </a:t>
            </a:r>
          </a:p>
          <a:p>
            <a:pPr marL="742950" lvl="1" indent="-285750" eaLnBrk="1" hangingPunct="1">
              <a:lnSpc>
                <a:spcPct val="90000"/>
              </a:lnSpc>
              <a:defRPr/>
            </a:pPr>
            <a:r>
              <a:rPr lang="en-US" dirty="0"/>
              <a:t>No – returns the first tree it finds even if not optimal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0564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3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3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2B9B41A3-5C25-152C-42A0-BB4E2CEACD1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9060C33-51EF-4E0C-96D4-71CB26A8A544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31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EF40C4E-B7D0-4820-6FE3-88FD00ECB881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4C442E1-8D7E-4397-8D60-69F7B8D0888A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31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AB5B3402-FF86-08B2-5161-32AFEDFF3D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Depth-limited search</a:t>
            </a:r>
          </a:p>
        </p:txBody>
      </p:sp>
      <p:sp>
        <p:nvSpPr>
          <p:cNvPr id="22535" name="Rectangle 3">
            <a:extLst>
              <a:ext uri="{FF2B5EF4-FFF2-40B4-BE49-F238E27FC236}">
                <a16:creationId xmlns:a16="http://schemas.microsoft.com/office/drawing/2014/main" id="{C326DFB8-2686-AF4F-B0ED-76375B05E7E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>
              <a:buFont typeface="Wingdings" panose="05000000000000000000" pitchFamily="2" charset="2"/>
              <a:buNone/>
            </a:pPr>
            <a:r>
              <a:rPr lang="en-US" altLang="en-PK" sz="2400"/>
              <a:t>= depth-first search with depth limit </a:t>
            </a:r>
            <a:r>
              <a:rPr lang="en-US" altLang="en-PK" sz="2400" i="1"/>
              <a:t>l</a:t>
            </a:r>
            <a:endParaRPr lang="en-US" altLang="en-PK" sz="2400"/>
          </a:p>
          <a:p>
            <a:pPr marL="342900" indent="-342900" eaLnBrk="1" hangingPunct="1">
              <a:buFont typeface="Wingdings" panose="05000000000000000000" pitchFamily="2" charset="2"/>
              <a:buNone/>
            </a:pPr>
            <a:r>
              <a:rPr lang="en-US" altLang="en-PK" sz="2400"/>
              <a:t>i.e., nodes at depth </a:t>
            </a:r>
            <a:r>
              <a:rPr lang="en-US" altLang="en-PK" sz="2400" i="1"/>
              <a:t>l</a:t>
            </a:r>
            <a:r>
              <a:rPr lang="en-US" altLang="en-PK" sz="2400"/>
              <a:t> are treated like they have no successors</a:t>
            </a:r>
          </a:p>
          <a:p>
            <a:pPr marL="2057400" lvl="4" indent="-228600" eaLnBrk="1" hangingPunct="1"/>
            <a:endParaRPr lang="en-US" altLang="en-PK">
              <a:solidFill>
                <a:schemeClr val="accent2"/>
              </a:solidFill>
            </a:endParaRPr>
          </a:p>
          <a:p>
            <a:pPr marL="342900" indent="-342900" eaLnBrk="1" hangingPunct="1">
              <a:buFont typeface="Wingdings" panose="05000000000000000000" pitchFamily="2" charset="2"/>
              <a:buNone/>
            </a:pPr>
            <a:endParaRPr lang="en-US" altLang="en-PK"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7E68021D-463A-A23E-8EC7-46E9250517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63D317-0FD6-42DC-B3CF-1A53888513BC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32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C04C0-30A4-0773-47B7-1C871C3BFAAE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BE86247-3D77-4EE7-81A3-C34EDA4C887B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32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60275DE2-92ED-C092-33E2-8152E465039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Properties of depth-limited search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9E7220F8-1187-87CC-6014-7041888568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PK" sz="2400" dirty="0"/>
              <a:t>Solves the infinite path problem</a:t>
            </a:r>
          </a:p>
          <a:p>
            <a:pPr eaLnBrk="1" hangingPunct="1">
              <a:lnSpc>
                <a:spcPct val="90000"/>
              </a:lnSpc>
            </a:pPr>
            <a:endParaRPr lang="en-US" altLang="en-PK" sz="900" dirty="0"/>
          </a:p>
          <a:p>
            <a:pPr eaLnBrk="1" hangingPunct="1">
              <a:lnSpc>
                <a:spcPct val="90000"/>
              </a:lnSpc>
            </a:pPr>
            <a:r>
              <a:rPr lang="en-US" altLang="en-PK" sz="2400" u="sng" dirty="0">
                <a:solidFill>
                  <a:srgbClr val="CC0099"/>
                </a:solidFill>
              </a:rPr>
              <a:t>Complete?</a:t>
            </a:r>
            <a:r>
              <a:rPr lang="en-US" altLang="en-PK" sz="24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K" dirty="0"/>
              <a:t>What if we choose l</a:t>
            </a:r>
            <a:r>
              <a:rPr lang="en-US" altLang="en-PK" b="1" dirty="0"/>
              <a:t> </a:t>
            </a:r>
            <a:r>
              <a:rPr lang="en-US" altLang="en-PK" dirty="0"/>
              <a:t>&lt; d</a:t>
            </a:r>
            <a:r>
              <a:rPr lang="en-US" altLang="en-PK" sz="2400" dirty="0"/>
              <a:t> </a:t>
            </a:r>
            <a:endParaRPr lang="en-US" altLang="en-PK" dirty="0"/>
          </a:p>
          <a:p>
            <a:pPr eaLnBrk="1" hangingPunct="1">
              <a:lnSpc>
                <a:spcPct val="90000"/>
              </a:lnSpc>
            </a:pPr>
            <a:r>
              <a:rPr lang="en-US" altLang="en-PK" sz="2400" u="sng" dirty="0">
                <a:solidFill>
                  <a:srgbClr val="CC0099"/>
                </a:solidFill>
              </a:rPr>
              <a:t>Time?</a:t>
            </a:r>
            <a:r>
              <a:rPr lang="en-US" altLang="en-PK" sz="24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K" sz="2400" i="1" dirty="0"/>
              <a:t>O(b</a:t>
            </a:r>
            <a:r>
              <a:rPr lang="en-US" altLang="en-PK" sz="2400" i="1" baseline="30000" dirty="0"/>
              <a:t>l</a:t>
            </a:r>
            <a:r>
              <a:rPr lang="en-US" altLang="en-PK" sz="2400" i="1" dirty="0"/>
              <a:t>)</a:t>
            </a:r>
            <a:r>
              <a:rPr lang="en-US" altLang="en-PK" sz="2400" dirty="0"/>
              <a:t> </a:t>
            </a:r>
            <a:endParaRPr lang="en-US" altLang="en-PK" dirty="0"/>
          </a:p>
          <a:p>
            <a:pPr eaLnBrk="1" hangingPunct="1">
              <a:lnSpc>
                <a:spcPct val="90000"/>
              </a:lnSpc>
            </a:pPr>
            <a:r>
              <a:rPr lang="en-US" altLang="en-PK" sz="2400" u="sng" dirty="0">
                <a:solidFill>
                  <a:srgbClr val="CC0099"/>
                </a:solidFill>
              </a:rPr>
              <a:t>Space?</a:t>
            </a:r>
            <a:r>
              <a:rPr lang="en-US" altLang="en-PK" sz="24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K" sz="2400" i="1" dirty="0"/>
              <a:t>O(bl)</a:t>
            </a:r>
            <a:endParaRPr lang="en-US" altLang="en-PK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PK" sz="2400" u="sng" dirty="0">
                <a:solidFill>
                  <a:srgbClr val="CC0099"/>
                </a:solidFill>
              </a:rPr>
              <a:t>Optimal?</a:t>
            </a:r>
            <a:r>
              <a:rPr lang="en-US" altLang="en-PK" sz="24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K" sz="2400" dirty="0"/>
              <a:t>No – What if l &gt; d</a:t>
            </a:r>
          </a:p>
          <a:p>
            <a:pPr eaLnBrk="1" hangingPunct="1">
              <a:lnSpc>
                <a:spcPct val="90000"/>
              </a:lnSpc>
            </a:pPr>
            <a:endParaRPr lang="en-US" altLang="en-PK" sz="1000" dirty="0"/>
          </a:p>
          <a:p>
            <a:pPr eaLnBrk="1" hangingPunct="1">
              <a:lnSpc>
                <a:spcPct val="90000"/>
              </a:lnSpc>
            </a:pPr>
            <a:r>
              <a:rPr lang="en-US" altLang="en-PK" dirty="0"/>
              <a:t>Depth limits can be based on knowledge of the problem</a:t>
            </a:r>
          </a:p>
          <a:p>
            <a:pPr eaLnBrk="1" hangingPunct="1">
              <a:lnSpc>
                <a:spcPct val="90000"/>
              </a:lnSpc>
            </a:pPr>
            <a:endParaRPr lang="en-US" altLang="en-PK" sz="2000" dirty="0"/>
          </a:p>
          <a:p>
            <a:pPr eaLnBrk="1" hangingPunct="1">
              <a:lnSpc>
                <a:spcPct val="90000"/>
              </a:lnSpc>
            </a:pPr>
            <a:endParaRPr lang="en-US" altLang="en-PK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94020290-FDDD-287E-71EF-2D94072BC3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6758D6-42FF-4754-A02E-A30B6F30FF61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33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8EC8A-64A3-C20D-0660-DE955F2B5242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79653F-2111-477A-B0A4-DCC346266479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33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2C89459A-9697-4498-D091-FFF6252F43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9823" y="304800"/>
            <a:ext cx="8305852" cy="1216025"/>
          </a:xfrm>
        </p:spPr>
        <p:txBody>
          <a:bodyPr/>
          <a:lstStyle/>
          <a:p>
            <a:pPr eaLnBrk="1" hangingPunct="1"/>
            <a:r>
              <a:rPr lang="en-US" altLang="en-PK" dirty="0"/>
              <a:t>Uniform-cost search (</a:t>
            </a:r>
            <a:r>
              <a:rPr lang="en-US" altLang="en-PK" dirty="0" err="1"/>
              <a:t>Djikstra’s</a:t>
            </a:r>
            <a:r>
              <a:rPr lang="en-US" altLang="en-PK" dirty="0"/>
              <a:t> Algorithm)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28A9DA70-BAA1-C34B-4DF4-F82288BFBB9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>
              <a:lnSpc>
                <a:spcPct val="80000"/>
              </a:lnSpc>
            </a:pPr>
            <a:r>
              <a:rPr lang="en-US" altLang="en-PK" sz="2400"/>
              <a:t>Expands node </a:t>
            </a:r>
            <a:r>
              <a:rPr lang="en-US" altLang="en-PK" sz="2400" i="1"/>
              <a:t>n</a:t>
            </a:r>
            <a:r>
              <a:rPr lang="en-US" altLang="en-PK" sz="2400"/>
              <a:t> with lowest path cost</a:t>
            </a:r>
          </a:p>
          <a:p>
            <a:pPr marL="342900" indent="-342900" eaLnBrk="1" hangingPunct="1">
              <a:lnSpc>
                <a:spcPct val="80000"/>
              </a:lnSpc>
            </a:pPr>
            <a:endParaRPr lang="en-US" altLang="en-PK" sz="2400">
              <a:solidFill>
                <a:schemeClr val="accent2"/>
              </a:solidFill>
            </a:endParaRPr>
          </a:p>
          <a:p>
            <a:pPr marL="342900" indent="-342900" eaLnBrk="1" hangingPunct="1">
              <a:lnSpc>
                <a:spcPct val="80000"/>
              </a:lnSpc>
            </a:pPr>
            <a:r>
              <a:rPr lang="en-US" altLang="en-PK" sz="2400"/>
              <a:t>Equivalent to breadth-first if 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altLang="en-PK"/>
              <a:t>step costs all equal</a:t>
            </a:r>
          </a:p>
          <a:p>
            <a:pPr marL="342900" indent="-342900" eaLnBrk="1" hangingPunct="1">
              <a:lnSpc>
                <a:spcPct val="80000"/>
              </a:lnSpc>
            </a:pPr>
            <a:endParaRPr lang="en-US" altLang="en-PK" sz="700" u="sng">
              <a:solidFill>
                <a:srgbClr val="CC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CFA07F9-0145-5071-8247-B9BC10F36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Dijkstra’s Algorithm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B362461-CFF3-6A43-AA23-E4364D12CF5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7967662" cy="434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/>
              <a:t>DIJKSTRA(G, w, s)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INITIALIZE-SINGLE-SOURCE(G, s)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S ← Ø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Q ← V[G]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While Q ≠ Ø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            do u ← EXTRACT-MIN(Q)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                  S ← S U {u}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                  for each vertex v      Adj[u]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                        do RELAX(u, v, w)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60083896-2CFF-97F7-F00D-C895CAF4C8F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38600" y="4419600"/>
            <a:ext cx="209550" cy="257175"/>
          </a:xfr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DAE6044-ED15-304B-6EEB-B6B768159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Initialization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912F687-140F-807F-9163-7647186BE2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8196262" cy="3276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/>
              <a:t>INITIALIZE-SINGLE-SOURCE(G, s)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for each vertex v      V[G]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      do d[v] ← </a:t>
            </a:r>
            <a:r>
              <a:rPr lang="en-US" altLang="en-US" sz="1800" i="1"/>
              <a:t>∞ </a:t>
            </a:r>
            <a:endParaRPr lang="en-US" altLang="en-US" sz="2000" i="1"/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1800" i="1"/>
              <a:t>             π[v] ← NIL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sz="2000" i="1"/>
              <a:t>d[s] ← </a:t>
            </a:r>
            <a:r>
              <a:rPr lang="en-US" altLang="en-US" sz="1800" i="1"/>
              <a:t>0</a:t>
            </a:r>
            <a:endParaRPr lang="en-US" altLang="en-US" sz="2000" i="1"/>
          </a:p>
          <a:p>
            <a:pPr>
              <a:buFont typeface="Wingdings" panose="05000000000000000000" pitchFamily="2" charset="2"/>
              <a:buAutoNum type="arabicPeriod"/>
            </a:pPr>
            <a:endParaRPr lang="en-US" altLang="en-US" sz="2000" i="1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72AF0D07-5169-568C-EA09-B9B56729F4E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2209800"/>
            <a:ext cx="209550" cy="257175"/>
          </a:xfr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F6A5C11-9D28-6E8C-5100-1CE4AFB06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Relaxation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D247358-68B0-3861-F667-EAAFB7C4A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process of </a:t>
            </a:r>
            <a:r>
              <a:rPr lang="en-US" altLang="en-US" i="1" dirty="0"/>
              <a:t>relaxing an edge </a:t>
            </a:r>
            <a:r>
              <a:rPr lang="en-US" altLang="en-US" dirty="0"/>
              <a:t>(</a:t>
            </a:r>
            <a:r>
              <a:rPr lang="en-US" altLang="en-US" i="1" dirty="0" err="1"/>
              <a:t>u,v</a:t>
            </a:r>
            <a:r>
              <a:rPr lang="en-US" altLang="en-US" dirty="0"/>
              <a:t>) consists of testing whether it can improve the shortest path from </a:t>
            </a:r>
            <a:r>
              <a:rPr lang="en-US" altLang="en-US" i="1" dirty="0"/>
              <a:t>s </a:t>
            </a:r>
            <a:r>
              <a:rPr lang="en-US" altLang="en-US" dirty="0"/>
              <a:t>to </a:t>
            </a:r>
            <a:r>
              <a:rPr lang="en-US" altLang="en-US" i="1" dirty="0"/>
              <a:t>v </a:t>
            </a:r>
            <a:r>
              <a:rPr lang="en-US" altLang="en-US" dirty="0"/>
              <a:t>so far by going through </a:t>
            </a:r>
            <a:r>
              <a:rPr lang="en-US" altLang="en-US" i="1" dirty="0"/>
              <a:t>u</a:t>
            </a:r>
            <a:r>
              <a:rPr lang="en-US" altLang="en-US" dirty="0"/>
              <a:t>.</a:t>
            </a:r>
          </a:p>
          <a:p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Relax(</a:t>
            </a:r>
            <a:r>
              <a:rPr lang="en-US" altLang="en-US" dirty="0" err="1"/>
              <a:t>u,v,w</a:t>
            </a:r>
            <a:r>
              <a:rPr lang="en-US" altLang="en-US" dirty="0"/>
              <a:t>)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b="1" i="1" dirty="0"/>
              <a:t>if </a:t>
            </a:r>
            <a:r>
              <a:rPr lang="en-US" altLang="en-US" i="1" dirty="0"/>
              <a:t>d[v] &gt; d[u] + w(</a:t>
            </a:r>
            <a:r>
              <a:rPr lang="en-US" altLang="en-US" i="1" dirty="0" err="1"/>
              <a:t>u,v</a:t>
            </a:r>
            <a:r>
              <a:rPr lang="en-US" altLang="en-US" i="1" dirty="0"/>
              <a:t>)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b="1" i="1" dirty="0"/>
              <a:t>    then </a:t>
            </a:r>
            <a:r>
              <a:rPr lang="en-US" altLang="en-US" i="1" dirty="0"/>
              <a:t>d[v] ← d[u] + w(</a:t>
            </a:r>
            <a:r>
              <a:rPr lang="en-US" altLang="en-US" i="1" dirty="0" err="1"/>
              <a:t>u,v</a:t>
            </a:r>
            <a:r>
              <a:rPr lang="en-US" altLang="en-US" i="1" dirty="0"/>
              <a:t>)</a:t>
            </a:r>
          </a:p>
          <a:p>
            <a:pPr>
              <a:buFont typeface="Wingdings" panose="05000000000000000000" pitchFamily="2" charset="2"/>
              <a:buAutoNum type="arabicPeriod"/>
            </a:pPr>
            <a:r>
              <a:rPr lang="en-US" altLang="en-US" i="1" dirty="0"/>
              <a:t>             π[v] ← u</a:t>
            </a:r>
          </a:p>
          <a:p>
            <a:endParaRPr lang="en-US" altLang="en-US" i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42E520C-A26F-C750-7C14-D75E8CD35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Dijkstra’s Algorithm - Analysis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E75557F-159C-A5E5-6A36-BD8124CA44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Min-priority queue is maintained by calling 3 priority-queue operations:</a:t>
            </a:r>
          </a:p>
          <a:p>
            <a:pPr lvl="1"/>
            <a:r>
              <a:rPr lang="en-US" altLang="en-US"/>
              <a:t>Insert – line 3</a:t>
            </a:r>
          </a:p>
          <a:p>
            <a:pPr lvl="1"/>
            <a:r>
              <a:rPr lang="en-US" altLang="en-US"/>
              <a:t>Extract-min – line 5</a:t>
            </a:r>
          </a:p>
          <a:p>
            <a:pPr lvl="1"/>
            <a:r>
              <a:rPr lang="en-US" altLang="en-US"/>
              <a:t>Decrease-key (implicit in relax) – line 8</a:t>
            </a:r>
          </a:p>
          <a:p>
            <a:r>
              <a:rPr lang="en-US" altLang="en-US"/>
              <a:t>There are a total of |E| decrease-key operations</a:t>
            </a:r>
          </a:p>
          <a:p>
            <a:r>
              <a:rPr lang="en-US" altLang="en-US"/>
              <a:t>Running time depends on how the min-priority queue is implemented</a:t>
            </a:r>
          </a:p>
          <a:p>
            <a:r>
              <a:rPr lang="en-US" altLang="en-US"/>
              <a:t>If implemented as a binary heap, then O(ElgV)</a:t>
            </a:r>
          </a:p>
          <a:p>
            <a:endParaRPr lang="en-US" altLang="en-US"/>
          </a:p>
          <a:p>
            <a:r>
              <a:rPr lang="en-US" altLang="en-US"/>
              <a:t>If implemented as a Fibonacci heap, then O(VlgV + 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CD3CEC9D-6D7C-B9DA-3FEC-BBC3870B00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97C4562-2C92-414F-BA9A-420E2823428E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38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BEC03-E47E-FE00-DEFE-AC50380F155D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87EC763-3936-4DCF-8F50-84DFABF02012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38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6" name="Rectangle 2">
            <a:extLst>
              <a:ext uri="{FF2B5EF4-FFF2-40B4-BE49-F238E27FC236}">
                <a16:creationId xmlns:a16="http://schemas.microsoft.com/office/drawing/2014/main" id="{0CC7CAC4-A34F-8176-B86D-301B36AAA8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Uniform-cost search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CE510B73-B188-462D-E654-9E667DA86DB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>
              <a:lnSpc>
                <a:spcPct val="80000"/>
              </a:lnSpc>
            </a:pPr>
            <a:r>
              <a:rPr lang="en-US" altLang="en-PK" sz="2400" u="sng" dirty="0">
                <a:solidFill>
                  <a:srgbClr val="CC0099"/>
                </a:solidFill>
              </a:rPr>
              <a:t>Complete?</a:t>
            </a:r>
            <a:r>
              <a:rPr lang="en-US" altLang="en-PK" sz="2400" dirty="0"/>
              <a:t> 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altLang="en-PK" dirty="0"/>
              <a:t>Yes</a:t>
            </a:r>
          </a:p>
          <a:p>
            <a:pPr marL="342900" indent="-342900" eaLnBrk="1" hangingPunct="1">
              <a:lnSpc>
                <a:spcPct val="80000"/>
              </a:lnSpc>
            </a:pPr>
            <a:r>
              <a:rPr lang="en-US" altLang="en-PK" sz="2400" u="sng" dirty="0">
                <a:solidFill>
                  <a:srgbClr val="CC0099"/>
                </a:solidFill>
              </a:rPr>
              <a:t>Time?</a:t>
            </a:r>
            <a:r>
              <a:rPr lang="en-US" altLang="en-PK" sz="2400" dirty="0"/>
              <a:t> 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altLang="en-PK" i="1" dirty="0"/>
              <a:t>O(</a:t>
            </a:r>
            <a:r>
              <a:rPr lang="en-US" altLang="en-PK" i="1" dirty="0" err="1"/>
              <a:t>b</a:t>
            </a:r>
            <a:r>
              <a:rPr lang="en-US" altLang="en-PK" i="1" baseline="30000" dirty="0" err="1"/>
              <a:t>ceiling</a:t>
            </a:r>
            <a:r>
              <a:rPr lang="en-US" altLang="en-PK" i="1" baseline="30000" dirty="0"/>
              <a:t>(C*/ </a:t>
            </a:r>
            <a:r>
              <a:rPr lang="el-GR" altLang="en-PK" i="1" baseline="30000" dirty="0">
                <a:cs typeface="Arial" panose="020B0604020202020204" pitchFamily="34" charset="0"/>
              </a:rPr>
              <a:t>ε</a:t>
            </a:r>
            <a:r>
              <a:rPr lang="en-US" altLang="en-PK" i="1" baseline="30000" dirty="0">
                <a:cs typeface="Arial" panose="020B0604020202020204" pitchFamily="34" charset="0"/>
              </a:rPr>
              <a:t>)</a:t>
            </a:r>
            <a:r>
              <a:rPr lang="en-US" altLang="en-PK" i="1" dirty="0"/>
              <a:t>)</a:t>
            </a:r>
            <a:r>
              <a:rPr lang="en-US" altLang="en-PK" dirty="0"/>
              <a:t> where </a:t>
            </a:r>
            <a:r>
              <a:rPr lang="en-US" altLang="en-PK" i="1" dirty="0"/>
              <a:t>C</a:t>
            </a:r>
            <a:r>
              <a:rPr lang="en-US" altLang="en-PK" baseline="30000" dirty="0"/>
              <a:t>*</a:t>
            </a:r>
            <a:r>
              <a:rPr lang="en-US" altLang="en-PK" dirty="0"/>
              <a:t> is the cost of the optimal solution, </a:t>
            </a:r>
            <a:r>
              <a:rPr lang="el-GR" altLang="en-PK" i="1" baseline="30000" dirty="0">
                <a:cs typeface="Arial" panose="020B0604020202020204" pitchFamily="34" charset="0"/>
              </a:rPr>
              <a:t>ε</a:t>
            </a:r>
            <a:r>
              <a:rPr lang="en-US" altLang="en-PK" i="1" baseline="30000" dirty="0">
                <a:cs typeface="Arial" panose="020B0604020202020204" pitchFamily="34" charset="0"/>
              </a:rPr>
              <a:t> </a:t>
            </a:r>
            <a:r>
              <a:rPr lang="en-US" altLang="en-PK" dirty="0">
                <a:cs typeface="Arial" panose="020B0604020202020204" pitchFamily="34" charset="0"/>
              </a:rPr>
              <a:t>is least action cost</a:t>
            </a:r>
            <a:endParaRPr lang="en-US" altLang="en-PK" dirty="0"/>
          </a:p>
          <a:p>
            <a:pPr marL="342900" indent="-342900" eaLnBrk="1" hangingPunct="1">
              <a:lnSpc>
                <a:spcPct val="80000"/>
              </a:lnSpc>
            </a:pPr>
            <a:r>
              <a:rPr lang="en-US" altLang="en-PK" sz="2400" u="sng" dirty="0">
                <a:solidFill>
                  <a:srgbClr val="CC0099"/>
                </a:solidFill>
              </a:rPr>
              <a:t>Space?</a:t>
            </a:r>
            <a:r>
              <a:rPr lang="en-US" altLang="en-PK" sz="2400" dirty="0"/>
              <a:t> 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altLang="en-PK" i="1" dirty="0"/>
              <a:t>O(</a:t>
            </a:r>
            <a:r>
              <a:rPr lang="en-US" altLang="en-PK" i="1" dirty="0" err="1"/>
              <a:t>b</a:t>
            </a:r>
            <a:r>
              <a:rPr lang="en-US" altLang="en-PK" i="1" baseline="30000" dirty="0" err="1"/>
              <a:t>ceiling</a:t>
            </a:r>
            <a:r>
              <a:rPr lang="en-US" altLang="en-PK" i="1" baseline="30000" dirty="0"/>
              <a:t>(C*/ </a:t>
            </a:r>
            <a:r>
              <a:rPr lang="el-GR" altLang="en-PK" i="1" baseline="30000" dirty="0">
                <a:cs typeface="Arial" panose="020B0604020202020204" pitchFamily="34" charset="0"/>
              </a:rPr>
              <a:t>ε</a:t>
            </a:r>
            <a:r>
              <a:rPr lang="en-US" altLang="en-PK" i="1" baseline="30000" dirty="0">
                <a:cs typeface="Arial" panose="020B0604020202020204" pitchFamily="34" charset="0"/>
              </a:rPr>
              <a:t>)</a:t>
            </a:r>
            <a:r>
              <a:rPr lang="en-US" altLang="en-PK" i="1" dirty="0"/>
              <a:t>)</a:t>
            </a:r>
            <a:endParaRPr lang="en-US" altLang="en-PK" dirty="0"/>
          </a:p>
          <a:p>
            <a:pPr marL="342900" indent="-342900" eaLnBrk="1" hangingPunct="1">
              <a:lnSpc>
                <a:spcPct val="80000"/>
              </a:lnSpc>
            </a:pPr>
            <a:r>
              <a:rPr lang="en-US" altLang="en-PK" sz="2400" u="sng" dirty="0">
                <a:solidFill>
                  <a:srgbClr val="CC0099"/>
                </a:solidFill>
              </a:rPr>
              <a:t>Optimal?</a:t>
            </a:r>
            <a:r>
              <a:rPr lang="en-US" altLang="en-PK" sz="2400" dirty="0"/>
              <a:t> 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altLang="en-PK" dirty="0"/>
              <a:t>Yes – nodes expanded in increasing order of path 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0634FD82-909F-0598-7476-C4999588D1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80A8884-C779-426E-A6A4-FB91C1CDCDE0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39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B091F-0F76-AA9E-15DE-824DAE37FA56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2FB6190-5302-4F9C-AA82-B86B1ECC2619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39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60F89778-3A60-53F8-E3FF-47928F44D99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Iterative Deepening Depth-First Search</a:t>
            </a:r>
          </a:p>
        </p:txBody>
      </p:sp>
      <p:sp>
        <p:nvSpPr>
          <p:cNvPr id="26631" name="Rectangle 3">
            <a:extLst>
              <a:ext uri="{FF2B5EF4-FFF2-40B4-BE49-F238E27FC236}">
                <a16:creationId xmlns:a16="http://schemas.microsoft.com/office/drawing/2014/main" id="{62FDD925-0C34-AAAD-531F-D8E357C3AEB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PK"/>
              <a:t>A general strategy used in combination with depth-first search, that finds the best depth limit</a:t>
            </a:r>
          </a:p>
          <a:p>
            <a:pPr eaLnBrk="1" hangingPunct="1">
              <a:lnSpc>
                <a:spcPct val="90000"/>
              </a:lnSpc>
            </a:pPr>
            <a:endParaRPr lang="en-US" altLang="en-PK"/>
          </a:p>
          <a:p>
            <a:pPr eaLnBrk="1" hangingPunct="1">
              <a:lnSpc>
                <a:spcPct val="90000"/>
              </a:lnSpc>
            </a:pPr>
            <a:r>
              <a:rPr lang="en-US" altLang="en-PK"/>
              <a:t>Combines the benefits of BFS and DFS</a:t>
            </a:r>
          </a:p>
          <a:p>
            <a:pPr eaLnBrk="1" hangingPunct="1">
              <a:lnSpc>
                <a:spcPct val="90000"/>
              </a:lnSpc>
            </a:pPr>
            <a:endParaRPr lang="en-US" altLang="en-PK"/>
          </a:p>
          <a:p>
            <a:pPr eaLnBrk="1" hangingPunct="1">
              <a:lnSpc>
                <a:spcPct val="90000"/>
              </a:lnSpc>
            </a:pPr>
            <a:endParaRPr lang="en-US" altLang="en-PK"/>
          </a:p>
          <a:p>
            <a:pPr eaLnBrk="1" hangingPunct="1">
              <a:lnSpc>
                <a:spcPct val="90000"/>
              </a:lnSpc>
            </a:pPr>
            <a:endParaRPr lang="en-US" altLang="en-PK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0CE02A60-5737-CF8C-F95C-4C072CBCB3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7840FC0-155C-4FBA-8980-2C3228300978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40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AEF52-C21F-327E-A897-09CC69166F54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33FE365-AB46-4585-9D5A-BAC089B99911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40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37F81623-11C0-75DE-7384-3A5A668C11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 sz="3200"/>
              <a:t>Iterative deepening search </a:t>
            </a:r>
            <a:r>
              <a:rPr lang="en-US" altLang="en-PK" sz="3200" i="1"/>
              <a:t>l </a:t>
            </a:r>
            <a:r>
              <a:rPr lang="en-US" altLang="en-PK" sz="3200"/>
              <a:t>=0</a:t>
            </a:r>
          </a:p>
        </p:txBody>
      </p:sp>
      <p:pic>
        <p:nvPicPr>
          <p:cNvPr id="28679" name="Picture 3" descr="ids-progress1c">
            <a:extLst>
              <a:ext uri="{FF2B5EF4-FFF2-40B4-BE49-F238E27FC236}">
                <a16:creationId xmlns:a16="http://schemas.microsoft.com/office/drawing/2014/main" id="{E50E2B02-1DDB-F87B-71FF-A876AE8A1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5735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6AF3B13-AD2D-447B-C3D4-1F02E9B0AAF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8A603ED-7875-4561-B915-20312D223429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41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B7AD7-01BC-5256-CC4B-40464746F300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2A54B2A-01CD-4255-B90D-5F0F2EE4F1C9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41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5A3071C7-0D0F-9967-7AB8-A94ED9372F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 sz="3200"/>
              <a:t>Iterative deepening search </a:t>
            </a:r>
            <a:r>
              <a:rPr lang="en-US" altLang="en-PK" sz="3200" i="1"/>
              <a:t>l </a:t>
            </a:r>
            <a:r>
              <a:rPr lang="en-US" altLang="en-PK" sz="3200"/>
              <a:t>=1</a:t>
            </a:r>
          </a:p>
        </p:txBody>
      </p:sp>
      <p:pic>
        <p:nvPicPr>
          <p:cNvPr id="29703" name="Picture 3" descr="ids-progress2c">
            <a:extLst>
              <a:ext uri="{FF2B5EF4-FFF2-40B4-BE49-F238E27FC236}">
                <a16:creationId xmlns:a16="http://schemas.microsoft.com/office/drawing/2014/main" id="{7E45E9A2-2848-28BC-9919-66EDAC0C6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5735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468362DA-323C-7479-DDEE-018283907E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CB6F5F0-0C22-4F37-98CD-95F62D159D95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42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E58D-F89B-C1DD-DF6E-FF59B674DD61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046B290-1C60-4206-A669-AD475B4F2675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42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FB384C39-C0C6-AB3A-E286-E46FBB3B5A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 sz="3200"/>
              <a:t>Iterative deepening search </a:t>
            </a:r>
            <a:r>
              <a:rPr lang="en-US" altLang="en-PK" sz="3200" i="1"/>
              <a:t>l </a:t>
            </a:r>
            <a:r>
              <a:rPr lang="en-US" altLang="en-PK" sz="3200"/>
              <a:t>=2</a:t>
            </a:r>
          </a:p>
        </p:txBody>
      </p:sp>
      <p:pic>
        <p:nvPicPr>
          <p:cNvPr id="30727" name="Picture 3" descr="ids-progress3c">
            <a:extLst>
              <a:ext uri="{FF2B5EF4-FFF2-40B4-BE49-F238E27FC236}">
                <a16:creationId xmlns:a16="http://schemas.microsoft.com/office/drawing/2014/main" id="{B57F17E7-0D21-EF40-04FD-325687D90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52588"/>
            <a:ext cx="762000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477AE678-E076-9843-5BC5-633716C624E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C630D52-7882-4656-8291-17C6FECFCC5C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43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F6010-DF94-47C3-5E43-D953CF962784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50C8A9C-C075-4185-8EE0-E158E8452C13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43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FDF429DA-F63A-B637-A9CF-64A49429D7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 sz="3200"/>
              <a:t>Iterative deepening search </a:t>
            </a:r>
            <a:r>
              <a:rPr lang="en-US" altLang="en-PK" sz="3200" i="1"/>
              <a:t>l </a:t>
            </a:r>
            <a:r>
              <a:rPr lang="en-US" altLang="en-PK" sz="3200"/>
              <a:t>=3</a:t>
            </a:r>
          </a:p>
        </p:txBody>
      </p:sp>
      <p:pic>
        <p:nvPicPr>
          <p:cNvPr id="31751" name="Picture 3" descr="ids-progress4c">
            <a:extLst>
              <a:ext uri="{FF2B5EF4-FFF2-40B4-BE49-F238E27FC236}">
                <a16:creationId xmlns:a16="http://schemas.microsoft.com/office/drawing/2014/main" id="{B0AB8E4B-AE27-B20F-B275-52BF437C0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5735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E7AF8A68-09CF-4827-00E9-CC2BCE84DB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4F17C6-7014-41FD-B5AE-4BCFAD8B22D8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44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E1EA0-5841-39FB-BD1A-2A4D1A3FFAAB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AB3F9D-E188-4F51-9CBD-009AA23C6CC0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44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4" name="Rectangle 2">
            <a:extLst>
              <a:ext uri="{FF2B5EF4-FFF2-40B4-BE49-F238E27FC236}">
                <a16:creationId xmlns:a16="http://schemas.microsoft.com/office/drawing/2014/main" id="{54AEE8ED-3FD6-5D92-FF5A-5ED01CC2E3E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 sz="3200"/>
              <a:t>Properties of Iterative Deepening DFS</a:t>
            </a:r>
          </a:p>
        </p:txBody>
      </p:sp>
      <p:sp>
        <p:nvSpPr>
          <p:cNvPr id="32775" name="Rectangle 3">
            <a:extLst>
              <a:ext uri="{FF2B5EF4-FFF2-40B4-BE49-F238E27FC236}">
                <a16:creationId xmlns:a16="http://schemas.microsoft.com/office/drawing/2014/main" id="{188A49B4-AB98-77D0-AD18-ED0E33587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927100" indent="-469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Like DFS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Memory requirements are modest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400">
                <a:latin typeface="Times New Roman" panose="02020603050405020304" pitchFamily="18" charset="0"/>
                <a:cs typeface="Times New Roman" panose="02020603050405020304" pitchFamily="18" charset="0"/>
              </a:rPr>
              <a:t>O(bd)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endParaRPr lang="en-US" altLang="en-PK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Like BFS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Explores a layer completely before going to next layer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Complete when branching factor is finite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400">
                <a:latin typeface="Times New Roman" panose="02020603050405020304" pitchFamily="18" charset="0"/>
                <a:cs typeface="Times New Roman" panose="02020603050405020304" pitchFamily="18" charset="0"/>
              </a:rPr>
              <a:t>Optimal when step cost is uniform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endParaRPr lang="en-US" altLang="en-PK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endParaRPr lang="en-US" altLang="en-PK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endParaRPr lang="en-US" altLang="en-PK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0F5AA5D-9008-BC32-41B4-4CA80F051EB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187628E-DB18-4574-908F-A1A48C9D2840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45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A5ADD-E2A9-AD23-6A12-7F5D1121F087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37D6DEC-9151-449F-B7F6-024CCB8A5E87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45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6" name="Rectangle 2">
            <a:extLst>
              <a:ext uri="{FF2B5EF4-FFF2-40B4-BE49-F238E27FC236}">
                <a16:creationId xmlns:a16="http://schemas.microsoft.com/office/drawing/2014/main" id="{5916C6CF-EE98-9408-D3D2-CC70DCB0C6E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Properties of Iterative Deepening DFS</a:t>
            </a:r>
          </a:p>
        </p:txBody>
      </p:sp>
      <p:sp>
        <p:nvSpPr>
          <p:cNvPr id="256003" name="Rectangle 3">
            <a:extLst>
              <a:ext uri="{FF2B5EF4-FFF2-40B4-BE49-F238E27FC236}">
                <a16:creationId xmlns:a16="http://schemas.microsoft.com/office/drawing/2014/main" id="{66158EED-913F-DE32-9513-C0B7254B121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sz="2400" u="sng">
                <a:solidFill>
                  <a:srgbClr val="CC0099"/>
                </a:solidFill>
              </a:rPr>
              <a:t>Complete?</a:t>
            </a:r>
            <a:r>
              <a:rPr lang="en-US" altLang="en-PK" sz="2400"/>
              <a:t> </a:t>
            </a:r>
          </a:p>
          <a:p>
            <a:pPr marL="742950" lvl="1" indent="-285750" eaLnBrk="1" hangingPunct="1"/>
            <a:r>
              <a:rPr lang="en-US" altLang="en-PK" sz="2400"/>
              <a:t>Yes, if branching factor is finite</a:t>
            </a:r>
          </a:p>
          <a:p>
            <a:pPr marL="342900" indent="-342900" eaLnBrk="1" hangingPunct="1"/>
            <a:r>
              <a:rPr lang="en-US" altLang="en-PK" sz="2400" u="sng">
                <a:solidFill>
                  <a:srgbClr val="CC0099"/>
                </a:solidFill>
              </a:rPr>
              <a:t>Time?</a:t>
            </a:r>
            <a:r>
              <a:rPr lang="en-US" altLang="en-PK" sz="2400">
                <a:solidFill>
                  <a:srgbClr val="CC0099"/>
                </a:solidFill>
              </a:rPr>
              <a:t> </a:t>
            </a:r>
          </a:p>
          <a:p>
            <a:pPr marL="742950" lvl="1" indent="-285750" eaLnBrk="1" hangingPunct="1"/>
            <a:r>
              <a:rPr lang="en-US" altLang="en-PK" sz="2400" i="1"/>
              <a:t>d b</a:t>
            </a:r>
            <a:r>
              <a:rPr lang="en-US" altLang="en-PK" sz="2400" i="1" baseline="30000"/>
              <a:t>1</a:t>
            </a:r>
            <a:r>
              <a:rPr lang="en-US" altLang="en-PK" sz="2400" i="1"/>
              <a:t> + (d-1)b</a:t>
            </a:r>
            <a:r>
              <a:rPr lang="en-US" altLang="en-PK" sz="2400" i="1" baseline="30000"/>
              <a:t>2</a:t>
            </a:r>
            <a:r>
              <a:rPr lang="en-US" altLang="en-PK" sz="2400" i="1"/>
              <a:t> + … + b</a:t>
            </a:r>
            <a:r>
              <a:rPr lang="en-US" altLang="en-PK" sz="2400" i="1" baseline="30000"/>
              <a:t>d</a:t>
            </a:r>
            <a:r>
              <a:rPr lang="en-US" altLang="en-PK" sz="2400" i="1"/>
              <a:t> = O(b</a:t>
            </a:r>
            <a:r>
              <a:rPr lang="en-US" altLang="en-PK" sz="2400" i="1" baseline="30000"/>
              <a:t>d</a:t>
            </a:r>
            <a:r>
              <a:rPr lang="en-US" altLang="en-PK" sz="2400" i="1"/>
              <a:t>)</a:t>
            </a:r>
            <a:endParaRPr lang="en-US" altLang="en-PK" sz="2400"/>
          </a:p>
          <a:p>
            <a:pPr marL="342900" indent="-342900" eaLnBrk="1" hangingPunct="1"/>
            <a:r>
              <a:rPr lang="en-US" altLang="en-PK" sz="2400" u="sng">
                <a:solidFill>
                  <a:srgbClr val="CC0099"/>
                </a:solidFill>
              </a:rPr>
              <a:t>Space?</a:t>
            </a:r>
            <a:r>
              <a:rPr lang="en-US" altLang="en-PK" sz="2400"/>
              <a:t> </a:t>
            </a:r>
          </a:p>
          <a:p>
            <a:pPr marL="742950" lvl="1" indent="-285750" eaLnBrk="1" hangingPunct="1"/>
            <a:r>
              <a:rPr lang="en-US" altLang="en-PK" sz="2400" i="1"/>
              <a:t>O(bd)</a:t>
            </a:r>
            <a:endParaRPr lang="en-US" altLang="en-PK" sz="2400"/>
          </a:p>
          <a:p>
            <a:pPr marL="342900" indent="-342900" eaLnBrk="1" hangingPunct="1"/>
            <a:r>
              <a:rPr lang="en-US" altLang="en-PK" sz="2400" u="sng">
                <a:solidFill>
                  <a:srgbClr val="CC0099"/>
                </a:solidFill>
              </a:rPr>
              <a:t>Optimal?</a:t>
            </a:r>
            <a:r>
              <a:rPr lang="en-US" altLang="en-PK" sz="2400"/>
              <a:t> </a:t>
            </a:r>
          </a:p>
          <a:p>
            <a:pPr marL="742950" lvl="1" indent="-285750" eaLnBrk="1" hangingPunct="1"/>
            <a:r>
              <a:rPr lang="en-US" altLang="en-PK" sz="2400"/>
              <a:t>Yes, for uniform costs e.g. =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6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40734-2902-A33F-65CB-B676C944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34094-F3B2-0707-A514-DD0CE053C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723869"/>
            <a:ext cx="8001000" cy="4370882"/>
          </a:xfrm>
        </p:spPr>
        <p:txBody>
          <a:bodyPr/>
          <a:lstStyle/>
          <a:p>
            <a:r>
              <a:rPr lang="en-US" sz="2000" dirty="0"/>
              <a:t>Breadth-first search 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expands the shallowest nodes first; it is complete, optimal for unit action costs, but has exponential space complexity. 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Uniform-cost search 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expands the node with lowest path cost, g(n), and is optimal for general action costs. 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Depth-first search 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expands the deepest unexpanded node first. It is neither complete nor optimal, but has linear space complexity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Depth-limited search 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adds a depth bound. 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Iterative deepening search 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calls depth-first search with increasing depth limits until a goal is found. Complete when full cycle checking is done, optimal for unit action costs, time complexity comparable to </a:t>
            </a:r>
            <a:r>
              <a:rPr lang="en-US" sz="1800" dirty="0" err="1"/>
              <a:t>bfs</a:t>
            </a:r>
            <a:r>
              <a:rPr lang="en-US" sz="1800" dirty="0"/>
              <a:t>, linear space complexity</a:t>
            </a:r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332071599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644e923799dc1d003a52287e229954ae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b691a16675d0382ca78dca2ac2d18c61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9FD5C1-B209-4574-9D7A-6FAA421A5430}"/>
</file>

<file path=customXml/itemProps2.xml><?xml version="1.0" encoding="utf-8"?>
<ds:datastoreItem xmlns:ds="http://schemas.openxmlformats.org/officeDocument/2006/customXml" ds:itemID="{5C7788B7-CC3C-46F0-8DFB-9DF75D4B0109}"/>
</file>

<file path=customXml/itemProps3.xml><?xml version="1.0" encoding="utf-8"?>
<ds:datastoreItem xmlns:ds="http://schemas.openxmlformats.org/officeDocument/2006/customXml" ds:itemID="{B34E4CB3-60B6-4CDD-BEB0-D12D8FA80046}"/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2088</Words>
  <Application>Microsoft Office PowerPoint</Application>
  <PresentationFormat>On-screen Show (4:3)</PresentationFormat>
  <Paragraphs>378</Paragraphs>
  <Slides>46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Noto Sans Symbols</vt:lpstr>
      <vt:lpstr>Times New Roman</vt:lpstr>
      <vt:lpstr>Verdana</vt:lpstr>
      <vt:lpstr>Wingdings</vt:lpstr>
      <vt:lpstr>Profile</vt:lpstr>
      <vt:lpstr>Equation</vt:lpstr>
      <vt:lpstr>Artificial Intelligence</vt:lpstr>
      <vt:lpstr>Learning objectives</vt:lpstr>
      <vt:lpstr>Search problem (state-based models)</vt:lpstr>
      <vt:lpstr>Tree search example</vt:lpstr>
      <vt:lpstr>Tree search example</vt:lpstr>
      <vt:lpstr>Tree search example</vt:lpstr>
      <vt:lpstr>Measuring Search Strategy Performance</vt:lpstr>
      <vt:lpstr>Uninformed search strategies</vt:lpstr>
      <vt:lpstr>Breadth-first search</vt:lpstr>
      <vt:lpstr>Breadth-first search</vt:lpstr>
      <vt:lpstr>Breadth-first search</vt:lpstr>
      <vt:lpstr>Breadth-first search</vt:lpstr>
      <vt:lpstr>Breadth-first search</vt:lpstr>
      <vt:lpstr>Breadth First Search</vt:lpstr>
      <vt:lpstr>Analysis of Breadth First Search</vt:lpstr>
      <vt:lpstr>Analysis of Breadth First Search</vt:lpstr>
      <vt:lpstr>Properties of breadth-first search</vt:lpstr>
      <vt:lpstr>Depth 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 First Search</vt:lpstr>
      <vt:lpstr>Depth First Search</vt:lpstr>
      <vt:lpstr>Properties of depth-first search</vt:lpstr>
      <vt:lpstr>Depth-limited search</vt:lpstr>
      <vt:lpstr>Properties of depth-limited search</vt:lpstr>
      <vt:lpstr>Uniform-cost search (Djikstra’s Algorithm)</vt:lpstr>
      <vt:lpstr>Dijkstra’s Algorithm</vt:lpstr>
      <vt:lpstr>Initialization</vt:lpstr>
      <vt:lpstr>Relaxation</vt:lpstr>
      <vt:lpstr>Dijkstra’s Algorithm - Analysis</vt:lpstr>
      <vt:lpstr>Uniform-cost search</vt:lpstr>
      <vt:lpstr>Iterative Deepening Depth-First Search</vt:lpstr>
      <vt:lpstr>Iterative deepening search l =0</vt:lpstr>
      <vt:lpstr>Iterative deepening search l =1</vt:lpstr>
      <vt:lpstr>Iterative deepening search l =2</vt:lpstr>
      <vt:lpstr>Iterative deepening search l =3</vt:lpstr>
      <vt:lpstr>Properties of Iterative Deepening DFS</vt:lpstr>
      <vt:lpstr>Properties of Iterative Deepening DFS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41</cp:revision>
  <cp:lastPrinted>2025-10-02T08:35:56Z</cp:lastPrinted>
  <dcterms:created xsi:type="dcterms:W3CDTF">1601-01-01T00:00:00Z</dcterms:created>
  <dcterms:modified xsi:type="dcterms:W3CDTF">2025-11-14T05:05:30Z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