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344" r:id="rId7"/>
    <p:sldId id="352" r:id="rId8"/>
    <p:sldId id="357" r:id="rId9"/>
    <p:sldId id="358" r:id="rId10"/>
    <p:sldId id="359" r:id="rId11"/>
    <p:sldId id="360" r:id="rId12"/>
    <p:sldId id="361" r:id="rId13"/>
    <p:sldId id="362" r:id="rId14"/>
    <p:sldId id="335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i9iaSeCi0pGDfzrBU1B9sbSGO6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0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1" name="Google Shape;81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27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Session#30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evaluation functions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TD learning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5715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77A7-88F6-45DF-071C-F096D12FE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recurrence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D5124-6B39-92CC-EFE2-B7BD688CF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4F3C7-4233-277A-90FA-7E033122F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5" y="2323477"/>
            <a:ext cx="7544942" cy="306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6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A419A-C8DB-6145-EED3-B2B5508A3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Speeding up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26401-1A03-FA3D-C009-1B0ECFA1A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 guarantees (unlike A*) on the error from approximation</a:t>
            </a:r>
            <a:endParaRPr lang="en-PK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B837E50-BFC8-ABB9-2B22-4AA358AF6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801"/>
          <a:stretch>
            <a:fillRect/>
          </a:stretch>
        </p:blipFill>
        <p:spPr>
          <a:xfrm>
            <a:off x="883660" y="1752600"/>
            <a:ext cx="8097929" cy="374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711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0C566-5664-53B8-0502-926D7022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function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E5683-8F7E-5E16-8FDD-A90EB943A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function yourself – Complicated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000" dirty="0"/>
          </a:p>
          <a:p>
            <a:r>
              <a:rPr lang="en-US" sz="2000" dirty="0"/>
              <a:t>We can think of the components here as features that have weights </a:t>
            </a:r>
          </a:p>
          <a:p>
            <a:r>
              <a:rPr lang="en-US" sz="2000" dirty="0"/>
              <a:t>Features are easier to identify</a:t>
            </a:r>
          </a:p>
          <a:p>
            <a:r>
              <a:rPr lang="en-US" sz="2000" dirty="0"/>
              <a:t>Learn weights from data?</a:t>
            </a:r>
          </a:p>
          <a:p>
            <a:endParaRPr lang="en-PK" sz="2000" dirty="0"/>
          </a:p>
        </p:txBody>
      </p:sp>
      <p:pic>
        <p:nvPicPr>
          <p:cNvPr id="5" name="Picture 4" descr="A math equations in a rectangular frame&#10;&#10;AI-generated content may be incorrect.">
            <a:extLst>
              <a:ext uri="{FF2B5EF4-FFF2-40B4-BE49-F238E27FC236}">
                <a16:creationId xmlns:a16="http://schemas.microsoft.com/office/drawing/2014/main" id="{039864B4-C0CF-505C-7D6B-5BEB9F045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95" y="2244790"/>
            <a:ext cx="6407809" cy="2368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63C700-EE42-AE40-577D-7F7F13E16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877" y="5548941"/>
            <a:ext cx="2340027" cy="47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971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FE59-FC0C-ABB3-6430-9100EFD3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for evaluation functions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DF5A7-76D7-96E8-4834-D1010F76A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Neural network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5612C-0B55-EDDA-04A4-B8AE6EDD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269" y="2338466"/>
            <a:ext cx="2791684" cy="678206"/>
          </a:xfrm>
          <a:prstGeom prst="rect">
            <a:avLst/>
          </a:prstGeom>
        </p:spPr>
      </p:pic>
      <p:pic>
        <p:nvPicPr>
          <p:cNvPr id="7" name="Picture 6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2E5E49F9-42C2-E5C9-4984-DD1B0F7B3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884" y="4045471"/>
            <a:ext cx="4304360" cy="100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7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A61E-65F9-5E91-A07E-1E04DAEC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data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6FC9E-DA9D-3E9B-93A3-275B1264A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using policies based on current V (s; w)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Generate episode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Reward throughout is zero till the end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7" name="Picture 6" descr="A close-up of a number of words&#10;&#10;AI-generated content may be incorrect.">
            <a:extLst>
              <a:ext uri="{FF2B5EF4-FFF2-40B4-BE49-F238E27FC236}">
                <a16:creationId xmlns:a16="http://schemas.microsoft.com/office/drawing/2014/main" id="{D7BCD2F9-8C70-0BC6-52C5-9BECC42F2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286" y="2375981"/>
            <a:ext cx="5723211" cy="1746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878DC9-0394-5D90-19AC-F75544548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720" y="4857982"/>
            <a:ext cx="6124823" cy="44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0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C646C-7589-F3B3-6478-BA94E11F1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75BE4-29CF-0914-F377-C404F0558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s, a, r, s’</a:t>
            </a:r>
          </a:p>
          <a:p>
            <a:endParaRPr lang="en-US" dirty="0"/>
          </a:p>
          <a:p>
            <a:r>
              <a:rPr lang="en-US" dirty="0"/>
              <a:t>Prediction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Target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2A4BA-D521-0F93-CE5D-21E34186B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802" y="3268793"/>
            <a:ext cx="1560668" cy="617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48D17A-AF36-8329-FCE0-8C1C2FEC4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802" y="4601980"/>
            <a:ext cx="2351213" cy="80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55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8314E-991C-ADAB-1BBB-0806659A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framework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742B4-6C3B-08EF-DD29-612A77D5C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B1C73E-C68F-81BD-A2EE-FD9FE27B1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047" y="2026326"/>
            <a:ext cx="6171652" cy="395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94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3CD9-CD38-4EE8-9640-ED8C4A351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difference (TD) learning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CD555-D3D2-D456-81CE-D90F3CB79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D01EA8DF-6F2E-FB61-29DD-1B5EA86B7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782" y="1933732"/>
            <a:ext cx="6440786" cy="209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44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918E-9D0A-A13D-8221-C49BD5EE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Game 2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A7C4E-647C-98DC-9EEC-F3BC3338D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number N</a:t>
            </a:r>
          </a:p>
          <a:p>
            <a:r>
              <a:rPr lang="en-US" dirty="0"/>
              <a:t>Players take turns either decrementing N or replacing it with N/2</a:t>
            </a:r>
          </a:p>
          <a:p>
            <a:r>
              <a:rPr lang="en-US" dirty="0"/>
              <a:t>The player that is left with 0 wins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479D0B-1E5D-8B50-A0C3-50A0915C5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91" y="4592455"/>
            <a:ext cx="7333094" cy="85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20572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a766b8e8cb0bee5b8b02a055ac5ef8f4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67657d66ae8cd6baefaa73259b3fc2c6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F569DB-6C4C-48EA-B4EB-7058638A97B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5025C79-E8E5-4B34-9989-01ADAA9564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F07296-C817-4175-A45E-D5342133C072}"/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142</Words>
  <Application>Microsoft Office PowerPoint</Application>
  <PresentationFormat>On-screen Show (4:3)</PresentationFormat>
  <Paragraphs>72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Minimax recurrence</vt:lpstr>
      <vt:lpstr>Speeding up</vt:lpstr>
      <vt:lpstr>Evaluation function</vt:lpstr>
      <vt:lpstr>Model for evaluation functions</vt:lpstr>
      <vt:lpstr>Generating data</vt:lpstr>
      <vt:lpstr>PowerPoint Presentation</vt:lpstr>
      <vt:lpstr>General framework</vt:lpstr>
      <vt:lpstr>Temporal difference (TD) learning</vt:lpstr>
      <vt:lpstr>Simple Game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28</cp:revision>
  <dcterms:created xsi:type="dcterms:W3CDTF">1601-01-01T00:00:00Z</dcterms:created>
  <dcterms:modified xsi:type="dcterms:W3CDTF">2025-12-19T04:31:06Z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