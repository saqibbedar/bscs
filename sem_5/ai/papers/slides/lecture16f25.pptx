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22" r:id="rId4"/>
    <p:sldId id="323" r:id="rId5"/>
    <p:sldId id="331" r:id="rId6"/>
    <p:sldId id="371" r:id="rId7"/>
    <p:sldId id="372" r:id="rId8"/>
    <p:sldId id="373" r:id="rId9"/>
    <p:sldId id="374" r:id="rId10"/>
    <p:sldId id="376" r:id="rId11"/>
    <p:sldId id="378" r:id="rId12"/>
    <p:sldId id="579" r:id="rId13"/>
    <p:sldId id="581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i3todGFUTESKM1YNfdDKJfW0eg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63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59" Type="http://schemas.openxmlformats.org/officeDocument/2006/relationships/presProps" Target="presProps.xml"/><Relationship Id="rId2" Type="http://schemas.openxmlformats.org/officeDocument/2006/relationships/slide" Target="slides/slide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60" Type="http://schemas.openxmlformats.org/officeDocument/2006/relationships/viewProps" Target="viewProps.xml"/><Relationship Id="rId65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6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9" name="Google Shape;49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1" name="Google Shape;61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2" name="Google Shape;62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8" name="Google Shape;68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38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239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4" name="Google Shape;84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16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lang="en-US"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(Session 18)</a:t>
            </a: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90" name="Google Shape;90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Search-based models </a:t>
            </a:r>
            <a:endParaRPr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C9C8-93F6-3351-A43E-04175C69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problem (state-based models)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254DA-9085-294B-22F7-02A70C210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Need to consider future consequences of an action</a:t>
            </a:r>
          </a:p>
          <a:p>
            <a:endParaRPr lang="en-US" sz="800" dirty="0"/>
          </a:p>
          <a:p>
            <a:r>
              <a:rPr lang="en-US" dirty="0"/>
              <a:t>For each example, the key is to decompose the output solution into a sequence of primitive actions</a:t>
            </a:r>
          </a:p>
          <a:p>
            <a:endParaRPr lang="en-US" sz="800" dirty="0"/>
          </a:p>
          <a:p>
            <a:r>
              <a:rPr lang="en-US" dirty="0"/>
              <a:t>We also need to think about how to </a:t>
            </a:r>
            <a:r>
              <a:rPr lang="en-US" dirty="0">
                <a:solidFill>
                  <a:srgbClr val="FF0000"/>
                </a:solidFill>
              </a:rPr>
              <a:t>evaluate</a:t>
            </a:r>
            <a:r>
              <a:rPr lang="en-US" dirty="0"/>
              <a:t> different </a:t>
            </a:r>
            <a:r>
              <a:rPr lang="en-US" dirty="0">
                <a:solidFill>
                  <a:srgbClr val="FF0000"/>
                </a:solidFill>
              </a:rPr>
              <a:t>possible outputs</a:t>
            </a:r>
            <a:endParaRPr lang="en-PK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8381B-0056-2496-BAAF-AFF3B22DA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525" y="2663824"/>
            <a:ext cx="7677150" cy="990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A61EDE8-9351-26D5-3875-A88FD457A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556" y="1711324"/>
            <a:ext cx="2013197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1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1B8E-444C-329D-4E6B-89AF8FDA5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85E6F-1623-A5C4-1231-C88E9803B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A6BC8-7EE6-6D8D-D6A9-D564D3CF9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237" y="1920677"/>
            <a:ext cx="4104507" cy="271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55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13A4-46B4-210A-9F25-AD8B8224D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439D-BB3E-72ED-05AD-D37A9A7E0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d</a:t>
            </a:r>
            <a:r>
              <a:rPr lang="en-US" altLang="en-PK" dirty="0"/>
              <a:t>efined by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PK" sz="1100" dirty="0"/>
          </a:p>
          <a:p>
            <a:pPr lvl="1">
              <a:buFontTx/>
              <a:buAutoNum type="arabicPeriod"/>
            </a:pPr>
            <a:r>
              <a:rPr lang="en-US" altLang="en-PK" dirty="0">
                <a:solidFill>
                  <a:srgbClr val="FF0000"/>
                </a:solidFill>
              </a:rPr>
              <a:t>states (Initial (Start) state, Goal (Final) state)</a:t>
            </a:r>
          </a:p>
          <a:p>
            <a:pPr lvl="1">
              <a:buFontTx/>
              <a:buAutoNum type="arabicPeriod"/>
            </a:pPr>
            <a:r>
              <a:rPr lang="en-US" altLang="en-PK" dirty="0">
                <a:solidFill>
                  <a:srgbClr val="FF0000"/>
                </a:solidFill>
              </a:rPr>
              <a:t>actions or successor function</a:t>
            </a:r>
          </a:p>
          <a:p>
            <a:pPr lvl="1">
              <a:buFontTx/>
              <a:buAutoNum type="arabicPeriod"/>
            </a:pPr>
            <a:r>
              <a:rPr lang="en-US" altLang="en-PK" dirty="0">
                <a:solidFill>
                  <a:srgbClr val="FF0000"/>
                </a:solidFill>
              </a:rPr>
              <a:t>costs</a:t>
            </a:r>
          </a:p>
          <a:p>
            <a:endParaRPr lang="en-US" sz="800" dirty="0"/>
          </a:p>
          <a:p>
            <a:pPr eaLnBrk="1" hangingPunct="1"/>
            <a:r>
              <a:rPr lang="en-US" altLang="en-PK" dirty="0"/>
              <a:t>A </a:t>
            </a:r>
            <a:r>
              <a:rPr lang="en-US" altLang="en-PK" dirty="0">
                <a:solidFill>
                  <a:srgbClr val="FF0000"/>
                </a:solidFill>
              </a:rPr>
              <a:t>solution</a:t>
            </a:r>
            <a:r>
              <a:rPr lang="en-US" altLang="en-PK" dirty="0"/>
              <a:t> is a sequence of actions leading from the initial state to a goal state</a:t>
            </a:r>
          </a:p>
          <a:p>
            <a:pPr eaLnBrk="1" hangingPunct="1"/>
            <a:endParaRPr lang="en-US" altLang="en-PK" sz="900" dirty="0"/>
          </a:p>
          <a:p>
            <a:pPr eaLnBrk="1" hangingPunct="1"/>
            <a:r>
              <a:rPr lang="en-US" altLang="en-PK" dirty="0">
                <a:solidFill>
                  <a:srgbClr val="FF0000"/>
                </a:solidFill>
              </a:rPr>
              <a:t>Optimal solution </a:t>
            </a:r>
            <a:r>
              <a:rPr lang="en-US" altLang="en-PK" dirty="0"/>
              <a:t>has the lowest path cost among all solutions</a:t>
            </a:r>
          </a:p>
          <a:p>
            <a:pPr eaLnBrk="1" hangingPunct="1"/>
            <a:endParaRPr lang="en-US" altLang="en-PK" sz="800" dirty="0"/>
          </a:p>
          <a:p>
            <a:r>
              <a:rPr lang="en-US" dirty="0"/>
              <a:t>Approach: Build a </a:t>
            </a:r>
            <a:r>
              <a:rPr lang="en-US" dirty="0">
                <a:solidFill>
                  <a:srgbClr val="FF0000"/>
                </a:solidFill>
              </a:rPr>
              <a:t>search tree</a:t>
            </a:r>
            <a:r>
              <a:rPr lang="en-US" dirty="0"/>
              <a:t> - basically a ‘what if’ tree</a:t>
            </a:r>
          </a:p>
          <a:p>
            <a:endParaRPr lang="en-US" sz="800" dirty="0"/>
          </a:p>
          <a:p>
            <a:r>
              <a:rPr lang="en-US" dirty="0"/>
              <a:t>Inference: </a:t>
            </a:r>
            <a:r>
              <a:rPr lang="en-US" dirty="0">
                <a:solidFill>
                  <a:srgbClr val="FF0000"/>
                </a:solidFill>
              </a:rPr>
              <a:t>Algorithms for search</a:t>
            </a:r>
          </a:p>
          <a:p>
            <a:endParaRPr lang="en-US" dirty="0"/>
          </a:p>
          <a:p>
            <a:pPr eaLnBrk="1" hangingPunct="1"/>
            <a:endParaRPr lang="en-US" altLang="en-PK" dirty="0"/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78759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EC1B9-0907-9A96-FB87-B582E6EE83D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5D857B4-7448-4988-B03C-041924E92F5B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6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8CEF023D-AB29-11EB-13E0-D93977DE74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Searching for Solutions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B35250CC-8FAA-F886-5400-4B6FF4512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PK" dirty="0"/>
              <a:t>To solve the problems, we </a:t>
            </a:r>
            <a:r>
              <a:rPr lang="en-US" altLang="en-PK" dirty="0">
                <a:solidFill>
                  <a:schemeClr val="accent2"/>
                </a:solidFill>
              </a:rPr>
              <a:t>search</a:t>
            </a:r>
            <a:r>
              <a:rPr lang="en-US" altLang="en-PK" dirty="0"/>
              <a:t> through the </a:t>
            </a:r>
            <a:r>
              <a:rPr lang="en-US" altLang="en-PK" dirty="0">
                <a:solidFill>
                  <a:schemeClr val="accent2"/>
                </a:solidFill>
              </a:rPr>
              <a:t>state space</a:t>
            </a:r>
          </a:p>
          <a:p>
            <a:pPr eaLnBrk="1" hangingPunct="1"/>
            <a:endParaRPr lang="en-US" altLang="en-PK" dirty="0"/>
          </a:p>
          <a:p>
            <a:pPr eaLnBrk="1" hangingPunct="1"/>
            <a:r>
              <a:rPr lang="en-US" altLang="en-PK" dirty="0"/>
              <a:t>We may have a </a:t>
            </a:r>
            <a:r>
              <a:rPr lang="en-US" altLang="en-PK" dirty="0">
                <a:solidFill>
                  <a:schemeClr val="accent2"/>
                </a:solidFill>
              </a:rPr>
              <a:t>search graph</a:t>
            </a:r>
            <a:r>
              <a:rPr lang="en-US" altLang="en-PK" dirty="0"/>
              <a:t>, but for now we consider only a </a:t>
            </a:r>
            <a:r>
              <a:rPr lang="en-US" altLang="en-PK" dirty="0">
                <a:solidFill>
                  <a:schemeClr val="accent2"/>
                </a:solidFill>
              </a:rPr>
              <a:t>search tree</a:t>
            </a:r>
          </a:p>
          <a:p>
            <a:pPr eaLnBrk="1" hangingPunct="1"/>
            <a:endParaRPr lang="en-US" altLang="en-PK" dirty="0">
              <a:solidFill>
                <a:schemeClr val="accent2"/>
              </a:solidFill>
            </a:endParaRPr>
          </a:p>
          <a:p>
            <a:pPr eaLnBrk="1" hangingPunct="1"/>
            <a:r>
              <a:rPr lang="en-US" altLang="en-PK" dirty="0">
                <a:solidFill>
                  <a:schemeClr val="tx1"/>
                </a:solidFill>
              </a:rPr>
              <a:t>We usually do not build the search tree as a concrete data structure</a:t>
            </a:r>
          </a:p>
          <a:p>
            <a:pPr eaLnBrk="1" hangingPunct="1"/>
            <a:endParaRPr lang="en-US" altLang="en-PK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PK" dirty="0">
                <a:solidFill>
                  <a:schemeClr val="tx1"/>
                </a:solidFill>
              </a:rPr>
              <a:t>The search tree is used merely to visualize the computation of the search algorithms and study the structure of the search problem</a:t>
            </a:r>
          </a:p>
          <a:p>
            <a:pPr eaLnBrk="1" hangingPunct="1"/>
            <a:endParaRPr lang="en-US" altLang="en-PK" dirty="0">
              <a:solidFill>
                <a:schemeClr val="accent2"/>
              </a:solidFill>
            </a:endParaRPr>
          </a:p>
          <a:p>
            <a:pPr eaLnBrk="1" hangingPunct="1"/>
            <a:endParaRPr lang="en-US" altLang="en-PK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0B705C-7BF5-B186-5C41-EE6C83A378A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266C8B-5526-4778-AF97-0EE41CFB533F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7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9BCF456A-9E07-FDA6-3545-E80A86979C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Tree search example</a:t>
            </a:r>
          </a:p>
        </p:txBody>
      </p:sp>
      <p:pic>
        <p:nvPicPr>
          <p:cNvPr id="20485" name="Picture 3" descr="search-map1c">
            <a:extLst>
              <a:ext uri="{FF2B5EF4-FFF2-40B4-BE49-F238E27FC236}">
                <a16:creationId xmlns:a16="http://schemas.microsoft.com/office/drawing/2014/main" id="{B071D5EF-D1AD-D325-F9A1-9E836677D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696200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4">
            <a:extLst>
              <a:ext uri="{FF2B5EF4-FFF2-40B4-BE49-F238E27FC236}">
                <a16:creationId xmlns:a16="http://schemas.microsoft.com/office/drawing/2014/main" id="{192FEBC1-3FFE-343B-2AFD-F557E8405F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/>
              <a:t>We start from a search node, and check whether it is goal state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/>
              <a:t>It is not, so more states need to be considered by applying successor function to the current state, thereby generating new states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altLang="en-PK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CA915-5190-E62A-825C-724D1E00269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066AA50-F0B1-4988-AB0C-B21D286795F7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8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8" name="Picture 2" descr="search-map2c">
            <a:extLst>
              <a:ext uri="{FF2B5EF4-FFF2-40B4-BE49-F238E27FC236}">
                <a16:creationId xmlns:a16="http://schemas.microsoft.com/office/drawing/2014/main" id="{DB271A34-0A4A-BE90-3E00-C7A4176B93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2625" y="1889125"/>
            <a:ext cx="7623175" cy="1884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509" name="Rectangle 3">
            <a:extLst>
              <a:ext uri="{FF2B5EF4-FFF2-40B4-BE49-F238E27FC236}">
                <a16:creationId xmlns:a16="http://schemas.microsoft.com/office/drawing/2014/main" id="{B69181FB-9F22-BFD9-8752-D4E73CF0EC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Tree search example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67F2FFF-3A0E-AFA0-D516-6BC40CE7D2C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9C74A1E-1712-4AE5-9CD9-3F2D1B7BFF9F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9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532" name="Picture 2" descr="search-map3c">
            <a:extLst>
              <a:ext uri="{FF2B5EF4-FFF2-40B4-BE49-F238E27FC236}">
                <a16:creationId xmlns:a16="http://schemas.microsoft.com/office/drawing/2014/main" id="{A3D22DC1-5D57-C37E-C38B-F11A7732F5C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2625" y="1889125"/>
            <a:ext cx="8004175" cy="1978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2533" name="Rectangle 3">
            <a:extLst>
              <a:ext uri="{FF2B5EF4-FFF2-40B4-BE49-F238E27FC236}">
                <a16:creationId xmlns:a16="http://schemas.microsoft.com/office/drawing/2014/main" id="{74F1FCEC-3FFE-DECD-4C52-2D0079C192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Tree search example</a:t>
            </a: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B10DE638-5ACC-2753-DB4C-AE12B527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581400"/>
            <a:ext cx="815340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200">
                <a:latin typeface="Times New Roman" panose="02020603050405020304" pitchFamily="18" charset="0"/>
                <a:cs typeface="Times New Roman" panose="02020603050405020304" pitchFamily="18" charset="0"/>
              </a:rPr>
              <a:t>We continue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Expand </a:t>
            </a:r>
          </a:p>
          <a:p>
            <a:pPr lvl="1"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PK" sz="2000">
                <a:latin typeface="Times New Roman" panose="02020603050405020304" pitchFamily="18" charset="0"/>
                <a:cs typeface="Times New Roman" panose="02020603050405020304" pitchFamily="18" charset="0"/>
              </a:rPr>
              <a:t>Till no more states</a:t>
            </a:r>
          </a:p>
          <a:p>
            <a:pPr eaLnBrk="1" hangingPunct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</a:pPr>
            <a:r>
              <a:rPr lang="en-US" altLang="en-PK" sz="2200">
                <a:latin typeface="Times New Roman" panose="02020603050405020304" pitchFamily="18" charset="0"/>
                <a:cs typeface="Times New Roman" panose="02020603050405020304" pitchFamily="18" charset="0"/>
              </a:rPr>
              <a:t>Choice of which state to expand is determined by the </a:t>
            </a:r>
            <a:r>
              <a:rPr lang="en-US" altLang="en-PK" sz="22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strategy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E70722C0-ECA7-2BE2-5125-E117952395F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86662E1-B5E8-4FC0-B989-CB588CCC1127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10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A1B09-254A-6CB1-992F-0598C1E64054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1719569-4CEF-4F63-ACE0-4460C7FA19D5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10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ADC151FA-74C7-F436-2FF5-40D901B8DE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Measuring Search Strategy Performance</a:t>
            </a:r>
          </a:p>
        </p:txBody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0C2F201B-35F6-4ACD-80F1-E2E115DFCD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dirty="0"/>
              <a:t>A search strategy is defined by picking the </a:t>
            </a:r>
            <a:r>
              <a:rPr lang="en-US" altLang="en-PK" sz="2000" dirty="0">
                <a:solidFill>
                  <a:srgbClr val="FF0000"/>
                </a:solidFill>
              </a:rPr>
              <a:t>order of node expansion</a:t>
            </a:r>
            <a:endParaRPr lang="en-US" altLang="en-PK" sz="2000" dirty="0"/>
          </a:p>
          <a:p>
            <a:pPr marL="342900" indent="-342900" eaLnBrk="1" hangingPunct="1">
              <a:lnSpc>
                <a:spcPct val="90000"/>
              </a:lnSpc>
            </a:pPr>
            <a:endParaRPr lang="en-US" altLang="en-PK" sz="2000" dirty="0"/>
          </a:p>
          <a:p>
            <a:pPr marL="342900" indent="-342900" eaLnBrk="1" hangingPunct="1">
              <a:lnSpc>
                <a:spcPct val="90000"/>
              </a:lnSpc>
            </a:pPr>
            <a:r>
              <a:rPr lang="en-US" altLang="en-PK" sz="2000" dirty="0"/>
              <a:t>Strategies are evaluated along the following dimensions: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>
                <a:solidFill>
                  <a:schemeClr val="accent2"/>
                </a:solidFill>
              </a:rPr>
              <a:t>completeness</a:t>
            </a:r>
            <a:r>
              <a:rPr lang="en-US" altLang="en-PK" sz="1800" dirty="0"/>
              <a:t>: does it always find a solution if one exists?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>
                <a:solidFill>
                  <a:schemeClr val="accent2"/>
                </a:solidFill>
              </a:rPr>
              <a:t>time complexity</a:t>
            </a:r>
            <a:r>
              <a:rPr lang="en-US" altLang="en-PK" sz="1800" dirty="0"/>
              <a:t>: number of nodes generated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>
                <a:solidFill>
                  <a:schemeClr val="accent2"/>
                </a:solidFill>
              </a:rPr>
              <a:t>space complexity</a:t>
            </a:r>
            <a:r>
              <a:rPr lang="en-US" altLang="en-PK" sz="1800" dirty="0"/>
              <a:t>: maximum number of nodes in memory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altLang="en-PK" sz="1800" dirty="0">
                <a:solidFill>
                  <a:schemeClr val="accent2"/>
                </a:solidFill>
              </a:rPr>
              <a:t>optimality</a:t>
            </a:r>
            <a:r>
              <a:rPr lang="en-US" altLang="en-PK" sz="1800" dirty="0"/>
              <a:t>: does it always find a least-cost solution?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173CC0B-9616-4494-5928-03C8D9A5569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61432F3-93AD-4A7E-96C8-2E0469B32561}" type="slidenum">
              <a:rPr lang="en-US" altLang="en-PK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11</a:t>
            </a:fld>
            <a:endParaRPr lang="en-US" alt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838FF-855A-1526-0A4D-D9857C6E012F}"/>
              </a:ext>
            </a:extLst>
          </p:cNvPr>
          <p:cNvSpPr txBox="1">
            <a:spLocks noGrp="1"/>
          </p:cNvSpPr>
          <p:nvPr/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E39F66A-581E-4599-89A2-F1F996158FBF}" type="slidenum">
              <a:rPr lang="en-US" altLang="en-PK" sz="1200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11</a:t>
            </a:fld>
            <a:endParaRPr lang="en-US" altLang="en-PK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630" name="Rectangle 2">
            <a:extLst>
              <a:ext uri="{FF2B5EF4-FFF2-40B4-BE49-F238E27FC236}">
                <a16:creationId xmlns:a16="http://schemas.microsoft.com/office/drawing/2014/main" id="{9562D0BF-F537-EE24-7D96-98BE44D8769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PK"/>
              <a:t>Uninformed search strategies</a:t>
            </a:r>
          </a:p>
        </p:txBody>
      </p:sp>
      <p:sp>
        <p:nvSpPr>
          <p:cNvPr id="26631" name="Rectangle 3">
            <a:extLst>
              <a:ext uri="{FF2B5EF4-FFF2-40B4-BE49-F238E27FC236}">
                <a16:creationId xmlns:a16="http://schemas.microsoft.com/office/drawing/2014/main" id="{C12DD218-9157-924F-C733-ACC760DD80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PK" dirty="0">
                <a:solidFill>
                  <a:srgbClr val="FF0000"/>
                </a:solidFill>
              </a:rPr>
              <a:t>Uninformed</a:t>
            </a:r>
            <a:r>
              <a:rPr lang="en-US" altLang="en-PK" dirty="0"/>
              <a:t> search strategies use only the information available in the problem definition. Do not know that one non-goal state is more promising than another</a:t>
            </a:r>
          </a:p>
          <a:p>
            <a:pPr marL="342900" indent="-342900" eaLnBrk="1" hangingPunct="1"/>
            <a:endParaRPr lang="en-US" altLang="en-PK" dirty="0"/>
          </a:p>
          <a:p>
            <a:pPr marL="342900" indent="-342900" eaLnBrk="1" hangingPunct="1"/>
            <a:r>
              <a:rPr lang="en-US" altLang="en-PK" dirty="0"/>
              <a:t>Breadth-first search</a:t>
            </a:r>
          </a:p>
          <a:p>
            <a:pPr marL="342900" indent="-342900" eaLnBrk="1" hangingPunct="1"/>
            <a:r>
              <a:rPr lang="en-US" altLang="en-PK" dirty="0"/>
              <a:t>Depth-first search</a:t>
            </a:r>
          </a:p>
          <a:p>
            <a:pPr marL="342900" indent="-342900" eaLnBrk="1" hangingPunct="1"/>
            <a:r>
              <a:rPr lang="en-US" altLang="en-PK" dirty="0"/>
              <a:t>Depth-limited search</a:t>
            </a:r>
          </a:p>
          <a:p>
            <a:pPr marL="342900" indent="-342900"/>
            <a:r>
              <a:rPr lang="en-US" altLang="en-PK" dirty="0"/>
              <a:t>Uniform-cost search</a:t>
            </a:r>
          </a:p>
          <a:p>
            <a:pPr marL="342900" indent="-342900" eaLnBrk="1" hangingPunct="1"/>
            <a:r>
              <a:rPr lang="en-US" altLang="en-PK" dirty="0"/>
              <a:t>Iterative deepening search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EA823-5701-0F38-C9D9-80C2D0EF8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Transportation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51485-3880-8A66-95B0-B182F6A41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Street with blocks numbered </a:t>
            </a:r>
            <a:r>
              <a:rPr lang="en-US" i="1" dirty="0"/>
              <a:t>1</a:t>
            </a:r>
            <a:r>
              <a:rPr lang="en-US" dirty="0"/>
              <a:t> to 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r>
              <a:rPr lang="en-US" dirty="0"/>
              <a:t>Walking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s + 1 </a:t>
            </a:r>
            <a:r>
              <a:rPr lang="en-US" dirty="0"/>
              <a:t>takes </a:t>
            </a:r>
            <a:r>
              <a:rPr lang="en-US" i="1" dirty="0"/>
              <a:t>1</a:t>
            </a:r>
            <a:r>
              <a:rPr lang="en-US" dirty="0"/>
              <a:t> minute</a:t>
            </a:r>
          </a:p>
          <a:p>
            <a:r>
              <a:rPr lang="en-US" dirty="0"/>
              <a:t>Taking a bus from </a:t>
            </a:r>
            <a:r>
              <a:rPr lang="en-US" i="1" dirty="0"/>
              <a:t>s</a:t>
            </a:r>
            <a:r>
              <a:rPr lang="en-US" dirty="0"/>
              <a:t> to </a:t>
            </a:r>
            <a:r>
              <a:rPr lang="en-US" i="1" dirty="0"/>
              <a:t>2s</a:t>
            </a:r>
            <a:r>
              <a:rPr lang="en-US" dirty="0"/>
              <a:t> takes </a:t>
            </a:r>
            <a:r>
              <a:rPr lang="en-US" i="1" dirty="0"/>
              <a:t>2</a:t>
            </a:r>
            <a:r>
              <a:rPr lang="en-US" dirty="0"/>
              <a:t> minutes</a:t>
            </a:r>
          </a:p>
          <a:p>
            <a:r>
              <a:rPr lang="en-US" dirty="0"/>
              <a:t>How to travel from </a:t>
            </a:r>
            <a:r>
              <a:rPr lang="en-US" i="1" dirty="0"/>
              <a:t>1</a:t>
            </a:r>
            <a:r>
              <a:rPr lang="en-US" dirty="0"/>
              <a:t> to </a:t>
            </a:r>
            <a:r>
              <a:rPr lang="en-US" i="1" dirty="0"/>
              <a:t>n</a:t>
            </a:r>
            <a:r>
              <a:rPr lang="en-US" dirty="0"/>
              <a:t> in the least time?</a:t>
            </a:r>
          </a:p>
        </p:txBody>
      </p:sp>
    </p:spTree>
    <p:extLst>
      <p:ext uri="{BB962C8B-B14F-4D97-AF65-F5344CB8AC3E}">
        <p14:creationId xmlns:p14="http://schemas.microsoft.com/office/powerpoint/2010/main" val="1707295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64CA-5760-29F9-EAB0-CFABD15C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Jug example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DDA232-46E2-52D8-C2EF-E5938496D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 unlimited supply of water, and a sink</a:t>
            </a:r>
          </a:p>
          <a:p>
            <a:r>
              <a:rPr lang="en-US" dirty="0"/>
              <a:t>Two unmarked jugs:</a:t>
            </a:r>
          </a:p>
          <a:p>
            <a:pPr lvl="1"/>
            <a:r>
              <a:rPr lang="en-US" dirty="0"/>
              <a:t>a four liter jug </a:t>
            </a:r>
          </a:p>
          <a:p>
            <a:pPr lvl="1"/>
            <a:r>
              <a:rPr lang="en-US" dirty="0"/>
              <a:t>a three liter jug</a:t>
            </a:r>
          </a:p>
          <a:p>
            <a:r>
              <a:rPr lang="en-US" dirty="0"/>
              <a:t>How to get two liters into the four liter jug, with no water in the three liter jug?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61411644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3ef6bfa53d7ad97891e6c05c179b4e5e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dbe76485fd55a43069722ab0be0dcc2c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1CE1F0-6E2C-4A28-AE21-F25A957DC535}"/>
</file>

<file path=customXml/itemProps2.xml><?xml version="1.0" encoding="utf-8"?>
<ds:datastoreItem xmlns:ds="http://schemas.openxmlformats.org/officeDocument/2006/customXml" ds:itemID="{5EB29FEE-0086-4BC5-BE41-AE527BF69943}"/>
</file>

<file path=customXml/itemProps3.xml><?xml version="1.0" encoding="utf-8"?>
<ds:datastoreItem xmlns:ds="http://schemas.openxmlformats.org/officeDocument/2006/customXml" ds:itemID="{AA91B8B5-C575-40B6-9006-EA0FA13328C8}"/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459</Words>
  <Application>Microsoft Office PowerPoint</Application>
  <PresentationFormat>On-screen Show (4:3)</PresentationFormat>
  <Paragraphs>107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Noto Sans Symbols</vt:lpstr>
      <vt:lpstr>Times New Roman</vt:lpstr>
      <vt:lpstr>Verdana</vt:lpstr>
      <vt:lpstr>Wingdings</vt:lpstr>
      <vt:lpstr>Profile</vt:lpstr>
      <vt:lpstr>Artificial Intelligence</vt:lpstr>
      <vt:lpstr>Learning objectives</vt:lpstr>
      <vt:lpstr>Search problem (state-based models)</vt:lpstr>
      <vt:lpstr>Paradigm</vt:lpstr>
      <vt:lpstr>PowerPoint Presentation</vt:lpstr>
      <vt:lpstr>Searching for Solutions</vt:lpstr>
      <vt:lpstr>Tree search example</vt:lpstr>
      <vt:lpstr>Tree search example</vt:lpstr>
      <vt:lpstr>Tree search example</vt:lpstr>
      <vt:lpstr>Measuring Search Strategy Performance</vt:lpstr>
      <vt:lpstr>Uninformed search strategies</vt:lpstr>
      <vt:lpstr>Transportation example</vt:lpstr>
      <vt:lpstr>Water Jug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Onaiza Maqbool</cp:lastModifiedBy>
  <cp:revision>39</cp:revision>
  <cp:lastPrinted>2025-10-02T08:35:56Z</cp:lastPrinted>
  <dcterms:created xsi:type="dcterms:W3CDTF">1601-01-01T00:00:00Z</dcterms:created>
  <dcterms:modified xsi:type="dcterms:W3CDTF">2025-11-10T04:22:19Z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