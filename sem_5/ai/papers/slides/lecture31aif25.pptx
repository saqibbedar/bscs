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3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1" r:id="rId19"/>
    <p:sldId id="272" r:id="rId20"/>
    <p:sldId id="273" r:id="rId21"/>
    <p:sldId id="274" r:id="rId22"/>
    <p:sldId id="275" r:id="rId23"/>
    <p:sldId id="277" r:id="rId24"/>
    <p:sldId id="278" r:id="rId25"/>
    <p:sldId id="279" r:id="rId26"/>
    <p:sldId id="281" r:id="rId27"/>
    <p:sldId id="280" r:id="rId28"/>
    <p:sldId id="282" r:id="rId29"/>
    <p:sldId id="284" r:id="rId30"/>
    <p:sldId id="285" r:id="rId3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i9iaSeCi0pGDfzrBU1B9sbSGO6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4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46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Artificial Intelligence</a:t>
            </a:r>
            <a:endParaRPr dirty="0"/>
          </a:p>
        </p:txBody>
      </p:sp>
      <p:sp>
        <p:nvSpPr>
          <p:cNvPr id="81" name="Google Shape;81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Lecture # 29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Session#31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Learning objectives</a:t>
            </a:r>
            <a:endParaRPr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enable students to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terminology related to logic and knowledge based systems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endParaRPr lang="en-US"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endParaRPr lang="en-US"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endParaRPr lang="en-US"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0D574-0196-F333-8BFB-D088D8BC7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5DABC-C5CD-A257-38D7-1C1DC2064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 descr="A computer code on a white background&#10;&#10;AI-generated content may be incorrect.">
            <a:extLst>
              <a:ext uri="{FF2B5EF4-FFF2-40B4-BE49-F238E27FC236}">
                <a16:creationId xmlns:a16="http://schemas.microsoft.com/office/drawing/2014/main" id="{8ADCDD0D-6314-D683-7666-F60E6489E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663" y="1903751"/>
            <a:ext cx="6764637" cy="411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607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208AF-9933-87E6-9FE2-F26DCAA86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D8E185-504B-9F82-E0F1-A744D4B91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783" y="1950243"/>
            <a:ext cx="5196136" cy="3871913"/>
          </a:xfrm>
          <a:prstGeom prst="rect">
            <a:avLst/>
          </a:prstGeom>
        </p:spPr>
      </p:pic>
      <p:pic>
        <p:nvPicPr>
          <p:cNvPr id="1026" name="Picture 2" descr="29 Popular AI Assistants | Built In">
            <a:extLst>
              <a:ext uri="{FF2B5EF4-FFF2-40B4-BE49-F238E27FC236}">
                <a16:creationId xmlns:a16="http://schemas.microsoft.com/office/drawing/2014/main" id="{7BE6AD06-6CF0-A949-9C78-5663B0ED1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669" y="2499499"/>
            <a:ext cx="1543988" cy="1427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13D475-19E8-2540-BD26-A630E97F7028}"/>
              </a:ext>
            </a:extLst>
          </p:cNvPr>
          <p:cNvSpPr txBox="1"/>
          <p:nvPr/>
        </p:nvSpPr>
        <p:spPr>
          <a:xfrm>
            <a:off x="3216688" y="4257207"/>
            <a:ext cx="2389633" cy="54547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8790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E7D5F-CEF6-730E-890E-1B32BDCF2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66E51-DFB0-D0E5-E0B2-3161EE23A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mechanism for expression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A Rs. hundred is better than Rs. fifty</a:t>
            </a:r>
          </a:p>
          <a:p>
            <a:pPr lvl="1"/>
            <a:r>
              <a:rPr lang="en-US" dirty="0"/>
              <a:t>Rs. fifty is better than Rs. ten</a:t>
            </a:r>
          </a:p>
          <a:p>
            <a:pPr lvl="1"/>
            <a:r>
              <a:rPr lang="en-US" dirty="0"/>
              <a:t>Therefore Rs. hundred is better than Rs. ten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A rupee is better than nothing </a:t>
            </a:r>
          </a:p>
          <a:p>
            <a:pPr lvl="1"/>
            <a:r>
              <a:rPr lang="en-US" dirty="0"/>
              <a:t>Nothing is better than peace</a:t>
            </a:r>
          </a:p>
          <a:p>
            <a:pPr lvl="1"/>
            <a:r>
              <a:rPr lang="en-US" dirty="0"/>
              <a:t>Therefore a rupee is better than peace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78950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7E2EC-2AC6-4096-28C9-36518279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B000B-C4BE-5DE7-BFB0-A5B94ADB6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F1CD93-9FF2-8602-87A1-3E9E282E4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20" y="1863679"/>
            <a:ext cx="6924187" cy="395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674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9227C-0C5A-A01A-AFFC-8571E301D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language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8A17E-0F4F-F645-7542-180D51A77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goals of a logic language</a:t>
            </a:r>
          </a:p>
          <a:p>
            <a:pPr lvl="1"/>
            <a:r>
              <a:rPr lang="en-US" dirty="0"/>
              <a:t>Represent knowledge about the world</a:t>
            </a:r>
          </a:p>
          <a:p>
            <a:pPr lvl="1"/>
            <a:r>
              <a:rPr lang="en-US" dirty="0"/>
              <a:t>Reason with that knowledge</a:t>
            </a:r>
          </a:p>
          <a:p>
            <a:pPr lvl="1"/>
            <a:endParaRPr lang="en-US" dirty="0"/>
          </a:p>
          <a:p>
            <a:pPr lvl="1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60990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76E2E-F1F9-79C7-2FF1-E42D43B5B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Syntax, Semantics and Rules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914D9-5160-3C8F-530E-A8E5497EB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70AF37-EE97-97F7-DB8C-B8ED5877E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342" y="1752600"/>
            <a:ext cx="6835515" cy="43608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C4234E-B70D-0E8E-B500-0107ED301404}"/>
              </a:ext>
            </a:extLst>
          </p:cNvPr>
          <p:cNvSpPr txBox="1"/>
          <p:nvPr/>
        </p:nvSpPr>
        <p:spPr>
          <a:xfrm>
            <a:off x="7045377" y="4826833"/>
            <a:ext cx="9144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6046F2-CAD1-2C57-588E-A3ADCB565F96}"/>
              </a:ext>
            </a:extLst>
          </p:cNvPr>
          <p:cNvSpPr txBox="1"/>
          <p:nvPr/>
        </p:nvSpPr>
        <p:spPr>
          <a:xfrm>
            <a:off x="1004342" y="5134610"/>
            <a:ext cx="263826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24023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E5A8E-6FCB-9543-7670-94EC8822B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versus semantics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BED16-F54D-E2F7-A3C7-8AA544CF0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4B9BA-EAD3-DCCF-019E-D870C8668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84" y="1752600"/>
            <a:ext cx="6364014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09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F46F-B9B1-FF14-BDDA-80C35BCA0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9950F-4138-89D1-AF6A-04E85C294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  <a:p>
            <a:r>
              <a:rPr lang="en-US" dirty="0"/>
              <a:t>First-order logic </a:t>
            </a:r>
          </a:p>
          <a:p>
            <a:endParaRPr lang="en-US" dirty="0"/>
          </a:p>
          <a:p>
            <a:r>
              <a:rPr lang="en-US" dirty="0"/>
              <a:t>Balance expressivity and computational efficiency</a:t>
            </a:r>
          </a:p>
          <a:p>
            <a:endParaRPr lang="en-US" dirty="0"/>
          </a:p>
          <a:p>
            <a:r>
              <a:rPr lang="en-US" dirty="0"/>
              <a:t>Syntax</a:t>
            </a:r>
          </a:p>
          <a:p>
            <a:r>
              <a:rPr lang="en-US" dirty="0"/>
              <a:t>Semantics</a:t>
            </a:r>
          </a:p>
          <a:p>
            <a:r>
              <a:rPr lang="en-US" dirty="0"/>
              <a:t>Inference rules</a:t>
            </a:r>
          </a:p>
          <a:p>
            <a:endParaRPr lang="en-US" dirty="0"/>
          </a:p>
          <a:p>
            <a:r>
              <a:rPr lang="en-US" dirty="0"/>
              <a:t>Develop general principles or algorithms to do the work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44210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B1B2-8864-39C5-6D60-B44ECAC7F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230FD-D89F-458D-1BE9-8290F7904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67B1AD-8544-7A75-7872-CC41DBF0E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1" y="1883252"/>
            <a:ext cx="6423814" cy="413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297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8DDA-EF2D-E8A5-3057-9B06E1418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1B7A0-AC2B-6DB0-030D-ED0B745EC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DC26C-91ED-1B6D-E038-27BA4DBC8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20" y="1752600"/>
            <a:ext cx="4976735" cy="427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20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B9B1E-62B3-E280-4D79-FFB98F981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Semantics - Model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6F3F4-6EE3-EA4F-92D6-66CDAE4A1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Formulas by themselves are just symbols (syntax)</a:t>
            </a:r>
          </a:p>
          <a:p>
            <a:r>
              <a:rPr lang="en-US" dirty="0"/>
              <a:t>No meaning yet (semantics)!</a:t>
            </a:r>
          </a:p>
          <a:p>
            <a:endParaRPr lang="en-US" dirty="0"/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2F2D6E-3B2A-4C6D-5603-DF67A6585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242" y="2535237"/>
            <a:ext cx="6964167" cy="14783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5E5DF6-786E-5E1E-1FFF-F3D56E8B9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946" y="4013564"/>
            <a:ext cx="3550457" cy="214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027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99EED-CE79-E355-F3A5-6B2AF2A95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Semantics – Interpretation function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C7BCE-F5B6-D889-E504-C16A3E3E7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48319E-FB2A-561D-72B8-2618D0CB6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898" y="2139845"/>
            <a:ext cx="6617663" cy="257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036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43213-168C-812E-747F-D1C7F389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1234E-694D-D40D-5AC6-74D2D0C72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3E081C-5E18-1688-9FE8-F0A8D37CD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036" y="1752600"/>
            <a:ext cx="5531370" cy="427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846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DF776-3453-0A29-AD7A-553022096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7E5D3-CFD2-8135-1846-20D687733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103300-C901-555B-5FA4-8CF572D82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59" y="1752600"/>
            <a:ext cx="6953087" cy="412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77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79F7E-239F-BE33-1932-A2EF94350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1638F-F067-2094-9FBF-C321593D0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A37D31-219B-473B-CB78-D8181AA22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95" y="1752600"/>
            <a:ext cx="6509287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191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F0CFD-E707-4392-0C12-3B964B6E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base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79FEE-F035-1DC5-E122-A4AD35961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9D60C3-A76B-D5B5-1555-3338765DF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360" y="1789875"/>
            <a:ext cx="7036995" cy="407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15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C61A2-BAD2-ACD3-3766-74249FB97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283D5-536F-B779-6DF2-CCAF4E01A9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1CCBE1-B55D-2365-2519-FB1575FFB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308" y="1993692"/>
            <a:ext cx="5370939" cy="370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448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232FB-C00C-26A9-A6BB-A5D258283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Entailment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7EECE-2974-C0CB-F61A-0CF7FB429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E90D2E-B3D0-CD65-D5AD-1391CC453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380" y="1886026"/>
            <a:ext cx="6487208" cy="394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63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E1DA-BA1B-9FD6-0A53-779060D45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Contradiction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EDD5C-76FD-07EB-F545-B801A7F9D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29D0FD-8D5F-C418-8FF8-A6766C668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939" y="2014260"/>
            <a:ext cx="5576340" cy="400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872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CCE15-EC1A-4B5E-5F44-38CD45A5E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Contingency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2C939-6528-4D63-7D40-D1F43E1CA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0687B0-1E7F-7637-2ABC-55D49B8F8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977" y="1752601"/>
            <a:ext cx="5951094" cy="420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40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79184-F1F6-0F6D-13A4-9F1E2879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Tell operation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87DDC-0FBC-6689-238F-D6F1AF48A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478E11-B28D-F875-A806-52D21DF58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154" y="1752600"/>
            <a:ext cx="5606321" cy="430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8808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BA80F-CF79-EEC6-271C-DCE8E6C7F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Ask operation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F2C24-EB8A-931E-253A-9BB9933B9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B5E2B8-41D3-7061-89C1-E4BA6977A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044" y="1752600"/>
            <a:ext cx="5651293" cy="434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4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37C8-4848-1D55-7626-4C971719E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Satisfiability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67F6C-F50F-FB01-A2F3-DD59B7F8B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B9492D-5B34-D5D5-EE45-5BB543D84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539" y="1752600"/>
            <a:ext cx="6275945" cy="405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6228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E1F2B-18B6-DB7E-0287-8C4A42556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rules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27994-CAEF-A415-4F93-6939145FB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173623-5870-7148-64AD-14C381AD1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878" y="1947081"/>
            <a:ext cx="6144479" cy="337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0088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FF5C9-65D7-6AFE-913B-B5E00D707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979A1-62F8-193B-9F20-899E0AB51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543405-5F77-DED4-E326-76EB0048B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462" y="1752600"/>
            <a:ext cx="6341552" cy="369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045703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a766b8e8cb0bee5b8b02a055ac5ef8f4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67657d66ae8cd6baefaa73259b3fc2c6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F569DB-6C4C-48EA-B4EB-7058638A97BF}">
  <ds:schemaRefs>
    <ds:schemaRef ds:uri="http://purl.org/dc/terms/"/>
    <ds:schemaRef ds:uri="http://schemas.microsoft.com/office/2006/documentManagement/types"/>
    <ds:schemaRef ds:uri="http://www.w3.org/XML/1998/namespace"/>
    <ds:schemaRef ds:uri="http://purl.org/dc/elements/1.1/"/>
    <ds:schemaRef ds:uri="2dd40012-8713-4aa0-b95f-644e1bb378dc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090C38F-E33E-4019-B3B7-49C3CCBECD72}"/>
</file>

<file path=customXml/itemProps3.xml><?xml version="1.0" encoding="utf-8"?>
<ds:datastoreItem xmlns:ds="http://schemas.openxmlformats.org/officeDocument/2006/customXml" ds:itemID="{35025C79-E8E5-4B34-9989-01ADAA9564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1156</TotalTime>
  <Words>163</Words>
  <Application>Microsoft Office PowerPoint</Application>
  <PresentationFormat>On-screen Show (4:3)</PresentationFormat>
  <Paragraphs>57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Noto Sans Symbols</vt:lpstr>
      <vt:lpstr>Times New Roman</vt:lpstr>
      <vt:lpstr>Verdana</vt:lpstr>
      <vt:lpstr>Profile</vt:lpstr>
      <vt:lpstr>Artificial Intelligence</vt:lpstr>
      <vt:lpstr>Learning objectives</vt:lpstr>
      <vt:lpstr>PowerPoint Presentation</vt:lpstr>
      <vt:lpstr>PowerPoint Presentation</vt:lpstr>
      <vt:lpstr>Languages</vt:lpstr>
      <vt:lpstr>PowerPoint Presentation</vt:lpstr>
      <vt:lpstr>Logic language</vt:lpstr>
      <vt:lpstr>Syntax, Semantics and Rules</vt:lpstr>
      <vt:lpstr>Syntax versus semantics</vt:lpstr>
      <vt:lpstr>Logic</vt:lpstr>
      <vt:lpstr>Syntax</vt:lpstr>
      <vt:lpstr>Syntax</vt:lpstr>
      <vt:lpstr>Semantics - Model</vt:lpstr>
      <vt:lpstr>Semantics – Interpretation function</vt:lpstr>
      <vt:lpstr>PowerPoint Presentation</vt:lpstr>
      <vt:lpstr>PowerPoint Presentation</vt:lpstr>
      <vt:lpstr>PowerPoint Presentation</vt:lpstr>
      <vt:lpstr>Knowledge base</vt:lpstr>
      <vt:lpstr>PowerPoint Presentation</vt:lpstr>
      <vt:lpstr>Entailment</vt:lpstr>
      <vt:lpstr>Contradiction</vt:lpstr>
      <vt:lpstr>Contingency</vt:lpstr>
      <vt:lpstr>Tell operation</vt:lpstr>
      <vt:lpstr>Ask operation</vt:lpstr>
      <vt:lpstr>Satisfiability</vt:lpstr>
      <vt:lpstr>Inference rules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Onaiza Maqbool</dc:creator>
  <cp:lastModifiedBy>Onaiza Maqbool</cp:lastModifiedBy>
  <cp:revision>29</cp:revision>
  <cp:lastPrinted>2025-12-23T08:05:51Z</cp:lastPrinted>
  <dcterms:created xsi:type="dcterms:W3CDTF">1601-01-01T00:00:00Z</dcterms:created>
  <dcterms:modified xsi:type="dcterms:W3CDTF">2025-12-28T09:57:35Z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