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76" r:id="rId5"/>
    <p:sldId id="277" r:id="rId6"/>
    <p:sldId id="278" r:id="rId7"/>
    <p:sldId id="279" r:id="rId8"/>
    <p:sldId id="1381" r:id="rId9"/>
    <p:sldId id="1039" r:id="rId10"/>
    <p:sldId id="1382" r:id="rId11"/>
    <p:sldId id="290" r:id="rId12"/>
    <p:sldId id="332" r:id="rId13"/>
    <p:sldId id="329" r:id="rId14"/>
    <p:sldId id="322" r:id="rId15"/>
    <p:sldId id="320" r:id="rId16"/>
    <p:sldId id="321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60" Type="http://schemas.openxmlformats.org/officeDocument/2006/relationships/viewProps" Target="viewProps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28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8088" y="700088"/>
            <a:ext cx="4598987" cy="34496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33:notes"/>
          <p:cNvSpPr txBox="1">
            <a:spLocks noGrp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3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8088" y="700088"/>
            <a:ext cx="4598987" cy="34496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36:notes"/>
          <p:cNvSpPr txBox="1">
            <a:spLocks noGrp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6A6734F1-45A1-49A1-8AD5-6C638979254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33" tIns="46417" rIns="92833" bIns="46417" anchor="b"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830E55A1-41DB-4CAC-BA77-BB74FD2DD109}" type="slidenum">
              <a:rPr lang="en-US" altLang="en-US" sz="1200">
                <a:latin typeface="Times New Roman" panose="02020603050405020304" pitchFamily="18" charset="0"/>
              </a:rPr>
              <a:pPr algn="r"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C6437E03-9BC8-4C8C-B532-C3877550A6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BE576B-7DC6-499B-B657-F359DF46A9E4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15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Euclidean distance measures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Carry out hierarchical clustering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Introduce Search-based models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>
            <a:spLocks noGrp="1"/>
          </p:cNvSpPr>
          <p:nvPr>
            <p:ph type="sldNum" idx="12"/>
          </p:nvPr>
        </p:nvSpPr>
        <p:spPr>
          <a:xfrm>
            <a:off x="1905000" y="6251575"/>
            <a:ext cx="5867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2" name="Google Shape;262;p28"/>
          <p:cNvSpPr txBox="1">
            <a:spLocks noGrp="1"/>
          </p:cNvSpPr>
          <p:nvPr>
            <p:ph type="title"/>
          </p:nvPr>
        </p:nvSpPr>
        <p:spPr>
          <a:xfrm>
            <a:off x="571500" y="850949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Matrix and Dissimilarity Matrix</a:t>
            </a:r>
            <a:endParaRPr dirty="0"/>
          </a:p>
        </p:txBody>
      </p:sp>
      <p:sp>
        <p:nvSpPr>
          <p:cNvPr id="263" name="Google Shape;263;p28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396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>
                <a:solidFill>
                  <a:schemeClr val="hlink"/>
                </a:solidFill>
              </a:rPr>
              <a:t>Data matrix</a:t>
            </a:r>
            <a:endParaRPr dirty="0"/>
          </a:p>
          <a:p>
            <a:pPr marL="908050" lvl="1" indent="-436563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</a:pPr>
            <a:r>
              <a:rPr lang="en-US" sz="2400" i="1" dirty="0"/>
              <a:t>n </a:t>
            </a:r>
            <a:r>
              <a:rPr lang="en-US" sz="2400" dirty="0"/>
              <a:t>data points with </a:t>
            </a:r>
            <a:r>
              <a:rPr lang="en-US" sz="2400" i="1" dirty="0"/>
              <a:t>p</a:t>
            </a:r>
            <a:r>
              <a:rPr lang="en-US" sz="2400" dirty="0"/>
              <a:t> dimensions</a:t>
            </a:r>
            <a:endParaRPr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>
                <a:solidFill>
                  <a:schemeClr val="hlink"/>
                </a:solidFill>
              </a:rPr>
              <a:t>Dissimilarity matrix</a:t>
            </a:r>
            <a:endParaRPr dirty="0"/>
          </a:p>
          <a:p>
            <a:pPr marL="908050" lvl="1" indent="-436563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</a:pPr>
            <a:r>
              <a:rPr lang="en-US" sz="2400" i="1" dirty="0"/>
              <a:t>n</a:t>
            </a:r>
            <a:r>
              <a:rPr lang="en-US" sz="2400" dirty="0"/>
              <a:t> data points, but registers only the distance </a:t>
            </a:r>
            <a:endParaRPr dirty="0"/>
          </a:p>
          <a:p>
            <a:pPr marL="908050" lvl="1" indent="-436563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A triangular matrix</a:t>
            </a:r>
            <a:endParaRPr dirty="0"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3710" y="1905000"/>
            <a:ext cx="3124200" cy="205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0885" y="4541886"/>
            <a:ext cx="3429000" cy="1970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sldNum" idx="12"/>
          </p:nvPr>
        </p:nvSpPr>
        <p:spPr>
          <a:xfrm>
            <a:off x="1905000" y="6251575"/>
            <a:ext cx="5867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4" name="Google Shape;314;p33"/>
          <p:cNvSpPr txBox="1">
            <a:spLocks noGrp="1"/>
          </p:cNvSpPr>
          <p:nvPr>
            <p:ph type="title"/>
          </p:nvPr>
        </p:nvSpPr>
        <p:spPr>
          <a:xfrm>
            <a:off x="152400" y="712984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200" dirty="0"/>
            </a:br>
            <a:r>
              <a:rPr lang="en-US" sz="3200" dirty="0"/>
              <a:t>Data Matrix and Dissimilarity Matrix</a:t>
            </a:r>
            <a:endParaRPr dirty="0"/>
          </a:p>
        </p:txBody>
      </p:sp>
      <p:graphicFrame>
        <p:nvGraphicFramePr>
          <p:cNvPr id="315" name="Google Shape;315;p33"/>
          <p:cNvGraphicFramePr/>
          <p:nvPr/>
        </p:nvGraphicFramePr>
        <p:xfrm>
          <a:off x="4698206" y="2166339"/>
          <a:ext cx="2947987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47987" imgH="1581150" progId="Excel.Sheet.8">
                  <p:embed/>
                </p:oleObj>
              </mc:Choice>
              <mc:Fallback>
                <p:oleObj r:id="rId3" imgW="2947987" imgH="1581150" progId="Excel.Sheet.8">
                  <p:embed/>
                  <p:pic>
                    <p:nvPicPr>
                      <p:cNvPr id="315" name="Google Shape;315;p3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4698206" y="2166339"/>
                        <a:ext cx="2947987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" name="Google Shape;316;p33"/>
          <p:cNvSpPr txBox="1"/>
          <p:nvPr/>
        </p:nvSpPr>
        <p:spPr>
          <a:xfrm>
            <a:off x="3771899" y="3903616"/>
            <a:ext cx="4800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Dissimilarity Matrix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(with </a:t>
            </a:r>
            <a:r>
              <a:rPr lang="en-US" sz="2000" dirty="0">
                <a:solidFill>
                  <a:schemeClr val="dk2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Euclidean Distance)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7" name="Google Shape;317;p33"/>
          <p:cNvGraphicFramePr/>
          <p:nvPr>
            <p:extLst>
              <p:ext uri="{D42A27DB-BD31-4B8C-83A1-F6EECF244321}">
                <p14:modId xmlns:p14="http://schemas.microsoft.com/office/powerpoint/2010/main" val="4012131928"/>
              </p:ext>
            </p:extLst>
          </p:nvPr>
        </p:nvGraphicFramePr>
        <p:xfrm>
          <a:off x="3886200" y="4900613"/>
          <a:ext cx="4906963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906962" imgH="1365250" progId="Excel.Sheet.8">
                  <p:embed/>
                </p:oleObj>
              </mc:Choice>
              <mc:Fallback>
                <p:oleObj name="Worksheet" r:id="rId5" imgW="4906962" imgH="1365250" progId="Excel.Sheet.8">
                  <p:embed/>
                  <p:pic>
                    <p:nvPicPr>
                      <p:cNvPr id="317" name="Google Shape;317;p3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886200" y="4900613"/>
                        <a:ext cx="4906963" cy="154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" name="Google Shape;318;p33"/>
          <p:cNvSpPr txBox="1"/>
          <p:nvPr/>
        </p:nvSpPr>
        <p:spPr>
          <a:xfrm>
            <a:off x="4533900" y="1779880"/>
            <a:ext cx="327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 Matrix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9" name="Google Shape;319;p33"/>
          <p:cNvGraphicFramePr/>
          <p:nvPr/>
        </p:nvGraphicFramePr>
        <p:xfrm>
          <a:off x="350838" y="1695645"/>
          <a:ext cx="3306762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306762" imgH="4191000" progId="SmartDraw.2">
                  <p:embed/>
                </p:oleObj>
              </mc:Choice>
              <mc:Fallback>
                <p:oleObj r:id="rId7" imgW="3306762" imgH="4191000" progId="SmartDraw.2">
                  <p:embed/>
                  <p:pic>
                    <p:nvPicPr>
                      <p:cNvPr id="319" name="Google Shape;319;p33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50838" y="1695645"/>
                        <a:ext cx="3306762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8B6D815-9D6D-CCB7-5C75-03DD18DBD227}"/>
              </a:ext>
            </a:extLst>
          </p:cNvPr>
          <p:cNvSpPr/>
          <p:nvPr/>
        </p:nvSpPr>
        <p:spPr>
          <a:xfrm>
            <a:off x="5413829" y="5602790"/>
            <a:ext cx="420914" cy="173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8A70-C692-8DF4-8773-6DCF4D3C8ABD}"/>
              </a:ext>
            </a:extLst>
          </p:cNvPr>
          <p:cNvSpPr/>
          <p:nvPr/>
        </p:nvSpPr>
        <p:spPr>
          <a:xfrm>
            <a:off x="5363030" y="5885121"/>
            <a:ext cx="420914" cy="173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74D8B-C28E-52A3-5913-234D8D0D1209}"/>
              </a:ext>
            </a:extLst>
          </p:cNvPr>
          <p:cNvSpPr/>
          <p:nvPr/>
        </p:nvSpPr>
        <p:spPr>
          <a:xfrm>
            <a:off x="5413829" y="6198263"/>
            <a:ext cx="420914" cy="173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042B10-0C20-36B1-5B2F-68CED0484F4E}"/>
              </a:ext>
            </a:extLst>
          </p:cNvPr>
          <p:cNvSpPr/>
          <p:nvPr/>
        </p:nvSpPr>
        <p:spPr>
          <a:xfrm>
            <a:off x="6339681" y="5885120"/>
            <a:ext cx="420914" cy="173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797BA-2002-6152-B502-6CA173EADDA8}"/>
              </a:ext>
            </a:extLst>
          </p:cNvPr>
          <p:cNvSpPr/>
          <p:nvPr/>
        </p:nvSpPr>
        <p:spPr>
          <a:xfrm>
            <a:off x="6339681" y="6198263"/>
            <a:ext cx="420914" cy="173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BF3BAF-152D-7A7D-BE62-C4C80CC6B13E}"/>
              </a:ext>
            </a:extLst>
          </p:cNvPr>
          <p:cNvSpPr/>
          <p:nvPr/>
        </p:nvSpPr>
        <p:spPr>
          <a:xfrm>
            <a:off x="7389586" y="6198262"/>
            <a:ext cx="420914" cy="173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"/>
          <p:cNvSpPr txBox="1">
            <a:spLocks noGrp="1"/>
          </p:cNvSpPr>
          <p:nvPr>
            <p:ph type="sldNum" idx="12"/>
          </p:nvPr>
        </p:nvSpPr>
        <p:spPr>
          <a:xfrm>
            <a:off x="1943100" y="6632575"/>
            <a:ext cx="5867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p34"/>
          <p:cNvSpPr txBox="1">
            <a:spLocks noGrp="1"/>
          </p:cNvSpPr>
          <p:nvPr>
            <p:ph type="title"/>
          </p:nvPr>
        </p:nvSpPr>
        <p:spPr>
          <a:xfrm>
            <a:off x="0" y="780143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Distance on Numeric Data: </a:t>
            </a:r>
            <a:r>
              <a:rPr lang="en-US" sz="3200" dirty="0" err="1"/>
              <a:t>Minkowski</a:t>
            </a:r>
            <a:r>
              <a:rPr lang="en-US" sz="3200" dirty="0"/>
              <a:t> Distance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body" idx="1"/>
          </p:nvPr>
        </p:nvSpPr>
        <p:spPr>
          <a:xfrm>
            <a:off x="342900" y="1828800"/>
            <a:ext cx="84582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□"/>
            </a:pPr>
            <a:r>
              <a:rPr lang="en-US" i="1" dirty="0" err="1">
                <a:solidFill>
                  <a:schemeClr val="hlink"/>
                </a:solidFill>
              </a:rPr>
              <a:t>Minkowski</a:t>
            </a:r>
            <a:r>
              <a:rPr lang="en-US" i="1" dirty="0">
                <a:solidFill>
                  <a:schemeClr val="hlink"/>
                </a:solidFill>
              </a:rPr>
              <a:t> distance</a:t>
            </a:r>
            <a:r>
              <a:rPr lang="en-US" dirty="0"/>
              <a:t>: A popular distance measure</a:t>
            </a:r>
            <a:endParaRPr sz="1800" dirty="0"/>
          </a:p>
          <a:p>
            <a:pPr marL="381000" lvl="0" indent="-228600" algn="l" rtl="0"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838200" lvl="1" indent="-381000" algn="l" rtl="0">
              <a:spcBef>
                <a:spcPts val="120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000" dirty="0"/>
          </a:p>
          <a:p>
            <a:pPr marL="838200" lvl="1" indent="-381000" algn="l" rtl="0">
              <a:spcBef>
                <a:spcPts val="12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000" dirty="0"/>
              <a:t>where  </a:t>
            </a:r>
            <a:r>
              <a:rPr lang="en-US" sz="2000" i="1" dirty="0" err="1"/>
              <a:t>i</a:t>
            </a:r>
            <a:r>
              <a:rPr lang="en-US" sz="2000" dirty="0"/>
              <a:t> = (</a:t>
            </a:r>
            <a:r>
              <a:rPr lang="en-US" sz="2000" i="1" dirty="0"/>
              <a:t>x</a:t>
            </a:r>
            <a:r>
              <a:rPr lang="en-US" sz="2000" baseline="-25000" dirty="0"/>
              <a:t>i1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baseline="-25000" dirty="0"/>
              <a:t>i2</a:t>
            </a:r>
            <a:r>
              <a:rPr lang="en-US" sz="2000" dirty="0"/>
              <a:t>, …, </a:t>
            </a:r>
            <a:r>
              <a:rPr lang="en-US" sz="2000" i="1" dirty="0" err="1"/>
              <a:t>x</a:t>
            </a:r>
            <a:r>
              <a:rPr lang="en-US" sz="2000" baseline="-25000" dirty="0" err="1"/>
              <a:t>ip</a:t>
            </a:r>
            <a:r>
              <a:rPr lang="en-US" sz="2000" dirty="0"/>
              <a:t>) and</a:t>
            </a:r>
            <a:r>
              <a:rPr lang="en-US" sz="2000" i="1" dirty="0"/>
              <a:t> j</a:t>
            </a:r>
            <a:r>
              <a:rPr lang="en-US" sz="2000" dirty="0"/>
              <a:t> = (</a:t>
            </a:r>
            <a:r>
              <a:rPr lang="en-US" sz="2000" i="1" dirty="0"/>
              <a:t>x</a:t>
            </a:r>
            <a:r>
              <a:rPr lang="en-US" sz="2000" baseline="-25000" dirty="0"/>
              <a:t>j1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baseline="-25000" dirty="0"/>
              <a:t>j2</a:t>
            </a:r>
            <a:r>
              <a:rPr lang="en-US" sz="2000" dirty="0"/>
              <a:t>, …, </a:t>
            </a:r>
            <a:r>
              <a:rPr lang="en-US" sz="2000" i="1" dirty="0" err="1"/>
              <a:t>x</a:t>
            </a:r>
            <a:r>
              <a:rPr lang="en-US" sz="2000" baseline="-25000" dirty="0" err="1"/>
              <a:t>jp</a:t>
            </a:r>
            <a:r>
              <a:rPr lang="en-US" sz="2000" dirty="0"/>
              <a:t>) are two </a:t>
            </a:r>
            <a:r>
              <a:rPr lang="en-US" sz="2000" i="1" dirty="0"/>
              <a:t>p</a:t>
            </a:r>
            <a:r>
              <a:rPr lang="en-US" sz="2000" dirty="0"/>
              <a:t>-dimensional data objects, and </a:t>
            </a:r>
            <a:r>
              <a:rPr lang="en-US" sz="2000" i="1" dirty="0"/>
              <a:t>h</a:t>
            </a:r>
            <a:r>
              <a:rPr lang="en-US" sz="2000" dirty="0"/>
              <a:t> is the order (the distance so defined is also called L-</a:t>
            </a:r>
            <a:r>
              <a:rPr lang="en-US" sz="2000" i="1" dirty="0"/>
              <a:t>h</a:t>
            </a:r>
            <a:r>
              <a:rPr lang="en-US" sz="2000" dirty="0"/>
              <a:t> norm)</a:t>
            </a:r>
            <a:endParaRPr sz="1600" dirty="0"/>
          </a:p>
        </p:txBody>
      </p:sp>
      <p:pic>
        <p:nvPicPr>
          <p:cNvPr id="328" name="Google Shape;328;p34" descr="eqminkowsk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743" y="2310493"/>
            <a:ext cx="7055757" cy="751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Special Cases of Minkowski Distance</a:t>
            </a:r>
            <a:endParaRPr/>
          </a:p>
        </p:txBody>
      </p:sp>
      <p:sp>
        <p:nvSpPr>
          <p:cNvPr id="336" name="Google Shape;336;p35"/>
          <p:cNvSpPr txBox="1">
            <a:spLocks noGrp="1"/>
          </p:cNvSpPr>
          <p:nvPr>
            <p:ph type="body" idx="1"/>
          </p:nvPr>
        </p:nvSpPr>
        <p:spPr>
          <a:xfrm>
            <a:off x="304800" y="1676400"/>
            <a:ext cx="80772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000"/>
              <a:buChar char="□"/>
            </a:pP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= 1:  Manhattan (city block, L</a:t>
            </a:r>
            <a:r>
              <a:rPr 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norm) distance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e.g., the Hamming distance: the number of bits that are different between two binary vectors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8050" lvl="1" indent="-3095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69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i="1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69900" lvl="0" indent="-469900" algn="l" rtl="0"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= 2:  (L</a:t>
            </a:r>
            <a:r>
              <a:rPr 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norm) Euclidean distance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93913" lvl="4" indent="-309563" algn="l" rtl="0">
              <a:spcBef>
                <a:spcPts val="350"/>
              </a:spcBef>
              <a:spcAft>
                <a:spcPts val="0"/>
              </a:spcAft>
              <a:buSzPts val="1400"/>
              <a:buNone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69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i="1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69900" lvl="0" indent="-469900" algn="l" rtl="0"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→ ∞.  “supremum” 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</a:t>
            </a:r>
            <a:r>
              <a:rPr lang="en-US" sz="200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max</a:t>
            </a:r>
            <a:r>
              <a:rPr 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norm, L</a:t>
            </a:r>
            <a:r>
              <a:rPr 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∞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norm) distance.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This is the maximum difference between any component (attribute) of the vectors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8050" lvl="1" indent="-3095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337" name="Google Shape;33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3750" y="3836988"/>
            <a:ext cx="5005388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400" y="2895600"/>
            <a:ext cx="4114800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65275" y="5470526"/>
            <a:ext cx="6019800" cy="9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>
            <a:spLocks noGrp="1"/>
          </p:cNvSpPr>
          <p:nvPr>
            <p:ph type="sldNum" idx="12"/>
          </p:nvPr>
        </p:nvSpPr>
        <p:spPr>
          <a:xfrm>
            <a:off x="1981200" y="6735762"/>
            <a:ext cx="5867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7</a:t>
            </a:fld>
            <a:endParaRPr sz="1200">
              <a:solidFill>
                <a:schemeClr val="dk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  <a:sym typeface="Tahoma"/>
            </a:endParaRPr>
          </a:p>
        </p:txBody>
      </p:sp>
      <p:sp>
        <p:nvSpPr>
          <p:cNvPr id="346" name="Google Shape;346;p3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Minkowski</a:t>
            </a:r>
            <a:r>
              <a:rPr lang="en-US" dirty="0"/>
              <a:t> Distance</a:t>
            </a:r>
            <a:endParaRPr dirty="0"/>
          </a:p>
        </p:txBody>
      </p:sp>
      <p:graphicFrame>
        <p:nvGraphicFramePr>
          <p:cNvPr id="348" name="Google Shape;348;p36"/>
          <p:cNvGraphicFramePr/>
          <p:nvPr/>
        </p:nvGraphicFramePr>
        <p:xfrm>
          <a:off x="381000" y="1703387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62275" imgH="1363663" progId="Excel.Sheet.8">
                  <p:embed/>
                </p:oleObj>
              </mc:Choice>
              <mc:Fallback>
                <p:oleObj r:id="rId3" imgW="2962275" imgH="1363663" progId="Excel.Sheet.8">
                  <p:embed/>
                  <p:pic>
                    <p:nvPicPr>
                      <p:cNvPr id="348" name="Google Shape;348;p3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1703387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" name="Google Shape;349;p36"/>
          <p:cNvGraphicFramePr/>
          <p:nvPr/>
        </p:nvGraphicFramePr>
        <p:xfrm>
          <a:off x="3859893" y="1959901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948238" imgH="1320800" progId="Excel.Sheet.8">
                  <p:embed/>
                </p:oleObj>
              </mc:Choice>
              <mc:Fallback>
                <p:oleObj r:id="rId5" imgW="4948238" imgH="1320800" progId="Excel.Sheet.8">
                  <p:embed/>
                  <p:pic>
                    <p:nvPicPr>
                      <p:cNvPr id="349" name="Google Shape;349;p3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3859893" y="1959901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" name="Google Shape;350;p36"/>
          <p:cNvGraphicFramePr/>
          <p:nvPr/>
        </p:nvGraphicFramePr>
        <p:xfrm>
          <a:off x="3859893" y="3616589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948238" imgH="1320800" progId="Excel.Sheet.8">
                  <p:embed/>
                </p:oleObj>
              </mc:Choice>
              <mc:Fallback>
                <p:oleObj r:id="rId7" imgW="4948238" imgH="1320800" progId="Excel.Sheet.8">
                  <p:embed/>
                  <p:pic>
                    <p:nvPicPr>
                      <p:cNvPr id="350" name="Google Shape;350;p36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3859893" y="3616589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" name="Google Shape;351;p36"/>
          <p:cNvGraphicFramePr/>
          <p:nvPr/>
        </p:nvGraphicFramePr>
        <p:xfrm>
          <a:off x="3859213" y="5273675"/>
          <a:ext cx="4872037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4872038" imgH="1374775" progId="Excel.Sheet.8">
                  <p:embed/>
                </p:oleObj>
              </mc:Choice>
              <mc:Fallback>
                <p:oleObj name="Worksheet" r:id="rId9" imgW="4872038" imgH="1374775" progId="Excel.Sheet.8">
                  <p:embed/>
                  <p:pic>
                    <p:nvPicPr>
                      <p:cNvPr id="351" name="Google Shape;351;p36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859213" y="5273675"/>
                        <a:ext cx="4872037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" name="Google Shape;352;p36"/>
          <p:cNvSpPr/>
          <p:nvPr/>
        </p:nvSpPr>
        <p:spPr>
          <a:xfrm>
            <a:off x="3745707" y="1624013"/>
            <a:ext cx="257651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Manhattan (L</a:t>
            </a:r>
            <a:r>
              <a:rPr lang="en-US" sz="2000" baseline="-25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1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3859893" y="3250397"/>
            <a:ext cx="233203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Euclidean (L</a:t>
            </a:r>
            <a:r>
              <a:rPr lang="en-US" sz="2000" baseline="-25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3745707" y="4895887"/>
            <a:ext cx="194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Supremum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5" name="Google Shape;355;p36"/>
          <p:cNvGraphicFramePr/>
          <p:nvPr/>
        </p:nvGraphicFramePr>
        <p:xfrm>
          <a:off x="341313" y="3303587"/>
          <a:ext cx="300672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006725" imgH="3810000" progId="SmartDraw.2">
                  <p:embed/>
                </p:oleObj>
              </mc:Choice>
              <mc:Fallback>
                <p:oleObj r:id="rId11" imgW="3006725" imgH="3810000" progId="SmartDraw.2">
                  <p:embed/>
                  <p:pic>
                    <p:nvPicPr>
                      <p:cNvPr id="355" name="Google Shape;355;p36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/>
                      <a:stretch/>
                    </p:blipFill>
                    <p:spPr>
                      <a:xfrm>
                        <a:off x="341313" y="3303587"/>
                        <a:ext cx="3006725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EF07DF7-9896-7074-9526-73D148BA9E63}"/>
              </a:ext>
            </a:extLst>
          </p:cNvPr>
          <p:cNvSpPr/>
          <p:nvPr/>
        </p:nvSpPr>
        <p:spPr>
          <a:xfrm flipV="1">
            <a:off x="5181600" y="5853338"/>
            <a:ext cx="659607" cy="23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824BA9-F149-0761-38EB-059FB6D91D50}"/>
              </a:ext>
            </a:extLst>
          </p:cNvPr>
          <p:cNvSpPr/>
          <p:nvPr/>
        </p:nvSpPr>
        <p:spPr>
          <a:xfrm>
            <a:off x="5334000" y="6083526"/>
            <a:ext cx="507207" cy="7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C65E6-65C6-1C73-C573-118D8F291B10}"/>
              </a:ext>
            </a:extLst>
          </p:cNvPr>
          <p:cNvSpPr/>
          <p:nvPr/>
        </p:nvSpPr>
        <p:spPr>
          <a:xfrm flipV="1">
            <a:off x="5181600" y="6122420"/>
            <a:ext cx="659607" cy="23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6ECA69-AA94-C969-AE43-B56DAACD34A4}"/>
              </a:ext>
            </a:extLst>
          </p:cNvPr>
          <p:cNvSpPr/>
          <p:nvPr/>
        </p:nvSpPr>
        <p:spPr>
          <a:xfrm flipV="1">
            <a:off x="5181599" y="6368320"/>
            <a:ext cx="659607" cy="23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BC1A88-6CD4-9CED-A3A1-2A87456D1527}"/>
              </a:ext>
            </a:extLst>
          </p:cNvPr>
          <p:cNvSpPr/>
          <p:nvPr/>
        </p:nvSpPr>
        <p:spPr>
          <a:xfrm flipV="1">
            <a:off x="5033963" y="2536058"/>
            <a:ext cx="659607" cy="23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22834-073D-EA76-17E7-58FD40045FF4}"/>
              </a:ext>
            </a:extLst>
          </p:cNvPr>
          <p:cNvSpPr/>
          <p:nvPr/>
        </p:nvSpPr>
        <p:spPr>
          <a:xfrm flipV="1">
            <a:off x="5062595" y="2781958"/>
            <a:ext cx="659607" cy="23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E26E7-5B3D-8FEE-59F7-449053F6DC2B}"/>
              </a:ext>
            </a:extLst>
          </p:cNvPr>
          <p:cNvSpPr/>
          <p:nvPr/>
        </p:nvSpPr>
        <p:spPr>
          <a:xfrm flipV="1">
            <a:off x="5004196" y="2959625"/>
            <a:ext cx="659607" cy="23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DE98F21-DB2A-4FDC-B4D6-1A1990BBDE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5260" y="674204"/>
            <a:ext cx="57912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>
                <a:cs typeface="Tahoma" panose="020B0604030504040204" pitchFamily="34" charset="0"/>
                <a:sym typeface="Symbol" panose="05050102010706020507" pitchFamily="18" charset="2"/>
              </a:rPr>
              <a:t>Distance between Clusters</a:t>
            </a:r>
            <a:endParaRPr lang="en-US" altLang="en-US" sz="3200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AB9E4AB-C657-44BB-941B-AD9BD1F6699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057400"/>
            <a:ext cx="8458200" cy="4419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cs typeface="Tahoma" panose="020B0604030504040204" pitchFamily="34" charset="0"/>
                <a:sym typeface="Symbol" panose="05050102010706020507" pitchFamily="18" charset="2"/>
              </a:rPr>
              <a:t>Single link: Based on Minimum distance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>
                <a:cs typeface="Tahoma" panose="020B0604030504040204" pitchFamily="34" charset="0"/>
                <a:sym typeface="Symbol" panose="05050102010706020507" pitchFamily="18" charset="2"/>
              </a:rPr>
              <a:t>Complete link: Based on </a:t>
            </a:r>
            <a:r>
              <a:rPr lang="en-US" altLang="en-US">
                <a:cs typeface="Tahoma" panose="020B0604030504040204" pitchFamily="34" charset="0"/>
                <a:sym typeface="Symbol" panose="05050102010706020507" pitchFamily="18" charset="2"/>
              </a:rPr>
              <a:t>Maximum distance</a:t>
            </a:r>
            <a:endParaRPr lang="en-US" altLang="en-US" sz="1800" dirty="0">
              <a:cs typeface="Tahoma" panose="020B0604030504040204" pitchFamily="34" charset="0"/>
              <a:sym typeface="Symbol" panose="05050102010706020507" pitchFamily="18" charset="2"/>
            </a:endParaRPr>
          </a:p>
        </p:txBody>
      </p:sp>
      <p:grpSp>
        <p:nvGrpSpPr>
          <p:cNvPr id="30724" name="Group 45">
            <a:extLst>
              <a:ext uri="{FF2B5EF4-FFF2-40B4-BE49-F238E27FC236}">
                <a16:creationId xmlns:a16="http://schemas.microsoft.com/office/drawing/2014/main" id="{4E09B6E7-F36D-44E4-9764-21AA12ABEB3C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296827"/>
            <a:ext cx="914400" cy="1066800"/>
            <a:chOff x="6096000" y="152400"/>
            <a:chExt cx="914400" cy="1066800"/>
          </a:xfrm>
        </p:grpSpPr>
        <p:grpSp>
          <p:nvGrpSpPr>
            <p:cNvPr id="30746" name="Group 38">
              <a:extLst>
                <a:ext uri="{FF2B5EF4-FFF2-40B4-BE49-F238E27FC236}">
                  <a16:creationId xmlns:a16="http://schemas.microsoft.com/office/drawing/2014/main" id="{D81E23F6-1222-417E-BE5F-FCCB1FA92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152400"/>
              <a:ext cx="914400" cy="1066800"/>
              <a:chOff x="6096000" y="152400"/>
              <a:chExt cx="914400" cy="10668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189188C-F551-4391-BEAC-BCB1CB76BE49}"/>
                  </a:ext>
                </a:extLst>
              </p:cNvPr>
              <p:cNvSpPr/>
              <p:nvPr/>
            </p:nvSpPr>
            <p:spPr bwMode="auto">
              <a:xfrm>
                <a:off x="6096000" y="152400"/>
                <a:ext cx="914400" cy="10668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b="1">
                  <a:ln w="18000">
                    <a:solidFill>
                      <a:schemeClr val="accent2">
                        <a:satMod val="140000"/>
                      </a:schemeClr>
                    </a:solidFill>
                    <a:prstDash val="solid"/>
                    <a:miter lim="800000"/>
                  </a:ln>
                  <a:noFill/>
                  <a:effectLst>
                    <a:outerShdw blurRad="25500" dist="23000" dir="7020000" algn="tl">
                      <a:srgbClr val="000000">
                        <a:alpha val="50000"/>
                      </a:srgbClr>
                    </a:outerShdw>
                  </a:effectLst>
                  <a:latin typeface="Tahoma" pitchFamily="34" charset="0"/>
                </a:endParaRPr>
              </a:p>
            </p:txBody>
          </p:sp>
          <p:sp>
            <p:nvSpPr>
              <p:cNvPr id="30749" name="Oval 8">
                <a:extLst>
                  <a:ext uri="{FF2B5EF4-FFF2-40B4-BE49-F238E27FC236}">
                    <a16:creationId xmlns:a16="http://schemas.microsoft.com/office/drawing/2014/main" id="{0B1D920A-2E9A-429D-981B-AAB698490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4600" y="3048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0" name="Oval 9">
                <a:extLst>
                  <a:ext uri="{FF2B5EF4-FFF2-40B4-BE49-F238E27FC236}">
                    <a16:creationId xmlns:a16="http://schemas.microsoft.com/office/drawing/2014/main" id="{7743F544-CDD3-4224-B5B3-90DE3189D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0" y="4572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1" name="Oval 10">
                <a:extLst>
                  <a:ext uri="{FF2B5EF4-FFF2-40B4-BE49-F238E27FC236}">
                    <a16:creationId xmlns:a16="http://schemas.microsoft.com/office/drawing/2014/main" id="{1064A114-1D4E-41CF-9717-5D6EF991D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8382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2" name="Oval 11">
                <a:extLst>
                  <a:ext uri="{FF2B5EF4-FFF2-40B4-BE49-F238E27FC236}">
                    <a16:creationId xmlns:a16="http://schemas.microsoft.com/office/drawing/2014/main" id="{860CD022-F5D1-41CA-BC12-E99A4FB04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0" y="6096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3" name="Oval 12">
                <a:extLst>
                  <a:ext uri="{FF2B5EF4-FFF2-40B4-BE49-F238E27FC236}">
                    <a16:creationId xmlns:a16="http://schemas.microsoft.com/office/drawing/2014/main" id="{FB0A4540-CA55-4D76-AA82-F49FD2DE2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7620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4" name="Oval 13">
                <a:extLst>
                  <a:ext uri="{FF2B5EF4-FFF2-40B4-BE49-F238E27FC236}">
                    <a16:creationId xmlns:a16="http://schemas.microsoft.com/office/drawing/2014/main" id="{59239083-65F3-4314-BDE6-571659DE6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4572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5" name="Oval 14">
                <a:extLst>
                  <a:ext uri="{FF2B5EF4-FFF2-40B4-BE49-F238E27FC236}">
                    <a16:creationId xmlns:a16="http://schemas.microsoft.com/office/drawing/2014/main" id="{1940F090-0C4A-497F-B062-8C2A9B30A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3048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6" name="Oval 16">
                <a:extLst>
                  <a:ext uri="{FF2B5EF4-FFF2-40B4-BE49-F238E27FC236}">
                    <a16:creationId xmlns:a16="http://schemas.microsoft.com/office/drawing/2014/main" id="{6950D559-1EDD-4EF2-9D1F-CBE0D1763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1800" y="4572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7" name="Oval 17">
                <a:extLst>
                  <a:ext uri="{FF2B5EF4-FFF2-40B4-BE49-F238E27FC236}">
                    <a16:creationId xmlns:a16="http://schemas.microsoft.com/office/drawing/2014/main" id="{61E563DE-4A51-4E75-90B7-70837C274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0800" y="7620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8" name="Oval 18">
                <a:extLst>
                  <a:ext uri="{FF2B5EF4-FFF2-40B4-BE49-F238E27FC236}">
                    <a16:creationId xmlns:a16="http://schemas.microsoft.com/office/drawing/2014/main" id="{4269ECF2-C7C4-4466-B909-54106D3F4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6096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59" name="Oval 33">
                <a:extLst>
                  <a:ext uri="{FF2B5EF4-FFF2-40B4-BE49-F238E27FC236}">
                    <a16:creationId xmlns:a16="http://schemas.microsoft.com/office/drawing/2014/main" id="{06768CFE-F225-4843-8784-4227861AE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0" y="10668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60" name="Oval 34">
                <a:extLst>
                  <a:ext uri="{FF2B5EF4-FFF2-40B4-BE49-F238E27FC236}">
                    <a16:creationId xmlns:a16="http://schemas.microsoft.com/office/drawing/2014/main" id="{AD74D71E-EAB5-45CB-8F57-0A8621198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0" y="2286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61" name="Oval 35">
                <a:extLst>
                  <a:ext uri="{FF2B5EF4-FFF2-40B4-BE49-F238E27FC236}">
                    <a16:creationId xmlns:a16="http://schemas.microsoft.com/office/drawing/2014/main" id="{595F7D07-7F6B-4C27-981F-A66483AD9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8400" y="9906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762" name="Oval 36">
                <a:extLst>
                  <a:ext uri="{FF2B5EF4-FFF2-40B4-BE49-F238E27FC236}">
                    <a16:creationId xmlns:a16="http://schemas.microsoft.com/office/drawing/2014/main" id="{4D3EB687-26D4-491C-B34B-BE11EA3A2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1800" y="9906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30747" name="TextBox 43">
              <a:extLst>
                <a:ext uri="{FF2B5EF4-FFF2-40B4-BE49-F238E27FC236}">
                  <a16:creationId xmlns:a16="http://schemas.microsoft.com/office/drawing/2014/main" id="{D2EBC986-B1C8-4873-B824-FA1147C33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507481" y="533400"/>
              <a:ext cx="4571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X</a:t>
              </a:r>
            </a:p>
          </p:txBody>
        </p:sp>
      </p:grpSp>
      <p:grpSp>
        <p:nvGrpSpPr>
          <p:cNvPr id="30725" name="Group 46">
            <a:extLst>
              <a:ext uri="{FF2B5EF4-FFF2-40B4-BE49-F238E27FC236}">
                <a16:creationId xmlns:a16="http://schemas.microsoft.com/office/drawing/2014/main" id="{79765C66-BF94-40A9-84E1-3677AC2E4EF9}"/>
              </a:ext>
            </a:extLst>
          </p:cNvPr>
          <p:cNvGrpSpPr>
            <a:grpSpLocks/>
          </p:cNvGrpSpPr>
          <p:nvPr/>
        </p:nvGrpSpPr>
        <p:grpSpPr bwMode="auto">
          <a:xfrm>
            <a:off x="4533900" y="4381837"/>
            <a:ext cx="1066800" cy="838200"/>
            <a:chOff x="7924800" y="304800"/>
            <a:chExt cx="1066800" cy="838200"/>
          </a:xfrm>
        </p:grpSpPr>
        <p:grpSp>
          <p:nvGrpSpPr>
            <p:cNvPr id="30727" name="Group 39">
              <a:extLst>
                <a:ext uri="{FF2B5EF4-FFF2-40B4-BE49-F238E27FC236}">
                  <a16:creationId xmlns:a16="http://schemas.microsoft.com/office/drawing/2014/main" id="{0B22583B-FDB7-4753-9940-4FD40F16C3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304800"/>
              <a:ext cx="1066800" cy="838200"/>
              <a:chOff x="7924800" y="304800"/>
              <a:chExt cx="1066800" cy="8382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0E915BC-9FB5-44D4-AAD4-9C1023CEB29A}"/>
                  </a:ext>
                </a:extLst>
              </p:cNvPr>
              <p:cNvSpPr/>
              <p:nvPr/>
            </p:nvSpPr>
            <p:spPr bwMode="auto">
              <a:xfrm>
                <a:off x="7924800" y="304800"/>
                <a:ext cx="1066800" cy="838200"/>
              </a:xfrm>
              <a:prstGeom prst="ellipse">
                <a:avLst/>
              </a:prstGeom>
              <a:ln>
                <a:solidFill>
                  <a:schemeClr val="tx2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b="1">
                  <a:ln w="18000">
                    <a:solidFill>
                      <a:schemeClr val="accent2">
                        <a:satMod val="140000"/>
                      </a:schemeClr>
                    </a:solidFill>
                    <a:prstDash val="solid"/>
                    <a:miter lim="800000"/>
                  </a:ln>
                  <a:noFill/>
                  <a:effectLst>
                    <a:outerShdw blurRad="25500" dist="23000" dir="7020000" algn="tl">
                      <a:srgbClr val="000000">
                        <a:alpha val="50000"/>
                      </a:srgbClr>
                    </a:outerShdw>
                  </a:effectLst>
                  <a:latin typeface="Tahoma" pitchFamily="34" charset="0"/>
                </a:endParaRPr>
              </a:p>
            </p:txBody>
          </p:sp>
          <p:sp>
            <p:nvSpPr>
              <p:cNvPr id="30730" name="Oval 15">
                <a:extLst>
                  <a:ext uri="{FF2B5EF4-FFF2-40B4-BE49-F238E27FC236}">
                    <a16:creationId xmlns:a16="http://schemas.microsoft.com/office/drawing/2014/main" id="{BBD8C4CD-662E-4E0A-846C-71F88175DC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800" y="6096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1" name="Oval 19">
                <a:extLst>
                  <a:ext uri="{FF2B5EF4-FFF2-40B4-BE49-F238E27FC236}">
                    <a16:creationId xmlns:a16="http://schemas.microsoft.com/office/drawing/2014/main" id="{3BF74A88-93A9-4E9F-BF10-C74776AD7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58200" y="9144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2" name="Oval 20">
                <a:extLst>
                  <a:ext uri="{FF2B5EF4-FFF2-40B4-BE49-F238E27FC236}">
                    <a16:creationId xmlns:a16="http://schemas.microsoft.com/office/drawing/2014/main" id="{DCB7ACDA-2977-46C3-8766-F64E717B9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10600" y="5334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3" name="Oval 21">
                <a:extLst>
                  <a:ext uri="{FF2B5EF4-FFF2-40B4-BE49-F238E27FC236}">
                    <a16:creationId xmlns:a16="http://schemas.microsoft.com/office/drawing/2014/main" id="{4E1D7272-2777-40A1-885F-ADA04ADF1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58200" y="7620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4" name="Oval 22">
                <a:extLst>
                  <a:ext uri="{FF2B5EF4-FFF2-40B4-BE49-F238E27FC236}">
                    <a16:creationId xmlns:a16="http://schemas.microsoft.com/office/drawing/2014/main" id="{D641052D-1E55-4F56-BD05-FDAD8B39C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10600" y="3810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5" name="Oval 23">
                <a:extLst>
                  <a:ext uri="{FF2B5EF4-FFF2-40B4-BE49-F238E27FC236}">
                    <a16:creationId xmlns:a16="http://schemas.microsoft.com/office/drawing/2014/main" id="{90E60DAF-8906-47CA-8729-96B96D50C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3400" y="8382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6" name="Oval 24">
                <a:extLst>
                  <a:ext uri="{FF2B5EF4-FFF2-40B4-BE49-F238E27FC236}">
                    <a16:creationId xmlns:a16="http://schemas.microsoft.com/office/drawing/2014/main" id="{0560C019-4427-42C9-B347-DADE2DBDB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800" y="3810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7" name="Oval 25">
                <a:extLst>
                  <a:ext uri="{FF2B5EF4-FFF2-40B4-BE49-F238E27FC236}">
                    <a16:creationId xmlns:a16="http://schemas.microsoft.com/office/drawing/2014/main" id="{A0EC8B53-DAE4-4F26-B0AC-A722EA915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1000" y="5334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8" name="Oval 26">
                <a:extLst>
                  <a:ext uri="{FF2B5EF4-FFF2-40B4-BE49-F238E27FC236}">
                    <a16:creationId xmlns:a16="http://schemas.microsoft.com/office/drawing/2014/main" id="{FD0A2803-70ED-4543-8E35-C0584E13A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58200" y="5334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 b="1">
                  <a:solidFill>
                    <a:srgbClr val="0000FF"/>
                  </a:solidFill>
                </a:endParaRPr>
              </a:p>
            </p:txBody>
          </p:sp>
          <p:sp>
            <p:nvSpPr>
              <p:cNvPr id="30739" name="Oval 27">
                <a:extLst>
                  <a:ext uri="{FF2B5EF4-FFF2-40B4-BE49-F238E27FC236}">
                    <a16:creationId xmlns:a16="http://schemas.microsoft.com/office/drawing/2014/main" id="{EAC71AFE-B827-4745-A94B-AF8C405E4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3400" y="6858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40" name="Oval 28">
                <a:extLst>
                  <a:ext uri="{FF2B5EF4-FFF2-40B4-BE49-F238E27FC236}">
                    <a16:creationId xmlns:a16="http://schemas.microsoft.com/office/drawing/2014/main" id="{30334CB3-E91B-4272-901C-E2F3D5C7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5800" y="8382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41" name="Oval 29">
                <a:extLst>
                  <a:ext uri="{FF2B5EF4-FFF2-40B4-BE49-F238E27FC236}">
                    <a16:creationId xmlns:a16="http://schemas.microsoft.com/office/drawing/2014/main" id="{4E20FDFA-E232-4CC7-B5BE-B21ABFB12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10600" y="9144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42" name="Oval 30">
                <a:extLst>
                  <a:ext uri="{FF2B5EF4-FFF2-40B4-BE49-F238E27FC236}">
                    <a16:creationId xmlns:a16="http://schemas.microsoft.com/office/drawing/2014/main" id="{0865A89E-6750-4B2A-BCF8-1CD9776BD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63000" y="8382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43" name="Oval 31">
                <a:extLst>
                  <a:ext uri="{FF2B5EF4-FFF2-40B4-BE49-F238E27FC236}">
                    <a16:creationId xmlns:a16="http://schemas.microsoft.com/office/drawing/2014/main" id="{1BA365C7-9A4E-4DAF-8820-9C23EDDF3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9200" y="6096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44" name="Oval 32">
                <a:extLst>
                  <a:ext uri="{FF2B5EF4-FFF2-40B4-BE49-F238E27FC236}">
                    <a16:creationId xmlns:a16="http://schemas.microsoft.com/office/drawing/2014/main" id="{CCD7D9F3-84EB-4D84-B427-DFC2DD58C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6800" y="6858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30745" name="Oval 37">
                <a:extLst>
                  <a:ext uri="{FF2B5EF4-FFF2-40B4-BE49-F238E27FC236}">
                    <a16:creationId xmlns:a16="http://schemas.microsoft.com/office/drawing/2014/main" id="{5502E307-7EA4-47E9-85DE-A1E64B1C0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9600" y="990600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30728" name="TextBox 44">
              <a:extLst>
                <a:ext uri="{FF2B5EF4-FFF2-40B4-BE49-F238E27FC236}">
                  <a16:creationId xmlns:a16="http://schemas.microsoft.com/office/drawing/2014/main" id="{9E81DF17-3A7D-4058-ACCA-5B5D03DB2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458200" y="591979"/>
              <a:ext cx="4571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1000"/>
                <a:t>X</a:t>
              </a:r>
            </a:p>
          </p:txBody>
        </p:sp>
      </p:grpSp>
      <p:sp>
        <p:nvSpPr>
          <p:cNvPr id="30726" name="Slide Number Placeholder 47">
            <a:extLst>
              <a:ext uri="{FF2B5EF4-FFF2-40B4-BE49-F238E27FC236}">
                <a16:creationId xmlns:a16="http://schemas.microsoft.com/office/drawing/2014/main" id="{38A0F6F9-7712-439C-BF46-1B4D9A4D70D8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F777E01-A030-47D9-AC96-92A2734535F8}" type="slidenum">
              <a:rPr lang="en-US" altLang="en-US" sz="1200"/>
              <a:pPr algn="r" eaLnBrk="1" hangingPunct="1"/>
              <a:t>8</a:t>
            </a:fld>
            <a:endParaRPr lang="en-US" alt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DC366E4-A7EC-4682-8965-010D3FF2BE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485" y="754777"/>
            <a:ext cx="6835515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Analysis of Hierarchical Clustering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A27DDFA-AF8B-451C-94DE-A3028610F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724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a typeface="SimSun" panose="02010600030101010101" pitchFamily="2" charset="-122"/>
              </a:rPr>
              <a:t>Major weakness of agglomerative clustering methods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u="sng" dirty="0">
                <a:ea typeface="SimSun" panose="02010600030101010101" pitchFamily="2" charset="-122"/>
              </a:rPr>
              <a:t>Can never undo what was done previously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u="sng" dirty="0">
                <a:ea typeface="SimSun" panose="02010600030101010101" pitchFamily="2" charset="-122"/>
              </a:rPr>
              <a:t>Do not scale</a:t>
            </a:r>
            <a:r>
              <a:rPr lang="en-US" altLang="zh-CN" sz="2400" dirty="0">
                <a:ea typeface="SimSun" panose="02010600030101010101" pitchFamily="2" charset="-122"/>
              </a:rPr>
              <a:t> well: time complexity of at least </a:t>
            </a:r>
            <a:r>
              <a:rPr lang="en-US" altLang="zh-CN" sz="2400" i="1" dirty="0">
                <a:ea typeface="SimSun" panose="02010600030101010101" pitchFamily="2" charset="-122"/>
              </a:rPr>
              <a:t>O</a:t>
            </a:r>
            <a:r>
              <a:rPr lang="en-US" altLang="zh-CN" sz="2400" dirty="0">
                <a:ea typeface="SimSun" panose="02010600030101010101" pitchFamily="2" charset="-122"/>
              </a:rPr>
              <a:t>(</a:t>
            </a:r>
            <a:r>
              <a:rPr lang="en-US" altLang="zh-CN" sz="2400" i="1" dirty="0">
                <a:ea typeface="SimSun" panose="02010600030101010101" pitchFamily="2" charset="-122"/>
              </a:rPr>
              <a:t>n</a:t>
            </a:r>
            <a:r>
              <a:rPr lang="en-US" altLang="zh-CN" sz="2400" i="1" baseline="30000" dirty="0">
                <a:ea typeface="SimSun" panose="02010600030101010101" pitchFamily="2" charset="-122"/>
              </a:rPr>
              <a:t>2</a:t>
            </a:r>
            <a:r>
              <a:rPr lang="en-US" altLang="zh-CN" sz="2400" dirty="0">
                <a:ea typeface="SimSun" panose="02010600030101010101" pitchFamily="2" charset="-122"/>
              </a:rPr>
              <a:t>), where </a:t>
            </a:r>
            <a:r>
              <a:rPr lang="en-US" altLang="zh-CN" sz="2400" i="1" dirty="0">
                <a:ea typeface="SimSun" panose="02010600030101010101" pitchFamily="2" charset="-122"/>
              </a:rPr>
              <a:t>n</a:t>
            </a:r>
            <a:r>
              <a:rPr lang="en-US" altLang="zh-CN" sz="2400" dirty="0">
                <a:ea typeface="SimSun" panose="02010600030101010101" pitchFamily="2" charset="-122"/>
              </a:rPr>
              <a:t> is the number of total objects</a:t>
            </a:r>
          </a:p>
        </p:txBody>
      </p:sp>
      <p:sp>
        <p:nvSpPr>
          <p:cNvPr id="32772" name="Slide Number Placeholder 6">
            <a:extLst>
              <a:ext uri="{FF2B5EF4-FFF2-40B4-BE49-F238E27FC236}">
                <a16:creationId xmlns:a16="http://schemas.microsoft.com/office/drawing/2014/main" id="{F8074F01-6D92-49AE-A976-21CC5F0B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F4D84366-7520-4AC8-B13A-1AE6DABFBE69}" type="slidenum">
              <a:rPr lang="en-US" altLang="en-US" smtClean="0"/>
              <a:pPr eaLnBrk="1" hangingPunct="1"/>
              <a:t>9</a:t>
            </a:fld>
            <a:endParaRPr lang="en-US" alt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D562-6B21-93B4-58FD-06FC2DBB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CC12A-7074-1246-695B-F34C25568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sz="3600" dirty="0"/>
          </a:p>
          <a:p>
            <a:pPr marL="114300" indent="0">
              <a:buNone/>
            </a:pPr>
            <a:endParaRPr lang="en-US" sz="3600" dirty="0"/>
          </a:p>
          <a:p>
            <a:pPr marL="114300" indent="0" algn="ctr">
              <a:buNone/>
            </a:pPr>
            <a:r>
              <a:rPr lang="en-US" sz="3600" dirty="0"/>
              <a:t>Search-based Models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384339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20" name="Google Shape;220;p4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Model types</a:t>
            </a:r>
            <a:endParaRPr dirty="0"/>
          </a:p>
        </p:txBody>
      </p:sp>
      <p:sp>
        <p:nvSpPr>
          <p:cNvPr id="221" name="Google Shape;221;p4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dirty="0"/>
              <a:t>Four types in order of increasing generality: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Simple reflex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State-based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Variable-based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Logic-based models</a:t>
            </a: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742950" lvl="1" indent="-171450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rPr>
              <a:t>				Machine learning</a:t>
            </a: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Reflex 	State-based	  Variable		Logic</a:t>
            </a:r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	- </a:t>
            </a:r>
            <a:r>
              <a:rPr lang="en-US" sz="1600" dirty="0"/>
              <a:t>Search-based	   - Constraint satisfaction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Markov decision   	   - Bayesian networks	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Adversarial</a:t>
            </a:r>
            <a:endParaRPr sz="1600" dirty="0"/>
          </a:p>
          <a:p>
            <a:pPr marL="2571750" lvl="5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22" name="Google Shape;222;p44"/>
          <p:cNvSpPr/>
          <p:nvPr/>
        </p:nvSpPr>
        <p:spPr>
          <a:xfrm>
            <a:off x="1106129" y="4262284"/>
            <a:ext cx="6990736" cy="41295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44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4" descr="Image result for chess"/>
          <p:cNvSpPr/>
          <p:nvPr/>
        </p:nvSpPr>
        <p:spPr>
          <a:xfrm>
            <a:off x="4419600" y="3276600"/>
            <a:ext cx="1671484" cy="167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4" descr="Image result for chess"/>
          <p:cNvSpPr/>
          <p:nvPr/>
        </p:nvSpPr>
        <p:spPr>
          <a:xfrm>
            <a:off x="4419599" y="3276599"/>
            <a:ext cx="2210875" cy="221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A7EBC-6B1A-68BD-AA37-B657E05E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Farmer, Goat, Wolf, Cabbage Problem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E1F8-0B4D-E600-B8FA-ABC587CBB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D7E40-BBBC-7CC7-F910-F82F497A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3"/>
          <a:stretch>
            <a:fillRect/>
          </a:stretch>
        </p:blipFill>
        <p:spPr>
          <a:xfrm>
            <a:off x="980836" y="1925611"/>
            <a:ext cx="6492779" cy="392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58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E2A5A-F329-AD5A-1525-E7D914A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Search-based models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71B36-FB2A-1337-3C4A-5D1B22CDB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Achieve a goal state </a:t>
            </a:r>
          </a:p>
          <a:p>
            <a:pPr lvl="1"/>
            <a:endParaRPr lang="en-US" dirty="0"/>
          </a:p>
          <a:p>
            <a:r>
              <a:rPr lang="en-US" dirty="0"/>
              <a:t>Task</a:t>
            </a:r>
          </a:p>
          <a:p>
            <a:pPr lvl="1"/>
            <a:r>
              <a:rPr lang="en-US" altLang="en-PK" dirty="0"/>
              <a:t>Find sequence of actions to reach a goal state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63711-FA2F-CA81-D6F3-457C9D1A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89" y="3886200"/>
            <a:ext cx="3192855" cy="192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99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C9C8-93F6-3351-A43E-04175C69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 (state-based models)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254DA-9085-294B-22F7-02A70C210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Need to consider future consequences of an action</a:t>
            </a:r>
          </a:p>
          <a:p>
            <a:endParaRPr lang="en-US" dirty="0"/>
          </a:p>
          <a:p>
            <a:r>
              <a:rPr lang="en-US" dirty="0"/>
              <a:t>For each example, the key is to decompose the output solution into a sequence of primitive actions</a:t>
            </a:r>
          </a:p>
          <a:p>
            <a:endParaRPr lang="en-US" dirty="0"/>
          </a:p>
          <a:p>
            <a:r>
              <a:rPr lang="en-US" dirty="0"/>
              <a:t>We also need to think about how to evaluate different possible outputs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8381B-0056-2496-BAAF-AFF3B22D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8" y="2214172"/>
            <a:ext cx="76771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5646-265A-BD63-D066-F4424B74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54435-A9A0-7576-37A8-6B36CEDC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5012652" cy="4267200"/>
          </a:xfrm>
        </p:spPr>
        <p:txBody>
          <a:bodyPr/>
          <a:lstStyle/>
          <a:p>
            <a:r>
              <a:rPr lang="en-US" dirty="0"/>
              <a:t>Finding the route from source to destination</a:t>
            </a:r>
          </a:p>
          <a:p>
            <a:endParaRPr lang="en-US" dirty="0"/>
          </a:p>
          <a:p>
            <a:r>
              <a:rPr lang="en-US" dirty="0"/>
              <a:t>Goal: Reach destination</a:t>
            </a:r>
          </a:p>
          <a:p>
            <a:endParaRPr lang="en-US" dirty="0"/>
          </a:p>
          <a:p>
            <a:r>
              <a:rPr lang="en-US" dirty="0"/>
              <a:t>Objective: fastest, shortest</a:t>
            </a:r>
          </a:p>
          <a:p>
            <a:endParaRPr lang="en-US" dirty="0"/>
          </a:p>
          <a:p>
            <a:r>
              <a:rPr lang="en-US" dirty="0"/>
              <a:t>Actions: turn right, go straight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5AF01-CC51-9A95-45D7-70C38634B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224" y="1698033"/>
            <a:ext cx="3192855" cy="192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12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755F-E7AD-3875-05C7-4B1EBA92D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93C79-5026-1B3A-7AA5-6CB2BA4A0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Robot motion planning</a:t>
            </a:r>
          </a:p>
          <a:p>
            <a:endParaRPr lang="en-US" dirty="0"/>
          </a:p>
          <a:p>
            <a:r>
              <a:rPr lang="en-US" dirty="0"/>
              <a:t>Goal: Put sugar in tea</a:t>
            </a:r>
          </a:p>
          <a:p>
            <a:endParaRPr lang="en-US" dirty="0"/>
          </a:p>
          <a:p>
            <a:r>
              <a:rPr lang="en-US" dirty="0"/>
              <a:t>Objective: safest, fastest</a:t>
            </a:r>
          </a:p>
          <a:p>
            <a:endParaRPr lang="en-US" dirty="0"/>
          </a:p>
          <a:p>
            <a:r>
              <a:rPr lang="en-US" dirty="0"/>
              <a:t>Actions: rotate arm, rotate leg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E4B5A-433F-BEB2-7A83-4E53E5BE8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809" y="1752600"/>
            <a:ext cx="3311902" cy="212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7561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3ef6bfa53d7ad97891e6c05c179b4e5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dbe76485fd55a43069722ab0be0dcc2c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2E2949-314E-4542-BFE2-B0D546ED1983}"/>
</file>

<file path=customXml/itemProps2.xml><?xml version="1.0" encoding="utf-8"?>
<ds:datastoreItem xmlns:ds="http://schemas.openxmlformats.org/officeDocument/2006/customXml" ds:itemID="{A2BB373A-868A-4C49-AFD6-3F50A810BC30}"/>
</file>

<file path=customXml/itemProps3.xml><?xml version="1.0" encoding="utf-8"?>
<ds:datastoreItem xmlns:ds="http://schemas.openxmlformats.org/officeDocument/2006/customXml" ds:itemID="{217AB8E2-50FD-46CF-8037-C54DFF5FE26D}"/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461</Words>
  <Application>Microsoft Office PowerPoint</Application>
  <PresentationFormat>On-screen Show (4:3)</PresentationFormat>
  <Paragraphs>120</Paragraphs>
  <Slides>16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SimSun</vt:lpstr>
      <vt:lpstr>Arial</vt:lpstr>
      <vt:lpstr>Noto Sans Symbols</vt:lpstr>
      <vt:lpstr>Tahoma</vt:lpstr>
      <vt:lpstr>Times New Roman</vt:lpstr>
      <vt:lpstr>Verdana</vt:lpstr>
      <vt:lpstr>Profile</vt:lpstr>
      <vt:lpstr>Microsoft Excel 97-2003 Worksheet</vt:lpstr>
      <vt:lpstr>Worksheet</vt:lpstr>
      <vt:lpstr>SmartDraw.2</vt:lpstr>
      <vt:lpstr>Artificial Intelligence</vt:lpstr>
      <vt:lpstr>Learning objectives</vt:lpstr>
      <vt:lpstr>Data Matrix and Dissimilarity Matrix</vt:lpstr>
      <vt:lpstr> Data Matrix and Dissimilarity Matrix</vt:lpstr>
      <vt:lpstr>Distance on Numeric Data: Minkowski Distance</vt:lpstr>
      <vt:lpstr>Special Cases of Minkowski Distance</vt:lpstr>
      <vt:lpstr>Minkowski Distance</vt:lpstr>
      <vt:lpstr>Distance between Clusters</vt:lpstr>
      <vt:lpstr>Analysis of Hierarchical Clustering</vt:lpstr>
      <vt:lpstr>PowerPoint Presentation</vt:lpstr>
      <vt:lpstr>Model types</vt:lpstr>
      <vt:lpstr>Farmer, Goat, Wolf, Cabbage Problem</vt:lpstr>
      <vt:lpstr>Search-based models</vt:lpstr>
      <vt:lpstr>Search problem (state-based models)</vt:lpstr>
      <vt:lpstr>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38</cp:revision>
  <cp:lastPrinted>2025-10-02T08:35:56Z</cp:lastPrinted>
  <dcterms:created xsi:type="dcterms:W3CDTF">1601-01-01T00:00:00Z</dcterms:created>
  <dcterms:modified xsi:type="dcterms:W3CDTF">2025-11-03T05:58:51Z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