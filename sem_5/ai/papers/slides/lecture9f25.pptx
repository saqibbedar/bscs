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5" r:id="rId4"/>
    <p:sldId id="321" r:id="rId5"/>
    <p:sldId id="278" r:id="rId6"/>
    <p:sldId id="279" r:id="rId7"/>
    <p:sldId id="268" r:id="rId8"/>
    <p:sldId id="280" r:id="rId9"/>
    <p:sldId id="281" r:id="rId10"/>
    <p:sldId id="287" r:id="rId11"/>
    <p:sldId id="285" r:id="rId12"/>
    <p:sldId id="286" r:id="rId13"/>
    <p:sldId id="282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i3todGFUTESKM1YNfdDKJfW0eg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9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50" Type="http://schemas.openxmlformats.org/officeDocument/2006/relationships/viewProps" Target="viewProps.xml"/><Relationship Id="rId55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54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3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Font typeface="Noto Sans Symbols"/>
              <a:buNone/>
              <a:defRPr sz="21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p29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7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7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4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5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5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5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5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6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6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9" name="Google Shape;49;p36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3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38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9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9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39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39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0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0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40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4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8" name="Google Shape;68;p40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body" idx="1"/>
          </p:nvPr>
        </p:nvSpPr>
        <p:spPr>
          <a:xfrm rot="5400000">
            <a:off x="2433638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4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41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>
            <a:spLocks noGrp="1"/>
          </p:cNvSpPr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body" idx="1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42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□"/>
              <a:defRPr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□"/>
              <a:defRPr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2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Artificial Intelligence</a:t>
            </a:r>
            <a:endParaRPr dirty="0"/>
          </a:p>
        </p:txBody>
      </p:sp>
      <p:sp>
        <p:nvSpPr>
          <p:cNvPr id="84" name="Google Shape;84;p1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866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Lecture # 9</a:t>
            </a: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Learning objectives</a:t>
            </a:r>
            <a:endParaRPr dirty="0"/>
          </a:p>
        </p:txBody>
      </p:sp>
      <p:sp>
        <p:nvSpPr>
          <p:cNvPr id="90" name="Google Shape;90;p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dirty="0"/>
              <a:t>To enable students to 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Understand the basics of neural networks</a:t>
            </a:r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Understand how gradients are calculated through the chain rule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1697B-251A-A7F0-EA89-0EF2EE239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1D247-FC1B-20BA-DB68-519E9E254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737" y="1752599"/>
            <a:ext cx="8008937" cy="4308987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930A3C-821A-33F6-53A6-87198F774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581" y="1988095"/>
            <a:ext cx="5470730" cy="383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929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406EE-9833-9F81-656F-7320A4384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7BA59-7D06-619C-4CAA-EFC289647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their inspiration from the brain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400" dirty="0"/>
          </a:p>
          <a:p>
            <a:r>
              <a:rPr lang="en-US" sz="2400" dirty="0"/>
              <a:t>In a sense, neural networks allow one to automatically learn the features</a:t>
            </a:r>
          </a:p>
          <a:p>
            <a:endParaRPr lang="en-US" sz="800" dirty="0"/>
          </a:p>
          <a:p>
            <a:r>
              <a:rPr lang="en-US" sz="2400" dirty="0"/>
              <a:t>They also allow more complex decision boundaries</a:t>
            </a:r>
          </a:p>
          <a:p>
            <a:endParaRPr lang="en-US" dirty="0"/>
          </a:p>
          <a:p>
            <a:endParaRPr lang="en-US" dirty="0"/>
          </a:p>
          <a:p>
            <a:endParaRPr lang="en-PK" dirty="0"/>
          </a:p>
        </p:txBody>
      </p:sp>
      <p:pic>
        <p:nvPicPr>
          <p:cNvPr id="4" name="Picture 4" descr="neuron">
            <a:extLst>
              <a:ext uri="{FF2B5EF4-FFF2-40B4-BE49-F238E27FC236}">
                <a16:creationId xmlns:a16="http://schemas.microsoft.com/office/drawing/2014/main" id="{14A160DA-1D38-6E4E-E77A-DB479D0B9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6830" y="2384608"/>
            <a:ext cx="2376879" cy="17826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49765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9955E-7437-D62A-06E8-44E61B1AA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374F8-9486-9380-CC8B-083A78882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E9D06-8F04-D6A0-2F79-24CB0B8FC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737" y="1752599"/>
            <a:ext cx="8008937" cy="4308987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60C621-DCC8-D202-E035-683C26C01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7" y="1766008"/>
            <a:ext cx="6568409" cy="429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008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C06DD-363C-4061-62B8-49BF90757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D79B2-2CFC-33A0-DD5C-5DB6D833E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0986B-8ABF-C4BF-4218-DC003687E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737" y="1752599"/>
            <a:ext cx="8008937" cy="4308987"/>
          </a:xfrm>
        </p:spPr>
        <p:txBody>
          <a:bodyPr/>
          <a:lstStyle/>
          <a:p>
            <a:r>
              <a:rPr lang="en-US" dirty="0"/>
              <a:t>Interpretation: intermediate hidden units as learned features of a linear predictor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890F60-6F44-10F4-3DD3-8863E42EA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7" y="2886537"/>
            <a:ext cx="8001000" cy="27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208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8085F-F95E-3CB9-9CBC-9413105B8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C2A72-A939-882A-3CB6-328F59AA6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08F85-042F-BCB1-8952-CC4EFF546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737" y="1752599"/>
            <a:ext cx="8008937" cy="4308987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4BB106-59D9-ADB4-6458-B312253C7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042" y="1752599"/>
            <a:ext cx="7172325" cy="1857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F49908-C55A-35D5-29C2-D3227066A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4829" y="3841748"/>
            <a:ext cx="295275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06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4F0A8-08CA-1E55-D776-3B661CB5A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Decomposing the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E211E-87E5-AA25-A7C1-7487E2A7F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738" y="1752599"/>
            <a:ext cx="8001000" cy="4294239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79B718-7733-4A10-0976-DB445FC92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84" y="1881034"/>
            <a:ext cx="4391025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884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1ADB0-AB17-AD30-861D-6C4A0DD4E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sub-problems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EAFE8-0BE8-F8FC-1CB8-0BDC9E767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737" y="1752599"/>
            <a:ext cx="8008937" cy="4323735"/>
          </a:xfrm>
        </p:spPr>
        <p:txBody>
          <a:bodyPr/>
          <a:lstStyle/>
          <a:p>
            <a:pPr lvl="1"/>
            <a:r>
              <a:rPr lang="en-US" dirty="0"/>
              <a:t>Define</a:t>
            </a:r>
          </a:p>
          <a:p>
            <a:pPr marL="1028700" lvl="2" indent="0">
              <a:buNone/>
            </a:pPr>
            <a:r>
              <a:rPr lang="en-US" sz="2400" dirty="0"/>
              <a:t>φ(x) =[1, x</a:t>
            </a:r>
            <a:r>
              <a:rPr lang="en-US" sz="2400" baseline="-25000" dirty="0"/>
              <a:t>1, </a:t>
            </a:r>
            <a:r>
              <a:rPr lang="en-US" sz="2400" dirty="0"/>
              <a:t>x</a:t>
            </a:r>
            <a:r>
              <a:rPr lang="en-US" sz="2400" baseline="-25000" dirty="0"/>
              <a:t>2</a:t>
            </a:r>
            <a:r>
              <a:rPr lang="en-US" sz="2400" dirty="0"/>
              <a:t>]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4EF814-BCB5-FAA7-F619-830F73F38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42" y="2694897"/>
            <a:ext cx="6486525" cy="11239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489763-0893-1080-273B-38F741B3B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941" y="4050621"/>
            <a:ext cx="6200775" cy="495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26E094-BFD4-67DA-1754-3AE88FBDD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885" y="4587183"/>
            <a:ext cx="7389710" cy="148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05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FD5A-52F5-C16C-E14B-F68978C40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040C0-1875-1D1B-722C-BC9AB24F36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Gradient of h</a:t>
            </a:r>
            <a:r>
              <a:rPr lang="en-US" baseline="-25000" dirty="0"/>
              <a:t>1</a:t>
            </a:r>
            <a:r>
              <a:rPr lang="en-US" dirty="0"/>
              <a:t> w.r.t v</a:t>
            </a:r>
            <a:r>
              <a:rPr lang="en-US" baseline="-25000" dirty="0"/>
              <a:t>1</a:t>
            </a:r>
            <a:r>
              <a:rPr lang="en-US" dirty="0"/>
              <a:t> is zero</a:t>
            </a:r>
          </a:p>
          <a:p>
            <a:r>
              <a:rPr lang="en-US" dirty="0"/>
              <a:t>Gradient of h</a:t>
            </a:r>
            <a:r>
              <a:rPr lang="en-US" baseline="-25000" dirty="0"/>
              <a:t>2</a:t>
            </a:r>
            <a:r>
              <a:rPr lang="en-US" dirty="0"/>
              <a:t> w.r.t v</a:t>
            </a:r>
            <a:r>
              <a:rPr lang="en-US" baseline="-25000" dirty="0"/>
              <a:t>2</a:t>
            </a:r>
            <a:r>
              <a:rPr lang="en-US" dirty="0"/>
              <a:t> is zero</a:t>
            </a:r>
          </a:p>
          <a:p>
            <a:endParaRPr lang="en-P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90C6C1-A266-B699-1D58-3610C6304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287" y="3222885"/>
            <a:ext cx="5889426" cy="249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2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9BB3D-1DFA-D122-8C45-49AA970B6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Minimization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04D2F-D292-A2C6-7E1E-CC70B5A0F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Optimization problem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Compute gradient</a:t>
            </a:r>
          </a:p>
          <a:p>
            <a:pPr marL="114300" indent="0">
              <a:buNone/>
            </a:pPr>
            <a:r>
              <a:rPr lang="en-US" dirty="0"/>
              <a:t> 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D3F89D-7E19-2DC6-DF65-9530E56B3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997" y="2239452"/>
            <a:ext cx="5608741" cy="2588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3F347C-DFC3-3B8D-7F38-C0460C97A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997" y="5314953"/>
            <a:ext cx="2699243" cy="70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388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08D9-6CD4-9B00-2921-058188BAE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20363-3D2D-D324-ECDC-3C579D68F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Partial derivatives (gradients): how much does the output change if an input changes?</a:t>
            </a:r>
          </a:p>
          <a:p>
            <a:r>
              <a:rPr lang="en-US" dirty="0"/>
              <a:t>2in1 + in2in3 = out</a:t>
            </a:r>
          </a:p>
          <a:p>
            <a:r>
              <a:rPr lang="en-US" dirty="0"/>
              <a:t>2in1 + (in2 + €)in3 = out + in3€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FEC711-3035-C7AF-8412-6E8FED5DC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820" y="2089331"/>
            <a:ext cx="2225761" cy="183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979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AC67B-B8C7-4BBF-A1D0-334AC3B22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 graphs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6D1DB-BA47-DD3E-3C6A-E58065251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737" y="1752599"/>
            <a:ext cx="7869339" cy="4308987"/>
          </a:xfrm>
        </p:spPr>
        <p:txBody>
          <a:bodyPr/>
          <a:lstStyle/>
          <a:p>
            <a:r>
              <a:rPr lang="en-US" dirty="0"/>
              <a:t>A DAG whose root node represents the final mathematical expression, and each node represents intermediate expressions</a:t>
            </a:r>
          </a:p>
          <a:p>
            <a:endParaRPr lang="en-US" dirty="0"/>
          </a:p>
          <a:p>
            <a:r>
              <a:rPr lang="en-US" dirty="0"/>
              <a:t>Many function are made of subfunctions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500F70-4DB5-12B8-72DE-1C16FF724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52" y="3395563"/>
            <a:ext cx="1209675" cy="1714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241C3A-F11C-599E-21E7-CDB4B5729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531" y="3395563"/>
            <a:ext cx="1298121" cy="1714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A62478-3E1A-5488-C7DF-05BEF13FD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556" y="3429000"/>
            <a:ext cx="1179528" cy="16207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69D25C-5EA1-2E76-541F-C12F00946B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6315" y="3510253"/>
            <a:ext cx="2442809" cy="14582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4AEA3ED-A90E-8F73-6018-467CD48450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9233" y="3459942"/>
            <a:ext cx="1425319" cy="162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666769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9F4C07DA96AA489B47C2DAEE3FF600" ma:contentTypeVersion="3" ma:contentTypeDescription="Create a new document." ma:contentTypeScope="" ma:versionID="141eb740bd562c224194a820cd93de89">
  <xsd:schema xmlns:xsd="http://www.w3.org/2001/XMLSchema" xmlns:xs="http://www.w3.org/2001/XMLSchema" xmlns:p="http://schemas.microsoft.com/office/2006/metadata/properties" xmlns:ns2="2dd40012-8713-4aa0-b95f-644e1bb378dc" targetNamespace="http://schemas.microsoft.com/office/2006/metadata/properties" ma:root="true" ma:fieldsID="9008c3073cad716f14d8acfe17a7b91b" ns2:_="">
    <xsd:import namespace="2dd40012-8713-4aa0-b95f-644e1bb378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d40012-8713-4aa0-b95f-644e1bb378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F023515-73A5-405C-972D-A1A4A6D5C215}"/>
</file>

<file path=customXml/itemProps2.xml><?xml version="1.0" encoding="utf-8"?>
<ds:datastoreItem xmlns:ds="http://schemas.openxmlformats.org/officeDocument/2006/customXml" ds:itemID="{F7EC63FE-8767-4A8F-B3A1-4F13493E3CFE}"/>
</file>

<file path=customXml/itemProps3.xml><?xml version="1.0" encoding="utf-8"?>
<ds:datastoreItem xmlns:ds="http://schemas.openxmlformats.org/officeDocument/2006/customXml" ds:itemID="{14C03104-D9D0-4895-B986-0BBA73B40ED8}"/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178</Words>
  <Application>Microsoft Office PowerPoint</Application>
  <PresentationFormat>On-screen Show (4:3)</PresentationFormat>
  <Paragraphs>61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Noto Sans Symbols</vt:lpstr>
      <vt:lpstr>Times New Roman</vt:lpstr>
      <vt:lpstr>Verdana</vt:lpstr>
      <vt:lpstr>Profile</vt:lpstr>
      <vt:lpstr>Artificial Intelligence</vt:lpstr>
      <vt:lpstr>Learning objectives</vt:lpstr>
      <vt:lpstr>Linear functions</vt:lpstr>
      <vt:lpstr>Neural Networks</vt:lpstr>
      <vt:lpstr>Neural Networks structure</vt:lpstr>
      <vt:lpstr>PowerPoint Presentation</vt:lpstr>
      <vt:lpstr>Example</vt:lpstr>
      <vt:lpstr>Decomposing the problem</vt:lpstr>
      <vt:lpstr>Intermediate sub-problems</vt:lpstr>
      <vt:lpstr>PowerPoint Presentation</vt:lpstr>
      <vt:lpstr>Loss Minimization</vt:lpstr>
      <vt:lpstr>Functions</vt:lpstr>
      <vt:lpstr>Computation graphs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Onaiza Maqbool</dc:creator>
  <cp:lastModifiedBy>Onaiza Maqbool</cp:lastModifiedBy>
  <cp:revision>21</cp:revision>
  <cp:lastPrinted>2025-10-02T08:35:56Z</cp:lastPrinted>
  <dcterms:created xsi:type="dcterms:W3CDTF">1601-01-01T00:00:00Z</dcterms:created>
  <dcterms:modified xsi:type="dcterms:W3CDTF">2025-10-08T06:05:55Z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0x010100309F4C07DA96AA489B47C2DAEE3FF600</vt:lpwstr>
  </property>
</Properties>
</file>