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31" roundtripDataSignature="AMtx7miOaAsbM2qHzYH1zwsx+RE6bC7q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293BE0-5F11-4CBB-ADCB-DC22A917C643}">
  <a:tblStyle styleId="{D6293BE0-5F11-4CBB-ADCB-DC22A917C64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3" name="Google Shape;43;p3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3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9" name="Google Shape;49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50" name="Google Shape;50;p3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61" name="Google Shape;61;p3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2" name="Google Shape;62;p3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63" name="Google Shape;63;p3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4" name="Google Shape;64;p3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70" name="Google Shape;70;p3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71" name="Google Shape;71;p3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3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7" name="Google Shape;77;p3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idx="1" type="subTitle"/>
          </p:nvPr>
        </p:nvSpPr>
        <p:spPr>
          <a:xfrm>
            <a:off x="457200" y="2362200"/>
            <a:ext cx="82296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CS-105 Problem Solving and Programming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Organizing Problems</a:t>
            </a:r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228600" y="914400"/>
            <a:ext cx="8686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228600" y="914400"/>
            <a:ext cx="86868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rabicPeriod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analysis chart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beginning analysis of the problem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rabicPeriod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 chart: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Shows the overall structure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rabicPeriod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IPO chart: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Shows the input, processing and the output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rabicPeriod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Algorithm: 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Shows the sequence of instructions comprising the solution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rabicPeriod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Flowcharts: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Graphic representation of the algorithm.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These tools help in making the final program more readable and helpful.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Analysis Chart</a:t>
            </a:r>
            <a:endParaRPr/>
          </a:p>
        </p:txBody>
      </p:sp>
      <p:sp>
        <p:nvSpPr>
          <p:cNvPr id="97" name="Google Shape;97;p3"/>
          <p:cNvSpPr txBox="1"/>
          <p:nvPr/>
        </p:nvSpPr>
        <p:spPr>
          <a:xfrm>
            <a:off x="228600" y="11430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Separates the problem in 4 parts </a:t>
            </a:r>
            <a:endParaRPr/>
          </a:p>
        </p:txBody>
      </p:sp>
      <p:graphicFrame>
        <p:nvGraphicFramePr>
          <p:cNvPr id="98" name="Google Shape;98;p3"/>
          <p:cNvGraphicFramePr/>
          <p:nvPr/>
        </p:nvGraphicFramePr>
        <p:xfrm>
          <a:off x="609600" y="200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{D6293BE0-5F11-4CBB-ADCB-DC22A917C643}</a:tableStyleId>
              </a:tblPr>
              <a:tblGrid>
                <a:gridCol w="4191000"/>
                <a:gridCol w="4038600"/>
              </a:tblGrid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 Data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Required Results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5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given in the problem or provided by user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constants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Requirements to produce the output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Processing required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Solution alternatives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 of processing required – equations, or searching or sorting techniques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 of solution alternatives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4294967295" type="title"/>
          </p:nvPr>
        </p:nvSpPr>
        <p:spPr>
          <a:xfrm>
            <a:off x="457200" y="1524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228600" y="990600"/>
            <a:ext cx="86868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the weekly gross pay of an employee, given the pay rate per hour and no. of hours the employee has worked in a week </a:t>
            </a:r>
            <a:endParaRPr/>
          </a:p>
        </p:txBody>
      </p:sp>
      <p:graphicFrame>
        <p:nvGraphicFramePr>
          <p:cNvPr id="105" name="Google Shape;105;p4"/>
          <p:cNvGraphicFramePr/>
          <p:nvPr/>
        </p:nvGraphicFramePr>
        <p:xfrm>
          <a:off x="304800" y="25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{D6293BE0-5F11-4CBB-ADCB-DC22A917C643}</a:tableStyleId>
              </a:tblPr>
              <a:tblGrid>
                <a:gridCol w="4038600"/>
                <a:gridCol w="46482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 Data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Required Results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5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Hours: Real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PayRate: Real</a:t>
                      </a:r>
                      <a:endParaRPr/>
                    </a:p>
                  </a:txBody>
                  <a:tcPr marT="45700" marB="45700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GrossPay: Real</a:t>
                      </a:r>
                      <a:endParaRPr/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Processing required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Solution alternatives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9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GrossPay = Hours*PayRate</a:t>
                      </a:r>
                      <a:endParaRPr/>
                    </a:p>
                  </a:txBody>
                  <a:tcPr marT="45700" marB="45700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533400" lvl="0" marL="533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AutoNum type="arabicPeriod"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Define the hours worked and pay rate as constant</a:t>
                      </a:r>
                      <a:endParaRPr/>
                    </a:p>
                    <a:p>
                      <a:pPr indent="-533400" lvl="0" marL="533400" marR="0" rtl="0" algn="l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AutoNum type="arabicPeriod"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√ </a:t>
                      </a: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Define the hours worked and pay rate as input values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idx="4294967295"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 Chart</a:t>
            </a:r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228600" y="11430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breakdowns a complex problem into simpler and more manageable tasks.</a:t>
            </a:r>
            <a:endParaRPr/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divides your solution into modules – subtasks. </a:t>
            </a:r>
            <a:endParaRPr/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connects modules together to show the interaction of processing between modules.</a:t>
            </a:r>
            <a:endParaRPr/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module should contain the task to finish/accomplish one function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idx="4294967295" type="title"/>
          </p:nvPr>
        </p:nvSpPr>
        <p:spPr>
          <a:xfrm>
            <a:off x="457200" y="1524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 Chart</a:t>
            </a:r>
            <a:endParaRPr/>
          </a:p>
        </p:txBody>
      </p:sp>
      <p:sp>
        <p:nvSpPr>
          <p:cNvPr id="117" name="Google Shape;117;p6"/>
          <p:cNvSpPr txBox="1"/>
          <p:nvPr/>
        </p:nvSpPr>
        <p:spPr>
          <a:xfrm>
            <a:off x="228600" y="838200"/>
            <a:ext cx="86868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control module controls the flow of other modules</a:t>
            </a:r>
            <a:endParaRPr/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Circle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iteration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Diagonal line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Same module used twice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Diamond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Selection</a:t>
            </a:r>
            <a:endParaRPr/>
          </a:p>
        </p:txBody>
      </p:sp>
      <p:cxnSp>
        <p:nvCxnSpPr>
          <p:cNvPr id="118" name="Google Shape;118;p6"/>
          <p:cNvCxnSpPr/>
          <p:nvPr/>
        </p:nvCxnSpPr>
        <p:spPr>
          <a:xfrm>
            <a:off x="1447800" y="2286000"/>
            <a:ext cx="6553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9" name="Google Shape;119;p6"/>
          <p:cNvCxnSpPr/>
          <p:nvPr/>
        </p:nvCxnSpPr>
        <p:spPr>
          <a:xfrm>
            <a:off x="1447800" y="2286000"/>
            <a:ext cx="1587" cy="45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0" name="Google Shape;120;p6"/>
          <p:cNvCxnSpPr/>
          <p:nvPr/>
        </p:nvCxnSpPr>
        <p:spPr>
          <a:xfrm>
            <a:off x="3124200" y="2286000"/>
            <a:ext cx="1587" cy="533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1" name="Google Shape;121;p6"/>
          <p:cNvCxnSpPr/>
          <p:nvPr/>
        </p:nvCxnSpPr>
        <p:spPr>
          <a:xfrm>
            <a:off x="4799012" y="2286000"/>
            <a:ext cx="1587" cy="533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2" name="Google Shape;122;p6"/>
          <p:cNvCxnSpPr/>
          <p:nvPr/>
        </p:nvCxnSpPr>
        <p:spPr>
          <a:xfrm>
            <a:off x="6399212" y="2286000"/>
            <a:ext cx="1587" cy="45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3" name="Google Shape;123;p6"/>
          <p:cNvCxnSpPr/>
          <p:nvPr/>
        </p:nvCxnSpPr>
        <p:spPr>
          <a:xfrm>
            <a:off x="7999412" y="2286000"/>
            <a:ext cx="1587" cy="533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4" name="Google Shape;124;p6"/>
          <p:cNvCxnSpPr/>
          <p:nvPr/>
        </p:nvCxnSpPr>
        <p:spPr>
          <a:xfrm>
            <a:off x="4724400" y="2057400"/>
            <a:ext cx="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5" name="Google Shape;125;p6"/>
          <p:cNvCxnSpPr/>
          <p:nvPr/>
        </p:nvCxnSpPr>
        <p:spPr>
          <a:xfrm>
            <a:off x="1522412" y="3351212"/>
            <a:ext cx="1587" cy="5349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6" name="Google Shape;126;p6"/>
          <p:cNvCxnSpPr/>
          <p:nvPr/>
        </p:nvCxnSpPr>
        <p:spPr>
          <a:xfrm>
            <a:off x="3352800" y="3352800"/>
            <a:ext cx="0" cy="4810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7" name="Google Shape;127;p6"/>
          <p:cNvCxnSpPr/>
          <p:nvPr/>
        </p:nvCxnSpPr>
        <p:spPr>
          <a:xfrm flipH="1" rot="10800000">
            <a:off x="2895600" y="3833812"/>
            <a:ext cx="1684337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8" name="Google Shape;128;p6"/>
          <p:cNvCxnSpPr/>
          <p:nvPr/>
        </p:nvCxnSpPr>
        <p:spPr>
          <a:xfrm>
            <a:off x="2895600" y="3833812"/>
            <a:ext cx="1587" cy="2143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9" name="Google Shape;129;p6"/>
          <p:cNvCxnSpPr/>
          <p:nvPr/>
        </p:nvCxnSpPr>
        <p:spPr>
          <a:xfrm>
            <a:off x="4572000" y="3833812"/>
            <a:ext cx="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0" name="Google Shape;130;p6"/>
          <p:cNvSpPr/>
          <p:nvPr/>
        </p:nvSpPr>
        <p:spPr>
          <a:xfrm>
            <a:off x="3200400" y="3452812"/>
            <a:ext cx="304800" cy="228600"/>
          </a:xfrm>
          <a:prstGeom prst="flowChartDecision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4152900" y="1447800"/>
            <a:ext cx="1165225" cy="609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838200" y="2743200"/>
            <a:ext cx="1295400" cy="609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1</a:t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2514600" y="2743200"/>
            <a:ext cx="1295400" cy="609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</a:t>
            </a:r>
            <a:endParaRPr/>
          </a:p>
        </p:txBody>
      </p:sp>
      <p:sp>
        <p:nvSpPr>
          <p:cNvPr id="134" name="Google Shape;134;p6"/>
          <p:cNvSpPr txBox="1"/>
          <p:nvPr/>
        </p:nvSpPr>
        <p:spPr>
          <a:xfrm>
            <a:off x="4267200" y="2743200"/>
            <a:ext cx="1295400" cy="609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3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5791200" y="2743200"/>
            <a:ext cx="1295400" cy="609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4</a:t>
            </a:r>
            <a:endParaRPr/>
          </a:p>
        </p:txBody>
      </p:sp>
      <p:sp>
        <p:nvSpPr>
          <p:cNvPr id="136" name="Google Shape;136;p6"/>
          <p:cNvSpPr txBox="1"/>
          <p:nvPr/>
        </p:nvSpPr>
        <p:spPr>
          <a:xfrm>
            <a:off x="7391400" y="2743200"/>
            <a:ext cx="1295400" cy="609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5</a:t>
            </a:r>
            <a:endParaRPr/>
          </a:p>
        </p:txBody>
      </p:sp>
      <p:sp>
        <p:nvSpPr>
          <p:cNvPr id="137" name="Google Shape;137;p6"/>
          <p:cNvSpPr txBox="1"/>
          <p:nvPr/>
        </p:nvSpPr>
        <p:spPr>
          <a:xfrm>
            <a:off x="4038600" y="4062412"/>
            <a:ext cx="1295400" cy="609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7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2362200" y="4062412"/>
            <a:ext cx="1295400" cy="609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6</a:t>
            </a:r>
            <a:endParaRPr/>
          </a:p>
        </p:txBody>
      </p:sp>
      <p:sp>
        <p:nvSpPr>
          <p:cNvPr id="139" name="Google Shape;139;p6"/>
          <p:cNvSpPr txBox="1"/>
          <p:nvPr/>
        </p:nvSpPr>
        <p:spPr>
          <a:xfrm>
            <a:off x="914400" y="3886200"/>
            <a:ext cx="1295400" cy="609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3</a:t>
            </a:r>
            <a:endParaRPr/>
          </a:p>
        </p:txBody>
      </p:sp>
      <p:cxnSp>
        <p:nvCxnSpPr>
          <p:cNvPr id="140" name="Google Shape;140;p6"/>
          <p:cNvCxnSpPr/>
          <p:nvPr/>
        </p:nvCxnSpPr>
        <p:spPr>
          <a:xfrm flipH="1" rot="10800000">
            <a:off x="914400" y="3886200"/>
            <a:ext cx="130175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1" name="Google Shape;141;p6"/>
          <p:cNvCxnSpPr/>
          <p:nvPr/>
        </p:nvCxnSpPr>
        <p:spPr>
          <a:xfrm flipH="1">
            <a:off x="4267200" y="2743200"/>
            <a:ext cx="130175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2" name="Google Shape;142;p6"/>
          <p:cNvSpPr/>
          <p:nvPr/>
        </p:nvSpPr>
        <p:spPr>
          <a:xfrm>
            <a:off x="3048000" y="2438400"/>
            <a:ext cx="152400" cy="1524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724400" y="2438400"/>
            <a:ext cx="152400" cy="1524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324600" y="2438400"/>
            <a:ext cx="152400" cy="1524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5105400" y="2300287"/>
            <a:ext cx="1143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Until Eof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/>
          <p:nvPr>
            <p:ph idx="4294967295"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Components of Structure Chart</a:t>
            </a:r>
            <a:endParaRPr/>
          </a:p>
        </p:txBody>
      </p:sp>
      <p:sp>
        <p:nvSpPr>
          <p:cNvPr id="151" name="Google Shape;151;p7"/>
          <p:cNvSpPr txBox="1"/>
          <p:nvPr/>
        </p:nvSpPr>
        <p:spPr>
          <a:xfrm>
            <a:off x="228600" y="11430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four components of structure chart:</a:t>
            </a:r>
            <a:endParaRPr/>
          </a:p>
          <a:p>
            <a:pPr indent="-1079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Selections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/>
          <p:nvPr>
            <p:ph idx="4294967295"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228600" y="11430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sequence of operations is represented by boxes connected with lines. </a:t>
            </a:r>
            <a:endParaRPr/>
          </a:p>
        </p:txBody>
      </p:sp>
      <p:pic>
        <p:nvPicPr>
          <p:cNvPr descr="A box labeled 'A' connected to three boxes below it labeled 'B', 'C' and 'D'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2819400"/>
            <a:ext cx="548640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idx="4294967295"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</a:t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228600" y="11430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iteration is again represented with joined boxes.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addition the iterated operation has a dot on top of the box.  </a:t>
            </a: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4381500" y="3695700"/>
            <a:ext cx="1028700" cy="87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4343400" y="5219700"/>
            <a:ext cx="1028700" cy="87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cxnSp>
        <p:nvCxnSpPr>
          <p:cNvPr id="167" name="Google Shape;167;p9"/>
          <p:cNvCxnSpPr/>
          <p:nvPr/>
        </p:nvCxnSpPr>
        <p:spPr>
          <a:xfrm>
            <a:off x="4876800" y="4562475"/>
            <a:ext cx="3175" cy="6572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8" name="Google Shape;168;p9"/>
          <p:cNvSpPr/>
          <p:nvPr/>
        </p:nvSpPr>
        <p:spPr>
          <a:xfrm>
            <a:off x="4800600" y="4876800"/>
            <a:ext cx="206375" cy="219075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/>
          <p:nvPr>
            <p:ph idx="4294967295"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Selection</a:t>
            </a:r>
            <a:endParaRPr/>
          </a:p>
        </p:txBody>
      </p:sp>
      <p:sp>
        <p:nvSpPr>
          <p:cNvPr id="174" name="Google Shape;174;p10"/>
          <p:cNvSpPr txBox="1"/>
          <p:nvPr/>
        </p:nvSpPr>
        <p:spPr>
          <a:xfrm>
            <a:off x="228600" y="11430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Selection is similar to a sequence, but with a diamond. In the example, module A consists of one and only one of operations B, C or D. </a:t>
            </a:r>
            <a:endParaRPr/>
          </a:p>
        </p:txBody>
      </p:sp>
      <p:sp>
        <p:nvSpPr>
          <p:cNvPr id="175" name="Google Shape;175;p10"/>
          <p:cNvSpPr txBox="1"/>
          <p:nvPr/>
        </p:nvSpPr>
        <p:spPr>
          <a:xfrm>
            <a:off x="4191000" y="2997200"/>
            <a:ext cx="12192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4191000" y="2997200"/>
            <a:ext cx="12192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4419600" y="4191000"/>
            <a:ext cx="762000" cy="457200"/>
          </a:xfrm>
          <a:prstGeom prst="flowChartDecision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10"/>
          <p:cNvCxnSpPr/>
          <p:nvPr/>
        </p:nvCxnSpPr>
        <p:spPr>
          <a:xfrm>
            <a:off x="4800600" y="3676650"/>
            <a:ext cx="3175" cy="5143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9" name="Google Shape;179;p10"/>
          <p:cNvCxnSpPr/>
          <p:nvPr/>
        </p:nvCxnSpPr>
        <p:spPr>
          <a:xfrm rot="10800000">
            <a:off x="2743200" y="4419600"/>
            <a:ext cx="1676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0" name="Google Shape;180;p10"/>
          <p:cNvCxnSpPr/>
          <p:nvPr/>
        </p:nvCxnSpPr>
        <p:spPr>
          <a:xfrm>
            <a:off x="2740025" y="4419600"/>
            <a:ext cx="3175" cy="685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1" name="Google Shape;181;p10"/>
          <p:cNvCxnSpPr/>
          <p:nvPr/>
        </p:nvCxnSpPr>
        <p:spPr>
          <a:xfrm>
            <a:off x="4800600" y="4648200"/>
            <a:ext cx="3175" cy="45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2" name="Google Shape;182;p10"/>
          <p:cNvCxnSpPr/>
          <p:nvPr/>
        </p:nvCxnSpPr>
        <p:spPr>
          <a:xfrm>
            <a:off x="5167312" y="4419600"/>
            <a:ext cx="1462087" cy="31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3" name="Google Shape;183;p10"/>
          <p:cNvCxnSpPr/>
          <p:nvPr/>
        </p:nvCxnSpPr>
        <p:spPr>
          <a:xfrm>
            <a:off x="6629400" y="4419600"/>
            <a:ext cx="0" cy="685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4" name="Google Shape;184;p10"/>
          <p:cNvSpPr txBox="1"/>
          <p:nvPr/>
        </p:nvSpPr>
        <p:spPr>
          <a:xfrm>
            <a:off x="2133600" y="5108575"/>
            <a:ext cx="1219200" cy="6826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85" name="Google Shape;185;p10"/>
          <p:cNvSpPr txBox="1"/>
          <p:nvPr/>
        </p:nvSpPr>
        <p:spPr>
          <a:xfrm>
            <a:off x="4191000" y="5105400"/>
            <a:ext cx="12192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186" name="Google Shape;186;p10"/>
          <p:cNvSpPr txBox="1"/>
          <p:nvPr/>
        </p:nvSpPr>
        <p:spPr>
          <a:xfrm>
            <a:off x="6019800" y="5105400"/>
            <a:ext cx="12192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 txBox="1"/>
          <p:nvPr>
            <p:ph idx="4294967295"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192" name="Google Shape;192;p11"/>
          <p:cNvSpPr txBox="1"/>
          <p:nvPr/>
        </p:nvSpPr>
        <p:spPr>
          <a:xfrm>
            <a:off x="228600" y="11430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 chart for payroll problem: </a:t>
            </a:r>
            <a:endParaRPr/>
          </a:p>
        </p:txBody>
      </p:sp>
      <p:sp>
        <p:nvSpPr>
          <p:cNvPr id="193" name="Google Shape;193;p11"/>
          <p:cNvSpPr txBox="1"/>
          <p:nvPr/>
        </p:nvSpPr>
        <p:spPr>
          <a:xfrm>
            <a:off x="3505200" y="2438400"/>
            <a:ext cx="2057400" cy="838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PayrollControl</a:t>
            </a:r>
            <a:endParaRPr/>
          </a:p>
        </p:txBody>
      </p:sp>
      <p:sp>
        <p:nvSpPr>
          <p:cNvPr id="194" name="Google Shape;194;p11"/>
          <p:cNvSpPr txBox="1"/>
          <p:nvPr/>
        </p:nvSpPr>
        <p:spPr>
          <a:xfrm>
            <a:off x="6705600" y="4572000"/>
            <a:ext cx="1905000" cy="838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endParaRPr/>
          </a:p>
        </p:txBody>
      </p:sp>
      <p:sp>
        <p:nvSpPr>
          <p:cNvPr id="195" name="Google Shape;195;p11"/>
          <p:cNvSpPr txBox="1"/>
          <p:nvPr/>
        </p:nvSpPr>
        <p:spPr>
          <a:xfrm>
            <a:off x="3657600" y="4572000"/>
            <a:ext cx="1905000" cy="838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CalculatePay</a:t>
            </a:r>
            <a:endParaRPr/>
          </a:p>
        </p:txBody>
      </p:sp>
      <p:sp>
        <p:nvSpPr>
          <p:cNvPr id="196" name="Google Shape;196;p11"/>
          <p:cNvSpPr txBox="1"/>
          <p:nvPr/>
        </p:nvSpPr>
        <p:spPr>
          <a:xfrm>
            <a:off x="685800" y="4572000"/>
            <a:ext cx="1905000" cy="838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cxnSp>
        <p:nvCxnSpPr>
          <p:cNvPr id="197" name="Google Shape;197;p11"/>
          <p:cNvCxnSpPr/>
          <p:nvPr/>
        </p:nvCxnSpPr>
        <p:spPr>
          <a:xfrm>
            <a:off x="4648200" y="3276600"/>
            <a:ext cx="0" cy="129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8" name="Google Shape;198;p11"/>
          <p:cNvCxnSpPr/>
          <p:nvPr/>
        </p:nvCxnSpPr>
        <p:spPr>
          <a:xfrm rot="10800000">
            <a:off x="1676400" y="3886200"/>
            <a:ext cx="6019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9" name="Google Shape;199;p11"/>
          <p:cNvCxnSpPr/>
          <p:nvPr/>
        </p:nvCxnSpPr>
        <p:spPr>
          <a:xfrm>
            <a:off x="1676400" y="3886200"/>
            <a:ext cx="0" cy="68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0" name="Google Shape;200;p11"/>
          <p:cNvCxnSpPr/>
          <p:nvPr/>
        </p:nvCxnSpPr>
        <p:spPr>
          <a:xfrm>
            <a:off x="7696200" y="3886200"/>
            <a:ext cx="0" cy="68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01" name="Google Shape;201;p11"/>
          <p:cNvSpPr/>
          <p:nvPr/>
        </p:nvSpPr>
        <p:spPr>
          <a:xfrm>
            <a:off x="4572000" y="4114800"/>
            <a:ext cx="206375" cy="219075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7566025" y="4191000"/>
            <a:ext cx="206375" cy="219075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1622425" y="4124325"/>
            <a:ext cx="206375" cy="219075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5124450" y="3505200"/>
            <a:ext cx="2647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Until NoMoreEmployees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/>
          <p:nvPr>
            <p:ph idx="4294967295" type="title"/>
          </p:nvPr>
        </p:nvSpPr>
        <p:spPr>
          <a:xfrm>
            <a:off x="457200" y="1524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IPO Charts</a:t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228600" y="838200"/>
            <a:ext cx="8686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Extends and organizes the information in the PAC.</a:t>
            </a:r>
            <a:endParaRPr/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shows in more detail what data items are input, what processing takes place on that data and what will be the end result.</a:t>
            </a:r>
            <a:endParaRPr/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shows where in the solution the processing takes place</a:t>
            </a:r>
            <a:endParaRPr/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four sections: input, processing, module reference and output.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 txBox="1"/>
          <p:nvPr>
            <p:ph idx="4294967295"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IPO Charts</a:t>
            </a:r>
            <a:endParaRPr/>
          </a:p>
        </p:txBody>
      </p:sp>
      <p:sp>
        <p:nvSpPr>
          <p:cNvPr id="216" name="Google Shape;216;p13"/>
          <p:cNvSpPr txBox="1"/>
          <p:nvPr/>
        </p:nvSpPr>
        <p:spPr>
          <a:xfrm>
            <a:off x="228600" y="838200"/>
            <a:ext cx="8686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7" name="Google Shape;217;p13"/>
          <p:cNvGraphicFramePr/>
          <p:nvPr/>
        </p:nvGraphicFramePr>
        <p:xfrm>
          <a:off x="304800" y="18684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{D6293BE0-5F11-4CBB-ADCB-DC22A917C643}</a:tableStyleId>
              </a:tblPr>
              <a:tblGrid>
                <a:gridCol w="1905000"/>
                <a:gridCol w="2133600"/>
                <a:gridCol w="2133600"/>
                <a:gridCol w="2362200"/>
              </a:tblGrid>
              <a:tr h="119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</a:t>
                      </a:r>
                      <a:endParaRPr/>
                    </a:p>
                  </a:txBody>
                  <a:tcPr marT="45700" marB="45700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Processing</a:t>
                      </a:r>
                      <a:endParaRPr/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Reference</a:t>
                      </a:r>
                      <a:endParaRPr/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Output</a:t>
                      </a:r>
                      <a:endParaRPr/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1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input data from section 1 of PAC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processing in steps from section 3 and 4 of PAC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reference from the structure chart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output requirements from section 1 and 2 of PAC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"/>
          <p:cNvSpPr txBox="1"/>
          <p:nvPr>
            <p:ph idx="4294967295" type="title"/>
          </p:nvPr>
        </p:nvSpPr>
        <p:spPr>
          <a:xfrm>
            <a:off x="457200" y="1524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223" name="Google Shape;223;p14"/>
          <p:cNvSpPr txBox="1"/>
          <p:nvPr/>
        </p:nvSpPr>
        <p:spPr>
          <a:xfrm>
            <a:off x="228600" y="838200"/>
            <a:ext cx="8686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4" name="Google Shape;224;p14"/>
          <p:cNvGraphicFramePr/>
          <p:nvPr/>
        </p:nvGraphicFramePr>
        <p:xfrm>
          <a:off x="1524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{D6293BE0-5F11-4CBB-ADCB-DC22A917C643}</a:tableStyleId>
              </a:tblPr>
              <a:tblGrid>
                <a:gridCol w="1938325"/>
                <a:gridCol w="3014650"/>
                <a:gridCol w="1828800"/>
                <a:gridCol w="2057400"/>
              </a:tblGrid>
              <a:tr h="126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Reference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Output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Hours: Real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PayRate: Real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533400" lvl="0" marL="533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AutoNum type="arabicPeriod"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Enter Hours</a:t>
                      </a:r>
                      <a:endParaRPr/>
                    </a:p>
                    <a:p>
                      <a:pPr indent="-533400" lvl="0" marL="53340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AutoNum type="arabicPeriod"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Enter PayRate</a:t>
                      </a:r>
                      <a:endParaRPr/>
                    </a:p>
                    <a:p>
                      <a:pPr indent="-533400" lvl="0" marL="53340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AutoNum type="arabicPeriod"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Calculate GrossPay</a:t>
                      </a:r>
                      <a:endParaRPr/>
                    </a:p>
                    <a:p>
                      <a:pPr indent="-533400" lvl="0" marL="53340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AutoNum type="arabicPeriod"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Display GrossPay</a:t>
                      </a:r>
                      <a:endParaRPr/>
                    </a:p>
                    <a:p>
                      <a:pPr indent="-533400" lvl="0" marL="53340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AutoNum type="arabicPeriod"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Read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Read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CalculatePay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PayrollControl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GrossPay: Real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"/>
          <p:cNvSpPr txBox="1"/>
          <p:nvPr>
            <p:ph idx="4294967295"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Flowcharts</a:t>
            </a: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228600" y="11430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 algorithm, the programmer develops the flowcharts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Graphical representation of algorithms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flowchart shows the flow of processing from the beginning to the end of the solution</a:t>
            </a:r>
            <a:endParaRPr/>
          </a:p>
        </p:txBody>
      </p:sp>
      <p:sp>
        <p:nvSpPr>
          <p:cNvPr id="231" name="Google Shape;231;p15"/>
          <p:cNvSpPr txBox="1"/>
          <p:nvPr/>
        </p:nvSpPr>
        <p:spPr>
          <a:xfrm>
            <a:off x="381000" y="3962400"/>
            <a:ext cx="8458200" cy="2743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Module		Name of Module (Parameter List)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Instruction			1. Instruction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Instruction			2. Instruction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…				3. …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…				4. …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__. End			__. Exit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/>
          <p:nvPr>
            <p:ph idx="4294967295" type="title"/>
          </p:nvPr>
        </p:nvSpPr>
        <p:spPr>
          <a:xfrm>
            <a:off x="457200" y="1524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Flowcharts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228600" y="914400"/>
            <a:ext cx="86868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Graphical representation of algorithms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Symbols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Start/Stop: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Decision/Selection/Branching:</a:t>
            </a:r>
            <a:endParaRPr/>
          </a:p>
          <a:p>
            <a:pPr indent="-1079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Input/Output</a:t>
            </a:r>
            <a:endParaRPr/>
          </a:p>
          <a:p>
            <a:pPr indent="-1079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Flowlines</a:t>
            </a:r>
            <a:endParaRPr/>
          </a:p>
        </p:txBody>
      </p:sp>
      <p:sp>
        <p:nvSpPr>
          <p:cNvPr id="238" name="Google Shape;238;p16"/>
          <p:cNvSpPr/>
          <p:nvPr/>
        </p:nvSpPr>
        <p:spPr>
          <a:xfrm>
            <a:off x="3581400" y="2057400"/>
            <a:ext cx="1219200" cy="381000"/>
          </a:xfrm>
          <a:prstGeom prst="flowChartTerminator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3505200" y="3048000"/>
            <a:ext cx="1295400" cy="1219200"/>
          </a:xfrm>
          <a:prstGeom prst="flowChartDecision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3048000" y="4724400"/>
            <a:ext cx="2133600" cy="762000"/>
          </a:xfrm>
          <a:prstGeom prst="flowChartInputOutpu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p16"/>
          <p:cNvCxnSpPr/>
          <p:nvPr/>
        </p:nvCxnSpPr>
        <p:spPr>
          <a:xfrm>
            <a:off x="3429000" y="61722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42" name="Google Shape;242;p16"/>
          <p:cNvCxnSpPr/>
          <p:nvPr/>
        </p:nvCxnSpPr>
        <p:spPr>
          <a:xfrm rot="10800000">
            <a:off x="3429000" y="6477000"/>
            <a:ext cx="838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43" name="Google Shape;243;p16"/>
          <p:cNvCxnSpPr/>
          <p:nvPr/>
        </p:nvCxnSpPr>
        <p:spPr>
          <a:xfrm rot="10800000">
            <a:off x="4572000" y="60198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44" name="Google Shape;244;p16"/>
          <p:cNvCxnSpPr/>
          <p:nvPr/>
        </p:nvCxnSpPr>
        <p:spPr>
          <a:xfrm>
            <a:off x="4800600" y="60198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"/>
          <p:cNvSpPr txBox="1"/>
          <p:nvPr>
            <p:ph idx="4294967295"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Flowcharts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228600" y="11430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Symbols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Process/Calculation</a:t>
            </a:r>
            <a:endParaRPr/>
          </a:p>
          <a:p>
            <a:pPr indent="-1079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page connector</a:t>
            </a:r>
            <a:endParaRPr/>
          </a:p>
          <a:p>
            <a:pPr indent="-1079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 page connector</a:t>
            </a:r>
            <a:endParaRPr/>
          </a:p>
          <a:p>
            <a:pPr indent="-1079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Named Module</a:t>
            </a:r>
            <a:endParaRPr/>
          </a:p>
        </p:txBody>
      </p:sp>
      <p:sp>
        <p:nvSpPr>
          <p:cNvPr id="251" name="Google Shape;251;p17"/>
          <p:cNvSpPr/>
          <p:nvPr/>
        </p:nvSpPr>
        <p:spPr>
          <a:xfrm>
            <a:off x="4953000" y="1981200"/>
            <a:ext cx="1828800" cy="762000"/>
          </a:xfrm>
          <a:prstGeom prst="flowChartProcess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5638800" y="3429000"/>
            <a:ext cx="457200" cy="457200"/>
          </a:xfrm>
          <a:prstGeom prst="flowChartConnector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5638800" y="4419600"/>
            <a:ext cx="457200" cy="457200"/>
          </a:xfrm>
          <a:prstGeom prst="flowChartOffpageConnector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4876800" y="5638800"/>
            <a:ext cx="1905000" cy="762000"/>
          </a:xfrm>
          <a:prstGeom prst="flowChartPredefinedProcess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"/>
          <p:cNvSpPr txBox="1"/>
          <p:nvPr>
            <p:ph idx="4294967295" type="title"/>
          </p:nvPr>
        </p:nvSpPr>
        <p:spPr>
          <a:xfrm>
            <a:off x="457200" y="1524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260" name="Google Shape;260;p18"/>
          <p:cNvSpPr/>
          <p:nvPr/>
        </p:nvSpPr>
        <p:spPr>
          <a:xfrm>
            <a:off x="228600" y="914400"/>
            <a:ext cx="8686800" cy="56388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 person bought a music CD for Rs.100 and a shirt that cost 5 times as much as the music CD.  He then had Rs.250.  How much money did he have before he bought the CD and the shirt?</a:t>
            </a:r>
            <a:endParaRPr/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Specific Solution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StartAmount  =  CD + Shirt + 250	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	StartAmount  =  CD + (5 X CD) + 250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StartAmount  =  100  +  (5X100)  +  250 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=   850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"/>
          <p:cNvSpPr txBox="1"/>
          <p:nvPr>
            <p:ph idx="4294967295" type="title"/>
          </p:nvPr>
        </p:nvSpPr>
        <p:spPr>
          <a:xfrm>
            <a:off x="457200" y="1524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228600" y="914400"/>
            <a:ext cx="8686800" cy="56388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Generic Algorithm</a:t>
            </a:r>
            <a:endParaRPr b="1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Now, let’s write a generic algorithm to solve any problem of this type.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the outputs from the algorithm?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amount of money available at the start of the shopping trip: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StartAmount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the inputs to the algorithm?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cost of the first item (doesn’t matter that it’s a CD):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Item1Price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number to multiply the cost of the first item by to get the cost of the second item: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amount of money left at the end of shopping: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AmountLeft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5791200" y="3276600"/>
            <a:ext cx="812800" cy="420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3505200" y="5980112"/>
            <a:ext cx="812800" cy="420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endParaRPr/>
          </a:p>
        </p:txBody>
      </p:sp>
      <p:sp>
        <p:nvSpPr>
          <p:cNvPr id="269" name="Google Shape;269;p19"/>
          <p:cNvSpPr txBox="1"/>
          <p:nvPr/>
        </p:nvSpPr>
        <p:spPr>
          <a:xfrm>
            <a:off x="7848600" y="5218112"/>
            <a:ext cx="812800" cy="420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endParaRPr/>
          </a:p>
        </p:txBody>
      </p:sp>
      <p:sp>
        <p:nvSpPr>
          <p:cNvPr id="270" name="Google Shape;270;p19"/>
          <p:cNvSpPr txBox="1"/>
          <p:nvPr/>
        </p:nvSpPr>
        <p:spPr>
          <a:xfrm>
            <a:off x="4114800" y="4495800"/>
            <a:ext cx="812800" cy="420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 txBox="1"/>
          <p:nvPr>
            <p:ph idx="4294967295" type="title"/>
          </p:nvPr>
        </p:nvSpPr>
        <p:spPr>
          <a:xfrm>
            <a:off x="228600" y="152400"/>
            <a:ext cx="861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Guidelines for Writing Algorithms</a:t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228600" y="685800"/>
            <a:ext cx="8686800" cy="60960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Following are the guidelines for writing a more formal and precise pseudocode: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user prompts should appear exactly as you wish the programmer to code them.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destination of any output data should be stated, such as “Display”, which implies the screen.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the data items clear and give them descriptive and valid names.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formulas wherever possible for clarity and brevity.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"/>
          <p:cNvSpPr txBox="1"/>
          <p:nvPr>
            <p:ph idx="4294967295" type="title"/>
          </p:nvPr>
        </p:nvSpPr>
        <p:spPr>
          <a:xfrm>
            <a:off x="228600" y="152400"/>
            <a:ext cx="861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Guidelines for Writing Algorithms</a:t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228600" y="609600"/>
            <a:ext cx="8686800" cy="59436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keywords (such as Read and While) and use them consistently. 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indentation for clarity of logic.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Avoid using code.  Pseudocode should not be programming language-specific.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keep in mind that you may not be the person translating your pseudocode into programming language code.  It must, therefore, be unambiguous.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may make up your own pseudocoding guidelines, but you must be consistent.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2"/>
          <p:cNvSpPr txBox="1"/>
          <p:nvPr>
            <p:ph idx="4294967295" type="title"/>
          </p:nvPr>
        </p:nvSpPr>
        <p:spPr>
          <a:xfrm>
            <a:off x="228600" y="152400"/>
            <a:ext cx="861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Algorithm</a:t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152400" y="609600"/>
            <a:ext cx="8839200" cy="59436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Read_Input: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 “Enter the price of the first item: ”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Item1Price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 “Enter the multiplier: ”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multiplier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 “Enter the amount left after shopping:”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AmountLeft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Calculate_Amount: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Item2Price = multiplier * Item1Price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StartAmount = Item1Price + Item2Price + 					  AmountLeft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 Output: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 “The starting amount was ”, StartAmount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 txBox="1"/>
          <p:nvPr>
            <p:ph idx="4294967295" type="title"/>
          </p:nvPr>
        </p:nvSpPr>
        <p:spPr>
          <a:xfrm>
            <a:off x="228600" y="152400"/>
            <a:ext cx="861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Exercises</a:t>
            </a:r>
            <a:endParaRPr/>
          </a:p>
        </p:txBody>
      </p:sp>
      <p:sp>
        <p:nvSpPr>
          <p:cNvPr id="294" name="Google Shape;294;p23"/>
          <p:cNvSpPr/>
          <p:nvPr/>
        </p:nvSpPr>
        <p:spPr>
          <a:xfrm>
            <a:off x="152400" y="914400"/>
            <a:ext cx="8839200" cy="56388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Sales Prediction: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 provincial sales division of a company generates 62% of the total sales. Based on that percentage, write a program that will predict how much that sales division will generate if the company has Rs. 8.4 million in sales this year.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Restaurant Bill: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Write a program that will compute the tax and tip on a restaurant bill for a patron with Rs. 4450/- meal charge. The tax should be 6.75% of the meal cost. The tip should be 8.5% of the total after adding the tax. Display the meal cost, tax amount, tip amount and total bill.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"/>
          <p:cNvSpPr txBox="1"/>
          <p:nvPr>
            <p:ph idx="4294967295" type="title"/>
          </p:nvPr>
        </p:nvSpPr>
        <p:spPr>
          <a:xfrm>
            <a:off x="228600" y="152400"/>
            <a:ext cx="861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152400" y="914400"/>
            <a:ext cx="8839200" cy="56388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Land Calculation: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One acre of a land is equivalent to 43,560 square feet. Write a program that calculates and displays the number of acre in a tract of land with 389,767 square.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Distance per Tank of Gas: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 car with a 20 gallon gas tank averages 21.5 miles per gallon when driven in town and 26.8 miles per gallon when driven on a highway. Write a program that calculates and displays the distance the car can travel on one tank of gas when driven in town and when driven on the highway.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2003-08-30T17:35:30Z</dcterms:created>
  <dc:creator>Memoona</dc:creator>
</cp:coreProperties>
</file>