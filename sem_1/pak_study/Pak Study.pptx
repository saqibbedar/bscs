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74" r:id="rId4"/>
    <p:sldId id="273" r:id="rId5"/>
    <p:sldId id="277" r:id="rId6"/>
    <p:sldId id="271" r:id="rId7"/>
    <p:sldId id="278" r:id="rId8"/>
    <p:sldId id="275" r:id="rId9"/>
    <p:sldId id="276" r:id="rId10"/>
    <p:sldId id="265"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69" autoAdjust="0"/>
  </p:normalViewPr>
  <p:slideViewPr>
    <p:cSldViewPr snapToGrid="0">
      <p:cViewPr varScale="1">
        <p:scale>
          <a:sx n="69" d="100"/>
          <a:sy n="69" d="100"/>
        </p:scale>
        <p:origin x="780" y="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4" d="100"/>
          <a:sy n="54" d="100"/>
        </p:scale>
        <p:origin x="289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4.gif"/></Relationships>
</file>

<file path=ppt/diagrams/_rels/data2.xml.rels><?xml version="1.0" encoding="UTF-8" standalone="yes"?>
<Relationships xmlns="http://schemas.openxmlformats.org/package/2006/relationships"><Relationship Id="rId1" Type="http://schemas.openxmlformats.org/officeDocument/2006/relationships/image" Target="../media/image4.gif"/></Relationships>
</file>

<file path=ppt/diagrams/_rels/drawing1.xml.rels><?xml version="1.0" encoding="UTF-8" standalone="yes"?>
<Relationships xmlns="http://schemas.openxmlformats.org/package/2006/relationships"><Relationship Id="rId1" Type="http://schemas.openxmlformats.org/officeDocument/2006/relationships/image" Target="../media/image4.gif"/></Relationships>
</file>

<file path=ppt/diagrams/_rels/drawing2.xml.rels><?xml version="1.0" encoding="UTF-8" standalone="yes"?>
<Relationships xmlns="http://schemas.openxmlformats.org/package/2006/relationships"><Relationship Id="rId1" Type="http://schemas.openxmlformats.org/officeDocument/2006/relationships/image" Target="../media/image4.gif"/></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6BA949-B397-493B-9DA1-B15BCF951CE8}" type="doc">
      <dgm:prSet loTypeId="urn:microsoft.com/office/officeart/2005/8/layout/vList4" loCatId="list" qsTypeId="urn:microsoft.com/office/officeart/2005/8/quickstyle/simple5" qsCatId="simple" csTypeId="urn:microsoft.com/office/officeart/2005/8/colors/accent1_2" csCatId="accent1" phldr="1"/>
      <dgm:spPr/>
      <dgm:t>
        <a:bodyPr/>
        <a:lstStyle/>
        <a:p>
          <a:endParaRPr lang="en-GB"/>
        </a:p>
      </dgm:t>
    </dgm:pt>
    <dgm:pt modelId="{43B752CC-C8BE-486D-828C-37D143B79E11}">
      <dgm:prSet phldrT="[Text]" custT="1"/>
      <dgm:spPr>
        <a:solidFill>
          <a:schemeClr val="bg1"/>
        </a:solidFill>
      </dgm:spPr>
      <dgm:t>
        <a:bodyPr/>
        <a:lstStyle/>
        <a:p>
          <a:pPr algn="l"/>
          <a:r>
            <a:rPr lang="en-US" sz="2400" b="0" i="0" dirty="0">
              <a:effectLst/>
              <a:latin typeface="Bell MT" panose="02020503060305020303" pitchFamily="18" charset="0"/>
            </a:rPr>
            <a:t>Qamber-Shahdadkot</a:t>
          </a:r>
        </a:p>
      </dgm:t>
    </dgm:pt>
    <dgm:pt modelId="{33596254-94C3-4381-9F14-43B518979E52}" type="parTrans" cxnId="{C6C6C0AE-75F2-4454-8232-3DCB11511348}">
      <dgm:prSet/>
      <dgm:spPr/>
      <dgm:t>
        <a:bodyPr/>
        <a:lstStyle/>
        <a:p>
          <a:endParaRPr lang="en-GB"/>
        </a:p>
      </dgm:t>
    </dgm:pt>
    <dgm:pt modelId="{60DB7822-6179-44BA-8F6B-7715196991A1}" type="sibTrans" cxnId="{C6C6C0AE-75F2-4454-8232-3DCB11511348}">
      <dgm:prSet/>
      <dgm:spPr>
        <a:solidFill>
          <a:srgbClr val="FFC000"/>
        </a:solidFill>
        <a:ln w="76200">
          <a:solidFill>
            <a:srgbClr val="FFC000"/>
          </a:solidFill>
        </a:ln>
      </dgm:spPr>
      <dgm:t>
        <a:bodyPr/>
        <a:lstStyle/>
        <a:p>
          <a:endParaRPr lang="en-GB"/>
        </a:p>
      </dgm:t>
    </dgm:pt>
    <dgm:pt modelId="{13BE41C9-20CD-4E85-BD60-27ACE83E1993}">
      <dgm:prSet phldrT="[Text]" custT="1"/>
      <dgm:spPr>
        <a:solidFill>
          <a:schemeClr val="bg1"/>
        </a:solidFill>
      </dgm:spPr>
      <dgm:t>
        <a:bodyPr/>
        <a:lstStyle/>
        <a:p>
          <a:pPr algn="l"/>
          <a:r>
            <a:rPr lang="en-US" sz="2600" dirty="0">
              <a:latin typeface="Bell MT" panose="02020503060305020303" pitchFamily="18" charset="0"/>
            </a:rPr>
            <a:t>Kashmore</a:t>
          </a:r>
          <a:endParaRPr lang="en-GB" sz="2600" dirty="0">
            <a:latin typeface="Bell MT" panose="02020503060305020303" pitchFamily="18" charset="0"/>
          </a:endParaRPr>
        </a:p>
      </dgm:t>
    </dgm:pt>
    <dgm:pt modelId="{A9E3EEDD-C635-41CD-93AB-5CE6D57DE750}" type="parTrans" cxnId="{47AE2B9E-F1DD-4015-BC11-6397E1B48085}">
      <dgm:prSet/>
      <dgm:spPr/>
      <dgm:t>
        <a:bodyPr/>
        <a:lstStyle/>
        <a:p>
          <a:endParaRPr lang="en-GB"/>
        </a:p>
      </dgm:t>
    </dgm:pt>
    <dgm:pt modelId="{303897F0-412C-4D18-B9D3-579D2D05F069}" type="sibTrans" cxnId="{47AE2B9E-F1DD-4015-BC11-6397E1B48085}">
      <dgm:prSet/>
      <dgm:spPr/>
      <dgm:t>
        <a:bodyPr/>
        <a:lstStyle/>
        <a:p>
          <a:endParaRPr lang="en-GB"/>
        </a:p>
      </dgm:t>
    </dgm:pt>
    <dgm:pt modelId="{95429FBC-C195-4233-9682-21CFB3D55BC0}" type="pres">
      <dgm:prSet presAssocID="{C96BA949-B397-493B-9DA1-B15BCF951CE8}" presName="linear" presStyleCnt="0">
        <dgm:presLayoutVars>
          <dgm:dir/>
          <dgm:resizeHandles val="exact"/>
        </dgm:presLayoutVars>
      </dgm:prSet>
      <dgm:spPr/>
    </dgm:pt>
    <dgm:pt modelId="{CDDABC93-9FC7-417A-B3B1-E4010826D239}" type="pres">
      <dgm:prSet presAssocID="{43B752CC-C8BE-486D-828C-37D143B79E11}" presName="comp" presStyleCnt="0"/>
      <dgm:spPr/>
    </dgm:pt>
    <dgm:pt modelId="{FA06016F-11D7-4E8B-938D-633D9EDBED98}" type="pres">
      <dgm:prSet presAssocID="{43B752CC-C8BE-486D-828C-37D143B79E11}" presName="box" presStyleLbl="node1" presStyleIdx="0" presStyleCnt="2"/>
      <dgm:spPr/>
    </dgm:pt>
    <dgm:pt modelId="{83DA59AB-6A72-4AD1-AC5D-147B12ABD398}" type="pres">
      <dgm:prSet presAssocID="{43B752CC-C8BE-486D-828C-37D143B79E11}" presName="img"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dgm:spPr>
    </dgm:pt>
    <dgm:pt modelId="{5E323D50-87EC-40B3-B81C-04CD799AEDE7}" type="pres">
      <dgm:prSet presAssocID="{43B752CC-C8BE-486D-828C-37D143B79E11}" presName="text" presStyleLbl="node1" presStyleIdx="0" presStyleCnt="2">
        <dgm:presLayoutVars>
          <dgm:bulletEnabled val="1"/>
        </dgm:presLayoutVars>
      </dgm:prSet>
      <dgm:spPr/>
    </dgm:pt>
    <dgm:pt modelId="{F6FAEB90-D172-44B9-AD21-83FE8CB4BA24}" type="pres">
      <dgm:prSet presAssocID="{60DB7822-6179-44BA-8F6B-7715196991A1}" presName="spacer" presStyleCnt="0"/>
      <dgm:spPr/>
    </dgm:pt>
    <dgm:pt modelId="{CC57930A-1352-4210-AC01-85FF0B0E5F38}" type="pres">
      <dgm:prSet presAssocID="{13BE41C9-20CD-4E85-BD60-27ACE83E1993}" presName="comp" presStyleCnt="0"/>
      <dgm:spPr/>
    </dgm:pt>
    <dgm:pt modelId="{778C07BB-B3BB-41A6-AB91-C7521227BFE8}" type="pres">
      <dgm:prSet presAssocID="{13BE41C9-20CD-4E85-BD60-27ACE83E1993}" presName="box" presStyleLbl="node1" presStyleIdx="1" presStyleCnt="2"/>
      <dgm:spPr/>
    </dgm:pt>
    <dgm:pt modelId="{3B4BDD0D-C4CC-4B28-BAE4-ACF54A6F5E7A}" type="pres">
      <dgm:prSet presAssocID="{13BE41C9-20CD-4E85-BD60-27ACE83E1993}" presName="img" presStyleLbl="fgImgPlace1" presStyleIdx="1" presStyleCnt="2"/>
      <dgm:spPr>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dgm:spPr>
    </dgm:pt>
    <dgm:pt modelId="{056803B6-CE1E-4274-90EB-103E2E3E5B48}" type="pres">
      <dgm:prSet presAssocID="{13BE41C9-20CD-4E85-BD60-27ACE83E1993}" presName="text" presStyleLbl="node1" presStyleIdx="1" presStyleCnt="2">
        <dgm:presLayoutVars>
          <dgm:bulletEnabled val="1"/>
        </dgm:presLayoutVars>
      </dgm:prSet>
      <dgm:spPr/>
    </dgm:pt>
  </dgm:ptLst>
  <dgm:cxnLst>
    <dgm:cxn modelId="{DD15E50C-1172-439F-A5CA-A2FF1A23757D}" type="presOf" srcId="{13BE41C9-20CD-4E85-BD60-27ACE83E1993}" destId="{778C07BB-B3BB-41A6-AB91-C7521227BFE8}" srcOrd="0" destOrd="0" presId="urn:microsoft.com/office/officeart/2005/8/layout/vList4"/>
    <dgm:cxn modelId="{04A24B2D-2349-4CE2-BC3E-093FD2B99B76}" type="presOf" srcId="{43B752CC-C8BE-486D-828C-37D143B79E11}" destId="{5E323D50-87EC-40B3-B81C-04CD799AEDE7}" srcOrd="1" destOrd="0" presId="urn:microsoft.com/office/officeart/2005/8/layout/vList4"/>
    <dgm:cxn modelId="{B66A4F33-1131-47E4-9DB4-7D3D8F9E366E}" type="presOf" srcId="{43B752CC-C8BE-486D-828C-37D143B79E11}" destId="{FA06016F-11D7-4E8B-938D-633D9EDBED98}" srcOrd="0" destOrd="0" presId="urn:microsoft.com/office/officeart/2005/8/layout/vList4"/>
    <dgm:cxn modelId="{4EB5524A-D4C8-444B-BA52-B57237A9EB40}" type="presOf" srcId="{C96BA949-B397-493B-9DA1-B15BCF951CE8}" destId="{95429FBC-C195-4233-9682-21CFB3D55BC0}" srcOrd="0" destOrd="0" presId="urn:microsoft.com/office/officeart/2005/8/layout/vList4"/>
    <dgm:cxn modelId="{2B4D229D-DA03-410E-91D8-0005DFA7F4CB}" type="presOf" srcId="{13BE41C9-20CD-4E85-BD60-27ACE83E1993}" destId="{056803B6-CE1E-4274-90EB-103E2E3E5B48}" srcOrd="1" destOrd="0" presId="urn:microsoft.com/office/officeart/2005/8/layout/vList4"/>
    <dgm:cxn modelId="{47AE2B9E-F1DD-4015-BC11-6397E1B48085}" srcId="{C96BA949-B397-493B-9DA1-B15BCF951CE8}" destId="{13BE41C9-20CD-4E85-BD60-27ACE83E1993}" srcOrd="1" destOrd="0" parTransId="{A9E3EEDD-C635-41CD-93AB-5CE6D57DE750}" sibTransId="{303897F0-412C-4D18-B9D3-579D2D05F069}"/>
    <dgm:cxn modelId="{C6C6C0AE-75F2-4454-8232-3DCB11511348}" srcId="{C96BA949-B397-493B-9DA1-B15BCF951CE8}" destId="{43B752CC-C8BE-486D-828C-37D143B79E11}" srcOrd="0" destOrd="0" parTransId="{33596254-94C3-4381-9F14-43B518979E52}" sibTransId="{60DB7822-6179-44BA-8F6B-7715196991A1}"/>
    <dgm:cxn modelId="{A83FE359-A179-4DB0-9C2C-9A6CD2ADA480}" type="presParOf" srcId="{95429FBC-C195-4233-9682-21CFB3D55BC0}" destId="{CDDABC93-9FC7-417A-B3B1-E4010826D239}" srcOrd="0" destOrd="0" presId="urn:microsoft.com/office/officeart/2005/8/layout/vList4"/>
    <dgm:cxn modelId="{0B7C718D-BA77-4494-9CA3-5B8367F3CFF0}" type="presParOf" srcId="{CDDABC93-9FC7-417A-B3B1-E4010826D239}" destId="{FA06016F-11D7-4E8B-938D-633D9EDBED98}" srcOrd="0" destOrd="0" presId="urn:microsoft.com/office/officeart/2005/8/layout/vList4"/>
    <dgm:cxn modelId="{9A207E59-9C8E-4B2B-AC05-76FDECE70C94}" type="presParOf" srcId="{CDDABC93-9FC7-417A-B3B1-E4010826D239}" destId="{83DA59AB-6A72-4AD1-AC5D-147B12ABD398}" srcOrd="1" destOrd="0" presId="urn:microsoft.com/office/officeart/2005/8/layout/vList4"/>
    <dgm:cxn modelId="{8385ABBD-3144-42E3-847C-8450F66E6343}" type="presParOf" srcId="{CDDABC93-9FC7-417A-B3B1-E4010826D239}" destId="{5E323D50-87EC-40B3-B81C-04CD799AEDE7}" srcOrd="2" destOrd="0" presId="urn:microsoft.com/office/officeart/2005/8/layout/vList4"/>
    <dgm:cxn modelId="{4536141E-A55C-4B79-A348-746CD21C54B6}" type="presParOf" srcId="{95429FBC-C195-4233-9682-21CFB3D55BC0}" destId="{F6FAEB90-D172-44B9-AD21-83FE8CB4BA24}" srcOrd="1" destOrd="0" presId="urn:microsoft.com/office/officeart/2005/8/layout/vList4"/>
    <dgm:cxn modelId="{9F22C4AB-9F0E-4A05-B782-0DAAA8BEAC00}" type="presParOf" srcId="{95429FBC-C195-4233-9682-21CFB3D55BC0}" destId="{CC57930A-1352-4210-AC01-85FF0B0E5F38}" srcOrd="2" destOrd="0" presId="urn:microsoft.com/office/officeart/2005/8/layout/vList4"/>
    <dgm:cxn modelId="{62F4BACC-F5D3-4BCA-ACE3-271FBECD7FCC}" type="presParOf" srcId="{CC57930A-1352-4210-AC01-85FF0B0E5F38}" destId="{778C07BB-B3BB-41A6-AB91-C7521227BFE8}" srcOrd="0" destOrd="0" presId="urn:microsoft.com/office/officeart/2005/8/layout/vList4"/>
    <dgm:cxn modelId="{A7B943DD-AAD0-4E63-A9C3-D051BC229ADD}" type="presParOf" srcId="{CC57930A-1352-4210-AC01-85FF0B0E5F38}" destId="{3B4BDD0D-C4CC-4B28-BAE4-ACF54A6F5E7A}" srcOrd="1" destOrd="0" presId="urn:microsoft.com/office/officeart/2005/8/layout/vList4"/>
    <dgm:cxn modelId="{DCBE08E9-EC51-4B24-9C3C-F20A35B7DC64}" type="presParOf" srcId="{CC57930A-1352-4210-AC01-85FF0B0E5F38}" destId="{056803B6-CE1E-4274-90EB-103E2E3E5B48}" srcOrd="2" destOrd="0" presId="urn:microsoft.com/office/officeart/2005/8/layout/vList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6BA949-B397-493B-9DA1-B15BCF951CE8}" type="doc">
      <dgm:prSet loTypeId="urn:microsoft.com/office/officeart/2005/8/layout/vList4" loCatId="list" qsTypeId="urn:microsoft.com/office/officeart/2005/8/quickstyle/simple5" qsCatId="simple" csTypeId="urn:microsoft.com/office/officeart/2005/8/colors/accent1_2" csCatId="accent1" phldr="1"/>
      <dgm:spPr/>
      <dgm:t>
        <a:bodyPr/>
        <a:lstStyle/>
        <a:p>
          <a:endParaRPr lang="en-GB"/>
        </a:p>
      </dgm:t>
    </dgm:pt>
    <dgm:pt modelId="{43B752CC-C8BE-486D-828C-37D143B79E11}">
      <dgm:prSet phldrT="[Text]" custT="1"/>
      <dgm:spPr>
        <a:solidFill>
          <a:schemeClr val="bg1"/>
        </a:solidFill>
      </dgm:spPr>
      <dgm:t>
        <a:bodyPr/>
        <a:lstStyle/>
        <a:p>
          <a:pPr algn="l"/>
          <a:r>
            <a:rPr lang="en-US" sz="2400" b="0" i="0" dirty="0">
              <a:effectLst/>
              <a:latin typeface="Bell MT" panose="02020503060305020303" pitchFamily="18" charset="0"/>
            </a:rPr>
            <a:t>Jacobabad</a:t>
          </a:r>
        </a:p>
      </dgm:t>
    </dgm:pt>
    <dgm:pt modelId="{33596254-94C3-4381-9F14-43B518979E52}" type="parTrans" cxnId="{C6C6C0AE-75F2-4454-8232-3DCB11511348}">
      <dgm:prSet/>
      <dgm:spPr/>
      <dgm:t>
        <a:bodyPr/>
        <a:lstStyle/>
        <a:p>
          <a:endParaRPr lang="en-GB"/>
        </a:p>
      </dgm:t>
    </dgm:pt>
    <dgm:pt modelId="{60DB7822-6179-44BA-8F6B-7715196991A1}" type="sibTrans" cxnId="{C6C6C0AE-75F2-4454-8232-3DCB11511348}">
      <dgm:prSet/>
      <dgm:spPr>
        <a:solidFill>
          <a:srgbClr val="FFC000"/>
        </a:solidFill>
        <a:ln w="76200">
          <a:solidFill>
            <a:srgbClr val="FFC000"/>
          </a:solidFill>
        </a:ln>
      </dgm:spPr>
      <dgm:t>
        <a:bodyPr/>
        <a:lstStyle/>
        <a:p>
          <a:endParaRPr lang="en-GB"/>
        </a:p>
      </dgm:t>
    </dgm:pt>
    <dgm:pt modelId="{13BE41C9-20CD-4E85-BD60-27ACE83E1993}">
      <dgm:prSet phldrT="[Text]" custT="1"/>
      <dgm:spPr>
        <a:solidFill>
          <a:schemeClr val="bg1"/>
        </a:solidFill>
      </dgm:spPr>
      <dgm:t>
        <a:bodyPr/>
        <a:lstStyle/>
        <a:p>
          <a:pPr algn="l"/>
          <a:r>
            <a:rPr lang="en-US" sz="2600" dirty="0">
              <a:latin typeface="Bell MT" panose="02020503060305020303" pitchFamily="18" charset="0"/>
            </a:rPr>
            <a:t>Shikarpur</a:t>
          </a:r>
          <a:endParaRPr lang="en-GB" sz="2600" dirty="0">
            <a:latin typeface="Bell MT" panose="02020503060305020303" pitchFamily="18" charset="0"/>
          </a:endParaRPr>
        </a:p>
      </dgm:t>
    </dgm:pt>
    <dgm:pt modelId="{A9E3EEDD-C635-41CD-93AB-5CE6D57DE750}" type="parTrans" cxnId="{47AE2B9E-F1DD-4015-BC11-6397E1B48085}">
      <dgm:prSet/>
      <dgm:spPr/>
      <dgm:t>
        <a:bodyPr/>
        <a:lstStyle/>
        <a:p>
          <a:endParaRPr lang="en-GB"/>
        </a:p>
      </dgm:t>
    </dgm:pt>
    <dgm:pt modelId="{303897F0-412C-4D18-B9D3-579D2D05F069}" type="sibTrans" cxnId="{47AE2B9E-F1DD-4015-BC11-6397E1B48085}">
      <dgm:prSet/>
      <dgm:spPr/>
      <dgm:t>
        <a:bodyPr/>
        <a:lstStyle/>
        <a:p>
          <a:endParaRPr lang="en-GB"/>
        </a:p>
      </dgm:t>
    </dgm:pt>
    <dgm:pt modelId="{95429FBC-C195-4233-9682-21CFB3D55BC0}" type="pres">
      <dgm:prSet presAssocID="{C96BA949-B397-493B-9DA1-B15BCF951CE8}" presName="linear" presStyleCnt="0">
        <dgm:presLayoutVars>
          <dgm:dir/>
          <dgm:resizeHandles val="exact"/>
        </dgm:presLayoutVars>
      </dgm:prSet>
      <dgm:spPr/>
    </dgm:pt>
    <dgm:pt modelId="{CDDABC93-9FC7-417A-B3B1-E4010826D239}" type="pres">
      <dgm:prSet presAssocID="{43B752CC-C8BE-486D-828C-37D143B79E11}" presName="comp" presStyleCnt="0"/>
      <dgm:spPr/>
    </dgm:pt>
    <dgm:pt modelId="{FA06016F-11D7-4E8B-938D-633D9EDBED98}" type="pres">
      <dgm:prSet presAssocID="{43B752CC-C8BE-486D-828C-37D143B79E11}" presName="box" presStyleLbl="node1" presStyleIdx="0" presStyleCnt="2"/>
      <dgm:spPr/>
    </dgm:pt>
    <dgm:pt modelId="{83DA59AB-6A72-4AD1-AC5D-147B12ABD398}" type="pres">
      <dgm:prSet presAssocID="{43B752CC-C8BE-486D-828C-37D143B79E11}" presName="img"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dgm:spPr>
    </dgm:pt>
    <dgm:pt modelId="{5E323D50-87EC-40B3-B81C-04CD799AEDE7}" type="pres">
      <dgm:prSet presAssocID="{43B752CC-C8BE-486D-828C-37D143B79E11}" presName="text" presStyleLbl="node1" presStyleIdx="0" presStyleCnt="2">
        <dgm:presLayoutVars>
          <dgm:bulletEnabled val="1"/>
        </dgm:presLayoutVars>
      </dgm:prSet>
      <dgm:spPr/>
    </dgm:pt>
    <dgm:pt modelId="{F6FAEB90-D172-44B9-AD21-83FE8CB4BA24}" type="pres">
      <dgm:prSet presAssocID="{60DB7822-6179-44BA-8F6B-7715196991A1}" presName="spacer" presStyleCnt="0"/>
      <dgm:spPr/>
    </dgm:pt>
    <dgm:pt modelId="{CC57930A-1352-4210-AC01-85FF0B0E5F38}" type="pres">
      <dgm:prSet presAssocID="{13BE41C9-20CD-4E85-BD60-27ACE83E1993}" presName="comp" presStyleCnt="0"/>
      <dgm:spPr/>
    </dgm:pt>
    <dgm:pt modelId="{778C07BB-B3BB-41A6-AB91-C7521227BFE8}" type="pres">
      <dgm:prSet presAssocID="{13BE41C9-20CD-4E85-BD60-27ACE83E1993}" presName="box" presStyleLbl="node1" presStyleIdx="1" presStyleCnt="2"/>
      <dgm:spPr/>
    </dgm:pt>
    <dgm:pt modelId="{3B4BDD0D-C4CC-4B28-BAE4-ACF54A6F5E7A}" type="pres">
      <dgm:prSet presAssocID="{13BE41C9-20CD-4E85-BD60-27ACE83E1993}" presName="img" presStyleLbl="fgImgPlace1" presStyleIdx="1" presStyleCnt="2"/>
      <dgm:spPr>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dgm:spPr>
    </dgm:pt>
    <dgm:pt modelId="{056803B6-CE1E-4274-90EB-103E2E3E5B48}" type="pres">
      <dgm:prSet presAssocID="{13BE41C9-20CD-4E85-BD60-27ACE83E1993}" presName="text" presStyleLbl="node1" presStyleIdx="1" presStyleCnt="2">
        <dgm:presLayoutVars>
          <dgm:bulletEnabled val="1"/>
        </dgm:presLayoutVars>
      </dgm:prSet>
      <dgm:spPr/>
    </dgm:pt>
  </dgm:ptLst>
  <dgm:cxnLst>
    <dgm:cxn modelId="{DD15E50C-1172-439F-A5CA-A2FF1A23757D}" type="presOf" srcId="{13BE41C9-20CD-4E85-BD60-27ACE83E1993}" destId="{778C07BB-B3BB-41A6-AB91-C7521227BFE8}" srcOrd="0" destOrd="0" presId="urn:microsoft.com/office/officeart/2005/8/layout/vList4"/>
    <dgm:cxn modelId="{04A24B2D-2349-4CE2-BC3E-093FD2B99B76}" type="presOf" srcId="{43B752CC-C8BE-486D-828C-37D143B79E11}" destId="{5E323D50-87EC-40B3-B81C-04CD799AEDE7}" srcOrd="1" destOrd="0" presId="urn:microsoft.com/office/officeart/2005/8/layout/vList4"/>
    <dgm:cxn modelId="{B66A4F33-1131-47E4-9DB4-7D3D8F9E366E}" type="presOf" srcId="{43B752CC-C8BE-486D-828C-37D143B79E11}" destId="{FA06016F-11D7-4E8B-938D-633D9EDBED98}" srcOrd="0" destOrd="0" presId="urn:microsoft.com/office/officeart/2005/8/layout/vList4"/>
    <dgm:cxn modelId="{4EB5524A-D4C8-444B-BA52-B57237A9EB40}" type="presOf" srcId="{C96BA949-B397-493B-9DA1-B15BCF951CE8}" destId="{95429FBC-C195-4233-9682-21CFB3D55BC0}" srcOrd="0" destOrd="0" presId="urn:microsoft.com/office/officeart/2005/8/layout/vList4"/>
    <dgm:cxn modelId="{2B4D229D-DA03-410E-91D8-0005DFA7F4CB}" type="presOf" srcId="{13BE41C9-20CD-4E85-BD60-27ACE83E1993}" destId="{056803B6-CE1E-4274-90EB-103E2E3E5B48}" srcOrd="1" destOrd="0" presId="urn:microsoft.com/office/officeart/2005/8/layout/vList4"/>
    <dgm:cxn modelId="{47AE2B9E-F1DD-4015-BC11-6397E1B48085}" srcId="{C96BA949-B397-493B-9DA1-B15BCF951CE8}" destId="{13BE41C9-20CD-4E85-BD60-27ACE83E1993}" srcOrd="1" destOrd="0" parTransId="{A9E3EEDD-C635-41CD-93AB-5CE6D57DE750}" sibTransId="{303897F0-412C-4D18-B9D3-579D2D05F069}"/>
    <dgm:cxn modelId="{C6C6C0AE-75F2-4454-8232-3DCB11511348}" srcId="{C96BA949-B397-493B-9DA1-B15BCF951CE8}" destId="{43B752CC-C8BE-486D-828C-37D143B79E11}" srcOrd="0" destOrd="0" parTransId="{33596254-94C3-4381-9F14-43B518979E52}" sibTransId="{60DB7822-6179-44BA-8F6B-7715196991A1}"/>
    <dgm:cxn modelId="{A83FE359-A179-4DB0-9C2C-9A6CD2ADA480}" type="presParOf" srcId="{95429FBC-C195-4233-9682-21CFB3D55BC0}" destId="{CDDABC93-9FC7-417A-B3B1-E4010826D239}" srcOrd="0" destOrd="0" presId="urn:microsoft.com/office/officeart/2005/8/layout/vList4"/>
    <dgm:cxn modelId="{0B7C718D-BA77-4494-9CA3-5B8367F3CFF0}" type="presParOf" srcId="{CDDABC93-9FC7-417A-B3B1-E4010826D239}" destId="{FA06016F-11D7-4E8B-938D-633D9EDBED98}" srcOrd="0" destOrd="0" presId="urn:microsoft.com/office/officeart/2005/8/layout/vList4"/>
    <dgm:cxn modelId="{9A207E59-9C8E-4B2B-AC05-76FDECE70C94}" type="presParOf" srcId="{CDDABC93-9FC7-417A-B3B1-E4010826D239}" destId="{83DA59AB-6A72-4AD1-AC5D-147B12ABD398}" srcOrd="1" destOrd="0" presId="urn:microsoft.com/office/officeart/2005/8/layout/vList4"/>
    <dgm:cxn modelId="{8385ABBD-3144-42E3-847C-8450F66E6343}" type="presParOf" srcId="{CDDABC93-9FC7-417A-B3B1-E4010826D239}" destId="{5E323D50-87EC-40B3-B81C-04CD799AEDE7}" srcOrd="2" destOrd="0" presId="urn:microsoft.com/office/officeart/2005/8/layout/vList4"/>
    <dgm:cxn modelId="{4536141E-A55C-4B79-A348-746CD21C54B6}" type="presParOf" srcId="{95429FBC-C195-4233-9682-21CFB3D55BC0}" destId="{F6FAEB90-D172-44B9-AD21-83FE8CB4BA24}" srcOrd="1" destOrd="0" presId="urn:microsoft.com/office/officeart/2005/8/layout/vList4"/>
    <dgm:cxn modelId="{9F22C4AB-9F0E-4A05-B782-0DAAA8BEAC00}" type="presParOf" srcId="{95429FBC-C195-4233-9682-21CFB3D55BC0}" destId="{CC57930A-1352-4210-AC01-85FF0B0E5F38}" srcOrd="2" destOrd="0" presId="urn:microsoft.com/office/officeart/2005/8/layout/vList4"/>
    <dgm:cxn modelId="{62F4BACC-F5D3-4BCA-ACE3-271FBECD7FCC}" type="presParOf" srcId="{CC57930A-1352-4210-AC01-85FF0B0E5F38}" destId="{778C07BB-B3BB-41A6-AB91-C7521227BFE8}" srcOrd="0" destOrd="0" presId="urn:microsoft.com/office/officeart/2005/8/layout/vList4"/>
    <dgm:cxn modelId="{A7B943DD-AAD0-4E63-A9C3-D051BC229ADD}" type="presParOf" srcId="{CC57930A-1352-4210-AC01-85FF0B0E5F38}" destId="{3B4BDD0D-C4CC-4B28-BAE4-ACF54A6F5E7A}" srcOrd="1" destOrd="0" presId="urn:microsoft.com/office/officeart/2005/8/layout/vList4"/>
    <dgm:cxn modelId="{DCBE08E9-EC51-4B24-9C3C-F20A35B7DC64}" type="presParOf" srcId="{CC57930A-1352-4210-AC01-85FF0B0E5F38}" destId="{056803B6-CE1E-4274-90EB-103E2E3E5B48}" srcOrd="2" destOrd="0" presId="urn:microsoft.com/office/officeart/2005/8/layout/vList4"/>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6016F-11D7-4E8B-938D-633D9EDBED98}">
      <dsp:nvSpPr>
        <dsp:cNvPr id="0" name=""/>
        <dsp:cNvSpPr/>
      </dsp:nvSpPr>
      <dsp:spPr>
        <a:xfrm>
          <a:off x="0" y="0"/>
          <a:ext cx="4716165" cy="1030492"/>
        </a:xfrm>
        <a:prstGeom prst="roundRect">
          <a:avLst>
            <a:gd name="adj" fmla="val 10000"/>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effectLst/>
              <a:latin typeface="Bell MT" panose="02020503060305020303" pitchFamily="18" charset="0"/>
            </a:rPr>
            <a:t>Qamber-Shahdadkot</a:t>
          </a:r>
        </a:p>
      </dsp:txBody>
      <dsp:txXfrm>
        <a:off x="1046282" y="0"/>
        <a:ext cx="3669882" cy="1030492"/>
      </dsp:txXfrm>
    </dsp:sp>
    <dsp:sp modelId="{83DA59AB-6A72-4AD1-AC5D-147B12ABD398}">
      <dsp:nvSpPr>
        <dsp:cNvPr id="0" name=""/>
        <dsp:cNvSpPr/>
      </dsp:nvSpPr>
      <dsp:spPr>
        <a:xfrm>
          <a:off x="103049" y="103049"/>
          <a:ext cx="943233" cy="824393"/>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778C07BB-B3BB-41A6-AB91-C7521227BFE8}">
      <dsp:nvSpPr>
        <dsp:cNvPr id="0" name=""/>
        <dsp:cNvSpPr/>
      </dsp:nvSpPr>
      <dsp:spPr>
        <a:xfrm>
          <a:off x="0" y="1133541"/>
          <a:ext cx="4716165" cy="1030492"/>
        </a:xfrm>
        <a:prstGeom prst="roundRect">
          <a:avLst>
            <a:gd name="adj" fmla="val 10000"/>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Bell MT" panose="02020503060305020303" pitchFamily="18" charset="0"/>
            </a:rPr>
            <a:t>Kashmore</a:t>
          </a:r>
          <a:endParaRPr lang="en-GB" sz="2600" kern="1200" dirty="0">
            <a:latin typeface="Bell MT" panose="02020503060305020303" pitchFamily="18" charset="0"/>
          </a:endParaRPr>
        </a:p>
      </dsp:txBody>
      <dsp:txXfrm>
        <a:off x="1046282" y="1133541"/>
        <a:ext cx="3669882" cy="1030492"/>
      </dsp:txXfrm>
    </dsp:sp>
    <dsp:sp modelId="{3B4BDD0D-C4CC-4B28-BAE4-ACF54A6F5E7A}">
      <dsp:nvSpPr>
        <dsp:cNvPr id="0" name=""/>
        <dsp:cNvSpPr/>
      </dsp:nvSpPr>
      <dsp:spPr>
        <a:xfrm>
          <a:off x="103049" y="1236590"/>
          <a:ext cx="943233" cy="824393"/>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6016F-11D7-4E8B-938D-633D9EDBED98}">
      <dsp:nvSpPr>
        <dsp:cNvPr id="0" name=""/>
        <dsp:cNvSpPr/>
      </dsp:nvSpPr>
      <dsp:spPr>
        <a:xfrm>
          <a:off x="0" y="0"/>
          <a:ext cx="4716165" cy="1030492"/>
        </a:xfrm>
        <a:prstGeom prst="roundRect">
          <a:avLst>
            <a:gd name="adj" fmla="val 10000"/>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effectLst/>
              <a:latin typeface="Bell MT" panose="02020503060305020303" pitchFamily="18" charset="0"/>
            </a:rPr>
            <a:t>Jacobabad</a:t>
          </a:r>
        </a:p>
      </dsp:txBody>
      <dsp:txXfrm>
        <a:off x="1046282" y="0"/>
        <a:ext cx="3669882" cy="1030492"/>
      </dsp:txXfrm>
    </dsp:sp>
    <dsp:sp modelId="{83DA59AB-6A72-4AD1-AC5D-147B12ABD398}">
      <dsp:nvSpPr>
        <dsp:cNvPr id="0" name=""/>
        <dsp:cNvSpPr/>
      </dsp:nvSpPr>
      <dsp:spPr>
        <a:xfrm>
          <a:off x="103049" y="103049"/>
          <a:ext cx="943233" cy="824393"/>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778C07BB-B3BB-41A6-AB91-C7521227BFE8}">
      <dsp:nvSpPr>
        <dsp:cNvPr id="0" name=""/>
        <dsp:cNvSpPr/>
      </dsp:nvSpPr>
      <dsp:spPr>
        <a:xfrm>
          <a:off x="0" y="1133541"/>
          <a:ext cx="4716165" cy="1030492"/>
        </a:xfrm>
        <a:prstGeom prst="roundRect">
          <a:avLst>
            <a:gd name="adj" fmla="val 10000"/>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Bell MT" panose="02020503060305020303" pitchFamily="18" charset="0"/>
            </a:rPr>
            <a:t>Shikarpur</a:t>
          </a:r>
          <a:endParaRPr lang="en-GB" sz="2600" kern="1200" dirty="0">
            <a:latin typeface="Bell MT" panose="02020503060305020303" pitchFamily="18" charset="0"/>
          </a:endParaRPr>
        </a:p>
      </dsp:txBody>
      <dsp:txXfrm>
        <a:off x="1046282" y="1133541"/>
        <a:ext cx="3669882" cy="1030492"/>
      </dsp:txXfrm>
    </dsp:sp>
    <dsp:sp modelId="{3B4BDD0D-C4CC-4B28-BAE4-ACF54A6F5E7A}">
      <dsp:nvSpPr>
        <dsp:cNvPr id="0" name=""/>
        <dsp:cNvSpPr/>
      </dsp:nvSpPr>
      <dsp:spPr>
        <a:xfrm>
          <a:off x="103049" y="1236590"/>
          <a:ext cx="943233" cy="824393"/>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5A84D-8E8A-4020-B41D-3909CE46DF91}" type="datetimeFigureOut">
              <a:rPr lang="en-GB" smtClean="0"/>
              <a:t>04/01/2024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D31958-0431-479D-8F62-82F88FD1AD83}" type="slidenum">
              <a:rPr lang="en-GB" smtClean="0"/>
              <a:t>‹#›</a:t>
            </a:fld>
            <a:endParaRPr lang="en-GB"/>
          </a:p>
        </p:txBody>
      </p:sp>
    </p:spTree>
    <p:extLst>
      <p:ext uri="{BB962C8B-B14F-4D97-AF65-F5344CB8AC3E}">
        <p14:creationId xmlns:p14="http://schemas.microsoft.com/office/powerpoint/2010/main" val="346547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D31958-0431-479D-8F62-82F88FD1AD83}" type="slidenum">
              <a:rPr lang="en-GB" smtClean="0"/>
              <a:t>1</a:t>
            </a:fld>
            <a:endParaRPr lang="en-GB"/>
          </a:p>
        </p:txBody>
      </p:sp>
    </p:spTree>
    <p:extLst>
      <p:ext uri="{BB962C8B-B14F-4D97-AF65-F5344CB8AC3E}">
        <p14:creationId xmlns:p14="http://schemas.microsoft.com/office/powerpoint/2010/main" val="2522238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D31958-0431-479D-8F62-82F88FD1AD83}" type="slidenum">
              <a:rPr lang="en-GB" smtClean="0"/>
              <a:t>2</a:t>
            </a:fld>
            <a:endParaRPr lang="en-GB"/>
          </a:p>
        </p:txBody>
      </p:sp>
    </p:spTree>
    <p:extLst>
      <p:ext uri="{BB962C8B-B14F-4D97-AF65-F5344CB8AC3E}">
        <p14:creationId xmlns:p14="http://schemas.microsoft.com/office/powerpoint/2010/main" val="3067466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D31958-0431-479D-8F62-82F88FD1AD83}" type="slidenum">
              <a:rPr lang="en-GB" smtClean="0"/>
              <a:t>3</a:t>
            </a:fld>
            <a:endParaRPr lang="en-GB"/>
          </a:p>
        </p:txBody>
      </p:sp>
    </p:spTree>
    <p:extLst>
      <p:ext uri="{BB962C8B-B14F-4D97-AF65-F5344CB8AC3E}">
        <p14:creationId xmlns:p14="http://schemas.microsoft.com/office/powerpoint/2010/main" val="2192829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5D31958-0431-479D-8F62-82F88FD1AD83}" type="slidenum">
              <a:rPr lang="en-GB" smtClean="0"/>
              <a:t>6</a:t>
            </a:fld>
            <a:endParaRPr lang="en-GB"/>
          </a:p>
        </p:txBody>
      </p:sp>
    </p:spTree>
    <p:extLst>
      <p:ext uri="{BB962C8B-B14F-4D97-AF65-F5344CB8AC3E}">
        <p14:creationId xmlns:p14="http://schemas.microsoft.com/office/powerpoint/2010/main" val="874697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E0572A-09F3-4A6A-B7D7-6C9B743F8FBF}" type="datetimeFigureOut">
              <a:rPr lang="en-GB" smtClean="0"/>
              <a:t>04/01/2024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921271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0572A-09F3-4A6A-B7D7-6C9B743F8FBF}" type="datetimeFigureOut">
              <a:rPr lang="en-GB" smtClean="0"/>
              <a:t>04/01/2024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653377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E0572A-09F3-4A6A-B7D7-6C9B743F8FBF}" type="datetimeFigureOut">
              <a:rPr lang="en-GB" smtClean="0"/>
              <a:t>04/01/2024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2074455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E0572A-09F3-4A6A-B7D7-6C9B743F8FBF}" type="datetimeFigureOut">
              <a:rPr lang="en-GB" smtClean="0"/>
              <a:t>04/01/2024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725214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E0572A-09F3-4A6A-B7D7-6C9B743F8FBF}" type="datetimeFigureOut">
              <a:rPr lang="en-GB" smtClean="0"/>
              <a:t>04/01/2024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36279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E0572A-09F3-4A6A-B7D7-6C9B743F8FBF}" type="datetimeFigureOut">
              <a:rPr lang="en-GB" smtClean="0"/>
              <a:t>04/01/2024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1747557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0572A-09F3-4A6A-B7D7-6C9B743F8FBF}" type="datetimeFigureOut">
              <a:rPr lang="en-GB" smtClean="0"/>
              <a:t>04/01/2024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25397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E0572A-09F3-4A6A-B7D7-6C9B743F8FBF}" type="datetimeFigureOut">
              <a:rPr lang="en-GB" smtClean="0"/>
              <a:t>04/01/2024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2106858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E0572A-09F3-4A6A-B7D7-6C9B743F8FBF}" type="datetimeFigureOut">
              <a:rPr lang="en-GB" smtClean="0"/>
              <a:t>04/01/2024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665294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0572A-09F3-4A6A-B7D7-6C9B743F8FBF}" type="datetimeFigureOut">
              <a:rPr lang="en-GB" smtClean="0"/>
              <a:t>04/01/2024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121396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0572A-09F3-4A6A-B7D7-6C9B743F8FBF}" type="datetimeFigureOut">
              <a:rPr lang="en-GB" smtClean="0"/>
              <a:t>04/01/2024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1193740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E0572A-09F3-4A6A-B7D7-6C9B743F8FBF}" type="datetimeFigureOut">
              <a:rPr lang="en-GB" smtClean="0"/>
              <a:t>04/01/2024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B0DC20-456C-4702-B498-52CB832F421B}" type="slidenum">
              <a:rPr lang="en-GB" smtClean="0"/>
              <a:t>‹#›</a:t>
            </a:fld>
            <a:endParaRPr lang="en-GB"/>
          </a:p>
        </p:txBody>
      </p:sp>
    </p:spTree>
    <p:extLst>
      <p:ext uri="{BB962C8B-B14F-4D97-AF65-F5344CB8AC3E}">
        <p14:creationId xmlns:p14="http://schemas.microsoft.com/office/powerpoint/2010/main" val="201133691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82798D32-F1EE-C9AD-E29B-FE61069BB037}"/>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t="7333" b="4609"/>
          <a:stretch/>
        </p:blipFill>
        <p:spPr>
          <a:xfrm>
            <a:off x="4547937" y="3681405"/>
            <a:ext cx="7644063" cy="3176595"/>
          </a:xfrm>
          <a:prstGeom prst="rect">
            <a:avLst/>
          </a:prstGeom>
        </p:spPr>
      </p:pic>
      <p:pic>
        <p:nvPicPr>
          <p:cNvPr id="6" name="Picture 5" descr="A stone structure with a dome on top&#10;&#10;Description automatically generated">
            <a:extLst>
              <a:ext uri="{FF2B5EF4-FFF2-40B4-BE49-F238E27FC236}">
                <a16:creationId xmlns:a16="http://schemas.microsoft.com/office/drawing/2014/main" id="{053E0ED8-B3FC-5BE2-3BF1-89D0289834EE}"/>
              </a:ext>
            </a:extLst>
          </p:cNvPr>
          <p:cNvPicPr>
            <a:picLocks noChangeAspect="1"/>
          </p:cNvPicPr>
          <p:nvPr/>
        </p:nvPicPr>
        <p:blipFill rotWithShape="1">
          <a:blip r:embed="rId4">
            <a:extLst>
              <a:ext uri="{28A0092B-C50C-407E-A947-70E740481C1C}">
                <a14:useLocalDpi xmlns:a14="http://schemas.microsoft.com/office/drawing/2010/main" val="0"/>
              </a:ext>
            </a:extLst>
          </a:blip>
          <a:srcRect t="7693" r="-1" b="24736"/>
          <a:stretch/>
        </p:blipFill>
        <p:spPr>
          <a:xfrm>
            <a:off x="4547937" y="0"/>
            <a:ext cx="7644062" cy="3681401"/>
          </a:xfrm>
          <a:prstGeom prst="rect">
            <a:avLst/>
          </a:prstGeom>
        </p:spPr>
      </p:pic>
      <p:sp>
        <p:nvSpPr>
          <p:cNvPr id="31" name="Rectangle 30">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18DA2E-E656-4D97-8DAB-906458F5EC7F}"/>
              </a:ext>
            </a:extLst>
          </p:cNvPr>
          <p:cNvSpPr>
            <a:spLocks noGrp="1"/>
          </p:cNvSpPr>
          <p:nvPr>
            <p:ph type="ctrTitle"/>
          </p:nvPr>
        </p:nvSpPr>
        <p:spPr>
          <a:xfrm>
            <a:off x="838200" y="1240012"/>
            <a:ext cx="5395912" cy="2387600"/>
          </a:xfrm>
        </p:spPr>
        <p:txBody>
          <a:bodyPr>
            <a:normAutofit/>
          </a:bodyPr>
          <a:lstStyle/>
          <a:p>
            <a:pPr algn="l"/>
            <a:r>
              <a:rPr lang="en-US" sz="5000" b="1" dirty="0">
                <a:solidFill>
                  <a:schemeClr val="bg1"/>
                </a:solidFill>
                <a:latin typeface="Bahnschrift" panose="020B0502040204020203" pitchFamily="34" charset="0"/>
              </a:rPr>
              <a:t>Larkana, Sindh</a:t>
            </a:r>
            <a:endParaRPr lang="en-GB" sz="5000" b="1" dirty="0">
              <a:solidFill>
                <a:schemeClr val="bg1"/>
              </a:solidFill>
              <a:latin typeface="Bahnschrift" panose="020B0502040204020203" pitchFamily="34" charset="0"/>
            </a:endParaRPr>
          </a:p>
        </p:txBody>
      </p:sp>
      <p:cxnSp>
        <p:nvCxnSpPr>
          <p:cNvPr id="33" name="Straight Connector 32">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B1E9ACC2-AA6E-A58D-8287-C15821890CA7}"/>
              </a:ext>
            </a:extLst>
          </p:cNvPr>
          <p:cNvSpPr txBox="1">
            <a:spLocks/>
          </p:cNvSpPr>
          <p:nvPr/>
        </p:nvSpPr>
        <p:spPr>
          <a:xfrm>
            <a:off x="838199" y="3874411"/>
            <a:ext cx="4662056" cy="462056"/>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chemeClr val="bg1"/>
                </a:solidFill>
                <a:latin typeface="Bahnschrift" panose="020B0502040204020203" pitchFamily="34" charset="0"/>
              </a:rPr>
              <a:t>Presented by: Saqib &amp; Alisha</a:t>
            </a:r>
            <a:endParaRPr lang="en-GB" sz="2800" b="1"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386061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910E0595-90DC-4DA7-2649-C8BFB9CD7943}"/>
              </a:ext>
            </a:extLst>
          </p:cNvPr>
          <p:cNvSpPr/>
          <p:nvPr/>
        </p:nvSpPr>
        <p:spPr>
          <a:xfrm>
            <a:off x="-193964" y="632290"/>
            <a:ext cx="4364182" cy="845127"/>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CDB34F00-446B-4C35-8151-BF70B425DF69}"/>
              </a:ext>
            </a:extLst>
          </p:cNvPr>
          <p:cNvSpPr>
            <a:spLocks noGrp="1"/>
          </p:cNvSpPr>
          <p:nvPr>
            <p:ph type="title"/>
          </p:nvPr>
        </p:nvSpPr>
        <p:spPr>
          <a:xfrm>
            <a:off x="838200" y="404756"/>
            <a:ext cx="10515600" cy="1325563"/>
          </a:xfrm>
        </p:spPr>
        <p:txBody>
          <a:bodyPr>
            <a:normAutofit/>
          </a:bodyPr>
          <a:lstStyle/>
          <a:p>
            <a:r>
              <a:rPr lang="en-US" sz="5400" b="1" dirty="0">
                <a:solidFill>
                  <a:srgbClr val="FFFFFF"/>
                </a:solidFill>
                <a:latin typeface="Bell MT" panose="02020503060305020303" pitchFamily="18" charset="0"/>
              </a:rPr>
              <a:t>Outlines</a:t>
            </a:r>
            <a:endParaRPr lang="en-GB" sz="5400" dirty="0">
              <a:solidFill>
                <a:srgbClr val="FFFFFF"/>
              </a:solidFill>
              <a:latin typeface="Bell MT" panose="02020503060305020303" pitchFamily="18" charset="0"/>
            </a:endParaRPr>
          </a:p>
        </p:txBody>
      </p:sp>
      <p:sp>
        <p:nvSpPr>
          <p:cNvPr id="8" name="TextBox 7">
            <a:extLst>
              <a:ext uri="{FF2B5EF4-FFF2-40B4-BE49-F238E27FC236}">
                <a16:creationId xmlns:a16="http://schemas.microsoft.com/office/drawing/2014/main" id="{F6205986-627F-0552-8A8B-64E96EDDD087}"/>
              </a:ext>
            </a:extLst>
          </p:cNvPr>
          <p:cNvSpPr txBox="1"/>
          <p:nvPr/>
        </p:nvSpPr>
        <p:spPr>
          <a:xfrm>
            <a:off x="976744" y="1704951"/>
            <a:ext cx="10515599" cy="4085511"/>
          </a:xfrm>
          <a:prstGeom prst="roundRect">
            <a:avLst>
              <a:gd name="adj" fmla="val 5751"/>
            </a:avLst>
          </a:prstGeom>
          <a:noFill/>
          <a:ln>
            <a:noFill/>
          </a:ln>
          <a:effectLst>
            <a:outerShdw blurRad="50800" dist="38100" dir="10800000" algn="r" rotWithShape="0">
              <a:prstClr val="black">
                <a:alpha val="40000"/>
              </a:prstClr>
            </a:outerShdw>
          </a:effectLst>
        </p:spPr>
        <p:txBody>
          <a:bodyPr wrap="square" rtlCol="0">
            <a:spAutoFit/>
          </a:bodyPr>
          <a:lstStyle/>
          <a:p>
            <a:pPr marL="457200" indent="-457200">
              <a:buFont typeface="Arial" panose="020B0604020202020204" pitchFamily="34" charset="0"/>
              <a:buChar char="•"/>
            </a:pPr>
            <a:r>
              <a:rPr lang="en-US" sz="2800" b="1" dirty="0">
                <a:latin typeface="Bell MT" panose="02020503060305020303" pitchFamily="18" charset="0"/>
              </a:rPr>
              <a:t>Introduction</a:t>
            </a:r>
          </a:p>
          <a:p>
            <a:pPr marL="457200" indent="-457200">
              <a:buFont typeface="Arial" panose="020B0604020202020204" pitchFamily="34" charset="0"/>
              <a:buChar char="•"/>
            </a:pPr>
            <a:r>
              <a:rPr lang="en-GB" sz="2800" b="1" dirty="0">
                <a:latin typeface="Bell MT" panose="02020503060305020303" pitchFamily="18" charset="0"/>
              </a:rPr>
              <a:t>History of Larkana</a:t>
            </a:r>
          </a:p>
          <a:p>
            <a:pPr marL="457200" indent="-457200">
              <a:buFont typeface="Arial" panose="020B0604020202020204" pitchFamily="34" charset="0"/>
              <a:buChar char="•"/>
            </a:pPr>
            <a:r>
              <a:rPr lang="en-GB" sz="2800" b="1" dirty="0">
                <a:latin typeface="Bell MT" panose="02020503060305020303" pitchFamily="18" charset="0"/>
              </a:rPr>
              <a:t>Administration</a:t>
            </a:r>
          </a:p>
          <a:p>
            <a:pPr marL="457200" indent="-457200">
              <a:buFont typeface="Arial" panose="020B0604020202020204" pitchFamily="34" charset="0"/>
              <a:buChar char="•"/>
            </a:pPr>
            <a:r>
              <a:rPr lang="en-GB" sz="2800" b="1" dirty="0">
                <a:latin typeface="Bell MT" panose="02020503060305020303" pitchFamily="18" charset="0"/>
              </a:rPr>
              <a:t>Economy</a:t>
            </a:r>
          </a:p>
          <a:p>
            <a:pPr marL="457200" indent="-457200">
              <a:buFont typeface="Arial" panose="020B0604020202020204" pitchFamily="34" charset="0"/>
              <a:buChar char="•"/>
            </a:pPr>
            <a:r>
              <a:rPr lang="en-GB" sz="2800" b="1" dirty="0">
                <a:latin typeface="Bell MT" panose="02020503060305020303" pitchFamily="18" charset="0"/>
              </a:rPr>
              <a:t>Education</a:t>
            </a:r>
          </a:p>
          <a:p>
            <a:pPr marL="457200" indent="-457200">
              <a:buFont typeface="Arial" panose="020B0604020202020204" pitchFamily="34" charset="0"/>
              <a:buChar char="•"/>
            </a:pPr>
            <a:r>
              <a:rPr lang="en-GB" sz="2800" b="1" dirty="0">
                <a:latin typeface="Bell MT" panose="02020503060305020303" pitchFamily="18" charset="0"/>
              </a:rPr>
              <a:t>Demographics</a:t>
            </a:r>
          </a:p>
          <a:p>
            <a:pPr marL="457200" indent="-457200">
              <a:buFont typeface="Arial" panose="020B0604020202020204" pitchFamily="34" charset="0"/>
              <a:buChar char="•"/>
            </a:pPr>
            <a:r>
              <a:rPr lang="en-GB" sz="2800" b="1" dirty="0">
                <a:latin typeface="Bell MT" panose="02020503060305020303" pitchFamily="18" charset="0"/>
              </a:rPr>
              <a:t>Districts</a:t>
            </a:r>
          </a:p>
          <a:p>
            <a:pPr marL="457200" indent="-457200">
              <a:buFont typeface="Arial" panose="020B0604020202020204" pitchFamily="34" charset="0"/>
              <a:buChar char="•"/>
            </a:pPr>
            <a:r>
              <a:rPr lang="en-GB" sz="2800" b="1" dirty="0">
                <a:latin typeface="Bell MT" panose="02020503060305020303" pitchFamily="18" charset="0"/>
              </a:rPr>
              <a:t>Famous Personalities</a:t>
            </a:r>
          </a:p>
          <a:p>
            <a:pPr marL="457200" indent="-457200">
              <a:buFont typeface="Arial" panose="020B0604020202020204" pitchFamily="34" charset="0"/>
              <a:buChar char="•"/>
            </a:pPr>
            <a:r>
              <a:rPr lang="en-GB" sz="2800" b="1" dirty="0">
                <a:latin typeface="Bell MT" panose="02020503060305020303" pitchFamily="18" charset="0"/>
              </a:rPr>
              <a:t>Conclusion</a:t>
            </a:r>
          </a:p>
        </p:txBody>
      </p:sp>
    </p:spTree>
    <p:extLst>
      <p:ext uri="{BB962C8B-B14F-4D97-AF65-F5344CB8AC3E}">
        <p14:creationId xmlns:p14="http://schemas.microsoft.com/office/powerpoint/2010/main" val="2984156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B43E60-499A-B354-6AE2-657FC828F5D9}"/>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l="2473" r="2473"/>
          <a:stretch/>
        </p:blipFill>
        <p:spPr>
          <a:xfrm>
            <a:off x="-2" y="10"/>
            <a:ext cx="12192000" cy="7596544"/>
          </a:xfrm>
          <a:prstGeom prst="rect">
            <a:avLst/>
          </a:prstGeom>
        </p:spPr>
      </p:pic>
      <p:sp>
        <p:nvSpPr>
          <p:cNvPr id="3" name="Rectangle: Rounded Corners 2">
            <a:extLst>
              <a:ext uri="{FF2B5EF4-FFF2-40B4-BE49-F238E27FC236}">
                <a16:creationId xmlns:a16="http://schemas.microsoft.com/office/drawing/2014/main" id="{26BCF911-4535-E7E3-777C-AA1D0C3AA9D0}"/>
              </a:ext>
            </a:extLst>
          </p:cNvPr>
          <p:cNvSpPr/>
          <p:nvPr/>
        </p:nvSpPr>
        <p:spPr>
          <a:xfrm>
            <a:off x="-328317" y="5487740"/>
            <a:ext cx="9347625" cy="845127"/>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F918DA2E-E656-4D97-8DAB-906458F5EC7F}"/>
              </a:ext>
            </a:extLst>
          </p:cNvPr>
          <p:cNvSpPr>
            <a:spLocks noGrp="1"/>
          </p:cNvSpPr>
          <p:nvPr>
            <p:ph type="ctrTitle"/>
          </p:nvPr>
        </p:nvSpPr>
        <p:spPr>
          <a:xfrm>
            <a:off x="352043" y="5567404"/>
            <a:ext cx="9079991" cy="685800"/>
          </a:xfrm>
        </p:spPr>
        <p:txBody>
          <a:bodyPr>
            <a:normAutofit fontScale="90000"/>
          </a:bodyPr>
          <a:lstStyle/>
          <a:p>
            <a:pPr algn="l"/>
            <a:r>
              <a:rPr lang="en-US" sz="4400" b="1" dirty="0">
                <a:latin typeface="Bahnschrift" panose="020B0502040204020203" pitchFamily="34" charset="0"/>
              </a:rPr>
              <a:t>History of Larkana</a:t>
            </a:r>
            <a:endParaRPr lang="en-GB" sz="4400" b="1" dirty="0">
              <a:latin typeface="Bahnschrift" panose="020B0502040204020203" pitchFamily="34" charset="0"/>
            </a:endParaRPr>
          </a:p>
        </p:txBody>
      </p:sp>
      <p:pic>
        <p:nvPicPr>
          <p:cNvPr id="4" name="Picture 3">
            <a:extLst>
              <a:ext uri="{FF2B5EF4-FFF2-40B4-BE49-F238E27FC236}">
                <a16:creationId xmlns:a16="http://schemas.microsoft.com/office/drawing/2014/main" id="{BBC99FFC-5A31-7387-D47D-C648DCADAD95}"/>
              </a:ext>
            </a:extLst>
          </p:cNvPr>
          <p:cNvPicPr>
            <a:picLocks noChangeAspect="1"/>
          </p:cNvPicPr>
          <p:nvPr/>
        </p:nvPicPr>
        <p:blipFill rotWithShape="1">
          <a:blip r:embed="rId4">
            <a:extLst>
              <a:ext uri="{28A0092B-C50C-407E-A947-70E740481C1C}">
                <a14:useLocalDpi xmlns:a14="http://schemas.microsoft.com/office/drawing/2010/main" val="0"/>
              </a:ext>
            </a:extLst>
          </a:blip>
          <a:srcRect t="2831" b="6367"/>
          <a:stretch/>
        </p:blipFill>
        <p:spPr>
          <a:xfrm>
            <a:off x="8044028" y="1354990"/>
            <a:ext cx="3631728" cy="4977877"/>
          </a:xfrm>
          <a:prstGeom prst="roundRect">
            <a:avLst>
              <a:gd name="adj" fmla="val 4551"/>
            </a:avLst>
          </a:prstGeom>
          <a:ln w="38100">
            <a:solidFill>
              <a:schemeClr val="tx1"/>
            </a:solid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23D22AEE-11E6-FC07-94A3-BF1DFDED3B95}"/>
              </a:ext>
            </a:extLst>
          </p:cNvPr>
          <p:cNvSpPr txBox="1"/>
          <p:nvPr/>
        </p:nvSpPr>
        <p:spPr>
          <a:xfrm>
            <a:off x="352043" y="1607204"/>
            <a:ext cx="7170975" cy="3515439"/>
          </a:xfrm>
          <a:prstGeom prst="roundRect">
            <a:avLst>
              <a:gd name="adj" fmla="val 5751"/>
            </a:avLst>
          </a:prstGeom>
          <a:solidFill>
            <a:schemeClr val="tx1"/>
          </a:solidFill>
          <a:ln>
            <a:noFill/>
          </a:ln>
          <a:effectLst>
            <a:outerShdw blurRad="50800" dist="38100" dir="10800000" algn="r" rotWithShape="0">
              <a:prstClr val="black">
                <a:alpha val="40000"/>
              </a:prstClr>
            </a:outerShdw>
          </a:effectLst>
        </p:spPr>
        <p:txBody>
          <a:bodyPr wrap="square" rtlCol="0">
            <a:spAutoFit/>
          </a:bodyPr>
          <a:lstStyle/>
          <a:p>
            <a:r>
              <a:rPr lang="en-US" sz="2400" dirty="0">
                <a:solidFill>
                  <a:sysClr val="windowText" lastClr="000000"/>
                </a:solidFill>
              </a:rPr>
              <a:t>Larkana is one of the oldest city which had once a great civilization called Mohan-jo-Daro.</a:t>
            </a:r>
          </a:p>
          <a:p>
            <a:endParaRPr lang="en-US" sz="2400" dirty="0">
              <a:solidFill>
                <a:sysClr val="windowText" lastClr="000000"/>
              </a:solidFill>
            </a:endParaRPr>
          </a:p>
          <a:p>
            <a:r>
              <a:rPr lang="en-US" sz="2400" dirty="0">
                <a:solidFill>
                  <a:sysClr val="windowText" lastClr="000000"/>
                </a:solidFill>
              </a:rPr>
              <a:t>Sheik Naveed Aslam has written in his book, </a:t>
            </a:r>
            <a:r>
              <a:rPr lang="en-US" sz="2400" i="1" dirty="0">
                <a:solidFill>
                  <a:sysClr val="windowText" lastClr="000000"/>
                </a:solidFill>
              </a:rPr>
              <a:t>Pakistan k Aasar-e-Qadeem</a:t>
            </a:r>
            <a:r>
              <a:rPr lang="en-US" sz="2400" dirty="0">
                <a:solidFill>
                  <a:sysClr val="windowText" lastClr="000000"/>
                </a:solidFill>
              </a:rPr>
              <a:t>, on pg.no: 60:</a:t>
            </a:r>
          </a:p>
          <a:p>
            <a:endParaRPr lang="en-US" sz="2400" dirty="0">
              <a:solidFill>
                <a:sysClr val="windowText" lastClr="000000"/>
              </a:solidFill>
            </a:endParaRPr>
          </a:p>
          <a:p>
            <a:r>
              <a:rPr lang="en-US" sz="2400" i="1" dirty="0">
                <a:solidFill>
                  <a:sysClr val="windowText" lastClr="000000"/>
                </a:solidFill>
              </a:rPr>
              <a:t>“About 4.5 hundred years ago, on this land, there was a great civilization of Mohan-jo-Daro, which is considered as one of the oldest civilization of Sub-continent.”</a:t>
            </a:r>
            <a:endParaRPr lang="en-GB" sz="2400" i="1" dirty="0">
              <a:solidFill>
                <a:sysClr val="windowText" lastClr="000000"/>
              </a:solidFill>
            </a:endParaRPr>
          </a:p>
        </p:txBody>
      </p:sp>
    </p:spTree>
    <p:extLst>
      <p:ext uri="{BB962C8B-B14F-4D97-AF65-F5344CB8AC3E}">
        <p14:creationId xmlns:p14="http://schemas.microsoft.com/office/powerpoint/2010/main" val="1794498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6C7CF1-2E9D-48FB-B238-0A71658C31D7}"/>
              </a:ext>
            </a:extLst>
          </p:cNvPr>
          <p:cNvSpPr txBox="1"/>
          <p:nvPr/>
        </p:nvSpPr>
        <p:spPr>
          <a:xfrm>
            <a:off x="1029729" y="1125564"/>
            <a:ext cx="10132542" cy="5262979"/>
          </a:xfrm>
          <a:prstGeom prst="rect">
            <a:avLst/>
          </a:prstGeom>
          <a:noFill/>
        </p:spPr>
        <p:txBody>
          <a:bodyPr wrap="square" rtlCol="0">
            <a:spAutoFit/>
          </a:bodyPr>
          <a:lstStyle/>
          <a:p>
            <a:pPr algn="just"/>
            <a:r>
              <a:rPr lang="en-US" sz="2800" b="0" i="0" dirty="0">
                <a:solidFill>
                  <a:schemeClr val="bg1"/>
                </a:solidFill>
                <a:effectLst/>
                <a:latin typeface="Bell MT" panose="02020503060305020303" pitchFamily="18" charset="0"/>
              </a:rPr>
              <a:t>Larkana was first </a:t>
            </a:r>
            <a:r>
              <a:rPr lang="en-US" sz="2800" dirty="0">
                <a:solidFill>
                  <a:schemeClr val="bg1"/>
                </a:solidFill>
                <a:latin typeface="Bell MT" panose="02020503060305020303" pitchFamily="18" charset="0"/>
              </a:rPr>
              <a:t>set as a district by British government in 1901, since then there have been many changes to it. In 1931, Larkana was splits and new district formed called </a:t>
            </a:r>
            <a:r>
              <a:rPr lang="en-US" sz="2800" dirty="0" err="1">
                <a:solidFill>
                  <a:schemeClr val="bg1"/>
                </a:solidFill>
                <a:latin typeface="Bell MT" panose="02020503060305020303" pitchFamily="18" charset="0"/>
              </a:rPr>
              <a:t>Dadu</a:t>
            </a:r>
            <a:r>
              <a:rPr lang="en-US" sz="2800" dirty="0">
                <a:solidFill>
                  <a:schemeClr val="bg1"/>
                </a:solidFill>
                <a:latin typeface="Bell MT" panose="02020503060305020303" pitchFamily="18" charset="0"/>
              </a:rPr>
              <a:t>. In 1980, Larkana was given status of division but in </a:t>
            </a:r>
            <a:r>
              <a:rPr lang="en-US" sz="2800" dirty="0" err="1">
                <a:solidFill>
                  <a:schemeClr val="bg1"/>
                </a:solidFill>
                <a:latin typeface="Bell MT" panose="02020503060305020303" pitchFamily="18" charset="0"/>
              </a:rPr>
              <a:t>Mushraff’s</a:t>
            </a:r>
            <a:r>
              <a:rPr lang="en-US" sz="2800" dirty="0">
                <a:solidFill>
                  <a:schemeClr val="bg1"/>
                </a:solidFill>
                <a:latin typeface="Bell MT" panose="02020503060305020303" pitchFamily="18" charset="0"/>
              </a:rPr>
              <a:t> era in 2000 the status was abolished but again in 2011 the division status was released, and now it</a:t>
            </a:r>
            <a:r>
              <a:rPr lang="en-US" sz="2800" b="0" i="0" dirty="0">
                <a:solidFill>
                  <a:schemeClr val="bg1"/>
                </a:solidFill>
                <a:effectLst/>
                <a:latin typeface="Bell MT" panose="02020503060305020303" pitchFamily="18" charset="0"/>
              </a:rPr>
              <a:t> comprises the following districts:</a:t>
            </a:r>
          </a:p>
          <a:p>
            <a:pPr algn="just"/>
            <a:endParaRPr lang="en-US" sz="2800" b="0" i="0" dirty="0">
              <a:solidFill>
                <a:schemeClr val="bg1"/>
              </a:solidFill>
              <a:effectLst/>
              <a:latin typeface="Bell MT" panose="02020503060305020303" pitchFamily="18" charset="0"/>
            </a:endParaRPr>
          </a:p>
          <a:p>
            <a:pPr marL="342900" indent="-342900" algn="just">
              <a:buFont typeface="Arial" panose="020B0604020202020204" pitchFamily="34" charset="0"/>
              <a:buChar char="•"/>
            </a:pPr>
            <a:r>
              <a:rPr lang="en-US" sz="2800" b="0" i="0" dirty="0">
                <a:solidFill>
                  <a:schemeClr val="bg1"/>
                </a:solidFill>
                <a:effectLst/>
                <a:latin typeface="Bell MT" panose="02020503060305020303" pitchFamily="18" charset="0"/>
              </a:rPr>
              <a:t>Jacobabad District</a:t>
            </a:r>
          </a:p>
          <a:p>
            <a:pPr marL="342900" indent="-342900" algn="just">
              <a:buFont typeface="Arial" panose="020B0604020202020204" pitchFamily="34" charset="0"/>
              <a:buChar char="•"/>
            </a:pPr>
            <a:r>
              <a:rPr lang="en-US" sz="2800" b="0" i="0" dirty="0">
                <a:solidFill>
                  <a:schemeClr val="bg1"/>
                </a:solidFill>
                <a:effectLst/>
                <a:latin typeface="Bell MT" panose="02020503060305020303" pitchFamily="18" charset="0"/>
              </a:rPr>
              <a:t>Kashmore District</a:t>
            </a:r>
          </a:p>
          <a:p>
            <a:pPr marL="342900" indent="-342900" algn="just">
              <a:buFont typeface="Arial" panose="020B0604020202020204" pitchFamily="34" charset="0"/>
              <a:buChar char="•"/>
            </a:pPr>
            <a:r>
              <a:rPr lang="en-US" sz="2800" b="0" i="0" dirty="0">
                <a:solidFill>
                  <a:schemeClr val="bg1"/>
                </a:solidFill>
                <a:effectLst/>
                <a:latin typeface="Bell MT" panose="02020503060305020303" pitchFamily="18" charset="0"/>
              </a:rPr>
              <a:t>Larkana District</a:t>
            </a:r>
          </a:p>
          <a:p>
            <a:pPr marL="342900" indent="-342900" algn="just">
              <a:buFont typeface="Arial" panose="020B0604020202020204" pitchFamily="34" charset="0"/>
              <a:buChar char="•"/>
            </a:pPr>
            <a:r>
              <a:rPr lang="en-US" sz="2800" b="0" i="0" dirty="0">
                <a:solidFill>
                  <a:schemeClr val="bg1"/>
                </a:solidFill>
                <a:effectLst/>
                <a:latin typeface="Bell MT" panose="02020503060305020303" pitchFamily="18" charset="0"/>
              </a:rPr>
              <a:t>Qambar-Shahdadkot District</a:t>
            </a:r>
          </a:p>
          <a:p>
            <a:pPr marL="342900" indent="-342900" algn="just">
              <a:buFont typeface="Arial" panose="020B0604020202020204" pitchFamily="34" charset="0"/>
              <a:buChar char="•"/>
            </a:pPr>
            <a:r>
              <a:rPr lang="en-US" sz="2800" dirty="0">
                <a:solidFill>
                  <a:schemeClr val="bg1"/>
                </a:solidFill>
                <a:latin typeface="Bell MT" panose="02020503060305020303" pitchFamily="18" charset="0"/>
              </a:rPr>
              <a:t>Shikarpur District </a:t>
            </a:r>
          </a:p>
        </p:txBody>
      </p:sp>
      <p:sp>
        <p:nvSpPr>
          <p:cNvPr id="7" name="Rectangle: Rounded Corners 6">
            <a:extLst>
              <a:ext uri="{FF2B5EF4-FFF2-40B4-BE49-F238E27FC236}">
                <a16:creationId xmlns:a16="http://schemas.microsoft.com/office/drawing/2014/main" id="{82B11833-2902-40DD-9E36-CA922DEE6BB4}"/>
              </a:ext>
            </a:extLst>
          </p:cNvPr>
          <p:cNvSpPr/>
          <p:nvPr/>
        </p:nvSpPr>
        <p:spPr>
          <a:xfrm>
            <a:off x="2343342" y="303202"/>
            <a:ext cx="7505316" cy="599155"/>
          </a:xfrm>
          <a:prstGeom prst="roundRect">
            <a:avLst>
              <a:gd name="adj" fmla="val 10417"/>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800" b="1" dirty="0">
                <a:latin typeface="Bell MT" panose="02020503060305020303" pitchFamily="18" charset="0"/>
              </a:rPr>
              <a:t>History…</a:t>
            </a:r>
            <a:endParaRPr lang="en-GB" sz="4800" b="1" dirty="0">
              <a:latin typeface="Bell MT" panose="02020503060305020303" pitchFamily="18" charset="0"/>
            </a:endParaRPr>
          </a:p>
        </p:txBody>
      </p:sp>
    </p:spTree>
    <p:extLst>
      <p:ext uri="{BB962C8B-B14F-4D97-AF65-F5344CB8AC3E}">
        <p14:creationId xmlns:p14="http://schemas.microsoft.com/office/powerpoint/2010/main" val="264683676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6C7CF1-2E9D-48FB-B238-0A71658C31D7}"/>
              </a:ext>
            </a:extLst>
          </p:cNvPr>
          <p:cNvSpPr txBox="1"/>
          <p:nvPr/>
        </p:nvSpPr>
        <p:spPr>
          <a:xfrm>
            <a:off x="1029729" y="1413063"/>
            <a:ext cx="10132542" cy="4031873"/>
          </a:xfrm>
          <a:prstGeom prst="rect">
            <a:avLst/>
          </a:prstGeom>
          <a:noFill/>
        </p:spPr>
        <p:txBody>
          <a:bodyPr wrap="square" rtlCol="0">
            <a:spAutoFit/>
          </a:bodyPr>
          <a:lstStyle/>
          <a:p>
            <a:pPr algn="l"/>
            <a:r>
              <a:rPr lang="en-GB" sz="3200" b="0" i="0" dirty="0">
                <a:solidFill>
                  <a:schemeClr val="bg1"/>
                </a:solidFill>
                <a:effectLst/>
                <a:latin typeface="Bell MT" panose="02020503060305020303" pitchFamily="18" charset="0"/>
              </a:rPr>
              <a:t>The district of Larkana is administratively subdivided into the following </a:t>
            </a:r>
            <a:r>
              <a:rPr lang="en-GB" sz="3200" b="0" i="0" u="none" strike="noStrike" dirty="0">
                <a:solidFill>
                  <a:schemeClr val="bg1"/>
                </a:solidFill>
                <a:effectLst/>
                <a:latin typeface="Bell MT" panose="02020503060305020303" pitchFamily="18" charset="0"/>
              </a:rPr>
              <a:t>tehsil:</a:t>
            </a:r>
          </a:p>
          <a:p>
            <a:pPr algn="l"/>
            <a:endParaRPr lang="en-GB" sz="3200" b="0" i="0" dirty="0">
              <a:solidFill>
                <a:schemeClr val="bg1"/>
              </a:solidFill>
              <a:effectLst/>
              <a:latin typeface="Bell MT" panose="02020503060305020303" pitchFamily="18" charset="0"/>
            </a:endParaRPr>
          </a:p>
          <a:p>
            <a:pPr marL="457200" indent="-457200" algn="l">
              <a:buFont typeface="Arial" panose="020B0604020202020204" pitchFamily="34" charset="0"/>
              <a:buChar char="•"/>
            </a:pPr>
            <a:r>
              <a:rPr lang="en-GB" sz="3200" b="0" i="0" u="none" strike="noStrike" dirty="0" err="1">
                <a:solidFill>
                  <a:schemeClr val="bg1"/>
                </a:solidFill>
                <a:effectLst/>
                <a:latin typeface="Bell MT" panose="02020503060305020303" pitchFamily="18" charset="0"/>
              </a:rPr>
              <a:t>Dokri</a:t>
            </a:r>
            <a:r>
              <a:rPr lang="en-GB" sz="3200" b="0" i="0" u="none" strike="noStrike" dirty="0">
                <a:solidFill>
                  <a:schemeClr val="bg1"/>
                </a:solidFill>
                <a:effectLst/>
                <a:latin typeface="Bell MT" panose="02020503060305020303" pitchFamily="18" charset="0"/>
              </a:rPr>
              <a:t> Tehsil</a:t>
            </a:r>
            <a:r>
              <a:rPr lang="en-GB" sz="3200" b="0" i="0" dirty="0">
                <a:solidFill>
                  <a:schemeClr val="bg1"/>
                </a:solidFill>
                <a:effectLst/>
                <a:latin typeface="Bell MT" panose="02020503060305020303" pitchFamily="18" charset="0"/>
              </a:rPr>
              <a:t> (</a:t>
            </a:r>
            <a:r>
              <a:rPr lang="en-GB" sz="3200" b="0" i="0" dirty="0" err="1">
                <a:solidFill>
                  <a:schemeClr val="bg1"/>
                </a:solidFill>
                <a:effectLst/>
                <a:latin typeface="Bell MT" panose="02020503060305020303" pitchFamily="18" charset="0"/>
              </a:rPr>
              <a:t>Labdarya</a:t>
            </a:r>
            <a:r>
              <a:rPr lang="en-GB" sz="3200" b="0" i="0" dirty="0">
                <a:solidFill>
                  <a:schemeClr val="bg1"/>
                </a:solidFill>
                <a:effectLst/>
                <a:latin typeface="Bell MT" panose="02020503060305020303" pitchFamily="18" charset="0"/>
              </a:rPr>
              <a:t> Tehsil)</a:t>
            </a:r>
          </a:p>
          <a:p>
            <a:pPr marL="457200" indent="-457200" algn="l">
              <a:buFont typeface="Arial" panose="020B0604020202020204" pitchFamily="34" charset="0"/>
              <a:buChar char="•"/>
            </a:pPr>
            <a:r>
              <a:rPr lang="en-GB" sz="3200" b="0" i="0" u="none" strike="noStrike" dirty="0" err="1">
                <a:solidFill>
                  <a:schemeClr val="bg1"/>
                </a:solidFill>
                <a:effectLst/>
                <a:latin typeface="Bell MT" panose="02020503060305020303" pitchFamily="18" charset="0"/>
              </a:rPr>
              <a:t>Bakrani</a:t>
            </a:r>
            <a:r>
              <a:rPr lang="en-GB" sz="3200" b="0" i="0" u="none" strike="noStrike" dirty="0">
                <a:solidFill>
                  <a:schemeClr val="bg1"/>
                </a:solidFill>
                <a:effectLst/>
                <a:latin typeface="Bell MT" panose="02020503060305020303" pitchFamily="18" charset="0"/>
              </a:rPr>
              <a:t> Tehsil</a:t>
            </a:r>
            <a:endParaRPr lang="en-GB" sz="3200" b="0" i="0" dirty="0">
              <a:solidFill>
                <a:schemeClr val="bg1"/>
              </a:solidFill>
              <a:effectLst/>
              <a:latin typeface="Bell MT" panose="02020503060305020303" pitchFamily="18" charset="0"/>
            </a:endParaRPr>
          </a:p>
          <a:p>
            <a:pPr marL="457200" indent="-457200" algn="l">
              <a:buFont typeface="Arial" panose="020B0604020202020204" pitchFamily="34" charset="0"/>
              <a:buChar char="•"/>
            </a:pPr>
            <a:r>
              <a:rPr lang="en-GB" sz="3200" b="0" i="0" u="none" strike="noStrike" dirty="0">
                <a:solidFill>
                  <a:schemeClr val="bg1"/>
                </a:solidFill>
                <a:effectLst/>
                <a:latin typeface="Bell MT" panose="02020503060305020303" pitchFamily="18" charset="0"/>
              </a:rPr>
              <a:t>Larkana Tehsil</a:t>
            </a:r>
            <a:endParaRPr lang="en-GB" sz="3200" b="0" i="0" dirty="0">
              <a:solidFill>
                <a:schemeClr val="bg1"/>
              </a:solidFill>
              <a:effectLst/>
              <a:latin typeface="Bell MT" panose="02020503060305020303" pitchFamily="18" charset="0"/>
            </a:endParaRPr>
          </a:p>
          <a:p>
            <a:pPr marL="457200" indent="-457200" algn="l">
              <a:buFont typeface="Arial" panose="020B0604020202020204" pitchFamily="34" charset="0"/>
              <a:buChar char="•"/>
            </a:pPr>
            <a:r>
              <a:rPr lang="en-GB" sz="3200" b="0" i="0" u="none" strike="noStrike" dirty="0" err="1">
                <a:solidFill>
                  <a:schemeClr val="bg1"/>
                </a:solidFill>
                <a:effectLst/>
                <a:latin typeface="Bell MT" panose="02020503060305020303" pitchFamily="18" charset="0"/>
              </a:rPr>
              <a:t>Ratodero</a:t>
            </a:r>
            <a:r>
              <a:rPr lang="en-GB" sz="3200" b="0" i="0" u="none" strike="noStrike" dirty="0">
                <a:solidFill>
                  <a:schemeClr val="bg1"/>
                </a:solidFill>
                <a:effectLst/>
                <a:latin typeface="Bell MT" panose="02020503060305020303" pitchFamily="18" charset="0"/>
              </a:rPr>
              <a:t> Tehsil</a:t>
            </a:r>
            <a:endParaRPr lang="en-GB" sz="3200" b="0" i="0" dirty="0">
              <a:solidFill>
                <a:schemeClr val="bg1"/>
              </a:solidFill>
              <a:effectLst/>
              <a:latin typeface="Bell MT" panose="02020503060305020303" pitchFamily="18" charset="0"/>
            </a:endParaRPr>
          </a:p>
          <a:p>
            <a:pPr marL="457200" indent="-457200" algn="l">
              <a:buFont typeface="Arial" panose="020B0604020202020204" pitchFamily="34" charset="0"/>
              <a:buChar char="•"/>
            </a:pPr>
            <a:r>
              <a:rPr lang="en-GB" sz="3200" b="0" i="0" u="none" strike="noStrike" dirty="0" err="1">
                <a:solidFill>
                  <a:schemeClr val="bg1"/>
                </a:solidFill>
                <a:effectLst/>
                <a:latin typeface="Bell MT" panose="02020503060305020303" pitchFamily="18" charset="0"/>
              </a:rPr>
              <a:t>Naudero</a:t>
            </a:r>
            <a:r>
              <a:rPr lang="en-GB" sz="3200" b="0" i="0" u="none" strike="noStrike" dirty="0">
                <a:solidFill>
                  <a:schemeClr val="bg1"/>
                </a:solidFill>
                <a:effectLst/>
                <a:latin typeface="Bell MT" panose="02020503060305020303" pitchFamily="18" charset="0"/>
              </a:rPr>
              <a:t> Tehsil</a:t>
            </a:r>
            <a:endParaRPr lang="en-GB" sz="3200" b="0" i="0" dirty="0">
              <a:solidFill>
                <a:schemeClr val="bg1"/>
              </a:solidFill>
              <a:effectLst/>
              <a:latin typeface="Bell MT" panose="02020503060305020303" pitchFamily="18" charset="0"/>
            </a:endParaRPr>
          </a:p>
        </p:txBody>
      </p:sp>
      <p:sp>
        <p:nvSpPr>
          <p:cNvPr id="7" name="Rectangle: Rounded Corners 6">
            <a:extLst>
              <a:ext uri="{FF2B5EF4-FFF2-40B4-BE49-F238E27FC236}">
                <a16:creationId xmlns:a16="http://schemas.microsoft.com/office/drawing/2014/main" id="{82B11833-2902-40DD-9E36-CA922DEE6BB4}"/>
              </a:ext>
            </a:extLst>
          </p:cNvPr>
          <p:cNvSpPr/>
          <p:nvPr/>
        </p:nvSpPr>
        <p:spPr>
          <a:xfrm>
            <a:off x="2343342" y="414039"/>
            <a:ext cx="7505316" cy="749743"/>
          </a:xfrm>
          <a:prstGeom prst="roundRect">
            <a:avLst>
              <a:gd name="adj" fmla="val 10417"/>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3600" b="1" dirty="0">
                <a:latin typeface="Bell MT" panose="02020503060305020303" pitchFamily="18" charset="0"/>
              </a:rPr>
              <a:t>Administration</a:t>
            </a:r>
            <a:endParaRPr lang="en-GB" sz="6000" b="1" dirty="0">
              <a:latin typeface="Bell MT" panose="02020503060305020303" pitchFamily="18" charset="0"/>
            </a:endParaRPr>
          </a:p>
        </p:txBody>
      </p:sp>
      <p:pic>
        <p:nvPicPr>
          <p:cNvPr id="3" name="Picture 2" descr="A map of a country&#10;&#10;Description automatically generated">
            <a:extLst>
              <a:ext uri="{FF2B5EF4-FFF2-40B4-BE49-F238E27FC236}">
                <a16:creationId xmlns:a16="http://schemas.microsoft.com/office/drawing/2014/main" id="{9907618B-BC26-FDCF-28B9-0A693102CE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1380" y="2204470"/>
            <a:ext cx="4109045" cy="4239491"/>
          </a:xfrm>
          <a:prstGeom prst="roundRect">
            <a:avLst>
              <a:gd name="adj" fmla="val 4161"/>
            </a:avLst>
          </a:prstGeom>
        </p:spPr>
      </p:pic>
    </p:spTree>
    <p:extLst>
      <p:ext uri="{BB962C8B-B14F-4D97-AF65-F5344CB8AC3E}">
        <p14:creationId xmlns:p14="http://schemas.microsoft.com/office/powerpoint/2010/main" val="128956522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AED632FB-03E8-71ED-A0BC-23501BC9BF0B}"/>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noFill/>
              </a:rPr>
              <a:t>Sheikh Mujeeb’s Six Points</a:t>
            </a:r>
            <a:endParaRPr lang="en-GB" dirty="0">
              <a:noFill/>
            </a:endParaRPr>
          </a:p>
        </p:txBody>
      </p:sp>
      <p:grpSp>
        <p:nvGrpSpPr>
          <p:cNvPr id="4" name="Group 3">
            <a:extLst>
              <a:ext uri="{FF2B5EF4-FFF2-40B4-BE49-F238E27FC236}">
                <a16:creationId xmlns:a16="http://schemas.microsoft.com/office/drawing/2014/main" id="{F262567A-C929-481A-982D-87962F7C3CA8}"/>
              </a:ext>
            </a:extLst>
          </p:cNvPr>
          <p:cNvGrpSpPr/>
          <p:nvPr/>
        </p:nvGrpSpPr>
        <p:grpSpPr>
          <a:xfrm>
            <a:off x="1122829" y="273550"/>
            <a:ext cx="9946341" cy="6310899"/>
            <a:chOff x="1492624" y="1214164"/>
            <a:chExt cx="4343400" cy="5361447"/>
          </a:xfrm>
          <a:noFill/>
        </p:grpSpPr>
        <p:grpSp>
          <p:nvGrpSpPr>
            <p:cNvPr id="2" name="Group 1">
              <a:extLst>
                <a:ext uri="{FF2B5EF4-FFF2-40B4-BE49-F238E27FC236}">
                  <a16:creationId xmlns:a16="http://schemas.microsoft.com/office/drawing/2014/main" id="{572244DF-17FD-4B2E-B648-B32E778D86EA}"/>
                </a:ext>
              </a:extLst>
            </p:cNvPr>
            <p:cNvGrpSpPr/>
            <p:nvPr/>
          </p:nvGrpSpPr>
          <p:grpSpPr>
            <a:xfrm>
              <a:off x="1492624" y="1214164"/>
              <a:ext cx="4343400" cy="5361447"/>
              <a:chOff x="4280647" y="228600"/>
              <a:chExt cx="3630706" cy="6347012"/>
            </a:xfrm>
            <a:grpFill/>
          </p:grpSpPr>
          <p:sp>
            <p:nvSpPr>
              <p:cNvPr id="7" name="Rectangle: Rounded Corners 6">
                <a:extLst>
                  <a:ext uri="{FF2B5EF4-FFF2-40B4-BE49-F238E27FC236}">
                    <a16:creationId xmlns:a16="http://schemas.microsoft.com/office/drawing/2014/main" id="{13D28F30-7403-4178-A43E-AA8BE75803C9}"/>
                  </a:ext>
                </a:extLst>
              </p:cNvPr>
              <p:cNvSpPr/>
              <p:nvPr/>
            </p:nvSpPr>
            <p:spPr>
              <a:xfrm>
                <a:off x="4280647" y="228600"/>
                <a:ext cx="3630706" cy="6347012"/>
              </a:xfrm>
              <a:prstGeom prst="roundRect">
                <a:avLst>
                  <a:gd name="adj" fmla="val 2963"/>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8">
                <a:extLst>
                  <a:ext uri="{FF2B5EF4-FFF2-40B4-BE49-F238E27FC236}">
                    <a16:creationId xmlns:a16="http://schemas.microsoft.com/office/drawing/2014/main" id="{FF671E63-09DC-4905-AF73-B79C3B150724}"/>
                  </a:ext>
                </a:extLst>
              </p:cNvPr>
              <p:cNvPicPr>
                <a:picLocks noChangeAspect="1"/>
              </p:cNvPicPr>
              <p:nvPr/>
            </p:nvPicPr>
            <p:blipFill rotWithShape="1">
              <a:blip r:embed="rId3">
                <a:extLst>
                  <a:ext uri="{28A0092B-C50C-407E-A947-70E740481C1C}">
                    <a14:useLocalDpi xmlns:a14="http://schemas.microsoft.com/office/drawing/2010/main" val="0"/>
                  </a:ext>
                </a:extLst>
              </a:blip>
              <a:srcRect l="23" t="6554" r="-23" b="46298"/>
              <a:stretch/>
            </p:blipFill>
            <p:spPr>
              <a:xfrm>
                <a:off x="4332187" y="345680"/>
                <a:ext cx="3529262" cy="2821264"/>
              </a:xfrm>
              <a:prstGeom prst="roundRect">
                <a:avLst>
                  <a:gd name="adj" fmla="val 1929"/>
                </a:avLst>
              </a:prstGeom>
              <a:grpFill/>
              <a:ln w="28575">
                <a:solidFill>
                  <a:schemeClr val="bg1"/>
                </a:solidFill>
              </a:ln>
              <a:effectLst/>
            </p:spPr>
          </p:pic>
        </p:grpSp>
        <p:sp>
          <p:nvSpPr>
            <p:cNvPr id="16" name="Rectangle: Rounded Corners 15">
              <a:extLst>
                <a:ext uri="{FF2B5EF4-FFF2-40B4-BE49-F238E27FC236}">
                  <a16:creationId xmlns:a16="http://schemas.microsoft.com/office/drawing/2014/main" id="{FE6722B1-7FB6-455F-B96D-66739EEB87C2}"/>
                </a:ext>
              </a:extLst>
            </p:cNvPr>
            <p:cNvSpPr/>
            <p:nvPr/>
          </p:nvSpPr>
          <p:spPr>
            <a:xfrm>
              <a:off x="2770065" y="3399427"/>
              <a:ext cx="1788517" cy="509014"/>
            </a:xfrm>
            <a:prstGeom prst="roundRect">
              <a:avLst>
                <a:gd name="adj" fmla="val 10417"/>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a:solidFill>
                    <a:schemeClr val="bg1"/>
                  </a:solidFill>
                  <a:latin typeface="Bell MT" panose="02020503060305020303" pitchFamily="18" charset="0"/>
                </a:rPr>
                <a:t>Districts</a:t>
              </a:r>
              <a:endParaRPr lang="en-GB" sz="3200" b="1" dirty="0">
                <a:solidFill>
                  <a:schemeClr val="bg1"/>
                </a:solidFill>
                <a:latin typeface="Bell MT" panose="02020503060305020303" pitchFamily="18" charset="0"/>
              </a:endParaRPr>
            </a:p>
          </p:txBody>
        </p:sp>
      </p:grpSp>
      <p:grpSp>
        <p:nvGrpSpPr>
          <p:cNvPr id="29" name="Group 28">
            <a:extLst>
              <a:ext uri="{FF2B5EF4-FFF2-40B4-BE49-F238E27FC236}">
                <a16:creationId xmlns:a16="http://schemas.microsoft.com/office/drawing/2014/main" id="{52F5D8DD-8F5C-A236-401F-27F9033CE703}"/>
              </a:ext>
            </a:extLst>
          </p:cNvPr>
          <p:cNvGrpSpPr/>
          <p:nvPr/>
        </p:nvGrpSpPr>
        <p:grpSpPr>
          <a:xfrm>
            <a:off x="1277878" y="3807531"/>
            <a:ext cx="9668435" cy="2164562"/>
            <a:chOff x="838200" y="3736227"/>
            <a:chExt cx="11655501" cy="2678361"/>
          </a:xfrm>
        </p:grpSpPr>
        <p:graphicFrame>
          <p:nvGraphicFramePr>
            <p:cNvPr id="19" name="Diagram 18">
              <a:extLst>
                <a:ext uri="{FF2B5EF4-FFF2-40B4-BE49-F238E27FC236}">
                  <a16:creationId xmlns:a16="http://schemas.microsoft.com/office/drawing/2014/main" id="{53B19F74-E4C3-48AA-C5FD-7AA7351B8B5F}"/>
                </a:ext>
              </a:extLst>
            </p:cNvPr>
            <p:cNvGraphicFramePr/>
            <p:nvPr>
              <p:extLst>
                <p:ext uri="{D42A27DB-BD31-4B8C-83A1-F6EECF244321}">
                  <p14:modId xmlns:p14="http://schemas.microsoft.com/office/powerpoint/2010/main" val="3457727850"/>
                </p:ext>
              </p:extLst>
            </p:nvPr>
          </p:nvGraphicFramePr>
          <p:xfrm>
            <a:off x="838200" y="3736227"/>
            <a:ext cx="5685436" cy="26783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7" name="Diagram 26">
              <a:extLst>
                <a:ext uri="{FF2B5EF4-FFF2-40B4-BE49-F238E27FC236}">
                  <a16:creationId xmlns:a16="http://schemas.microsoft.com/office/drawing/2014/main" id="{5A96DACC-C891-5580-86D9-5C89786ED7EA}"/>
                </a:ext>
              </a:extLst>
            </p:cNvPr>
            <p:cNvGraphicFramePr/>
            <p:nvPr>
              <p:extLst>
                <p:ext uri="{D42A27DB-BD31-4B8C-83A1-F6EECF244321}">
                  <p14:modId xmlns:p14="http://schemas.microsoft.com/office/powerpoint/2010/main" val="2774009932"/>
                </p:ext>
              </p:extLst>
            </p:nvPr>
          </p:nvGraphicFramePr>
          <p:xfrm>
            <a:off x="6808265" y="3736227"/>
            <a:ext cx="5685436" cy="267836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pSp>
    </p:spTree>
    <p:extLst>
      <p:ext uri="{BB962C8B-B14F-4D97-AF65-F5344CB8AC3E}">
        <p14:creationId xmlns:p14="http://schemas.microsoft.com/office/powerpoint/2010/main" val="312261951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6C7CF1-2E9D-48FB-B238-0A71658C31D7}"/>
              </a:ext>
            </a:extLst>
          </p:cNvPr>
          <p:cNvSpPr txBox="1"/>
          <p:nvPr/>
        </p:nvSpPr>
        <p:spPr>
          <a:xfrm>
            <a:off x="1029729" y="1125564"/>
            <a:ext cx="10132542" cy="5262979"/>
          </a:xfrm>
          <a:prstGeom prst="rect">
            <a:avLst/>
          </a:prstGeom>
          <a:noFill/>
        </p:spPr>
        <p:txBody>
          <a:bodyPr wrap="square" rtlCol="0">
            <a:spAutoFit/>
          </a:bodyPr>
          <a:lstStyle/>
          <a:p>
            <a:pPr algn="l"/>
            <a:r>
              <a:rPr lang="en-US" sz="2800" b="0" i="0" dirty="0">
                <a:solidFill>
                  <a:schemeClr val="bg1"/>
                </a:solidFill>
                <a:effectLst/>
                <a:latin typeface="Bell MT" panose="02020503060305020303" pitchFamily="18" charset="0"/>
              </a:rPr>
              <a:t>Around 10 km away from Larkana City, </a:t>
            </a:r>
            <a:r>
              <a:rPr lang="en-US" sz="2800" b="0" i="0" u="none" strike="noStrike" dirty="0">
                <a:solidFill>
                  <a:schemeClr val="bg1"/>
                </a:solidFill>
                <a:effectLst/>
                <a:latin typeface="Bell MT" panose="02020503060305020303" pitchFamily="18" charset="0"/>
              </a:rPr>
              <a:t>sugarcane</a:t>
            </a:r>
            <a:r>
              <a:rPr lang="en-US" sz="2800" b="0" i="0" dirty="0">
                <a:solidFill>
                  <a:schemeClr val="bg1"/>
                </a:solidFill>
                <a:effectLst/>
                <a:latin typeface="Bell MT" panose="02020503060305020303" pitchFamily="18" charset="0"/>
              </a:rPr>
              <a:t> is cultivated and processed at the Larkana </a:t>
            </a:r>
            <a:r>
              <a:rPr lang="en-US" sz="2800" b="0" i="0" dirty="0">
                <a:solidFill>
                  <a:srgbClr val="0070C0"/>
                </a:solidFill>
                <a:effectLst/>
                <a:latin typeface="Bell MT" panose="02020503060305020303" pitchFamily="18" charset="0"/>
              </a:rPr>
              <a:t>Sugar Mills (Pvt) Ltd.</a:t>
            </a:r>
            <a:r>
              <a:rPr lang="en-US" sz="2800" b="0" i="0" dirty="0">
                <a:solidFill>
                  <a:schemeClr val="bg1"/>
                </a:solidFill>
                <a:effectLst/>
                <a:latin typeface="Bell MT" panose="02020503060305020303" pitchFamily="18" charset="0"/>
              </a:rPr>
              <a:t> plant, which was inaugurated by former </a:t>
            </a:r>
            <a:r>
              <a:rPr lang="en-US" sz="2800" b="0" i="0" dirty="0">
                <a:solidFill>
                  <a:srgbClr val="0070C0"/>
                </a:solidFill>
                <a:effectLst/>
                <a:latin typeface="Bell MT" panose="02020503060305020303" pitchFamily="18" charset="0"/>
              </a:rPr>
              <a:t>Prime Minister </a:t>
            </a:r>
            <a:r>
              <a:rPr lang="en-US" sz="2800" b="0" i="0" u="none" strike="noStrike" dirty="0">
                <a:solidFill>
                  <a:srgbClr val="0070C0"/>
                </a:solidFill>
                <a:effectLst/>
                <a:latin typeface="Bell MT" panose="02020503060305020303" pitchFamily="18" charset="0"/>
              </a:rPr>
              <a:t>Zulfikar Ali Bhutto</a:t>
            </a:r>
            <a:r>
              <a:rPr lang="en-US" sz="2800" b="0" i="0" dirty="0">
                <a:solidFill>
                  <a:srgbClr val="0070C0"/>
                </a:solidFill>
                <a:effectLst/>
                <a:latin typeface="Bell MT" panose="02020503060305020303" pitchFamily="18" charset="0"/>
              </a:rPr>
              <a:t> </a:t>
            </a:r>
            <a:r>
              <a:rPr lang="en-US" sz="2800" b="0" i="0" dirty="0">
                <a:solidFill>
                  <a:schemeClr val="bg1"/>
                </a:solidFill>
                <a:effectLst/>
                <a:latin typeface="Bell MT" panose="02020503060305020303" pitchFamily="18" charset="0"/>
              </a:rPr>
              <a:t>on 30 January 1974.</a:t>
            </a:r>
            <a:endParaRPr lang="en-US" sz="2800" b="0" i="0" u="none" strike="noStrike" baseline="30000" dirty="0">
              <a:solidFill>
                <a:schemeClr val="bg1"/>
              </a:solidFill>
              <a:effectLst/>
              <a:latin typeface="Bell MT" panose="02020503060305020303" pitchFamily="18" charset="0"/>
            </a:endParaRPr>
          </a:p>
          <a:p>
            <a:pPr algn="l"/>
            <a:endParaRPr lang="en-US" sz="2800" b="0" i="0" dirty="0">
              <a:solidFill>
                <a:schemeClr val="bg1"/>
              </a:solidFill>
              <a:effectLst/>
              <a:latin typeface="Bell MT" panose="02020503060305020303" pitchFamily="18" charset="0"/>
            </a:endParaRPr>
          </a:p>
          <a:p>
            <a:pPr algn="l"/>
            <a:r>
              <a:rPr lang="en-US" sz="2800" b="0" i="0" dirty="0">
                <a:solidFill>
                  <a:schemeClr val="bg1"/>
                </a:solidFill>
                <a:effectLst/>
                <a:latin typeface="Bell MT" panose="02020503060305020303" pitchFamily="18" charset="0"/>
              </a:rPr>
              <a:t>Larkana's </a:t>
            </a:r>
            <a:r>
              <a:rPr lang="en-US" sz="2800" b="0" i="0" u="none" strike="noStrike" dirty="0">
                <a:solidFill>
                  <a:schemeClr val="bg1"/>
                </a:solidFill>
                <a:effectLst/>
                <a:latin typeface="Bell MT" panose="02020503060305020303" pitchFamily="18" charset="0"/>
              </a:rPr>
              <a:t>guava</a:t>
            </a:r>
            <a:r>
              <a:rPr lang="en-US" sz="2800" b="0" i="0" dirty="0">
                <a:solidFill>
                  <a:schemeClr val="bg1"/>
                </a:solidFill>
                <a:effectLst/>
                <a:latin typeface="Bell MT" panose="02020503060305020303" pitchFamily="18" charset="0"/>
              </a:rPr>
              <a:t> and berries are famous both nationally and internationally, with the annual output of the district standing at thousands of tons. All the villages of Larkana District on the right bank of the Indus River have vast guava orchids spread over thousands of acres, located in </a:t>
            </a:r>
            <a:r>
              <a:rPr lang="en-US" sz="2800" b="0" i="0" dirty="0" err="1">
                <a:solidFill>
                  <a:schemeClr val="bg1"/>
                </a:solidFill>
                <a:effectLst/>
                <a:latin typeface="Bell MT" panose="02020503060305020303" pitchFamily="18" charset="0"/>
              </a:rPr>
              <a:t>Dodai</a:t>
            </a:r>
            <a:r>
              <a:rPr lang="en-US" sz="2800" b="0" i="0" dirty="0">
                <a:solidFill>
                  <a:schemeClr val="bg1"/>
                </a:solidFill>
                <a:effectLst/>
                <a:latin typeface="Bell MT" panose="02020503060305020303" pitchFamily="18" charset="0"/>
              </a:rPr>
              <a:t>, </a:t>
            </a:r>
            <a:r>
              <a:rPr lang="en-US" sz="2800" b="0" i="0" dirty="0" err="1">
                <a:solidFill>
                  <a:schemeClr val="bg1"/>
                </a:solidFill>
                <a:effectLst/>
                <a:latin typeface="Bell MT" panose="02020503060305020303" pitchFamily="18" charset="0"/>
              </a:rPr>
              <a:t>Mahotta</a:t>
            </a:r>
            <a:r>
              <a:rPr lang="en-US" sz="2800" b="0" i="0" dirty="0">
                <a:solidFill>
                  <a:schemeClr val="bg1"/>
                </a:solidFill>
                <a:effectLst/>
                <a:latin typeface="Bell MT" panose="02020503060305020303" pitchFamily="18" charset="0"/>
              </a:rPr>
              <a:t>, </a:t>
            </a:r>
            <a:r>
              <a:rPr lang="en-US" sz="2800" b="0" i="0" dirty="0" err="1">
                <a:solidFill>
                  <a:schemeClr val="bg1"/>
                </a:solidFill>
                <a:effectLst/>
                <a:latin typeface="Bell MT" panose="02020503060305020303" pitchFamily="18" charset="0"/>
              </a:rPr>
              <a:t>Naudero</a:t>
            </a:r>
            <a:r>
              <a:rPr lang="en-US" sz="2800" b="0" i="0" dirty="0">
                <a:solidFill>
                  <a:schemeClr val="bg1"/>
                </a:solidFill>
                <a:effectLst/>
                <a:latin typeface="Bell MT" panose="02020503060305020303" pitchFamily="18" charset="0"/>
              </a:rPr>
              <a:t>, </a:t>
            </a:r>
            <a:r>
              <a:rPr lang="en-US" sz="2800" b="0" i="0" dirty="0" err="1">
                <a:solidFill>
                  <a:schemeClr val="bg1"/>
                </a:solidFill>
                <a:effectLst/>
                <a:latin typeface="Bell MT" panose="02020503060305020303" pitchFamily="18" charset="0"/>
              </a:rPr>
              <a:t>Chooharpur</a:t>
            </a:r>
            <a:r>
              <a:rPr lang="en-US" sz="2800" b="0" i="0" dirty="0">
                <a:solidFill>
                  <a:schemeClr val="bg1"/>
                </a:solidFill>
                <a:effectLst/>
                <a:latin typeface="Bell MT" panose="02020503060305020303" pitchFamily="18" charset="0"/>
              </a:rPr>
              <a:t>, </a:t>
            </a:r>
            <a:r>
              <a:rPr lang="en-US" sz="2800" b="0" i="0" dirty="0" err="1">
                <a:solidFill>
                  <a:schemeClr val="bg1"/>
                </a:solidFill>
                <a:effectLst/>
                <a:latin typeface="Bell MT" panose="02020503060305020303" pitchFamily="18" charset="0"/>
              </a:rPr>
              <a:t>Agani</a:t>
            </a:r>
            <a:r>
              <a:rPr lang="en-US" sz="2800" b="0" i="0" dirty="0">
                <a:solidFill>
                  <a:schemeClr val="bg1"/>
                </a:solidFill>
                <a:effectLst/>
                <a:latin typeface="Bell MT" panose="02020503060305020303" pitchFamily="18" charset="0"/>
              </a:rPr>
              <a:t>, </a:t>
            </a:r>
            <a:r>
              <a:rPr lang="en-US" sz="2800" b="0" i="0" dirty="0" err="1">
                <a:solidFill>
                  <a:schemeClr val="bg1"/>
                </a:solidFill>
                <a:effectLst/>
                <a:latin typeface="Bell MT" panose="02020503060305020303" pitchFamily="18" charset="0"/>
              </a:rPr>
              <a:t>Metla</a:t>
            </a:r>
            <a:r>
              <a:rPr lang="en-US" sz="2800" b="0" i="0" dirty="0">
                <a:solidFill>
                  <a:schemeClr val="bg1"/>
                </a:solidFill>
                <a:effectLst/>
                <a:latin typeface="Bell MT" panose="02020503060305020303" pitchFamily="18" charset="0"/>
              </a:rPr>
              <a:t>, Izzat Ji </a:t>
            </a:r>
            <a:r>
              <a:rPr lang="en-US" sz="2800" b="0" i="0" dirty="0" err="1">
                <a:solidFill>
                  <a:schemeClr val="bg1"/>
                </a:solidFill>
                <a:effectLst/>
                <a:latin typeface="Bell MT" panose="02020503060305020303" pitchFamily="18" charset="0"/>
              </a:rPr>
              <a:t>Wandh</a:t>
            </a:r>
            <a:r>
              <a:rPr lang="en-US" sz="2800" b="0" i="0" dirty="0">
                <a:solidFill>
                  <a:schemeClr val="bg1"/>
                </a:solidFill>
                <a:effectLst/>
                <a:latin typeface="Bell MT" panose="02020503060305020303" pitchFamily="18" charset="0"/>
              </a:rPr>
              <a:t>, </a:t>
            </a:r>
            <a:r>
              <a:rPr lang="en-US" sz="2800" b="0" i="0" dirty="0" err="1">
                <a:solidFill>
                  <a:schemeClr val="bg1"/>
                </a:solidFill>
                <a:effectLst/>
                <a:latin typeface="Bell MT" panose="02020503060305020303" pitchFamily="18" charset="0"/>
              </a:rPr>
              <a:t>Phulpota</a:t>
            </a:r>
            <a:r>
              <a:rPr lang="en-US" sz="2800" b="0" i="0" dirty="0">
                <a:solidFill>
                  <a:schemeClr val="bg1"/>
                </a:solidFill>
                <a:effectLst/>
                <a:latin typeface="Bell MT" panose="02020503060305020303" pitchFamily="18" charset="0"/>
              </a:rPr>
              <a:t> and other villages.</a:t>
            </a:r>
          </a:p>
        </p:txBody>
      </p:sp>
      <p:sp>
        <p:nvSpPr>
          <p:cNvPr id="7" name="Rectangle: Rounded Corners 6">
            <a:extLst>
              <a:ext uri="{FF2B5EF4-FFF2-40B4-BE49-F238E27FC236}">
                <a16:creationId xmlns:a16="http://schemas.microsoft.com/office/drawing/2014/main" id="{82B11833-2902-40DD-9E36-CA922DEE6BB4}"/>
              </a:ext>
            </a:extLst>
          </p:cNvPr>
          <p:cNvSpPr/>
          <p:nvPr/>
        </p:nvSpPr>
        <p:spPr>
          <a:xfrm>
            <a:off x="2343342" y="303202"/>
            <a:ext cx="7505316" cy="599155"/>
          </a:xfrm>
          <a:prstGeom prst="roundRect">
            <a:avLst>
              <a:gd name="adj" fmla="val 10417"/>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800" b="1" dirty="0">
                <a:latin typeface="Bell MT" panose="02020503060305020303" pitchFamily="18" charset="0"/>
              </a:rPr>
              <a:t>Economy</a:t>
            </a:r>
            <a:endParaRPr lang="en-GB" sz="4800" b="1" dirty="0">
              <a:latin typeface="Bell MT" panose="02020503060305020303" pitchFamily="18" charset="0"/>
            </a:endParaRPr>
          </a:p>
        </p:txBody>
      </p:sp>
    </p:spTree>
    <p:extLst>
      <p:ext uri="{BB962C8B-B14F-4D97-AF65-F5344CB8AC3E}">
        <p14:creationId xmlns:p14="http://schemas.microsoft.com/office/powerpoint/2010/main" val="112588198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CC756D64-297E-48BB-45B7-05454022DDAA}"/>
              </a:ext>
            </a:extLst>
          </p:cNvPr>
          <p:cNvSpPr/>
          <p:nvPr/>
        </p:nvSpPr>
        <p:spPr>
          <a:xfrm>
            <a:off x="2343342" y="374074"/>
            <a:ext cx="7505316" cy="801197"/>
          </a:xfrm>
          <a:prstGeom prst="roundRect">
            <a:avLst>
              <a:gd name="adj" fmla="val 10417"/>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4000" b="1" dirty="0">
                <a:latin typeface="Bell MT" panose="02020503060305020303" pitchFamily="18" charset="0"/>
              </a:rPr>
              <a:t>Education </a:t>
            </a:r>
            <a:endParaRPr lang="en-GB" sz="6600" b="1" dirty="0">
              <a:latin typeface="Bell MT" panose="02020503060305020303" pitchFamily="18" charset="0"/>
            </a:endParaRPr>
          </a:p>
        </p:txBody>
      </p:sp>
      <p:sp>
        <p:nvSpPr>
          <p:cNvPr id="30" name="TextBox 29">
            <a:extLst>
              <a:ext uri="{FF2B5EF4-FFF2-40B4-BE49-F238E27FC236}">
                <a16:creationId xmlns:a16="http://schemas.microsoft.com/office/drawing/2014/main" id="{B869BD8C-4A96-F6DB-AEBB-5CBFB16CC763}"/>
              </a:ext>
            </a:extLst>
          </p:cNvPr>
          <p:cNvSpPr txBox="1"/>
          <p:nvPr/>
        </p:nvSpPr>
        <p:spPr>
          <a:xfrm>
            <a:off x="1029729" y="1651834"/>
            <a:ext cx="10132542" cy="4832092"/>
          </a:xfrm>
          <a:prstGeom prst="rect">
            <a:avLst/>
          </a:prstGeom>
          <a:noFill/>
        </p:spPr>
        <p:txBody>
          <a:bodyPr wrap="square" rtlCol="0">
            <a:spAutoFit/>
          </a:bodyPr>
          <a:lstStyle/>
          <a:p>
            <a:pPr algn="l"/>
            <a:r>
              <a:rPr lang="en-US" sz="2800" b="0" i="0" dirty="0">
                <a:solidFill>
                  <a:srgbClr val="202122"/>
                </a:solidFill>
                <a:effectLst/>
                <a:latin typeface="Bell MT" panose="02020503060305020303" pitchFamily="18" charset="0"/>
              </a:rPr>
              <a:t>The Government Pilot School was built in 1926, being the oldest education institution in the district. Cadet College Larkana was inaugurated by the former </a:t>
            </a:r>
            <a:r>
              <a:rPr lang="en-US" sz="2800" b="0" i="0" u="none" strike="noStrike" dirty="0">
                <a:solidFill>
                  <a:srgbClr val="3366CC"/>
                </a:solidFill>
                <a:effectLst/>
                <a:latin typeface="Bell MT" panose="02020503060305020303" pitchFamily="18" charset="0"/>
              </a:rPr>
              <a:t>Prime Minister of Pakistan</a:t>
            </a:r>
            <a:r>
              <a:rPr lang="en-US" sz="2800" b="0" i="0" dirty="0">
                <a:solidFill>
                  <a:srgbClr val="202122"/>
                </a:solidFill>
                <a:effectLst/>
                <a:latin typeface="Bell MT" panose="02020503060305020303" pitchFamily="18" charset="0"/>
              </a:rPr>
              <a:t> </a:t>
            </a:r>
            <a:r>
              <a:rPr lang="en-US" sz="2800" b="0" i="0" u="none" strike="noStrike" dirty="0">
                <a:solidFill>
                  <a:srgbClr val="3366CC"/>
                </a:solidFill>
                <a:effectLst/>
                <a:latin typeface="Bell MT" panose="02020503060305020303" pitchFamily="18" charset="0"/>
              </a:rPr>
              <a:t>Benazir Bhutto</a:t>
            </a:r>
            <a:r>
              <a:rPr lang="en-US" sz="2800" b="0" i="0" dirty="0">
                <a:solidFill>
                  <a:srgbClr val="202122"/>
                </a:solidFill>
                <a:effectLst/>
                <a:latin typeface="Bell MT" panose="02020503060305020303" pitchFamily="18" charset="0"/>
              </a:rPr>
              <a:t> in 1994, first planned by her late father Prime Minister Zulfikar Ali Bhutto in 1975. The College is located 24 </a:t>
            </a:r>
            <a:r>
              <a:rPr lang="en-US" sz="2800" b="0" i="0" dirty="0" err="1">
                <a:solidFill>
                  <a:srgbClr val="202122"/>
                </a:solidFill>
                <a:effectLst/>
                <a:latin typeface="Bell MT" panose="02020503060305020303" pitchFamily="18" charset="0"/>
              </a:rPr>
              <a:t>kilometres</a:t>
            </a:r>
            <a:r>
              <a:rPr lang="en-US" sz="2800" b="0" i="0" dirty="0">
                <a:solidFill>
                  <a:srgbClr val="202122"/>
                </a:solidFill>
                <a:effectLst/>
                <a:latin typeface="Bell MT" panose="02020503060305020303" pitchFamily="18" charset="0"/>
              </a:rPr>
              <a:t> (15 mi) away from </a:t>
            </a:r>
            <a:r>
              <a:rPr lang="en-US" sz="2800" b="0" i="0" u="none" strike="noStrike" dirty="0">
                <a:solidFill>
                  <a:schemeClr val="bg1"/>
                </a:solidFill>
                <a:effectLst/>
                <a:latin typeface="Bell MT" panose="02020503060305020303" pitchFamily="18" charset="0"/>
              </a:rPr>
              <a:t>Larkana</a:t>
            </a:r>
            <a:r>
              <a:rPr lang="en-US" sz="2800" b="0" i="0" dirty="0">
                <a:solidFill>
                  <a:srgbClr val="202122"/>
                </a:solidFill>
                <a:effectLst/>
                <a:latin typeface="Bell MT" panose="02020503060305020303" pitchFamily="18" charset="0"/>
              </a:rPr>
              <a:t>, and some 3 </a:t>
            </a:r>
            <a:r>
              <a:rPr lang="en-US" sz="2800" b="0" i="0" dirty="0" err="1">
                <a:solidFill>
                  <a:srgbClr val="202122"/>
                </a:solidFill>
                <a:effectLst/>
                <a:latin typeface="Bell MT" panose="02020503060305020303" pitchFamily="18" charset="0"/>
              </a:rPr>
              <a:t>kilometres</a:t>
            </a:r>
            <a:r>
              <a:rPr lang="en-US" sz="2800" b="0" i="0" dirty="0">
                <a:solidFill>
                  <a:srgbClr val="202122"/>
                </a:solidFill>
                <a:effectLst/>
                <a:latin typeface="Bell MT" panose="02020503060305020303" pitchFamily="18" charset="0"/>
              </a:rPr>
              <a:t> from </a:t>
            </a:r>
            <a:r>
              <a:rPr lang="en-US" sz="2800" b="0" i="0" u="none" strike="noStrike" dirty="0" err="1">
                <a:solidFill>
                  <a:schemeClr val="bg1"/>
                </a:solidFill>
                <a:effectLst/>
                <a:latin typeface="Bell MT" panose="02020503060305020303" pitchFamily="18" charset="0"/>
              </a:rPr>
              <a:t>Mohenjo-daro</a:t>
            </a:r>
            <a:r>
              <a:rPr lang="en-US" sz="2800" b="0" i="0" u="none" strike="noStrike" dirty="0">
                <a:solidFill>
                  <a:schemeClr val="bg1"/>
                </a:solidFill>
                <a:effectLst/>
                <a:latin typeface="Bell MT" panose="02020503060305020303" pitchFamily="18" charset="0"/>
              </a:rPr>
              <a:t>.</a:t>
            </a:r>
          </a:p>
          <a:p>
            <a:pPr algn="l"/>
            <a:endParaRPr lang="en-US" sz="2800" dirty="0">
              <a:solidFill>
                <a:schemeClr val="bg1"/>
              </a:solidFill>
              <a:latin typeface="Bell MT" panose="02020503060305020303" pitchFamily="18" charset="0"/>
            </a:endParaRPr>
          </a:p>
          <a:p>
            <a:r>
              <a:rPr lang="en-US" sz="2800" b="0" i="0" dirty="0">
                <a:solidFill>
                  <a:schemeClr val="bg1"/>
                </a:solidFill>
                <a:effectLst/>
                <a:latin typeface="Bell MT" panose="02020503060305020303" pitchFamily="18" charset="0"/>
              </a:rPr>
              <a:t>According to 2017 census, literacy rate of Larkan</a:t>
            </a:r>
            <a:r>
              <a:rPr lang="en-US" sz="2800" dirty="0">
                <a:solidFill>
                  <a:schemeClr val="bg1"/>
                </a:solidFill>
                <a:latin typeface="Bell MT" panose="02020503060305020303" pitchFamily="18" charset="0"/>
              </a:rPr>
              <a:t>a is 53.80%. </a:t>
            </a:r>
            <a:r>
              <a:rPr lang="en-US" sz="2800" b="0" i="0" dirty="0">
                <a:solidFill>
                  <a:schemeClr val="bg1"/>
                </a:solidFill>
                <a:effectLst/>
                <a:latin typeface="Bell MT" panose="02020503060305020303" pitchFamily="18" charset="0"/>
              </a:rPr>
              <a:t>Sind</a:t>
            </a:r>
            <a:r>
              <a:rPr lang="en-US" sz="2800" dirty="0">
                <a:solidFill>
                  <a:schemeClr val="bg1"/>
                </a:solidFill>
                <a:latin typeface="Bell MT" panose="02020503060305020303" pitchFamily="18" charset="0"/>
              </a:rPr>
              <a:t>hi is well understood and commonly spoken by the majority of the population.</a:t>
            </a:r>
          </a:p>
        </p:txBody>
      </p:sp>
    </p:spTree>
    <p:extLst>
      <p:ext uri="{BB962C8B-B14F-4D97-AF65-F5344CB8AC3E}">
        <p14:creationId xmlns:p14="http://schemas.microsoft.com/office/powerpoint/2010/main" val="190795382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6C7CF1-2E9D-48FB-B238-0A71658C31D7}"/>
              </a:ext>
            </a:extLst>
          </p:cNvPr>
          <p:cNvSpPr txBox="1"/>
          <p:nvPr/>
        </p:nvSpPr>
        <p:spPr>
          <a:xfrm>
            <a:off x="1029729" y="1458074"/>
            <a:ext cx="10132542" cy="4832092"/>
          </a:xfrm>
          <a:prstGeom prst="rect">
            <a:avLst/>
          </a:prstGeom>
          <a:noFill/>
        </p:spPr>
        <p:txBody>
          <a:bodyPr wrap="square" rtlCol="0">
            <a:spAutoFit/>
          </a:bodyPr>
          <a:lstStyle/>
          <a:p>
            <a:pPr algn="just"/>
            <a:r>
              <a:rPr lang="en-US" sz="2800" dirty="0">
                <a:solidFill>
                  <a:schemeClr val="bg1"/>
                </a:solidFill>
                <a:latin typeface="Bell MT" panose="02020503060305020303" pitchFamily="18" charset="0"/>
              </a:rPr>
              <a:t>According to the 2017 census, the literacy rate of Larkana was 53.80% and overall population was 6.192 million.</a:t>
            </a:r>
          </a:p>
          <a:p>
            <a:pPr algn="just"/>
            <a:r>
              <a:rPr lang="en-US" sz="2800" b="0" i="0" dirty="0">
                <a:solidFill>
                  <a:schemeClr val="bg1"/>
                </a:solidFill>
                <a:effectLst/>
                <a:latin typeface="Bell MT" panose="02020503060305020303" pitchFamily="18" charset="0"/>
              </a:rPr>
              <a:t>Sind</a:t>
            </a:r>
            <a:r>
              <a:rPr lang="en-US" sz="2800" dirty="0">
                <a:solidFill>
                  <a:schemeClr val="bg1"/>
                </a:solidFill>
                <a:latin typeface="Bell MT" panose="02020503060305020303" pitchFamily="18" charset="0"/>
              </a:rPr>
              <a:t>hi is well understood and commonly spoken by the majority of the population.</a:t>
            </a:r>
          </a:p>
          <a:p>
            <a:pPr algn="just"/>
            <a:endParaRPr lang="en-US" sz="2800" b="0" i="0" dirty="0">
              <a:solidFill>
                <a:schemeClr val="bg1"/>
              </a:solidFill>
              <a:effectLst/>
              <a:latin typeface="Bell MT" panose="02020503060305020303" pitchFamily="18" charset="0"/>
            </a:endParaRPr>
          </a:p>
          <a:p>
            <a:pPr algn="just"/>
            <a:r>
              <a:rPr lang="en-US" sz="2800" dirty="0">
                <a:solidFill>
                  <a:schemeClr val="bg1"/>
                </a:solidFill>
                <a:latin typeface="Bell MT" panose="02020503060305020303" pitchFamily="18" charset="0"/>
              </a:rPr>
              <a:t>The majority religion is Islam, with 98.45% of population registering Muslims and rest is minority among which Hindus are 1.45% of the population. </a:t>
            </a:r>
          </a:p>
          <a:p>
            <a:pPr algn="just"/>
            <a:endParaRPr lang="en-US" sz="2800" b="0" i="0" dirty="0">
              <a:solidFill>
                <a:schemeClr val="bg1"/>
              </a:solidFill>
              <a:effectLst/>
              <a:latin typeface="Bell MT" panose="02020503060305020303" pitchFamily="18" charset="0"/>
            </a:endParaRPr>
          </a:p>
          <a:p>
            <a:pPr algn="just"/>
            <a:r>
              <a:rPr lang="en-US" sz="2800" b="0" i="0" dirty="0">
                <a:solidFill>
                  <a:schemeClr val="bg1"/>
                </a:solidFill>
                <a:effectLst/>
                <a:latin typeface="Bell MT" panose="02020503060305020303" pitchFamily="18" charset="0"/>
              </a:rPr>
              <a:t>Sindhi </a:t>
            </a:r>
            <a:r>
              <a:rPr lang="en-US" sz="2800" dirty="0">
                <a:solidFill>
                  <a:schemeClr val="bg1"/>
                </a:solidFill>
                <a:latin typeface="Bell MT" panose="02020503060305020303" pitchFamily="18" charset="0"/>
              </a:rPr>
              <a:t>was</a:t>
            </a:r>
            <a:r>
              <a:rPr lang="en-US" sz="2800" b="0" i="0" dirty="0">
                <a:solidFill>
                  <a:schemeClr val="bg1"/>
                </a:solidFill>
                <a:effectLst/>
                <a:latin typeface="Bell MT" panose="02020503060305020303" pitchFamily="18" charset="0"/>
              </a:rPr>
              <a:t> the predominant language spoken by 97.25% of the population.</a:t>
            </a:r>
          </a:p>
        </p:txBody>
      </p:sp>
      <p:sp>
        <p:nvSpPr>
          <p:cNvPr id="7" name="Rectangle: Rounded Corners 6">
            <a:extLst>
              <a:ext uri="{FF2B5EF4-FFF2-40B4-BE49-F238E27FC236}">
                <a16:creationId xmlns:a16="http://schemas.microsoft.com/office/drawing/2014/main" id="{82B11833-2902-40DD-9E36-CA922DEE6BB4}"/>
              </a:ext>
            </a:extLst>
          </p:cNvPr>
          <p:cNvSpPr/>
          <p:nvPr/>
        </p:nvSpPr>
        <p:spPr>
          <a:xfrm>
            <a:off x="2183053" y="510987"/>
            <a:ext cx="7825894" cy="722068"/>
          </a:xfrm>
          <a:prstGeom prst="roundRect">
            <a:avLst>
              <a:gd name="adj" fmla="val 10417"/>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800" b="1" kern="1200" dirty="0">
                <a:solidFill>
                  <a:srgbClr val="FFFFFF"/>
                </a:solidFill>
                <a:effectLst/>
                <a:latin typeface="Bell MT" panose="02020503060305020303" pitchFamily="18" charset="0"/>
                <a:ea typeface="+mn-ea"/>
                <a:cs typeface="+mn-cs"/>
              </a:rPr>
              <a:t>Demographics</a:t>
            </a:r>
            <a:endParaRPr lang="en-GB" sz="6000" b="1" dirty="0">
              <a:latin typeface="Bell MT" panose="02020503060305020303" pitchFamily="18" charset="0"/>
            </a:endParaRPr>
          </a:p>
        </p:txBody>
      </p:sp>
    </p:spTree>
    <p:extLst>
      <p:ext uri="{BB962C8B-B14F-4D97-AF65-F5344CB8AC3E}">
        <p14:creationId xmlns:p14="http://schemas.microsoft.com/office/powerpoint/2010/main" val="199902192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6C7CF1-2E9D-48FB-B238-0A71658C31D7}"/>
              </a:ext>
            </a:extLst>
          </p:cNvPr>
          <p:cNvSpPr txBox="1"/>
          <p:nvPr/>
        </p:nvSpPr>
        <p:spPr>
          <a:xfrm>
            <a:off x="1029729" y="4225094"/>
            <a:ext cx="10132542" cy="2246769"/>
          </a:xfrm>
          <a:prstGeom prst="rect">
            <a:avLst/>
          </a:prstGeom>
          <a:solidFill>
            <a:schemeClr val="bg1"/>
          </a:solidFill>
        </p:spPr>
        <p:txBody>
          <a:bodyPr wrap="square" rtlCol="0">
            <a:spAutoFit/>
          </a:bodyPr>
          <a:lstStyle/>
          <a:p>
            <a:pPr algn="just"/>
            <a:r>
              <a:rPr lang="en-US" sz="2800" b="0" i="0" dirty="0">
                <a:effectLst/>
                <a:latin typeface="Bell MT" panose="02020503060305020303" pitchFamily="18" charset="0"/>
              </a:rPr>
              <a:t>Zulfikar Ali Bhutto and Benazir Bhutto, political stalwarts born in Larkana, have left an enduring legacy in the annals of Pakistani history. Abida Parveen, the celebrated Sufi singer, adds a musical note to the city's fame. Larkana continues to nurture and produce influential figures in politics, music, and literature.</a:t>
            </a:r>
            <a:endParaRPr lang="en-US" sz="2400" dirty="0">
              <a:latin typeface="Bell MT" panose="02020503060305020303" pitchFamily="18" charset="0"/>
            </a:endParaRPr>
          </a:p>
        </p:txBody>
      </p:sp>
      <p:grpSp>
        <p:nvGrpSpPr>
          <p:cNvPr id="11" name="Group 10">
            <a:extLst>
              <a:ext uri="{FF2B5EF4-FFF2-40B4-BE49-F238E27FC236}">
                <a16:creationId xmlns:a16="http://schemas.microsoft.com/office/drawing/2014/main" id="{94CDDB4D-5EC8-D151-F716-20AB4875A816}"/>
              </a:ext>
            </a:extLst>
          </p:cNvPr>
          <p:cNvGrpSpPr/>
          <p:nvPr/>
        </p:nvGrpSpPr>
        <p:grpSpPr>
          <a:xfrm>
            <a:off x="1682789" y="386136"/>
            <a:ext cx="8826423" cy="3261759"/>
            <a:chOff x="1682789" y="386136"/>
            <a:chExt cx="8826423" cy="3261759"/>
          </a:xfrm>
        </p:grpSpPr>
        <p:pic>
          <p:nvPicPr>
            <p:cNvPr id="9" name="Picture 8">
              <a:extLst>
                <a:ext uri="{FF2B5EF4-FFF2-40B4-BE49-F238E27FC236}">
                  <a16:creationId xmlns:a16="http://schemas.microsoft.com/office/drawing/2014/main" id="{BC9E3866-C74F-4C8E-B7F5-558529C4DBD3}"/>
                </a:ext>
              </a:extLst>
            </p:cNvPr>
            <p:cNvPicPr>
              <a:picLocks noChangeAspect="1"/>
            </p:cNvPicPr>
            <p:nvPr/>
          </p:nvPicPr>
          <p:blipFill rotWithShape="1">
            <a:blip r:embed="rId2">
              <a:extLst>
                <a:ext uri="{28A0092B-C50C-407E-A947-70E740481C1C}">
                  <a14:useLocalDpi xmlns:a14="http://schemas.microsoft.com/office/drawing/2010/main" val="0"/>
                </a:ext>
              </a:extLst>
            </a:blip>
            <a:srcRect l="1794" t="2704" r="1842" b="20438"/>
            <a:stretch/>
          </p:blipFill>
          <p:spPr>
            <a:xfrm flipH="1">
              <a:off x="1682789" y="386137"/>
              <a:ext cx="8826423" cy="3261758"/>
            </a:xfrm>
            <a:prstGeom prst="roundRect">
              <a:avLst>
                <a:gd name="adj" fmla="val 1929"/>
              </a:avLst>
            </a:prstGeom>
            <a:solidFill>
              <a:schemeClr val="bg1"/>
            </a:solidFill>
            <a:ln w="76200">
              <a:solidFill>
                <a:schemeClr val="tx1"/>
              </a:solidFill>
            </a:ln>
          </p:spPr>
        </p:pic>
        <p:pic>
          <p:nvPicPr>
            <p:cNvPr id="5" name="Picture 4" descr="A person holding a white scarf&#10;&#10;Description automatically generated">
              <a:extLst>
                <a:ext uri="{FF2B5EF4-FFF2-40B4-BE49-F238E27FC236}">
                  <a16:creationId xmlns:a16="http://schemas.microsoft.com/office/drawing/2014/main" id="{8CACF9CC-D80D-1175-D850-AA1B10D3FD96}"/>
                </a:ext>
              </a:extLst>
            </p:cNvPr>
            <p:cNvPicPr>
              <a:picLocks noChangeAspect="1"/>
            </p:cNvPicPr>
            <p:nvPr/>
          </p:nvPicPr>
          <p:blipFill rotWithShape="1">
            <a:blip r:embed="rId3">
              <a:extLst>
                <a:ext uri="{28A0092B-C50C-407E-A947-70E740481C1C}">
                  <a14:useLocalDpi xmlns:a14="http://schemas.microsoft.com/office/drawing/2010/main" val="0"/>
                </a:ext>
              </a:extLst>
            </a:blip>
            <a:srcRect l="25832" r="4476"/>
            <a:stretch/>
          </p:blipFill>
          <p:spPr>
            <a:xfrm>
              <a:off x="4627418" y="386137"/>
              <a:ext cx="2937164" cy="3120554"/>
            </a:xfrm>
            <a:prstGeom prst="roundRect">
              <a:avLst>
                <a:gd name="adj" fmla="val 2211"/>
              </a:avLst>
            </a:prstGeom>
          </p:spPr>
        </p:pic>
        <p:pic>
          <p:nvPicPr>
            <p:cNvPr id="10" name="Picture 9" descr="A person singing into a microphone&#10;&#10;Description automatically generated">
              <a:extLst>
                <a:ext uri="{FF2B5EF4-FFF2-40B4-BE49-F238E27FC236}">
                  <a16:creationId xmlns:a16="http://schemas.microsoft.com/office/drawing/2014/main" id="{5F4605DA-9B38-BCD8-DFDA-25F7D0F3DAFE}"/>
                </a:ext>
              </a:extLst>
            </p:cNvPr>
            <p:cNvPicPr>
              <a:picLocks noChangeAspect="1"/>
            </p:cNvPicPr>
            <p:nvPr/>
          </p:nvPicPr>
          <p:blipFill rotWithShape="1">
            <a:blip r:embed="rId4">
              <a:extLst>
                <a:ext uri="{28A0092B-C50C-407E-A947-70E740481C1C}">
                  <a14:useLocalDpi xmlns:a14="http://schemas.microsoft.com/office/drawing/2010/main" val="0"/>
                </a:ext>
              </a:extLst>
            </a:blip>
            <a:srcRect l="55890" t="20499" r="15616" b="21832"/>
            <a:stretch/>
          </p:blipFill>
          <p:spPr>
            <a:xfrm>
              <a:off x="7698093" y="386136"/>
              <a:ext cx="2804426" cy="3261758"/>
            </a:xfrm>
            <a:prstGeom prst="roundRect">
              <a:avLst>
                <a:gd name="adj" fmla="val 3822"/>
              </a:avLst>
            </a:prstGeom>
            <a:ln w="28575">
              <a:solidFill>
                <a:schemeClr val="tx1"/>
              </a:solidFill>
            </a:ln>
          </p:spPr>
        </p:pic>
      </p:grpSp>
      <p:sp>
        <p:nvSpPr>
          <p:cNvPr id="7" name="Rectangle: Rounded Corners 6">
            <a:extLst>
              <a:ext uri="{FF2B5EF4-FFF2-40B4-BE49-F238E27FC236}">
                <a16:creationId xmlns:a16="http://schemas.microsoft.com/office/drawing/2014/main" id="{82B11833-2902-40DD-9E36-CA922DEE6BB4}"/>
              </a:ext>
            </a:extLst>
          </p:cNvPr>
          <p:cNvSpPr/>
          <p:nvPr/>
        </p:nvSpPr>
        <p:spPr>
          <a:xfrm>
            <a:off x="3211991" y="3348317"/>
            <a:ext cx="5768019" cy="599155"/>
          </a:xfrm>
          <a:prstGeom prst="roundRect">
            <a:avLst>
              <a:gd name="adj" fmla="val 10417"/>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3600" b="1" i="0" dirty="0">
                <a:solidFill>
                  <a:schemeClr val="bg1"/>
                </a:solidFill>
                <a:effectLst/>
                <a:latin typeface="Bell MT" panose="02020503060305020303" pitchFamily="18" charset="0"/>
              </a:rPr>
              <a:t>Famous Personalities:</a:t>
            </a:r>
            <a:endParaRPr lang="en-GB" sz="3600" b="1" dirty="0">
              <a:solidFill>
                <a:schemeClr val="bg1"/>
              </a:solidFill>
              <a:latin typeface="Bell MT" panose="02020503060305020303" pitchFamily="18" charset="0"/>
            </a:endParaRPr>
          </a:p>
        </p:txBody>
      </p:sp>
    </p:spTree>
    <p:extLst>
      <p:ext uri="{BB962C8B-B14F-4D97-AF65-F5344CB8AC3E}">
        <p14:creationId xmlns:p14="http://schemas.microsoft.com/office/powerpoint/2010/main" val="349211891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6C7CF1-2E9D-48FB-B238-0A71658C31D7}"/>
              </a:ext>
            </a:extLst>
          </p:cNvPr>
          <p:cNvSpPr txBox="1"/>
          <p:nvPr/>
        </p:nvSpPr>
        <p:spPr>
          <a:xfrm>
            <a:off x="1029729" y="1527346"/>
            <a:ext cx="10132542" cy="2246769"/>
          </a:xfrm>
          <a:prstGeom prst="rect">
            <a:avLst/>
          </a:prstGeom>
          <a:noFill/>
        </p:spPr>
        <p:txBody>
          <a:bodyPr wrap="square" rtlCol="0">
            <a:spAutoFit/>
          </a:bodyPr>
          <a:lstStyle/>
          <a:p>
            <a:pPr algn="just"/>
            <a:r>
              <a:rPr lang="en-US" sz="2800" b="0" i="0" dirty="0">
                <a:solidFill>
                  <a:schemeClr val="bg1"/>
                </a:solidFill>
                <a:effectLst/>
                <a:latin typeface="Bell MT" panose="02020503060305020303" pitchFamily="18" charset="0"/>
              </a:rPr>
              <a:t>In conclusion, Larkana's journey from ancient history to contemporary significance is a tale of resilience, culture, and economic prowess. The city continues to evolve, and the proactive role of the Sindh government ensures a promising future for Larkana and its residents.</a:t>
            </a:r>
            <a:endParaRPr lang="en-US" sz="2800" b="1" dirty="0">
              <a:solidFill>
                <a:schemeClr val="bg1"/>
              </a:solidFill>
              <a:latin typeface="Bell MT" panose="02020503060305020303" pitchFamily="18" charset="0"/>
            </a:endParaRPr>
          </a:p>
        </p:txBody>
      </p:sp>
      <p:sp>
        <p:nvSpPr>
          <p:cNvPr id="7" name="Rectangle: Rounded Corners 6">
            <a:extLst>
              <a:ext uri="{FF2B5EF4-FFF2-40B4-BE49-F238E27FC236}">
                <a16:creationId xmlns:a16="http://schemas.microsoft.com/office/drawing/2014/main" id="{82B11833-2902-40DD-9E36-CA922DEE6BB4}"/>
              </a:ext>
            </a:extLst>
          </p:cNvPr>
          <p:cNvSpPr/>
          <p:nvPr/>
        </p:nvSpPr>
        <p:spPr>
          <a:xfrm>
            <a:off x="2343342" y="510987"/>
            <a:ext cx="7505316" cy="722068"/>
          </a:xfrm>
          <a:prstGeom prst="roundRect">
            <a:avLst>
              <a:gd name="adj" fmla="val 10417"/>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a:solidFill>
                  <a:schemeClr val="tx1"/>
                </a:solidFill>
                <a:latin typeface="Bell MT" panose="02020503060305020303" pitchFamily="18" charset="0"/>
              </a:rPr>
              <a:t>Conclusion:</a:t>
            </a:r>
            <a:endParaRPr lang="en-GB" sz="3600" b="1" dirty="0">
              <a:solidFill>
                <a:schemeClr val="tx1"/>
              </a:solidFill>
              <a:latin typeface="Bell MT" panose="02020503060305020303" pitchFamily="18" charset="0"/>
            </a:endParaRPr>
          </a:p>
        </p:txBody>
      </p:sp>
    </p:spTree>
    <p:extLst>
      <p:ext uri="{BB962C8B-B14F-4D97-AF65-F5344CB8AC3E}">
        <p14:creationId xmlns:p14="http://schemas.microsoft.com/office/powerpoint/2010/main" val="129331914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1514</TotalTime>
  <Words>612</Words>
  <Application>Microsoft Office PowerPoint</Application>
  <PresentationFormat>Widescreen</PresentationFormat>
  <Paragraphs>63</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Bahnschrift</vt:lpstr>
      <vt:lpstr>Bell MT</vt:lpstr>
      <vt:lpstr>Calibri</vt:lpstr>
      <vt:lpstr>Calibri Light</vt:lpstr>
      <vt:lpstr>Office Theme</vt:lpstr>
      <vt:lpstr>Larkana, Sindh</vt:lpstr>
      <vt:lpstr>Outlines</vt:lpstr>
      <vt:lpstr>History of Larkana</vt:lpstr>
      <vt:lpstr>PowerPoint Presentation</vt:lpstr>
      <vt:lpstr>PowerPoint Presentation</vt:lpstr>
      <vt:lpstr>Sheikh Mujeeb’s Six Points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Jinnah: The real Breaker of East Pakistan</dc:title>
  <dc:creator>Saqib Bedar</dc:creator>
  <cp:lastModifiedBy>Saqib Bedar</cp:lastModifiedBy>
  <cp:revision>84</cp:revision>
  <dcterms:created xsi:type="dcterms:W3CDTF">2023-11-04T22:26:47Z</dcterms:created>
  <dcterms:modified xsi:type="dcterms:W3CDTF">2024-01-04T18:45:58Z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2023-11-14T15:46:45Z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89d86539-d32e-4c08-9b2f-0c303e2e5e3e</vt:lpwstr>
  </property>
  <property fmtid="{D5CDD505-2E9C-101B-9397-08002B2CF9AE}" pid="7" name="MSIP_Label_defa4170-0d19-0005-0004-bc88714345d2_ActionId">
    <vt:lpwstr>21b5c512-4e7c-4795-8976-c91262287fd8</vt:lpwstr>
  </property>
  <property fmtid="{D5CDD505-2E9C-101B-9397-08002B2CF9AE}" pid="8" name="MSIP_Label_defa4170-0d19-0005-0004-bc88714345d2_ContentBits">
    <vt:lpwstr>0</vt:lpwstr>
  </property>
</Properties>
</file>