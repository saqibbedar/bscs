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15"/>
  </p:notesMasterIdLst>
  <p:sldIdLst>
    <p:sldId id="257" r:id="rId2"/>
    <p:sldId id="262" r:id="rId3"/>
    <p:sldId id="273" r:id="rId4"/>
    <p:sldId id="261" r:id="rId5"/>
    <p:sldId id="264" r:id="rId6"/>
    <p:sldId id="265" r:id="rId7"/>
    <p:sldId id="266" r:id="rId8"/>
    <p:sldId id="267" r:id="rId9"/>
    <p:sldId id="268" r:id="rId10"/>
    <p:sldId id="270" r:id="rId11"/>
    <p:sldId id="271" r:id="rId12"/>
    <p:sldId id="274"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82" autoAdjust="0"/>
    <p:restoredTop sz="94660"/>
  </p:normalViewPr>
  <p:slideViewPr>
    <p:cSldViewPr snapToGrid="0">
      <p:cViewPr varScale="1">
        <p:scale>
          <a:sx n="69" d="100"/>
          <a:sy n="69"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E6A29-AD0E-4F68-9867-2A89EF7CAE20}" type="datetimeFigureOut">
              <a:rPr lang="en-GB" smtClean="0"/>
              <a:t>11/01/2024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D3A140-C606-477C-A36F-97AC613A389C}" type="slidenum">
              <a:rPr lang="en-GB" smtClean="0"/>
              <a:t>‹#›</a:t>
            </a:fld>
            <a:endParaRPr lang="en-GB"/>
          </a:p>
        </p:txBody>
      </p:sp>
    </p:spTree>
    <p:extLst>
      <p:ext uri="{BB962C8B-B14F-4D97-AF65-F5344CB8AC3E}">
        <p14:creationId xmlns:p14="http://schemas.microsoft.com/office/powerpoint/2010/main" val="234735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5DB0394A-579D-4A47-9130-7E9860C2581F}" type="datetimeFigureOut">
              <a:rPr lang="en-GB" smtClean="0"/>
              <a:t>11/01/2024</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30AF229F-8ABA-4DE9-B0E7-84541BA2FF87}"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51186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11/01/2024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418884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0394A-579D-4A47-9130-7E9860C2581F}" type="datetimeFigureOut">
              <a:rPr lang="en-GB" smtClean="0"/>
              <a:t>11/01/2024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78414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B0394A-579D-4A47-9130-7E9860C2581F}" type="datetimeFigureOut">
              <a:rPr lang="en-GB" smtClean="0"/>
              <a:t>11/01/2024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1115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0394A-579D-4A47-9130-7E9860C2581F}" type="datetimeFigureOut">
              <a:rPr lang="en-GB" smtClean="0"/>
              <a:t>11/01/2024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91075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0394A-579D-4A47-9130-7E9860C2581F}" type="datetimeFigureOut">
              <a:rPr lang="en-GB" smtClean="0"/>
              <a:t>11/01/2024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309493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0394A-579D-4A47-9130-7E9860C2581F}" type="datetimeFigureOut">
              <a:rPr lang="en-GB" smtClean="0"/>
              <a:t>11/01/2024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4004761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0394A-579D-4A47-9130-7E9860C2581F}" type="datetimeFigureOut">
              <a:rPr lang="en-GB" smtClean="0"/>
              <a:t>11/01/2024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05806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0394A-579D-4A47-9130-7E9860C2581F}" type="datetimeFigureOut">
              <a:rPr lang="en-GB" smtClean="0"/>
              <a:t>11/01/2024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27847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11/01/2024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219119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11/01/2024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3505548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DB0394A-579D-4A47-9130-7E9860C2581F}" type="datetimeFigureOut">
              <a:rPr lang="en-GB" smtClean="0"/>
              <a:t>11/01/2024</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30AF229F-8ABA-4DE9-B0E7-84541BA2FF87}" type="slidenum">
              <a:rPr lang="en-GB" smtClean="0"/>
              <a:t>‹#›</a:t>
            </a:fld>
            <a:endParaRPr lang="en-GB"/>
          </a:p>
        </p:txBody>
      </p:sp>
    </p:spTree>
    <p:extLst>
      <p:ext uri="{BB962C8B-B14F-4D97-AF65-F5344CB8AC3E}">
        <p14:creationId xmlns:p14="http://schemas.microsoft.com/office/powerpoint/2010/main" val="233276230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amazon.com/" TargetMode="External"/><Relationship Id="rId2" Type="http://schemas.openxmlformats.org/officeDocument/2006/relationships/hyperlink" Target="https://en.wikipedia.org/wiki/Amazon_%28company%29" TargetMode="Externa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hyperlink" Target="https://www.amazon.fr/" TargetMode="External"/><Relationship Id="rId4" Type="http://schemas.openxmlformats.org/officeDocument/2006/relationships/hyperlink" Target="https://us.amazon.com/b?node=178677530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81D8D-9A0A-15BA-A89E-76D7D23253B8}"/>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
        <p:nvSpPr>
          <p:cNvPr id="6" name="Rectangle: Rounded Corners 5">
            <a:extLst>
              <a:ext uri="{FF2B5EF4-FFF2-40B4-BE49-F238E27FC236}">
                <a16:creationId xmlns:a16="http://schemas.microsoft.com/office/drawing/2014/main" id="{0DA3C1F1-7394-2A72-8264-A73ED4972AA8}"/>
              </a:ext>
            </a:extLst>
          </p:cNvPr>
          <p:cNvSpPr/>
          <p:nvPr/>
        </p:nvSpPr>
        <p:spPr>
          <a:xfrm>
            <a:off x="8458199" y="4462967"/>
            <a:ext cx="2452255" cy="2202873"/>
          </a:xfrm>
          <a:prstGeom prst="roundRect">
            <a:avLst>
              <a:gd name="adj" fmla="val 14780"/>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eaLnBrk="0" fontAlgn="base" hangingPunct="0">
              <a:lnSpc>
                <a:spcPct val="100000"/>
              </a:lnSpc>
              <a:spcBef>
                <a:spcPct val="0"/>
              </a:spcBef>
              <a:spcAft>
                <a:spcPct val="0"/>
              </a:spcAft>
              <a:buClrTx/>
              <a:buSzTx/>
              <a:buFontTx/>
              <a:buNone/>
            </a:pPr>
            <a:r>
              <a:rPr lang="en-US" altLang="en-US" b="1" dirty="0">
                <a:solidFill>
                  <a:srgbClr val="FFC000"/>
                </a:solidFill>
                <a:latin typeface="Arial" panose="020B0604020202020204" pitchFamily="34" charset="0"/>
              </a:rPr>
              <a:t>Presented By:</a:t>
            </a:r>
          </a:p>
          <a:p>
            <a:pPr marL="0" indent="0" algn="ctr" eaLnBrk="0" fontAlgn="base" hangingPunct="0">
              <a:lnSpc>
                <a:spcPct val="100000"/>
              </a:lnSpc>
              <a:spcBef>
                <a:spcPct val="0"/>
              </a:spcBef>
              <a:spcAft>
                <a:spcPct val="0"/>
              </a:spcAft>
              <a:buClrTx/>
              <a:buSzTx/>
              <a:buFontTx/>
              <a:buNone/>
            </a:pPr>
            <a:endParaRPr lang="en-US" altLang="en-US" b="1" dirty="0">
              <a:solidFill>
                <a:srgbClr val="FFC000"/>
              </a:solidFill>
              <a:latin typeface="Arial" panose="020B0604020202020204" pitchFamily="34" charset="0"/>
            </a:endParaRPr>
          </a:p>
          <a:p>
            <a:pPr marL="0" indent="0" algn="ctr" eaLnBrk="0" fontAlgn="base" hangingPunct="0">
              <a:lnSpc>
                <a:spcPct val="100000"/>
              </a:lnSpc>
              <a:spcBef>
                <a:spcPct val="0"/>
              </a:spcBef>
              <a:spcAft>
                <a:spcPct val="0"/>
              </a:spcAft>
              <a:buClrTx/>
              <a:buSzTx/>
              <a:buFontTx/>
              <a:buNone/>
            </a:pPr>
            <a:r>
              <a:rPr lang="en-US" altLang="en-US" dirty="0">
                <a:solidFill>
                  <a:schemeClr val="bg2">
                    <a:lumMod val="25000"/>
                  </a:schemeClr>
                </a:solidFill>
                <a:latin typeface="Arial" panose="020B0604020202020204" pitchFamily="34" charset="0"/>
              </a:rPr>
              <a:t>Talha </a:t>
            </a:r>
            <a:r>
              <a:rPr lang="en-US" altLang="en-US" dirty="0" err="1">
                <a:solidFill>
                  <a:schemeClr val="bg2">
                    <a:lumMod val="25000"/>
                  </a:schemeClr>
                </a:solidFill>
                <a:latin typeface="Arial" panose="020B0604020202020204" pitchFamily="34" charset="0"/>
              </a:rPr>
              <a:t>Ayyaz</a:t>
            </a:r>
            <a:endParaRPr lang="en-US" altLang="en-US" dirty="0">
              <a:solidFill>
                <a:schemeClr val="bg2">
                  <a:lumMod val="25000"/>
                </a:schemeClr>
              </a:solidFill>
              <a:latin typeface="Arial" panose="020B0604020202020204" pitchFamily="34" charset="0"/>
            </a:endParaRPr>
          </a:p>
          <a:p>
            <a:pPr marL="0" indent="0" algn="ctr" eaLnBrk="0" fontAlgn="base" hangingPunct="0">
              <a:lnSpc>
                <a:spcPct val="100000"/>
              </a:lnSpc>
              <a:spcBef>
                <a:spcPct val="0"/>
              </a:spcBef>
              <a:spcAft>
                <a:spcPct val="0"/>
              </a:spcAft>
              <a:buClrTx/>
              <a:buSzTx/>
              <a:buFontTx/>
              <a:buNone/>
            </a:pPr>
            <a:r>
              <a:rPr lang="en-US" altLang="en-US" dirty="0">
                <a:solidFill>
                  <a:schemeClr val="bg2">
                    <a:lumMod val="25000"/>
                  </a:schemeClr>
                </a:solidFill>
                <a:latin typeface="Arial" panose="020B0604020202020204" pitchFamily="34" charset="0"/>
              </a:rPr>
              <a:t>Muhammad Saqib</a:t>
            </a:r>
          </a:p>
          <a:p>
            <a:pPr marL="0" indent="0" algn="ctr" eaLnBrk="0" fontAlgn="base" hangingPunct="0">
              <a:lnSpc>
                <a:spcPct val="100000"/>
              </a:lnSpc>
              <a:spcBef>
                <a:spcPct val="0"/>
              </a:spcBef>
              <a:spcAft>
                <a:spcPct val="0"/>
              </a:spcAft>
              <a:buClrTx/>
              <a:buSzTx/>
              <a:buFontTx/>
              <a:buNone/>
            </a:pPr>
            <a:r>
              <a:rPr lang="en-US" altLang="en-US" dirty="0">
                <a:solidFill>
                  <a:schemeClr val="bg2">
                    <a:lumMod val="25000"/>
                  </a:schemeClr>
                </a:solidFill>
                <a:latin typeface="Arial" panose="020B0604020202020204" pitchFamily="34" charset="0"/>
              </a:rPr>
              <a:t>Hamza Khan</a:t>
            </a:r>
          </a:p>
          <a:p>
            <a:pPr marL="0" indent="0" algn="ctr" eaLnBrk="0" fontAlgn="base" hangingPunct="0">
              <a:lnSpc>
                <a:spcPct val="100000"/>
              </a:lnSpc>
              <a:spcBef>
                <a:spcPct val="0"/>
              </a:spcBef>
              <a:spcAft>
                <a:spcPct val="0"/>
              </a:spcAft>
              <a:buClrTx/>
              <a:buSzTx/>
              <a:buFontTx/>
              <a:buNone/>
            </a:pPr>
            <a:r>
              <a:rPr lang="en-US" altLang="en-US" dirty="0">
                <a:solidFill>
                  <a:schemeClr val="bg2">
                    <a:lumMod val="25000"/>
                  </a:schemeClr>
                </a:solidFill>
                <a:latin typeface="Arial" panose="020B0604020202020204" pitchFamily="34" charset="0"/>
              </a:rPr>
              <a:t>Abdullah Usman</a:t>
            </a:r>
          </a:p>
        </p:txBody>
      </p:sp>
      <p:pic>
        <p:nvPicPr>
          <p:cNvPr id="11" name="Picture 10" descr="A black and orange logo&#10;&#10;Description automatically generated">
            <a:extLst>
              <a:ext uri="{FF2B5EF4-FFF2-40B4-BE49-F238E27FC236}">
                <a16:creationId xmlns:a16="http://schemas.microsoft.com/office/drawing/2014/main" id="{0901CE56-B9A9-5FFB-2C5E-50592BAC72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1762" y="1617416"/>
            <a:ext cx="4875348" cy="3657600"/>
          </a:xfrm>
          <a:prstGeom prst="rect">
            <a:avLst/>
          </a:prstGeom>
        </p:spPr>
      </p:pic>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795791" y="4201356"/>
            <a:ext cx="568729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solidFill>
                  <a:schemeClr val="bg2">
                    <a:lumMod val="50000"/>
                  </a:schemeClr>
                </a:solidFill>
                <a:latin typeface="Arial" panose="020B0604020202020204" pitchFamily="34" charset="0"/>
              </a:rPr>
              <a:t>ICT LAB PRESENTATION</a:t>
            </a:r>
            <a:endParaRPr kumimoji="0" lang="en-US" altLang="en-US" sz="1600" b="0" i="0" u="none" strike="noStrike" cap="none" normalizeH="0" baseline="0" dirty="0">
              <a:ln>
                <a:noFill/>
              </a:ln>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50415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586179" y="438281"/>
            <a:ext cx="7823531" cy="5191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FFC000"/>
                </a:solidFill>
                <a:effectLst/>
                <a:latin typeface="Arial" panose="020B0604020202020204" pitchFamily="34" charset="0"/>
              </a:rPr>
              <a:t>Outlines:</a:t>
            </a:r>
          </a:p>
          <a:p>
            <a:pPr marL="0" marR="0" lvl="0" indent="0" defTabSz="914400" rtl="0" eaLnBrk="0" fontAlgn="base" latinLnBrk="0" hangingPunct="0">
              <a:lnSpc>
                <a:spcPct val="100000"/>
              </a:lnSpc>
              <a:spcBef>
                <a:spcPct val="0"/>
              </a:spcBef>
              <a:spcAft>
                <a:spcPct val="0"/>
              </a:spcAft>
              <a:buClrTx/>
              <a:buSzTx/>
              <a:buFontTx/>
              <a:buNone/>
              <a:tabLst/>
            </a:pPr>
            <a:endParaRPr lang="en-US" altLang="en-US" sz="3200" dirty="0">
              <a:solidFill>
                <a:srgbClr val="000000"/>
              </a:solidFill>
              <a:latin typeface="Arial" panose="020B0604020202020204" pitchFamily="34" charset="0"/>
            </a:endParaRP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Introduction</a:t>
            </a: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Industry</a:t>
            </a: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Timeline</a:t>
            </a: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Target Market</a:t>
            </a: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Three Pillars</a:t>
            </a:r>
          </a:p>
          <a:p>
            <a:pPr lvl="2" eaLnBrk="0" fontAlgn="base" hangingPunct="0">
              <a:lnSpc>
                <a:spcPct val="100000"/>
              </a:lnSpc>
              <a:spcBef>
                <a:spcPct val="0"/>
              </a:spcBef>
              <a:spcAft>
                <a:spcPts val="180"/>
              </a:spcAft>
              <a:buClrTx/>
              <a:buFont typeface="Wingdings" panose="05000000000000000000" pitchFamily="2" charset="2"/>
              <a:buChar char="Ø"/>
            </a:pPr>
            <a:r>
              <a:rPr lang="en-US" altLang="en-US" sz="2600" dirty="0">
                <a:solidFill>
                  <a:srgbClr val="000000"/>
                </a:solidFill>
                <a:latin typeface="Arial" panose="020B0604020202020204" pitchFamily="34" charset="0"/>
              </a:rPr>
              <a:t> Sellers</a:t>
            </a:r>
          </a:p>
          <a:p>
            <a:pPr lvl="2" eaLnBrk="0" fontAlgn="base" hangingPunct="0">
              <a:lnSpc>
                <a:spcPct val="100000"/>
              </a:lnSpc>
              <a:spcBef>
                <a:spcPct val="0"/>
              </a:spcBef>
              <a:spcAft>
                <a:spcPts val="180"/>
              </a:spcAft>
              <a:buClrTx/>
              <a:buFont typeface="Wingdings" panose="05000000000000000000" pitchFamily="2" charset="2"/>
              <a:buChar char="Ø"/>
            </a:pPr>
            <a:r>
              <a:rPr lang="en-US" altLang="en-US" sz="2600" dirty="0">
                <a:solidFill>
                  <a:srgbClr val="000000"/>
                </a:solidFill>
                <a:latin typeface="Arial" panose="020B0604020202020204" pitchFamily="34" charset="0"/>
              </a:rPr>
              <a:t> Customers</a:t>
            </a:r>
          </a:p>
          <a:p>
            <a:pPr lvl="2" eaLnBrk="0" fontAlgn="base" hangingPunct="0">
              <a:lnSpc>
                <a:spcPct val="100000"/>
              </a:lnSpc>
              <a:spcBef>
                <a:spcPct val="0"/>
              </a:spcBef>
              <a:spcAft>
                <a:spcPts val="180"/>
              </a:spcAft>
              <a:buClrTx/>
              <a:buFont typeface="Wingdings" panose="05000000000000000000" pitchFamily="2" charset="2"/>
              <a:buChar char="Ø"/>
            </a:pPr>
            <a:r>
              <a:rPr lang="en-US" altLang="en-US" sz="2600" dirty="0">
                <a:solidFill>
                  <a:srgbClr val="000000"/>
                </a:solidFill>
                <a:latin typeface="Arial" panose="020B0604020202020204" pitchFamily="34" charset="0"/>
              </a:rPr>
              <a:t> Developers</a:t>
            </a:r>
          </a:p>
          <a:p>
            <a:pPr marL="514350" marR="0" lvl="0" indent="-514350" defTabSz="914400" rtl="0" eaLnBrk="0" fontAlgn="base" latinLnBrk="0" hangingPunct="0">
              <a:lnSpc>
                <a:spcPct val="100000"/>
              </a:lnSpc>
              <a:spcBef>
                <a:spcPct val="0"/>
              </a:spcBef>
              <a:spcAft>
                <a:spcPts val="180"/>
              </a:spcAft>
              <a:buClrTx/>
              <a:buSzTx/>
              <a:buFont typeface="+mj-lt"/>
              <a:buAutoNum type="arabicPeriod"/>
              <a:tabLst/>
            </a:pPr>
            <a:r>
              <a:rPr lang="en-US" altLang="en-US" sz="2800" dirty="0">
                <a:solidFill>
                  <a:srgbClr val="000000"/>
                </a:solidFill>
                <a:latin typeface="Arial" panose="020B0604020202020204" pitchFamily="34" charset="0"/>
              </a:rPr>
              <a:t>Conclusion</a:t>
            </a:r>
          </a:p>
        </p:txBody>
      </p:sp>
      <p:pic>
        <p:nvPicPr>
          <p:cNvPr id="2" name="Picture 1">
            <a:extLst>
              <a:ext uri="{FF2B5EF4-FFF2-40B4-BE49-F238E27FC236}">
                <a16:creationId xmlns:a16="http://schemas.microsoft.com/office/drawing/2014/main" id="{0488B566-8893-1972-5A84-043EE4821425}"/>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27433787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Introduction</a:t>
            </a:r>
          </a:p>
        </p:txBody>
      </p:sp>
      <p:sp>
        <p:nvSpPr>
          <p:cNvPr id="5" name="TextBox 4">
            <a:extLst>
              <a:ext uri="{FF2B5EF4-FFF2-40B4-BE49-F238E27FC236}">
                <a16:creationId xmlns:a16="http://schemas.microsoft.com/office/drawing/2014/main" id="{2B49303A-19D7-2462-7E87-A31864EA72E2}"/>
              </a:ext>
            </a:extLst>
          </p:cNvPr>
          <p:cNvSpPr txBox="1"/>
          <p:nvPr/>
        </p:nvSpPr>
        <p:spPr>
          <a:xfrm>
            <a:off x="678873" y="1648691"/>
            <a:ext cx="9906000" cy="4524315"/>
          </a:xfrm>
          <a:prstGeom prst="rect">
            <a:avLst/>
          </a:prstGeom>
          <a:noFill/>
        </p:spPr>
        <p:txBody>
          <a:bodyPr wrap="square" rtlCol="0">
            <a:spAutoFit/>
          </a:bodyPr>
          <a:lstStyle/>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Amazon is a multinational technology company that focuses on e-commerce, cloud computing, online advertising, digital streaming, and artificial intelligence. It was founded by Jeff Bezos in 1994 and is headquartered in Seattle, Washington and Arlington County, Virginia. Amazon is one of the most valuable and influential companies in the world, with over 1.3 billion customers and a market capitalization of over 1.6 trillion dollars.</a:t>
            </a:r>
            <a:endParaRPr lang="en-GB" sz="32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423216092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The Industry</a:t>
            </a:r>
          </a:p>
        </p:txBody>
      </p:sp>
      <p:sp>
        <p:nvSpPr>
          <p:cNvPr id="5" name="TextBox 4">
            <a:extLst>
              <a:ext uri="{FF2B5EF4-FFF2-40B4-BE49-F238E27FC236}">
                <a16:creationId xmlns:a16="http://schemas.microsoft.com/office/drawing/2014/main" id="{2B49303A-19D7-2462-7E87-A31864EA72E2}"/>
              </a:ext>
            </a:extLst>
          </p:cNvPr>
          <p:cNvSpPr txBox="1"/>
          <p:nvPr/>
        </p:nvSpPr>
        <p:spPr>
          <a:xfrm>
            <a:off x="678873" y="1648691"/>
            <a:ext cx="9906000" cy="4416594"/>
          </a:xfrm>
          <a:prstGeom prst="rect">
            <a:avLst/>
          </a:prstGeom>
          <a:noFill/>
        </p:spPr>
        <p:txBody>
          <a:bodyPr wrap="square" rtlCol="0">
            <a:spAutoFit/>
          </a:bodyPr>
          <a:lstStyle/>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Amazon is a part of the “e-commerce” Industry</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The industry has grown about 10% or more each year for the past 15 years.</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In the recent years, online shopping has become so easy with so many devices such as Mobiles phones, Tablets, Laptops.</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Amazon is seen as being one of the world’s largest online retailer.</a:t>
            </a:r>
            <a:endParaRPr lang="en-GB" sz="32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382653048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551550" y="405704"/>
            <a:ext cx="253801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ysClr val="windowText" lastClr="000000"/>
                </a:solidFill>
                <a:effectLst/>
                <a:latin typeface="Arial Unicode MS" panose="020B0604020202020204" pitchFamily="34" charset="-128"/>
              </a:rPr>
              <a:t>Timeline</a:t>
            </a:r>
          </a:p>
        </p:txBody>
      </p:sp>
      <p:grpSp>
        <p:nvGrpSpPr>
          <p:cNvPr id="8" name="Group 7">
            <a:extLst>
              <a:ext uri="{FF2B5EF4-FFF2-40B4-BE49-F238E27FC236}">
                <a16:creationId xmlns:a16="http://schemas.microsoft.com/office/drawing/2014/main" id="{11BC4FAD-4BEE-9AB1-DDD0-F9A3502D8725}"/>
              </a:ext>
            </a:extLst>
          </p:cNvPr>
          <p:cNvGrpSpPr/>
          <p:nvPr/>
        </p:nvGrpSpPr>
        <p:grpSpPr>
          <a:xfrm>
            <a:off x="551550" y="1668673"/>
            <a:ext cx="10435104" cy="4691465"/>
            <a:chOff x="454568" y="1427018"/>
            <a:chExt cx="10435104" cy="4691465"/>
          </a:xfrm>
        </p:grpSpPr>
        <p:pic>
          <p:nvPicPr>
            <p:cNvPr id="6" name="Picture 5">
              <a:extLst>
                <a:ext uri="{FF2B5EF4-FFF2-40B4-BE49-F238E27FC236}">
                  <a16:creationId xmlns:a16="http://schemas.microsoft.com/office/drawing/2014/main" id="{88A73E40-5635-5902-1C6D-80E79322200A}"/>
                </a:ext>
              </a:extLst>
            </p:cNvPr>
            <p:cNvPicPr>
              <a:picLocks noChangeAspect="1"/>
            </p:cNvPicPr>
            <p:nvPr/>
          </p:nvPicPr>
          <p:blipFill rotWithShape="1">
            <a:blip r:embed="rId2">
              <a:extLst>
                <a:ext uri="{28A0092B-C50C-407E-A947-70E740481C1C}">
                  <a14:useLocalDpi xmlns:a14="http://schemas.microsoft.com/office/drawing/2010/main" val="0"/>
                </a:ext>
              </a:extLst>
            </a:blip>
            <a:srcRect t="19699" b="5714"/>
            <a:stretch/>
          </p:blipFill>
          <p:spPr>
            <a:xfrm>
              <a:off x="454568" y="1427018"/>
              <a:ext cx="10435104" cy="4378037"/>
            </a:xfrm>
            <a:prstGeom prst="rect">
              <a:avLst/>
            </a:prstGeom>
          </p:spPr>
        </p:pic>
        <p:sp>
          <p:nvSpPr>
            <p:cNvPr id="7" name="Rectangle: Rounded Corners 6">
              <a:extLst>
                <a:ext uri="{FF2B5EF4-FFF2-40B4-BE49-F238E27FC236}">
                  <a16:creationId xmlns:a16="http://schemas.microsoft.com/office/drawing/2014/main" id="{311AF3A8-355E-6C8A-61ED-6365FA55F832}"/>
                </a:ext>
              </a:extLst>
            </p:cNvPr>
            <p:cNvSpPr/>
            <p:nvPr/>
          </p:nvSpPr>
          <p:spPr>
            <a:xfrm>
              <a:off x="9545782" y="4558145"/>
              <a:ext cx="1343890" cy="156033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Picture 8">
            <a:extLst>
              <a:ext uri="{FF2B5EF4-FFF2-40B4-BE49-F238E27FC236}">
                <a16:creationId xmlns:a16="http://schemas.microsoft.com/office/drawing/2014/main" id="{74839133-D08C-1899-B9E5-94094D0E32D3}"/>
              </a:ext>
            </a:extLst>
          </p:cNvPr>
          <p:cNvPicPr>
            <a:picLocks noChangeAspect="1"/>
          </p:cNvPicPr>
          <p:nvPr/>
        </p:nvPicPr>
        <p:blipFill rotWithShape="1">
          <a:blip r:embed="rId3">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41352244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91A2AE-0A6D-ECFD-EC5E-C1100FD5ABD2}"/>
              </a:ext>
            </a:extLst>
          </p:cNvPr>
          <p:cNvPicPr>
            <a:picLocks noChangeAspect="1"/>
          </p:cNvPicPr>
          <p:nvPr/>
        </p:nvPicPr>
        <p:blipFill rotWithShape="1">
          <a:blip r:embed="rId3">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408923194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3895333" y="640182"/>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4078847" y="746507"/>
            <a:ext cx="31476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Three Pillars</a:t>
            </a:r>
          </a:p>
        </p:txBody>
      </p:sp>
      <p:pic>
        <p:nvPicPr>
          <p:cNvPr id="9" name="Picture 8">
            <a:extLst>
              <a:ext uri="{FF2B5EF4-FFF2-40B4-BE49-F238E27FC236}">
                <a16:creationId xmlns:a16="http://schemas.microsoft.com/office/drawing/2014/main" id="{74839133-D08C-1899-B9E5-94094D0E32D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pic>
        <p:nvPicPr>
          <p:cNvPr id="5" name="Picture 4">
            <a:extLst>
              <a:ext uri="{FF2B5EF4-FFF2-40B4-BE49-F238E27FC236}">
                <a16:creationId xmlns:a16="http://schemas.microsoft.com/office/drawing/2014/main" id="{6BCAAF56-FE7D-7264-D152-205808573E7A}"/>
              </a:ext>
            </a:extLst>
          </p:cNvPr>
          <p:cNvPicPr>
            <a:picLocks noChangeAspect="1"/>
          </p:cNvPicPr>
          <p:nvPr/>
        </p:nvPicPr>
        <p:blipFill rotWithShape="1">
          <a:blip r:embed="rId3">
            <a:extLst>
              <a:ext uri="{28A0092B-C50C-407E-A947-70E740481C1C}">
                <a14:useLocalDpi xmlns:a14="http://schemas.microsoft.com/office/drawing/2010/main" val="0"/>
              </a:ext>
            </a:extLst>
          </a:blip>
          <a:srcRect l="5114" t="23636" r="7159" b="26263"/>
          <a:stretch/>
        </p:blipFill>
        <p:spPr>
          <a:xfrm>
            <a:off x="304800" y="1898073"/>
            <a:ext cx="10695709" cy="3435927"/>
          </a:xfrm>
          <a:prstGeom prst="rect">
            <a:avLst/>
          </a:prstGeom>
        </p:spPr>
      </p:pic>
    </p:spTree>
    <p:extLst>
      <p:ext uri="{BB962C8B-B14F-4D97-AF65-F5344CB8AC3E}">
        <p14:creationId xmlns:p14="http://schemas.microsoft.com/office/powerpoint/2010/main" val="417511493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Sellers</a:t>
            </a:r>
          </a:p>
        </p:txBody>
      </p:sp>
      <p:sp>
        <p:nvSpPr>
          <p:cNvPr id="5" name="TextBox 4">
            <a:extLst>
              <a:ext uri="{FF2B5EF4-FFF2-40B4-BE49-F238E27FC236}">
                <a16:creationId xmlns:a16="http://schemas.microsoft.com/office/drawing/2014/main" id="{2B49303A-19D7-2462-7E87-A31864EA72E2}"/>
              </a:ext>
            </a:extLst>
          </p:cNvPr>
          <p:cNvSpPr txBox="1"/>
          <p:nvPr/>
        </p:nvSpPr>
        <p:spPr>
          <a:xfrm>
            <a:off x="678873" y="1648691"/>
            <a:ext cx="9906000" cy="4929555"/>
          </a:xfrm>
          <a:prstGeom prst="rect">
            <a:avLst/>
          </a:prstGeom>
          <a:noFill/>
        </p:spPr>
        <p:txBody>
          <a:bodyPr wrap="square" rtlCol="0">
            <a:spAutoFit/>
          </a:bodyPr>
          <a:lstStyle/>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700,000 Unique Brands</a:t>
            </a:r>
            <a:endParaRPr lang="en-GB" sz="32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742950" lvl="1" indent="-285750" algn="just">
              <a:spcAft>
                <a:spcPts val="1000"/>
              </a:spcAft>
              <a:buFont typeface="Arial" panose="020B0604020202020204" pitchFamily="34" charset="0"/>
              <a:buChar char="•"/>
            </a:pPr>
            <a:r>
              <a:rPr lang="en-GB" sz="3200" dirty="0">
                <a:latin typeface="Arial Unicode MS" panose="020B0604020202020204" pitchFamily="34" charset="-128"/>
                <a:ea typeface="Arial Unicode MS" panose="020B0604020202020204" pitchFamily="34" charset="-128"/>
                <a:cs typeface="Arial Unicode MS" panose="020B0604020202020204" pitchFamily="34" charset="-128"/>
              </a:rPr>
              <a:t>350 Million Products</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Extend Reach for small business</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Increase Online Presence</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Accounts for 1:3 Online Transactions</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Amazon Needs Sellers</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Offer Education, Training, &amp; Exclusive Tools</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Inventory Management</a:t>
            </a: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390137542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Customers</a:t>
            </a:r>
          </a:p>
        </p:txBody>
      </p:sp>
      <p:sp>
        <p:nvSpPr>
          <p:cNvPr id="5" name="TextBox 4">
            <a:extLst>
              <a:ext uri="{FF2B5EF4-FFF2-40B4-BE49-F238E27FC236}">
                <a16:creationId xmlns:a16="http://schemas.microsoft.com/office/drawing/2014/main" id="{2B49303A-19D7-2462-7E87-A31864EA72E2}"/>
              </a:ext>
            </a:extLst>
          </p:cNvPr>
          <p:cNvSpPr txBox="1"/>
          <p:nvPr/>
        </p:nvSpPr>
        <p:spPr>
          <a:xfrm>
            <a:off x="678873" y="1648691"/>
            <a:ext cx="9906000" cy="4929555"/>
          </a:xfrm>
          <a:prstGeom prst="rect">
            <a:avLst/>
          </a:prstGeom>
          <a:noFill/>
        </p:spPr>
        <p:txBody>
          <a:bodyPr wrap="square" rtlCol="0">
            <a:spAutoFit/>
          </a:bodyPr>
          <a:lstStyle/>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Always Day One</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Innovation &amp; Customer Obsession</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Ideal Target </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Early Adopters</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New Parents</a:t>
            </a:r>
          </a:p>
          <a:p>
            <a:pPr marL="285750"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Amazon Prime</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Free 2-Day Shipping</a:t>
            </a:r>
          </a:p>
          <a:p>
            <a:pPr marL="742950" lvl="1" indent="-285750" algn="just">
              <a:spcAft>
                <a:spcPts val="1000"/>
              </a:spcAft>
              <a:buFont typeface="Arial" panose="020B0604020202020204" pitchFamily="34" charset="0"/>
              <a:buChar char="•"/>
            </a:pPr>
            <a:r>
              <a:rPr lang="en-US" sz="3200" dirty="0">
                <a:latin typeface="Arial Unicode MS" panose="020B0604020202020204" pitchFamily="34" charset="-128"/>
                <a:ea typeface="Arial Unicode MS" panose="020B0604020202020204" pitchFamily="34" charset="-128"/>
                <a:cs typeface="Arial Unicode MS" panose="020B0604020202020204" pitchFamily="34" charset="-128"/>
              </a:rPr>
              <a:t>Exclusive Access to Benefits</a:t>
            </a: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418577487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3895333" y="640182"/>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4078847" y="746507"/>
            <a:ext cx="31476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Developers</a:t>
            </a:r>
          </a:p>
        </p:txBody>
      </p:sp>
      <p:pic>
        <p:nvPicPr>
          <p:cNvPr id="9" name="Picture 8">
            <a:extLst>
              <a:ext uri="{FF2B5EF4-FFF2-40B4-BE49-F238E27FC236}">
                <a16:creationId xmlns:a16="http://schemas.microsoft.com/office/drawing/2014/main" id="{74839133-D08C-1899-B9E5-94094D0E32D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pic>
        <p:nvPicPr>
          <p:cNvPr id="5" name="Picture 4">
            <a:extLst>
              <a:ext uri="{FF2B5EF4-FFF2-40B4-BE49-F238E27FC236}">
                <a16:creationId xmlns:a16="http://schemas.microsoft.com/office/drawing/2014/main" id="{6BCAAF56-FE7D-7264-D152-205808573E7A}"/>
              </a:ext>
            </a:extLst>
          </p:cNvPr>
          <p:cNvPicPr>
            <a:picLocks noChangeAspect="1"/>
          </p:cNvPicPr>
          <p:nvPr/>
        </p:nvPicPr>
        <p:blipFill rotWithShape="1">
          <a:blip r:embed="rId3">
            <a:extLst>
              <a:ext uri="{28A0092B-C50C-407E-A947-70E740481C1C}">
                <a14:useLocalDpi xmlns:a14="http://schemas.microsoft.com/office/drawing/2010/main" val="0"/>
              </a:ext>
            </a:extLst>
          </a:blip>
          <a:srcRect l="5114" t="23636" r="7159" b="26263"/>
          <a:stretch/>
        </p:blipFill>
        <p:spPr>
          <a:xfrm>
            <a:off x="304800" y="1898073"/>
            <a:ext cx="10695709" cy="3435927"/>
          </a:xfrm>
          <a:prstGeom prst="rect">
            <a:avLst/>
          </a:prstGeom>
        </p:spPr>
      </p:pic>
    </p:spTree>
    <p:extLst>
      <p:ext uri="{BB962C8B-B14F-4D97-AF65-F5344CB8AC3E}">
        <p14:creationId xmlns:p14="http://schemas.microsoft.com/office/powerpoint/2010/main" val="339194726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Conclusion</a:t>
            </a:r>
          </a:p>
        </p:txBody>
      </p:sp>
      <p:sp>
        <p:nvSpPr>
          <p:cNvPr id="5" name="TextBox 4">
            <a:extLst>
              <a:ext uri="{FF2B5EF4-FFF2-40B4-BE49-F238E27FC236}">
                <a16:creationId xmlns:a16="http://schemas.microsoft.com/office/drawing/2014/main" id="{2B49303A-19D7-2462-7E87-A31864EA72E2}"/>
              </a:ext>
            </a:extLst>
          </p:cNvPr>
          <p:cNvSpPr txBox="1"/>
          <p:nvPr/>
        </p:nvSpPr>
        <p:spPr>
          <a:xfrm>
            <a:off x="789709" y="1653232"/>
            <a:ext cx="10196946" cy="4401205"/>
          </a:xfrm>
          <a:prstGeom prst="rect">
            <a:avLst/>
          </a:prstGeom>
          <a:noFill/>
        </p:spPr>
        <p:txBody>
          <a:bodyPr wrap="square" rtlCol="0">
            <a:spAutoFit/>
          </a:bodyPr>
          <a:lstStyle/>
          <a:p>
            <a:pPr algn="just">
              <a:spcAft>
                <a:spcPts val="1000"/>
              </a:spcAft>
            </a:pPr>
            <a:r>
              <a:rPr lang="en-US" sz="2800" dirty="0">
                <a:latin typeface="Arial Unicode MS" panose="020B0604020202020204" pitchFamily="34" charset="-128"/>
                <a:ea typeface="Arial Unicode MS" panose="020B0604020202020204" pitchFamily="34" charset="-128"/>
                <a:cs typeface="Arial Unicode MS" panose="020B0604020202020204" pitchFamily="34" charset="-128"/>
              </a:rPr>
              <a:t>In conclusion, we can say, Amazon is a multinational e-commerce company that offers a wide range of products and services, such as books, electronics, clothing, groceries, cloud computing, streaming, and more. It is the most valuable and influential companies in the world, with over 1.3 billion customers and a market capitalization of over 1.6 trillion dollars. Furthermore, it is also known for its innovation and leadership in areas such as artificial intelligence, robotics, voice assistants, and space exploration. Amazon's vision is to be Earth's best employer and Earth's safest place to work.</a:t>
            </a:r>
            <a:endParaRPr lang="en-GB" sz="28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2">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337821966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CF16E9B-7AD1-C068-3D6F-4FF4911C8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571" y="2040450"/>
            <a:ext cx="5568166" cy="4177368"/>
          </a:xfrm>
          <a:prstGeom prst="rect">
            <a:avLst/>
          </a:prstGeom>
        </p:spPr>
      </p:pic>
      <p:sp>
        <p:nvSpPr>
          <p:cNvPr id="2" name="Rectangle: Rounded Corners 1">
            <a:extLst>
              <a:ext uri="{FF2B5EF4-FFF2-40B4-BE49-F238E27FC236}">
                <a16:creationId xmlns:a16="http://schemas.microsoft.com/office/drawing/2014/main" id="{4BE31E13-3E58-190E-7307-39691E35C26A}"/>
              </a:ext>
            </a:extLst>
          </p:cNvPr>
          <p:cNvSpPr/>
          <p:nvPr/>
        </p:nvSpPr>
        <p:spPr>
          <a:xfrm>
            <a:off x="3826060" y="1388327"/>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3917817" y="1494652"/>
            <a:ext cx="33311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Any Question?</a:t>
            </a:r>
          </a:p>
        </p:txBody>
      </p:sp>
      <p:pic>
        <p:nvPicPr>
          <p:cNvPr id="9" name="Picture 8">
            <a:extLst>
              <a:ext uri="{FF2B5EF4-FFF2-40B4-BE49-F238E27FC236}">
                <a16:creationId xmlns:a16="http://schemas.microsoft.com/office/drawing/2014/main" id="{74839133-D08C-1899-B9E5-94094D0E32D3}"/>
              </a:ext>
            </a:extLst>
          </p:cNvPr>
          <p:cNvPicPr>
            <a:picLocks noChangeAspect="1"/>
          </p:cNvPicPr>
          <p:nvPr/>
        </p:nvPicPr>
        <p:blipFill rotWithShape="1">
          <a:blip r:embed="rId3">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226989605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E31E13-3E58-190E-7307-39691E35C26A}"/>
              </a:ext>
            </a:extLst>
          </p:cNvPr>
          <p:cNvSpPr/>
          <p:nvPr/>
        </p:nvSpPr>
        <p:spPr>
          <a:xfrm>
            <a:off x="-425078" y="330156"/>
            <a:ext cx="3514642" cy="85898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17232" y="436481"/>
            <a:ext cx="28723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ysClr val="windowText" lastClr="000000"/>
                </a:solidFill>
                <a:effectLst/>
                <a:latin typeface="Arial Unicode MS" panose="020B0604020202020204" pitchFamily="34" charset="-128"/>
              </a:rPr>
              <a:t>References</a:t>
            </a:r>
          </a:p>
        </p:txBody>
      </p:sp>
      <p:sp>
        <p:nvSpPr>
          <p:cNvPr id="5" name="TextBox 4">
            <a:extLst>
              <a:ext uri="{FF2B5EF4-FFF2-40B4-BE49-F238E27FC236}">
                <a16:creationId xmlns:a16="http://schemas.microsoft.com/office/drawing/2014/main" id="{2B49303A-19D7-2462-7E87-A31864EA72E2}"/>
              </a:ext>
            </a:extLst>
          </p:cNvPr>
          <p:cNvSpPr txBox="1"/>
          <p:nvPr/>
        </p:nvSpPr>
        <p:spPr>
          <a:xfrm>
            <a:off x="831272" y="1623858"/>
            <a:ext cx="9906000" cy="3062377"/>
          </a:xfrm>
          <a:prstGeom prst="rect">
            <a:avLst/>
          </a:prstGeom>
          <a:noFill/>
        </p:spPr>
        <p:txBody>
          <a:bodyPr wrap="square" rtlCol="0">
            <a:spAutoFit/>
          </a:bodyPr>
          <a:lstStyle/>
          <a:p>
            <a:pPr marL="571500" indent="-571500">
              <a:spcAft>
                <a:spcPts val="1000"/>
              </a:spcAft>
              <a:buFont typeface="Arial" panose="020B0604020202020204" pitchFamily="34" charset="0"/>
              <a:buChar char="•"/>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Amazon (company) - Wikipedia. </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hlinkClick r:id="rId2"/>
              </a:rPr>
              <a:t>https://en.wikipedia.org/wiki/Amazon_%28company%29</a:t>
            </a:r>
            <a:endParaRPr lang="en-GB" sz="24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571500" indent="-571500">
              <a:spcAft>
                <a:spcPts val="1000"/>
              </a:spcAft>
              <a:buFont typeface="Arial" panose="020B0604020202020204" pitchFamily="34" charset="0"/>
              <a:buChar char="•"/>
            </a:pP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Amazon.com. Spend less. Smile more. </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hlinkClick r:id="rId3"/>
              </a:rPr>
              <a:t>https://www.amazon.com/</a:t>
            </a:r>
            <a:endParaRPr lang="en-GB" sz="24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571500" indent="-571500">
              <a:spcAft>
                <a:spcPts val="1000"/>
              </a:spcAft>
              <a:buFont typeface="Arial" panose="020B0604020202020204" pitchFamily="34" charset="0"/>
              <a:buChar char="•"/>
            </a:pP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Amazon.com: Welcome to Amazon. </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hlinkClick r:id="rId4"/>
              </a:rPr>
              <a:t>https://us.amazon.com/b?node=17867753011</a:t>
            </a:r>
            <a:endParaRPr lang="en-GB" sz="24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571500" indent="-571500">
              <a:spcAft>
                <a:spcPts val="1000"/>
              </a:spcAft>
              <a:buFont typeface="Arial" panose="020B0604020202020204" pitchFamily="34" charset="0"/>
              <a:buChar char="•"/>
            </a:pP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Amazon.fr : livres, DVD, jeux </a:t>
            </a:r>
            <a:r>
              <a:rPr lang="en-GB" sz="2400" dirty="0" err="1">
                <a:latin typeface="Arial Unicode MS" panose="020B0604020202020204" pitchFamily="34" charset="-128"/>
                <a:ea typeface="Arial Unicode MS" panose="020B0604020202020204" pitchFamily="34" charset="-128"/>
                <a:cs typeface="Arial Unicode MS" panose="020B0604020202020204" pitchFamily="34" charset="-128"/>
              </a:rPr>
              <a:t>vidéo</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 musique, high-tech, </a:t>
            </a:r>
            <a:r>
              <a:rPr lang="en-GB" sz="2400" dirty="0" err="1">
                <a:latin typeface="Arial Unicode MS" panose="020B0604020202020204" pitchFamily="34" charset="-128"/>
                <a:ea typeface="Arial Unicode MS" panose="020B0604020202020204" pitchFamily="34" charset="-128"/>
                <a:cs typeface="Arial Unicode MS" panose="020B0604020202020204" pitchFamily="34" charset="-128"/>
              </a:rPr>
              <a:t>informatique</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hlinkClick r:id="rId5"/>
              </a:rPr>
              <a:t>https://www.amazon.fr/</a:t>
            </a:r>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a:t>
            </a:r>
          </a:p>
        </p:txBody>
      </p:sp>
      <p:pic>
        <p:nvPicPr>
          <p:cNvPr id="18" name="Picture 17">
            <a:extLst>
              <a:ext uri="{FF2B5EF4-FFF2-40B4-BE49-F238E27FC236}">
                <a16:creationId xmlns:a16="http://schemas.microsoft.com/office/drawing/2014/main" id="{5DBCA825-AA06-A97D-D353-6736AB86BFA3}"/>
              </a:ext>
            </a:extLst>
          </p:cNvPr>
          <p:cNvPicPr>
            <a:picLocks noChangeAspect="1"/>
          </p:cNvPicPr>
          <p:nvPr/>
        </p:nvPicPr>
        <p:blipFill rotWithShape="1">
          <a:blip r:embed="rId6">
            <a:extLst>
              <a:ext uri="{28A0092B-C50C-407E-A947-70E740481C1C}">
                <a14:useLocalDpi xmlns:a14="http://schemas.microsoft.com/office/drawing/2010/main" val="0"/>
              </a:ext>
            </a:extLst>
          </a:blip>
          <a:srcRect l="86023" t="76162"/>
          <a:stretch/>
        </p:blipFill>
        <p:spPr>
          <a:xfrm>
            <a:off x="11430000" y="6054437"/>
            <a:ext cx="637310" cy="611403"/>
          </a:xfrm>
          <a:prstGeom prst="roundRect">
            <a:avLst/>
          </a:prstGeom>
        </p:spPr>
      </p:pic>
    </p:spTree>
    <p:extLst>
      <p:ext uri="{BB962C8B-B14F-4D97-AF65-F5344CB8AC3E}">
        <p14:creationId xmlns:p14="http://schemas.microsoft.com/office/powerpoint/2010/main" val="199456820"/>
      </p:ext>
    </p:extLst>
  </p:cSld>
  <p:clrMapOvr>
    <a:masterClrMapping/>
  </p:clrMapOvr>
  <p:transition spd="slow">
    <p:push dir="u"/>
  </p:transition>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TM03457515[[fn=View]]</Template>
  <TotalTime>1037</TotalTime>
  <Words>432</Words>
  <Application>Microsoft Office PowerPoint</Application>
  <PresentationFormat>Widescreen</PresentationFormat>
  <Paragraphs>54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 Unicode MS</vt:lpstr>
      <vt:lpstr>Aptos</vt:lpstr>
      <vt:lpstr>Arial</vt:lpstr>
      <vt:lpstr>Century Schoolbook</vt:lpstr>
      <vt:lpstr>Wingdings</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Saqib Bedar</dc:creator>
  <cp:lastModifiedBy>Saqib Bedar</cp:lastModifiedBy>
  <cp:revision>17</cp:revision>
  <dcterms:created xsi:type="dcterms:W3CDTF">2023-11-23T08:45:55Z</dcterms:created>
  <dcterms:modified xsi:type="dcterms:W3CDTF">2024-01-11T10:17:01Z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2023-11-23T08:51:39Z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89d86539-d32e-4c08-9b2f-0c303e2e5e3e</vt:lpwstr>
  </property>
  <property fmtid="{D5CDD505-2E9C-101B-9397-08002B2CF9AE}" pid="7" name="MSIP_Label_defa4170-0d19-0005-0004-bc88714345d2_ActionId">
    <vt:lpwstr>b3646888-816f-41ea-bae8-9d33c45db2b3</vt:lpwstr>
  </property>
  <property fmtid="{D5CDD505-2E9C-101B-9397-08002B2CF9AE}" pid="8" name="MSIP_Label_defa4170-0d19-0005-0004-bc88714345d2_ContentBits">
    <vt:lpwstr>0</vt:lpwstr>
  </property>
</Properties>
</file>