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
  </p:sldMasterIdLst>
  <p:sldIdLst>
    <p:sldId id="257" r:id="rId2"/>
    <p:sldId id="262" r:id="rId3"/>
    <p:sldId id="261" r:id="rId4"/>
    <p:sldId id="263" r:id="rId5"/>
    <p:sldId id="256"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EE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5DB0394A-579D-4A47-9130-7E9860C2581F}" type="datetimeFigureOut">
              <a:rPr lang="en-GB" smtClean="0"/>
              <a:t>06/12/2023</a:t>
            </a:fld>
            <a:endParaRPr lang="en-GB"/>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GB"/>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30AF229F-8ABA-4DE9-B0E7-84541BA2FF87}" type="slidenum">
              <a:rPr lang="en-GB" smtClean="0"/>
              <a:t>‹#›</a:t>
            </a:fld>
            <a:endParaRPr lang="en-GB"/>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4511860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B0394A-579D-4A47-9130-7E9860C2581F}" type="datetimeFigureOut">
              <a:rPr lang="en-GB" smtClean="0"/>
              <a:t>06/12/2023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0AF229F-8ABA-4DE9-B0E7-84541BA2FF87}" type="slidenum">
              <a:rPr lang="en-GB" smtClean="0"/>
              <a:t>‹#›</a:t>
            </a:fld>
            <a:endParaRPr lang="en-GB"/>
          </a:p>
        </p:txBody>
      </p:sp>
    </p:spTree>
    <p:extLst>
      <p:ext uri="{BB962C8B-B14F-4D97-AF65-F5344CB8AC3E}">
        <p14:creationId xmlns:p14="http://schemas.microsoft.com/office/powerpoint/2010/main" val="1418884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B0394A-579D-4A47-9130-7E9860C2581F}" type="datetimeFigureOut">
              <a:rPr lang="en-GB" smtClean="0"/>
              <a:t>06/12/2023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0AF229F-8ABA-4DE9-B0E7-84541BA2FF87}" type="slidenum">
              <a:rPr lang="en-GB" smtClean="0"/>
              <a:t>‹#›</a:t>
            </a:fld>
            <a:endParaRPr lang="en-GB"/>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78414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B0394A-579D-4A47-9130-7E9860C2581F}" type="datetimeFigureOut">
              <a:rPr lang="en-GB" smtClean="0"/>
              <a:t>06/12/2023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0AF229F-8ABA-4DE9-B0E7-84541BA2FF87}" type="slidenum">
              <a:rPr lang="en-GB" smtClean="0"/>
              <a:t>‹#›</a:t>
            </a:fld>
            <a:endParaRPr lang="en-GB"/>
          </a:p>
        </p:txBody>
      </p:sp>
    </p:spTree>
    <p:extLst>
      <p:ext uri="{BB962C8B-B14F-4D97-AF65-F5344CB8AC3E}">
        <p14:creationId xmlns:p14="http://schemas.microsoft.com/office/powerpoint/2010/main" val="211152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B0394A-579D-4A47-9130-7E9860C2581F}" type="datetimeFigureOut">
              <a:rPr lang="en-GB" smtClean="0"/>
              <a:t>06/12/2023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0AF229F-8ABA-4DE9-B0E7-84541BA2FF87}" type="slidenum">
              <a:rPr lang="en-GB" smtClean="0"/>
              <a:t>‹#›</a:t>
            </a:fld>
            <a:endParaRPr lang="en-GB"/>
          </a:p>
        </p:txBody>
      </p:sp>
    </p:spTree>
    <p:extLst>
      <p:ext uri="{BB962C8B-B14F-4D97-AF65-F5344CB8AC3E}">
        <p14:creationId xmlns:p14="http://schemas.microsoft.com/office/powerpoint/2010/main" val="2910758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0394A-579D-4A47-9130-7E9860C2581F}" type="datetimeFigureOut">
              <a:rPr lang="en-GB" smtClean="0"/>
              <a:t>06/12/2023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0AF229F-8ABA-4DE9-B0E7-84541BA2FF87}" type="slidenum">
              <a:rPr lang="en-GB" smtClean="0"/>
              <a:t>‹#›</a:t>
            </a:fld>
            <a:endParaRPr lang="en-GB"/>
          </a:p>
        </p:txBody>
      </p:sp>
    </p:spTree>
    <p:extLst>
      <p:ext uri="{BB962C8B-B14F-4D97-AF65-F5344CB8AC3E}">
        <p14:creationId xmlns:p14="http://schemas.microsoft.com/office/powerpoint/2010/main" val="3094935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B0394A-579D-4A47-9130-7E9860C2581F}" type="datetimeFigureOut">
              <a:rPr lang="en-GB" smtClean="0"/>
              <a:t>06/12/2023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0AF229F-8ABA-4DE9-B0E7-84541BA2FF87}" type="slidenum">
              <a:rPr lang="en-GB" smtClean="0"/>
              <a:t>‹#›</a:t>
            </a:fld>
            <a:endParaRPr lang="en-GB"/>
          </a:p>
        </p:txBody>
      </p:sp>
    </p:spTree>
    <p:extLst>
      <p:ext uri="{BB962C8B-B14F-4D97-AF65-F5344CB8AC3E}">
        <p14:creationId xmlns:p14="http://schemas.microsoft.com/office/powerpoint/2010/main" val="4004761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B0394A-579D-4A47-9130-7E9860C2581F}" type="datetimeFigureOut">
              <a:rPr lang="en-GB" smtClean="0"/>
              <a:t>06/12/2023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0AF229F-8ABA-4DE9-B0E7-84541BA2FF87}" type="slidenum">
              <a:rPr lang="en-GB" smtClean="0"/>
              <a:t>‹#›</a:t>
            </a:fld>
            <a:endParaRPr lang="en-GB"/>
          </a:p>
        </p:txBody>
      </p:sp>
    </p:spTree>
    <p:extLst>
      <p:ext uri="{BB962C8B-B14F-4D97-AF65-F5344CB8AC3E}">
        <p14:creationId xmlns:p14="http://schemas.microsoft.com/office/powerpoint/2010/main" val="1058069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B0394A-579D-4A47-9130-7E9860C2581F}" type="datetimeFigureOut">
              <a:rPr lang="en-GB" smtClean="0"/>
              <a:t>06/12/2023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0AF229F-8ABA-4DE9-B0E7-84541BA2FF87}" type="slidenum">
              <a:rPr lang="en-GB" smtClean="0"/>
              <a:t>‹#›</a:t>
            </a:fld>
            <a:endParaRPr lang="en-GB"/>
          </a:p>
        </p:txBody>
      </p:sp>
    </p:spTree>
    <p:extLst>
      <p:ext uri="{BB962C8B-B14F-4D97-AF65-F5344CB8AC3E}">
        <p14:creationId xmlns:p14="http://schemas.microsoft.com/office/powerpoint/2010/main" val="127847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B0394A-579D-4A47-9130-7E9860C2581F}" type="datetimeFigureOut">
              <a:rPr lang="en-GB" smtClean="0"/>
              <a:t>06/12/2023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0AF229F-8ABA-4DE9-B0E7-84541BA2FF87}" type="slidenum">
              <a:rPr lang="en-GB" smtClean="0"/>
              <a:t>‹#›</a:t>
            </a:fld>
            <a:endParaRPr lang="en-GB"/>
          </a:p>
        </p:txBody>
      </p:sp>
    </p:spTree>
    <p:extLst>
      <p:ext uri="{BB962C8B-B14F-4D97-AF65-F5344CB8AC3E}">
        <p14:creationId xmlns:p14="http://schemas.microsoft.com/office/powerpoint/2010/main" val="2219119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B0394A-579D-4A47-9130-7E9860C2581F}" type="datetimeFigureOut">
              <a:rPr lang="en-GB" smtClean="0"/>
              <a:t>06/12/2023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0AF229F-8ABA-4DE9-B0E7-84541BA2FF87}" type="slidenum">
              <a:rPr lang="en-GB" smtClean="0"/>
              <a:t>‹#›</a:t>
            </a:fld>
            <a:endParaRPr lang="en-GB"/>
          </a:p>
        </p:txBody>
      </p:sp>
    </p:spTree>
    <p:extLst>
      <p:ext uri="{BB962C8B-B14F-4D97-AF65-F5344CB8AC3E}">
        <p14:creationId xmlns:p14="http://schemas.microsoft.com/office/powerpoint/2010/main" val="3505548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5DB0394A-579D-4A47-9130-7E9860C2581F}" type="datetimeFigureOut">
              <a:rPr lang="en-GB" smtClean="0"/>
              <a:t>06/12/2023</a:t>
            </a:fld>
            <a:endParaRPr lang="en-GB"/>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GB"/>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30AF229F-8ABA-4DE9-B0E7-84541BA2FF87}" type="slidenum">
              <a:rPr lang="en-GB" smtClean="0"/>
              <a:t>‹#›</a:t>
            </a:fld>
            <a:endParaRPr lang="en-GB"/>
          </a:p>
        </p:txBody>
      </p:sp>
    </p:spTree>
    <p:extLst>
      <p:ext uri="{BB962C8B-B14F-4D97-AF65-F5344CB8AC3E}">
        <p14:creationId xmlns:p14="http://schemas.microsoft.com/office/powerpoint/2010/main" val="2332762301"/>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altoromutual.com/login.jsp"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C0AD739-51F2-A0AA-A2C2-2FE0D8CFD218}"/>
              </a:ext>
            </a:extLst>
          </p:cNvPr>
          <p:cNvSpPr>
            <a:spLocks noGrp="1" noChangeArrowheads="1"/>
          </p:cNvSpPr>
          <p:nvPr>
            <p:ph idx="1"/>
          </p:nvPr>
        </p:nvSpPr>
        <p:spPr bwMode="auto">
          <a:xfrm>
            <a:off x="2821544" y="2859613"/>
            <a:ext cx="6548911"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4800" b="1" dirty="0">
                <a:solidFill>
                  <a:srgbClr val="00B050"/>
                </a:solidFill>
                <a:latin typeface="Arial" panose="020B0604020202020204" pitchFamily="34" charset="0"/>
              </a:rPr>
              <a:t>ICT Lab Presentation</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Arial" panose="020B0604020202020204" pitchFamily="34" charset="0"/>
              </a:rPr>
              <a:t>Presented by: Saqib Bedar</a:t>
            </a:r>
          </a:p>
        </p:txBody>
      </p:sp>
    </p:spTree>
    <p:extLst>
      <p:ext uri="{BB962C8B-B14F-4D97-AF65-F5344CB8AC3E}">
        <p14:creationId xmlns:p14="http://schemas.microsoft.com/office/powerpoint/2010/main" val="3504151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C0AD739-51F2-A0AA-A2C2-2FE0D8CFD218}"/>
              </a:ext>
            </a:extLst>
          </p:cNvPr>
          <p:cNvSpPr>
            <a:spLocks noGrp="1" noChangeArrowheads="1"/>
          </p:cNvSpPr>
          <p:nvPr>
            <p:ph idx="1"/>
          </p:nvPr>
        </p:nvSpPr>
        <p:spPr bwMode="auto">
          <a:xfrm>
            <a:off x="641596" y="505123"/>
            <a:ext cx="7823531" cy="29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rgbClr val="00B050"/>
                </a:solidFill>
                <a:effectLst/>
                <a:latin typeface="Arial" panose="020B0604020202020204" pitchFamily="34" charset="0"/>
              </a:rPr>
              <a:t>Outlines:</a:t>
            </a:r>
          </a:p>
          <a:p>
            <a:pPr marL="0" marR="0" lvl="0" indent="0" defTabSz="914400" rtl="0" eaLnBrk="0" fontAlgn="base" latinLnBrk="0" hangingPunct="0">
              <a:lnSpc>
                <a:spcPct val="100000"/>
              </a:lnSpc>
              <a:spcBef>
                <a:spcPct val="0"/>
              </a:spcBef>
              <a:spcAft>
                <a:spcPct val="0"/>
              </a:spcAft>
              <a:buClrTx/>
              <a:buSzTx/>
              <a:buFontTx/>
              <a:buNone/>
              <a:tabLst/>
            </a:pPr>
            <a:endParaRPr lang="en-US" altLang="en-US" sz="3200" dirty="0">
              <a:solidFill>
                <a:srgbClr val="000000"/>
              </a:solidFill>
              <a:latin typeface="Arial" panose="020B0604020202020204" pitchFamily="34" charset="0"/>
            </a:endParaRPr>
          </a:p>
          <a:p>
            <a:pPr marL="514350" marR="0" lvl="0" indent="-514350" defTabSz="914400" rtl="0" eaLnBrk="0" fontAlgn="base" latinLnBrk="0" hangingPunct="0">
              <a:lnSpc>
                <a:spcPct val="100000"/>
              </a:lnSpc>
              <a:spcBef>
                <a:spcPct val="0"/>
              </a:spcBef>
              <a:spcAft>
                <a:spcPct val="0"/>
              </a:spcAft>
              <a:buClrTx/>
              <a:buSzTx/>
              <a:buFont typeface="+mj-lt"/>
              <a:buAutoNum type="arabicPeriod"/>
              <a:tabLst/>
            </a:pPr>
            <a:r>
              <a:rPr lang="en-US" altLang="en-US" sz="2800" dirty="0">
                <a:solidFill>
                  <a:srgbClr val="000000"/>
                </a:solidFill>
                <a:latin typeface="Arial" panose="020B0604020202020204" pitchFamily="34" charset="0"/>
              </a:rPr>
              <a:t>SQL Injection</a:t>
            </a:r>
          </a:p>
          <a:p>
            <a:pPr marL="514350" marR="0" lvl="0" indent="-514350" defTabSz="914400" rtl="0" eaLnBrk="0" fontAlgn="base" latinLnBrk="0" hangingPunct="0">
              <a:lnSpc>
                <a:spcPct val="100000"/>
              </a:lnSpc>
              <a:spcBef>
                <a:spcPct val="0"/>
              </a:spcBef>
              <a:spcAft>
                <a:spcPct val="0"/>
              </a:spcAft>
              <a:buClrTx/>
              <a:buSzTx/>
              <a:buFont typeface="+mj-lt"/>
              <a:buAutoNum type="arabicPeriod"/>
              <a:tabLst/>
            </a:pPr>
            <a:r>
              <a:rPr lang="en-US" altLang="en-US" sz="2800" dirty="0">
                <a:solidFill>
                  <a:srgbClr val="000000"/>
                </a:solidFill>
                <a:latin typeface="Arial" panose="020B0604020202020204" pitchFamily="34" charset="0"/>
              </a:rPr>
              <a:t>DoS attack</a:t>
            </a:r>
          </a:p>
          <a:p>
            <a:pPr marL="514350" marR="0" lvl="0" indent="-514350" defTabSz="914400" rtl="0" eaLnBrk="0" fontAlgn="base" latinLnBrk="0" hangingPunct="0">
              <a:lnSpc>
                <a:spcPct val="100000"/>
              </a:lnSpc>
              <a:spcBef>
                <a:spcPct val="0"/>
              </a:spcBef>
              <a:spcAft>
                <a:spcPct val="0"/>
              </a:spcAft>
              <a:buClrTx/>
              <a:buSzTx/>
              <a:buFont typeface="+mj-lt"/>
              <a:buAutoNum type="arabicPeriod"/>
              <a:tabLst/>
            </a:pPr>
            <a:r>
              <a:rPr lang="en-US" altLang="en-US" sz="2800" dirty="0">
                <a:solidFill>
                  <a:srgbClr val="000000"/>
                </a:solidFill>
                <a:latin typeface="Arial" panose="020B0604020202020204" pitchFamily="34" charset="0"/>
              </a:rPr>
              <a:t>DDoS attack</a:t>
            </a:r>
          </a:p>
          <a:p>
            <a:pPr marL="514350" marR="0" lvl="0" indent="-514350" defTabSz="914400" rtl="0" eaLnBrk="0" fontAlgn="base" latinLnBrk="0" hangingPunct="0">
              <a:lnSpc>
                <a:spcPct val="100000"/>
              </a:lnSpc>
              <a:spcBef>
                <a:spcPct val="0"/>
              </a:spcBef>
              <a:spcAft>
                <a:spcPct val="0"/>
              </a:spcAft>
              <a:buClrTx/>
              <a:buSzTx/>
              <a:buFont typeface="+mj-lt"/>
              <a:buAutoNum type="arabicPeriod"/>
              <a:tabLst/>
            </a:pPr>
            <a:r>
              <a:rPr lang="en-US" altLang="en-US" sz="2800" dirty="0">
                <a:solidFill>
                  <a:srgbClr val="000000"/>
                </a:solidFill>
                <a:latin typeface="Arial" panose="020B0604020202020204" pitchFamily="34" charset="0"/>
              </a:rPr>
              <a:t>Identity theft</a:t>
            </a:r>
          </a:p>
        </p:txBody>
      </p:sp>
    </p:spTree>
    <p:extLst>
      <p:ext uri="{BB962C8B-B14F-4D97-AF65-F5344CB8AC3E}">
        <p14:creationId xmlns:p14="http://schemas.microsoft.com/office/powerpoint/2010/main" val="274337876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C0AD739-51F2-A0AA-A2C2-2FE0D8CFD218}"/>
              </a:ext>
            </a:extLst>
          </p:cNvPr>
          <p:cNvSpPr>
            <a:spLocks noGrp="1" noChangeArrowheads="1"/>
          </p:cNvSpPr>
          <p:nvPr>
            <p:ph idx="1"/>
          </p:nvPr>
        </p:nvSpPr>
        <p:spPr bwMode="auto">
          <a:xfrm>
            <a:off x="355776" y="219285"/>
            <a:ext cx="10688811" cy="1969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200" b="1" i="0" u="sng" strike="noStrike" cap="none" normalizeH="0" baseline="0" dirty="0">
                <a:ln>
                  <a:noFill/>
                </a:ln>
                <a:solidFill>
                  <a:srgbClr val="00B050"/>
                </a:solidFill>
                <a:effectLst/>
                <a:latin typeface="Arial" panose="020B0604020202020204" pitchFamily="34" charset="0"/>
              </a:rPr>
              <a:t>SQL injection:</a:t>
            </a:r>
            <a:r>
              <a:rPr lang="en-US" altLang="en-US" sz="3200" b="1" dirty="0">
                <a:solidFill>
                  <a:srgbClr val="00B050"/>
                </a:solidFill>
                <a:latin typeface="Arial" panose="020B0604020202020204" pitchFamily="34" charset="0"/>
              </a:rPr>
              <a:t> </a:t>
            </a:r>
            <a:r>
              <a:rPr kumimoji="0" lang="en-US" altLang="en-US" sz="2200" i="0" strike="noStrike" cap="none" normalizeH="0" baseline="0" dirty="0">
                <a:ln>
                  <a:noFill/>
                </a:ln>
                <a:solidFill>
                  <a:srgbClr val="000000"/>
                </a:solidFill>
                <a:effectLst/>
                <a:latin typeface="Arial" panose="020B0604020202020204" pitchFamily="34" charset="0"/>
              </a:rPr>
              <a:t>It is common technique followed by hackers to inject the malicious sequel code at the backend of a website to manipulate the data into database. [</a:t>
            </a:r>
            <a:r>
              <a:rPr kumimoji="0" lang="en-US" altLang="en-US" sz="2200" i="0" strike="noStrike" cap="none" normalizeH="0" baseline="0" dirty="0">
                <a:ln>
                  <a:noFill/>
                </a:ln>
                <a:solidFill>
                  <a:srgbClr val="0066FF"/>
                </a:solidFill>
                <a:effectLst/>
                <a:latin typeface="Arial" panose="020B0604020202020204" pitchFamily="34" charset="0"/>
                <a:hlinkClick r:id="rId2">
                  <a:extLst>
                    <a:ext uri="{A12FA001-AC4F-418D-AE19-62706E023703}">
                      <ahyp:hlinkClr xmlns:ahyp="http://schemas.microsoft.com/office/drawing/2018/hyperlinkcolor" val="tx"/>
                    </a:ext>
                  </a:extLst>
                </a:hlinkClick>
              </a:rPr>
              <a:t>Click Here</a:t>
            </a:r>
            <a:r>
              <a:rPr lang="en-US" altLang="en-US" sz="2200" dirty="0">
                <a:solidFill>
                  <a:srgbClr val="000000"/>
                </a:solidFill>
                <a:latin typeface="Arial" panose="020B0604020202020204" pitchFamily="34" charset="0"/>
              </a:rPr>
              <a:t>]</a:t>
            </a:r>
            <a:endParaRPr kumimoji="0" lang="en-US" altLang="en-US" sz="2200" i="0" strike="noStrike" cap="none" normalizeH="0" baseline="0" dirty="0">
              <a:ln>
                <a:noFill/>
              </a:ln>
              <a:solidFill>
                <a:srgbClr val="000000"/>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i="0" strike="noStrike" cap="none" normalizeH="0" baseline="0" dirty="0">
              <a:ln>
                <a:noFill/>
              </a:ln>
              <a:solidFill>
                <a:srgbClr val="000000"/>
              </a:solidFill>
              <a:effectLst/>
              <a:latin typeface="Arial" panose="020B0604020202020204" pitchFamily="34" charset="0"/>
            </a:endParaRPr>
          </a:p>
          <a:p>
            <a:pPr marL="0" indent="0" algn="just" eaLnBrk="0" fontAlgn="base" hangingPunct="0">
              <a:lnSpc>
                <a:spcPct val="100000"/>
              </a:lnSpc>
              <a:spcBef>
                <a:spcPct val="0"/>
              </a:spcBef>
              <a:spcAft>
                <a:spcPct val="0"/>
              </a:spcAft>
              <a:buClrTx/>
              <a:buSzTx/>
              <a:buNone/>
            </a:pPr>
            <a:r>
              <a:rPr kumimoji="0" lang="en-US" altLang="en-US" sz="2200" b="1" i="0" u="none" strike="noStrike" cap="none" normalizeH="0" baseline="0" dirty="0">
                <a:ln>
                  <a:noFill/>
                </a:ln>
                <a:solidFill>
                  <a:srgbClr val="EE0000"/>
                </a:solidFill>
                <a:effectLst/>
                <a:latin typeface="Arial Unicode MS" panose="020B0604020202020204" pitchFamily="34" charset="-128"/>
              </a:rPr>
              <a:t>SELECT * FROM </a:t>
            </a:r>
            <a:r>
              <a:rPr kumimoji="0" lang="en-US" altLang="en-US" sz="2200" b="1" i="0" u="none" strike="noStrike" cap="none" normalizeH="0" baseline="0" dirty="0">
                <a:ln>
                  <a:noFill/>
                </a:ln>
                <a:effectLst/>
                <a:latin typeface="Arial Unicode MS" panose="020B0604020202020204" pitchFamily="34" charset="-128"/>
              </a:rPr>
              <a:t>users</a:t>
            </a:r>
            <a:r>
              <a:rPr kumimoji="0" lang="en-US" altLang="en-US" sz="2200" b="1" i="0" u="none" strike="noStrike" cap="none" normalizeH="0" baseline="0" dirty="0">
                <a:ln>
                  <a:noFill/>
                </a:ln>
                <a:solidFill>
                  <a:srgbClr val="EE0000"/>
                </a:solidFill>
                <a:effectLst/>
                <a:latin typeface="Arial Unicode MS" panose="020B0604020202020204" pitchFamily="34" charset="-128"/>
              </a:rPr>
              <a:t> WHERE </a:t>
            </a:r>
            <a:r>
              <a:rPr kumimoji="0" lang="en-US" altLang="en-US" sz="2200" b="1" i="0" u="none" strike="noStrike" cap="none" normalizeH="0" baseline="0" dirty="0">
                <a:ln>
                  <a:noFill/>
                </a:ln>
                <a:effectLst/>
                <a:latin typeface="Arial Unicode MS" panose="020B0604020202020204" pitchFamily="34" charset="-128"/>
              </a:rPr>
              <a:t>username = ‘</a:t>
            </a:r>
            <a:r>
              <a:rPr lang="en-US" altLang="en-US" sz="2200" b="1" dirty="0">
                <a:solidFill>
                  <a:srgbClr val="00B050"/>
                </a:solidFill>
                <a:latin typeface="Arial Unicode MS" panose="020B0604020202020204" pitchFamily="34" charset="-128"/>
              </a:rPr>
              <a:t>s</a:t>
            </a:r>
            <a:r>
              <a:rPr kumimoji="0" lang="en-US" altLang="en-US" sz="2200" b="1" i="0" u="none" strike="noStrike" cap="none" normalizeH="0" baseline="0" dirty="0">
                <a:ln>
                  <a:noFill/>
                </a:ln>
                <a:solidFill>
                  <a:srgbClr val="00B050"/>
                </a:solidFill>
                <a:effectLst/>
                <a:latin typeface="Arial Unicode MS" panose="020B0604020202020204" pitchFamily="34" charset="-128"/>
              </a:rPr>
              <a:t>aqib</a:t>
            </a:r>
            <a:r>
              <a:rPr kumimoji="0" lang="en-US" altLang="en-US" sz="2200" b="1" i="0" u="none" strike="noStrike" cap="none" normalizeH="0" baseline="0" dirty="0">
                <a:ln>
                  <a:noFill/>
                </a:ln>
                <a:effectLst/>
                <a:latin typeface="Arial Unicode MS" panose="020B0604020202020204" pitchFamily="34" charset="-128"/>
              </a:rPr>
              <a:t>'</a:t>
            </a:r>
            <a:r>
              <a:rPr kumimoji="0" lang="en-US" altLang="en-US" sz="2200" b="1" i="0" u="none" strike="noStrike" cap="none" normalizeH="0" baseline="0" dirty="0">
                <a:ln>
                  <a:noFill/>
                </a:ln>
                <a:solidFill>
                  <a:srgbClr val="EE0000"/>
                </a:solidFill>
                <a:effectLst/>
                <a:latin typeface="Arial Unicode MS" panose="020B0604020202020204" pitchFamily="34" charset="-128"/>
              </a:rPr>
              <a:t> AND </a:t>
            </a:r>
            <a:r>
              <a:rPr kumimoji="0" lang="en-US" altLang="en-US" sz="2200" b="1" i="0" u="none" strike="noStrike" cap="none" normalizeH="0" baseline="0" dirty="0">
                <a:ln>
                  <a:noFill/>
                </a:ln>
                <a:effectLst/>
                <a:latin typeface="Arial Unicode MS" panose="020B0604020202020204" pitchFamily="34" charset="-128"/>
              </a:rPr>
              <a:t>password = ‘</a:t>
            </a:r>
            <a:r>
              <a:rPr kumimoji="0" lang="en-US" altLang="en-US" sz="2200" b="1" i="0" u="none" strike="noStrike" cap="none" normalizeH="0" baseline="0" dirty="0">
                <a:ln>
                  <a:noFill/>
                </a:ln>
                <a:solidFill>
                  <a:srgbClr val="00B050"/>
                </a:solidFill>
                <a:effectLst/>
                <a:latin typeface="Arial Unicode MS" panose="020B0604020202020204" pitchFamily="34" charset="-128"/>
              </a:rPr>
              <a:t>123</a:t>
            </a:r>
            <a:r>
              <a:rPr kumimoji="0" lang="en-US" altLang="en-US" sz="2200" b="1" i="0" u="none" strike="noStrike" cap="none" normalizeH="0" baseline="0" dirty="0">
                <a:ln>
                  <a:noFill/>
                </a:ln>
                <a:effectLst/>
                <a:latin typeface="Arial Unicode MS" panose="020B0604020202020204" pitchFamily="34" charset="-128"/>
              </a:rPr>
              <a:t>’</a:t>
            </a:r>
            <a:r>
              <a:rPr kumimoji="0" lang="en-US" altLang="en-US" sz="2200" b="1" i="0" u="none" strike="noStrike" cap="none" normalizeH="0" baseline="0" dirty="0">
                <a:ln>
                  <a:noFill/>
                </a:ln>
                <a:solidFill>
                  <a:srgbClr val="C00000"/>
                </a:solidFill>
                <a:effectLst/>
                <a:latin typeface="Arial Unicode MS" panose="020B0604020202020204" pitchFamily="34" charset="-128"/>
              </a:rPr>
              <a:t> </a:t>
            </a:r>
          </a:p>
        </p:txBody>
      </p:sp>
      <p:sp>
        <p:nvSpPr>
          <p:cNvPr id="25" name="Rectangle: Rounded Corners 24">
            <a:extLst>
              <a:ext uri="{FF2B5EF4-FFF2-40B4-BE49-F238E27FC236}">
                <a16:creationId xmlns:a16="http://schemas.microsoft.com/office/drawing/2014/main" id="{4D81431E-92B4-AD9A-7DC2-B2E0F9E44FAD}"/>
              </a:ext>
            </a:extLst>
          </p:cNvPr>
          <p:cNvSpPr/>
          <p:nvPr/>
        </p:nvSpPr>
        <p:spPr>
          <a:xfrm>
            <a:off x="457198" y="2382983"/>
            <a:ext cx="10432473" cy="3037220"/>
          </a:xfrm>
          <a:prstGeom prst="roundRect">
            <a:avLst>
              <a:gd name="adj" fmla="val 4232"/>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7" name="Group 16">
            <a:extLst>
              <a:ext uri="{FF2B5EF4-FFF2-40B4-BE49-F238E27FC236}">
                <a16:creationId xmlns:a16="http://schemas.microsoft.com/office/drawing/2014/main" id="{3FA39861-77AC-FD16-C3D1-AF07A5B34172}"/>
              </a:ext>
            </a:extLst>
          </p:cNvPr>
          <p:cNvGrpSpPr/>
          <p:nvPr/>
        </p:nvGrpSpPr>
        <p:grpSpPr>
          <a:xfrm>
            <a:off x="741638" y="2721158"/>
            <a:ext cx="9863591" cy="2462273"/>
            <a:chOff x="509978" y="3688095"/>
            <a:chExt cx="9767456" cy="2043544"/>
          </a:xfrm>
        </p:grpSpPr>
        <p:grpSp>
          <p:nvGrpSpPr>
            <p:cNvPr id="8" name="Group 7">
              <a:extLst>
                <a:ext uri="{FF2B5EF4-FFF2-40B4-BE49-F238E27FC236}">
                  <a16:creationId xmlns:a16="http://schemas.microsoft.com/office/drawing/2014/main" id="{B276B2DD-6220-3906-4869-B0D9E5EFBA00}"/>
                </a:ext>
              </a:extLst>
            </p:cNvPr>
            <p:cNvGrpSpPr/>
            <p:nvPr/>
          </p:nvGrpSpPr>
          <p:grpSpPr>
            <a:xfrm>
              <a:off x="509978" y="3688095"/>
              <a:ext cx="3034146" cy="2043544"/>
              <a:chOff x="7841671" y="3429000"/>
              <a:chExt cx="3034146" cy="2043544"/>
            </a:xfrm>
          </p:grpSpPr>
          <p:sp>
            <p:nvSpPr>
              <p:cNvPr id="3" name="Rectangle: Rounded Corners 2">
                <a:extLst>
                  <a:ext uri="{FF2B5EF4-FFF2-40B4-BE49-F238E27FC236}">
                    <a16:creationId xmlns:a16="http://schemas.microsoft.com/office/drawing/2014/main" id="{A71CF2D1-672B-89F1-4036-1F533D24F210}"/>
                  </a:ext>
                </a:extLst>
              </p:cNvPr>
              <p:cNvSpPr/>
              <p:nvPr/>
            </p:nvSpPr>
            <p:spPr>
              <a:xfrm>
                <a:off x="7841671" y="3429000"/>
                <a:ext cx="3034146" cy="581891"/>
              </a:xfrm>
              <a:prstGeom prst="roundRect">
                <a:avLst/>
              </a:prstGeom>
              <a:solidFill>
                <a:schemeClr val="bg1"/>
              </a:solid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700" dirty="0">
                    <a:solidFill>
                      <a:schemeClr val="tx1"/>
                    </a:solidFill>
                    <a:latin typeface="Arial" panose="020B0604020202020204" pitchFamily="34" charset="0"/>
                    <a:cs typeface="Arial" panose="020B0604020202020204" pitchFamily="34" charset="0"/>
                  </a:rPr>
                  <a:t>saqib</a:t>
                </a:r>
                <a:endParaRPr lang="en-GB" sz="1700" dirty="0">
                  <a:solidFill>
                    <a:schemeClr val="tx1"/>
                  </a:solidFill>
                  <a:latin typeface="Arial" panose="020B0604020202020204" pitchFamily="34" charset="0"/>
                  <a:cs typeface="Arial" panose="020B0604020202020204" pitchFamily="34" charset="0"/>
                </a:endParaRPr>
              </a:p>
            </p:txBody>
          </p:sp>
          <p:sp>
            <p:nvSpPr>
              <p:cNvPr id="6" name="Rectangle: Rounded Corners 5">
                <a:extLst>
                  <a:ext uri="{FF2B5EF4-FFF2-40B4-BE49-F238E27FC236}">
                    <a16:creationId xmlns:a16="http://schemas.microsoft.com/office/drawing/2014/main" id="{8FF9E8BD-57CA-89BD-8981-A00AFDBCED4C}"/>
                  </a:ext>
                </a:extLst>
              </p:cNvPr>
              <p:cNvSpPr/>
              <p:nvPr/>
            </p:nvSpPr>
            <p:spPr>
              <a:xfrm>
                <a:off x="8666017" y="4987857"/>
                <a:ext cx="1385454" cy="484687"/>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b="1" dirty="0">
                    <a:solidFill>
                      <a:schemeClr val="bg1"/>
                    </a:solidFill>
                    <a:latin typeface="Arial" panose="020B0604020202020204" pitchFamily="34" charset="0"/>
                    <a:cs typeface="Arial" panose="020B0604020202020204" pitchFamily="34" charset="0"/>
                  </a:rPr>
                  <a:t>Login</a:t>
                </a:r>
                <a:endParaRPr lang="en-GB" sz="1700" b="1" dirty="0">
                  <a:solidFill>
                    <a:schemeClr val="bg1"/>
                  </a:solidFill>
                  <a:latin typeface="Arial" panose="020B0604020202020204" pitchFamily="34" charset="0"/>
                  <a:cs typeface="Arial" panose="020B0604020202020204" pitchFamily="34" charset="0"/>
                </a:endParaRPr>
              </a:p>
            </p:txBody>
          </p:sp>
          <p:sp>
            <p:nvSpPr>
              <p:cNvPr id="7" name="Rectangle: Rounded Corners 6">
                <a:extLst>
                  <a:ext uri="{FF2B5EF4-FFF2-40B4-BE49-F238E27FC236}">
                    <a16:creationId xmlns:a16="http://schemas.microsoft.com/office/drawing/2014/main" id="{2999E85D-7CC8-17E5-8F28-0C371E77227D}"/>
                  </a:ext>
                </a:extLst>
              </p:cNvPr>
              <p:cNvSpPr/>
              <p:nvPr/>
            </p:nvSpPr>
            <p:spPr>
              <a:xfrm>
                <a:off x="7841671" y="4208429"/>
                <a:ext cx="3034146" cy="581891"/>
              </a:xfrm>
              <a:prstGeom prst="roundRect">
                <a:avLst/>
              </a:prstGeom>
              <a:solidFill>
                <a:schemeClr val="bg1"/>
              </a:solid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700" dirty="0">
                    <a:solidFill>
                      <a:schemeClr val="tx1"/>
                    </a:solidFill>
                    <a:latin typeface="Arial" panose="020B0604020202020204" pitchFamily="34" charset="0"/>
                    <a:cs typeface="Arial" panose="020B0604020202020204" pitchFamily="34" charset="0"/>
                  </a:rPr>
                  <a:t>asddfk</a:t>
                </a:r>
                <a:endParaRPr lang="en-GB" sz="1700" dirty="0">
                  <a:solidFill>
                    <a:schemeClr val="tx1"/>
                  </a:solidFill>
                  <a:latin typeface="Arial" panose="020B0604020202020204" pitchFamily="34" charset="0"/>
                  <a:cs typeface="Arial" panose="020B0604020202020204" pitchFamily="34" charset="0"/>
                </a:endParaRPr>
              </a:p>
            </p:txBody>
          </p:sp>
        </p:grpSp>
        <p:grpSp>
          <p:nvGrpSpPr>
            <p:cNvPr id="9" name="Group 8">
              <a:extLst>
                <a:ext uri="{FF2B5EF4-FFF2-40B4-BE49-F238E27FC236}">
                  <a16:creationId xmlns:a16="http://schemas.microsoft.com/office/drawing/2014/main" id="{058A034E-792B-DCCB-083E-50E66ADC0A0E}"/>
                </a:ext>
              </a:extLst>
            </p:cNvPr>
            <p:cNvGrpSpPr/>
            <p:nvPr/>
          </p:nvGrpSpPr>
          <p:grpSpPr>
            <a:xfrm>
              <a:off x="3876633" y="3688095"/>
              <a:ext cx="3034146" cy="2043544"/>
              <a:chOff x="7841671" y="3429000"/>
              <a:chExt cx="3034146" cy="2043544"/>
            </a:xfrm>
          </p:grpSpPr>
          <p:sp>
            <p:nvSpPr>
              <p:cNvPr id="10" name="Rectangle: Rounded Corners 9">
                <a:extLst>
                  <a:ext uri="{FF2B5EF4-FFF2-40B4-BE49-F238E27FC236}">
                    <a16:creationId xmlns:a16="http://schemas.microsoft.com/office/drawing/2014/main" id="{304D87E2-1AAD-BF84-1E2A-60FC1190B16F}"/>
                  </a:ext>
                </a:extLst>
              </p:cNvPr>
              <p:cNvSpPr/>
              <p:nvPr/>
            </p:nvSpPr>
            <p:spPr>
              <a:xfrm>
                <a:off x="7841671" y="3429000"/>
                <a:ext cx="3034146" cy="581891"/>
              </a:xfrm>
              <a:prstGeom prst="roundRect">
                <a:avLst/>
              </a:prstGeom>
              <a:solidFill>
                <a:schemeClr val="bg1"/>
              </a:solid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700" dirty="0">
                    <a:solidFill>
                      <a:schemeClr val="tx1"/>
                    </a:solidFill>
                    <a:latin typeface="Arial" panose="020B0604020202020204" pitchFamily="34" charset="0"/>
                    <a:cs typeface="Arial" panose="020B0604020202020204" pitchFamily="34" charset="0"/>
                  </a:rPr>
                  <a:t>saqib’ OR ‘1’ = ‘1 </a:t>
                </a:r>
                <a:endParaRPr lang="en-GB" sz="1700" dirty="0">
                  <a:solidFill>
                    <a:schemeClr val="tx1"/>
                  </a:solidFill>
                  <a:latin typeface="Arial" panose="020B0604020202020204" pitchFamily="34" charset="0"/>
                  <a:cs typeface="Arial" panose="020B0604020202020204" pitchFamily="34" charset="0"/>
                </a:endParaRPr>
              </a:p>
            </p:txBody>
          </p:sp>
          <p:sp>
            <p:nvSpPr>
              <p:cNvPr id="11" name="Rectangle: Rounded Corners 10">
                <a:extLst>
                  <a:ext uri="{FF2B5EF4-FFF2-40B4-BE49-F238E27FC236}">
                    <a16:creationId xmlns:a16="http://schemas.microsoft.com/office/drawing/2014/main" id="{EAF07253-9083-A626-9B8F-D7E4FDD0A4AE}"/>
                  </a:ext>
                </a:extLst>
              </p:cNvPr>
              <p:cNvSpPr/>
              <p:nvPr/>
            </p:nvSpPr>
            <p:spPr>
              <a:xfrm>
                <a:off x="8666017" y="4987857"/>
                <a:ext cx="1385454" cy="484687"/>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b="1" dirty="0">
                    <a:solidFill>
                      <a:schemeClr val="bg1"/>
                    </a:solidFill>
                    <a:latin typeface="Arial" panose="020B0604020202020204" pitchFamily="34" charset="0"/>
                    <a:cs typeface="Arial" panose="020B0604020202020204" pitchFamily="34" charset="0"/>
                  </a:rPr>
                  <a:t>Login</a:t>
                </a:r>
                <a:endParaRPr lang="en-GB" sz="1700" b="1" dirty="0">
                  <a:solidFill>
                    <a:schemeClr val="bg1"/>
                  </a:solidFill>
                  <a:latin typeface="Arial" panose="020B0604020202020204" pitchFamily="34" charset="0"/>
                  <a:cs typeface="Arial" panose="020B0604020202020204" pitchFamily="34" charset="0"/>
                </a:endParaRPr>
              </a:p>
            </p:txBody>
          </p:sp>
          <p:sp>
            <p:nvSpPr>
              <p:cNvPr id="12" name="Rectangle: Rounded Corners 11">
                <a:extLst>
                  <a:ext uri="{FF2B5EF4-FFF2-40B4-BE49-F238E27FC236}">
                    <a16:creationId xmlns:a16="http://schemas.microsoft.com/office/drawing/2014/main" id="{7738716F-C6CF-8A32-0EC9-5817D7A08A28}"/>
                  </a:ext>
                </a:extLst>
              </p:cNvPr>
              <p:cNvSpPr/>
              <p:nvPr/>
            </p:nvSpPr>
            <p:spPr>
              <a:xfrm>
                <a:off x="7841671" y="4208429"/>
                <a:ext cx="3034146" cy="581891"/>
              </a:xfrm>
              <a:prstGeom prst="roundRect">
                <a:avLst/>
              </a:prstGeom>
              <a:solidFill>
                <a:schemeClr val="bg1"/>
              </a:solid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700" dirty="0">
                    <a:solidFill>
                      <a:schemeClr val="tx1"/>
                    </a:solidFill>
                    <a:latin typeface="Arial" panose="020B0604020202020204" pitchFamily="34" charset="0"/>
                    <a:cs typeface="Arial" panose="020B0604020202020204" pitchFamily="34" charset="0"/>
                  </a:rPr>
                  <a:t>Password</a:t>
                </a:r>
                <a:endParaRPr lang="en-GB" sz="1700" dirty="0">
                  <a:solidFill>
                    <a:schemeClr val="tx1"/>
                  </a:solidFill>
                  <a:latin typeface="Arial" panose="020B0604020202020204" pitchFamily="34" charset="0"/>
                  <a:cs typeface="Arial" panose="020B0604020202020204" pitchFamily="34" charset="0"/>
                </a:endParaRPr>
              </a:p>
            </p:txBody>
          </p:sp>
        </p:grpSp>
        <p:grpSp>
          <p:nvGrpSpPr>
            <p:cNvPr id="13" name="Group 12">
              <a:extLst>
                <a:ext uri="{FF2B5EF4-FFF2-40B4-BE49-F238E27FC236}">
                  <a16:creationId xmlns:a16="http://schemas.microsoft.com/office/drawing/2014/main" id="{67CAE6AA-63DD-8CBA-81CB-666A6E5B214F}"/>
                </a:ext>
              </a:extLst>
            </p:cNvPr>
            <p:cNvGrpSpPr/>
            <p:nvPr/>
          </p:nvGrpSpPr>
          <p:grpSpPr>
            <a:xfrm>
              <a:off x="7243288" y="3688095"/>
              <a:ext cx="3034146" cy="2043544"/>
              <a:chOff x="7841671" y="3429000"/>
              <a:chExt cx="3034146" cy="2043544"/>
            </a:xfrm>
          </p:grpSpPr>
          <p:sp>
            <p:nvSpPr>
              <p:cNvPr id="14" name="Rectangle: Rounded Corners 13">
                <a:extLst>
                  <a:ext uri="{FF2B5EF4-FFF2-40B4-BE49-F238E27FC236}">
                    <a16:creationId xmlns:a16="http://schemas.microsoft.com/office/drawing/2014/main" id="{6D90DAE6-B31F-B059-6070-5177E75E67A1}"/>
                  </a:ext>
                </a:extLst>
              </p:cNvPr>
              <p:cNvSpPr/>
              <p:nvPr/>
            </p:nvSpPr>
            <p:spPr>
              <a:xfrm>
                <a:off x="7841671" y="3429000"/>
                <a:ext cx="3034146" cy="581891"/>
              </a:xfrm>
              <a:prstGeom prst="roundRect">
                <a:avLst/>
              </a:prstGeom>
              <a:solidFill>
                <a:schemeClr val="bg1"/>
              </a:solid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700" dirty="0">
                    <a:solidFill>
                      <a:schemeClr val="tx1"/>
                    </a:solidFill>
                    <a:latin typeface="Arial" panose="020B0604020202020204" pitchFamily="34" charset="0"/>
                    <a:cs typeface="Arial" panose="020B0604020202020204" pitchFamily="34" charset="0"/>
                  </a:rPr>
                  <a:t>saqib’--</a:t>
                </a:r>
                <a:endParaRPr lang="en-GB" sz="1700" dirty="0">
                  <a:solidFill>
                    <a:schemeClr val="tx1"/>
                  </a:solidFill>
                  <a:latin typeface="Arial" panose="020B0604020202020204" pitchFamily="34" charset="0"/>
                  <a:cs typeface="Arial" panose="020B0604020202020204" pitchFamily="34" charset="0"/>
                </a:endParaRPr>
              </a:p>
            </p:txBody>
          </p:sp>
          <p:sp>
            <p:nvSpPr>
              <p:cNvPr id="15" name="Rectangle: Rounded Corners 14">
                <a:extLst>
                  <a:ext uri="{FF2B5EF4-FFF2-40B4-BE49-F238E27FC236}">
                    <a16:creationId xmlns:a16="http://schemas.microsoft.com/office/drawing/2014/main" id="{FEAB7AD5-32FF-FF68-61BE-DF7B273AA71A}"/>
                  </a:ext>
                </a:extLst>
              </p:cNvPr>
              <p:cNvSpPr/>
              <p:nvPr/>
            </p:nvSpPr>
            <p:spPr>
              <a:xfrm>
                <a:off x="8666017" y="4987857"/>
                <a:ext cx="1385454" cy="484687"/>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b="1" dirty="0">
                    <a:solidFill>
                      <a:schemeClr val="bg1"/>
                    </a:solidFill>
                    <a:latin typeface="Arial" panose="020B0604020202020204" pitchFamily="34" charset="0"/>
                    <a:cs typeface="Arial" panose="020B0604020202020204" pitchFamily="34" charset="0"/>
                  </a:rPr>
                  <a:t>Login</a:t>
                </a:r>
                <a:endParaRPr lang="en-GB" sz="1700" b="1" dirty="0">
                  <a:solidFill>
                    <a:schemeClr val="bg1"/>
                  </a:solidFill>
                  <a:latin typeface="Arial" panose="020B0604020202020204" pitchFamily="34" charset="0"/>
                  <a:cs typeface="Arial" panose="020B0604020202020204" pitchFamily="34" charset="0"/>
                </a:endParaRPr>
              </a:p>
            </p:txBody>
          </p:sp>
          <p:sp>
            <p:nvSpPr>
              <p:cNvPr id="16" name="Rectangle: Rounded Corners 15">
                <a:extLst>
                  <a:ext uri="{FF2B5EF4-FFF2-40B4-BE49-F238E27FC236}">
                    <a16:creationId xmlns:a16="http://schemas.microsoft.com/office/drawing/2014/main" id="{E008115B-DC87-5498-2FE2-CD8EA608BF52}"/>
                  </a:ext>
                </a:extLst>
              </p:cNvPr>
              <p:cNvSpPr/>
              <p:nvPr/>
            </p:nvSpPr>
            <p:spPr>
              <a:xfrm>
                <a:off x="7841671" y="4208429"/>
                <a:ext cx="3034146" cy="581891"/>
              </a:xfrm>
              <a:prstGeom prst="roundRect">
                <a:avLst/>
              </a:prstGeom>
              <a:solidFill>
                <a:schemeClr val="bg1"/>
              </a:solid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700" dirty="0">
                    <a:solidFill>
                      <a:schemeClr val="tx1"/>
                    </a:solidFill>
                    <a:latin typeface="Arial" panose="020B0604020202020204" pitchFamily="34" charset="0"/>
                    <a:cs typeface="Arial" panose="020B0604020202020204" pitchFamily="34" charset="0"/>
                  </a:rPr>
                  <a:t>Password</a:t>
                </a:r>
                <a:endParaRPr lang="en-GB" sz="1700" dirty="0">
                  <a:solidFill>
                    <a:schemeClr val="tx1"/>
                  </a:solidFill>
                  <a:latin typeface="Arial" panose="020B0604020202020204" pitchFamily="34" charset="0"/>
                  <a:cs typeface="Arial" panose="020B0604020202020204" pitchFamily="34" charset="0"/>
                </a:endParaRPr>
              </a:p>
            </p:txBody>
          </p:sp>
        </p:grpSp>
      </p:grpSp>
      <p:sp>
        <p:nvSpPr>
          <p:cNvPr id="23" name="Rectangle 1">
            <a:extLst>
              <a:ext uri="{FF2B5EF4-FFF2-40B4-BE49-F238E27FC236}">
                <a16:creationId xmlns:a16="http://schemas.microsoft.com/office/drawing/2014/main" id="{8F8EAE2C-1EC2-5015-ABEF-8DE6E711E816}"/>
              </a:ext>
            </a:extLst>
          </p:cNvPr>
          <p:cNvSpPr txBox="1">
            <a:spLocks noChangeArrowheads="1"/>
          </p:cNvSpPr>
          <p:nvPr/>
        </p:nvSpPr>
        <p:spPr bwMode="auto">
          <a:xfrm>
            <a:off x="355778" y="5534147"/>
            <a:ext cx="10688810" cy="997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eaLnBrk="0" fontAlgn="base" hangingPunct="0">
              <a:lnSpc>
                <a:spcPct val="150000"/>
              </a:lnSpc>
              <a:spcBef>
                <a:spcPts val="0"/>
              </a:spcBef>
              <a:spcAft>
                <a:spcPts val="140"/>
              </a:spcAft>
              <a:buClrTx/>
              <a:buSzTx/>
              <a:buFont typeface="Wingdings" panose="05000000000000000000" pitchFamily="2" charset="2"/>
              <a:buChar char="Ø"/>
            </a:pPr>
            <a:r>
              <a:rPr lang="en-US" altLang="en-US" sz="2050" b="1" dirty="0">
                <a:latin typeface="Arial Unicode MS" panose="020B0604020202020204" pitchFamily="34" charset="-128"/>
              </a:rPr>
              <a:t> </a:t>
            </a:r>
            <a:r>
              <a:rPr lang="en-US" altLang="en-US" sz="2050" b="1" dirty="0">
                <a:solidFill>
                  <a:srgbClr val="EE0000"/>
                </a:solidFill>
                <a:latin typeface="Arial Unicode MS" panose="020B0604020202020204" pitchFamily="34" charset="-128"/>
              </a:rPr>
              <a:t>SELECT * FROM </a:t>
            </a:r>
            <a:r>
              <a:rPr lang="en-US" altLang="en-US" sz="2050" b="1" dirty="0">
                <a:latin typeface="Arial Unicode MS" panose="020B0604020202020204" pitchFamily="34" charset="-128"/>
              </a:rPr>
              <a:t>users</a:t>
            </a:r>
            <a:r>
              <a:rPr lang="en-US" altLang="en-US" sz="2050" b="1" dirty="0">
                <a:solidFill>
                  <a:srgbClr val="EE0000"/>
                </a:solidFill>
                <a:latin typeface="Arial Unicode MS" panose="020B0604020202020204" pitchFamily="34" charset="-128"/>
              </a:rPr>
              <a:t> WHERE </a:t>
            </a:r>
            <a:r>
              <a:rPr lang="en-US" altLang="en-US" sz="2050" b="1" dirty="0">
                <a:latin typeface="Arial Unicode MS" panose="020B0604020202020204" pitchFamily="34" charset="-128"/>
              </a:rPr>
              <a:t>username = ‘</a:t>
            </a:r>
            <a:r>
              <a:rPr lang="en-US" altLang="en-US" sz="2050" b="1" dirty="0">
                <a:solidFill>
                  <a:srgbClr val="00B050"/>
                </a:solidFill>
                <a:latin typeface="Arial Unicode MS" panose="020B0604020202020204" pitchFamily="34" charset="-128"/>
              </a:rPr>
              <a:t>saqib</a:t>
            </a:r>
            <a:r>
              <a:rPr lang="en-US" altLang="en-US" sz="2050" b="1" dirty="0">
                <a:latin typeface="Arial Unicode MS" panose="020B0604020202020204" pitchFamily="34" charset="-128"/>
              </a:rPr>
              <a:t>’</a:t>
            </a:r>
            <a:r>
              <a:rPr lang="en-US" altLang="en-US" sz="2050" b="1" dirty="0">
                <a:solidFill>
                  <a:srgbClr val="EE0000"/>
                </a:solidFill>
                <a:latin typeface="Arial Unicode MS" panose="020B0604020202020204" pitchFamily="34" charset="-128"/>
              </a:rPr>
              <a:t> OR </a:t>
            </a:r>
            <a:r>
              <a:rPr lang="en-US" altLang="en-US" sz="2050" b="1" dirty="0">
                <a:latin typeface="Arial Unicode MS" panose="020B0604020202020204" pitchFamily="34" charset="-128"/>
              </a:rPr>
              <a:t>‘</a:t>
            </a:r>
            <a:r>
              <a:rPr lang="en-US" altLang="en-US" sz="2050" b="1" dirty="0">
                <a:solidFill>
                  <a:srgbClr val="00B050"/>
                </a:solidFill>
                <a:latin typeface="Arial Unicode MS" panose="020B0604020202020204" pitchFamily="34" charset="-128"/>
              </a:rPr>
              <a:t>1</a:t>
            </a:r>
            <a:r>
              <a:rPr lang="en-US" altLang="en-US" sz="2050" b="1" dirty="0">
                <a:latin typeface="Arial Unicode MS" panose="020B0604020202020204" pitchFamily="34" charset="-128"/>
              </a:rPr>
              <a:t>’ = ‘</a:t>
            </a:r>
            <a:r>
              <a:rPr lang="en-US" altLang="en-US" sz="2050" b="1" dirty="0">
                <a:solidFill>
                  <a:srgbClr val="00B050"/>
                </a:solidFill>
                <a:latin typeface="Arial Unicode MS" panose="020B0604020202020204" pitchFamily="34" charset="-128"/>
              </a:rPr>
              <a:t>1</a:t>
            </a:r>
            <a:r>
              <a:rPr lang="en-US" altLang="en-US" sz="2050" b="1" dirty="0">
                <a:latin typeface="Arial Unicode MS" panose="020B0604020202020204" pitchFamily="34" charset="-128"/>
              </a:rPr>
              <a:t>’</a:t>
            </a:r>
            <a:r>
              <a:rPr lang="en-US" altLang="en-US" sz="2050" b="1" dirty="0">
                <a:solidFill>
                  <a:srgbClr val="EE0000"/>
                </a:solidFill>
                <a:latin typeface="Arial Unicode MS" panose="020B0604020202020204" pitchFamily="34" charset="-128"/>
              </a:rPr>
              <a:t> AND </a:t>
            </a:r>
            <a:r>
              <a:rPr lang="en-US" altLang="en-US" sz="2050" b="1" dirty="0">
                <a:latin typeface="Arial Unicode MS" panose="020B0604020202020204" pitchFamily="34" charset="-128"/>
              </a:rPr>
              <a:t>password = ‘</a:t>
            </a:r>
            <a:r>
              <a:rPr lang="en-US" altLang="en-US" sz="2050" b="1" dirty="0">
                <a:solidFill>
                  <a:srgbClr val="00B050"/>
                </a:solidFill>
                <a:latin typeface="Arial Unicode MS" panose="020B0604020202020204" pitchFamily="34" charset="-128"/>
              </a:rPr>
              <a:t>123</a:t>
            </a:r>
            <a:r>
              <a:rPr lang="en-US" altLang="en-US" sz="2050" b="1" dirty="0">
                <a:latin typeface="Arial Unicode MS" panose="020B0604020202020204" pitchFamily="34" charset="-128"/>
              </a:rPr>
              <a:t>’</a:t>
            </a:r>
          </a:p>
          <a:p>
            <a:pPr algn="just" eaLnBrk="0" fontAlgn="base" hangingPunct="0">
              <a:lnSpc>
                <a:spcPct val="150000"/>
              </a:lnSpc>
              <a:spcBef>
                <a:spcPts val="0"/>
              </a:spcBef>
              <a:spcAft>
                <a:spcPts val="140"/>
              </a:spcAft>
              <a:buClrTx/>
              <a:buSzTx/>
              <a:buFont typeface="Wingdings" panose="05000000000000000000" pitchFamily="2" charset="2"/>
              <a:buChar char="Ø"/>
            </a:pPr>
            <a:r>
              <a:rPr lang="en-US" altLang="en-US" sz="2050" b="1" dirty="0">
                <a:latin typeface="Arial Unicode MS" panose="020B0604020202020204" pitchFamily="34" charset="-128"/>
              </a:rPr>
              <a:t> </a:t>
            </a:r>
            <a:r>
              <a:rPr lang="en-US" altLang="en-US" sz="2050" b="1" dirty="0">
                <a:solidFill>
                  <a:srgbClr val="EE0000"/>
                </a:solidFill>
                <a:latin typeface="Arial Unicode MS" panose="020B0604020202020204" pitchFamily="34" charset="-128"/>
              </a:rPr>
              <a:t>SELECT * FROM </a:t>
            </a:r>
            <a:r>
              <a:rPr lang="en-US" altLang="en-US" sz="2050" b="1" dirty="0">
                <a:latin typeface="Arial Unicode MS" panose="020B0604020202020204" pitchFamily="34" charset="-128"/>
              </a:rPr>
              <a:t>users</a:t>
            </a:r>
            <a:r>
              <a:rPr lang="en-US" altLang="en-US" sz="2050" b="1" dirty="0">
                <a:solidFill>
                  <a:srgbClr val="EE0000"/>
                </a:solidFill>
                <a:latin typeface="Arial Unicode MS" panose="020B0604020202020204" pitchFamily="34" charset="-128"/>
              </a:rPr>
              <a:t> WHERE </a:t>
            </a:r>
            <a:r>
              <a:rPr lang="en-US" altLang="en-US" sz="2050" b="1" dirty="0">
                <a:latin typeface="Arial Unicode MS" panose="020B0604020202020204" pitchFamily="34" charset="-128"/>
              </a:rPr>
              <a:t>username = ‘</a:t>
            </a:r>
            <a:r>
              <a:rPr lang="en-US" altLang="en-US" sz="2050" b="1" dirty="0">
                <a:solidFill>
                  <a:srgbClr val="00B050"/>
                </a:solidFill>
                <a:latin typeface="Arial Unicode MS" panose="020B0604020202020204" pitchFamily="34" charset="-128"/>
              </a:rPr>
              <a:t>saqib</a:t>
            </a:r>
            <a:r>
              <a:rPr lang="en-US" altLang="en-US" sz="2050" b="1" dirty="0">
                <a:latin typeface="Arial Unicode MS" panose="020B0604020202020204" pitchFamily="34" charset="-128"/>
              </a:rPr>
              <a:t>’</a:t>
            </a:r>
            <a:r>
              <a:rPr lang="en-US" altLang="en-US" sz="2050" b="1" dirty="0">
                <a:solidFill>
                  <a:srgbClr val="EE0000"/>
                </a:solidFill>
                <a:latin typeface="Arial Unicode MS" panose="020B0604020202020204" pitchFamily="34" charset="-128"/>
              </a:rPr>
              <a:t> </a:t>
            </a:r>
            <a:r>
              <a:rPr lang="en-US" altLang="en-US" sz="2050" b="1" dirty="0">
                <a:solidFill>
                  <a:srgbClr val="0070C0"/>
                </a:solidFill>
                <a:latin typeface="Arial Unicode MS" panose="020B0604020202020204" pitchFamily="34" charset="-128"/>
              </a:rPr>
              <a:t>-- AND password = ‘123’</a:t>
            </a:r>
            <a:endParaRPr lang="en-US" altLang="en-US" sz="2050" b="1" dirty="0">
              <a:latin typeface="Arial Unicode MS" panose="020B0604020202020204" pitchFamily="34" charset="-128"/>
            </a:endParaRPr>
          </a:p>
        </p:txBody>
      </p:sp>
    </p:spTree>
    <p:extLst>
      <p:ext uri="{BB962C8B-B14F-4D97-AF65-F5344CB8AC3E}">
        <p14:creationId xmlns:p14="http://schemas.microsoft.com/office/powerpoint/2010/main" val="3826530486"/>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C0AD739-51F2-A0AA-A2C2-2FE0D8CFD218}"/>
              </a:ext>
            </a:extLst>
          </p:cNvPr>
          <p:cNvSpPr>
            <a:spLocks noGrp="1" noChangeArrowheads="1"/>
          </p:cNvSpPr>
          <p:nvPr>
            <p:ph idx="1"/>
          </p:nvPr>
        </p:nvSpPr>
        <p:spPr bwMode="auto">
          <a:xfrm>
            <a:off x="328067" y="241830"/>
            <a:ext cx="10688811" cy="6616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l">
              <a:buNone/>
            </a:pPr>
            <a:r>
              <a:rPr lang="en-US" sz="3200" b="1" i="0" dirty="0">
                <a:solidFill>
                  <a:srgbClr val="00B050"/>
                </a:solidFill>
                <a:effectLst/>
                <a:latin typeface="Söhne"/>
              </a:rPr>
              <a:t>DoS (Denial of Service) Attack:</a:t>
            </a:r>
            <a:endParaRPr lang="en-US" sz="3200" b="0" i="0" dirty="0">
              <a:solidFill>
                <a:srgbClr val="00B050"/>
              </a:solidFill>
              <a:effectLst/>
              <a:latin typeface="Söhne"/>
            </a:endParaRPr>
          </a:p>
          <a:p>
            <a:pPr algn="l">
              <a:buFont typeface="Arial" panose="020B0604020202020204" pitchFamily="34" charset="0"/>
              <a:buChar char="•"/>
            </a:pPr>
            <a:r>
              <a:rPr lang="en-US" sz="2400" b="1" i="0" dirty="0">
                <a:effectLst/>
                <a:latin typeface="Söhne"/>
              </a:rPr>
              <a:t>Definition:</a:t>
            </a:r>
            <a:r>
              <a:rPr lang="en-US" sz="2400" b="0" i="0" dirty="0">
                <a:effectLst/>
                <a:latin typeface="Söhne"/>
              </a:rPr>
              <a:t> A DoS attack aims to make a system, network, or service unavailable to its intended users by overwhelming it with a flood of traffic.</a:t>
            </a:r>
          </a:p>
          <a:p>
            <a:pPr algn="l">
              <a:buFont typeface="Arial" panose="020B0604020202020204" pitchFamily="34" charset="0"/>
              <a:buChar char="•"/>
            </a:pPr>
            <a:r>
              <a:rPr lang="en-US" sz="2400" b="1" i="0" dirty="0">
                <a:effectLst/>
                <a:latin typeface="Söhne"/>
              </a:rPr>
              <a:t>Example:</a:t>
            </a:r>
            <a:r>
              <a:rPr lang="en-US" sz="2400" b="0" i="0" dirty="0">
                <a:effectLst/>
                <a:latin typeface="Söhne"/>
              </a:rPr>
              <a:t> Flooding a website's server with a high volume of requests in a short period, causing it to become slow or unresponsive, denying legitimate users access.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effectLst/>
              <a:latin typeface="Arial Unicode MS" panose="020B0604020202020204" pitchFamily="34" charset="-128"/>
            </a:endParaRPr>
          </a:p>
          <a:p>
            <a:pPr marL="0" indent="0" algn="l">
              <a:buNone/>
            </a:pPr>
            <a:r>
              <a:rPr lang="en-US" sz="3200" b="1" i="0" dirty="0">
                <a:solidFill>
                  <a:srgbClr val="00B050"/>
                </a:solidFill>
                <a:effectLst/>
                <a:latin typeface="Söhne"/>
              </a:rPr>
              <a:t>DDoS (Distributed Denial of Service) Attack:</a:t>
            </a:r>
            <a:endParaRPr lang="en-US" sz="3200" b="0" i="0" dirty="0">
              <a:solidFill>
                <a:srgbClr val="00B050"/>
              </a:solidFill>
              <a:effectLst/>
              <a:latin typeface="Söhne"/>
            </a:endParaRPr>
          </a:p>
          <a:p>
            <a:pPr algn="l">
              <a:buFont typeface="Arial" panose="020B0604020202020204" pitchFamily="34" charset="0"/>
              <a:buChar char="•"/>
            </a:pPr>
            <a:r>
              <a:rPr lang="en-US" sz="2400" b="1" i="0" dirty="0">
                <a:effectLst/>
                <a:latin typeface="Söhne"/>
              </a:rPr>
              <a:t>Definition:</a:t>
            </a:r>
            <a:r>
              <a:rPr lang="en-US" sz="2400" b="0" i="0" dirty="0">
                <a:effectLst/>
                <a:latin typeface="Söhne"/>
              </a:rPr>
              <a:t> DDoS is an amplified version of a DoS attack where multiple compromised systems, often distributed across various locations, collectively flood the target with traffic.</a:t>
            </a:r>
          </a:p>
          <a:p>
            <a:pPr algn="l">
              <a:buFont typeface="Arial" panose="020B0604020202020204" pitchFamily="34" charset="0"/>
              <a:buChar char="•"/>
            </a:pPr>
            <a:r>
              <a:rPr lang="en-US" sz="2400" b="1" i="0" dirty="0">
                <a:effectLst/>
                <a:latin typeface="Söhne"/>
              </a:rPr>
              <a:t>Example:</a:t>
            </a:r>
            <a:r>
              <a:rPr lang="en-US" sz="2400" b="0" i="0" dirty="0">
                <a:effectLst/>
                <a:latin typeface="Söhne"/>
              </a:rPr>
              <a:t> Using a botnet (a network of compromised computers), an attacker orchestrates a massive number of requests to overwhelm a website or online service, causing a more significant impact compared to a single source DoS attack.</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effectLst/>
              <a:latin typeface="Arial Unicode MS" panose="020B0604020202020204" pitchFamily="34" charset="-128"/>
            </a:endParaRPr>
          </a:p>
        </p:txBody>
      </p:sp>
    </p:spTree>
    <p:extLst>
      <p:ext uri="{BB962C8B-B14F-4D97-AF65-F5344CB8AC3E}">
        <p14:creationId xmlns:p14="http://schemas.microsoft.com/office/powerpoint/2010/main" val="2754628008"/>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8E7D3F4-6C89-A0AE-BBA7-7D5C261F8B09}"/>
              </a:ext>
            </a:extLst>
          </p:cNvPr>
          <p:cNvGraphicFramePr>
            <a:graphicFrameLocks noGrp="1"/>
          </p:cNvGraphicFramePr>
          <p:nvPr>
            <p:extLst>
              <p:ext uri="{D42A27DB-BD31-4B8C-83A1-F6EECF244321}">
                <p14:modId xmlns:p14="http://schemas.microsoft.com/office/powerpoint/2010/main" val="3449948187"/>
              </p:ext>
            </p:extLst>
          </p:nvPr>
        </p:nvGraphicFramePr>
        <p:xfrm>
          <a:off x="838200" y="1253144"/>
          <a:ext cx="10515600" cy="4884420"/>
        </p:xfrm>
        <a:graphic>
          <a:graphicData uri="http://schemas.openxmlformats.org/drawingml/2006/table">
            <a:tbl>
              <a:tblPr/>
              <a:tblGrid>
                <a:gridCol w="5257800">
                  <a:extLst>
                    <a:ext uri="{9D8B030D-6E8A-4147-A177-3AD203B41FA5}">
                      <a16:colId xmlns:a16="http://schemas.microsoft.com/office/drawing/2014/main" val="3979584044"/>
                    </a:ext>
                  </a:extLst>
                </a:gridCol>
                <a:gridCol w="5257800">
                  <a:extLst>
                    <a:ext uri="{9D8B030D-6E8A-4147-A177-3AD203B41FA5}">
                      <a16:colId xmlns:a16="http://schemas.microsoft.com/office/drawing/2014/main" val="1791758381"/>
                    </a:ext>
                  </a:extLst>
                </a:gridCol>
              </a:tblGrid>
              <a:tr h="0">
                <a:tc>
                  <a:txBody>
                    <a:bodyPr/>
                    <a:lstStyle/>
                    <a:p>
                      <a:pPr algn="l"/>
                      <a:r>
                        <a:rPr lang="en-GB" b="1" dirty="0">
                          <a:effectLst/>
                        </a:rPr>
                        <a:t>DOS</a:t>
                      </a:r>
                    </a:p>
                  </a:txBody>
                  <a:tcPr marL="152400" marR="152400" marT="171450" marB="17145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algn="l"/>
                      <a:r>
                        <a:rPr lang="en-GB" b="1" dirty="0">
                          <a:effectLst/>
                        </a:rPr>
                        <a:t>DDoS</a:t>
                      </a:r>
                    </a:p>
                  </a:txBody>
                  <a:tcPr marL="152400" marR="152400" marT="171450" marB="17145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3019164275"/>
                  </a:ext>
                </a:extLst>
              </a:tr>
              <a:tr h="0">
                <a:tc>
                  <a:txBody>
                    <a:bodyPr/>
                    <a:lstStyle/>
                    <a:p>
                      <a:r>
                        <a:rPr lang="en-US" b="0" dirty="0">
                          <a:effectLst/>
                        </a:rPr>
                        <a:t>Stands for Denial-of-Service attack</a:t>
                      </a:r>
                    </a:p>
                  </a:txBody>
                  <a:tcPr marL="152400" marR="152400" marT="152400" marB="1524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r>
                        <a:rPr lang="en-US" b="0" dirty="0">
                          <a:effectLst/>
                        </a:rPr>
                        <a:t>Stands for Distributed Denial of Service attack</a:t>
                      </a:r>
                    </a:p>
                  </a:txBody>
                  <a:tcPr marL="152400" marR="152400" marT="152400" marB="1524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2299903579"/>
                  </a:ext>
                </a:extLst>
              </a:tr>
              <a:tr h="0">
                <a:tc>
                  <a:txBody>
                    <a:bodyPr/>
                    <a:lstStyle/>
                    <a:p>
                      <a:r>
                        <a:rPr lang="en-US" b="0" dirty="0">
                          <a:effectLst/>
                        </a:rPr>
                        <a:t>Uses one device and one internet connection</a:t>
                      </a:r>
                    </a:p>
                  </a:txBody>
                  <a:tcPr marL="152400" marR="152400" marT="152400" marB="1524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r>
                        <a:rPr lang="en-GB" b="0" dirty="0">
                          <a:effectLst/>
                        </a:rPr>
                        <a:t>Uses multiple devices and internet connections</a:t>
                      </a:r>
                    </a:p>
                  </a:txBody>
                  <a:tcPr marL="152400" marR="152400" marT="152400" marB="1524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3235512037"/>
                  </a:ext>
                </a:extLst>
              </a:tr>
              <a:tr h="0">
                <a:tc>
                  <a:txBody>
                    <a:bodyPr/>
                    <a:lstStyle/>
                    <a:p>
                      <a:r>
                        <a:rPr lang="en-US" b="0" dirty="0">
                          <a:effectLst/>
                        </a:rPr>
                        <a:t>Sends a large amount of traffic or requests to a target system</a:t>
                      </a:r>
                    </a:p>
                  </a:txBody>
                  <a:tcPr marL="152400" marR="152400" marT="152400" marB="1524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r>
                        <a:rPr lang="en-US" b="0" dirty="0">
                          <a:effectLst/>
                        </a:rPr>
                        <a:t>Sends a larger amount of traffic or requests to a target system from different locations</a:t>
                      </a:r>
                    </a:p>
                  </a:txBody>
                  <a:tcPr marL="152400" marR="152400" marT="152400" marB="1524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3543980339"/>
                  </a:ext>
                </a:extLst>
              </a:tr>
              <a:tr h="0">
                <a:tc>
                  <a:txBody>
                    <a:bodyPr/>
                    <a:lstStyle/>
                    <a:p>
                      <a:r>
                        <a:rPr lang="en-US" b="0" dirty="0">
                          <a:effectLst/>
                        </a:rPr>
                        <a:t>Can be blocked by a firewall or by tracing the source IP address</a:t>
                      </a:r>
                    </a:p>
                  </a:txBody>
                  <a:tcPr marL="152400" marR="152400" marT="152400" marB="1524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r>
                        <a:rPr lang="en-US" b="0" dirty="0">
                          <a:effectLst/>
                        </a:rPr>
                        <a:t>Can be difficult to block or trace as the sources are disguised or distributed</a:t>
                      </a:r>
                    </a:p>
                  </a:txBody>
                  <a:tcPr marL="152400" marR="152400" marT="152400" marB="1524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4238819005"/>
                  </a:ext>
                </a:extLst>
              </a:tr>
              <a:tr h="0">
                <a:tc>
                  <a:txBody>
                    <a:bodyPr/>
                    <a:lstStyle/>
                    <a:p>
                      <a:r>
                        <a:rPr lang="en-US" b="0" dirty="0">
                          <a:effectLst/>
                        </a:rPr>
                        <a:t>Can cause system slowdown, errors, or crashes</a:t>
                      </a:r>
                    </a:p>
                  </a:txBody>
                  <a:tcPr marL="152400" marR="152400" marT="152400" marB="1524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r>
                        <a:rPr lang="en-GB" b="0" dirty="0">
                          <a:effectLst/>
                        </a:rPr>
                        <a:t>Can cause system failure, data loss, or service disruption</a:t>
                      </a:r>
                    </a:p>
                  </a:txBody>
                  <a:tcPr marL="152400" marR="152400" marT="152400" marB="1524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3438918420"/>
                  </a:ext>
                </a:extLst>
              </a:tr>
            </a:tbl>
          </a:graphicData>
        </a:graphic>
      </p:graphicFrame>
      <p:sp>
        <p:nvSpPr>
          <p:cNvPr id="5" name="Rectangle 1">
            <a:extLst>
              <a:ext uri="{FF2B5EF4-FFF2-40B4-BE49-F238E27FC236}">
                <a16:creationId xmlns:a16="http://schemas.microsoft.com/office/drawing/2014/main" id="{B60B0967-655D-BD48-1791-16456624AB8E}"/>
              </a:ext>
            </a:extLst>
          </p:cNvPr>
          <p:cNvSpPr>
            <a:spLocks noGrp="1" noChangeArrowheads="1"/>
          </p:cNvSpPr>
          <p:nvPr>
            <p:ph type="subTitle" idx="1"/>
          </p:nvPr>
        </p:nvSpPr>
        <p:spPr bwMode="auto">
          <a:xfrm>
            <a:off x="838200" y="321540"/>
            <a:ext cx="10515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Arial" panose="020B0604020202020204" pitchFamily="34" charset="0"/>
              </a:rPr>
              <a:t>DoS and DDoS attacks</a:t>
            </a:r>
          </a:p>
        </p:txBody>
      </p:sp>
    </p:spTree>
    <p:extLst>
      <p:ext uri="{BB962C8B-B14F-4D97-AF65-F5344CB8AC3E}">
        <p14:creationId xmlns:p14="http://schemas.microsoft.com/office/powerpoint/2010/main" val="2156267066"/>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DE31345-5D13-F5D1-EFBB-CE6BF8AF706F}"/>
              </a:ext>
            </a:extLst>
          </p:cNvPr>
          <p:cNvSpPr>
            <a:spLocks noGrp="1" noChangeArrowheads="1"/>
          </p:cNvSpPr>
          <p:nvPr>
            <p:ph idx="1"/>
          </p:nvPr>
        </p:nvSpPr>
        <p:spPr bwMode="auto">
          <a:xfrm>
            <a:off x="375181" y="289679"/>
            <a:ext cx="10556056"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200" b="1" i="0" u="sng" strike="noStrike" cap="none" normalizeH="0" baseline="0" dirty="0">
                <a:ln>
                  <a:noFill/>
                </a:ln>
                <a:solidFill>
                  <a:srgbClr val="00B050"/>
                </a:solidFill>
                <a:effectLst/>
                <a:latin typeface="Arial" panose="020B0604020202020204" pitchFamily="34" charset="0"/>
              </a:rPr>
              <a:t>Identity theft:</a:t>
            </a:r>
            <a:r>
              <a:rPr kumimoji="0" lang="en-US" altLang="en-US" sz="3200" i="0" strike="noStrike" cap="none" normalizeH="0" baseline="0" dirty="0">
                <a:ln>
                  <a:noFill/>
                </a:ln>
                <a:solidFill>
                  <a:srgbClr val="00B050"/>
                </a:solidFill>
                <a:effectLst/>
                <a:latin typeface="Arial" panose="020B0604020202020204" pitchFamily="34" charset="0"/>
              </a:rPr>
              <a:t> </a:t>
            </a:r>
            <a:r>
              <a:rPr kumimoji="0" lang="en-US" altLang="en-US" sz="2400" i="0" strike="noStrike" cap="none" normalizeH="0" baseline="0" dirty="0">
                <a:ln>
                  <a:noFill/>
                </a:ln>
                <a:solidFill>
                  <a:schemeClr val="tx1"/>
                </a:solidFill>
                <a:effectLst/>
                <a:latin typeface="Arial" panose="020B0604020202020204" pitchFamily="34" charset="0"/>
              </a:rPr>
              <a:t>It is type of cybercrime where someone steals and uses another person’s personal information, such as their name, social security number, financial details, or other identifiers, typically for financial gain or to commit fraudulent activities. </a:t>
            </a:r>
            <a:r>
              <a:rPr lang="en-US" altLang="en-US" sz="2400" dirty="0">
                <a:latin typeface="Arial" panose="020B0604020202020204" pitchFamily="34" charset="0"/>
              </a:rPr>
              <a:t>Thief can use this information to open ban accounts, apply for credit cards, make purchases, or engage in other activities while impersonating the victim.</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200" i="0"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400" dirty="0">
                <a:latin typeface="Arial" panose="020B0604020202020204" pitchFamily="34" charset="0"/>
              </a:rPr>
              <a:t>Example: eBay etc.</a:t>
            </a:r>
            <a:endParaRPr kumimoji="0" lang="en-US" altLang="en-US" sz="2400" i="0"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30460238"/>
      </p:ext>
    </p:extLst>
  </p:cSld>
  <p:clrMapOvr>
    <a:masterClrMapping/>
  </p:clrMapOvr>
  <p:transition spd="slow">
    <p:push dir="u"/>
  </p:transition>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TM03457515[[fn=View]]</Template>
  <TotalTime>963</TotalTime>
  <Words>455</Words>
  <Application>Microsoft Office PowerPoint</Application>
  <PresentationFormat>Widescreen</PresentationFormat>
  <Paragraphs>45</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 Unicode MS</vt:lpstr>
      <vt:lpstr>Arial</vt:lpstr>
      <vt:lpstr>Century Schoolbook</vt:lpstr>
      <vt:lpstr>Söhne</vt:lpstr>
      <vt:lpstr>Wingdings</vt:lpstr>
      <vt:lpstr>Wingdings 2</vt:lpstr>
      <vt:lpstr>View</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Saqib Bedar</dc:creator>
  <cp:lastModifiedBy>Saqib Bedar</cp:lastModifiedBy>
  <cp:revision>7</cp:revision>
  <dcterms:created xsi:type="dcterms:W3CDTF">2023-11-23T08:45:55Z</dcterms:created>
  <dcterms:modified xsi:type="dcterms:W3CDTF">2023-12-06T21:27:25Z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2023-11-23T08:51:39Z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89d86539-d32e-4c08-9b2f-0c303e2e5e3e</vt:lpwstr>
  </property>
  <property fmtid="{D5CDD505-2E9C-101B-9397-08002B2CF9AE}" pid="7" name="MSIP_Label_defa4170-0d19-0005-0004-bc88714345d2_ActionId">
    <vt:lpwstr>b3646888-816f-41ea-bae8-9d33c45db2b3</vt:lpwstr>
  </property>
  <property fmtid="{D5CDD505-2E9C-101B-9397-08002B2CF9AE}" pid="8" name="MSIP_Label_defa4170-0d19-0005-0004-bc88714345d2_ContentBits">
    <vt:lpwstr>0</vt:lpwstr>
  </property>
</Properties>
</file>