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6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  <p:sldMasterId id="2147483659" r:id="rId3"/>
    <p:sldMasterId id="2147483661" r:id="rId4"/>
    <p:sldMasterId id="2147483663" r:id="rId5"/>
  </p:sldMasterIdLst>
  <p:notesMasterIdLst>
    <p:notesMasterId r:id="rId21"/>
  </p:notesMasterIdLst>
  <p:sldIdLst>
    <p:sldId id="256" r:id="rId6"/>
    <p:sldId id="283" r:id="rId7"/>
    <p:sldId id="25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AqNRU69DP5K6/9nKDte4LGyF/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7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/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Verdan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c3b28a23d_0_0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20c3b28a2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c3b28a23d_0_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20c3b28a23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c3b28a23d_0_3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20c3b28a2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0c3b28a23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20c3b28a23d_0_4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20c3b28a23d_0_46:notes"/>
          <p:cNvSpPr txBox="1"/>
          <p:nvPr/>
        </p:nvSpPr>
        <p:spPr>
          <a:xfrm>
            <a:off x="3970337" y="8831262"/>
            <a:ext cx="30384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c3b28a23d_0_5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0c3b28a23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Font typeface="Noto Sans Symbols"/>
              <a:buNone/>
              <a:defRPr sz="19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1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0c3b28a23d_0_12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20c3b28a23d_0_123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9" name="Google Shape;39;g20c3b28a23d_0_123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0" name="Google Shape;40;g20c3b28a23d_0_1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20c3b28a23d_0_123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20c3b28a23d_0_123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71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685800" y="2393950"/>
            <a:ext cx="7772400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" name="Google Shape;26;p1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81" name="Google Shape;81;p2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" name="Google Shape;96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7" name="Google Shape;107;p3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&amp; Design for Software Systems</a:t>
            </a:r>
            <a:endParaRPr/>
          </a:p>
        </p:txBody>
      </p:sp>
      <p:sp>
        <p:nvSpPr>
          <p:cNvPr id="124" name="Google Shape;12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Readings: 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Readings: </a:t>
            </a:r>
            <a:endParaRPr lang="en-US" sz="16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 Chapter 2 Sections 2.1</a:t>
            </a:r>
            <a:endParaRPr lang="en-US" sz="16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(Do Section 2.4 yourself)</a:t>
            </a:r>
            <a:endParaRPr lang="en-US" sz="16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Vliet Chapter 1 </a:t>
            </a:r>
            <a:r>
              <a:rPr lang="en-US" sz="1500" dirty="0"/>
              <a:t>Section 1.1</a:t>
            </a:r>
            <a:endParaRPr lang="en-US" sz="16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Noto Sans Symbols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</a:t>
            </a:r>
            <a:endParaRPr dirty="0"/>
          </a:p>
        </p:txBody>
      </p:sp>
      <p:sp>
        <p:nvSpPr>
          <p:cNvPr id="55" name="Google Shape;55;p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dirty="0"/>
              <a:t>To understand the big picture i.e. the principles that guide software engineering as a whole</a:t>
            </a:r>
            <a:endParaRPr dirty="0"/>
          </a:p>
          <a:p>
            <a:pPr marL="469900" lvl="0" indent="-34290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r>
              <a:rPr lang="en-US" dirty="0"/>
              <a:t>To appreciate the software engineering characteristics to be kept in mind during software development</a:t>
            </a:r>
          </a:p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endParaRPr lang="en-US" dirty="0"/>
          </a:p>
          <a:p>
            <a:pPr marL="4572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□"/>
            </a:pPr>
            <a:r>
              <a:rPr lang="en-US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be able to identify the various activities during software development and understand the effort distribution</a:t>
            </a: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□"/>
            </a:pPr>
            <a:r>
              <a:rPr lang="en-US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common process models and their characteristics</a:t>
            </a:r>
            <a:endParaRPr lang="en-US" dirty="0">
              <a:solidFill>
                <a:srgbClr val="CC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457200" lvl="0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□"/>
            </a:pP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609600" y="762000"/>
            <a:ext cx="43688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Layered Technology</a:t>
            </a:r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2895600" y="2209800"/>
            <a:ext cx="3311525" cy="41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Software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741362" y="4008437"/>
            <a:ext cx="7620000" cy="12858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1198562" y="3579812"/>
            <a:ext cx="6629400" cy="1200150"/>
          </a:xfrm>
          <a:prstGeom prst="ellipse">
            <a:avLst/>
          </a:prstGeom>
          <a:solidFill>
            <a:srgbClr val="BC3700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1731962" y="3151187"/>
            <a:ext cx="5486400" cy="10287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2112962" y="2894012"/>
            <a:ext cx="4724400" cy="685800"/>
          </a:xfrm>
          <a:prstGeom prst="ellipse">
            <a:avLst/>
          </a:prstGeom>
          <a:solidFill>
            <a:srgbClr val="790015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3394075" y="4849812"/>
            <a:ext cx="221138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a “quality” focus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3495675" y="4249737"/>
            <a:ext cx="1973262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process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3851275" y="3649662"/>
            <a:ext cx="12398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methods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4156075" y="3049587"/>
            <a:ext cx="7874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8737" y="1881187"/>
            <a:ext cx="3830637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050" y="1846262"/>
            <a:ext cx="6591300" cy="4405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collection of inter-related components that work together to achieve some objective</a:t>
            </a:r>
            <a:endParaRPr/>
          </a:p>
          <a:p>
            <a:pPr marL="469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exist to achieve a purpose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interact with the environment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may be composed of sub-systems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have emergent properties</a:t>
            </a:r>
            <a:endParaRPr/>
          </a:p>
          <a:p>
            <a:pPr marL="908050" lvl="1" indent="-3222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computer based systems e.g. television, mobile phone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Socio-technical systems – Have operational processes, and include people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based Systems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are:</a:t>
            </a:r>
            <a:endParaRPr/>
          </a:p>
          <a:p>
            <a:pPr marL="469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	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Procedures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0c3b28a23d_0_0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0c3b28a23d_0_0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0c3b28a23d_0_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Hardware/Software Costs</a:t>
            </a:r>
            <a:endParaRPr/>
          </a:p>
        </p:txBody>
      </p:sp>
      <p:sp>
        <p:nvSpPr>
          <p:cNvPr id="131" name="Google Shape;131;g20c3b28a23d_0_0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about 1960 (typically)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 software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 hardware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1970 this had reversed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 software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 hardware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for many large systems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90% software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hardware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c3b28a23d_0_7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0c3b28a23d_0_7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0c3b28a23d_0_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 and Programming</a:t>
            </a:r>
            <a:endParaRPr/>
          </a:p>
        </p:txBody>
      </p:sp>
      <p:sp>
        <p:nvSpPr>
          <p:cNvPr id="139" name="Google Shape;139;g20c3b28a23d_0_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1201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is only a fraction of the software development process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a program is easy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a software product is hard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c3b28a23d_0_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Principles</a:t>
            </a:r>
            <a:endParaRPr/>
          </a:p>
        </p:txBody>
      </p:sp>
      <p:sp>
        <p:nvSpPr>
          <p:cNvPr id="146" name="Google Shape;146;g20c3b28a23d_0_3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reason it all exists – to provide value to its users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it simple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the vision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you produce, others will consume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open to the future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ahead for reuse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Think!</a:t>
            </a:r>
            <a:endParaRPr/>
          </a:p>
        </p:txBody>
      </p:sp>
      <p:sp>
        <p:nvSpPr>
          <p:cNvPr id="147" name="Google Shape;147;g20c3b28a23d_0_37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0c3b28a23d_0_37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0c3b28a23d_0_4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 Characteristics of SE</a:t>
            </a:r>
            <a:endParaRPr/>
          </a:p>
        </p:txBody>
      </p:sp>
      <p:sp>
        <p:nvSpPr>
          <p:cNvPr id="155" name="Google Shape;155;g20c3b28a23d_0_4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concerns the development of large programs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central theme is mastering complexity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evolves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efficiency with which software is developed is of crucial importance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cooperation between people is an integral part of programming-in-the-large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software has to support its users effectively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is a field in which members of one culture create artifacts on behalf of members of another culture</a:t>
            </a:r>
            <a:endParaRPr/>
          </a:p>
          <a:p>
            <a:pPr marL="469900" marR="0" lvl="0" indent="-406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□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is a balancing act</a:t>
            </a:r>
            <a:endParaRPr/>
          </a:p>
          <a:p>
            <a:pPr marL="469900" marR="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20c3b28a23d_0_46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0c3b28a23d_0_46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0c3b28a23d_0_54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0c3b28a23d_0_54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0c3b28a23d_0_5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Process</a:t>
            </a:r>
            <a:endParaRPr/>
          </a:p>
        </p:txBody>
      </p:sp>
      <p:sp>
        <p:nvSpPr>
          <p:cNvPr id="165" name="Google Shape;165;g20c3b28a23d_0_5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series of steps involving activities, constraints, and resources that produce an intended output of some kind (software)</a:t>
            </a:r>
            <a:endParaRPr/>
          </a:p>
          <a:p>
            <a:pPr marL="469900" lvl="0" indent="-412750" algn="l" rtl="0">
              <a:lnSpc>
                <a:spcPct val="9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a set of tools and techniques</a:t>
            </a:r>
            <a:endParaRPr/>
          </a:p>
          <a:p>
            <a:pPr marL="469900" lvl="0" indent="-412750" algn="l" rtl="0">
              <a:lnSpc>
                <a:spcPct val="9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processes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to Good Software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Visibility</a:t>
            </a:r>
            <a:endParaRPr/>
          </a:p>
          <a:p>
            <a:pPr marL="908050" lvl="1" indent="-4365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Risks</a:t>
            </a:r>
            <a:endParaRPr/>
          </a:p>
          <a:p>
            <a:pPr marL="908050" lvl="1" indent="-379412" algn="l" rtl="0">
              <a:lnSpc>
                <a:spcPct val="90000"/>
              </a:lnSpc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19100" algn="l" rtl="0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</a:pPr>
            <a:endParaRPr sz="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number of process steps that must be part of all software projects</a:t>
            </a:r>
            <a:endParaRPr/>
          </a:p>
          <a:p>
            <a:pPr marL="908050" lvl="1" indent="-3222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322262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609600" y="762000"/>
            <a:ext cx="41910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Process Framework</a:t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325562"/>
            <a:ext cx="3200400" cy="5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667000"/>
            <a:ext cx="45053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0600" y="3733800"/>
            <a:ext cx="350520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2133600" y="1981200"/>
            <a:ext cx="4830900" cy="370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35921" dir="270000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" name="Google Shape;81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5824500" cy="1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Activities</a:t>
            </a:r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1"/>
          </p:nvPr>
        </p:nvSpPr>
        <p:spPr>
          <a:xfrm>
            <a:off x="2362200" y="2209800"/>
            <a:ext cx="4038600" cy="3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requirements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generation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View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08050" lvl="1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 Definition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Modeling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Sub-system Development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 Integration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Evolution</a:t>
            </a:r>
            <a:endParaRPr/>
          </a:p>
          <a:p>
            <a:pPr marL="4699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takes up what %age of the total effort?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609600" y="6245225"/>
            <a:ext cx="1981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2209800" y="6245225"/>
            <a:ext cx="3810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237" y="1905000"/>
            <a:ext cx="6786561" cy="3011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A303F87D8ED140B5873606C38360BE" ma:contentTypeVersion="0" ma:contentTypeDescription="Create a new document." ma:contentTypeScope="" ma:versionID="4f02449c2720e8a7710801c0ac3899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98ED30-112D-4EAD-8C63-59F3A78FD2F9}"/>
</file>

<file path=customXml/itemProps2.xml><?xml version="1.0" encoding="utf-8"?>
<ds:datastoreItem xmlns:ds="http://schemas.openxmlformats.org/officeDocument/2006/customXml" ds:itemID="{B50F69C4-1DB1-492A-8C00-382417C6F41C}"/>
</file>

<file path=customXml/itemProps3.xml><?xml version="1.0" encoding="utf-8"?>
<ds:datastoreItem xmlns:ds="http://schemas.openxmlformats.org/officeDocument/2006/customXml" ds:itemID="{E2EBFE41-35CC-4213-9A01-CF981335D323}"/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781</Words>
  <Application>Microsoft Office PowerPoint</Application>
  <PresentationFormat>On-screen Show (4:3)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Noto Sans Symbols</vt:lpstr>
      <vt:lpstr>Palatino</vt:lpstr>
      <vt:lpstr>Times New Roman</vt:lpstr>
      <vt:lpstr>Verdana</vt:lpstr>
      <vt:lpstr>1_Profile</vt:lpstr>
      <vt:lpstr>Profile</vt:lpstr>
      <vt:lpstr>2_Profile</vt:lpstr>
      <vt:lpstr>3_Profile</vt:lpstr>
      <vt:lpstr>4_Profile</vt:lpstr>
      <vt:lpstr>Analysis &amp; Design for Software Systems</vt:lpstr>
      <vt:lpstr>Learning objectives</vt:lpstr>
      <vt:lpstr>A Layered Technology</vt:lpstr>
      <vt:lpstr>PowerPoint Presentation</vt:lpstr>
      <vt:lpstr>System</vt:lpstr>
      <vt:lpstr>Computer based Systems</vt:lpstr>
      <vt:lpstr>Hardware/Software Costs</vt:lpstr>
      <vt:lpstr>Software Development and Programming</vt:lpstr>
      <vt:lpstr>Principles</vt:lpstr>
      <vt:lpstr>Essential Characteristics of SE</vt:lpstr>
      <vt:lpstr>Software Process</vt:lpstr>
      <vt:lpstr>A Process Framework</vt:lpstr>
      <vt:lpstr>Framework Activities</vt:lpstr>
      <vt:lpstr>Another 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&amp; Design for Software Systems</dc:title>
  <cp:lastModifiedBy>Onaiza Maqbool</cp:lastModifiedBy>
  <cp:revision>6</cp:revision>
  <dcterms:created xsi:type="dcterms:W3CDTF">1601-01-01T00:00:00Z</dcterms:created>
  <dcterms:modified xsi:type="dcterms:W3CDTF">2025-02-25T09:50:32Z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0x010100E2A303F87D8ED140B5873606C38360BE</vt:lpwstr>
  </property>
</Properties>
</file>