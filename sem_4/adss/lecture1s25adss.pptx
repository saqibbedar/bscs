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50" r:id="rId2"/>
    <p:sldMasterId id="2147483660" r:id="rId3"/>
    <p:sldMasterId id="2147483662" r:id="rId4"/>
    <p:sldMasterId id="2147483664" r:id="rId5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70" r:id="rId13"/>
    <p:sldId id="264" r:id="rId14"/>
    <p:sldId id="269" r:id="rId15"/>
    <p:sldId id="265" r:id="rId16"/>
    <p:sldId id="266" r:id="rId17"/>
    <p:sldId id="267" r:id="rId18"/>
    <p:sldId id="268" r:id="rId19"/>
  </p:sldIdLst>
  <p:sldSz cx="9144000" cy="6858000" type="screen4x3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i5Htw5V2Q2/89cUhXd/icAdemM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A00421F-1631-46A5-98B8-5FA76927FEF4}">
  <a:tblStyle styleId="{AA00421F-1631-46A5-98B8-5FA76927FE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34" Type="http://schemas.openxmlformats.org/officeDocument/2006/relationships/customXml" Target="../customXml/item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36" Type="http://schemas.openxmlformats.org/officeDocument/2006/relationships/customXml" Target="../customXml/item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337" y="0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31262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337" y="8831262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 txBox="1"/>
          <p:nvPr/>
        </p:nvSpPr>
        <p:spPr>
          <a:xfrm>
            <a:off x="3970337" y="8831262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Verdan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fld>
            <a:endParaRPr/>
          </a:p>
        </p:txBody>
      </p:sp>
      <p:sp>
        <p:nvSpPr>
          <p:cNvPr id="125" name="Google Shape;12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1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2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380"/>
              </a:spcBef>
              <a:spcAft>
                <a:spcPts val="0"/>
              </a:spcAft>
              <a:buSzPts val="1900"/>
              <a:buFont typeface="Noto Sans Symbols"/>
              <a:buNone/>
              <a:defRPr sz="1900"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body" idx="1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 rot="5400000">
            <a:off x="2433637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6pPr>
            <a:lvl7pPr marL="3200400" lvl="6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7pPr>
            <a:lvl8pPr marL="3657600" lvl="7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8pPr>
            <a:lvl9pPr marL="4114800" lvl="8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3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4" name="Google Shape;94;p2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95" name="Google Shape;95;p2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p2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97" name="Google Shape;97;p2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7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9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9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3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3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1" name="Google Shape;121;p3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1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/>
          <p:nvPr/>
        </p:nvSpPr>
        <p:spPr>
          <a:xfrm>
            <a:off x="685800" y="2393950"/>
            <a:ext cx="7772400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" name="Google Shape;11;p1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36550" algn="l" rtl="0"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Char char="□"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7500" algn="l" rtl="0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■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75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75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75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75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36550" algn="l" rtl="0"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Char char="□"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7500" algn="l" rtl="0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■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75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75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75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75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5" name="Google Shape;25;p16"/>
          <p:cNvSpPr/>
          <p:nvPr/>
        </p:nvSpPr>
        <p:spPr>
          <a:xfrm>
            <a:off x="609600" y="1566862"/>
            <a:ext cx="7958137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6" name="Google Shape;26;p16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7" name="Google Shape;27;p1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6"/>
          <p:cNvSpPr/>
          <p:nvPr/>
        </p:nvSpPr>
        <p:spPr>
          <a:xfrm>
            <a:off x="609600" y="1566862"/>
            <a:ext cx="7958137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86" name="Google Shape;86;p26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7" name="Google Shape;87;p26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8" name="Google Shape;88;p26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36550" algn="l" rtl="0"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Char char="□"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7500" algn="l" rtl="0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■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75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75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75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75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9" name="Google Shape;89;p2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90" name="Google Shape;90;p26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8"/>
          <p:cNvSpPr/>
          <p:nvPr/>
        </p:nvSpPr>
        <p:spPr>
          <a:xfrm>
            <a:off x="609600" y="1566862"/>
            <a:ext cx="7958137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01" name="Google Shape;101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02" name="Google Shape;102;p2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Google Shape;103;p28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36550" algn="l" rtl="0"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Char char="□"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7500" algn="l" rtl="0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■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75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75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75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75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" name="Google Shape;104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05" name="Google Shape;105;p28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0"/>
          <p:cNvSpPr/>
          <p:nvPr/>
        </p:nvSpPr>
        <p:spPr>
          <a:xfrm>
            <a:off x="609600" y="1566862"/>
            <a:ext cx="7958137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12" name="Google Shape;112;p30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3" name="Google Shape;113;p3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36550" algn="l" rtl="0"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Char char="□"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7500" algn="l" rtl="0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■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75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75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75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75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5" name="Google Shape;115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16" name="Google Shape;116;p30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/>
              <a:buNone/>
            </a:pPr>
            <a:r>
              <a:rPr lang="en-US" sz="38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&amp; Design for Software Systems</a:t>
            </a:r>
            <a:endParaRPr/>
          </a:p>
        </p:txBody>
      </p:sp>
      <p:sp>
        <p:nvSpPr>
          <p:cNvPr id="129" name="Google Shape;129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US" sz="15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r>
              <a:rPr lang="en-US" sz="15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Quaid-</a:t>
            </a:r>
            <a:r>
              <a:rPr lang="en-US" sz="15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5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-Azam University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endParaRPr sz="15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endParaRPr sz="15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r>
              <a:rPr lang="en-US" sz="15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2025</a:t>
            </a:r>
            <a:r>
              <a:rPr lang="en-US" sz="1500" dirty="0"/>
              <a:t> </a:t>
            </a:r>
            <a:r>
              <a:rPr lang="en-US" sz="15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Semester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r>
              <a:rPr lang="en-US" sz="15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Instructor: Onaiza Maqbool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endParaRPr sz="15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r>
              <a:rPr lang="en-US" sz="15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Readings: 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r>
              <a:rPr lang="en-US" sz="15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Pressman Chapter 1</a:t>
            </a:r>
            <a:endParaRPr sz="15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endParaRPr sz="1500" dirty="0"/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endParaRPr sz="1500" dirty="0"/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endParaRPr sz="15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endParaRPr sz="15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SzPts val="1500"/>
              <a:buFont typeface="Noto Sans Symbols"/>
              <a:buNone/>
            </a:pPr>
            <a:endParaRPr sz="15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objectives</a:t>
            </a:r>
            <a:endParaRPr/>
          </a:p>
        </p:txBody>
      </p:sp>
      <p:sp>
        <p:nvSpPr>
          <p:cNvPr id="135" name="Google Shape;135;p2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marR="0" lvl="0" indent="-469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understand the notion of software and it’s importance </a:t>
            </a:r>
            <a:endParaRPr dirty="0"/>
          </a:p>
          <a:p>
            <a:pPr marL="469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understand the characteristics of software that make it different from other products</a:t>
            </a:r>
            <a:endParaRPr dirty="0"/>
          </a:p>
          <a:p>
            <a:pPr marL="469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be able to identify different software applications</a:t>
            </a:r>
          </a:p>
          <a:p>
            <a:pPr marL="469900" marR="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endParaRPr lang="en-US" dirty="0"/>
          </a:p>
          <a:p>
            <a:pPr marL="469900" marR="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endParaRPr dirty="0"/>
          </a:p>
          <a:p>
            <a:pPr marL="469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</a:pPr>
            <a:r>
              <a:rPr lang="en-US" sz="11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/>
          </a:p>
        </p:txBody>
      </p:sp>
      <p:sp>
        <p:nvSpPr>
          <p:cNvPr id="145" name="Google Shape;145;p3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  <a:endParaRPr/>
          </a:p>
        </p:txBody>
      </p:sp>
      <p:sp>
        <p:nvSpPr>
          <p:cNvPr id="146" name="Google Shape;146;p3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is</a:t>
            </a:r>
            <a:endParaRPr/>
          </a:p>
          <a:p>
            <a:pPr marL="469900" lvl="0" indent="-469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endParaRPr sz="1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instructions (computer programs) that when executed provide desired 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</a:t>
            </a:r>
            <a:endParaRPr/>
          </a:p>
          <a:p>
            <a:pPr marL="908050" lvl="1" indent="-3222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structures that enable the programs to adequately manipulate information</a:t>
            </a:r>
            <a:endParaRPr/>
          </a:p>
          <a:p>
            <a:pPr marL="908050" lvl="1" indent="-3222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descriptive information in both hard copy and virtual forms that describes the operation and use of the programs</a:t>
            </a:r>
            <a:endParaRPr sz="18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08050" lvl="1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08050" lvl="1" indent="-4365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</a:pPr>
            <a:r>
              <a:rPr lang="en-US" sz="53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/>
          </a:p>
        </p:txBody>
      </p:sp>
      <p:sp>
        <p:nvSpPr>
          <p:cNvPr id="152" name="Google Shape;152;p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- Importance</a:t>
            </a:r>
            <a:endParaRPr/>
          </a:p>
        </p:txBody>
      </p:sp>
      <p:sp>
        <p:nvSpPr>
          <p:cNvPr id="153" name="Google Shape;153;p4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469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has a dual role. </a:t>
            </a:r>
            <a:endParaRPr/>
          </a:p>
          <a:p>
            <a:pPr marL="1031875" lvl="1" indent="-515937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</a:t>
            </a:r>
            <a:endParaRPr/>
          </a:p>
          <a:p>
            <a:pPr marL="1420812" lvl="3" indent="-515937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delivers the computing potential embodied by computer hardware, is an information transformer </a:t>
            </a:r>
            <a:endParaRPr/>
          </a:p>
          <a:p>
            <a:pPr marL="1031875" lvl="1" indent="-515937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Vehicle for delivering the product</a:t>
            </a:r>
            <a:endParaRPr/>
          </a:p>
          <a:p>
            <a:pPr marL="1420812" lvl="3" indent="-515937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of the computer, communication of information, creation of programs</a:t>
            </a:r>
            <a:endParaRPr/>
          </a:p>
          <a:p>
            <a:pPr marL="469900" lvl="0" indent="-381000" algn="l" rtl="0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endParaRPr sz="1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469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- Single most important technology </a:t>
            </a:r>
            <a:endParaRPr/>
          </a:p>
          <a:p>
            <a:pPr marL="1031875" lvl="1" indent="-515937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new technologies (genetic engineering), extends existing (telecommunication), radical change in older ones (media)</a:t>
            </a:r>
            <a:endParaRPr/>
          </a:p>
          <a:p>
            <a:pPr marL="469900" lvl="0" indent="-469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469900" lvl="0" indent="-469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Encompasses all aspects of our lives - We depend upon it more and more - Sometimes even for our lives</a:t>
            </a:r>
            <a:endParaRPr/>
          </a:p>
          <a:p>
            <a:pPr marL="1031875" lvl="1" indent="-471487" algn="l" rtl="0">
              <a:lnSpc>
                <a:spcPct val="90000"/>
              </a:lnSpc>
              <a:spcBef>
                <a:spcPts val="14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Noto Sans Symbols"/>
              <a:buNone/>
            </a:pPr>
            <a:endParaRPr sz="7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31875" lvl="1" indent="-515937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message: It better be right!!!</a:t>
            </a:r>
            <a:endParaRPr/>
          </a:p>
          <a:p>
            <a:pPr marL="1031875" lvl="1" indent="-401637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355600" algn="l" rtl="0"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/>
          </a:p>
        </p:txBody>
      </p:sp>
      <p:sp>
        <p:nvSpPr>
          <p:cNvPr id="160" name="Google Shape;160;p5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Characteristics</a:t>
            </a:r>
            <a:endParaRPr/>
          </a:p>
        </p:txBody>
      </p:sp>
      <p:sp>
        <p:nvSpPr>
          <p:cNvPr id="161" name="Google Shape;161;p5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is a logical rather than a physical element </a:t>
            </a:r>
            <a:endParaRPr/>
          </a:p>
          <a:p>
            <a:pPr marL="1304925" lvl="2" indent="-395287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Char char="□"/>
            </a:pPr>
            <a:r>
              <a:rPr lang="en-US" sz="17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engineered, not manufactured</a:t>
            </a:r>
            <a:endParaRPr/>
          </a:p>
          <a:p>
            <a:pPr marL="908050" lvl="1" indent="-3222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does not wear out</a:t>
            </a:r>
            <a:endParaRPr/>
          </a:p>
          <a:p>
            <a:pPr marL="1304925" lvl="2" indent="-395287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Char char="□"/>
            </a:pPr>
            <a:r>
              <a:rPr lang="en-US" sz="17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does deteriorate</a:t>
            </a:r>
            <a:endParaRPr/>
          </a:p>
          <a:p>
            <a:pPr marL="908050" lvl="1" indent="-3222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is often custom-built</a:t>
            </a:r>
            <a:endParaRPr/>
          </a:p>
          <a:p>
            <a:pPr marL="1304925" lvl="2" indent="-395287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Char char="□"/>
            </a:pPr>
            <a:r>
              <a:rPr lang="en-US" sz="17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no spare parts</a:t>
            </a:r>
            <a:endParaRPr/>
          </a:p>
          <a:p>
            <a:pPr marL="1304925" lvl="2" indent="-287337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None/>
            </a:pPr>
            <a:endParaRPr sz="17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361950" algn="l" rtl="0"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/>
          </a:p>
        </p:txBody>
      </p:sp>
      <p:sp>
        <p:nvSpPr>
          <p:cNvPr id="167" name="Google Shape;167;p6"/>
          <p:cNvSpPr txBox="1"/>
          <p:nvPr/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/>
          </a:p>
        </p:txBody>
      </p:sp>
      <p:sp>
        <p:nvSpPr>
          <p:cNvPr id="168" name="Google Shape;168;p6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Wear vs. Deterioration</a:t>
            </a:r>
            <a:endParaRPr/>
          </a:p>
        </p:txBody>
      </p:sp>
      <p:pic>
        <p:nvPicPr>
          <p:cNvPr id="169" name="Google Shape;16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2262187"/>
            <a:ext cx="4160837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2162" y="2301875"/>
            <a:ext cx="4227512" cy="280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/>
          </a:p>
        </p:txBody>
      </p:sp>
      <p:sp>
        <p:nvSpPr>
          <p:cNvPr id="176" name="Google Shape;176;p7"/>
          <p:cNvSpPr txBox="1"/>
          <p:nvPr/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/>
          </a:p>
        </p:txBody>
      </p:sp>
      <p:sp>
        <p:nvSpPr>
          <p:cNvPr id="177" name="Google Shape;177;p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Applications</a:t>
            </a:r>
            <a:endParaRPr/>
          </a:p>
        </p:txBody>
      </p:sp>
      <p:sp>
        <p:nvSpPr>
          <p:cNvPr id="178" name="Google Shape;178;p7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08050" lvl="1" indent="-4365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software</a:t>
            </a:r>
            <a:endParaRPr dirty="0"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software</a:t>
            </a:r>
            <a:endParaRPr dirty="0"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Engineering/scientific software </a:t>
            </a:r>
            <a:endParaRPr dirty="0"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Embedded software </a:t>
            </a:r>
            <a:endParaRPr dirty="0"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Product-line software</a:t>
            </a:r>
            <a:endParaRPr dirty="0"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WebApps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(Web applications)</a:t>
            </a:r>
            <a:endParaRPr dirty="0"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software</a:t>
            </a:r>
            <a:endParaRPr dirty="0"/>
          </a:p>
          <a:p>
            <a:pPr marL="908050" lvl="1" indent="-3222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endParaRPr sz="18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computing</a:t>
            </a:r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Ubiquitous computing—wireless networks</a:t>
            </a:r>
            <a:endParaRPr dirty="0"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Netsourcing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—the Web as a computing engine</a:t>
            </a:r>
            <a:endParaRPr dirty="0"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source—“free” source code open to the computing community</a:t>
            </a:r>
            <a:endParaRPr dirty="0"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Legacy Software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32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Adapted from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 A Practitioner’s Approach by R.S. Pressman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&amp; Software Engineering A lifecycle approach by P. Mohapatra</a:t>
            </a:r>
            <a:endParaRPr/>
          </a:p>
        </p:txBody>
      </p:sp>
      <p:sp>
        <p:nvSpPr>
          <p:cNvPr id="171" name="Google Shape;171;p3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Crisis</a:t>
            </a:r>
            <a:endParaRPr/>
          </a:p>
        </p:txBody>
      </p:sp>
      <p:sp>
        <p:nvSpPr>
          <p:cNvPr id="172" name="Google Shape;172;p32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Software delivered had errors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Software delivered did not meet user requirements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Software was not delivered on time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Software cost much more to develop and maintain than estimated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Measuring progress was difficult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Two conferences were devoted to the topic in 1968 and 1969 (Naur and Randell, 1968), (Buxton and Randell, 1969). Here, the term ‘software engineering’ was coined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/>
          </a:p>
        </p:txBody>
      </p:sp>
      <p:sp>
        <p:nvSpPr>
          <p:cNvPr id="192" name="Google Shape;192;p9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outline</a:t>
            </a:r>
            <a:endParaRPr/>
          </a:p>
        </p:txBody>
      </p:sp>
      <p:sp>
        <p:nvSpPr>
          <p:cNvPr id="193" name="Google Shape;193;p9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272462" cy="440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469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Aims:</a:t>
            </a:r>
            <a:endParaRPr/>
          </a:p>
          <a:p>
            <a:pPr marL="46990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course is intended to provide students with an understanding of the concepts and methods for the analysis and design of software systems. The purpose is to inculcate a disciplined approach to software analysis and design. The course discusses important software development activities, emphasizing on practical aspects. Thus the course enables students: </a:t>
            </a: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08050" lvl="1" indent="-436562" algn="l" rtl="0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SzPts val="800"/>
              <a:buNone/>
            </a:pPr>
            <a:endParaRPr sz="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understand the concepts &amp; principles that guide software analysis &amp; design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understand the methodologies used for software development (structured and object oriented, with emphasis on object-oriented)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have knowledge of various tools available for analysis and design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apply the principles and methodologies to analyze and design software, using tools where needed</a:t>
            </a:r>
            <a:endParaRPr/>
          </a:p>
          <a:p>
            <a:pPr marL="908050" lvl="1" indent="-3222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08050" lvl="1" indent="-3222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355600" algn="l" rtl="0"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2AADD-573A-1613-CBB4-C89526CFA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2088E1-6EA6-D734-3863-E80A5EEB52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914A0A-21A0-D646-5150-9EF936134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553163"/>
              </p:ext>
            </p:extLst>
          </p:nvPr>
        </p:nvGraphicFramePr>
        <p:xfrm>
          <a:off x="574675" y="1969476"/>
          <a:ext cx="7725264" cy="4156011"/>
        </p:xfrm>
        <a:graphic>
          <a:graphicData uri="http://schemas.openxmlformats.org/drawingml/2006/table">
            <a:tbl>
              <a:tblPr>
                <a:tableStyleId>{AA00421F-1631-46A5-98B8-5FA76927FEF4}</a:tableStyleId>
              </a:tblPr>
              <a:tblGrid>
                <a:gridCol w="761756">
                  <a:extLst>
                    <a:ext uri="{9D8B030D-6E8A-4147-A177-3AD203B41FA5}">
                      <a16:colId xmlns:a16="http://schemas.microsoft.com/office/drawing/2014/main" val="3377717609"/>
                    </a:ext>
                  </a:extLst>
                </a:gridCol>
                <a:gridCol w="5542671">
                  <a:extLst>
                    <a:ext uri="{9D8B030D-6E8A-4147-A177-3AD203B41FA5}">
                      <a16:colId xmlns:a16="http://schemas.microsoft.com/office/drawing/2014/main" val="4039102980"/>
                    </a:ext>
                  </a:extLst>
                </a:gridCol>
                <a:gridCol w="759655">
                  <a:extLst>
                    <a:ext uri="{9D8B030D-6E8A-4147-A177-3AD203B41FA5}">
                      <a16:colId xmlns:a16="http://schemas.microsoft.com/office/drawing/2014/main" val="3316442015"/>
                    </a:ext>
                  </a:extLst>
                </a:gridCol>
                <a:gridCol w="661182">
                  <a:extLst>
                    <a:ext uri="{9D8B030D-6E8A-4147-A177-3AD203B41FA5}">
                      <a16:colId xmlns:a16="http://schemas.microsoft.com/office/drawing/2014/main" val="2847123953"/>
                    </a:ext>
                  </a:extLst>
                </a:gridCol>
              </a:tblGrid>
              <a:tr h="7934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S. No.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CLO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BT Level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PLO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8863972"/>
                  </a:ext>
                </a:extLst>
              </a:tr>
              <a:tr h="7934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CLO1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Explain the analysis &amp; design concepts &amp; activities in the software engineering process and differentiate between them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PLO2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70483048"/>
                  </a:ext>
                </a:extLst>
              </a:tr>
              <a:tr h="12032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CLO2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Analyze a system and develop analysis models in a standard notation for a software system using structured and object oriented methodologies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PLO3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2026922"/>
                  </a:ext>
                </a:extLst>
              </a:tr>
              <a:tr h="7934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CLO3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Develop design models using a standard notation for a software system 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PLO4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5300830"/>
                  </a:ext>
                </a:extLst>
              </a:tr>
              <a:tr h="3835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CLO4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Analyze a design/compare designs for good design principles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>
                          <a:effectLst/>
                        </a:rPr>
                        <a:t>PLO4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9535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7819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/>
          </a:p>
        </p:txBody>
      </p:sp>
      <p:sp>
        <p:nvSpPr>
          <p:cNvPr id="199" name="Google Shape;199;p10"/>
          <p:cNvSpPr txBox="1"/>
          <p:nvPr/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/>
          </a:p>
        </p:txBody>
      </p:sp>
      <p:sp>
        <p:nvSpPr>
          <p:cNvPr id="200" name="Google Shape;200;p1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outline </a:t>
            </a:r>
            <a:r>
              <a:rPr lang="en-US" sz="1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(contd…)</a:t>
            </a:r>
            <a:endParaRPr/>
          </a:p>
        </p:txBody>
      </p:sp>
      <p:graphicFrame>
        <p:nvGraphicFramePr>
          <p:cNvPr id="201" name="Google Shape;201;p10"/>
          <p:cNvGraphicFramePr/>
          <p:nvPr/>
        </p:nvGraphicFramePr>
        <p:xfrm>
          <a:off x="457200" y="1752600"/>
          <a:ext cx="8077200" cy="4445620"/>
        </p:xfrm>
        <a:graphic>
          <a:graphicData uri="http://schemas.openxmlformats.org/drawingml/2006/table">
            <a:tbl>
              <a:tblPr>
                <a:noFill/>
                <a:tableStyleId>{AA00421F-1631-46A5-98B8-5FA76927FEF4}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9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Sessions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Lecture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Readings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0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1,2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 need for software, importance of software, systems and computer-based systems, software development process </a:t>
                      </a: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major activities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3,4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Software process models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5,6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Requirement inception and elicitation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7-9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Structured analysis and modeling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6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10-12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Object-oriented analysis and modeling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13-15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Requirements description and validation  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16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Mid term 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/>
          </a:p>
        </p:txBody>
      </p:sp>
      <p:sp>
        <p:nvSpPr>
          <p:cNvPr id="207" name="Google Shape;207;p11"/>
          <p:cNvSpPr txBox="1"/>
          <p:nvPr/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/>
          </a:p>
        </p:txBody>
      </p:sp>
      <p:sp>
        <p:nvSpPr>
          <p:cNvPr id="208" name="Google Shape;208;p1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outline </a:t>
            </a:r>
            <a:r>
              <a:rPr lang="en-US" sz="1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(contd…)</a:t>
            </a:r>
            <a:endParaRPr/>
          </a:p>
        </p:txBody>
      </p:sp>
      <p:graphicFrame>
        <p:nvGraphicFramePr>
          <p:cNvPr id="209" name="Google Shape;209;p11"/>
          <p:cNvGraphicFramePr/>
          <p:nvPr/>
        </p:nvGraphicFramePr>
        <p:xfrm>
          <a:off x="566737" y="1752600"/>
          <a:ext cx="8001000" cy="3997920"/>
        </p:xfrm>
        <a:graphic>
          <a:graphicData uri="http://schemas.openxmlformats.org/drawingml/2006/table">
            <a:tbl>
              <a:tblPr>
                <a:noFill/>
                <a:tableStyleId>{AA00421F-1631-46A5-98B8-5FA76927FEF4}</a:tableStyleId>
              </a:tblPr>
              <a:tblGrid>
                <a:gridCol w="80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9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17</a:t>
                      </a:r>
                      <a:endParaRPr/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Test plans and acceptance test cases</a:t>
                      </a:r>
                      <a:endParaRPr/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18,19</a:t>
                      </a:r>
                      <a:endParaRPr/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Design concepts and principles </a:t>
                      </a:r>
                      <a:endParaRPr/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20-22</a:t>
                      </a:r>
                      <a:endParaRPr/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Architectural/user interface /data design</a:t>
                      </a:r>
                      <a:endParaRPr/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23,24</a:t>
                      </a:r>
                      <a:endParaRPr/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Structured design</a:t>
                      </a:r>
                      <a:endParaRPr/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25-29</a:t>
                      </a:r>
                      <a:endParaRPr/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Object-oriented design</a:t>
                      </a:r>
                      <a:endParaRPr/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30</a:t>
                      </a:r>
                      <a:endParaRPr/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Design verification and validation</a:t>
                      </a:r>
                      <a:endParaRPr/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31,32</a:t>
                      </a:r>
                      <a:endParaRPr/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Overview of coding, maintenance, measurement and evaluation</a:t>
                      </a:r>
                      <a:endParaRPr/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/>
          </a:p>
        </p:txBody>
      </p:sp>
      <p:sp>
        <p:nvSpPr>
          <p:cNvPr id="215" name="Google Shape;215;p12"/>
          <p:cNvSpPr txBox="1"/>
          <p:nvPr/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/>
          </a:p>
        </p:txBody>
      </p:sp>
      <p:sp>
        <p:nvSpPr>
          <p:cNvPr id="216" name="Google Shape;216;p1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outline </a:t>
            </a:r>
            <a:r>
              <a:rPr lang="en-US" sz="1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(contd…)</a:t>
            </a:r>
            <a:endParaRPr/>
          </a:p>
        </p:txBody>
      </p:sp>
      <p:sp>
        <p:nvSpPr>
          <p:cNvPr id="217" name="Google Shape;217;p12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469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Criteria: </a:t>
            </a: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08050" lvl="1" indent="-436562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 Final exam 50%</a:t>
            </a:r>
            <a:endParaRPr/>
          </a:p>
          <a:p>
            <a:pPr marL="908050" lvl="1" indent="-436562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 Sessionals 25%</a:t>
            </a:r>
            <a:endParaRPr/>
          </a:p>
          <a:p>
            <a:pPr marL="908050" lvl="1" indent="-436562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 Assignments+Quizzes 25%</a:t>
            </a:r>
            <a:endParaRPr sz="18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469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Recommended Readings: </a:t>
            </a: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08050" lvl="1" indent="-43656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Roger S. Pressman, Software Engineering - A Practitioner's Approach, McGraw Hill, 8</a:t>
            </a:r>
            <a:r>
              <a:rPr lang="en-US" sz="16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Edition, 2015</a:t>
            </a:r>
            <a:endParaRPr/>
          </a:p>
          <a:p>
            <a:pPr marL="908050" lvl="1" indent="-43656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Craig Larman, Applying UML and Patterns, Pearson Education, Third edition, 2005 </a:t>
            </a:r>
            <a:endParaRPr/>
          </a:p>
          <a:p>
            <a:pPr marL="908050" lvl="1" indent="-43656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Ian Sommerville, Software Engineering, Addison Wesley, Tenth Edition, 2016</a:t>
            </a:r>
            <a:endParaRPr/>
          </a:p>
          <a:p>
            <a:pPr marL="908050" lvl="1" indent="-43656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Pratap Mohapatra, Software Engineering A Lifecycle Approach, New Age Publications, 2010</a:t>
            </a:r>
            <a:endParaRPr/>
          </a:p>
          <a:p>
            <a:pPr marL="908050" lvl="1" indent="-43656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Hans Vliet, Software Engineering - Principles and Practice, Wiley, 3</a:t>
            </a:r>
            <a:r>
              <a:rPr lang="en-US" sz="16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</a:t>
            </a: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Edition, 2008</a:t>
            </a:r>
            <a:endParaRPr/>
          </a:p>
          <a:p>
            <a:pPr marL="908050" lvl="1" indent="-43656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Shari Pfleeger &amp; Joanne Atlee, Software Engineering – Theory and Practice, 4</a:t>
            </a:r>
            <a:r>
              <a:rPr lang="en-US" sz="16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1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edition, 2010</a:t>
            </a:r>
            <a:endParaRPr/>
          </a:p>
          <a:p>
            <a:pPr marL="469900" lvl="0" indent="-368300" algn="l" rtl="0">
              <a:spcBef>
                <a:spcPts val="320"/>
              </a:spcBef>
              <a:spcAft>
                <a:spcPts val="0"/>
              </a:spcAft>
              <a:buSzPts val="1600"/>
              <a:buNone/>
            </a:pPr>
            <a:endParaRPr sz="1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/>
          </a:p>
        </p:txBody>
      </p:sp>
      <p:sp>
        <p:nvSpPr>
          <p:cNvPr id="223" name="Google Shape;223;p13"/>
          <p:cNvSpPr txBox="1"/>
          <p:nvPr/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/>
          </a:p>
        </p:txBody>
      </p:sp>
      <p:sp>
        <p:nvSpPr>
          <p:cNvPr id="224" name="Google Shape;224;p13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outline </a:t>
            </a:r>
            <a:r>
              <a:rPr lang="en-US" sz="1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(contd…)</a:t>
            </a:r>
            <a:endParaRPr/>
          </a:p>
        </p:txBody>
      </p:sp>
      <p:sp>
        <p:nvSpPr>
          <p:cNvPr id="225" name="Google Shape;225;p13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7967662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469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Policies</a:t>
            </a:r>
            <a:endParaRPr/>
          </a:p>
          <a:p>
            <a:pPr marL="908050" lvl="1" indent="-436562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 assignments may be accepted with marks reduction. There will be a 10% reduction for assignments submitted up to 24 hours late. </a:t>
            </a:r>
            <a:endParaRPr/>
          </a:p>
          <a:p>
            <a:pPr marL="908050" lvl="1" indent="-436562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who have copied assignments or whose assignments have been copied will both be given a zero</a:t>
            </a:r>
            <a:endParaRPr/>
          </a:p>
          <a:p>
            <a:pPr marL="908050" lvl="1" indent="-436562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Plagiarism is not acceptable. Anyone found to be guilty of plagiarism in an assignment will be given a zero in that assignment</a:t>
            </a:r>
            <a:endParaRPr/>
          </a:p>
          <a:p>
            <a:pPr marL="908050" lvl="1" indent="-436562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Quizzes will be unannounced</a:t>
            </a:r>
            <a:endParaRPr/>
          </a:p>
          <a:p>
            <a:pPr marL="908050" lvl="1" indent="-436562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Failure to show up for discussion, or being late will result in deduction of marks</a:t>
            </a:r>
            <a:endParaRPr/>
          </a:p>
          <a:p>
            <a:pPr marL="908050" lvl="1" indent="-436562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469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</a:t>
            </a:r>
            <a:endParaRPr/>
          </a:p>
          <a:p>
            <a:pPr marL="469900" lvl="0" indent="-412750" algn="l" rtl="0">
              <a:lnSpc>
                <a:spcPct val="90000"/>
              </a:lnSpc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None/>
            </a:pPr>
            <a:endParaRPr sz="9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469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 Hours</a:t>
            </a:r>
            <a:endParaRPr/>
          </a:p>
          <a:p>
            <a:pPr marL="908050" lvl="1" indent="-436562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TBA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A303F87D8ED140B5873606C38360BE" ma:contentTypeVersion="0" ma:contentTypeDescription="Create a new document." ma:contentTypeScope="" ma:versionID="4f02449c2720e8a7710801c0ac38999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B1D41D4-39DC-4603-A1A1-4330568CF09B}"/>
</file>

<file path=customXml/itemProps2.xml><?xml version="1.0" encoding="utf-8"?>
<ds:datastoreItem xmlns:ds="http://schemas.openxmlformats.org/officeDocument/2006/customXml" ds:itemID="{2FF6AF84-EE32-4AB8-9CB7-08F4D24CD308}"/>
</file>

<file path=customXml/itemProps3.xml><?xml version="1.0" encoding="utf-8"?>
<ds:datastoreItem xmlns:ds="http://schemas.openxmlformats.org/officeDocument/2006/customXml" ds:itemID="{EAA9E031-BBB1-4C8F-AB57-B16477C8E292}"/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1137</Words>
  <Application>Microsoft Office PowerPoint</Application>
  <PresentationFormat>On-screen Show (4:3)</PresentationFormat>
  <Paragraphs>218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Calibri</vt:lpstr>
      <vt:lpstr>Noto Sans Symbols</vt:lpstr>
      <vt:lpstr>Times New Roman</vt:lpstr>
      <vt:lpstr>Verdana</vt:lpstr>
      <vt:lpstr>1_Profile</vt:lpstr>
      <vt:lpstr>Profile</vt:lpstr>
      <vt:lpstr>2_Profile</vt:lpstr>
      <vt:lpstr>3_Profile</vt:lpstr>
      <vt:lpstr>4_Profile</vt:lpstr>
      <vt:lpstr>Analysis &amp; Design for Software Systems</vt:lpstr>
      <vt:lpstr>Learning objectives</vt:lpstr>
      <vt:lpstr>Software</vt:lpstr>
      <vt:lpstr>Software - Importance</vt:lpstr>
      <vt:lpstr>Software Characteristics</vt:lpstr>
      <vt:lpstr>Wear vs. Deterioration</vt:lpstr>
      <vt:lpstr>Software Applications</vt:lpstr>
      <vt:lpstr>Software Crisis</vt:lpstr>
      <vt:lpstr>Course outline</vt:lpstr>
      <vt:lpstr>PowerPoint Presentation</vt:lpstr>
      <vt:lpstr>Course outline (contd…)</vt:lpstr>
      <vt:lpstr>Course outline (contd…)</vt:lpstr>
      <vt:lpstr>Course outline (contd…)</vt:lpstr>
      <vt:lpstr>Course outline (contd…)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&amp; Design for Software Systems</dc:title>
  <dc:creator/>
  <cp:lastModifiedBy>Onaiza Maqbool</cp:lastModifiedBy>
  <cp:revision>4</cp:revision>
  <dcterms:created xsi:type="dcterms:W3CDTF">1601-01-01T00:00:00Z</dcterms:created>
  <dcterms:modified xsi:type="dcterms:W3CDTF">2025-02-20T05:00:51Z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ContentTypeId">
    <vt:lpwstr>0x010100E2A303F87D8ED140B5873606C38360BE</vt:lpwstr>
  </property>
</Properties>
</file>