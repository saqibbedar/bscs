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  <p:sldMasterId id="2147483650" r:id="rId2"/>
    <p:sldMasterId id="2147483659" r:id="rId3"/>
    <p:sldMasterId id="2147483661" r:id="rId4"/>
    <p:sldMasterId id="2147483663" r:id="rId5"/>
  </p:sldMasterIdLst>
  <p:notesMasterIdLst>
    <p:notesMasterId r:id="rId21"/>
  </p:notesMasterIdLst>
  <p:sldIdLst>
    <p:sldId id="256" r:id="rId6"/>
    <p:sldId id="257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58" r:id="rId16"/>
    <p:sldId id="259" r:id="rId17"/>
    <p:sldId id="260" r:id="rId18"/>
    <p:sldId id="261" r:id="rId19"/>
    <p:sldId id="270" r:id="rId20"/>
  </p:sldIdLst>
  <p:sldSz cx="9144000" cy="6858000" type="screen4x3"/>
  <p:notesSz cx="7010400" cy="92964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4" roundtripDataSignature="AMtx7miAqNRU69DP5K6/9nKDte4LGyF/9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1536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customXml" Target="../customXml/item1.xml"/><Relationship Id="rId3" Type="http://schemas.openxmlformats.org/officeDocument/2006/relationships/slideMaster" Target="slideMasters/slideMaster3.xml"/><Relationship Id="rId21" Type="http://schemas.openxmlformats.org/officeDocument/2006/relationships/notesMaster" Target="notesMasters/notesMaster1.xml"/><Relationship Id="rId34" Type="http://customschemas.google.com/relationships/presentationmetadata" Target="metadata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41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37" Type="http://schemas.openxmlformats.org/officeDocument/2006/relationships/theme" Target="theme/theme1.xml"/><Relationship Id="rId40" Type="http://schemas.openxmlformats.org/officeDocument/2006/relationships/customXml" Target="../customXml/item2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36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38475" cy="463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970337" y="0"/>
            <a:ext cx="3038475" cy="463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81100" y="698500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01675" y="4416425"/>
            <a:ext cx="5607050" cy="418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831262"/>
            <a:ext cx="3038475" cy="463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970337" y="8831262"/>
            <a:ext cx="3038475" cy="463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:notes"/>
          <p:cNvSpPr txBox="1"/>
          <p:nvPr/>
        </p:nvSpPr>
        <p:spPr>
          <a:xfrm>
            <a:off x="3970337" y="8831262"/>
            <a:ext cx="3038475" cy="463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Verdana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8500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1" name="Google Shape;121;p1:notes"/>
          <p:cNvSpPr txBox="1">
            <a:spLocks noGrp="1"/>
          </p:cNvSpPr>
          <p:nvPr>
            <p:ph type="body" idx="1"/>
          </p:nvPr>
        </p:nvSpPr>
        <p:spPr>
          <a:xfrm>
            <a:off x="701675" y="4416425"/>
            <a:ext cx="5607050" cy="418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:notes"/>
          <p:cNvSpPr txBox="1">
            <a:spLocks noGrp="1"/>
          </p:cNvSpPr>
          <p:nvPr>
            <p:ph type="body" idx="1"/>
          </p:nvPr>
        </p:nvSpPr>
        <p:spPr>
          <a:xfrm>
            <a:off x="701675" y="4416425"/>
            <a:ext cx="5607050" cy="418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7" name="Google Shape;12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8500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2:notes"/>
          <p:cNvSpPr txBox="1">
            <a:spLocks noGrp="1"/>
          </p:cNvSpPr>
          <p:nvPr>
            <p:ph type="body" idx="1"/>
          </p:nvPr>
        </p:nvSpPr>
        <p:spPr>
          <a:xfrm>
            <a:off x="701675" y="4416425"/>
            <a:ext cx="5607050" cy="4181475"/>
          </a:xfrm>
          <a:prstGeom prst="rect">
            <a:avLst/>
          </a:prstGeom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8500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3:notes"/>
          <p:cNvSpPr txBox="1">
            <a:spLocks noGrp="1"/>
          </p:cNvSpPr>
          <p:nvPr>
            <p:ph type="body" idx="1"/>
          </p:nvPr>
        </p:nvSpPr>
        <p:spPr>
          <a:xfrm>
            <a:off x="701675" y="4416425"/>
            <a:ext cx="5607050" cy="4181475"/>
          </a:xfrm>
          <a:prstGeom prst="rect">
            <a:avLst/>
          </a:prstGeom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8500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4:notes"/>
          <p:cNvSpPr txBox="1">
            <a:spLocks noGrp="1"/>
          </p:cNvSpPr>
          <p:nvPr>
            <p:ph type="body" idx="1"/>
          </p:nvPr>
        </p:nvSpPr>
        <p:spPr>
          <a:xfrm>
            <a:off x="701675" y="4416425"/>
            <a:ext cx="5607050" cy="4181475"/>
          </a:xfrm>
          <a:prstGeom prst="rect">
            <a:avLst/>
          </a:prstGeom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8500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5:notes"/>
          <p:cNvSpPr txBox="1">
            <a:spLocks noGrp="1"/>
          </p:cNvSpPr>
          <p:nvPr>
            <p:ph type="body" idx="1"/>
          </p:nvPr>
        </p:nvSpPr>
        <p:spPr>
          <a:xfrm>
            <a:off x="701675" y="4416425"/>
            <a:ext cx="5607050" cy="4181475"/>
          </a:xfrm>
          <a:prstGeom prst="rect">
            <a:avLst/>
          </a:prstGeom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8500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6:notes"/>
          <p:cNvSpPr txBox="1">
            <a:spLocks noGrp="1"/>
          </p:cNvSpPr>
          <p:nvPr>
            <p:ph type="body" idx="1"/>
          </p:nvPr>
        </p:nvSpPr>
        <p:spPr>
          <a:xfrm>
            <a:off x="701675" y="4416425"/>
            <a:ext cx="5607050" cy="4181475"/>
          </a:xfrm>
          <a:prstGeom prst="rect">
            <a:avLst/>
          </a:prstGeom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8500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7:notes"/>
          <p:cNvSpPr txBox="1">
            <a:spLocks noGrp="1"/>
          </p:cNvSpPr>
          <p:nvPr>
            <p:ph type="body" idx="1"/>
          </p:nvPr>
        </p:nvSpPr>
        <p:spPr>
          <a:xfrm>
            <a:off x="701675" y="4416425"/>
            <a:ext cx="5607050" cy="4181475"/>
          </a:xfrm>
          <a:prstGeom prst="rect">
            <a:avLst/>
          </a:prstGeom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8500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8:notes"/>
          <p:cNvSpPr txBox="1">
            <a:spLocks noGrp="1"/>
          </p:cNvSpPr>
          <p:nvPr>
            <p:ph type="body" idx="1"/>
          </p:nvPr>
        </p:nvSpPr>
        <p:spPr>
          <a:xfrm>
            <a:off x="701675" y="4416425"/>
            <a:ext cx="5607050" cy="4181475"/>
          </a:xfrm>
          <a:prstGeom prst="rect">
            <a:avLst/>
          </a:prstGeom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8500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9:notes"/>
          <p:cNvSpPr txBox="1">
            <a:spLocks noGrp="1"/>
          </p:cNvSpPr>
          <p:nvPr>
            <p:ph type="body" idx="1"/>
          </p:nvPr>
        </p:nvSpPr>
        <p:spPr>
          <a:xfrm>
            <a:off x="701675" y="4416425"/>
            <a:ext cx="5607050" cy="4181475"/>
          </a:xfrm>
          <a:prstGeom prst="rect">
            <a:avLst/>
          </a:prstGeom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8500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:notes"/>
          <p:cNvSpPr txBox="1">
            <a:spLocks noGrp="1"/>
          </p:cNvSpPr>
          <p:nvPr>
            <p:ph type="body" idx="1"/>
          </p:nvPr>
        </p:nvSpPr>
        <p:spPr>
          <a:xfrm>
            <a:off x="701675" y="4416425"/>
            <a:ext cx="5607050" cy="418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0" name="Google Shape;6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8500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:notes"/>
          <p:cNvSpPr txBox="1">
            <a:spLocks noGrp="1"/>
          </p:cNvSpPr>
          <p:nvPr>
            <p:ph type="body" idx="1"/>
          </p:nvPr>
        </p:nvSpPr>
        <p:spPr>
          <a:xfrm>
            <a:off x="701675" y="4416425"/>
            <a:ext cx="5607050" cy="418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8" name="Google Shape;6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8500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:notes"/>
          <p:cNvSpPr txBox="1">
            <a:spLocks noGrp="1"/>
          </p:cNvSpPr>
          <p:nvPr>
            <p:ph type="body" idx="1"/>
          </p:nvPr>
        </p:nvSpPr>
        <p:spPr>
          <a:xfrm>
            <a:off x="701675" y="4416425"/>
            <a:ext cx="5607050" cy="418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4" name="Google Shape;8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8500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3:notes"/>
          <p:cNvSpPr txBox="1">
            <a:spLocks noGrp="1"/>
          </p:cNvSpPr>
          <p:nvPr>
            <p:ph type="body" idx="1"/>
          </p:nvPr>
        </p:nvSpPr>
        <p:spPr>
          <a:xfrm>
            <a:off x="701675" y="4416425"/>
            <a:ext cx="5607050" cy="418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2" name="Google Shape;9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8500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:notes"/>
          <p:cNvSpPr txBox="1">
            <a:spLocks noGrp="1"/>
          </p:cNvSpPr>
          <p:nvPr>
            <p:ph type="body" idx="1"/>
          </p:nvPr>
        </p:nvSpPr>
        <p:spPr>
          <a:xfrm>
            <a:off x="701675" y="4416425"/>
            <a:ext cx="5607050" cy="418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0" name="Google Shape;10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8500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5"/>
          <p:cNvSpPr txBox="1">
            <a:spLocks noGrp="1"/>
          </p:cNvSpPr>
          <p:nvPr>
            <p:ph type="ctrTitle"/>
          </p:nvPr>
        </p:nvSpPr>
        <p:spPr>
          <a:xfrm>
            <a:off x="685800" y="990600"/>
            <a:ext cx="7772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5"/>
          <p:cNvSpPr txBox="1">
            <a:spLocks noGrp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SzPts val="1900"/>
              <a:buFont typeface="Noto Sans Symbols"/>
              <a:buNone/>
              <a:defRPr sz="1900"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lvl="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lvl="5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6pPr>
            <a:lvl7pPr lvl="6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7pPr>
            <a:lvl8pPr lvl="7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8pPr>
            <a:lvl9pPr lvl="8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5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7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7"/>
          <p:cNvSpPr txBox="1">
            <a:spLocks noGrp="1"/>
          </p:cNvSpPr>
          <p:nvPr>
            <p:ph type="body" idx="1"/>
          </p:nvPr>
        </p:nvSpPr>
        <p:spPr>
          <a:xfrm>
            <a:off x="566737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33" name="Google Shape;33;p17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7"/>
          <p:cNvSpPr txBox="1">
            <a:spLocks noGrp="1"/>
          </p:cNvSpPr>
          <p:nvPr>
            <p:ph type="ftr" idx="11"/>
          </p:nvPr>
        </p:nvSpPr>
        <p:spPr>
          <a:xfrm>
            <a:off x="2209800" y="6245225"/>
            <a:ext cx="3810000" cy="38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7"/>
          <p:cNvSpPr txBox="1">
            <a:spLocks noGrp="1"/>
          </p:cNvSpPr>
          <p:nvPr>
            <p:ph type="sldNum" idx="12"/>
          </p:nvPr>
        </p:nvSpPr>
        <p:spPr>
          <a:xfrm>
            <a:off x="6324600" y="6245225"/>
            <a:ext cx="2209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Lecture1</a:t>
            </a:r>
            <a:endParaRPr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0"/>
          <p:cNvSpPr txBox="1">
            <a:spLocks noGrp="1"/>
          </p:cNvSpPr>
          <p:nvPr>
            <p:ph type="title"/>
          </p:nvPr>
        </p:nvSpPr>
        <p:spPr>
          <a:xfrm rot="5400000">
            <a:off x="4717257" y="2161382"/>
            <a:ext cx="5715000" cy="2001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0"/>
          <p:cNvSpPr txBox="1">
            <a:spLocks noGrp="1"/>
          </p:cNvSpPr>
          <p:nvPr>
            <p:ph type="body" idx="1"/>
          </p:nvPr>
        </p:nvSpPr>
        <p:spPr>
          <a:xfrm rot="5400000">
            <a:off x="636588" y="234950"/>
            <a:ext cx="5715000" cy="58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46" name="Google Shape;46;p20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0"/>
          <p:cNvSpPr txBox="1">
            <a:spLocks noGrp="1"/>
          </p:cNvSpPr>
          <p:nvPr>
            <p:ph type="ftr" idx="11"/>
          </p:nvPr>
        </p:nvSpPr>
        <p:spPr>
          <a:xfrm>
            <a:off x="2209800" y="6245225"/>
            <a:ext cx="3810000" cy="38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0"/>
          <p:cNvSpPr txBox="1">
            <a:spLocks noGrp="1"/>
          </p:cNvSpPr>
          <p:nvPr>
            <p:ph type="sldNum" idx="12"/>
          </p:nvPr>
        </p:nvSpPr>
        <p:spPr>
          <a:xfrm>
            <a:off x="6324600" y="6245225"/>
            <a:ext cx="2209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Lecture1</a:t>
            </a:r>
            <a:endParaRPr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1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1"/>
          <p:cNvSpPr txBox="1">
            <a:spLocks noGrp="1"/>
          </p:cNvSpPr>
          <p:nvPr>
            <p:ph type="body" idx="1"/>
          </p:nvPr>
        </p:nvSpPr>
        <p:spPr>
          <a:xfrm rot="5400000">
            <a:off x="2433637" y="-114300"/>
            <a:ext cx="4267200" cy="80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52" name="Google Shape;52;p21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1"/>
          <p:cNvSpPr txBox="1">
            <a:spLocks noGrp="1"/>
          </p:cNvSpPr>
          <p:nvPr>
            <p:ph type="ftr" idx="11"/>
          </p:nvPr>
        </p:nvSpPr>
        <p:spPr>
          <a:xfrm>
            <a:off x="2209800" y="6245225"/>
            <a:ext cx="3810000" cy="38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1"/>
          <p:cNvSpPr txBox="1">
            <a:spLocks noGrp="1"/>
          </p:cNvSpPr>
          <p:nvPr>
            <p:ph type="sldNum" idx="12"/>
          </p:nvPr>
        </p:nvSpPr>
        <p:spPr>
          <a:xfrm>
            <a:off x="6324600" y="6245225"/>
            <a:ext cx="2209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Lecture1</a:t>
            </a:r>
            <a:endParaRPr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2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2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□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■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□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■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Char char="▪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Char char="▪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Char char="▪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Char char="▪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Char char="▪"/>
              <a:defRPr sz="2000"/>
            </a:lvl9pPr>
          </a:lstStyle>
          <a:p>
            <a:endParaRPr/>
          </a:p>
        </p:txBody>
      </p:sp>
      <p:sp>
        <p:nvSpPr>
          <p:cNvPr id="58" name="Google Shape;58;p22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9" name="Google Shape;59;p22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2"/>
          <p:cNvSpPr txBox="1">
            <a:spLocks noGrp="1"/>
          </p:cNvSpPr>
          <p:nvPr>
            <p:ph type="ftr" idx="11"/>
          </p:nvPr>
        </p:nvSpPr>
        <p:spPr>
          <a:xfrm>
            <a:off x="2209800" y="6245225"/>
            <a:ext cx="3810000" cy="38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2"/>
          <p:cNvSpPr txBox="1">
            <a:spLocks noGrp="1"/>
          </p:cNvSpPr>
          <p:nvPr>
            <p:ph type="sldNum" idx="12"/>
          </p:nvPr>
        </p:nvSpPr>
        <p:spPr>
          <a:xfrm>
            <a:off x="6324600" y="6245225"/>
            <a:ext cx="2209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Lecture1</a:t>
            </a:r>
            <a:endParaRPr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3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3"/>
          <p:cNvSpPr txBox="1">
            <a:spLocks noGrp="1"/>
          </p:cNvSpPr>
          <p:nvPr>
            <p:ph type="ftr" idx="11"/>
          </p:nvPr>
        </p:nvSpPr>
        <p:spPr>
          <a:xfrm>
            <a:off x="2209800" y="6245225"/>
            <a:ext cx="3810000" cy="38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3"/>
          <p:cNvSpPr txBox="1">
            <a:spLocks noGrp="1"/>
          </p:cNvSpPr>
          <p:nvPr>
            <p:ph type="sldNum" idx="12"/>
          </p:nvPr>
        </p:nvSpPr>
        <p:spPr>
          <a:xfrm>
            <a:off x="6324600" y="6245225"/>
            <a:ext cx="2209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Lecture1</a:t>
            </a:r>
            <a:endParaRPr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4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4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39243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□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■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□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9pPr>
          </a:lstStyle>
          <a:p>
            <a:endParaRPr/>
          </a:p>
        </p:txBody>
      </p:sp>
      <p:sp>
        <p:nvSpPr>
          <p:cNvPr id="69" name="Google Shape;69;p24"/>
          <p:cNvSpPr txBox="1">
            <a:spLocks noGrp="1"/>
          </p:cNvSpPr>
          <p:nvPr>
            <p:ph type="body" idx="2"/>
          </p:nvPr>
        </p:nvSpPr>
        <p:spPr>
          <a:xfrm>
            <a:off x="4643438" y="1752600"/>
            <a:ext cx="39243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□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■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□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9pPr>
          </a:lstStyle>
          <a:p>
            <a:endParaRPr/>
          </a:p>
        </p:txBody>
      </p:sp>
      <p:sp>
        <p:nvSpPr>
          <p:cNvPr id="70" name="Google Shape;70;p24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4"/>
          <p:cNvSpPr txBox="1">
            <a:spLocks noGrp="1"/>
          </p:cNvSpPr>
          <p:nvPr>
            <p:ph type="ftr" idx="11"/>
          </p:nvPr>
        </p:nvSpPr>
        <p:spPr>
          <a:xfrm>
            <a:off x="2209800" y="6245225"/>
            <a:ext cx="3810000" cy="38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4"/>
          <p:cNvSpPr txBox="1">
            <a:spLocks noGrp="1"/>
          </p:cNvSpPr>
          <p:nvPr>
            <p:ph type="sldNum" idx="12"/>
          </p:nvPr>
        </p:nvSpPr>
        <p:spPr>
          <a:xfrm>
            <a:off x="6324600" y="6245225"/>
            <a:ext cx="2209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Lecture1</a:t>
            </a:r>
            <a:endParaRPr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4pPr>
            <a:lvl5pPr marL="2286000" lvl="4" indent="-22860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SzPts val="1400"/>
              <a:buNone/>
              <a:defRPr sz="1400"/>
            </a:lvl5pPr>
            <a:lvl6pPr marL="2743200" lvl="5" indent="-22860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SzPts val="1400"/>
              <a:buNone/>
              <a:defRPr sz="1400"/>
            </a:lvl6pPr>
            <a:lvl7pPr marL="3200400" lvl="6" indent="-22860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SzPts val="1400"/>
              <a:buNone/>
              <a:defRPr sz="1400"/>
            </a:lvl7pPr>
            <a:lvl8pPr marL="3657600" lvl="7" indent="-22860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SzPts val="1400"/>
              <a:buNone/>
              <a:defRPr sz="1400"/>
            </a:lvl8pPr>
            <a:lvl9pPr marL="4114800" lvl="8" indent="-22860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76" name="Google Shape;76;p25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5"/>
          <p:cNvSpPr txBox="1">
            <a:spLocks noGrp="1"/>
          </p:cNvSpPr>
          <p:nvPr>
            <p:ph type="ftr" idx="11"/>
          </p:nvPr>
        </p:nvSpPr>
        <p:spPr>
          <a:xfrm>
            <a:off x="2209800" y="6245225"/>
            <a:ext cx="3810000" cy="38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5"/>
          <p:cNvSpPr txBox="1">
            <a:spLocks noGrp="1"/>
          </p:cNvSpPr>
          <p:nvPr>
            <p:ph type="sldNum" idx="12"/>
          </p:nvPr>
        </p:nvSpPr>
        <p:spPr>
          <a:xfrm>
            <a:off x="6324600" y="6245225"/>
            <a:ext cx="2209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Lecture1</a:t>
            </a:r>
            <a:endParaRPr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9" name="Google Shape;89;p2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□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■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■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9pPr>
          </a:lstStyle>
          <a:p>
            <a:endParaRPr/>
          </a:p>
        </p:txBody>
      </p:sp>
      <p:sp>
        <p:nvSpPr>
          <p:cNvPr id="90" name="Google Shape;90;p2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1" name="Google Shape;91;p2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□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■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■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9pPr>
          </a:lstStyle>
          <a:p>
            <a:endParaRPr/>
          </a:p>
        </p:txBody>
      </p:sp>
      <p:sp>
        <p:nvSpPr>
          <p:cNvPr id="92" name="Google Shape;92;p27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27"/>
          <p:cNvSpPr txBox="1">
            <a:spLocks noGrp="1"/>
          </p:cNvSpPr>
          <p:nvPr>
            <p:ph type="ftr" idx="11"/>
          </p:nvPr>
        </p:nvSpPr>
        <p:spPr>
          <a:xfrm>
            <a:off x="2209800" y="6245225"/>
            <a:ext cx="3810000" cy="38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9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29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9"/>
          <p:cNvSpPr txBox="1">
            <a:spLocks noGrp="1"/>
          </p:cNvSpPr>
          <p:nvPr>
            <p:ph type="ftr" idx="11"/>
          </p:nvPr>
        </p:nvSpPr>
        <p:spPr>
          <a:xfrm>
            <a:off x="2209800" y="6245225"/>
            <a:ext cx="3810000" cy="38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1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31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15" name="Google Shape;115;p31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16" name="Google Shape;116;p31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31"/>
          <p:cNvSpPr txBox="1">
            <a:spLocks noGrp="1"/>
          </p:cNvSpPr>
          <p:nvPr>
            <p:ph type="ftr" idx="11"/>
          </p:nvPr>
        </p:nvSpPr>
        <p:spPr>
          <a:xfrm>
            <a:off x="2209800" y="6245225"/>
            <a:ext cx="3810000" cy="38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9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0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/>
          <p:nvPr/>
        </p:nvSpPr>
        <p:spPr>
          <a:xfrm>
            <a:off x="685800" y="2393950"/>
            <a:ext cx="7772400" cy="109537"/>
          </a:xfrm>
          <a:custGeom>
            <a:avLst/>
            <a:gdLst/>
            <a:ahLst/>
            <a:cxnLst/>
            <a:rect l="l" t="t" r="r" b="b"/>
            <a:pathLst>
              <a:path w="1000" h="1000" extrusionOk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 extrusionOk="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1" name="Google Shape;11;p14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2" name="Google Shape;12;p14"/>
          <p:cNvSpPr txBox="1">
            <a:spLocks noGrp="1"/>
          </p:cNvSpPr>
          <p:nvPr>
            <p:ph type="body" idx="1"/>
          </p:nvPr>
        </p:nvSpPr>
        <p:spPr>
          <a:xfrm>
            <a:off x="566737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□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■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36550" algn="l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Noto Sans Symbols"/>
              <a:buChar char="□"/>
              <a:defRPr sz="1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■"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3" name="Google Shape;13;p14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14" name="Google Shape;14;p14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15" name="Google Shape;15;p14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6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4" name="Google Shape;24;p16"/>
          <p:cNvSpPr txBox="1">
            <a:spLocks noGrp="1"/>
          </p:cNvSpPr>
          <p:nvPr>
            <p:ph type="body" idx="1"/>
          </p:nvPr>
        </p:nvSpPr>
        <p:spPr>
          <a:xfrm>
            <a:off x="566737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□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■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36550" algn="l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Noto Sans Symbols"/>
              <a:buChar char="□"/>
              <a:defRPr sz="1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■"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5" name="Google Shape;25;p16"/>
          <p:cNvSpPr/>
          <p:nvPr/>
        </p:nvSpPr>
        <p:spPr>
          <a:xfrm>
            <a:off x="609600" y="1566862"/>
            <a:ext cx="7958137" cy="109537"/>
          </a:xfrm>
          <a:custGeom>
            <a:avLst/>
            <a:gdLst/>
            <a:ahLst/>
            <a:cxnLst/>
            <a:rect l="l" t="t" r="r" b="b"/>
            <a:pathLst>
              <a:path w="1000" h="1000" extrusionOk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 extrusionOk="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26" name="Google Shape;26;p16"/>
          <p:cNvCxnSpPr/>
          <p:nvPr/>
        </p:nvCxnSpPr>
        <p:spPr>
          <a:xfrm>
            <a:off x="609600" y="6172200"/>
            <a:ext cx="79248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7" name="Google Shape;27;p16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28" name="Google Shape;28;p16"/>
          <p:cNvSpPr txBox="1">
            <a:spLocks noGrp="1"/>
          </p:cNvSpPr>
          <p:nvPr>
            <p:ph type="ftr" idx="11"/>
          </p:nvPr>
        </p:nvSpPr>
        <p:spPr>
          <a:xfrm>
            <a:off x="2209800" y="6245225"/>
            <a:ext cx="3810000" cy="38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29" name="Google Shape;29;p16"/>
          <p:cNvSpPr txBox="1">
            <a:spLocks noGrp="1"/>
          </p:cNvSpPr>
          <p:nvPr>
            <p:ph type="sldNum" idx="12"/>
          </p:nvPr>
        </p:nvSpPr>
        <p:spPr>
          <a:xfrm>
            <a:off x="6324600" y="6245225"/>
            <a:ext cx="2209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Lecture1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6"/>
          <p:cNvSpPr/>
          <p:nvPr/>
        </p:nvSpPr>
        <p:spPr>
          <a:xfrm>
            <a:off x="609600" y="1566862"/>
            <a:ext cx="7958137" cy="109537"/>
          </a:xfrm>
          <a:custGeom>
            <a:avLst/>
            <a:gdLst/>
            <a:ahLst/>
            <a:cxnLst/>
            <a:rect l="l" t="t" r="r" b="b"/>
            <a:pathLst>
              <a:path w="1000" h="1000" extrusionOk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 extrusionOk="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81" name="Google Shape;81;p26"/>
          <p:cNvCxnSpPr/>
          <p:nvPr/>
        </p:nvCxnSpPr>
        <p:spPr>
          <a:xfrm>
            <a:off x="609600" y="6172200"/>
            <a:ext cx="79248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2" name="Google Shape;82;p26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3" name="Google Shape;83;p26"/>
          <p:cNvSpPr txBox="1">
            <a:spLocks noGrp="1"/>
          </p:cNvSpPr>
          <p:nvPr>
            <p:ph type="body" idx="1"/>
          </p:nvPr>
        </p:nvSpPr>
        <p:spPr>
          <a:xfrm>
            <a:off x="566737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□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■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36550" algn="l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Noto Sans Symbols"/>
              <a:buChar char="□"/>
              <a:defRPr sz="1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■"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4" name="Google Shape;84;p26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85" name="Google Shape;85;p26"/>
          <p:cNvSpPr txBox="1">
            <a:spLocks noGrp="1"/>
          </p:cNvSpPr>
          <p:nvPr>
            <p:ph type="ftr" idx="11"/>
          </p:nvPr>
        </p:nvSpPr>
        <p:spPr>
          <a:xfrm>
            <a:off x="2209800" y="6245225"/>
            <a:ext cx="3810000" cy="38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8"/>
          <p:cNvSpPr/>
          <p:nvPr/>
        </p:nvSpPr>
        <p:spPr>
          <a:xfrm>
            <a:off x="609600" y="1566862"/>
            <a:ext cx="7958137" cy="109537"/>
          </a:xfrm>
          <a:custGeom>
            <a:avLst/>
            <a:gdLst/>
            <a:ahLst/>
            <a:cxnLst/>
            <a:rect l="l" t="t" r="r" b="b"/>
            <a:pathLst>
              <a:path w="1000" h="1000" extrusionOk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 extrusionOk="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96" name="Google Shape;96;p28"/>
          <p:cNvCxnSpPr/>
          <p:nvPr/>
        </p:nvCxnSpPr>
        <p:spPr>
          <a:xfrm>
            <a:off x="609600" y="6172200"/>
            <a:ext cx="79248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7" name="Google Shape;97;p28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98" name="Google Shape;98;p28"/>
          <p:cNvSpPr txBox="1">
            <a:spLocks noGrp="1"/>
          </p:cNvSpPr>
          <p:nvPr>
            <p:ph type="body" idx="1"/>
          </p:nvPr>
        </p:nvSpPr>
        <p:spPr>
          <a:xfrm>
            <a:off x="566737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□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■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36550" algn="l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Noto Sans Symbols"/>
              <a:buChar char="□"/>
              <a:defRPr sz="1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■"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99" name="Google Shape;99;p28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100" name="Google Shape;100;p28"/>
          <p:cNvSpPr txBox="1">
            <a:spLocks noGrp="1"/>
          </p:cNvSpPr>
          <p:nvPr>
            <p:ph type="ftr" idx="11"/>
          </p:nvPr>
        </p:nvSpPr>
        <p:spPr>
          <a:xfrm>
            <a:off x="2209800" y="6245225"/>
            <a:ext cx="3810000" cy="38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0"/>
          <p:cNvSpPr/>
          <p:nvPr/>
        </p:nvSpPr>
        <p:spPr>
          <a:xfrm>
            <a:off x="609600" y="1566862"/>
            <a:ext cx="7958137" cy="109537"/>
          </a:xfrm>
          <a:custGeom>
            <a:avLst/>
            <a:gdLst/>
            <a:ahLst/>
            <a:cxnLst/>
            <a:rect l="l" t="t" r="r" b="b"/>
            <a:pathLst>
              <a:path w="1000" h="1000" extrusionOk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 extrusionOk="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107" name="Google Shape;107;p30"/>
          <p:cNvCxnSpPr/>
          <p:nvPr/>
        </p:nvCxnSpPr>
        <p:spPr>
          <a:xfrm>
            <a:off x="609600" y="6172200"/>
            <a:ext cx="79248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8" name="Google Shape;108;p30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9" name="Google Shape;109;p30"/>
          <p:cNvSpPr txBox="1">
            <a:spLocks noGrp="1"/>
          </p:cNvSpPr>
          <p:nvPr>
            <p:ph type="body" idx="1"/>
          </p:nvPr>
        </p:nvSpPr>
        <p:spPr>
          <a:xfrm>
            <a:off x="566737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□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■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36550" algn="l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Noto Sans Symbols"/>
              <a:buChar char="□"/>
              <a:defRPr sz="1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■"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10" name="Google Shape;110;p30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111" name="Google Shape;111;p30"/>
          <p:cNvSpPr txBox="1">
            <a:spLocks noGrp="1"/>
          </p:cNvSpPr>
          <p:nvPr>
            <p:ph type="ftr" idx="11"/>
          </p:nvPr>
        </p:nvSpPr>
        <p:spPr>
          <a:xfrm>
            <a:off x="2209800" y="6245225"/>
            <a:ext cx="3810000" cy="38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4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"/>
          <p:cNvSpPr txBox="1">
            <a:spLocks noGrp="1"/>
          </p:cNvSpPr>
          <p:nvPr>
            <p:ph type="ctrTitle"/>
          </p:nvPr>
        </p:nvSpPr>
        <p:spPr>
          <a:xfrm>
            <a:off x="685800" y="990600"/>
            <a:ext cx="7772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Times New Roman"/>
              <a:buNone/>
            </a:pPr>
            <a:r>
              <a:rPr lang="en-US" sz="38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Analysis &amp; Design for Software Systems</a:t>
            </a:r>
            <a:endParaRPr/>
          </a:p>
        </p:txBody>
      </p:sp>
      <p:sp>
        <p:nvSpPr>
          <p:cNvPr id="124" name="Google Shape;124;p1"/>
          <p:cNvSpPr txBox="1">
            <a:spLocks noGrp="1"/>
          </p:cNvSpPr>
          <p:nvPr>
            <p:ph type="subTitle" idx="1"/>
          </p:nvPr>
        </p:nvSpPr>
        <p:spPr>
          <a:xfrm>
            <a:off x="1447800" y="3429000"/>
            <a:ext cx="7086600" cy="29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</a:pPr>
            <a:endParaRPr lang="en-US" sz="1500" b="0" i="0" u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</a:pPr>
            <a:endParaRPr lang="en-US" sz="1500" dirty="0"/>
          </a:p>
          <a:p>
            <a:pPr marL="0" lvl="0" indent="0" algn="ctr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</a:pPr>
            <a:endParaRPr lang="en-US" sz="1500" b="0" i="0" u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</a:pPr>
            <a:r>
              <a:rPr lang="en-US" sz="15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Readings: </a:t>
            </a:r>
            <a:endParaRPr dirty="0"/>
          </a:p>
          <a:p>
            <a:pPr marL="457200" lvl="0" indent="-355600" algn="ctr" rtl="0">
              <a:lnSpc>
                <a:spcPct val="80000"/>
              </a:lnSpc>
              <a:spcBef>
                <a:spcPts val="380"/>
              </a:spcBef>
              <a:spcAft>
                <a:spcPts val="0"/>
              </a:spcAft>
              <a:buSzPts val="1900"/>
              <a:buNone/>
            </a:pPr>
            <a:r>
              <a:rPr lang="en-US" sz="15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Pressman Chapter 1, </a:t>
            </a:r>
            <a:r>
              <a:rPr lang="en-US" sz="1500" dirty="0"/>
              <a:t>Pressman Chapter 2 Sections 2.1</a:t>
            </a:r>
            <a:endParaRPr dirty="0"/>
          </a:p>
          <a:p>
            <a:pPr marL="457200" lvl="0" indent="-355600" algn="ctr" rtl="0">
              <a:lnSpc>
                <a:spcPct val="80000"/>
              </a:lnSpc>
              <a:spcBef>
                <a:spcPts val="380"/>
              </a:spcBef>
              <a:spcAft>
                <a:spcPts val="0"/>
              </a:spcAft>
              <a:buSzPts val="1900"/>
              <a:buNone/>
            </a:pPr>
            <a:endParaRPr dirty="0"/>
          </a:p>
          <a:p>
            <a:pPr marL="0" lvl="0" indent="0" algn="ctr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</a:pPr>
            <a:endParaRPr sz="1500" b="0" i="0" u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</a:pPr>
            <a:endParaRPr sz="1500" b="0" i="0" u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</a:pPr>
            <a:endParaRPr sz="1500" b="0" i="0" u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Font typeface="Noto Sans Symbols"/>
              <a:buNone/>
            </a:pPr>
            <a:endParaRPr sz="1500" b="0" i="0" u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imes New Roman"/>
              <a:buNone/>
            </a:pPr>
            <a:r>
              <a:rPr lang="en-US" sz="36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Learning objectives</a:t>
            </a:r>
            <a:endParaRPr/>
          </a:p>
        </p:txBody>
      </p:sp>
      <p:sp>
        <p:nvSpPr>
          <p:cNvPr id="130" name="Google Shape;130;p2"/>
          <p:cNvSpPr txBox="1">
            <a:spLocks noGrp="1"/>
          </p:cNvSpPr>
          <p:nvPr>
            <p:ph type="body" idx="1"/>
          </p:nvPr>
        </p:nvSpPr>
        <p:spPr>
          <a:xfrm>
            <a:off x="566737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 dirty="0"/>
              <a:t>To understand the need for an organized approach to software development</a:t>
            </a:r>
            <a:endParaRPr dirty="0"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 dirty="0"/>
              <a:t>To differentiate between software analysis and design</a:t>
            </a:r>
          </a:p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endParaRPr lang="en-US" dirty="0"/>
          </a:p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 dirty="0"/>
              <a:t>To understand steps in engineering and differentiate it from craft</a:t>
            </a:r>
          </a:p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endParaRPr lang="en-US" dirty="0"/>
          </a:p>
          <a:p>
            <a:pPr marL="469900" marR="0" lvl="0" indent="-469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□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understand what software engineering is</a:t>
            </a:r>
            <a:endParaRPr lang="en-US" dirty="0"/>
          </a:p>
          <a:p>
            <a:pPr marL="469900" marR="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None/>
            </a:pPr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69900" marR="0" lvl="0" indent="-469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□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define and differentiate between the different aspects of quality</a:t>
            </a:r>
            <a:endParaRPr lang="en-US" dirty="0"/>
          </a:p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endParaRPr dirty="0"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469900" marR="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None/>
            </a:pPr>
            <a:endParaRPr dirty="0"/>
          </a:p>
          <a:p>
            <a:pPr marL="469900" marR="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None/>
            </a:pPr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69900" marR="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None/>
            </a:pPr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69900" marR="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None/>
            </a:pPr>
            <a:endParaRPr sz="2000" b="0" i="0" u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" name="Google Shape;131;p2"/>
          <p:cNvSpPr txBox="1"/>
          <p:nvPr/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2"/>
          <p:cNvSpPr txBox="1"/>
          <p:nvPr/>
        </p:nvSpPr>
        <p:spPr>
          <a:xfrm>
            <a:off x="2209800" y="6245225"/>
            <a:ext cx="3810000" cy="38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Adapted from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Engineering A Practitioner’s Approach by R.S. Pressman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&amp; Software Engineering A lifecycle approach by P. Mohapatra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2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0" name="Google Shape;170;p32"/>
          <p:cNvSpPr txBox="1">
            <a:spLocks noGrp="1"/>
          </p:cNvSpPr>
          <p:nvPr>
            <p:ph type="ftr" idx="11"/>
          </p:nvPr>
        </p:nvSpPr>
        <p:spPr>
          <a:xfrm>
            <a:off x="2209800" y="6245225"/>
            <a:ext cx="3810000" cy="38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Adapted from 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Software Engineering A Practitioner’s Approach by R.S. Pressman 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&amp; Software Engineering A lifecycle approach by P. Mohapatra</a:t>
            </a:r>
            <a:endParaRPr/>
          </a:p>
        </p:txBody>
      </p:sp>
      <p:sp>
        <p:nvSpPr>
          <p:cNvPr id="171" name="Google Shape;171;p32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Software Crisis</a:t>
            </a:r>
            <a:endParaRPr/>
          </a:p>
        </p:txBody>
      </p:sp>
      <p:sp>
        <p:nvSpPr>
          <p:cNvPr id="172" name="Google Shape;172;p32"/>
          <p:cNvSpPr txBox="1">
            <a:spLocks noGrp="1"/>
          </p:cNvSpPr>
          <p:nvPr>
            <p:ph type="body" idx="1"/>
          </p:nvPr>
        </p:nvSpPr>
        <p:spPr>
          <a:xfrm>
            <a:off x="566737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/>
              <a:t>Software delivered had errors</a:t>
            </a:r>
            <a:endParaRPr/>
          </a:p>
          <a:p>
            <a:pPr marL="91440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/>
              <a:t>Software delivered did not meet user requirements</a:t>
            </a:r>
            <a:endParaRPr/>
          </a:p>
          <a:p>
            <a:pPr marL="91440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/>
              <a:t>Software was not delivered on time</a:t>
            </a:r>
            <a:endParaRPr/>
          </a:p>
          <a:p>
            <a:pPr marL="91440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/>
              <a:t>Software cost much more to develop and maintain than estimated</a:t>
            </a:r>
            <a:endParaRPr/>
          </a:p>
          <a:p>
            <a:pPr marL="91440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/>
              <a:t>Measuring progress was difficult</a:t>
            </a:r>
            <a:endParaRPr/>
          </a:p>
          <a:p>
            <a:pPr marL="91440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/>
              <a:t>Two conferences were devoted to the topic in 1968 and 1969 (Naur and Randell, 1968), (Buxton and Randell, 1969). Here, the term ‘software engineering’ was coined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3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How to Solve it</a:t>
            </a:r>
            <a:endParaRPr dirty="0"/>
          </a:p>
        </p:txBody>
      </p:sp>
      <p:sp>
        <p:nvSpPr>
          <p:cNvPr id="178" name="Google Shape;178;p33"/>
          <p:cNvSpPr txBox="1">
            <a:spLocks noGrp="1"/>
          </p:cNvSpPr>
          <p:nvPr>
            <p:ph type="body" idx="1"/>
          </p:nvPr>
        </p:nvSpPr>
        <p:spPr>
          <a:xfrm>
            <a:off x="566737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/>
              <a:t>As software engineers, we use our knowledge of computers to solve problems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None/>
            </a:pP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/>
              <a:t>In his book</a:t>
            </a:r>
            <a:r>
              <a:rPr lang="en-US" i="1"/>
              <a:t>, How to Solve It, </a:t>
            </a:r>
            <a:r>
              <a:rPr lang="en-US"/>
              <a:t>written before modern computers existed, George Polya outlined the essence of problem solving: 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b="1"/>
          </a:p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 i="1"/>
              <a:t>Understand the problem </a:t>
            </a:r>
            <a:r>
              <a:rPr lang="en-US"/>
              <a:t>(communication and analysis)</a:t>
            </a: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 i="1"/>
              <a:t>Plan a solution </a:t>
            </a:r>
            <a:r>
              <a:rPr lang="en-US"/>
              <a:t>(modeling and software design)</a:t>
            </a: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 i="1"/>
              <a:t>Carry out the plan </a:t>
            </a:r>
            <a:r>
              <a:rPr lang="en-US"/>
              <a:t>(code generation)</a:t>
            </a: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 i="1"/>
              <a:t>Examine the result for accuracy </a:t>
            </a:r>
            <a:r>
              <a:rPr lang="en-US"/>
              <a:t>(testing and quality assurance)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sp>
        <p:nvSpPr>
          <p:cNvPr id="179" name="Google Shape;179;p33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" name="Google Shape;180;p33"/>
          <p:cNvSpPr txBox="1">
            <a:spLocks noGrp="1"/>
          </p:cNvSpPr>
          <p:nvPr>
            <p:ph type="ftr" idx="11"/>
          </p:nvPr>
        </p:nvSpPr>
        <p:spPr>
          <a:xfrm>
            <a:off x="2209800" y="6245225"/>
            <a:ext cx="3810000" cy="38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Adapted from 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Software Engineering A Practitioner’s Approach by R.S. Pressman 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&amp; Software Engineering A lifecycle approach by P. Mohapatra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4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Analysis</a:t>
            </a:r>
            <a:endParaRPr/>
          </a:p>
        </p:txBody>
      </p:sp>
      <p:sp>
        <p:nvSpPr>
          <p:cNvPr id="186" name="Google Shape;186;p34"/>
          <p:cNvSpPr txBox="1">
            <a:spLocks noGrp="1"/>
          </p:cNvSpPr>
          <p:nvPr>
            <p:ph type="body" idx="1"/>
          </p:nvPr>
        </p:nvSpPr>
        <p:spPr>
          <a:xfrm>
            <a:off x="609600" y="1752600"/>
            <a:ext cx="55626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 i="1"/>
              <a:t>An effort should be made to understand the problem before a software solution is developed</a:t>
            </a:r>
            <a:endParaRPr/>
          </a:p>
          <a:p>
            <a:pPr marL="91440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700" i="1"/>
          </a:p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/>
              <a:t>Most of listen for a few seconds and then think, </a:t>
            </a:r>
            <a:r>
              <a:rPr lang="en-US" i="1"/>
              <a:t>Oh yeah, I understand, let’s get on with solving this thing. </a:t>
            </a:r>
            <a:r>
              <a:rPr lang="en-US"/>
              <a:t>Unfortunately, understanding isn’t always that easy. It’s worth spending a little time to understand:</a:t>
            </a:r>
            <a:endParaRPr/>
          </a:p>
          <a:p>
            <a: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/>
              <a:t>Who are the stakeholders?</a:t>
            </a:r>
            <a:endParaRPr/>
          </a:p>
          <a:p>
            <a: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/>
              <a:t>What functions and performance are required to properly solve the problem?</a:t>
            </a:r>
            <a:endParaRPr/>
          </a:p>
          <a:p>
            <a: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/>
              <a:t>Is it possible to represent smaller problems that may be easier to understand?</a:t>
            </a:r>
            <a:endParaRPr/>
          </a:p>
          <a:p>
            <a: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/>
              <a:t>Can the problem be represented graphically? Can an analysis model be created?</a:t>
            </a:r>
            <a:endParaRPr/>
          </a:p>
        </p:txBody>
      </p:sp>
      <p:sp>
        <p:nvSpPr>
          <p:cNvPr id="187" name="Google Shape;187;p34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" name="Google Shape;188;p34"/>
          <p:cNvSpPr txBox="1">
            <a:spLocks noGrp="1"/>
          </p:cNvSpPr>
          <p:nvPr>
            <p:ph type="ftr" idx="11"/>
          </p:nvPr>
        </p:nvSpPr>
        <p:spPr>
          <a:xfrm>
            <a:off x="2209800" y="6245225"/>
            <a:ext cx="3810000" cy="38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Adapted from 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Software Engineering A Practitioner’s Approach by R.S. Pressman 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&amp; Software Engineering A lifecycle approach by P. Mohapatra</a:t>
            </a:r>
            <a:endParaRPr/>
          </a:p>
        </p:txBody>
      </p:sp>
      <p:pic>
        <p:nvPicPr>
          <p:cNvPr id="189" name="Google Shape;189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72200" y="2590800"/>
            <a:ext cx="2836863" cy="22558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5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Design</a:t>
            </a:r>
            <a:endParaRPr/>
          </a:p>
        </p:txBody>
      </p:sp>
      <p:sp>
        <p:nvSpPr>
          <p:cNvPr id="195" name="Google Shape;195;p35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5300662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 sz="1800"/>
              <a:t>The complexity of  new computer-based systems and products demands careful attention to the interactions of all system elements. Design becomes a pivotal activity.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1000" i="1"/>
          </a:p>
          <a:p>
            <a: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 i="1"/>
              <a:t>Have you seen similar problems before? </a:t>
            </a:r>
            <a:r>
              <a:rPr lang="en-US"/>
              <a:t>Are there patterns that are recognizable in a potential solution? </a:t>
            </a:r>
            <a:endParaRPr/>
          </a:p>
          <a:p>
            <a: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 i="1"/>
              <a:t>Has a similar problem been solved? </a:t>
            </a:r>
            <a:r>
              <a:rPr lang="en-US"/>
              <a:t>If so, are elements of the solution reusable? </a:t>
            </a:r>
            <a:endParaRPr/>
          </a:p>
          <a:p>
            <a: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 i="1"/>
              <a:t>Can subproblems be defined? </a:t>
            </a:r>
            <a:r>
              <a:rPr lang="en-US"/>
              <a:t>If so, are solutions readily apparent for the subproblems?</a:t>
            </a:r>
            <a:endParaRPr/>
          </a:p>
          <a:p>
            <a: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/>
              <a:t>Can you represent a solution in a manner that leads to effective implementation?</a:t>
            </a:r>
            <a:endParaRPr/>
          </a:p>
        </p:txBody>
      </p:sp>
      <p:sp>
        <p:nvSpPr>
          <p:cNvPr id="196" name="Google Shape;196;p35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7" name="Google Shape;197;p35"/>
          <p:cNvSpPr txBox="1">
            <a:spLocks noGrp="1"/>
          </p:cNvSpPr>
          <p:nvPr>
            <p:ph type="ftr" idx="11"/>
          </p:nvPr>
        </p:nvSpPr>
        <p:spPr>
          <a:xfrm>
            <a:off x="2209800" y="6245225"/>
            <a:ext cx="3810000" cy="38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Adapted from 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Software Engineering A Practitioner’s Approach by R.S. Pressman 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&amp; Software Engineering A lifecycle approach by P. Mohapatra</a:t>
            </a:r>
            <a:endParaRPr/>
          </a:p>
        </p:txBody>
      </p:sp>
      <p:pic>
        <p:nvPicPr>
          <p:cNvPr id="198" name="Google Shape;198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24600" y="2405063"/>
            <a:ext cx="2724150" cy="244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6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" name="Google Shape;204;p36"/>
          <p:cNvSpPr txBox="1">
            <a:spLocks noGrp="1"/>
          </p:cNvSpPr>
          <p:nvPr>
            <p:ph type="ftr" idx="11"/>
          </p:nvPr>
        </p:nvSpPr>
        <p:spPr>
          <a:xfrm>
            <a:off x="2209800" y="6245225"/>
            <a:ext cx="3810000" cy="38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Adapted from 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Software Engineering A Practitioner’s Approach by R.S. Pressman 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&amp; Software Engineering A lifecycle approach by P. Mohapatra</a:t>
            </a:r>
            <a:endParaRPr/>
          </a:p>
        </p:txBody>
      </p:sp>
      <p:sp>
        <p:nvSpPr>
          <p:cNvPr id="205" name="Google Shape;205;p36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Engineering</a:t>
            </a:r>
            <a:endParaRPr/>
          </a:p>
        </p:txBody>
      </p:sp>
      <p:sp>
        <p:nvSpPr>
          <p:cNvPr id="206" name="Google Shape;206;p36"/>
          <p:cNvSpPr txBox="1">
            <a:spLocks noGrp="1"/>
          </p:cNvSpPr>
          <p:nvPr>
            <p:ph type="body" idx="1"/>
          </p:nvPr>
        </p:nvSpPr>
        <p:spPr>
          <a:xfrm>
            <a:off x="566737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/>
              <a:t>“creates cost-effective solutions to practical problems by applying scientific knowledge to building things in the service of humankind</a:t>
            </a:r>
            <a:r>
              <a:rPr lang="en-US" b="1"/>
              <a:t>”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/>
              <a:t>Engineers</a:t>
            </a:r>
            <a:endParaRPr/>
          </a:p>
          <a:p>
            <a: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/>
              <a:t>Adopt a systematic and organized approach to their work</a:t>
            </a:r>
            <a:endParaRPr/>
          </a:p>
          <a:p>
            <a: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/>
              <a:t>Use appropriate tools and techniques depending on</a:t>
            </a:r>
            <a:endParaRPr/>
          </a:p>
          <a:p>
            <a:pPr marL="13716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/>
              <a:t>the problem to be solved</a:t>
            </a:r>
            <a:endParaRPr/>
          </a:p>
          <a:p>
            <a:pPr marL="13716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/>
              <a:t>the development constraints and</a:t>
            </a:r>
            <a:endParaRPr/>
          </a:p>
          <a:p>
            <a:pPr marL="13716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/>
              <a:t>the resources available</a:t>
            </a:r>
            <a:endParaRPr/>
          </a:p>
          <a:p>
            <a:pPr marL="91440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7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2" name="Google Shape;212;p37"/>
          <p:cNvSpPr txBox="1">
            <a:spLocks noGrp="1"/>
          </p:cNvSpPr>
          <p:nvPr>
            <p:ph type="ftr" idx="11"/>
          </p:nvPr>
        </p:nvSpPr>
        <p:spPr>
          <a:xfrm>
            <a:off x="2209800" y="6245225"/>
            <a:ext cx="3810000" cy="38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Adapted from 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Software Engineering A Practitioner’s Approach by R.S. Pressman 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&amp; Software Engineering A lifecycle approach by P. Mohapatra</a:t>
            </a:r>
            <a:endParaRPr/>
          </a:p>
        </p:txBody>
      </p:sp>
      <p:sp>
        <p:nvSpPr>
          <p:cNvPr id="213" name="Google Shape;213;p37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Engineering</a:t>
            </a:r>
            <a:endParaRPr/>
          </a:p>
        </p:txBody>
      </p:sp>
      <p:sp>
        <p:nvSpPr>
          <p:cNvPr id="214" name="Google Shape;214;p37"/>
          <p:cNvSpPr txBox="1">
            <a:spLocks noGrp="1"/>
          </p:cNvSpPr>
          <p:nvPr>
            <p:ph type="body" idx="1"/>
          </p:nvPr>
        </p:nvSpPr>
        <p:spPr>
          <a:xfrm>
            <a:off x="566737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/>
              <a:t>Steps of Engineering Process</a:t>
            </a:r>
            <a:endParaRPr/>
          </a:p>
          <a:p>
            <a: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/>
              <a:t>Problem formulation</a:t>
            </a:r>
            <a:endParaRPr/>
          </a:p>
          <a:p>
            <a: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/>
              <a:t>Problem analysis</a:t>
            </a:r>
            <a:endParaRPr/>
          </a:p>
          <a:p>
            <a: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/>
              <a:t>Search for alternatives</a:t>
            </a:r>
            <a:endParaRPr/>
          </a:p>
          <a:p>
            <a: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/>
              <a:t>Decision</a:t>
            </a:r>
            <a:endParaRPr/>
          </a:p>
          <a:p>
            <a: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/>
              <a:t>Specification, and</a:t>
            </a:r>
            <a:endParaRPr/>
          </a:p>
          <a:p>
            <a: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/>
              <a:t>Implementation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8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0" name="Google Shape;220;p38"/>
          <p:cNvSpPr txBox="1">
            <a:spLocks noGrp="1"/>
          </p:cNvSpPr>
          <p:nvPr>
            <p:ph type="ftr" idx="11"/>
          </p:nvPr>
        </p:nvSpPr>
        <p:spPr>
          <a:xfrm>
            <a:off x="2209800" y="6245225"/>
            <a:ext cx="3810000" cy="38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Adapted from 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Software Engineering A Practitioner’s Approach by R.S. Pressman 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&amp; Software Engineering A lifecycle approach by P. Mohapatra</a:t>
            </a:r>
            <a:endParaRPr/>
          </a:p>
        </p:txBody>
      </p:sp>
      <p:sp>
        <p:nvSpPr>
          <p:cNvPr id="221" name="Google Shape;221;p38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Craft</a:t>
            </a:r>
            <a:endParaRPr/>
          </a:p>
        </p:txBody>
      </p:sp>
      <p:sp>
        <p:nvSpPr>
          <p:cNvPr id="222" name="Google Shape;222;p38"/>
          <p:cNvSpPr txBox="1">
            <a:spLocks noGrp="1"/>
          </p:cNvSpPr>
          <p:nvPr>
            <p:ph type="body" idx="1"/>
          </p:nvPr>
        </p:nvSpPr>
        <p:spPr>
          <a:xfrm>
            <a:off x="566737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/>
              <a:t>Design and Construction in the small</a:t>
            </a:r>
            <a:endParaRPr/>
          </a:p>
          <a:p>
            <a: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/>
              <a:t>Personal skill, experience, flexible materials</a:t>
            </a: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None/>
            </a:pP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/>
              <a:t>Complete view of problem</a:t>
            </a: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/>
              <a:t>One person in control</a:t>
            </a: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/>
              <a:t>Focus on final goal</a:t>
            </a: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/>
              <a:t>Personal skills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pic>
        <p:nvPicPr>
          <p:cNvPr id="223" name="Google Shape;223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57800" y="2609850"/>
            <a:ext cx="2847975" cy="213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9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9" name="Google Shape;229;p39"/>
          <p:cNvSpPr txBox="1">
            <a:spLocks noGrp="1"/>
          </p:cNvSpPr>
          <p:nvPr>
            <p:ph type="ftr" idx="11"/>
          </p:nvPr>
        </p:nvSpPr>
        <p:spPr>
          <a:xfrm>
            <a:off x="2209800" y="6245225"/>
            <a:ext cx="3810000" cy="38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Adapted from 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Software Engineering A Practitioner’s Approach by R.S. Pressman 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&amp; Software Engineering A lifecycle approach by P. Mohapatra</a:t>
            </a:r>
            <a:endParaRPr/>
          </a:p>
        </p:txBody>
      </p:sp>
      <p:sp>
        <p:nvSpPr>
          <p:cNvPr id="230" name="Google Shape;230;p39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Engineering</a:t>
            </a:r>
            <a:endParaRPr/>
          </a:p>
        </p:txBody>
      </p:sp>
      <p:sp>
        <p:nvSpPr>
          <p:cNvPr id="231" name="Google Shape;231;p39"/>
          <p:cNvSpPr txBox="1">
            <a:spLocks noGrp="1"/>
          </p:cNvSpPr>
          <p:nvPr>
            <p:ph type="body" idx="1"/>
          </p:nvPr>
        </p:nvSpPr>
        <p:spPr>
          <a:xfrm>
            <a:off x="566737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/>
              <a:t>Design and Construction in the large</a:t>
            </a:r>
            <a:endParaRPr/>
          </a:p>
          <a:p>
            <a: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/>
              <a:t>Motorway, Skyscraper</a:t>
            </a:r>
            <a:endParaRPr/>
          </a:p>
          <a:p>
            <a: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/>
              <a:t>Complex problem</a:t>
            </a:r>
            <a:endParaRPr/>
          </a:p>
          <a:p>
            <a: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/>
              <a:t>Decomposed goal</a:t>
            </a:r>
            <a:endParaRPr/>
          </a:p>
          <a:p>
            <a: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/>
              <a:t>Many people involved</a:t>
            </a:r>
            <a:endParaRPr/>
          </a:p>
          <a:p>
            <a: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/>
              <a:t>Logistics, management, costs</a:t>
            </a:r>
            <a:endParaRPr/>
          </a:p>
          <a:p>
            <a: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/>
              <a:t>Quality control, safety</a:t>
            </a:r>
            <a:endParaRPr/>
          </a:p>
          <a:p>
            <a:pPr marL="91440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pic>
        <p:nvPicPr>
          <p:cNvPr id="232" name="Google Shape;232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62600" y="2362200"/>
            <a:ext cx="2852738" cy="19827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/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/>
        </p:nvSpPr>
        <p:spPr>
          <a:xfrm>
            <a:off x="2209800" y="6245225"/>
            <a:ext cx="3810000" cy="38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Adapted from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Engineering A Practitioner’s Approach by R.S. Pressman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&amp; Software Engineering A lifecycle approach by P. Mohapatra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1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imes New Roman"/>
              <a:buNone/>
            </a:pPr>
            <a:r>
              <a:rPr lang="en-US" sz="36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Engineering</a:t>
            </a:r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body" idx="1"/>
          </p:nvPr>
        </p:nvSpPr>
        <p:spPr>
          <a:xfrm>
            <a:off x="566737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9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None/>
            </a:pPr>
            <a:endParaRPr sz="20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69900" lvl="0" indent="-469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□"/>
            </a:pP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(Software Engineering is)  the establishment and use of sound engineering principles in order to obtain economically software that is reliable and works efficiently on real machines</a:t>
            </a:r>
            <a:endParaRPr/>
          </a:p>
          <a:p>
            <a:pPr marL="469900" lvl="0" indent="-469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		</a:t>
            </a:r>
            <a:r>
              <a:rPr lang="en-US" sz="1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(Fritz Bauer, NATO conference, 1969)</a:t>
            </a:r>
            <a:endParaRPr/>
          </a:p>
          <a:p>
            <a:pPr marL="469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None/>
            </a:pPr>
            <a:endParaRPr sz="20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69900" lvl="0" indent="-469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□"/>
            </a:pP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Engineering: (1) The application of a systematic, disciplined, quantifiable approach to the development, operation, and maintenance of software, that is, the application of engineering to software. (2) The study of approaches as in (1)</a:t>
            </a:r>
            <a:endParaRPr/>
          </a:p>
          <a:p>
            <a:pPr marL="469900" lvl="0" indent="-469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		</a:t>
            </a:r>
            <a:r>
              <a:rPr lang="en-US" sz="1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(IEEE Standard 610.12-1990, IEEE 1993)</a:t>
            </a:r>
            <a:endParaRPr/>
          </a:p>
          <a:p>
            <a:pPr marL="469900" lvl="0" indent="-469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endParaRPr sz="1200"/>
          </a:p>
          <a:p>
            <a:pPr marL="469900" lvl="0" indent="-469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lang="en-US" sz="1200"/>
              <a:t>Types of maintenance: Corrective, Adaptive, Preventive and perfective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2"/>
          <p:cNvSpPr txBox="1"/>
          <p:nvPr/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2"/>
          <p:cNvSpPr txBox="1"/>
          <p:nvPr/>
        </p:nvSpPr>
        <p:spPr>
          <a:xfrm>
            <a:off x="2209800" y="6245225"/>
            <a:ext cx="3810000" cy="38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Adapted from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Engineering A Practitioner’s Approach by R.S. Pressman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&amp; Software Engineering A lifecycle approach by P. Mohapatra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2"/>
          <p:cNvSpPr txBox="1">
            <a:spLocks noGrp="1"/>
          </p:cNvSpPr>
          <p:nvPr>
            <p:ph type="title"/>
          </p:nvPr>
        </p:nvSpPr>
        <p:spPr>
          <a:xfrm>
            <a:off x="609600" y="762000"/>
            <a:ext cx="436880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500" tIns="25400" rIns="63500" bIns="254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imes New Roman"/>
              <a:buNone/>
            </a:pPr>
            <a:r>
              <a:rPr lang="en-US" sz="36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Layered Technology</a:t>
            </a:r>
            <a:endParaRPr/>
          </a:p>
        </p:txBody>
      </p:sp>
      <p:sp>
        <p:nvSpPr>
          <p:cNvPr id="73" name="Google Shape;73;p12"/>
          <p:cNvSpPr txBox="1"/>
          <p:nvPr/>
        </p:nvSpPr>
        <p:spPr>
          <a:xfrm>
            <a:off x="2895600" y="2209800"/>
            <a:ext cx="3311525" cy="417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latino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Palatino"/>
                <a:ea typeface="Palatino"/>
                <a:cs typeface="Palatino"/>
                <a:sym typeface="Palatino"/>
              </a:rPr>
              <a:t>Software Engineering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/>
          <p:nvPr/>
        </p:nvSpPr>
        <p:spPr>
          <a:xfrm>
            <a:off x="741362" y="4008437"/>
            <a:ext cx="7620000" cy="1285875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63500" dist="107763" dir="2700000">
              <a:srgbClr val="000000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5" name="Google Shape;75;p12"/>
          <p:cNvSpPr/>
          <p:nvPr/>
        </p:nvSpPr>
        <p:spPr>
          <a:xfrm>
            <a:off x="1198562" y="3579812"/>
            <a:ext cx="6629400" cy="1200150"/>
          </a:xfrm>
          <a:prstGeom prst="ellipse">
            <a:avLst/>
          </a:prstGeom>
          <a:solidFill>
            <a:srgbClr val="BC3700"/>
          </a:solidFill>
          <a:ln>
            <a:noFill/>
          </a:ln>
          <a:effectLst>
            <a:outerShdw blurRad="63500" dist="107763" dir="2700000">
              <a:srgbClr val="000000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6" name="Google Shape;76;p12"/>
          <p:cNvSpPr/>
          <p:nvPr/>
        </p:nvSpPr>
        <p:spPr>
          <a:xfrm>
            <a:off x="1731962" y="3151187"/>
            <a:ext cx="5486400" cy="10287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63500" dist="107763" dir="2700000">
              <a:srgbClr val="000000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7" name="Google Shape;77;p12"/>
          <p:cNvSpPr/>
          <p:nvPr/>
        </p:nvSpPr>
        <p:spPr>
          <a:xfrm>
            <a:off x="2112962" y="2894012"/>
            <a:ext cx="4724400" cy="685800"/>
          </a:xfrm>
          <a:prstGeom prst="ellipse">
            <a:avLst/>
          </a:prstGeom>
          <a:solidFill>
            <a:srgbClr val="790015"/>
          </a:solidFill>
          <a:ln>
            <a:noFill/>
          </a:ln>
          <a:effectLst>
            <a:outerShdw blurRad="63500" dist="107763" dir="2700000">
              <a:srgbClr val="000000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8" name="Google Shape;78;p12"/>
          <p:cNvSpPr txBox="1"/>
          <p:nvPr/>
        </p:nvSpPr>
        <p:spPr>
          <a:xfrm>
            <a:off x="3394075" y="4849812"/>
            <a:ext cx="2211387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alatino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Palatino"/>
                <a:ea typeface="Palatino"/>
                <a:cs typeface="Palatino"/>
                <a:sym typeface="Palatino"/>
              </a:rPr>
              <a:t>a “quality” focus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2"/>
          <p:cNvSpPr txBox="1"/>
          <p:nvPr/>
        </p:nvSpPr>
        <p:spPr>
          <a:xfrm>
            <a:off x="3495675" y="4249737"/>
            <a:ext cx="1973262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ADADA"/>
              </a:buClr>
              <a:buSzPts val="2000"/>
              <a:buFont typeface="Palatino"/>
              <a:buNone/>
            </a:pPr>
            <a:r>
              <a:rPr lang="en-US" sz="2000" b="1" i="0" u="none" strike="noStrike" cap="none">
                <a:solidFill>
                  <a:srgbClr val="DADADA"/>
                </a:solidFill>
                <a:latin typeface="Palatino"/>
                <a:ea typeface="Palatino"/>
                <a:cs typeface="Palatino"/>
                <a:sym typeface="Palatino"/>
              </a:rPr>
              <a:t>process model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2"/>
          <p:cNvSpPr txBox="1"/>
          <p:nvPr/>
        </p:nvSpPr>
        <p:spPr>
          <a:xfrm>
            <a:off x="3851275" y="3649662"/>
            <a:ext cx="1239837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ADADA"/>
              </a:buClr>
              <a:buSzPts val="2000"/>
              <a:buFont typeface="Palatino"/>
              <a:buNone/>
            </a:pPr>
            <a:r>
              <a:rPr lang="en-US" sz="2000" b="1" i="0" u="none" strike="noStrike" cap="none">
                <a:solidFill>
                  <a:srgbClr val="DADADA"/>
                </a:solidFill>
                <a:latin typeface="Palatino"/>
                <a:ea typeface="Palatino"/>
                <a:cs typeface="Palatino"/>
                <a:sym typeface="Palatino"/>
              </a:rPr>
              <a:t>methods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2"/>
          <p:cNvSpPr txBox="1"/>
          <p:nvPr/>
        </p:nvSpPr>
        <p:spPr>
          <a:xfrm>
            <a:off x="4156075" y="3049587"/>
            <a:ext cx="787400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ADADA"/>
              </a:buClr>
              <a:buSzPts val="2000"/>
              <a:buFont typeface="Palatino"/>
              <a:buNone/>
            </a:pPr>
            <a:r>
              <a:rPr lang="en-US" sz="2000" b="1" i="0" u="none" strike="noStrike" cap="none">
                <a:solidFill>
                  <a:srgbClr val="DADADA"/>
                </a:solidFill>
                <a:latin typeface="Palatino"/>
                <a:ea typeface="Palatino"/>
                <a:cs typeface="Palatino"/>
                <a:sym typeface="Palatino"/>
              </a:rPr>
              <a:t>tools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4"/>
          <p:cNvSpPr txBox="1"/>
          <p:nvPr/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4"/>
          <p:cNvSpPr txBox="1"/>
          <p:nvPr/>
        </p:nvSpPr>
        <p:spPr>
          <a:xfrm>
            <a:off x="2209800" y="6245225"/>
            <a:ext cx="3810000" cy="38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Adapted from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Engineering A Practitioner’s Approach by R.S. Pressman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&amp; Software Engineering A lifecycle approach by P. Mohapatra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4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imes New Roman"/>
              <a:buNone/>
            </a:pPr>
            <a:r>
              <a:rPr lang="en-US" sz="36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Quality</a:t>
            </a:r>
            <a:endParaRPr/>
          </a:p>
        </p:txBody>
      </p:sp>
      <p:sp>
        <p:nvSpPr>
          <p:cNvPr id="89" name="Google Shape;89;p14"/>
          <p:cNvSpPr txBox="1">
            <a:spLocks noGrp="1"/>
          </p:cNvSpPr>
          <p:nvPr>
            <p:ph type="body" idx="1"/>
          </p:nvPr>
        </p:nvSpPr>
        <p:spPr>
          <a:xfrm>
            <a:off x="566737" y="1752600"/>
            <a:ext cx="80010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FURPS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□"/>
            </a:pP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Functionality</a:t>
            </a:r>
            <a:endParaRPr/>
          </a:p>
          <a:p>
            <a:pPr marL="908050" lvl="1" indent="-436562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■"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Capabilities of the program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□"/>
            </a:pP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Usability</a:t>
            </a:r>
            <a:endParaRPr/>
          </a:p>
          <a:p>
            <a:pPr marL="908050" lvl="1" indent="-436562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■"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Users can learn it and fast and get their job done easily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□"/>
            </a:pP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Reliability</a:t>
            </a:r>
            <a:endParaRPr/>
          </a:p>
          <a:p>
            <a:pPr marL="908050" lvl="1" indent="-436562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■"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does what it is required to do without failing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□"/>
            </a:pP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Performance</a:t>
            </a:r>
            <a:endParaRPr/>
          </a:p>
          <a:p>
            <a:pPr marL="908050" lvl="1" indent="-436562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■"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Considers response time, resource consumption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□"/>
            </a:pPr>
            <a: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Supportability</a:t>
            </a:r>
            <a:r>
              <a:rPr lang="en-US" sz="20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marL="908050" lvl="1" indent="-436562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■"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ability to extend the program (extensibility), adaptability - a more common term, </a:t>
            </a:r>
            <a:r>
              <a:rPr lang="en-US" sz="18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maintainability</a:t>
            </a:r>
            <a:endParaRPr/>
          </a:p>
          <a:p>
            <a:pPr marL="450850" lvl="0" indent="-436562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Noto Sans Symbols"/>
              <a:buChar char="■"/>
            </a:pPr>
            <a:r>
              <a:rPr lang="en-US" i="1"/>
              <a:t>External and internal view of quality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3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Relation between CS and SE</a:t>
            </a:r>
            <a:endParaRPr sz="3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5" name="Google Shape;95;p13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249362" y="1828800"/>
            <a:ext cx="6675437" cy="41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2209800" y="6245225"/>
            <a:ext cx="3810000" cy="38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Adapted from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Engineering A Practitioner’s Approach by R.S. Pressman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&amp; Software Engineering A lifecycle approach by P. Mohapatra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3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p15"/>
          <p:cNvSpPr txBox="1">
            <a:spLocks noGrp="1"/>
          </p:cNvSpPr>
          <p:nvPr>
            <p:ph type="body" idx="1"/>
          </p:nvPr>
        </p:nvSpPr>
        <p:spPr>
          <a:xfrm>
            <a:off x="566737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9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None/>
            </a:pP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" name="Google Shape;104;p15"/>
          <p:cNvSpPr txBox="1"/>
          <p:nvPr/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5"/>
          <p:cNvSpPr txBox="1"/>
          <p:nvPr/>
        </p:nvSpPr>
        <p:spPr>
          <a:xfrm>
            <a:off x="2209800" y="6245225"/>
            <a:ext cx="3810000" cy="38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Adapted from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Engineering A Practitioner’s Approach by R.S. Pressman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&amp; Software Engineering A lifecycle approach by P. Mohapatra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6" name="Google Shape;106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98737" y="1881187"/>
            <a:ext cx="3830637" cy="401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2050" y="1846262"/>
            <a:ext cx="6591300" cy="44053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A303F87D8ED140B5873606C38360BE" ma:contentTypeVersion="0" ma:contentTypeDescription="Create a new document." ma:contentTypeScope="" ma:versionID="4f02449c2720e8a7710801c0ac389991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1d5eec3c12ee2e8127422d567928fa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43FFBB2-EB4B-4690-A9F9-C2A5220AB9D3}"/>
</file>

<file path=customXml/itemProps2.xml><?xml version="1.0" encoding="utf-8"?>
<ds:datastoreItem xmlns:ds="http://schemas.openxmlformats.org/officeDocument/2006/customXml" ds:itemID="{3C6D0C40-761B-49E8-A466-D64AC3EEB2F2}"/>
</file>

<file path=customXml/itemProps3.xml><?xml version="1.0" encoding="utf-8"?>
<ds:datastoreItem xmlns:ds="http://schemas.openxmlformats.org/officeDocument/2006/customXml" ds:itemID="{2A10A83A-D7E0-477F-8BC5-675F8FC580E2}"/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1061</Words>
  <Application>Microsoft Office PowerPoint</Application>
  <PresentationFormat>On-screen Show (4:3)</PresentationFormat>
  <Paragraphs>180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15</vt:i4>
      </vt:variant>
    </vt:vector>
  </HeadingPairs>
  <TitlesOfParts>
    <vt:vector size="25" baseType="lpstr">
      <vt:lpstr>Arial</vt:lpstr>
      <vt:lpstr>Noto Sans Symbols</vt:lpstr>
      <vt:lpstr>Palatino</vt:lpstr>
      <vt:lpstr>Times New Roman</vt:lpstr>
      <vt:lpstr>Verdana</vt:lpstr>
      <vt:lpstr>1_Profile</vt:lpstr>
      <vt:lpstr>Profile</vt:lpstr>
      <vt:lpstr>2_Profile</vt:lpstr>
      <vt:lpstr>3_Profile</vt:lpstr>
      <vt:lpstr>4_Profile</vt:lpstr>
      <vt:lpstr>Analysis &amp; Design for Software Systems</vt:lpstr>
      <vt:lpstr>Learning objectives</vt:lpstr>
      <vt:lpstr>Software Crisis</vt:lpstr>
      <vt:lpstr>How to Solve it</vt:lpstr>
      <vt:lpstr>Analysis</vt:lpstr>
      <vt:lpstr>Design</vt:lpstr>
      <vt:lpstr>Engineering</vt:lpstr>
      <vt:lpstr>Engineering</vt:lpstr>
      <vt:lpstr>Craft</vt:lpstr>
      <vt:lpstr>Engineering</vt:lpstr>
      <vt:lpstr>Software Engineering</vt:lpstr>
      <vt:lpstr>A Layered Technology</vt:lpstr>
      <vt:lpstr>Quality</vt:lpstr>
      <vt:lpstr>The Relation between CS and SE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Analysis &amp; Design for Software Systems</dc:title>
  <cp:lastModifiedBy>Onaiza Maqbool</cp:lastModifiedBy>
  <cp:revision>6</cp:revision>
  <dcterms:created xsi:type="dcterms:W3CDTF">1601-01-01T00:00:00Z</dcterms:created>
  <dcterms:modified xsi:type="dcterms:W3CDTF">2025-02-25T05:13:06Z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ContentTypeId">
    <vt:lpwstr>0x010100E2A303F87D8ED140B5873606C38360BE</vt:lpwstr>
  </property>
</Properties>
</file>