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90" r:id="rId3"/>
    <p:sldId id="287" r:id="rId4"/>
    <p:sldId id="288" r:id="rId5"/>
    <p:sldId id="289" r:id="rId6"/>
    <p:sldId id="257" r:id="rId7"/>
    <p:sldId id="258" r:id="rId8"/>
    <p:sldId id="259" r:id="rId9"/>
    <p:sldId id="260" r:id="rId10"/>
    <p:sldId id="261" r:id="rId11"/>
    <p:sldId id="262" r:id="rId12"/>
    <p:sldId id="264" r:id="rId13"/>
    <p:sldId id="265" r:id="rId14"/>
    <p:sldId id="266" r:id="rId15"/>
    <p:sldId id="267" r:id="rId16"/>
    <p:sldId id="268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wop07lwHOMHwXcv9hlmQVkNpd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9DD5F0-87DF-4FCC-A6F3-B65783F97EE0}">
  <a:tblStyle styleId="{F49DD5F0-87DF-4FCC-A6F3-B65783F97EE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05" name="Google Shape;1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Can a problem be solved by more than one algorithm?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body" idx="3"/>
          </p:nvPr>
        </p:nvSpPr>
        <p:spPr>
          <a:xfrm>
            <a:off x="4643438" y="3962400"/>
            <a:ext cx="39243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4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Lecture # 2</a:t>
            </a:r>
            <a:endParaRPr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FA08C-6B1B-8CC0-DB8D-34B87DA34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6FBFB-270A-C1E0-3CA6-0F8A13793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enable students to </a:t>
            </a:r>
          </a:p>
          <a:p>
            <a:pPr lvl="1"/>
            <a:r>
              <a:rPr lang="en-US" dirty="0"/>
              <a:t>Describe major AI milestones in history</a:t>
            </a:r>
          </a:p>
          <a:p>
            <a:pPr lvl="1"/>
            <a:r>
              <a:rPr lang="en-US" dirty="0"/>
              <a:t>Understand and differentiate between types of AI agents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70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D0C82-3684-28E0-20F8-AA68ACCA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</a:t>
            </a:r>
            <a:r>
              <a:rPr lang="en-US" sz="1600" dirty="0"/>
              <a:t>(</a:t>
            </a:r>
            <a:r>
              <a:rPr lang="en-US" sz="1600" dirty="0" err="1"/>
              <a:t>contd</a:t>
            </a:r>
            <a:r>
              <a:rPr lang="en-US" sz="1600" dirty="0"/>
              <a:t>….)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22995D-837D-19F4-0F3F-74BF7AA87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290495"/>
              </p:ext>
            </p:extLst>
          </p:nvPr>
        </p:nvGraphicFramePr>
        <p:xfrm>
          <a:off x="122002" y="1809248"/>
          <a:ext cx="6571481" cy="4229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75402">
                  <a:extLst>
                    <a:ext uri="{9D8B030D-6E8A-4147-A177-3AD203B41FA5}">
                      <a16:colId xmlns:a16="http://schemas.microsoft.com/office/drawing/2014/main" val="4293557595"/>
                    </a:ext>
                  </a:extLst>
                </a:gridCol>
                <a:gridCol w="5896079">
                  <a:extLst>
                    <a:ext uri="{9D8B030D-6E8A-4147-A177-3AD203B41FA5}">
                      <a16:colId xmlns:a16="http://schemas.microsoft.com/office/drawing/2014/main" val="3331686461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1986 - Present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of Neural Networks</a:t>
                      </a:r>
                      <a:endParaRPr dirty="0"/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1943: introduced artificial neural networks, connect neural circuitry and logic (McCulloch/Pitts)</a:t>
                      </a: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 of: neurons, predicate logic, and Turing’s theory of computation</a:t>
                      </a:r>
                      <a:endParaRPr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1969: 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Perceptrons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book showed that linear models could not solve XOR, killed neural nets research (Minsky/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Papert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rgbClr val="0000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networks</a:t>
                      </a:r>
                      <a:endParaRPr sz="1400" dirty="0">
                        <a:solidFill>
                          <a:srgbClr val="00008B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1986: popularization of backpropagation for training multi-layer networks (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Rumelhardt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Hinton, Williams)</a:t>
                      </a:r>
                      <a:endParaRPr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1989: applied convolutional neural networks to recognizing handwritten digits for USPS (LeCun)</a:t>
                      </a:r>
                      <a:endParaRPr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9483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1987- Present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learning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770722"/>
                  </a:ext>
                </a:extLst>
              </a:tr>
            </a:tbl>
          </a:graphicData>
        </a:graphic>
      </p:graphicFrame>
      <p:pic>
        <p:nvPicPr>
          <p:cNvPr id="4098" name="Picture 2" descr="Backpropagation">
            <a:extLst>
              <a:ext uri="{FF2B5EF4-FFF2-40B4-BE49-F238E27FC236}">
                <a16:creationId xmlns:a16="http://schemas.microsoft.com/office/drawing/2014/main" id="{6E9C0050-E21B-279C-AD09-0D9D722DD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935" y="3873831"/>
            <a:ext cx="1621884" cy="908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E553B1D5-3368-1E7F-C73D-0591B942B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426" y="4841290"/>
            <a:ext cx="1342902" cy="132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rtificial Neurons (Perceptrons ...">
            <a:extLst>
              <a:ext uri="{FF2B5EF4-FFF2-40B4-BE49-F238E27FC236}">
                <a16:creationId xmlns:a16="http://schemas.microsoft.com/office/drawing/2014/main" id="{1E9C8A4F-F565-4D8A-EC3E-8098F4E5C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483" y="1809248"/>
            <a:ext cx="2450517" cy="1050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70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History </a:t>
            </a:r>
            <a:r>
              <a:rPr lang="en-US" sz="1600"/>
              <a:t>(contd…)</a:t>
            </a:r>
            <a:endParaRPr/>
          </a:p>
        </p:txBody>
      </p:sp>
      <p:graphicFrame>
        <p:nvGraphicFramePr>
          <p:cNvPr id="147" name="Google Shape;147;p8"/>
          <p:cNvGraphicFramePr/>
          <p:nvPr/>
        </p:nvGraphicFramePr>
        <p:xfrm>
          <a:off x="566738" y="1752599"/>
          <a:ext cx="5878307" cy="432373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34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3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989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2001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Present</a:t>
                      </a:r>
                      <a:endParaRPr b="0"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Big data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sz="14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383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2011 - present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</a:t>
                      </a:r>
                      <a:endParaRPr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AlexNet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(2012): huge gains in object recognition; transformed computer vision community overnight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AlphaGo (2016): deep reinforcement learning, defeat world champion Lee Sedol</a:t>
                      </a:r>
                      <a:endParaRPr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400"/>
                        <a:buFont typeface="Noto Sans Symbols"/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CC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122" name="Picture 2" descr="A Revolutionary Deep Learning Architecture">
            <a:extLst>
              <a:ext uri="{FF2B5EF4-FFF2-40B4-BE49-F238E27FC236}">
                <a16:creationId xmlns:a16="http://schemas.microsoft.com/office/drawing/2014/main" id="{403BAAD8-F0A6-F49C-F060-62E59215B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995" y="3564348"/>
            <a:ext cx="2340828" cy="978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ower of deep learning alphago vs lee ...">
            <a:extLst>
              <a:ext uri="{FF2B5EF4-FFF2-40B4-BE49-F238E27FC236}">
                <a16:creationId xmlns:a16="http://schemas.microsoft.com/office/drawing/2014/main" id="{8A2E6E44-9902-01A0-6D66-414AE4FE6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365" y="5095875"/>
            <a:ext cx="2304088" cy="773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40993-E3E6-7F86-6C5A-4483849DC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in the future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9DC55-92B8-0E55-64D6-5E45DF9EF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737" y="1752600"/>
            <a:ext cx="4949159" cy="4267200"/>
          </a:xfrm>
        </p:spPr>
        <p:txBody>
          <a:bodyPr/>
          <a:lstStyle/>
          <a:p>
            <a:r>
              <a:rPr lang="en-US" sz="1800" dirty="0"/>
              <a:t>One of the most interesting and fastest growing field</a:t>
            </a:r>
          </a:p>
          <a:p>
            <a:endParaRPr lang="en-US" sz="1800" dirty="0"/>
          </a:p>
          <a:p>
            <a:r>
              <a:rPr lang="en-US" sz="1800" dirty="0"/>
              <a:t>AI is likely to be transformational, what kind of transformation the future will hold, no one knows</a:t>
            </a:r>
          </a:p>
          <a:p>
            <a:pPr marL="114300" indent="0">
              <a:buNone/>
            </a:pPr>
            <a:endParaRPr lang="en-US" sz="1800" dirty="0"/>
          </a:p>
          <a:p>
            <a:r>
              <a:rPr lang="en-US" sz="1800" dirty="0">
                <a:sym typeface="Arial"/>
              </a:rPr>
              <a:t>It would be easier to create human-level AI by developing learning algorithms and then teaching the machine rather than by programming its intelligence by hand.</a:t>
            </a:r>
          </a:p>
          <a:p>
            <a:pPr marL="114300" indent="0">
              <a:buNone/>
            </a:pPr>
            <a:endParaRPr lang="en-US" sz="1800" dirty="0">
              <a:sym typeface="Arial"/>
            </a:endParaRPr>
          </a:p>
          <a:p>
            <a:pPr marL="114300" indent="0" algn="ctr">
              <a:buNone/>
            </a:pPr>
            <a:r>
              <a:rPr lang="en-US" sz="1800" dirty="0">
                <a:sym typeface="Arial"/>
              </a:rPr>
              <a:t>He warned that achieving this goal might not be the best thing for the human race</a:t>
            </a:r>
          </a:p>
          <a:p>
            <a:pPr marL="0" lvl="0" indent="0">
              <a:spcBef>
                <a:spcPts val="280"/>
              </a:spcBef>
              <a:buSzPts val="1400"/>
              <a:buNone/>
            </a:pPr>
            <a:endParaRPr lang="en-US" sz="1800" dirty="0">
              <a:sym typeface="Arial"/>
            </a:endParaRP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C56CDA-7249-43E8-626E-66AB982AE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244" y="1520825"/>
            <a:ext cx="2734801" cy="458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16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is AI? Some approaches</a:t>
            </a:r>
            <a:endParaRPr/>
          </a:p>
        </p:txBody>
      </p:sp>
      <p:graphicFrame>
        <p:nvGraphicFramePr>
          <p:cNvPr id="102" name="Google Shape;102;p10"/>
          <p:cNvGraphicFramePr/>
          <p:nvPr/>
        </p:nvGraphicFramePr>
        <p:xfrm>
          <a:off x="1295400" y="1752600"/>
          <a:ext cx="6443675" cy="4267200"/>
        </p:xfrm>
        <a:graphic>
          <a:graphicData uri="http://schemas.openxmlformats.org/drawingml/2006/table">
            <a:tbl>
              <a:tblPr>
                <a:noFill/>
                <a:tableStyleId>{F49DD5F0-87DF-4FCC-A6F3-B65783F97EE0}</a:tableStyleId>
              </a:tblPr>
              <a:tblGrid>
                <a:gridCol w="324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3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Systems that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THINK LIKE HUMANS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endParaRPr sz="2000" b="0" i="0" u="none" strike="noStrike" cap="non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Cognitive modeling approach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Systems that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THINK RATIONALLY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endParaRPr sz="2000" b="0" i="0" u="none" strike="noStrike" cap="non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Laws of thought approach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Systems that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 LIKE HUMANS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endParaRPr sz="2000" b="0" i="0" u="none" strike="noStrike" cap="non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Turing test approach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Systems that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 RATIONALLY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endParaRPr sz="2000" b="0" i="0" u="none" strike="noStrike" cap="none">
                        <a:solidFill>
                          <a:schemeClr val="accen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Rational agent approach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09" name="Google Shape;109;p1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Acting Humanly: The Turing Test</a:t>
            </a:r>
            <a:endParaRPr/>
          </a:p>
        </p:txBody>
      </p:sp>
      <p:pic>
        <p:nvPicPr>
          <p:cNvPr id="110" name="Google Shape;110;p11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84903" y="2256503"/>
            <a:ext cx="4715797" cy="263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1"/>
          <p:cNvPicPr preferRelativeResize="0">
            <a:picLocks noGrp="1"/>
          </p:cNvPicPr>
          <p:nvPr>
            <p:ph type="body" idx="3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248400" y="1769806"/>
            <a:ext cx="1858962" cy="165919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1"/>
          <p:cNvSpPr/>
          <p:nvPr/>
        </p:nvSpPr>
        <p:spPr>
          <a:xfrm>
            <a:off x="6248400" y="3573795"/>
            <a:ext cx="2574925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http://www.sjcalums.com/nyc/images/crests/hourly/Alan_Turing_491x491.jpg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18" name="Google Shape;118;p1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p1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Acting Humanly </a:t>
            </a:r>
            <a:r>
              <a:rPr lang="en-US" sz="1600"/>
              <a:t>(contd…)</a:t>
            </a:r>
            <a:endParaRPr/>
          </a:p>
        </p:txBody>
      </p:sp>
      <p:sp>
        <p:nvSpPr>
          <p:cNvPr id="120" name="Google Shape;120;p1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□"/>
            </a:pPr>
            <a:r>
              <a:rPr lang="en-US" sz="2400" dirty="0"/>
              <a:t>To pass the Turing test, computer needs the following abilities: </a:t>
            </a:r>
            <a:endParaRPr dirty="0"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>
                <a:solidFill>
                  <a:schemeClr val="accent2"/>
                </a:solidFill>
              </a:rPr>
              <a:t>Natural language processing:</a:t>
            </a:r>
            <a:r>
              <a:rPr lang="en-US" sz="1800" dirty="0"/>
              <a:t> communicate in human language</a:t>
            </a:r>
            <a:endParaRPr dirty="0"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>
                <a:solidFill>
                  <a:schemeClr val="accent2"/>
                </a:solidFill>
              </a:rPr>
              <a:t>Knowledge representation:</a:t>
            </a:r>
            <a:r>
              <a:rPr lang="en-US" sz="1800" dirty="0"/>
              <a:t> store what it knows or hears</a:t>
            </a:r>
            <a:endParaRPr dirty="0"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>
                <a:solidFill>
                  <a:schemeClr val="accent2"/>
                </a:solidFill>
              </a:rPr>
              <a:t>Automated reasoning:</a:t>
            </a:r>
            <a:r>
              <a:rPr lang="en-US" sz="1800" dirty="0"/>
              <a:t> use stored information to answer questions and draw conclusions</a:t>
            </a:r>
            <a:endParaRPr dirty="0"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>
                <a:solidFill>
                  <a:schemeClr val="accent2"/>
                </a:solidFill>
              </a:rPr>
              <a:t>Machine learning:</a:t>
            </a:r>
            <a:r>
              <a:rPr lang="en-US" sz="1800" dirty="0"/>
              <a:t> adapt to new circumstances &amp; to detect and extrapolate patterns</a:t>
            </a:r>
            <a:endParaRPr dirty="0"/>
          </a:p>
          <a:p>
            <a:pPr marL="469900" lvl="0" indent="-381000" algn="l" rtl="0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600" dirty="0"/>
          </a:p>
          <a:p>
            <a:pPr marL="469900" lvl="0" indent="-469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dirty="0"/>
              <a:t>Total Turing Test: Test the computer’s perceptual abilities</a:t>
            </a:r>
            <a:endParaRPr dirty="0"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>
                <a:solidFill>
                  <a:schemeClr val="accent2"/>
                </a:solidFill>
              </a:rPr>
              <a:t>Computer vision:</a:t>
            </a:r>
            <a:r>
              <a:rPr lang="en-US" sz="1800" dirty="0"/>
              <a:t> perceive objects</a:t>
            </a:r>
            <a:endParaRPr dirty="0"/>
          </a:p>
          <a:p>
            <a:pPr marL="908050" lvl="1" indent="-436563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>
                <a:solidFill>
                  <a:schemeClr val="accent2"/>
                </a:solidFill>
              </a:rPr>
              <a:t>Robotics:</a:t>
            </a:r>
            <a:r>
              <a:rPr lang="en-US" sz="1800" dirty="0"/>
              <a:t> manipulate objects and move about</a:t>
            </a:r>
            <a:endParaRPr dirty="0"/>
          </a:p>
          <a:p>
            <a:pPr marL="908050" lvl="1" indent="-436563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Noto Sans Symbols"/>
              <a:buNone/>
            </a:pPr>
            <a:endParaRPr sz="1000" dirty="0"/>
          </a:p>
          <a:p>
            <a:pPr marL="469900" lvl="0" indent="-469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00"/>
              <a:buChar char="□"/>
            </a:pPr>
            <a:r>
              <a:rPr lang="en-US" sz="2500" dirty="0">
                <a:solidFill>
                  <a:schemeClr val="accent2"/>
                </a:solidFill>
              </a:rPr>
              <a:t>These six disciplines compose most of AI</a:t>
            </a:r>
          </a:p>
          <a:p>
            <a:pPr marL="469900" lvl="0" indent="-469900">
              <a:lnSpc>
                <a:spcPct val="90000"/>
              </a:lnSpc>
              <a:spcBef>
                <a:spcPts val="500"/>
              </a:spcBef>
              <a:buSzPts val="2500"/>
            </a:pPr>
            <a:r>
              <a:rPr lang="en-US" dirty="0"/>
              <a:t>AI researchers have devoted little effort to passing the Turing test</a:t>
            </a:r>
            <a:endParaRPr dirty="0"/>
          </a:p>
          <a:p>
            <a:pPr marL="469900" lvl="0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00"/>
              <a:buNone/>
            </a:pPr>
            <a:endParaRPr sz="25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Thinking Humanly: Cognitive Modeling</a:t>
            </a:r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□"/>
            </a:pPr>
            <a:r>
              <a:rPr lang="en-US" sz="2000"/>
              <a:t>More </a:t>
            </a:r>
            <a:r>
              <a:rPr lang="en-US" sz="2000">
                <a:solidFill>
                  <a:schemeClr val="accent2"/>
                </a:solidFill>
              </a:rPr>
              <a:t>important to study underlying principles</a:t>
            </a:r>
            <a:r>
              <a:rPr lang="en-US" sz="2000"/>
              <a:t> of intelligence than try to duplicate</a:t>
            </a:r>
            <a:endParaRPr/>
          </a:p>
          <a:p>
            <a:pPr marL="4699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600"/>
          </a:p>
          <a:p>
            <a:pPr marL="46990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□"/>
            </a:pPr>
            <a:r>
              <a:rPr lang="en-US" sz="2000"/>
              <a:t>To make a program think like a human…</a:t>
            </a:r>
            <a:endParaRPr sz="2000"/>
          </a:p>
          <a:p>
            <a:pPr marL="908050" lvl="1" indent="-4365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sz="1800"/>
              <a:t>We need to understand how humans think</a:t>
            </a:r>
            <a:endParaRPr/>
          </a:p>
          <a:p>
            <a:pPr marL="4699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600">
              <a:solidFill>
                <a:schemeClr val="accent2"/>
              </a:solidFill>
            </a:endParaRPr>
          </a:p>
          <a:p>
            <a:pPr marL="46990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□"/>
            </a:pPr>
            <a:r>
              <a:rPr lang="en-US" sz="2000">
                <a:solidFill>
                  <a:schemeClr val="accent2"/>
                </a:solidFill>
              </a:rPr>
              <a:t>Cognitive science</a:t>
            </a:r>
            <a:r>
              <a:rPr lang="en-US" sz="2000"/>
              <a:t> brings together </a:t>
            </a:r>
            <a:endParaRPr/>
          </a:p>
          <a:p>
            <a:pPr marL="908050" lvl="1" indent="-4365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sz="1800"/>
              <a:t>computer models from AI &amp; </a:t>
            </a:r>
            <a:endParaRPr/>
          </a:p>
          <a:p>
            <a:pPr marL="908050" lvl="1" indent="-4365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sz="1800"/>
              <a:t>experiments from psychology </a:t>
            </a:r>
            <a:endParaRPr/>
          </a:p>
          <a:p>
            <a:pPr marL="908050" lvl="1" indent="-4365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800"/>
              <a:t>to construct theories of the working of the human mind</a:t>
            </a:r>
            <a:endParaRPr/>
          </a:p>
          <a:p>
            <a:pPr marL="469900" lvl="0" indent="-330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sz="1600"/>
          </a:p>
          <a:p>
            <a:pPr marL="469900" lvl="0" indent="-469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sz="2000"/>
              <a:t>AI and cognitive science continue to enrich each other especially in fields e.g. vision and natural language processing</a:t>
            </a:r>
            <a:endParaRPr/>
          </a:p>
          <a:p>
            <a:pPr marL="908050" lvl="1" indent="-3095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1800"/>
          </a:p>
          <a:p>
            <a:pPr marL="469900" lvl="0" indent="-330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sz="2000"/>
          </a:p>
          <a:p>
            <a:pPr marL="469900" lvl="0" indent="-330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sz="2000"/>
          </a:p>
          <a:p>
            <a:pPr marL="469900" lvl="0" indent="-3302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Thinking Rationally: Laws of Thought</a:t>
            </a:r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7058178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□"/>
            </a:pPr>
            <a:r>
              <a:rPr lang="en-US" sz="1800">
                <a:solidFill>
                  <a:schemeClr val="accent2"/>
                </a:solidFill>
              </a:rPr>
              <a:t>Aristotle</a:t>
            </a:r>
            <a:r>
              <a:rPr lang="en-US" sz="1800"/>
              <a:t> attempted to codify “right thinking” </a:t>
            </a:r>
            <a:endParaRPr/>
          </a:p>
          <a:p>
            <a:pPr marL="469900" lvl="0" indent="-469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1800"/>
              <a:t>	i.e. irrefutable reasoning process</a:t>
            </a:r>
            <a:endParaRPr/>
          </a:p>
          <a:p>
            <a:pPr marL="469900" lvl="0" indent="-469900" algn="l" rtl="0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Noto Sans Symbols"/>
              <a:buNone/>
            </a:pPr>
            <a:r>
              <a:rPr lang="en-US" sz="900"/>
              <a:t>						</a:t>
            </a:r>
            <a:endParaRPr/>
          </a:p>
          <a:p>
            <a:pPr marL="469900" lvl="0" indent="-469900" algn="l" rtl="0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Noto Sans Symbols"/>
              <a:buNone/>
            </a:pPr>
            <a:endParaRPr sz="900"/>
          </a:p>
          <a:p>
            <a:pPr marL="469900" lvl="0" indent="-469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>
                <a:solidFill>
                  <a:schemeClr val="accent2"/>
                </a:solidFill>
              </a:rPr>
              <a:t>Syllogism</a:t>
            </a:r>
            <a:r>
              <a:rPr lang="en-US" sz="1800"/>
              <a:t> provides patterns for arguments structures that give correct conclusions from correct premises, e.g., </a:t>
            </a:r>
            <a:endParaRPr/>
          </a:p>
          <a:p>
            <a:pPr marL="908050" lvl="1" indent="-436563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Char char="■"/>
            </a:pPr>
            <a:r>
              <a:rPr lang="en-US" sz="1600"/>
              <a:t>Socrates is a man; all men are mortal; so conclude:</a:t>
            </a:r>
            <a:endParaRPr/>
          </a:p>
          <a:p>
            <a:pPr marL="1304925" lvl="2" indent="-395288" algn="l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Char char="□"/>
            </a:pPr>
            <a:r>
              <a:rPr lang="en-US" sz="1500"/>
              <a:t>Socrates is mortal</a:t>
            </a:r>
            <a:endParaRPr/>
          </a:p>
          <a:p>
            <a:pPr marL="469900" lvl="0" indent="-4064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endParaRPr sz="1000"/>
          </a:p>
          <a:p>
            <a:pPr marL="469900" lvl="0" indent="-469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Initiated the field of </a:t>
            </a:r>
            <a:r>
              <a:rPr lang="en-US" sz="1800">
                <a:solidFill>
                  <a:schemeClr val="accent2"/>
                </a:solidFill>
              </a:rPr>
              <a:t>logic</a:t>
            </a:r>
            <a:endParaRPr/>
          </a:p>
          <a:p>
            <a:pPr marL="469900" lvl="0" indent="-4064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endParaRPr sz="1000"/>
          </a:p>
          <a:p>
            <a:pPr marL="469900" lvl="0" indent="-469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Logicist tradition within AI hopes to build on programs written in logical notation to create intelligent systems</a:t>
            </a:r>
            <a:endParaRPr/>
          </a:p>
          <a:p>
            <a:pPr marL="469900" lvl="0" indent="-406400" algn="l" rtl="0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endParaRPr sz="1000"/>
          </a:p>
          <a:p>
            <a:pPr marL="469900" lvl="0" indent="-469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Emphasis is on correct inference</a:t>
            </a:r>
            <a:endParaRPr/>
          </a:p>
          <a:p>
            <a:pPr marL="469900" lvl="0" indent="-355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450850" lvl="0" indent="-4365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□"/>
            </a:pPr>
            <a:r>
              <a:rPr lang="en-US" sz="1800"/>
              <a:t>Informal knowledge has to be expressed in formal terms - Knowledge may be less than 100% certain</a:t>
            </a:r>
            <a:endParaRPr/>
          </a:p>
          <a:p>
            <a:pPr marL="1304925" lvl="2" indent="-395288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</a:pPr>
            <a:endParaRPr sz="1800"/>
          </a:p>
          <a:p>
            <a:pPr marL="469900" lvl="0" indent="-355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35" name="Google Shape;135;p16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762568" y="1752600"/>
            <a:ext cx="935038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Acting Rationally: Rational Agents</a:t>
            </a:r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□"/>
            </a:pPr>
            <a:r>
              <a:rPr lang="en-US" sz="2000" dirty="0">
                <a:solidFill>
                  <a:schemeClr val="accent2"/>
                </a:solidFill>
              </a:rPr>
              <a:t>Rationality</a:t>
            </a:r>
            <a:r>
              <a:rPr lang="en-US" sz="2000" dirty="0"/>
              <a:t>: Doing the </a:t>
            </a:r>
            <a:r>
              <a:rPr lang="en-US" sz="2000" dirty="0">
                <a:solidFill>
                  <a:schemeClr val="accent2"/>
                </a:solidFill>
              </a:rPr>
              <a:t>right thing</a:t>
            </a:r>
            <a:r>
              <a:rPr lang="en-US" sz="2000" dirty="0"/>
              <a:t> given what you know - Maximize the achievement towards a goal given some information</a:t>
            </a:r>
            <a:endParaRPr sz="2000" dirty="0"/>
          </a:p>
          <a:p>
            <a:pPr marL="46990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050" dirty="0"/>
          </a:p>
          <a:p>
            <a:pPr marL="469900" lvl="0" indent="-469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□"/>
            </a:pPr>
            <a:r>
              <a:rPr lang="en-US" sz="2000" dirty="0"/>
              <a:t>A rational agent is one that acts so as to achieve the best outcome or, when there is uncertainty, the best expected outcome</a:t>
            </a:r>
            <a:endParaRPr sz="2000" dirty="0"/>
          </a:p>
          <a:p>
            <a:pPr marL="46990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050" dirty="0"/>
          </a:p>
          <a:p>
            <a:pPr marL="469900" lvl="0" indent="-469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□"/>
            </a:pPr>
            <a:r>
              <a:rPr lang="en-US" sz="2000" dirty="0">
                <a:solidFill>
                  <a:schemeClr val="accent2"/>
                </a:solidFill>
              </a:rPr>
              <a:t>Correct inference</a:t>
            </a:r>
            <a:r>
              <a:rPr lang="en-US" sz="2000" dirty="0"/>
              <a:t> is sometimes </a:t>
            </a:r>
            <a:r>
              <a:rPr lang="en-US" sz="2000" dirty="0">
                <a:solidFill>
                  <a:schemeClr val="accent2"/>
                </a:solidFill>
              </a:rPr>
              <a:t>part</a:t>
            </a:r>
            <a:r>
              <a:rPr lang="en-US" sz="2000" dirty="0"/>
              <a:t> of being a rational agent</a:t>
            </a:r>
            <a:endParaRPr sz="2000" dirty="0"/>
          </a:p>
          <a:p>
            <a:pPr marL="46990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050" dirty="0"/>
          </a:p>
          <a:p>
            <a:pPr marL="469900" lvl="0" indent="-469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2200"/>
              <a:buChar char="□"/>
            </a:pPr>
            <a:r>
              <a:rPr lang="en-US" sz="2000" dirty="0"/>
              <a:t>Rationality does not always involve inference</a:t>
            </a:r>
            <a:endParaRPr sz="2000" dirty="0"/>
          </a:p>
          <a:p>
            <a:pPr marL="908050" lvl="1" indent="-43656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sz="1800" dirty="0"/>
              <a:t>A reflex action may be more successful than careful deliberation</a:t>
            </a:r>
          </a:p>
          <a:p>
            <a:pPr marL="908050" lvl="1" indent="-43656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endParaRPr lang="en-US" sz="1050" dirty="0"/>
          </a:p>
          <a:p>
            <a:pPr marL="469900" lvl="0" indent="-469900">
              <a:spcBef>
                <a:spcPts val="440"/>
              </a:spcBef>
              <a:buSzPts val="2200"/>
              <a:buFont typeface="Noto Sans Symbols"/>
              <a:buChar char="■"/>
            </a:pPr>
            <a:r>
              <a:rPr lang="en-US" sz="2000" dirty="0"/>
              <a:t>Achieving </a:t>
            </a:r>
            <a:r>
              <a:rPr lang="en-US" sz="2000" dirty="0">
                <a:solidFill>
                  <a:schemeClr val="accent2"/>
                </a:solidFill>
              </a:rPr>
              <a:t>perfect rationality may not be feasible</a:t>
            </a:r>
            <a:r>
              <a:rPr lang="en-US" sz="2000" dirty="0"/>
              <a:t> in complicated environments (computational demands may be too high)! </a:t>
            </a:r>
          </a:p>
          <a:p>
            <a:pPr marL="469900" lvl="0" indent="-469900">
              <a:spcBef>
                <a:spcPts val="440"/>
              </a:spcBef>
              <a:buSzPts val="2200"/>
              <a:buFont typeface="Noto Sans Symbols"/>
              <a:buChar char="■"/>
            </a:pPr>
            <a:endParaRPr lang="en-US" sz="1100" dirty="0"/>
          </a:p>
          <a:p>
            <a:pPr marL="469900" lvl="0" indent="-469900">
              <a:spcBef>
                <a:spcPts val="440"/>
              </a:spcBef>
              <a:buSzPts val="2200"/>
              <a:buFont typeface="Noto Sans Symbols"/>
              <a:buChar char="■"/>
            </a:pPr>
            <a:r>
              <a:rPr lang="en-US" sz="2000" dirty="0"/>
              <a:t>Beneficial Machines! Value alignment problem – True preferences and objective </a:t>
            </a:r>
          </a:p>
          <a:p>
            <a:pPr marL="908050" lvl="1" indent="-43656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endParaRPr sz="1800" dirty="0"/>
          </a:p>
          <a:p>
            <a:pPr marL="46990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000" dirty="0"/>
          </a:p>
          <a:p>
            <a:pPr marL="469900" lvl="0" indent="-400050" algn="l" rtl="0">
              <a:lnSpc>
                <a:spcPct val="9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</a:pPr>
            <a:endParaRPr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Two views of AI</a:t>
            </a:r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AI agents: how can we create intelligence?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AI tools: how can we benefit society?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56" name="Google Shape;15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9949" y="1752600"/>
            <a:ext cx="1443498" cy="14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52673" y="3929216"/>
            <a:ext cx="923002" cy="923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AI Agents</a:t>
            </a:r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Perception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Robotics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Language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Knowledge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Reasoning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Learning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Each of these is a research area in which there has been progress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64" name="Google Shape;16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9105" y="2747962"/>
            <a:ext cx="4810125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Agents and Tasks</a:t>
            </a:r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/>
              <a:t>Consider, e.g., the task of designing an automated taxi driver: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742950" lvl="1" indent="-28575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Performance measure: </a:t>
            </a:r>
            <a:endParaRPr/>
          </a:p>
          <a:p>
            <a:pPr marL="1143000" lvl="2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Safe, fast, legal, comfortable trip, maximize profits</a:t>
            </a:r>
            <a:endParaRPr/>
          </a:p>
          <a:p>
            <a:pPr marL="1143000" lvl="2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Goals may conflict - tradeoffs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Environment: </a:t>
            </a:r>
            <a:endParaRPr/>
          </a:p>
          <a:p>
            <a:pPr marL="1143000" lvl="2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Roads, other traffic, pedestrians, customers</a:t>
            </a:r>
            <a:endParaRPr/>
          </a:p>
          <a:p>
            <a:pPr marL="1143000" lvl="2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The more restricted the environment, the easier the design problem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Actuators: </a:t>
            </a:r>
            <a:endParaRPr/>
          </a:p>
          <a:p>
            <a:pPr marL="1143000" lvl="2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Steering wheel, accelerator, brake, signal, horn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Sensors: </a:t>
            </a:r>
            <a:endParaRPr/>
          </a:p>
          <a:p>
            <a:pPr marL="1143000" lvl="2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Cameras, sonar, speedometer, GPS, odometer, engine sensors, keyboard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 human are these agents?</a:t>
            </a:r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Machines: Narrow tasks, millions of examples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Humans: Diverse tasks, very few examples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AlphaGo learned from 19.6 million games, but can only do one thing: play Go. Humans on the other hand learn from a much wider set of experiences, and can do many things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AI Tools</a:t>
            </a:r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Benefit humans without being human like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10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600"/>
              <a:t>Targeted advertising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600"/>
              <a:t>News or product recommendation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Need to think carefully about real-world consequences (e.g., security, biases)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Since machine learning algorithms are based on mathematical principles, they are somehow objective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6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However, machine learning predictions come from the training data, and the training data comes from society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6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Any biases in society are reflected in the data and propagated to predictions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0" ma:contentTypeDescription="Create a new document." ma:contentTypeScope="" ma:versionID="11a3da10666522d565dc1e257179c3e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C4E8990-E8EF-4707-9BB2-CEE6403D1F34}"/>
</file>

<file path=customXml/itemProps2.xml><?xml version="1.0" encoding="utf-8"?>
<ds:datastoreItem xmlns:ds="http://schemas.openxmlformats.org/officeDocument/2006/customXml" ds:itemID="{CC72389D-DB8C-4CCB-9E60-5C3087B500EE}"/>
</file>

<file path=customXml/itemProps3.xml><?xml version="1.0" encoding="utf-8"?>
<ds:datastoreItem xmlns:ds="http://schemas.openxmlformats.org/officeDocument/2006/customXml" ds:itemID="{6B74CE89-38BB-4E7C-923A-F13AEC978DD9}"/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973</Words>
  <Application>Microsoft Office PowerPoint</Application>
  <PresentationFormat>On-screen Show (4:3)</PresentationFormat>
  <Paragraphs>181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History (contd….)</vt:lpstr>
      <vt:lpstr>History (contd…)</vt:lpstr>
      <vt:lpstr>AI in the future</vt:lpstr>
      <vt:lpstr>What is AI? Some approaches</vt:lpstr>
      <vt:lpstr>Acting Humanly: The Turing Test</vt:lpstr>
      <vt:lpstr>Acting Humanly (contd…)</vt:lpstr>
      <vt:lpstr>Thinking Humanly: Cognitive Modeling</vt:lpstr>
      <vt:lpstr>Thinking Rationally: Laws of Thought</vt:lpstr>
      <vt:lpstr>Acting Rationally: Rational Agents</vt:lpstr>
      <vt:lpstr>Two views of AI</vt:lpstr>
      <vt:lpstr>AI Agents</vt:lpstr>
      <vt:lpstr>Agents and Tasks</vt:lpstr>
      <vt:lpstr>How human are these agents?</vt:lpstr>
      <vt:lpstr>AI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Onaiza Maqbool</cp:lastModifiedBy>
  <cp:revision>3</cp:revision>
  <dcterms:created xsi:type="dcterms:W3CDTF">1601-01-01T00:00:00Z</dcterms:created>
  <dcterms:modified xsi:type="dcterms:W3CDTF">2025-09-12T09:27:06Z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