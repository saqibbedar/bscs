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6" r:id="rId3"/>
    <p:sldId id="292" r:id="rId4"/>
    <p:sldId id="259" r:id="rId5"/>
    <p:sldId id="261" r:id="rId6"/>
    <p:sldId id="262" r:id="rId7"/>
    <p:sldId id="263" r:id="rId8"/>
    <p:sldId id="264" r:id="rId9"/>
    <p:sldId id="267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AqJdAJatwsSYbopMJOMI8k14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46" Type="http://schemas.openxmlformats.org/officeDocument/2006/relationships/customXml" Target="../customXml/item2.xml"/><Relationship Id="rId2" Type="http://schemas.openxmlformats.org/officeDocument/2006/relationships/slide" Target="slides/slide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4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6BE3-1F3B-C625-2CD5-C5F3A1CC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B5477-426D-937B-E108-9E911EDED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enable students to </a:t>
            </a:r>
          </a:p>
          <a:p>
            <a:pPr lvl="1"/>
            <a:r>
              <a:rPr lang="en-US" dirty="0"/>
              <a:t>Understand basics of linear models for classification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5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9295-66ED-E2BD-B1A5-1E5C3822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47A13-8F4C-9E0A-36C1-96ECB39CA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000" dirty="0"/>
              <a:t>Reflex models</a:t>
            </a:r>
          </a:p>
        </p:txBody>
      </p:sp>
    </p:spTree>
    <p:extLst>
      <p:ext uri="{BB962C8B-B14F-4D97-AF65-F5344CB8AC3E}">
        <p14:creationId xmlns:p14="http://schemas.microsoft.com/office/powerpoint/2010/main" val="238943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D6D7-A296-6B01-BEA0-047BF5F4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Modelling, learning and inference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0EB75-85AD-08B5-3472-B74E5B8CD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dirty="0"/>
          </a:p>
          <a:p>
            <a:r>
              <a:rPr lang="en-US" dirty="0"/>
              <a:t>Learner has to learn beyond the training examples – Can’t be a rote learner</a:t>
            </a:r>
          </a:p>
          <a:p>
            <a:r>
              <a:rPr lang="en-US" dirty="0"/>
              <a:t>This is generalization</a:t>
            </a:r>
          </a:p>
          <a:p>
            <a:endParaRPr lang="en-US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7F01F-E6C9-7E9F-FD87-4A5F2CE2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00" y="1830090"/>
            <a:ext cx="4331052" cy="26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1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B87D-767C-EBD7-7253-586F5329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Feature vector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7CF11-8F8A-7453-70A7-BC03CF963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from x, helpful in predicting y</a:t>
            </a:r>
          </a:p>
          <a:p>
            <a:endParaRPr lang="en-US" dirty="0"/>
          </a:p>
          <a:p>
            <a:r>
              <a:rPr lang="en-US" dirty="0"/>
              <a:t>May be of different types, eventually converted to numeric</a:t>
            </a:r>
          </a:p>
          <a:p>
            <a:endParaRPr lang="en-US" dirty="0"/>
          </a:p>
          <a:p>
            <a:r>
              <a:rPr lang="en-US" dirty="0"/>
              <a:t>Example task: Predicting whether a student will get an ‘A’ grade</a:t>
            </a:r>
          </a:p>
          <a:p>
            <a:endParaRPr lang="en-US" dirty="0"/>
          </a:p>
          <a:p>
            <a:r>
              <a:rPr lang="en-US" dirty="0"/>
              <a:t>Feature vectors are points in a high-dimensional vector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B1CF8-E847-9EAA-23C8-ADEFF086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88" y="4453550"/>
            <a:ext cx="651850" cy="156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731E37-D5C7-E5DA-3ABC-CA3FB96B4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15" y="4761032"/>
            <a:ext cx="4602997" cy="95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33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041E-CB6B-5E4D-39F5-99020681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Weights and Weight vector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57001-BCC0-57ED-75C1-90F096CCB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feature j, we would have a weight</a:t>
            </a:r>
          </a:p>
          <a:p>
            <a:endParaRPr lang="en-US" sz="1000" dirty="0"/>
          </a:p>
          <a:p>
            <a:r>
              <a:rPr lang="en-US" dirty="0"/>
              <a:t>Represents contribution of a feature to the prediction</a:t>
            </a:r>
          </a:p>
          <a:p>
            <a:endParaRPr lang="en-US" sz="1000" dirty="0"/>
          </a:p>
          <a:p>
            <a:r>
              <a:rPr lang="en-US" dirty="0"/>
              <a:t>Weight vectors do not depend on the input x as such, unlike features</a:t>
            </a:r>
            <a:endParaRPr lang="en-US" sz="1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3A56F-75FA-AD9D-8EC0-BF54196DE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209" y="3662391"/>
            <a:ext cx="4852657" cy="1502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606EF6-3480-F9E1-183F-67D5740A2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245" y="5294046"/>
            <a:ext cx="3856092" cy="7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4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A28D-7785-0D42-D428-EEE5A300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Predictors (Classifiers)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CA72A-D7BC-7F50-9F9B-68EE82FAF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Geometric interpretation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3F933-6914-5327-ACDD-2275261D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32" y="2387989"/>
            <a:ext cx="6794022" cy="239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6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2317-3CE5-CE48-250A-B990DAD8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Minimization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70B53-8ED5-B17F-70C7-0D2424C80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learner in this framework is an algorithm, which is learning the weights of the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9C21-A84F-18F0-6CE8-F11ED26B5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805" y="2126619"/>
            <a:ext cx="4331052" cy="26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2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2246-6EC5-C97A-A7C3-325C0FAF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D07D6-81F2-83C4-5259-C3F6AC04F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label y</a:t>
            </a:r>
          </a:p>
          <a:p>
            <a:r>
              <a:rPr lang="en-US" dirty="0"/>
              <a:t>Predicted label y`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Score can be both positive or negative, correct?</a:t>
            </a:r>
          </a:p>
          <a:p>
            <a:endParaRPr lang="en-US" dirty="0"/>
          </a:p>
          <a:p>
            <a:r>
              <a:rPr lang="en-US" dirty="0"/>
              <a:t>Which is better?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C10FE-EC03-6445-8FD9-F5077823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70" y="2723386"/>
            <a:ext cx="7145719" cy="148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6437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95C314-C9BC-4912-84E8-E540A6987E3A}"/>
</file>

<file path=customXml/itemProps2.xml><?xml version="1.0" encoding="utf-8"?>
<ds:datastoreItem xmlns:ds="http://schemas.openxmlformats.org/officeDocument/2006/customXml" ds:itemID="{CFCFE35D-560F-46B6-A80D-4986E642F80F}"/>
</file>

<file path=customXml/itemProps3.xml><?xml version="1.0" encoding="utf-8"?>
<ds:datastoreItem xmlns:ds="http://schemas.openxmlformats.org/officeDocument/2006/customXml" ds:itemID="{875AD926-5A40-4A93-A272-78FC3DAE8DA9}"/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171</Words>
  <Application>Microsoft Office PowerPoint</Application>
  <PresentationFormat>On-screen Show (4:3)</PresentationFormat>
  <Paragraphs>76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PowerPoint Presentation</vt:lpstr>
      <vt:lpstr>Modelling, learning and inference </vt:lpstr>
      <vt:lpstr>Features and Feature vector</vt:lpstr>
      <vt:lpstr>Weights and Weight vector</vt:lpstr>
      <vt:lpstr>Linear Predictors (Classifiers)</vt:lpstr>
      <vt:lpstr>Loss Minimization</vt:lpstr>
      <vt:lpstr>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12</cp:revision>
  <dcterms:created xsi:type="dcterms:W3CDTF">1601-01-01T00:00:00Z</dcterms:created>
  <dcterms:modified xsi:type="dcterms:W3CDTF">2025-09-22T05:40:14Z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