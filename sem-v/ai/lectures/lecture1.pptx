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3" r:id="rId3"/>
    <p:sldId id="257" r:id="rId4"/>
    <p:sldId id="258" r:id="rId5"/>
    <p:sldId id="259" r:id="rId6"/>
    <p:sldId id="285" r:id="rId7"/>
    <p:sldId id="284" r:id="rId8"/>
    <p:sldId id="260" r:id="rId9"/>
    <p:sldId id="261" r:id="rId10"/>
    <p:sldId id="286" r:id="rId11"/>
    <p:sldId id="262" r:id="rId12"/>
    <p:sldId id="277" r:id="rId13"/>
    <p:sldId id="278" r:id="rId14"/>
    <p:sldId id="279" r:id="rId15"/>
    <p:sldId id="289" r:id="rId16"/>
    <p:sldId id="281" r:id="rId17"/>
    <p:sldId id="282" r:id="rId1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hiBCKWs22NrQqH6K4wrI10lQDD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C9D1FB-6426-4676-8426-7A67F8BAC52F}">
  <a:tblStyle styleId="{24C9D1FB-6426-4676-8426-7A67F8BAC5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5" name="Google Shape;26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5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tannica.com/technology/compute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.jpg"/><Relationship Id="rId4" Type="http://schemas.openxmlformats.org/officeDocument/2006/relationships/hyperlink" Target="https://www.britannica.com/technology/robot-technology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ites.google.com/view/elizaarchaeology/try-eliza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Department of Computer Science</a:t>
            </a:r>
            <a:endParaRPr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Quaid-i-Azam University</a:t>
            </a:r>
            <a:endParaRPr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Fall 2025 Semester</a:t>
            </a:r>
            <a:endParaRPr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Artificial Intelligence </a:t>
            </a:r>
            <a:endParaRPr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Course Instructor: Onaiza Maqbool</a:t>
            </a:r>
            <a:endParaRPr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250B-0D7E-4FD8-3703-4F5D25C65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5D884-AA0A-9818-B1FA-6CF043E59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8" y="1752600"/>
            <a:ext cx="8001000" cy="4426974"/>
          </a:xfrm>
        </p:spPr>
        <p:txBody>
          <a:bodyPr/>
          <a:lstStyle/>
          <a:p>
            <a:r>
              <a:rPr lang="en-US" dirty="0"/>
              <a:t>We call ourselves Homo Sapiens –  Man - </a:t>
            </a:r>
          </a:p>
          <a:p>
            <a:endParaRPr lang="en-US" sz="1000" dirty="0"/>
          </a:p>
          <a:p>
            <a:r>
              <a:rPr lang="en-US" dirty="0"/>
              <a:t>Our </a:t>
            </a:r>
            <a:r>
              <a:rPr lang="en-US" dirty="0">
                <a:solidFill>
                  <a:srgbClr val="FF0000"/>
                </a:solidFill>
              </a:rPr>
              <a:t>intelligence</a:t>
            </a:r>
            <a:r>
              <a:rPr lang="en-US" dirty="0"/>
              <a:t> is so important for us</a:t>
            </a:r>
          </a:p>
          <a:p>
            <a:endParaRPr lang="en-US" sz="1000" dirty="0"/>
          </a:p>
          <a:p>
            <a:r>
              <a:rPr lang="en-US" dirty="0"/>
              <a:t>For thousands of years, we have tried to understand how we </a:t>
            </a:r>
            <a:r>
              <a:rPr lang="en-US" dirty="0">
                <a:solidFill>
                  <a:srgbClr val="FF0000"/>
                </a:solidFill>
              </a:rPr>
              <a:t>think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act</a:t>
            </a:r>
          </a:p>
          <a:p>
            <a:endParaRPr lang="en-US" sz="1100" dirty="0"/>
          </a:p>
          <a:p>
            <a:r>
              <a:rPr lang="en-US" dirty="0"/>
              <a:t>How our brain, a mere handful of matter, can </a:t>
            </a:r>
          </a:p>
          <a:p>
            <a:pPr lvl="1"/>
            <a:r>
              <a:rPr lang="en-US" dirty="0"/>
              <a:t>perceive,</a:t>
            </a:r>
          </a:p>
          <a:p>
            <a:pPr lvl="1"/>
            <a:r>
              <a:rPr lang="en-US" dirty="0"/>
              <a:t>understand, </a:t>
            </a:r>
          </a:p>
          <a:p>
            <a:pPr lvl="1"/>
            <a:r>
              <a:rPr lang="en-US" dirty="0"/>
              <a:t>predict, </a:t>
            </a:r>
          </a:p>
          <a:p>
            <a:pPr lvl="1"/>
            <a:r>
              <a:rPr lang="en-US" dirty="0"/>
              <a:t>and manipulate </a:t>
            </a:r>
          </a:p>
          <a:p>
            <a:pPr marL="571500" lvl="1" indent="0">
              <a:buNone/>
            </a:pPr>
            <a:r>
              <a:rPr lang="en-US" dirty="0"/>
              <a:t>a world far larger and more complicated than itself</a:t>
            </a:r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51F37-8296-566F-969B-3493643C643D}"/>
              </a:ext>
            </a:extLst>
          </p:cNvPr>
          <p:cNvSpPr txBox="1"/>
          <p:nvPr/>
        </p:nvSpPr>
        <p:spPr>
          <a:xfrm rot="10800000" flipV="1">
            <a:off x="5959424" y="1752600"/>
            <a:ext cx="3287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the wise</a:t>
            </a:r>
          </a:p>
        </p:txBody>
      </p:sp>
    </p:spTree>
    <p:extLst>
      <p:ext uri="{BB962C8B-B14F-4D97-AF65-F5344CB8AC3E}">
        <p14:creationId xmlns:p14="http://schemas.microsoft.com/office/powerpoint/2010/main" val="59530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Intelligence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spcBef>
                <a:spcPts val="0"/>
              </a:spcBef>
              <a:spcAft>
                <a:spcPts val="0"/>
              </a:spcAft>
              <a:buSzPts val="2200"/>
              <a:buChar char="□"/>
            </a:pPr>
            <a:r>
              <a:rPr lang="en-US" dirty="0"/>
              <a:t>Human Intelligence</a:t>
            </a:r>
            <a:endParaRPr dirty="0"/>
          </a:p>
          <a:p>
            <a:pPr marL="908050" lvl="1" indent="-436563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 dirty="0"/>
              <a:t>Mental quality that consists of the abilities </a:t>
            </a:r>
            <a:endParaRPr dirty="0"/>
          </a:p>
          <a:p>
            <a:pPr marL="1304925" lvl="2" indent="-395288" algn="l" rtl="0">
              <a:spcBef>
                <a:spcPts val="380"/>
              </a:spcBef>
              <a:spcAft>
                <a:spcPts val="0"/>
              </a:spcAft>
              <a:buSzPts val="1900"/>
              <a:buChar char="□"/>
            </a:pPr>
            <a:r>
              <a:rPr lang="en-US" dirty="0"/>
              <a:t>to learn from experience</a:t>
            </a:r>
            <a:endParaRPr dirty="0"/>
          </a:p>
          <a:p>
            <a:pPr marL="1304925" lvl="2" indent="-395288" algn="l" rtl="0">
              <a:spcBef>
                <a:spcPts val="380"/>
              </a:spcBef>
              <a:spcAft>
                <a:spcPts val="0"/>
              </a:spcAft>
              <a:buSzPts val="1900"/>
              <a:buChar char="□"/>
            </a:pPr>
            <a:r>
              <a:rPr lang="en-US" dirty="0"/>
              <a:t>adapt to new situations</a:t>
            </a:r>
            <a:endParaRPr dirty="0"/>
          </a:p>
          <a:p>
            <a:pPr marL="1304925" lvl="2" indent="-395288" algn="l" rtl="0">
              <a:spcBef>
                <a:spcPts val="380"/>
              </a:spcBef>
              <a:spcAft>
                <a:spcPts val="0"/>
              </a:spcAft>
              <a:buSzPts val="1900"/>
              <a:buChar char="□"/>
            </a:pPr>
            <a:r>
              <a:rPr lang="en-US" dirty="0"/>
              <a:t>understand and handle abstract concepts</a:t>
            </a:r>
            <a:endParaRPr dirty="0"/>
          </a:p>
          <a:p>
            <a:pPr marL="1304925" lvl="2" indent="-395288" algn="l" rtl="0">
              <a:spcBef>
                <a:spcPts val="380"/>
              </a:spcBef>
              <a:spcAft>
                <a:spcPts val="0"/>
              </a:spcAft>
              <a:buSzPts val="1900"/>
              <a:buChar char="□"/>
            </a:pPr>
            <a:r>
              <a:rPr lang="en-US" dirty="0"/>
              <a:t>and use knowledge to manipulate one’s environment</a:t>
            </a:r>
            <a:endParaRPr dirty="0"/>
          </a:p>
          <a:p>
            <a:pPr marL="469900" lvl="0" indent="-469900" algn="l" rtl="0"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dirty="0"/>
              <a:t>Artificial Intelligence</a:t>
            </a:r>
            <a:endParaRPr dirty="0"/>
          </a:p>
          <a:p>
            <a:pPr marL="908050" lvl="1" indent="-436563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 dirty="0"/>
              <a:t>the ability of a digital 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computer</a:t>
            </a:r>
            <a:r>
              <a:rPr lang="en-US" dirty="0"/>
              <a:t> or computer-controlled </a:t>
            </a:r>
            <a:r>
              <a:rPr lang="en-US" u="sng" dirty="0">
                <a:solidFill>
                  <a:schemeClr val="hlink"/>
                </a:solidFill>
                <a:hlinkClick r:id="rId4"/>
              </a:rPr>
              <a:t>robot</a:t>
            </a:r>
            <a:r>
              <a:rPr lang="en-US" dirty="0"/>
              <a:t> to perform tasks commonly associated with intelligent beings such as </a:t>
            </a:r>
            <a:endParaRPr dirty="0"/>
          </a:p>
          <a:p>
            <a:pPr marL="1304925" lvl="2" indent="-395288" algn="l" rtl="0">
              <a:spcBef>
                <a:spcPts val="380"/>
              </a:spcBef>
              <a:spcAft>
                <a:spcPts val="0"/>
              </a:spcAft>
              <a:buSzPts val="1900"/>
              <a:buChar char="□"/>
            </a:pPr>
            <a:r>
              <a:rPr lang="en-US" dirty="0"/>
              <a:t>the ability to reason</a:t>
            </a:r>
            <a:endParaRPr dirty="0"/>
          </a:p>
          <a:p>
            <a:pPr marL="1304925" lvl="2" indent="-395288" algn="l" rtl="0">
              <a:spcBef>
                <a:spcPts val="380"/>
              </a:spcBef>
              <a:spcAft>
                <a:spcPts val="0"/>
              </a:spcAft>
              <a:buSzPts val="1900"/>
              <a:buChar char="□"/>
            </a:pPr>
            <a:r>
              <a:rPr lang="en-US" dirty="0"/>
              <a:t>generalize, </a:t>
            </a:r>
            <a:endParaRPr dirty="0"/>
          </a:p>
          <a:p>
            <a:pPr marL="1304925" lvl="2" indent="-395288" algn="l" rtl="0">
              <a:spcBef>
                <a:spcPts val="380"/>
              </a:spcBef>
              <a:spcAft>
                <a:spcPts val="0"/>
              </a:spcAft>
              <a:buSzPts val="1900"/>
              <a:buChar char="□"/>
            </a:pPr>
            <a:r>
              <a:rPr lang="en-US" dirty="0"/>
              <a:t>or learn from past experience	</a:t>
            </a:r>
            <a:endParaRPr dirty="0"/>
          </a:p>
          <a:p>
            <a:pPr marL="471487" lvl="1" indent="0" algn="r" rtl="0"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lang="en-US" sz="1200" dirty="0"/>
          </a:p>
          <a:p>
            <a:pPr marL="471487" lvl="1" indent="0" algn="r" rtl="0"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 dirty="0"/>
              <a:t>www.britannica.com</a:t>
            </a:r>
            <a:endParaRPr dirty="0"/>
          </a:p>
          <a:p>
            <a:pPr marL="908050" lvl="1" indent="-309563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3" name="Google Shape;103;p2" descr="artificial intellig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58366" y="4916487"/>
            <a:ext cx="1296083" cy="12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Multiple Intelligence Theory | TLC | UTHSC">
            <a:extLst>
              <a:ext uri="{FF2B5EF4-FFF2-40B4-BE49-F238E27FC236}">
                <a16:creationId xmlns:a16="http://schemas.microsoft.com/office/drawing/2014/main" id="{6896E463-9C37-F4B2-744A-1FA1C0251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366" y="1941154"/>
            <a:ext cx="1494488" cy="1487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Latest AI developments 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indent="-469900">
              <a:spcBef>
                <a:spcPts val="0"/>
              </a:spcBef>
              <a:buSzPts val="2200"/>
            </a:pPr>
            <a:r>
              <a:rPr lang="en-US" dirty="0"/>
              <a:t>Its impact will be </a:t>
            </a:r>
            <a:r>
              <a:rPr lang="en-US" dirty="0">
                <a:solidFill>
                  <a:srgbClr val="FF0000"/>
                </a:solidFill>
              </a:rPr>
              <a:t>“more than anything in the history of mankind”</a:t>
            </a:r>
          </a:p>
          <a:p>
            <a:pPr marL="469900" lvl="0" indent="-469900" algn="l" rtl="0">
              <a:spcBef>
                <a:spcPts val="0"/>
              </a:spcBef>
              <a:spcAft>
                <a:spcPts val="0"/>
              </a:spcAft>
              <a:buSzPts val="2200"/>
              <a:buChar char="□"/>
            </a:pPr>
            <a:endParaRPr lang="en-US" dirty="0">
              <a:solidFill>
                <a:srgbClr val="FF0000"/>
              </a:solidFill>
            </a:endParaRPr>
          </a:p>
          <a:p>
            <a:pPr marL="469900" lvl="0" indent="-469900" algn="l" rtl="0">
              <a:spcBef>
                <a:spcPts val="0"/>
              </a:spcBef>
              <a:spcAft>
                <a:spcPts val="0"/>
              </a:spcAft>
              <a:buSzPts val="2200"/>
              <a:buChar char="□"/>
            </a:pPr>
            <a:r>
              <a:rPr lang="en-US" dirty="0"/>
              <a:t>Language processing</a:t>
            </a:r>
            <a:endParaRPr dirty="0"/>
          </a:p>
          <a:p>
            <a:pPr marL="469900" lvl="0" indent="-469900" algn="l" rtl="0"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dirty="0"/>
              <a:t>Computer Vision and Image Processing</a:t>
            </a:r>
            <a:endParaRPr dirty="0"/>
          </a:p>
          <a:p>
            <a:pPr marL="469900" lvl="0" indent="-469900" algn="l" rtl="0"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dirty="0"/>
              <a:t>Games</a:t>
            </a:r>
            <a:endParaRPr dirty="0"/>
          </a:p>
          <a:p>
            <a:pPr marL="469900" lvl="0" indent="-469900" algn="l" rtl="0"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dirty="0"/>
              <a:t>Robotics</a:t>
            </a:r>
            <a:endParaRPr dirty="0"/>
          </a:p>
          <a:p>
            <a:pPr marL="469900" lvl="0" indent="-469900" algn="l" rtl="0"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dirty="0"/>
              <a:t>Mobility</a:t>
            </a:r>
            <a:endParaRPr dirty="0"/>
          </a:p>
          <a:p>
            <a:pPr marL="469900" lvl="0" indent="-469900" algn="l" rtl="0"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dirty="0"/>
              <a:t>Health</a:t>
            </a:r>
            <a:endParaRPr dirty="0"/>
          </a:p>
          <a:p>
            <a:pPr marL="469900" lvl="0" indent="-469900" algn="l" rtl="0"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dirty="0"/>
              <a:t>Finance </a:t>
            </a:r>
            <a:endParaRPr dirty="0"/>
          </a:p>
          <a:p>
            <a:pPr marL="469900" lvl="0" indent="-469900" algn="l" rtl="0"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dirty="0"/>
              <a:t>Recommender systems</a:t>
            </a:r>
            <a:endParaRPr dirty="0"/>
          </a:p>
          <a:p>
            <a:pPr marL="469900" lvl="0" indent="-330200" algn="l" rtl="0"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dirty="0"/>
          </a:p>
          <a:p>
            <a:pPr marL="469900" lvl="0" indent="-330200" algn="l" rtl="0"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dirty="0"/>
          </a:p>
        </p:txBody>
      </p:sp>
      <p:sp>
        <p:nvSpPr>
          <p:cNvPr id="110" name="Google Shape;110;p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History</a:t>
            </a:r>
            <a:endParaRPr/>
          </a:p>
        </p:txBody>
      </p:sp>
      <p:graphicFrame>
        <p:nvGraphicFramePr>
          <p:cNvPr id="118" name="Google Shape;118;p4"/>
          <p:cNvGraphicFramePr/>
          <p:nvPr>
            <p:extLst>
              <p:ext uri="{D42A27DB-BD31-4B8C-83A1-F6EECF244321}">
                <p14:modId xmlns:p14="http://schemas.microsoft.com/office/powerpoint/2010/main" val="3146818187"/>
              </p:ext>
            </p:extLst>
          </p:nvPr>
        </p:nvGraphicFramePr>
        <p:xfrm>
          <a:off x="609600" y="1930536"/>
          <a:ext cx="5894746" cy="3896071"/>
        </p:xfrm>
        <a:graphic>
          <a:graphicData uri="http://schemas.openxmlformats.org/drawingml/2006/table">
            <a:tbl>
              <a:tblPr>
                <a:noFill/>
                <a:tableStyleId>{24C9D1FB-6426-4676-8426-7A67F8BAC52F}</a:tableStyleId>
              </a:tblPr>
              <a:tblGrid>
                <a:gridCol w="122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6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92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1943-1956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Pre-birth - Inception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3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1943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McCulloch &amp; Pitts - artificial neuron, suggested that networks could learn – Hebbian learning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1950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Turing – Complete vision of AI in article </a:t>
                      </a:r>
                      <a:r>
                        <a:rPr lang="en-US" sz="1400" b="0" i="0" u="none" strike="noStrike" cap="non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“Computing Machinery and Intelligence”</a:t>
                      </a:r>
                      <a:endParaRPr sz="1400" b="0" i="0" u="none" strike="noStrike" cap="none" dirty="0">
                        <a:solidFill>
                          <a:srgbClr val="C00000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Turing test</a:t>
                      </a: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learning</a:t>
                      </a: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Genetic algorithms </a:t>
                      </a: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Reinforcement learning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73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1951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Minsky &amp; Edmonds - first neural network computer SNARC (40 neurons)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73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1952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Strachey and Samuel (separately)– Checker playing programs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26" name="Picture 2" descr="Artificial Neurons (Perceptrons ...">
            <a:extLst>
              <a:ext uri="{FF2B5EF4-FFF2-40B4-BE49-F238E27FC236}">
                <a16:creationId xmlns:a16="http://schemas.microsoft.com/office/drawing/2014/main" id="{5C2013C4-B508-C585-102D-8999C0AD6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361" y="1721108"/>
            <a:ext cx="2582637" cy="11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chine, Learning, 1951 | The Scientist">
            <a:extLst>
              <a:ext uri="{FF2B5EF4-FFF2-40B4-BE49-F238E27FC236}">
                <a16:creationId xmlns:a16="http://schemas.microsoft.com/office/drawing/2014/main" id="{DA43CC20-11B1-19B2-97B4-F23A17CB2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439" y="3378689"/>
            <a:ext cx="1854519" cy="130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951 Program Learned to Play Checkers ...">
            <a:extLst>
              <a:ext uri="{FF2B5EF4-FFF2-40B4-BE49-F238E27FC236}">
                <a16:creationId xmlns:a16="http://schemas.microsoft.com/office/drawing/2014/main" id="{D85EE85C-2B4C-F383-05D0-761585BAB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444" y="5062002"/>
            <a:ext cx="1976511" cy="110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78EE6-6C27-B475-4F6E-21193E55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720BC9-FF28-CC85-6C6B-91C053125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496342"/>
              </p:ext>
            </p:extLst>
          </p:nvPr>
        </p:nvGraphicFramePr>
        <p:xfrm>
          <a:off x="566738" y="1752599"/>
          <a:ext cx="8001000" cy="2900690"/>
        </p:xfrm>
        <a:graphic>
          <a:graphicData uri="http://schemas.openxmlformats.org/drawingml/2006/table">
            <a:tbl>
              <a:tblPr>
                <a:noFill/>
                <a:tableStyleId>{24C9D1FB-6426-4676-8426-7A67F8BAC52F}</a:tableStyleId>
              </a:tblPr>
              <a:tblGrid>
                <a:gridCol w="1697302">
                  <a:extLst>
                    <a:ext uri="{9D8B030D-6E8A-4147-A177-3AD203B41FA5}">
                      <a16:colId xmlns:a16="http://schemas.microsoft.com/office/drawing/2014/main" val="493922678"/>
                    </a:ext>
                  </a:extLst>
                </a:gridCol>
                <a:gridCol w="6303698">
                  <a:extLst>
                    <a:ext uri="{9D8B030D-6E8A-4147-A177-3AD203B41FA5}">
                      <a16:colId xmlns:a16="http://schemas.microsoft.com/office/drawing/2014/main" val="829499729"/>
                    </a:ext>
                  </a:extLst>
                </a:gridCol>
              </a:tblGrid>
              <a:tr h="28488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1956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Birth of AI.  Term coined by McCarthy at Dartmouth</a:t>
                      </a:r>
                      <a:endParaRPr sz="1400" b="1" i="0" u="none" strike="noStrike" cap="none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Workshop at Dartmouth College; attendees: John McCarthy, Marvin Minsky, Claude Shannon,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etc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Every aspect of learning or any other feature of intelligence can be so precisely described that a machine can be made to simulate it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endParaRPr lang="en-US" sz="1600" b="0" i="0" u="none" strike="noStrike" cap="none" dirty="0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  <a:sym typeface="Arial"/>
                        </a:rPr>
                        <a:t>How to make machines use language, form abstractions and concepts, solve kinds of problems now reserved for humans, and improve themselves</a:t>
                      </a:r>
                      <a:endParaRPr sz="1600" b="0" i="0" u="none" strike="noStrike" cap="none" dirty="0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160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955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D27F1-9F24-7105-37AB-B82C04BF4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78C9B1-2CE5-E510-B1A9-36D6C08A3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695697"/>
              </p:ext>
            </p:extLst>
          </p:nvPr>
        </p:nvGraphicFramePr>
        <p:xfrm>
          <a:off x="566738" y="1752599"/>
          <a:ext cx="6129030" cy="4514310"/>
        </p:xfrm>
        <a:graphic>
          <a:graphicData uri="http://schemas.openxmlformats.org/drawingml/2006/table">
            <a:tbl>
              <a:tblPr>
                <a:noFill/>
                <a:tableStyleId>{24C9D1FB-6426-4676-8426-7A67F8BAC52F}</a:tableStyleId>
              </a:tblPr>
              <a:tblGrid>
                <a:gridCol w="660338">
                  <a:extLst>
                    <a:ext uri="{9D8B030D-6E8A-4147-A177-3AD203B41FA5}">
                      <a16:colId xmlns:a16="http://schemas.microsoft.com/office/drawing/2014/main" val="4170597712"/>
                    </a:ext>
                  </a:extLst>
                </a:gridCol>
                <a:gridCol w="5468692">
                  <a:extLst>
                    <a:ext uri="{9D8B030D-6E8A-4147-A177-3AD203B41FA5}">
                      <a16:colId xmlns:a16="http://schemas.microsoft.com/office/drawing/2014/main" val="645418115"/>
                    </a:ext>
                  </a:extLst>
                </a:gridCol>
              </a:tblGrid>
              <a:tr h="80997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-1969   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Great Expectations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798193"/>
                  </a:ext>
                </a:extLst>
              </a:tr>
              <a:tr h="14867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1956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Newell and Simon - Logic theorist, a reasoning program which proved theorems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Subsequently GPS, general problem solver embodied “thinking humanly” approach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  <a:sym typeface="Arial"/>
                        </a:rPr>
                        <a:t>Order in which the program considered subgoals and possible actions was similar to that in which humans approached the same problems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744450"/>
                  </a:ext>
                </a:extLst>
              </a:tr>
              <a:tr h="75449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1956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Samuel - Checkers program – reinforcement learning (played a better game than its creator) Most influential in the long run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481104"/>
                  </a:ext>
                </a:extLst>
              </a:tr>
              <a:tr h="4438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1958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Lisp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defined at MIT by McCarthy -</a:t>
                      </a:r>
                      <a:r>
                        <a:rPr lang="en-US" dirty="0"/>
                        <a:t>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  <a:sym typeface="Arial"/>
                        </a:rPr>
                        <a:t>the dominant AI programming language for the next 30 years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320731"/>
                  </a:ext>
                </a:extLst>
              </a:tr>
              <a:tr h="4438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1965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Eliza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dirty="0">
                          <a:hlinkClick r:id="rId2"/>
                        </a:rPr>
                        <a:t>https://sites.google.com/view/elizaarchaeology/try-eliza</a:t>
                      </a:r>
                      <a:endParaRPr lang="en-US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689780"/>
                  </a:ext>
                </a:extLst>
              </a:tr>
            </a:tbl>
          </a:graphicData>
        </a:graphic>
      </p:graphicFrame>
      <p:pic>
        <p:nvPicPr>
          <p:cNvPr id="2050" name="Picture 2" descr="11.2 Samuel's Checkers Player">
            <a:extLst>
              <a:ext uri="{FF2B5EF4-FFF2-40B4-BE49-F238E27FC236}">
                <a16:creationId xmlns:a16="http://schemas.microsoft.com/office/drawing/2014/main" id="{6C8A0F5F-2B47-ED35-44CA-D1337CCD0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636" y="1879824"/>
            <a:ext cx="2180364" cy="139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LIZA - Wikipedia">
            <a:extLst>
              <a:ext uri="{FF2B5EF4-FFF2-40B4-BE49-F238E27FC236}">
                <a16:creationId xmlns:a16="http://schemas.microsoft.com/office/drawing/2014/main" id="{B6A951CB-ED8C-82E5-1215-2A1780207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5080" y="4116164"/>
            <a:ext cx="2384937" cy="1547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97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24" name="Google Shape;124;p5"/>
          <p:cNvGraphicFramePr/>
          <p:nvPr>
            <p:extLst>
              <p:ext uri="{D42A27DB-BD31-4B8C-83A1-F6EECF244321}">
                <p14:modId xmlns:p14="http://schemas.microsoft.com/office/powerpoint/2010/main" val="857280328"/>
              </p:ext>
            </p:extLst>
          </p:nvPr>
        </p:nvGraphicFramePr>
        <p:xfrm>
          <a:off x="566738" y="1752600"/>
          <a:ext cx="8077200" cy="5913150"/>
        </p:xfrm>
        <a:graphic>
          <a:graphicData uri="http://schemas.openxmlformats.org/drawingml/2006/table">
            <a:tbl>
              <a:tblPr>
                <a:noFill/>
                <a:tableStyleId>{24C9D1FB-6426-4676-8426-7A67F8BAC52F}</a:tableStyleId>
              </a:tblPr>
              <a:tblGrid>
                <a:gridCol w="83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Overwhelming optimism...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i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Machines will be capable, within twenty years, of doing any work a man can do.</a:t>
                      </a:r>
                      <a:r>
                        <a:rPr lang="en-US" sz="18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—Herbert Simon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Within 10 years the problems of artificial intelligence will be substantially solved.</a:t>
                      </a:r>
                      <a:r>
                        <a:rPr lang="en-US" sz="18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—Marvin Minsky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visualize a time when we will be to robots what dogs are to humans, and I'm rooting for the machines.</a:t>
                      </a:r>
                      <a:r>
                        <a:rPr lang="en-US" sz="18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—Claude Shannon</a:t>
                      </a:r>
                      <a:endParaRPr sz="1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...underwhelming results</a:t>
                      </a:r>
                      <a:endParaRPr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machine translation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spirit is willing but the flesh is weak.</a:t>
                      </a:r>
                      <a:endParaRPr sz="16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(Russian)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vodka is good but the meat is rotten.</a:t>
                      </a:r>
                      <a:endParaRPr sz="16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(English)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5" name="Google Shape;125;p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31" name="Google Shape;131;p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History </a:t>
            </a:r>
            <a:r>
              <a:rPr lang="en-US" sz="1600"/>
              <a:t>(contd…)</a:t>
            </a:r>
            <a:endParaRPr/>
          </a:p>
        </p:txBody>
      </p:sp>
      <p:graphicFrame>
        <p:nvGraphicFramePr>
          <p:cNvPr id="132" name="Google Shape;132;p6"/>
          <p:cNvGraphicFramePr/>
          <p:nvPr>
            <p:extLst>
              <p:ext uri="{D42A27DB-BD31-4B8C-83A1-F6EECF244321}">
                <p14:modId xmlns:p14="http://schemas.microsoft.com/office/powerpoint/2010/main" val="1332200557"/>
              </p:ext>
            </p:extLst>
          </p:nvPr>
        </p:nvGraphicFramePr>
        <p:xfrm>
          <a:off x="566738" y="1752600"/>
          <a:ext cx="8001000" cy="4800600"/>
        </p:xfrm>
        <a:graphic>
          <a:graphicData uri="http://schemas.openxmlformats.org/drawingml/2006/table">
            <a:tbl>
              <a:tblPr>
                <a:noFill/>
                <a:tableStyleId>{24C9D1FB-6426-4676-8426-7A67F8BAC52F}</a:tableStyleId>
              </a:tblPr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1966-1973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Dose of Reality – The AI Winter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sz="1400" b="1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8890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Times New Roman"/>
                        <a:buChar char="-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Early systems failed on difficult problems</a:t>
                      </a:r>
                      <a:endParaRPr dirty="0"/>
                    </a:p>
                    <a:p>
                      <a:pPr marL="0" marR="0" lvl="0" indent="-8890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Times New Roman"/>
                        <a:buChar char="-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Syntactic manipulations don’t work without knowledge e.g. translation</a:t>
                      </a:r>
                      <a:endParaRPr dirty="0"/>
                    </a:p>
                    <a:p>
                      <a:pPr marL="0" marR="0" lvl="0" indent="-8890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Times New Roman"/>
                        <a:buChar char="-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Computational complexity of many problems</a:t>
                      </a:r>
                      <a:endParaRPr dirty="0"/>
                    </a:p>
                    <a:p>
                      <a:pPr marL="0" marR="0" lvl="0" indent="-8890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Times New Roman"/>
                        <a:buChar char="-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British Govt ended support for AI in all but 2 universities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Times New Roman"/>
                        <a:buNone/>
                      </a:pP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Reasons</a:t>
                      </a:r>
                      <a:endParaRPr sz="1400" b="1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8890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Char char="-"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Limited information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3970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humans perform a task, rather than on a careful analysis of the task, what it means to be a solution, and what an algorithm would need to do to reliably produce such solutions.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8890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Char char="-"/>
                      </a:pP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Limited computation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lack of appreciation of the intractability of many of the problems that AI was attempting to solve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“scaling up” to larger problems was simply a matter of faster    hardware and larger memories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endParaRPr lang="en-US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Tx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Fundamental limitations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on the basic structures being used to generate intelligent behavior e.g.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l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imitations on basic     structures of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led to reduced funding for research</a:t>
                      </a:r>
                      <a:endParaRPr 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1012-958C-8258-EDF8-FA08CD89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CC41E8-96E9-09D2-970C-9B1452A06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336432"/>
              </p:ext>
            </p:extLst>
          </p:nvPr>
        </p:nvGraphicFramePr>
        <p:xfrm>
          <a:off x="566738" y="1752600"/>
          <a:ext cx="4949159" cy="4353232"/>
        </p:xfrm>
        <a:graphic>
          <a:graphicData uri="http://schemas.openxmlformats.org/drawingml/2006/table">
            <a:tbl>
              <a:tblPr>
                <a:noFill/>
                <a:tableStyleId>{24C9D1FB-6426-4676-8426-7A67F8BAC52F}</a:tableStyleId>
              </a:tblPr>
              <a:tblGrid>
                <a:gridCol w="863856">
                  <a:extLst>
                    <a:ext uri="{9D8B030D-6E8A-4147-A177-3AD203B41FA5}">
                      <a16:colId xmlns:a16="http://schemas.microsoft.com/office/drawing/2014/main" val="2564785417"/>
                    </a:ext>
                  </a:extLst>
                </a:gridCol>
                <a:gridCol w="4085303">
                  <a:extLst>
                    <a:ext uri="{9D8B030D-6E8A-4147-A177-3AD203B41FA5}">
                      <a16:colId xmlns:a16="http://schemas.microsoft.com/office/drawing/2014/main" val="3578111271"/>
                    </a:ext>
                  </a:extLst>
                </a:gridCol>
              </a:tblGrid>
              <a:tr h="27702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1969-1986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Knowledge-based (expert</a:t>
                      </a:r>
                      <a:r>
                        <a:rPr lang="en-US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systems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Elicit specific domain knowledge from experts in form of rules:</a:t>
                      </a: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[premises] then [conclusion]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-8890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Times New Roman"/>
                        <a:buChar char="-"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Alternatives to weak methods </a:t>
                      </a:r>
                    </a:p>
                    <a:p>
                      <a:pPr marL="0" marR="0" lvl="0" indent="-8890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Times New Roman"/>
                        <a:buChar char="-"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use domain specific knowledge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96443"/>
                  </a:ext>
                </a:extLst>
              </a:tr>
              <a:tr h="7914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1969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Dendral – Inferring molecular structure, embodied special purpose rules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832836"/>
                  </a:ext>
                </a:extLst>
              </a:tr>
              <a:tr h="7914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Early                       1970s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MYCIN – Diagnosing blood infections (450 rules) incorporated uncertainty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871635"/>
                  </a:ext>
                </a:extLst>
              </a:tr>
            </a:tbl>
          </a:graphicData>
        </a:graphic>
      </p:graphicFrame>
      <p:pic>
        <p:nvPicPr>
          <p:cNvPr id="3074" name="Picture 2" descr="IGCSE ICT - Expert Systems | IGCSE ICT">
            <a:extLst>
              <a:ext uri="{FF2B5EF4-FFF2-40B4-BE49-F238E27FC236}">
                <a16:creationId xmlns:a16="http://schemas.microsoft.com/office/drawing/2014/main" id="{B3B655C3-73FD-41FC-D387-DE9F1E094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897" y="1676400"/>
            <a:ext cx="3419475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endral And Mycin Are The Best Expert ...">
            <a:extLst>
              <a:ext uri="{FF2B5EF4-FFF2-40B4-BE49-F238E27FC236}">
                <a16:creationId xmlns:a16="http://schemas.microsoft.com/office/drawing/2014/main" id="{E51AFD0B-5708-2F2F-F07F-7F917F691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147" y="2800964"/>
            <a:ext cx="2373313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YCIN an Expert System(HINDI)#27 ...">
            <a:extLst>
              <a:ext uri="{FF2B5EF4-FFF2-40B4-BE49-F238E27FC236}">
                <a16:creationId xmlns:a16="http://schemas.microsoft.com/office/drawing/2014/main" id="{9109E9A9-553C-3AFB-8EC2-BF0464E11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283" y="4358148"/>
            <a:ext cx="2198702" cy="164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15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History </a:t>
            </a:r>
            <a:r>
              <a:rPr lang="en-US" sz="1600"/>
              <a:t>(contd…)</a:t>
            </a:r>
            <a:endParaRPr/>
          </a:p>
        </p:txBody>
      </p:sp>
      <p:graphicFrame>
        <p:nvGraphicFramePr>
          <p:cNvPr id="139" name="Google Shape;139;p7"/>
          <p:cNvGraphicFramePr/>
          <p:nvPr>
            <p:extLst>
              <p:ext uri="{D42A27DB-BD31-4B8C-83A1-F6EECF244321}">
                <p14:modId xmlns:p14="http://schemas.microsoft.com/office/powerpoint/2010/main" val="990245757"/>
              </p:ext>
            </p:extLst>
          </p:nvPr>
        </p:nvGraphicFramePr>
        <p:xfrm>
          <a:off x="566738" y="1752600"/>
          <a:ext cx="8001000" cy="3366018"/>
        </p:xfrm>
        <a:graphic>
          <a:graphicData uri="http://schemas.openxmlformats.org/drawingml/2006/table">
            <a:tbl>
              <a:tblPr>
                <a:noFill/>
                <a:tableStyleId>{24C9D1FB-6426-4676-8426-7A67F8BAC52F}</a:tableStyleId>
              </a:tblPr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1970s – 80s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Knowledge based systems - Prolog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Industry</a:t>
                      </a:r>
                      <a:endParaRPr lang="en-US" b="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lang="en-US" sz="1400" b="1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Tx/>
                        <a:buChar char="-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 – first commercial expert system helped configure orders for DEC (saved $40 million a year)</a:t>
                      </a: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Tx/>
                        <a:buChar char="-"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Problems:</a:t>
                      </a:r>
                    </a:p>
                    <a:p>
                      <a:pPr marL="457200" lvl="0" indent="-3619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Char char="●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 is not deterministic rules, need to model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uncertainty</a:t>
                      </a:r>
                    </a:p>
                    <a:p>
                      <a:pPr marL="457200" lvl="0" indent="-3619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Char char="●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considerable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effort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create rules, hard to maintain</a:t>
                      </a: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Tx/>
                        <a:buChar char="-"/>
                      </a:pPr>
                      <a:endParaRPr 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1987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Collapse of Lisp machines and second AI winter 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61" name="Google Shape;261;p2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 of the Art</a:t>
            </a:r>
            <a:endParaRPr/>
          </a:p>
        </p:txBody>
      </p:sp>
      <p:sp>
        <p:nvSpPr>
          <p:cNvPr id="262" name="Google Shape;262;p2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□"/>
            </a:pPr>
            <a:r>
              <a:rPr lang="en-US"/>
              <a:t>Which of the following can be done at present?</a:t>
            </a:r>
            <a:endParaRPr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Play a decent game of table tennis</a:t>
            </a:r>
            <a:endParaRPr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Drive safely along a curving mountain road</a:t>
            </a:r>
            <a:endParaRPr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Buy a week's worth of groceries on the web</a:t>
            </a:r>
            <a:endParaRPr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Play a decent game of bridge</a:t>
            </a:r>
            <a:endParaRPr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Discover and prove a new mathematical theorem</a:t>
            </a:r>
            <a:endParaRPr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Design and execute a research program in molecular biology</a:t>
            </a:r>
            <a:endParaRPr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Write an intentionally funny story</a:t>
            </a:r>
            <a:endParaRPr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Give competent legal advice in a specialized area of law</a:t>
            </a:r>
            <a:endParaRPr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Translate spoken English into spoken Swedish in real time</a:t>
            </a:r>
            <a:endParaRPr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Converse successfully with another person for an hour</a:t>
            </a:r>
            <a:endParaRPr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Perform a complex surgical operation</a:t>
            </a:r>
            <a:endParaRPr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Unload any dishwasher and put everything away</a:t>
            </a:r>
            <a:endParaRPr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800"/>
          </a:p>
          <a:p>
            <a:pPr marL="908050" lvl="1" indent="-3222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69" name="Google Shape;269;p2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Outline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0610E-CBAB-913B-809A-7EA37BA93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Aims: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0077CA-985F-A1FC-3DC9-772937404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97" y="2578529"/>
            <a:ext cx="8362881" cy="29668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77" name="Google Shape;277;p2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Outline </a:t>
            </a:r>
            <a:r>
              <a:rPr lang="en-US" sz="1600"/>
              <a:t>(contd…)</a:t>
            </a:r>
            <a:endParaRPr/>
          </a:p>
        </p:txBody>
      </p:sp>
      <p:graphicFrame>
        <p:nvGraphicFramePr>
          <p:cNvPr id="278" name="Google Shape;278;p24"/>
          <p:cNvGraphicFramePr/>
          <p:nvPr>
            <p:extLst>
              <p:ext uri="{D42A27DB-BD31-4B8C-83A1-F6EECF244321}">
                <p14:modId xmlns:p14="http://schemas.microsoft.com/office/powerpoint/2010/main" val="2052455700"/>
              </p:ext>
            </p:extLst>
          </p:nvPr>
        </p:nvGraphicFramePr>
        <p:xfrm>
          <a:off x="566738" y="1752600"/>
          <a:ext cx="7815250" cy="4114825"/>
        </p:xfrm>
        <a:graphic>
          <a:graphicData uri="http://schemas.openxmlformats.org/drawingml/2006/table">
            <a:tbl>
              <a:tblPr>
                <a:noFill/>
                <a:tableStyleId>{24C9D1FB-6426-4676-8426-7A67F8BAC52F}</a:tableStyleId>
              </a:tblPr>
              <a:tblGrid>
                <a:gridCol w="88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Session</a:t>
                      </a:r>
                      <a:endParaRPr sz="28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Lecture</a:t>
                      </a:r>
                      <a:endParaRPr sz="28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Readings</a:t>
                      </a:r>
                      <a:endParaRPr sz="28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1, 2</a:t>
                      </a: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Introduction: 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Foundations and history of AI, Intelligent Agents</a:t>
                      </a: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Chapter 1, 2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3, 4</a:t>
                      </a: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Verdana"/>
                        <a:ea typeface="Verdana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Times New Roman"/>
                          <a:sym typeface="Times New Roman"/>
                        </a:rPr>
                        <a:t>Types of Problems in AI: 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Times New Roman"/>
                          <a:sym typeface="Times New Roman"/>
                        </a:rPr>
                        <a:t>Reflex based, state based, variable based, logic based with examples. Modeling, inference and learning paradigm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Verdana"/>
                        <a:ea typeface="Verdana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Times New Roman"/>
                          <a:sym typeface="Times New Roman"/>
                        </a:rPr>
                        <a:t>Slides</a:t>
                      </a: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Verdana"/>
                        <a:ea typeface="Verdana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14117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Times New Roman"/>
                          <a:sym typeface="Times New Roman"/>
                        </a:rPr>
                        <a:t>5, 6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Verdana"/>
                        <a:ea typeface="Verdana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Times New Roman"/>
                          <a:sym typeface="Times New Roman"/>
                        </a:rPr>
                        <a:t>Prediction: 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Times New Roman"/>
                          <a:sym typeface="Times New Roman"/>
                        </a:rPr>
                        <a:t>Types of predictors, linear predictors, features, feature extraction, feature representation 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Verdana"/>
                        <a:ea typeface="Verdana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Verdana"/>
                        <a:ea typeface="Verdana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66204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  <a:sym typeface="Times New Roman"/>
                        </a:rPr>
                        <a:t>7, 8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Times New Roman"/>
                          <a:sym typeface="Times New Roman"/>
                        </a:rPr>
                        <a:t>Loss: 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Times New Roman"/>
                          <a:sym typeface="Times New Roman"/>
                        </a:rPr>
                        <a:t>Loss, Types of loss, Loss minimization framework, Gradient descent and variations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869695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  <a:sym typeface="Times New Roman"/>
                        </a:rPr>
                        <a:t>9, 10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  <a:sym typeface="Times New Roman"/>
                        </a:rPr>
                        <a:t>Neural Networks: 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  <a:sym typeface="Times New Roman"/>
                        </a:rPr>
                        <a:t>Components and structure, gradient computations, back propagation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89253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  <a:sym typeface="Times New Roman"/>
                        </a:rPr>
                        <a:t>11, 12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  <a:sym typeface="Times New Roman"/>
                        </a:rPr>
                        <a:t>Supervised and Unsupervised learning: 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  <a:sym typeface="Times New Roman"/>
                        </a:rPr>
                        <a:t>Lazy learners, K-means, Generalization and overfitting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1122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B1AF3-851F-DDE8-B146-51F5D5E16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BDA965-2EE4-4A19-3B31-619DC4261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217040"/>
              </p:ext>
            </p:extLst>
          </p:nvPr>
        </p:nvGraphicFramePr>
        <p:xfrm>
          <a:off x="566738" y="1752600"/>
          <a:ext cx="7815250" cy="4488210"/>
        </p:xfrm>
        <a:graphic>
          <a:graphicData uri="http://schemas.openxmlformats.org/drawingml/2006/table">
            <a:tbl>
              <a:tblPr>
                <a:noFill/>
                <a:tableStyleId>{24C9D1FB-6426-4676-8426-7A67F8BAC52F}</a:tableStyleId>
              </a:tblPr>
              <a:tblGrid>
                <a:gridCol w="881050">
                  <a:extLst>
                    <a:ext uri="{9D8B030D-6E8A-4147-A177-3AD203B41FA5}">
                      <a16:colId xmlns:a16="http://schemas.microsoft.com/office/drawing/2014/main" val="2233879489"/>
                    </a:ext>
                  </a:extLst>
                </a:gridCol>
                <a:gridCol w="5635625">
                  <a:extLst>
                    <a:ext uri="{9D8B030D-6E8A-4147-A177-3AD203B41FA5}">
                      <a16:colId xmlns:a16="http://schemas.microsoft.com/office/drawing/2014/main" val="3726578764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2438506163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  <a:sym typeface="Times New Roman"/>
                        </a:rPr>
                        <a:t>13 - 15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Problem Solving by Searching: 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Defining and formulating problems, Searching for solutions, Uninformed search strategies: Breadth-first search, Depth-first search, Depth- limited search, Bi-directional search  </a:t>
                      </a: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Chapter 3</a:t>
                      </a: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94173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  <a:sym typeface="Times New Roman"/>
                        </a:rPr>
                        <a:t>16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  <a:sym typeface="Times New Roman"/>
                        </a:rPr>
                        <a:t>Midterm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26217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Times New Roman"/>
                          <a:sym typeface="Verdana"/>
                        </a:rPr>
                        <a:t>17 – 19</a:t>
                      </a: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Informed Search: 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Greedy best-first search, A* search, Heuristic functions, Local search algorithms: Hill-climbing, Simulated annealing, Local beam search, genetic algorithms</a:t>
                      </a: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Chapter 4, 5</a:t>
                      </a: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94046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Times New Roman"/>
                          <a:sym typeface="Verdana"/>
                        </a:rPr>
                        <a:t>20 – 22</a:t>
                      </a: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Adversarial Search: </a:t>
                      </a: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Optimal strategies, Minimax algorithm, Alpha-Beta pruning, Games of chance </a:t>
                      </a:r>
                      <a:endParaRPr sz="28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Chapter 6</a:t>
                      </a: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553750"/>
                  </a:ext>
                </a:extLst>
              </a:tr>
              <a:tr h="506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Times New Roman"/>
                          <a:sym typeface="Verdana"/>
                        </a:rPr>
                        <a:t>23, 24</a:t>
                      </a: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Logical Agents:</a:t>
                      </a: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Knowledge-based agents, Prepositional logic: Syntax, semantics and inference. Reasoning and resolution, Propositional inference     </a:t>
                      </a:r>
                      <a:endParaRPr sz="28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Chapter 7</a:t>
                      </a: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33847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Times New Roman"/>
                          <a:sym typeface="Verdana"/>
                        </a:rPr>
                        <a:t>25, 26</a:t>
                      </a: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First-order logic and Inference: 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Syntax and semantics, Inference rules, Forward and backward chaining, Resolution </a:t>
                      </a: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Chapter 8, 9</a:t>
                      </a: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7842118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27 – 30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Constraint Satisfaction Problems: 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Examples, Inference in CSPs, local search for CSPs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Chapter 10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747509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31, 32</a:t>
                      </a:r>
                      <a:endParaRPr lang="en-US" sz="28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Future Directions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Chapter 6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04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33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93" name="Google Shape;293;p2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Outline </a:t>
            </a:r>
            <a:r>
              <a:rPr lang="en-US" sz="1600"/>
              <a:t>(contd…)</a:t>
            </a:r>
            <a:endParaRPr/>
          </a:p>
        </p:txBody>
      </p:sp>
      <p:sp>
        <p:nvSpPr>
          <p:cNvPr id="294" name="Google Shape;294;p26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spcBef>
                <a:spcPts val="0"/>
              </a:spcBef>
              <a:spcAft>
                <a:spcPts val="0"/>
              </a:spcAft>
              <a:buSzPts val="2400"/>
              <a:buChar char="□"/>
            </a:pPr>
            <a:r>
              <a:rPr lang="en-US" sz="2400" b="1" dirty="0"/>
              <a:t>Evaluation Criteria: </a:t>
            </a:r>
            <a:r>
              <a:rPr lang="en-US" sz="2400" dirty="0"/>
              <a:t>                 </a:t>
            </a:r>
            <a:endParaRPr dirty="0"/>
          </a:p>
          <a:p>
            <a:pPr marL="908050" lvl="1" indent="-436563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Final exam 50%</a:t>
            </a:r>
            <a:endParaRPr dirty="0"/>
          </a:p>
          <a:p>
            <a:pPr marL="908050" lvl="1" indent="-436563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 err="1"/>
              <a:t>Sessionals</a:t>
            </a:r>
            <a:r>
              <a:rPr lang="en-US" sz="1800" dirty="0"/>
              <a:t> 25%</a:t>
            </a:r>
            <a:endParaRPr dirty="0"/>
          </a:p>
          <a:p>
            <a:pPr marL="908050" lvl="1" indent="-436563" algn="l" rtl="0"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 err="1"/>
              <a:t>Assignments+Quizzes</a:t>
            </a:r>
            <a:r>
              <a:rPr lang="en-US" sz="1800" dirty="0"/>
              <a:t> 25%</a:t>
            </a:r>
            <a:endParaRPr dirty="0"/>
          </a:p>
          <a:p>
            <a:pPr marL="908050" lvl="1" indent="-436563" algn="l" rtl="0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800" b="1" dirty="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 b="1" dirty="0"/>
              <a:t>Recommended Readings: </a:t>
            </a:r>
            <a:endParaRPr sz="2400" dirty="0"/>
          </a:p>
          <a:p>
            <a:pPr marL="908050" lvl="1" indent="-436563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 dirty="0"/>
              <a:t>Stuart Russell and Peter Norvig, Artificial Intelligence - A Modern Approach, Pearson Education, 4</a:t>
            </a:r>
            <a:r>
              <a:rPr lang="en-US" baseline="30000" dirty="0"/>
              <a:t>th</a:t>
            </a:r>
            <a:r>
              <a:rPr lang="en-US" dirty="0"/>
              <a:t> Edition, 2020</a:t>
            </a:r>
          </a:p>
          <a:p>
            <a:pPr marL="908050" lvl="1" indent="-436563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 dirty="0"/>
              <a:t>Hastie, </a:t>
            </a:r>
            <a:r>
              <a:rPr lang="en-US" dirty="0" err="1"/>
              <a:t>Tibshirani</a:t>
            </a:r>
            <a:r>
              <a:rPr lang="en-US" dirty="0"/>
              <a:t>, and Friedman, The elements of statistical learning, 2</a:t>
            </a:r>
            <a:r>
              <a:rPr lang="en-US" baseline="30000" dirty="0"/>
              <a:t>nd</a:t>
            </a:r>
            <a:r>
              <a:rPr lang="en-US" dirty="0"/>
              <a:t> Edition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01" name="Google Shape;301;p2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Outline </a:t>
            </a:r>
            <a:r>
              <a:rPr lang="en-US" sz="1600"/>
              <a:t>(contd…)</a:t>
            </a:r>
            <a:endParaRPr/>
          </a:p>
        </p:txBody>
      </p:sp>
      <p:sp>
        <p:nvSpPr>
          <p:cNvPr id="302" name="Google Shape;302;p2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spcBef>
                <a:spcPts val="0"/>
              </a:spcBef>
              <a:spcAft>
                <a:spcPts val="0"/>
              </a:spcAft>
              <a:buSzPts val="2200"/>
              <a:buChar char="□"/>
            </a:pPr>
            <a:r>
              <a:rPr lang="en-US"/>
              <a:t>Policies</a:t>
            </a:r>
            <a:endParaRPr/>
          </a:p>
          <a:p>
            <a:pPr marL="908050" lvl="1" indent="-436563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Late assignments may be accepted with marks reduction. There will be a 10% reduction for assignments submitted up to 24 hours late </a:t>
            </a:r>
            <a:endParaRPr/>
          </a:p>
          <a:p>
            <a:pPr marL="908050" lvl="1" indent="-436563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Students who have copied assignments or whose assignments have been copied will both be given a zero</a:t>
            </a:r>
            <a:endParaRPr/>
          </a:p>
          <a:p>
            <a:pPr marL="908050" lvl="1" indent="-436563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Plagiarism is not acceptable. Anyone found to be guilty of plagiarism in an assignment will be given a zero in that assignment</a:t>
            </a:r>
            <a:endParaRPr/>
          </a:p>
          <a:p>
            <a:pPr marL="908050" lvl="1" indent="-436563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Quizzes will be unannounced </a:t>
            </a:r>
            <a:endParaRPr/>
          </a:p>
          <a:p>
            <a:pPr marL="908050" lvl="1" indent="-309563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469900" lvl="0" indent="-469900" algn="l" rtl="0"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/>
              <a:t>Website</a:t>
            </a:r>
            <a:endParaRPr/>
          </a:p>
          <a:p>
            <a:pPr marL="469900" lvl="0" indent="-330200" algn="l" rtl="0"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0" ma:contentTypeDescription="Create a new document." ma:contentTypeScope="" ma:versionID="11a3da10666522d565dc1e257179c3e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0F770B-79AD-4D48-80BB-9602B5AB9C89}"/>
</file>

<file path=customXml/itemProps2.xml><?xml version="1.0" encoding="utf-8"?>
<ds:datastoreItem xmlns:ds="http://schemas.openxmlformats.org/officeDocument/2006/customXml" ds:itemID="{F7EE3378-52B8-479E-85FC-F03DD03DF822}"/>
</file>

<file path=customXml/itemProps3.xml><?xml version="1.0" encoding="utf-8"?>
<ds:datastoreItem xmlns:ds="http://schemas.openxmlformats.org/officeDocument/2006/customXml" ds:itemID="{C80890E0-D2A2-4FE8-90C4-B3576F1BEBA3}"/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1361</Words>
  <Application>Microsoft Office PowerPoint</Application>
  <PresentationFormat>On-screen Show (4:3)</PresentationFormat>
  <Paragraphs>233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Noto Sans Symbols</vt:lpstr>
      <vt:lpstr>Times New Roman</vt:lpstr>
      <vt:lpstr>Verdana</vt:lpstr>
      <vt:lpstr>Profile</vt:lpstr>
      <vt:lpstr>Artificial Intelligence</vt:lpstr>
      <vt:lpstr>Intelligence</vt:lpstr>
      <vt:lpstr>Intelligence</vt:lpstr>
      <vt:lpstr>Latest AI developments </vt:lpstr>
      <vt:lpstr>History</vt:lpstr>
      <vt:lpstr>PowerPoint Presentation</vt:lpstr>
      <vt:lpstr>PowerPoint Presentation</vt:lpstr>
      <vt:lpstr>PowerPoint Presentation</vt:lpstr>
      <vt:lpstr>History (contd…)</vt:lpstr>
      <vt:lpstr>PowerPoint Presentation</vt:lpstr>
      <vt:lpstr>History (contd…)</vt:lpstr>
      <vt:lpstr>State of the Art</vt:lpstr>
      <vt:lpstr>Course Outline</vt:lpstr>
      <vt:lpstr>Course Outline (contd…)</vt:lpstr>
      <vt:lpstr>PowerPoint Presentation</vt:lpstr>
      <vt:lpstr>Course Outline (contd…)</vt:lpstr>
      <vt:lpstr>Course Outline (contd…)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Onaiza Maqbool</cp:lastModifiedBy>
  <cp:revision>8</cp:revision>
  <dcterms:created xsi:type="dcterms:W3CDTF">1601-01-01T00:00:00Z</dcterms:created>
  <dcterms:modified xsi:type="dcterms:W3CDTF">2025-09-10T07:24:42Z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